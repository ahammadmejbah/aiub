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1" r:id="rId4"/>
    <p:sldId id="266" r:id="rId5"/>
    <p:sldId id="258" r:id="rId6"/>
    <p:sldId id="264" r:id="rId7"/>
    <p:sldId id="270" r:id="rId8"/>
    <p:sldId id="271" r:id="rId9"/>
    <p:sldId id="272" r:id="rId10"/>
    <p:sldId id="273" r:id="rId11"/>
    <p:sldId id="281" r:id="rId12"/>
    <p:sldId id="282" r:id="rId13"/>
    <p:sldId id="283" r:id="rId14"/>
    <p:sldId id="276" r:id="rId15"/>
    <p:sldId id="284" r:id="rId16"/>
    <p:sldId id="277" r:id="rId17"/>
    <p:sldId id="278" r:id="rId18"/>
    <p:sldId id="279" r:id="rId19"/>
    <p:sldId id="285" r:id="rId20"/>
    <p:sldId id="329" r:id="rId21"/>
    <p:sldId id="274" r:id="rId22"/>
    <p:sldId id="286" r:id="rId23"/>
    <p:sldId id="287" r:id="rId24"/>
    <p:sldId id="288" r:id="rId25"/>
    <p:sldId id="289" r:id="rId26"/>
    <p:sldId id="290" r:id="rId27"/>
    <p:sldId id="275" r:id="rId28"/>
    <p:sldId id="293" r:id="rId29"/>
    <p:sldId id="292" r:id="rId30"/>
    <p:sldId id="327" r:id="rId31"/>
    <p:sldId id="328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2"/>
    <p:restoredTop sz="94650"/>
  </p:normalViewPr>
  <p:slideViewPr>
    <p:cSldViewPr snapToGrid="0" snapToObjects="1">
      <p:cViewPr varScale="1">
        <p:scale>
          <a:sx n="108" d="100"/>
          <a:sy n="108" d="100"/>
        </p:scale>
        <p:origin x="13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13-Mar-23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.pitt.edu/~milos/courses/cs441/lectures/Class21b.pdf" TargetMode="External"/><Relationship Id="rId2" Type="http://schemas.openxmlformats.org/officeDocument/2006/relationships/hyperlink" Target="https://www.tutorialspoint.com/discrete_mathematics/discrete_mathematics_relations.htm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 and Their Properties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0247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813" y="2039815"/>
            <a:ext cx="7754112" cy="414485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7.1 Relations and Their Properties</a:t>
            </a:r>
          </a:p>
          <a:p>
            <a:pPr marL="27432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Relations and Functions</a:t>
            </a:r>
          </a:p>
          <a:p>
            <a:pPr marL="27432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Properties of Relations</a:t>
            </a:r>
          </a:p>
          <a:p>
            <a:pPr marL="731520" indent="-274320">
              <a:buClrTx/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Reflexive Relations</a:t>
            </a:r>
          </a:p>
          <a:p>
            <a:pPr marL="731520" indent="-274320">
              <a:buClrTx/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Symmetric Relations</a:t>
            </a:r>
          </a:p>
          <a:p>
            <a:pPr marL="731520" indent="-274320">
              <a:buClrTx/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Antisymmetric  Relations</a:t>
            </a:r>
          </a:p>
          <a:p>
            <a:pPr marL="731520" indent="-274320">
              <a:buClrTx/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Transitive Relations</a:t>
            </a:r>
          </a:p>
          <a:p>
            <a:pPr marL="27432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Combining Relations</a:t>
            </a:r>
          </a:p>
          <a:p>
            <a:pPr marL="27432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Composite of Relations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7B7DB-1C61-4A31-9556-3F1709B5AB91}"/>
              </a:ext>
            </a:extLst>
          </p:cNvPr>
          <p:cNvSpPr txBox="1">
            <a:spLocks/>
          </p:cNvSpPr>
          <p:nvPr/>
        </p:nvSpPr>
        <p:spPr bwMode="auto">
          <a:xfrm>
            <a:off x="98474" y="2028306"/>
            <a:ext cx="890484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u="sng" dirty="0">
                <a:solidFill>
                  <a:srgbClr val="FF0000"/>
                </a:solidFill>
              </a:rPr>
              <a:t>Objectives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To understand the Relations and the difference between function and relation, to analyze a relation to determine whether it contains certain property, how to combine two relations, how to find the composite of two relations.</a:t>
            </a:r>
          </a:p>
          <a:p>
            <a:pPr lvl="0"/>
            <a:r>
              <a:rPr lang="en-US" sz="2400" u="sng" dirty="0">
                <a:solidFill>
                  <a:srgbClr val="FF0000"/>
                </a:solidFill>
              </a:rPr>
              <a:t>Outcomes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 students are expected to be able to explain relation and how it is differs from function; be able to determine whether a relation is reflexive, whether it symmetric, whether it is </a:t>
            </a:r>
            <a:r>
              <a:rPr lang="en-US" sz="2400" dirty="0" err="1"/>
              <a:t>antisymmetric</a:t>
            </a:r>
            <a:r>
              <a:rPr lang="en-US" sz="2400" dirty="0"/>
              <a:t> and/or whether it is </a:t>
            </a:r>
            <a:r>
              <a:rPr lang="en-US" sz="2400" dirty="0" err="1"/>
              <a:t>antisymmetric</a:t>
            </a:r>
            <a:r>
              <a:rPr lang="en-US" sz="2400" dirty="0"/>
              <a:t>; be able to combine two relations; be able to find out the composite relations of two relations. 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3BB1E0-A03A-4C0E-9E4C-B4664DD879E7}"/>
              </a:ext>
            </a:extLst>
          </p:cNvPr>
          <p:cNvSpPr txBox="1">
            <a:spLocks/>
          </p:cNvSpPr>
          <p:nvPr/>
        </p:nvSpPr>
        <p:spPr bwMode="auto">
          <a:xfrm>
            <a:off x="249382" y="2078182"/>
            <a:ext cx="8711738" cy="4322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most direct way to express a relationship between elements of two sets is to use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made up of two related elements. For this reason,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sets of ordered pairs are called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 relations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section, we introduce the basic terminology used to describe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 relations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can use relations to solve problems involving communications networks, project scheduling, and identifying elements in sets with common properties.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Binary Relations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FF7D3C6-7E76-477D-BAFF-21757EF8832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077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sets. A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from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to 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subset of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×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B.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other words, a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binary relation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from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set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ordered pairs where the </a:t>
            </a: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first element of each ordered pair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comes from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the </a:t>
            </a: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 element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comes from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use the notation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 b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denote that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(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belongs to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said to be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related to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by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 b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means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related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i.e.,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b)∈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Cambria Math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C3CC3A-3A4C-4DEC-92F1-619B39AB88FD}"/>
              </a:ext>
            </a:extLst>
          </p:cNvPr>
          <p:cNvCxnSpPr/>
          <p:nvPr/>
        </p:nvCxnSpPr>
        <p:spPr>
          <a:xfrm flipV="1">
            <a:off x="1676400" y="5943600"/>
            <a:ext cx="228600" cy="38100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3DD194-3C64-4711-B416-E3D202E5D306}"/>
              </a:ext>
            </a:extLst>
          </p:cNvPr>
          <p:cNvCxnSpPr/>
          <p:nvPr/>
        </p:nvCxnSpPr>
        <p:spPr>
          <a:xfrm flipV="1">
            <a:off x="7391400" y="5943600"/>
            <a:ext cx="228600" cy="38100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136198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Example 3 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8418C4-69C8-40E0-9E82-EBB2009DF2C7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Let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 =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{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0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B =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{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a, 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 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{(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0,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0,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)}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is a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relation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from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This means, for instance, 0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a , but that 1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Relations can be represented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graphically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or using a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table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26041C-8C24-480E-A064-F64C3649261A}"/>
              </a:ext>
            </a:extLst>
          </p:cNvPr>
          <p:cNvCxnSpPr/>
          <p:nvPr/>
        </p:nvCxnSpPr>
        <p:spPr>
          <a:xfrm flipV="1">
            <a:off x="5791200" y="2133600"/>
            <a:ext cx="152400" cy="3810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4" name="Picture 13" descr="0801.jpg">
            <a:extLst>
              <a:ext uri="{FF2B5EF4-FFF2-40B4-BE49-F238E27FC236}">
                <a16:creationId xmlns:a16="http://schemas.microsoft.com/office/drawing/2014/main" id="{612BBB75-7F8D-4480-BCEB-38C0CA32477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3200400"/>
            <a:ext cx="6248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6093441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Functions as Relations 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9316B4-83D3-4B14-9E56-EF5D8392B601}"/>
              </a:ext>
            </a:extLst>
          </p:cNvPr>
          <p:cNvSpPr txBox="1">
            <a:spLocks/>
          </p:cNvSpPr>
          <p:nvPr/>
        </p:nvSpPr>
        <p:spPr bwMode="auto">
          <a:xfrm>
            <a:off x="148859" y="1614700"/>
            <a:ext cx="872933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Recall that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function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a set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a set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assigns exactly one element of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each element of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The graph of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is the set of ordered pairs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(a, b)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such that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b = f(a).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the graph of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subset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X B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it is a 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from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Moreover,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the graph of a function has the property that every element of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</a:rPr>
              <a:t>is the first element of exactly one ordered pair of the graph.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Conversely, if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relation from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to B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every element in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the first element of exactly one ordered pair of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R,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then a function can be defined with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its graph. This can be done by assigning to an element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unique element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b)</a:t>
            </a: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97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17205" y="595100"/>
            <a:ext cx="5671411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Functions VS Relations 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4D2E24-B0D2-471B-9C93-FD00A64A9917}"/>
              </a:ext>
            </a:extLst>
          </p:cNvPr>
          <p:cNvSpPr txBox="1">
            <a:spLocks/>
          </p:cNvSpPr>
          <p:nvPr/>
        </p:nvSpPr>
        <p:spPr bwMode="auto">
          <a:xfrm>
            <a:off x="304800" y="1413164"/>
            <a:ext cx="8458200" cy="4987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800" b="1" i="1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be used to express a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one-to-many relationship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between the elements of the sets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where an element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may be related to more than one element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lang="en-US" altLang="en-US" sz="2800" b="1" i="1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represents a relation where exactly one element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related to each element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more general than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function is a relation where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exactly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related to each element of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51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912281" y="595100"/>
            <a:ext cx="602310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Relations on a Set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5B92F-4C4D-4E5F-99ED-89169A3C2ADD}"/>
              </a:ext>
            </a:extLst>
          </p:cNvPr>
          <p:cNvSpPr txBox="1">
            <a:spLocks/>
          </p:cNvSpPr>
          <p:nvPr/>
        </p:nvSpPr>
        <p:spPr bwMode="auto">
          <a:xfrm>
            <a:off x="457200" y="1638892"/>
            <a:ext cx="8382000" cy="469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 from a set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itself are of special interest.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 2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 on a set A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relation from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to 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other words,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on a set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is a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subset of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× A.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600" b="1" i="0" u="sng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Suppose that 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=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b, 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Then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 =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is a relation on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932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59410" y="595100"/>
            <a:ext cx="4901524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Relations on a Set(cont.)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1FE328-4273-426B-B1B4-9191EE0F28B6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4: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 the set {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1, 2, 3, 4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Which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in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divides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 ?</a:t>
            </a:r>
          </a:p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Cambria Math"/>
              <a:cs typeface="+mn-cs"/>
            </a:endParaRPr>
          </a:p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Solution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Because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and only if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positive integers not exceeding 4 such that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divides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we see that</a:t>
            </a:r>
          </a:p>
          <a:p>
            <a:pPr marL="274320" marR="0" lvl="1" indent="-27432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 = {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(1,1), (1, 2), (1,3), (1, 4), (2, 2), (2, 4), (3, 3),(4, 4)}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3000"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8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31274" y="595100"/>
            <a:ext cx="541816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Relations on a Set (cont.)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84C4D9-4FBF-4C23-BB7F-24CC5C05D89D}"/>
              </a:ext>
            </a:extLst>
          </p:cNvPr>
          <p:cNvSpPr txBox="1">
            <a:spLocks/>
          </p:cNvSpPr>
          <p:nvPr/>
        </p:nvSpPr>
        <p:spPr bwMode="auto">
          <a:xfrm>
            <a:off x="304800" y="1600200"/>
            <a:ext cx="8534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6: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many relations are there on a set with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elements?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E468D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altLang="en-US" sz="2800" b="0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relation on a set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subset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X A.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Because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X 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has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1" i="1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elements when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has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elements and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set with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elements has 2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subsets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there are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1" i="0" u="none" strike="noStrike" kern="1200" cap="none" spc="0" normalizeH="0" baseline="44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subsets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X A.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Thus,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2</a:t>
            </a:r>
            <a:r>
              <a:rPr kumimoji="0" lang="en-US" altLang="en-US" sz="2800" b="1" i="1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1" i="1" u="none" strike="noStrike" kern="1200" cap="none" spc="0" normalizeH="0" baseline="46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 on a set with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elements.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there are 2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en-US" altLang="en-US" sz="2800" b="0" i="0" u="none" strike="noStrike" kern="1200" cap="none" spc="0" normalizeH="0" baseline="48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</a:t>
            </a:r>
            <a:r>
              <a:rPr kumimoji="0" lang="en-US" altLang="en-US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512 relations on the set {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b, c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66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743466" y="595100"/>
            <a:ext cx="661394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Relations on a Set (cont.) 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20F14C-BA96-4832-AF72-6DFEC909117E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Consider these relations on the set of integers: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≤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&gt;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+ 1},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or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−b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       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+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≤ 3}.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indent="-285750">
              <a:buFont typeface="Arial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Which of these relations contain each of the pairs (1,1), (1, 2), (2, 1), (1, −1), </a:t>
            </a:r>
          </a:p>
          <a:p>
            <a:pPr indent="-285750">
              <a:buFont typeface="Arial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(2, 2)?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Checking the conditions that define each relation,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we see that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000" dirty="0">
                <a:solidFill>
                  <a:srgbClr val="0000FF"/>
                </a:solidFill>
                <a:latin typeface="Calibri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(1,1) is 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(1,2) is 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000" dirty="0">
                <a:solidFill>
                  <a:srgbClr val="0000FF"/>
                </a:solidFill>
                <a:latin typeface="Calibri"/>
                <a:ea typeface="Cambria Math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(2,1) is 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;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(1, −1) is 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;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/>
                <a:ea typeface="Cambria Math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(2,2) is 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79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545342" y="595100"/>
            <a:ext cx="4901524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Properties of Relations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7C5639-F5C4-4625-9E71-4CE097D45BEC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several properties that are used to classify relations on a set. We will introduce the most important of these here.</a:t>
            </a:r>
          </a:p>
          <a:p>
            <a:pPr marL="1021080" marR="0" lvl="0" indent="-3810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Reflexive</a:t>
            </a:r>
          </a:p>
          <a:p>
            <a:pPr marL="1021080" marR="0" lvl="0" indent="-3810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</a:p>
          <a:p>
            <a:pPr marL="1021080" marR="0" lvl="0" indent="-3810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</a:p>
          <a:p>
            <a:pPr marL="1021080" marR="0" lvl="0" indent="-3810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Transitive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1911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898213" y="595100"/>
            <a:ext cx="5010229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Reflexive Relation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480F75-0FFF-4682-A8D9-616E2E4C4AF6}"/>
              </a:ext>
            </a:extLst>
          </p:cNvPr>
          <p:cNvSpPr txBox="1">
            <a:spLocks/>
          </p:cNvSpPr>
          <p:nvPr/>
        </p:nvSpPr>
        <p:spPr bwMode="auto">
          <a:xfrm>
            <a:off x="228600" y="1471240"/>
            <a:ext cx="8382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reflexive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a)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 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for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every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element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  A. </a:t>
            </a:r>
            <a:r>
              <a:rPr lang="en-US" altLang="en-US" sz="2400" dirty="0">
                <a:solidFill>
                  <a:srgbClr val="0000FF"/>
                </a:solidFill>
                <a:highlight>
                  <a:srgbClr val="00FFFF"/>
                </a:highlight>
                <a:latin typeface="Calibri"/>
                <a:sym typeface="Symbol" pitchFamily="18" charset="2"/>
              </a:rPr>
              <a:t>[</a:t>
            </a: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contains all (</a:t>
            </a:r>
            <a:r>
              <a:rPr kumimoji="0" lang="en-US" altLang="en-US" sz="2400" b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a,a</a:t>
            </a: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) pairs</a:t>
            </a:r>
            <a:r>
              <a:rPr lang="en-US" altLang="en-US" sz="2400" dirty="0">
                <a:solidFill>
                  <a:srgbClr val="0000FF"/>
                </a:solidFill>
                <a:highlight>
                  <a:srgbClr val="00FFFF"/>
                </a:highlight>
                <a:latin typeface="Calibri"/>
                <a:sym typeface="Symbol" pitchFamily="18" charset="2"/>
              </a:rPr>
              <a:t>]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Using quantifiers, a relation on the set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is reflexive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	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∀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 ((a, a 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∊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), where  universe of discourse is the set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elements in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A.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a reflexive relation,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related to itself.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i.e.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 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all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 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Example: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relation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 =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{(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1, 1), (1, 2), (2, 1), (2, 2), (3, 3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)}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on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set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{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1, 2, 3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}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is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reflexive.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12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7278964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Determining whether a Relation is Reflexive 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9DDC56-8058-4C48-B1F7-4730DEEA8F41}"/>
              </a:ext>
            </a:extLst>
          </p:cNvPr>
          <p:cNvSpPr txBox="1">
            <a:spLocks/>
          </p:cNvSpPr>
          <p:nvPr/>
        </p:nvSpPr>
        <p:spPr bwMode="auto">
          <a:xfrm>
            <a:off x="457200" y="13716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Example7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Consider the following relations on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{1, 2, 3, 4}: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(2,1), (2,2), (3,4),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(1,4), (2,1), (2,2), (3,3),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{(2,1), (3,1), (3,2), (4,1), (4,2), (4,3)}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(1,3), (1,4), (2,2), (2,3), (2,4), (3,3), (3,4), (4,4)},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{(3,4)}.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Which of these relations are reflexive?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Solution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relations R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and R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are reflexive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because they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both contain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ALL pairs of the form (a, a)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FF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namely (1,1) (2,2), (3,3)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and (4,4). </a:t>
            </a:r>
          </a:p>
        </p:txBody>
      </p:sp>
    </p:spTree>
    <p:extLst>
      <p:ext uri="{BB962C8B-B14F-4D97-AF65-F5344CB8AC3E}">
        <p14:creationId xmlns:p14="http://schemas.microsoft.com/office/powerpoint/2010/main" val="4068608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706283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      Reflexive Relation: Another Example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57FCAF-31B8-41B6-8FD0-C08A0CCADAFA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Example 8 (modified)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 following relations  on the set of integers are </a:t>
            </a:r>
            <a:r>
              <a:rPr kumimoji="0" lang="en-US" sz="32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reflexive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≤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 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or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a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−b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},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 following relations are NOT reflexive: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&gt;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}  			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(note that  3 ≯ 3),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=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+ 1} 		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(note that  3 ≠3 + 1),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6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+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≤ 3}  		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(note that 4  + 4 ≰ 3).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Cambria Math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193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734546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Reflexive Relation: More Examples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CF311F-0548-430F-A7E0-783845F35EAC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Example 9: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the “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relation on the set of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positive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reflexive?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Yes. Because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|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whenever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positive integer, the “divides” relation is reflexive.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Is the “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relation on the set of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integers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reflexive?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No. Because 0 | 0   	     (0 does not divide 0 )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61516F-2420-49DB-A85C-751B09C3CE4D}"/>
              </a:ext>
            </a:extLst>
          </p:cNvPr>
          <p:cNvCxnSpPr/>
          <p:nvPr/>
        </p:nvCxnSpPr>
        <p:spPr>
          <a:xfrm flipV="1">
            <a:off x="4343400" y="5029200"/>
            <a:ext cx="228600" cy="3048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818636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735780"/>
            <a:ext cx="623411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Symmetric Relation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7DE4AF-0A3D-4629-B39B-0FF097FCCC16}"/>
              </a:ext>
            </a:extLst>
          </p:cNvPr>
          <p:cNvSpPr txBox="1">
            <a:spLocks/>
          </p:cNvSpPr>
          <p:nvPr/>
        </p:nvSpPr>
        <p:spPr bwMode="auto">
          <a:xfrm>
            <a:off x="457200" y="17526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called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 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(b, a)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whenever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b)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for all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Example: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relation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 = {(1,1), (1,2), (2,1), (2,2), (3,4), (4,1), (4,3), (1, 4)}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on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the set {1, 2, 3, 4}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is  symmetric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.</a:t>
            </a: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929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665440"/>
            <a:ext cx="661394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 </a:t>
            </a:r>
            <a:r>
              <a:rPr lang="en-US" sz="3600" b="1" dirty="0" err="1">
                <a:solidFill>
                  <a:schemeClr val="tx1"/>
                </a:solidFill>
              </a:rPr>
              <a:t>Antisymmetric</a:t>
            </a:r>
            <a:r>
              <a:rPr lang="en-US" sz="3600" b="1" dirty="0">
                <a:solidFill>
                  <a:schemeClr val="tx1"/>
                </a:solidFill>
              </a:rPr>
              <a:t> Relation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541E34A-A4A5-433D-9682-DA4EF8097F76}"/>
              </a:ext>
            </a:extLst>
          </p:cNvPr>
          <p:cNvSpPr txBox="1">
            <a:spLocks/>
          </p:cNvSpPr>
          <p:nvPr/>
        </p:nvSpPr>
        <p:spPr bwMode="auto">
          <a:xfrm>
            <a:off x="304800" y="1600200"/>
            <a:ext cx="8534400" cy="475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for all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a, b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∊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A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∊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R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∊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 = b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is called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other words,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whenever a = b, then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 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or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R 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follows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we have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 = b, and both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 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R 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terms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NOT opposite, because a relation can have both of these properties or may lack both of them.</a:t>
            </a:r>
          </a:p>
          <a:p>
            <a:pPr lvl="1">
              <a:buNone/>
            </a:pPr>
            <a:r>
              <a:rPr lang="en-US" sz="2000" dirty="0">
                <a:solidFill>
                  <a:srgbClr val="0000FF"/>
                </a:solidFill>
              </a:rPr>
              <a:t>{ (1,1), (2,2) } </a:t>
            </a:r>
            <a:r>
              <a:rPr lang="en-US" sz="2000" dirty="0">
                <a:solidFill>
                  <a:srgbClr val="0000FF"/>
                </a:solidFill>
                <a:sym typeface="Wingdings" pitchFamily="2" charset="2"/>
              </a:rPr>
              <a:t> the relation is both symmetric &amp; </a:t>
            </a:r>
            <a:r>
              <a:rPr lang="en-US" sz="2000" dirty="0" err="1">
                <a:solidFill>
                  <a:srgbClr val="0000FF"/>
                </a:solidFill>
                <a:sym typeface="Wingdings" pitchFamily="2" charset="2"/>
              </a:rPr>
              <a:t>antisymmetric</a:t>
            </a:r>
            <a:endParaRPr lang="en-US" sz="2000" dirty="0">
              <a:solidFill>
                <a:srgbClr val="0000FF"/>
              </a:solidFill>
              <a:sym typeface="Wingdings" pitchFamily="2" charset="2"/>
            </a:endParaRPr>
          </a:p>
          <a:p>
            <a:pPr lvl="1">
              <a:buNone/>
            </a:pPr>
            <a:r>
              <a:rPr lang="en-US" sz="2000" dirty="0">
                <a:solidFill>
                  <a:srgbClr val="0000FF"/>
                </a:solidFill>
                <a:sym typeface="Wingdings" pitchFamily="2" charset="2"/>
              </a:rPr>
              <a:t>{ (0,1), (1,2), (2,1)}  the relation is neither symmetric nor </a:t>
            </a:r>
            <a:r>
              <a:rPr lang="en-US" sz="2000" dirty="0" err="1">
                <a:solidFill>
                  <a:srgbClr val="0000FF"/>
                </a:solidFill>
                <a:sym typeface="Wingdings" pitchFamily="2" charset="2"/>
              </a:rPr>
              <a:t>antisymmetric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ECF1D47-A677-445F-AD4C-A0F1B309AFB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EE87A2-2729-4BF6-A9D8-DED2E84D7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612A1A-909D-477C-ABAF-C9E7D4D50405}"/>
              </a:ext>
            </a:extLst>
          </p:cNvPr>
          <p:cNvCxnSpPr/>
          <p:nvPr/>
        </p:nvCxnSpPr>
        <p:spPr>
          <a:xfrm flipV="1">
            <a:off x="914400" y="2971800"/>
            <a:ext cx="22860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8F97E3-443F-4890-81C7-CCE0E89213CF}"/>
              </a:ext>
            </a:extLst>
          </p:cNvPr>
          <p:cNvCxnSpPr/>
          <p:nvPr/>
        </p:nvCxnSpPr>
        <p:spPr>
          <a:xfrm flipV="1">
            <a:off x="948396" y="3886200"/>
            <a:ext cx="152400" cy="3048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E6A644-DE36-4B3B-9F5B-E7129BF8C113}"/>
              </a:ext>
            </a:extLst>
          </p:cNvPr>
          <p:cNvCxnSpPr/>
          <p:nvPr/>
        </p:nvCxnSpPr>
        <p:spPr>
          <a:xfrm flipV="1">
            <a:off x="2057400" y="2971800"/>
            <a:ext cx="228600" cy="3810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09906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E12D6E-4900-E045-BF57-00CDC940707F}"/>
              </a:ext>
            </a:extLst>
          </p:cNvPr>
          <p:cNvSpPr/>
          <p:nvPr/>
        </p:nvSpPr>
        <p:spPr>
          <a:xfrm>
            <a:off x="456705" y="1534667"/>
            <a:ext cx="8687295" cy="378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Which of these are antisymmetric?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(</a:t>
            </a:r>
            <a:r>
              <a:rPr lang="en-US" b="1" dirty="0" err="1">
                <a:solidFill>
                  <a:srgbClr val="333333"/>
                </a:solidFill>
                <a:latin typeface="Roboto" panose="02000000000000000000" pitchFamily="2" charset="0"/>
              </a:rPr>
              <a:t>i</a:t>
            </a: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) R = {(1,1),(1,2),(2,1),(2,2),(3,4),(4,1),(4,4)}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(ii) R = {(1,1),(1,3),(3,1)}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Roboto" panose="02000000000000000000" pitchFamily="2" charset="0"/>
              </a:rPr>
              <a:t>(iii) R = {(1,1),(1,2),(1,4),(2,1),(2,2),(3,3),(4,1),(4,4)}</a:t>
            </a:r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Solution: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(</a:t>
            </a:r>
            <a:r>
              <a:rPr lang="en-US" dirty="0" err="1">
                <a:solidFill>
                  <a:srgbClr val="333333"/>
                </a:solidFill>
                <a:latin typeface="Roboto" panose="02000000000000000000" pitchFamily="2" charset="0"/>
              </a:rPr>
              <a:t>i</a:t>
            </a: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) R is not antisymmetric here because of (1,2) ∈ R and (2,1) ∈ R, but 1 ≠ 2.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(ii) R is not antisymmetric here because of (1,3) ∈ R and (3,1) ∈ R, but 1 ≠ 3.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(iii) R is not antisymmetric here because of (1,2) ∈ R and (2,1) ∈ R, but 1 ≠ 2 and also (1,4) ∈ R and (4,1) ∈ R but 1 ≠ 4.</a:t>
            </a:r>
            <a:endParaRPr lang="en-US" b="0" i="0" u="none" strike="noStrike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62D8B-0C31-7641-A5A0-1D877ECF6827}"/>
              </a:ext>
            </a:extLst>
          </p:cNvPr>
          <p:cNvSpPr txBox="1">
            <a:spLocks/>
          </p:cNvSpPr>
          <p:nvPr/>
        </p:nvSpPr>
        <p:spPr>
          <a:xfrm>
            <a:off x="335494" y="665440"/>
            <a:ext cx="661394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 </a:t>
            </a:r>
            <a:r>
              <a:rPr lang="en-US" sz="3600" b="1" dirty="0" err="1">
                <a:solidFill>
                  <a:schemeClr val="tx1"/>
                </a:solidFill>
              </a:rPr>
              <a:t>Antisymmetric</a:t>
            </a:r>
            <a:r>
              <a:rPr lang="en-US" sz="3600" b="1" dirty="0">
                <a:solidFill>
                  <a:schemeClr val="tx1"/>
                </a:solidFill>
              </a:rPr>
              <a:t> Relation</a:t>
            </a:r>
          </a:p>
        </p:txBody>
      </p:sp>
    </p:spTree>
    <p:extLst>
      <p:ext uri="{BB962C8B-B14F-4D97-AF65-F5344CB8AC3E}">
        <p14:creationId xmlns:p14="http://schemas.microsoft.com/office/powerpoint/2010/main" val="3642232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7129335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Symmetric &amp; Antisymmetric Relation: Example 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1A0571-F148-4A48-B6CC-491E8F49D579}"/>
              </a:ext>
            </a:extLst>
          </p:cNvPr>
          <p:cNvSpPr txBox="1">
            <a:spLocks/>
          </p:cNvSpPr>
          <p:nvPr/>
        </p:nvSpPr>
        <p:spPr bwMode="auto">
          <a:xfrm>
            <a:off x="304800" y="1371600"/>
            <a:ext cx="868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10 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Consider the following relations on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{1, 2, 3, 4}: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(2,1), (2,2), (3,4),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(1,4), (2,1), (2,2), (3,3),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{(2,1), (3,1), (3,2), (4,1), (4,2), (4,3)}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(1,3), (1,4), (2,2), (2,3), (2,4), (3,3), (3,4), (4,4)},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{(3,4)}.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of the relations are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which are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relations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and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relations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,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, 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and 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Question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What about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Neither symmetric nor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56653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6290389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Transitive Relation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E0249E-84F7-4CC5-B3F1-7D87A780E3FC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altLang="en-US" sz="28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transitive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whenever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b)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(b, c)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then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(a, c)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R,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all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b, c 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Example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: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The relation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 = {(1,1), (1,2),(1, 3), (1, 4), (2,2), (2,3), (2, 4), (3, 3), (3,4), (4, 4)}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on</a:t>
            </a:r>
            <a:r>
              <a:rPr kumimoji="0" lang="en-US" alt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the set {1, 2, 3, 4}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is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transitive.</a:t>
            </a:r>
            <a:endParaRPr kumimoji="0" lang="en-US" altLang="en-US" sz="2800" b="0" i="1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607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7162586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Transitive Relation: Example 13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AEDEB8-A379-43F0-920E-AC5572DE309F}"/>
              </a:ext>
            </a:extLst>
          </p:cNvPr>
          <p:cNvSpPr txBox="1">
            <a:spLocks/>
          </p:cNvSpPr>
          <p:nvPr/>
        </p:nvSpPr>
        <p:spPr bwMode="auto">
          <a:xfrm>
            <a:off x="457200" y="1143000"/>
            <a:ext cx="822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Consider the following relations on</a:t>
            </a:r>
            <a:r>
              <a:rPr kumimoji="0" lang="en-US" altLang="en-US" sz="26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{1, 2, 3, 4}:</a:t>
            </a:r>
            <a:endParaRPr kumimoji="0" lang="en-US" altLang="en-US" sz="2600" b="0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(2,1), (2,2), (3,4),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(2,1)}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(1,4), (2,1), (2,2), (3,3), (4,1), (4,4)}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{(2,1), (3,1), (3,2), (4,1), (4,2), (4,3)}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{(1,1), (1,2), (1,3), (1,4), (2,2), (2,3), (2,4), (3,3), (3,4), (4,4)},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altLang="en-US" sz="20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</a:t>
            </a: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{(3,4)}.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of the relations are </a:t>
            </a:r>
            <a:r>
              <a:rPr kumimoji="0" lang="en-US" sz="26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transitive</a:t>
            </a: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, 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transitive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 verify that if (a, b) and (b, c) belong to this relation then (a, c) belongs also to the relation.</a:t>
            </a:r>
            <a:b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</a:b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transitive since (3,2) and (2,1), (4,2) and (2,1), (4,3) and (3,1),  and (4,3) and (3,2) are the only such sets of pairs, and (3,1) , (4,1) and (4,2) belong to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4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.</a:t>
            </a:r>
            <a:b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</a:b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Same reasoning for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5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and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: not transitive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 (3,4) and (4,1) belong to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but (3,1) does not.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: not transitive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 (2,1) and (1,2) belong to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but (2,2) does not.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R</a:t>
            </a:r>
            <a:r>
              <a:rPr kumimoji="0" lang="en-US" sz="2200" b="1" i="0" u="none" strike="noStrike" kern="120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: not transitive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 (4,1) and (1,2) belong to R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but (4,2) does not.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881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7245713" cy="61855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prstClr val="black"/>
                </a:solidFill>
                <a:ea typeface="+mj-ea"/>
                <a:cs typeface="+mj-cs"/>
              </a:rPr>
              <a:t>Transitive Relation: </a:t>
            </a:r>
            <a:r>
              <a:rPr lang="en-US" sz="4000" b="1" dirty="0">
                <a:solidFill>
                  <a:srgbClr val="FF0000"/>
                </a:solidFill>
                <a:ea typeface="+mj-ea"/>
                <a:cs typeface="+mj-cs"/>
              </a:rPr>
              <a:t>Another Example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13FA34-2CCE-4A8B-816A-8D8899CD5895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458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the relation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b,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d, 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on the set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b, c, 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is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transitive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No.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Calibri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b,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and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are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but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b, 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not in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885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419901" y="679508"/>
            <a:ext cx="547446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     Combining Relations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DC8E80-588B-400B-85AC-D1ED633B983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relations from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subsets of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X B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two relations from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be combined in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way two sets can be combined.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Given two relations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we can combine them using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 set operations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form new relations such as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∪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∩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−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−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13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099"/>
            <a:ext cx="7262339" cy="651809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Combining Relations : Example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36EF14-DF9C-4235-8B01-900672E5F555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1,2,3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1,2,3,4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The relations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and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1,3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1,4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can be combined using basic set operations to form new relations: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45399-45D0-490F-BFF5-C97B2EB8466F}"/>
              </a:ext>
            </a:extLst>
          </p:cNvPr>
          <p:cNvSpPr txBox="1"/>
          <p:nvPr/>
        </p:nvSpPr>
        <p:spPr>
          <a:xfrm>
            <a:off x="1066800" y="2971800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ea typeface="Cambria Math"/>
                <a:cs typeface="Arial" charset="0"/>
              </a:rPr>
              <a:t>∪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 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={(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1,1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1,2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1,3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1,4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2,2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3,3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)}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4EAB61-0F8A-4010-8614-F911FD37F415}"/>
              </a:ext>
            </a:extLst>
          </p:cNvPr>
          <p:cNvSpPr txBox="1"/>
          <p:nvPr/>
        </p:nvSpPr>
        <p:spPr>
          <a:xfrm>
            <a:off x="1066800" y="3733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ea typeface="Cambria Math"/>
                <a:cs typeface="Arial" charset="0"/>
              </a:rPr>
              <a:t>∩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 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={(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1,1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EF7D9F-380A-480A-82AD-03A80A72D1A2}"/>
              </a:ext>
            </a:extLst>
          </p:cNvPr>
          <p:cNvSpPr txBox="1"/>
          <p:nvPr/>
        </p:nvSpPr>
        <p:spPr>
          <a:xfrm>
            <a:off x="1066800" y="44196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ea typeface="Cambria Math"/>
                <a:cs typeface="Arial" charset="0"/>
              </a:rPr>
              <a:t>− </a:t>
            </a: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 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={(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2,2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3,3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)}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92F19-45FF-4F1D-8452-E3FE9A189D5D}"/>
              </a:ext>
            </a:extLst>
          </p:cNvPr>
          <p:cNvSpPr txBox="1"/>
          <p:nvPr/>
        </p:nvSpPr>
        <p:spPr>
          <a:xfrm>
            <a:off x="1066800" y="518160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2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ea typeface="Cambria Math"/>
                <a:cs typeface="Arial" charset="0"/>
              </a:rPr>
              <a:t>−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28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800" baseline="-250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 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={(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1,2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1,3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),(</a:t>
            </a:r>
            <a:r>
              <a:rPr lang="en-US" sz="2800" dirty="0">
                <a:solidFill>
                  <a:prstClr val="black"/>
                </a:solidFill>
                <a:ea typeface="Cambria Math" pitchFamily="18" charset="0"/>
                <a:cs typeface="Arial" charset="0"/>
              </a:rPr>
              <a:t>1,4</a:t>
            </a:r>
            <a:r>
              <a:rPr lang="en-US" sz="2800" dirty="0">
                <a:solidFill>
                  <a:prstClr val="black"/>
                </a:solidFill>
                <a:cs typeface="Arial" charset="0"/>
              </a:rPr>
              <a:t>)} </a:t>
            </a:r>
          </a:p>
        </p:txBody>
      </p:sp>
    </p:spTree>
    <p:extLst>
      <p:ext uri="{BB962C8B-B14F-4D97-AF65-F5344CB8AC3E}">
        <p14:creationId xmlns:p14="http://schemas.microsoft.com/office/powerpoint/2010/main" val="42143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100"/>
            <a:ext cx="7312215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Composite of Relations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CB7678-1D54-40E1-B9BA-7A92D1408178}"/>
              </a:ext>
            </a:extLst>
          </p:cNvPr>
          <p:cNvSpPr txBox="1">
            <a:spLocks/>
          </p:cNvSpPr>
          <p:nvPr/>
        </p:nvSpPr>
        <p:spPr bwMode="auto">
          <a:xfrm>
            <a:off x="255182" y="1364986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a relation from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from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a set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C.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composite of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the relation consisting of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ordered pairs (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a, c),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A, c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C,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for which there exists an element b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a,b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(b, c)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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S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lvl="0" algn="just"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denote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composite of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en-US" sz="24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Computing the composite of two relations requires that we find elements that are the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ordered pairs in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ordered pairs in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second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endParaRPr kumimoji="0" lang="en-US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5183F-D02E-D042-ABE5-D7F5E6A65736}"/>
              </a:ext>
            </a:extLst>
          </p:cNvPr>
          <p:cNvSpPr txBox="1"/>
          <p:nvPr/>
        </p:nvSpPr>
        <p:spPr>
          <a:xfrm>
            <a:off x="1039601" y="6045085"/>
            <a:ext cx="7350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if there is 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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 and (b, c)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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 then make an ordered pair (</a:t>
            </a:r>
            <a:r>
              <a:rPr lang="en-US" altLang="en-US" sz="20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a,c</a:t>
            </a:r>
            <a:r>
              <a:rPr lang="en-US" altLang="en-US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0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10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651372"/>
            <a:ext cx="7312215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Composite of Relations :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BCFA44-29FA-4E33-94FF-10F6F935665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382000" cy="511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20 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is the composite of the relations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S,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the relation from {1, 2, 3} to {1, 2, 3, 4} with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{(1,1), (1,4), (2,3), (3,1), (3,4)}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the relation from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{1, 2, 3, 4} to {0, 1, 2}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</a:t>
            </a: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{(1,0), (2,0), (3,1), (3,2), (4,1)}?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constructed using all ordered pairs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ordered pairs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where the second element of the ordered pair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agrees with the first element of the ordered pair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example, the ordered pairs (2,3) 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(3,1)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produce the ordered pair (2,1) in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R.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Computing all the ordered pairs in the composite, we find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	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{(1,0), (1,1),(2,1), (2,2),(3,0), (3,1) }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455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657886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Exercise 30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463750-047C-4E16-A9C3-AE79539BE0E9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the relation {(1,2), (1,3),(2,3), (2,4),(3,1)}, and let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the relation {(2,1), (3,1),(3,2), (4,2)}.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Find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Try out yourself!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itchFamily="34" charset="0"/>
              <a:buChar char="•"/>
              <a:tabLst/>
              <a:defRPr/>
            </a:pP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Answer: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∘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=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{(1,1), (1,2),(2,1), (2,2)}  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604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4C03A-E8EF-4A32-8E65-D1DF5EC3C2DF}"/>
              </a:ext>
            </a:extLst>
          </p:cNvPr>
          <p:cNvSpPr/>
          <p:nvPr/>
        </p:nvSpPr>
        <p:spPr>
          <a:xfrm>
            <a:off x="562707" y="1767006"/>
            <a:ext cx="78919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Rosen, K. H., &amp; </a:t>
            </a:r>
            <a:r>
              <a:rPr lang="en-US" sz="2000" dirty="0" err="1"/>
              <a:t>Krithivasan</a:t>
            </a:r>
            <a:r>
              <a:rPr lang="en-US" sz="2000" dirty="0"/>
              <a:t>, K. (2012). Discrete mathematics and its applications: with combinatorics and graph theory. Tata McGraw-Hill Education. (7</a:t>
            </a:r>
            <a:r>
              <a:rPr lang="en-US" sz="2000" baseline="30000" dirty="0"/>
              <a:t>th</a:t>
            </a:r>
            <a:r>
              <a:rPr lang="en-US" sz="2000" dirty="0"/>
              <a:t> Edition)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88717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182880" y="1789566"/>
            <a:ext cx="882044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</a:p>
          <a:p>
            <a:pPr marL="285750" indent="-285750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Online tutorial</a:t>
            </a:r>
          </a:p>
          <a:p>
            <a:r>
              <a:rPr lang="en-US" sz="2000" dirty="0">
                <a:hlinkClick r:id="rId2"/>
              </a:rPr>
              <a:t>https://www.tutorialspoint.com/discrete_mathematics/discrete_mathematics_relations.htm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University of Pittsburgh</a:t>
            </a:r>
          </a:p>
          <a:p>
            <a:r>
              <a:rPr lang="en-US" sz="2000" dirty="0">
                <a:hlinkClick r:id="rId3"/>
              </a:rPr>
              <a:t>https://people.cs.pitt.edu/~milos/courses/cs441/lectures/Class21b.pdf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73020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482</TotalTime>
  <Words>3650</Words>
  <Application>Microsoft Office PowerPoint</Application>
  <PresentationFormat>On-screen Show (4:3)</PresentationFormat>
  <Paragraphs>233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Corbel</vt:lpstr>
      <vt:lpstr>Roboto</vt:lpstr>
      <vt:lpstr>Wingdings</vt:lpstr>
      <vt:lpstr>Spectrum</vt:lpstr>
      <vt:lpstr>Relations and Their Properties</vt:lpstr>
      <vt:lpstr>Lecture Outline</vt:lpstr>
      <vt:lpstr>Objectives and Outcomes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68</cp:revision>
  <dcterms:created xsi:type="dcterms:W3CDTF">2018-12-10T17:20:29Z</dcterms:created>
  <dcterms:modified xsi:type="dcterms:W3CDTF">2023-03-13T16:41:17Z</dcterms:modified>
</cp:coreProperties>
</file>