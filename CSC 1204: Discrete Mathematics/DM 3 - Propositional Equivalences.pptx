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4"/>
  </p:notesMasterIdLst>
  <p:sldIdLst>
    <p:sldId id="256" r:id="rId2"/>
    <p:sldId id="257" r:id="rId3"/>
    <p:sldId id="308" r:id="rId4"/>
    <p:sldId id="333" r:id="rId5"/>
    <p:sldId id="266" r:id="rId6"/>
    <p:sldId id="309" r:id="rId7"/>
    <p:sldId id="310" r:id="rId8"/>
    <p:sldId id="311" r:id="rId9"/>
    <p:sldId id="312" r:id="rId10"/>
    <p:sldId id="315" r:id="rId11"/>
    <p:sldId id="316" r:id="rId12"/>
    <p:sldId id="318" r:id="rId13"/>
    <p:sldId id="317" r:id="rId14"/>
    <p:sldId id="319" r:id="rId15"/>
    <p:sldId id="320" r:id="rId16"/>
    <p:sldId id="321" r:id="rId17"/>
    <p:sldId id="322" r:id="rId18"/>
    <p:sldId id="324" r:id="rId19"/>
    <p:sldId id="313" r:id="rId20"/>
    <p:sldId id="314" r:id="rId21"/>
    <p:sldId id="323" r:id="rId22"/>
    <p:sldId id="325" r:id="rId23"/>
    <p:sldId id="326" r:id="rId24"/>
    <p:sldId id="327" r:id="rId25"/>
    <p:sldId id="328" r:id="rId26"/>
    <p:sldId id="329" r:id="rId27"/>
    <p:sldId id="330" r:id="rId28"/>
    <p:sldId id="331" r:id="rId29"/>
    <p:sldId id="334" r:id="rId30"/>
    <p:sldId id="332" r:id="rId31"/>
    <p:sldId id="277" r:id="rId32"/>
    <p:sldId id="265" r:id="rId3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5E8905-3A9F-4DF8-BE85-8764B14DC0D4}" v="1" dt="2019-04-17T04:06:04.6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4944" autoAdjust="0"/>
  </p:normalViewPr>
  <p:slideViewPr>
    <p:cSldViewPr snapToGrid="0" snapToObjects="1">
      <p:cViewPr varScale="1">
        <p:scale>
          <a:sx n="114" d="100"/>
          <a:sy n="114" d="100"/>
        </p:scale>
        <p:origin x="152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E13DDF-8C9F-41ED-BCA0-DFAC852E1B28}" type="datetimeFigureOut">
              <a:rPr lang="en-US" smtClean="0"/>
              <a:pPr/>
              <a:t>28-Jan-23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91CEC4-8705-463B-9A79-B2018D53849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28-Jan-23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28-Jan-23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28-Jan-23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28-Jan-23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28-Jan-23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28-Jan-23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28-Jan-23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28-Jan-23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28-Jan-23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28-Jan-23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28-Jan-23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28-Jan-23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28-Jan-23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28-Jan-23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28-Jan-23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28-Jan-23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pPr/>
              <a:t>28-Jan-23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w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wmf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Propositional Equivalences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CSC 1204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5936963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4097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44455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Name &amp; email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Discrete Mathematics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586496"/>
          </a:xfrm>
        </p:spPr>
        <p:txBody>
          <a:bodyPr>
            <a:normAutofit/>
          </a:bodyPr>
          <a:lstStyle/>
          <a:p>
            <a:r>
              <a:rPr lang="en-US" altLang="zh-TW" sz="3200" b="1" dirty="0">
                <a:solidFill>
                  <a:srgbClr val="0000FF"/>
                </a:solidFill>
              </a:rPr>
              <a:t>1.2 Propositional Equivalences</a:t>
            </a:r>
          </a:p>
          <a:p>
            <a:pPr marL="274320" indent="-274320">
              <a:lnSpc>
                <a:spcPct val="110000"/>
              </a:lnSpc>
              <a:buClrTx/>
              <a:buFont typeface="Arial" pitchFamily="34" charset="0"/>
              <a:buChar char="•"/>
            </a:pPr>
            <a:r>
              <a:rPr lang="en-US" altLang="zh-TW" sz="2400" b="1" dirty="0">
                <a:solidFill>
                  <a:srgbClr val="0000FF"/>
                </a:solidFill>
              </a:rPr>
              <a:t>Tautology </a:t>
            </a:r>
          </a:p>
          <a:p>
            <a:pPr marL="274320" indent="-274320">
              <a:lnSpc>
                <a:spcPct val="110000"/>
              </a:lnSpc>
              <a:buClrTx/>
              <a:buFont typeface="Arial" pitchFamily="34" charset="0"/>
              <a:buChar char="•"/>
            </a:pPr>
            <a:r>
              <a:rPr lang="en-US" altLang="zh-TW" sz="2400" b="1" dirty="0">
                <a:solidFill>
                  <a:srgbClr val="0000FF"/>
                </a:solidFill>
              </a:rPr>
              <a:t>Contradiction</a:t>
            </a:r>
          </a:p>
          <a:p>
            <a:pPr marL="274320" indent="-274320">
              <a:lnSpc>
                <a:spcPct val="110000"/>
              </a:lnSpc>
              <a:buClrTx/>
              <a:buFont typeface="Arial" pitchFamily="34" charset="0"/>
              <a:buChar char="•"/>
            </a:pPr>
            <a:r>
              <a:rPr lang="en-US" altLang="zh-TW" sz="2400" b="1" dirty="0">
                <a:solidFill>
                  <a:srgbClr val="0000FF"/>
                </a:solidFill>
              </a:rPr>
              <a:t>Contingence</a:t>
            </a:r>
          </a:p>
          <a:p>
            <a:pPr marL="274320" indent="-274320">
              <a:lnSpc>
                <a:spcPct val="110000"/>
              </a:lnSpc>
              <a:buClrTx/>
              <a:buFont typeface="Arial" pitchFamily="34" charset="0"/>
              <a:buChar char="•"/>
            </a:pPr>
            <a:r>
              <a:rPr lang="en-US" altLang="zh-TW" sz="2400" b="1" dirty="0">
                <a:solidFill>
                  <a:srgbClr val="0000FF"/>
                </a:solidFill>
              </a:rPr>
              <a:t>Logical Equivalences</a:t>
            </a:r>
          </a:p>
          <a:p>
            <a:pPr indent="-274320">
              <a:lnSpc>
                <a:spcPct val="110000"/>
              </a:lnSpc>
              <a:buClrTx/>
              <a:buFont typeface="Arial" pitchFamily="34" charset="0"/>
              <a:buChar char="•"/>
            </a:pPr>
            <a:endParaRPr lang="en-US" altLang="zh-TW" sz="2000" b="1" dirty="0">
              <a:solidFill>
                <a:srgbClr val="0000FF"/>
              </a:solidFill>
            </a:endParaRPr>
          </a:p>
          <a:p>
            <a:pPr indent="-274320">
              <a:lnSpc>
                <a:spcPct val="110000"/>
              </a:lnSpc>
              <a:buClrTx/>
              <a:buFont typeface="Arial" pitchFamily="34" charset="0"/>
              <a:buChar char="•"/>
            </a:pPr>
            <a:endParaRPr lang="en-US" sz="2000" b="1" dirty="0">
              <a:solidFill>
                <a:srgbClr val="0000FF"/>
              </a:solidFill>
            </a:endParaRPr>
          </a:p>
          <a:p>
            <a:pPr>
              <a:buFont typeface="Arial" pitchFamily="34" charset="0"/>
              <a:buChar char="•"/>
            </a:pPr>
            <a:endParaRPr lang="en-US" sz="2000" b="1" dirty="0">
              <a:solidFill>
                <a:srgbClr val="0000FF"/>
              </a:solidFill>
            </a:endParaRPr>
          </a:p>
          <a:p>
            <a:pPr>
              <a:buFont typeface="Arial" pitchFamily="34" charset="0"/>
              <a:buChar char="•"/>
            </a:pPr>
            <a:endParaRPr lang="en-US" sz="2000" b="1" dirty="0">
              <a:solidFill>
                <a:srgbClr val="0000FF"/>
              </a:solidFill>
            </a:endParaRPr>
          </a:p>
          <a:p>
            <a:endParaRPr lang="en-US" sz="32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Objectives and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1341" y="2074460"/>
            <a:ext cx="8395113" cy="3893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200" b="1" dirty="0">
                <a:solidFill>
                  <a:srgbClr val="FF0000"/>
                </a:solidFill>
              </a:rPr>
              <a:t>Objectives</a:t>
            </a:r>
            <a:r>
              <a:rPr lang="en-US" sz="2200" dirty="0"/>
              <a:t>: To understand the terms Tautology, Contradiction, Contingence with examples, to understand the standard logical equivalences, to determine whether a compound proposition is a Tautology or Contradiction, to determine whether two compound propositions are logically equivalent. 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200" b="1" dirty="0">
                <a:solidFill>
                  <a:srgbClr val="FF0000"/>
                </a:solidFill>
              </a:rPr>
              <a:t>Outcomes</a:t>
            </a:r>
            <a:r>
              <a:rPr lang="en-US" sz="2200" dirty="0"/>
              <a:t>: Students are expected to be able to write the definitions of Tautology, Contradiction and Contingency with examples, be able to determine whether a compound proposition is a Tautology or Contradiction using a Truth Table and  standard logical equivalences, be able to determine whether two compound propositions are logically equivalent using a Truth Table and logical equivalences.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Preface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FB8F6E4-58BF-1345-BEA7-2B564B156A40}"/>
              </a:ext>
            </a:extLst>
          </p:cNvPr>
          <p:cNvSpPr/>
          <p:nvPr/>
        </p:nvSpPr>
        <p:spPr>
          <a:xfrm>
            <a:off x="421341" y="2406806"/>
            <a:ext cx="841248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en-US" altLang="zh-TW" sz="2400" dirty="0"/>
              <a:t>An important type of step used in a mathematical argument is the replacement of a statement with another statement with the same truth value.</a:t>
            </a:r>
          </a:p>
        </p:txBody>
      </p:sp>
    </p:spTree>
    <p:extLst>
      <p:ext uri="{BB962C8B-B14F-4D97-AF65-F5344CB8AC3E}">
        <p14:creationId xmlns:p14="http://schemas.microsoft.com/office/powerpoint/2010/main" val="7534124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ja-JP" sz="4000" b="1" dirty="0">
                <a:latin typeface="+mn-lt"/>
              </a:rPr>
              <a:t>Tautology</a:t>
            </a:r>
            <a:endParaRPr lang="en-US" sz="4000" dirty="0">
              <a:latin typeface="+mn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497165" y="2183642"/>
            <a:ext cx="803268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§"/>
            </a:pPr>
            <a:endParaRPr lang="en-US" altLang="zh-TW" sz="2800" b="1" i="1" dirty="0">
              <a:solidFill>
                <a:srgbClr val="0000FF"/>
              </a:solidFill>
            </a:endParaRPr>
          </a:p>
          <a:p>
            <a:r>
              <a:rPr lang="en-US" altLang="zh-TW" sz="2800" b="1" i="1" dirty="0">
                <a:solidFill>
                  <a:srgbClr val="0000FF"/>
                </a:solidFill>
              </a:rPr>
              <a:t>Tautology</a:t>
            </a:r>
            <a:r>
              <a:rPr lang="en-US" altLang="zh-TW" sz="2800" dirty="0"/>
              <a:t>: A compound proposition that is always true is called a tautology. </a:t>
            </a:r>
          </a:p>
          <a:p>
            <a:r>
              <a:rPr lang="en-US" altLang="ja-JP" sz="2800" u="sng" dirty="0">
                <a:solidFill>
                  <a:srgbClr val="FC0000"/>
                </a:solidFill>
              </a:rPr>
              <a:t>Examples</a:t>
            </a:r>
            <a:r>
              <a:rPr lang="en-US" altLang="ja-JP" sz="2800" dirty="0">
                <a:solidFill>
                  <a:srgbClr val="FC0000"/>
                </a:solidFill>
              </a:rPr>
              <a:t>:</a:t>
            </a:r>
            <a:r>
              <a:rPr lang="en-US" altLang="ja-JP" sz="2800" dirty="0"/>
              <a:t> </a:t>
            </a:r>
          </a:p>
          <a:p>
            <a:r>
              <a:rPr lang="en-US" altLang="ja-JP" sz="2800" dirty="0"/>
              <a:t>	a) </a:t>
            </a:r>
            <a:r>
              <a:rPr lang="en-US" altLang="ja-JP" sz="2800" b="1" i="1" dirty="0"/>
              <a:t>p </a:t>
            </a:r>
            <a:r>
              <a:rPr lang="en-US" altLang="ja-JP" sz="2800" b="1" dirty="0">
                <a:sym typeface="Symbol" pitchFamily="18" charset="2"/>
              </a:rPr>
              <a:t></a:t>
            </a:r>
            <a:r>
              <a:rPr lang="en-US" altLang="ja-JP" sz="2800" b="1" dirty="0">
                <a:cs typeface="Arial" pitchFamily="34" charset="0"/>
              </a:rPr>
              <a:t> </a:t>
            </a:r>
            <a:r>
              <a:rPr lang="en-US" altLang="ja-JP" sz="2800" b="1" i="1" dirty="0">
                <a:cs typeface="Arial" pitchFamily="34" charset="0"/>
              </a:rPr>
              <a:t>¬</a:t>
            </a:r>
            <a:r>
              <a:rPr lang="en-US" altLang="ja-JP" sz="2800" b="1" i="1" dirty="0"/>
              <a:t>p </a:t>
            </a:r>
          </a:p>
          <a:p>
            <a:r>
              <a:rPr lang="en-US" altLang="ja-JP" sz="2800" i="1" dirty="0"/>
              <a:t>	b) The professor is either a woman or a man</a:t>
            </a:r>
          </a:p>
          <a:p>
            <a:r>
              <a:rPr lang="en-US" altLang="ja-JP" sz="2800" i="1" dirty="0"/>
              <a:t>	c) People either like watching TV or they don’t</a:t>
            </a:r>
          </a:p>
          <a:p>
            <a:r>
              <a:rPr lang="en-US" altLang="zh-TW" sz="2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+mn-lt"/>
              </a:rPr>
              <a:t>Contradiction</a:t>
            </a:r>
            <a:endParaRPr lang="en-US" sz="4000" dirty="0"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21341" y="2136339"/>
            <a:ext cx="8299578" cy="29854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800" b="1" i="1" dirty="0">
                <a:solidFill>
                  <a:srgbClr val="0000FF"/>
                </a:solidFill>
              </a:rPr>
              <a:t>Contradiction</a:t>
            </a:r>
            <a:r>
              <a:rPr lang="en-US" altLang="zh-TW" sz="2800" dirty="0"/>
              <a:t>: A compound proposition that is always false is called a contradiction.	</a:t>
            </a:r>
          </a:p>
          <a:p>
            <a:r>
              <a:rPr lang="en-US" altLang="zh-TW" sz="2800" u="sng" dirty="0">
                <a:solidFill>
                  <a:srgbClr val="FF0000"/>
                </a:solidFill>
              </a:rPr>
              <a:t>Examples</a:t>
            </a:r>
            <a:r>
              <a:rPr lang="en-US" altLang="zh-TW" sz="2800" dirty="0">
                <a:solidFill>
                  <a:srgbClr val="FF0000"/>
                </a:solidFill>
              </a:rPr>
              <a:t>:</a:t>
            </a:r>
            <a:endParaRPr lang="en-US" altLang="zh-TW" sz="2800" dirty="0"/>
          </a:p>
          <a:p>
            <a:r>
              <a:rPr lang="en-US" altLang="ja-JP" sz="2800" b="1" i="1" dirty="0">
                <a:solidFill>
                  <a:srgbClr val="0000FF"/>
                </a:solidFill>
                <a:ea typeface="新細明體" pitchFamily="18" charset="-120"/>
              </a:rPr>
              <a:t>	</a:t>
            </a:r>
            <a:r>
              <a:rPr lang="en-US" altLang="ja-JP" sz="2400" dirty="0">
                <a:ea typeface="新細明體" pitchFamily="18" charset="-120"/>
              </a:rPr>
              <a:t>a) </a:t>
            </a:r>
            <a:r>
              <a:rPr lang="en-US" altLang="ja-JP" sz="2400" b="1" i="1" dirty="0"/>
              <a:t>p</a:t>
            </a:r>
            <a:r>
              <a:rPr lang="en-US" altLang="ja-JP" sz="2400" b="1" dirty="0"/>
              <a:t> </a:t>
            </a:r>
            <a:r>
              <a:rPr lang="en-US" altLang="ja-JP" sz="2400" b="1" dirty="0">
                <a:sym typeface="Symbol" pitchFamily="18" charset="2"/>
              </a:rPr>
              <a:t></a:t>
            </a:r>
            <a:r>
              <a:rPr lang="en-US" altLang="ja-JP" sz="2400" b="1" dirty="0"/>
              <a:t> </a:t>
            </a:r>
            <a:r>
              <a:rPr lang="en-US" altLang="ja-JP" sz="2400" b="1" i="1" dirty="0"/>
              <a:t>¬p</a:t>
            </a:r>
            <a:r>
              <a:rPr lang="en-US" altLang="ja-JP" sz="2400" b="1" dirty="0"/>
              <a:t>  </a:t>
            </a:r>
          </a:p>
          <a:p>
            <a:r>
              <a:rPr lang="en-US" sz="2400" dirty="0"/>
              <a:t>	b) All men are good and all men are bad</a:t>
            </a:r>
          </a:p>
          <a:p>
            <a:r>
              <a:rPr lang="en-US" sz="2400" i="1" dirty="0">
                <a:solidFill>
                  <a:srgbClr val="0000FF"/>
                </a:solidFill>
              </a:rPr>
              <a:t>	</a:t>
            </a:r>
            <a:endParaRPr lang="en-US" sz="2400" dirty="0"/>
          </a:p>
          <a:p>
            <a:r>
              <a:rPr lang="en-US" sz="2800" dirty="0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8509" y="612781"/>
            <a:ext cx="7808976" cy="1088136"/>
          </a:xfrm>
        </p:spPr>
        <p:txBody>
          <a:bodyPr>
            <a:normAutofit fontScale="90000"/>
          </a:bodyPr>
          <a:lstStyle/>
          <a:p>
            <a:r>
              <a:rPr lang="en-US" altLang="ja-JP" sz="4400" dirty="0">
                <a:latin typeface="+mn-lt"/>
              </a:rPr>
              <a:t>Examples of  </a:t>
            </a:r>
            <a:r>
              <a:rPr lang="en-US" altLang="ja-JP" sz="4400" b="1" i="1" dirty="0">
                <a:latin typeface="+mn-lt"/>
              </a:rPr>
              <a:t>Tautology</a:t>
            </a:r>
            <a:r>
              <a:rPr lang="en-US" altLang="ja-JP" sz="4400" dirty="0">
                <a:latin typeface="+mn-lt"/>
              </a:rPr>
              <a:t> and </a:t>
            </a:r>
            <a:r>
              <a:rPr lang="en-US" altLang="ja-JP" sz="4400" b="1" i="1" dirty="0">
                <a:latin typeface="+mn-lt"/>
              </a:rPr>
              <a:t>Contradiction</a:t>
            </a:r>
            <a:endParaRPr lang="en-US" dirty="0">
              <a:latin typeface="+mn-lt"/>
            </a:endParaRPr>
          </a:p>
        </p:txBody>
      </p:sp>
      <p:pic>
        <p:nvPicPr>
          <p:cNvPr id="4" name="Content Placeholder 3" descr="t01_2_00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685800" y="2073336"/>
            <a:ext cx="7421685" cy="428653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ja-JP" sz="4000" b="1" dirty="0">
                <a:latin typeface="+mn-lt"/>
              </a:rPr>
              <a:t>Contingency</a:t>
            </a:r>
            <a:endParaRPr lang="en-US" sz="4000" dirty="0"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68493" y="2274838"/>
            <a:ext cx="8270542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800" b="1" i="1" dirty="0">
                <a:solidFill>
                  <a:srgbClr val="0000FF"/>
                </a:solidFill>
              </a:rPr>
              <a:t>Contingency</a:t>
            </a:r>
            <a:r>
              <a:rPr lang="en-US" altLang="zh-TW" sz="2800" dirty="0"/>
              <a:t>: A compound proposition that is neither a tautology nor a contradiction is called a contingency.</a:t>
            </a:r>
          </a:p>
          <a:p>
            <a:r>
              <a:rPr lang="en-US" altLang="zh-TW" sz="2800" dirty="0"/>
              <a:t>In other words,</a:t>
            </a:r>
            <a:r>
              <a:rPr lang="en-US" altLang="ja-JP" sz="2800" dirty="0">
                <a:solidFill>
                  <a:srgbClr val="669900"/>
                </a:solidFill>
              </a:rPr>
              <a:t> </a:t>
            </a:r>
            <a:r>
              <a:rPr lang="en-US" altLang="ja-JP" sz="2800" dirty="0">
                <a:solidFill>
                  <a:srgbClr val="0000FF"/>
                </a:solidFill>
              </a:rPr>
              <a:t>a compound proposition whose truth value is not constant is called a contingency</a:t>
            </a:r>
            <a:r>
              <a:rPr lang="en-US" altLang="ja-JP" sz="2800" b="1" i="1" dirty="0">
                <a:solidFill>
                  <a:srgbClr val="0000FF"/>
                </a:solidFill>
              </a:rPr>
              <a:t>.</a:t>
            </a:r>
          </a:p>
          <a:p>
            <a:r>
              <a:rPr lang="en-US" sz="2800" u="sng" dirty="0">
                <a:solidFill>
                  <a:srgbClr val="FF0000"/>
                </a:solidFill>
              </a:rPr>
              <a:t>Examples:</a:t>
            </a:r>
            <a:r>
              <a:rPr lang="en-US" sz="2800" dirty="0">
                <a:solidFill>
                  <a:srgbClr val="0000FF"/>
                </a:solidFill>
              </a:rPr>
              <a:t>  </a:t>
            </a:r>
          </a:p>
          <a:p>
            <a:r>
              <a:rPr lang="en-US" altLang="ja-JP" sz="2800" b="1" i="1" dirty="0"/>
              <a:t>	</a:t>
            </a:r>
            <a:r>
              <a:rPr lang="en-US" altLang="ja-JP" sz="2800" i="1" dirty="0"/>
              <a:t>a) p </a:t>
            </a:r>
            <a:r>
              <a:rPr lang="en-US" altLang="ja-JP" sz="2800" dirty="0">
                <a:sym typeface="Symbol" pitchFamily="18" charset="2"/>
              </a:rPr>
              <a:t></a:t>
            </a:r>
            <a:r>
              <a:rPr lang="en-US" altLang="ja-JP" sz="2800" dirty="0"/>
              <a:t> </a:t>
            </a:r>
            <a:r>
              <a:rPr lang="en-US" altLang="ja-JP" sz="2800" i="1" dirty="0">
                <a:cs typeface="Arial" pitchFamily="34" charset="0"/>
              </a:rPr>
              <a:t>¬</a:t>
            </a:r>
            <a:r>
              <a:rPr lang="en-US" altLang="ja-JP" sz="2800" i="1" dirty="0"/>
              <a:t>p  </a:t>
            </a:r>
          </a:p>
          <a:p>
            <a:r>
              <a:rPr lang="en-US" sz="2800" i="1" dirty="0"/>
              <a:t>	b) p</a:t>
            </a:r>
          </a:p>
          <a:p>
            <a:r>
              <a:rPr lang="en-US" sz="2800" i="1" dirty="0"/>
              <a:t>	c) </a:t>
            </a:r>
            <a:r>
              <a:rPr lang="en-US" altLang="ja-JP" sz="2800" i="1" dirty="0">
                <a:cs typeface="Arial" pitchFamily="34" charset="0"/>
              </a:rPr>
              <a:t>¬</a:t>
            </a:r>
            <a:r>
              <a:rPr lang="en-US" altLang="ja-JP" sz="2800" i="1" dirty="0"/>
              <a:t>p </a:t>
            </a:r>
            <a:endParaRPr lang="en-US" sz="2800" i="1" dirty="0"/>
          </a:p>
          <a:p>
            <a:endParaRPr lang="en-US" altLang="ja-JP" sz="2800" b="1" i="1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9453" y="612781"/>
            <a:ext cx="7808976" cy="1088136"/>
          </a:xfrm>
        </p:spPr>
        <p:txBody>
          <a:bodyPr>
            <a:noAutofit/>
          </a:bodyPr>
          <a:lstStyle/>
          <a:p>
            <a:r>
              <a:rPr lang="en-US" altLang="ja-JP" sz="2800" b="1" dirty="0">
                <a:latin typeface="+mn-lt"/>
              </a:rPr>
              <a:t>How to determine whether</a:t>
            </a:r>
            <a:r>
              <a:rPr lang="en-US" altLang="ja-JP" sz="2800" dirty="0">
                <a:latin typeface="+mn-lt"/>
              </a:rPr>
              <a:t> </a:t>
            </a:r>
            <a:r>
              <a:rPr lang="en-US" altLang="ja-JP" sz="2800" b="1" dirty="0">
                <a:latin typeface="+mn-lt"/>
              </a:rPr>
              <a:t>a compound</a:t>
            </a:r>
            <a:r>
              <a:rPr lang="en-US" altLang="ja-JP" sz="2800" dirty="0">
                <a:latin typeface="+mn-lt"/>
              </a:rPr>
              <a:t> </a:t>
            </a:r>
            <a:r>
              <a:rPr lang="en-US" altLang="ja-JP" sz="2800" b="1" dirty="0">
                <a:latin typeface="+mn-lt"/>
              </a:rPr>
              <a:t>proposition</a:t>
            </a:r>
            <a:r>
              <a:rPr lang="en-US" altLang="ja-JP" sz="2800" dirty="0">
                <a:latin typeface="+mn-lt"/>
              </a:rPr>
              <a:t> is a </a:t>
            </a:r>
            <a:r>
              <a:rPr lang="en-US" altLang="ja-JP" sz="2800" b="1" dirty="0">
                <a:latin typeface="+mn-lt"/>
              </a:rPr>
              <a:t>Tautology</a:t>
            </a:r>
            <a:r>
              <a:rPr lang="en-US" altLang="ja-JP" sz="2800" dirty="0">
                <a:latin typeface="+mn-lt"/>
              </a:rPr>
              <a:t> or </a:t>
            </a:r>
            <a:r>
              <a:rPr lang="en-US" altLang="ja-JP" sz="2800" b="1" dirty="0">
                <a:latin typeface="+mn-lt"/>
              </a:rPr>
              <a:t>Contradiction</a:t>
            </a:r>
            <a:r>
              <a:rPr lang="en-US" altLang="ja-JP" sz="2800" dirty="0">
                <a:latin typeface="+mn-lt"/>
              </a:rPr>
              <a:t>?</a:t>
            </a:r>
            <a:endParaRPr lang="en-US" sz="2800" dirty="0"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62028" y="2156344"/>
            <a:ext cx="8722659" cy="38779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600"/>
              </a:spcBef>
              <a:buFont typeface="Arial" pitchFamily="34" charset="0"/>
              <a:buChar char="•"/>
              <a:defRPr/>
            </a:pPr>
            <a:r>
              <a:rPr lang="en-US" altLang="ja-JP" sz="3200" dirty="0"/>
              <a:t>We can determine whether a compound proposition is a Tautology or contradiction it in </a:t>
            </a:r>
            <a:r>
              <a:rPr lang="en-US" altLang="ja-JP" sz="3200" b="1" dirty="0">
                <a:solidFill>
                  <a:srgbClr val="0000FF"/>
                </a:solidFill>
              </a:rPr>
              <a:t>two ways</a:t>
            </a:r>
            <a:r>
              <a:rPr lang="en-US" altLang="ja-JP" sz="3200" dirty="0"/>
              <a:t>:</a:t>
            </a:r>
          </a:p>
          <a:p>
            <a:pPr marL="971550" lvl="1" indent="-514350">
              <a:spcBef>
                <a:spcPts val="600"/>
              </a:spcBef>
              <a:buFont typeface="+mj-lt"/>
              <a:buAutoNum type="arabicParenR"/>
              <a:defRPr/>
            </a:pPr>
            <a:r>
              <a:rPr lang="en-US" altLang="ja-JP" sz="2800" dirty="0"/>
              <a:t>Using a </a:t>
            </a:r>
            <a:r>
              <a:rPr lang="en-US" altLang="ja-JP" sz="2800" b="1" dirty="0">
                <a:solidFill>
                  <a:srgbClr val="0000FF"/>
                </a:solidFill>
              </a:rPr>
              <a:t>truth table </a:t>
            </a:r>
            <a:r>
              <a:rPr lang="en-US" altLang="ja-JP" sz="2800" dirty="0"/>
              <a:t>– The </a:t>
            </a:r>
            <a:r>
              <a:rPr lang="en-US" altLang="ja-JP" sz="2800" b="1" dirty="0"/>
              <a:t>easiest</a:t>
            </a:r>
            <a:r>
              <a:rPr lang="en-US" altLang="ja-JP" sz="2800" dirty="0"/>
              <a:t> way to see if a compound proposition is a tautology or contradiction is to </a:t>
            </a:r>
            <a:r>
              <a:rPr lang="en-US" altLang="ja-JP" sz="2800" dirty="0">
                <a:solidFill>
                  <a:srgbClr val="0000FF"/>
                </a:solidFill>
              </a:rPr>
              <a:t>use a </a:t>
            </a:r>
            <a:r>
              <a:rPr lang="en-US" altLang="ja-JP" sz="2800" b="1" i="1" dirty="0">
                <a:solidFill>
                  <a:srgbClr val="0000FF"/>
                </a:solidFill>
              </a:rPr>
              <a:t>truth</a:t>
            </a:r>
            <a:r>
              <a:rPr lang="en-US" altLang="ja-JP" sz="2800" i="1" dirty="0">
                <a:solidFill>
                  <a:srgbClr val="0000FF"/>
                </a:solidFill>
              </a:rPr>
              <a:t> </a:t>
            </a:r>
            <a:r>
              <a:rPr lang="en-US" altLang="ja-JP" sz="2800" b="1" i="1" dirty="0">
                <a:solidFill>
                  <a:srgbClr val="0000FF"/>
                </a:solidFill>
              </a:rPr>
              <a:t>table. </a:t>
            </a:r>
            <a:r>
              <a:rPr lang="en-US" altLang="ja-JP" sz="2800" dirty="0"/>
              <a:t>Show that the compound  proposition is always true</a:t>
            </a:r>
          </a:p>
          <a:p>
            <a:pPr marL="971550" lvl="1" indent="-514350">
              <a:spcBef>
                <a:spcPts val="600"/>
              </a:spcBef>
              <a:buFont typeface="+mj-lt"/>
              <a:buAutoNum type="arabicParenR"/>
              <a:defRPr/>
            </a:pPr>
            <a:r>
              <a:rPr lang="en-US" altLang="ja-JP" sz="2800" dirty="0"/>
              <a:t>Using (laws of) </a:t>
            </a:r>
            <a:r>
              <a:rPr lang="en-US" altLang="ja-JP" sz="2800" b="1" dirty="0">
                <a:solidFill>
                  <a:srgbClr val="0000FF"/>
                </a:solidFill>
              </a:rPr>
              <a:t>Logical</a:t>
            </a:r>
            <a:r>
              <a:rPr lang="en-US" altLang="ja-JP" sz="2800" dirty="0"/>
              <a:t> </a:t>
            </a:r>
            <a:r>
              <a:rPr lang="en-US" altLang="ja-JP" sz="2800" b="1" dirty="0">
                <a:solidFill>
                  <a:srgbClr val="0000FF"/>
                </a:solidFill>
              </a:rPr>
              <a:t>Equivalences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ja-JP" sz="4000" dirty="0">
                <a:latin typeface="+mn-lt"/>
              </a:rPr>
              <a:t>Tautology : Example </a:t>
            </a:r>
            <a:endParaRPr lang="en-US" sz="4000" dirty="0"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75716" y="2357214"/>
            <a:ext cx="7409785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2800" dirty="0">
                <a:solidFill>
                  <a:srgbClr val="FF0000"/>
                </a:solidFill>
              </a:rPr>
              <a:t>Show that </a:t>
            </a:r>
            <a:r>
              <a:rPr lang="en-US" altLang="ja-JP" sz="2800" b="1" dirty="0">
                <a:solidFill>
                  <a:srgbClr val="FF0000"/>
                </a:solidFill>
                <a:cs typeface="Arial" charset="0"/>
              </a:rPr>
              <a:t>[</a:t>
            </a:r>
            <a:r>
              <a:rPr lang="en-US" altLang="ja-JP" sz="2800" b="1" i="1" dirty="0">
                <a:solidFill>
                  <a:srgbClr val="FF0000"/>
                </a:solidFill>
                <a:cs typeface="Arial" charset="0"/>
              </a:rPr>
              <a:t>¬</a:t>
            </a:r>
            <a:r>
              <a:rPr lang="en-US" altLang="ja-JP" sz="2800" b="1" i="1" dirty="0">
                <a:solidFill>
                  <a:srgbClr val="FF0000"/>
                </a:solidFill>
              </a:rPr>
              <a:t>p</a:t>
            </a:r>
            <a:r>
              <a:rPr lang="en-US" altLang="ja-JP" sz="2800" b="1" dirty="0">
                <a:solidFill>
                  <a:srgbClr val="FF0000"/>
                </a:solidFill>
              </a:rPr>
              <a:t> </a:t>
            </a:r>
            <a:r>
              <a:rPr lang="en-US" altLang="ja-JP" sz="2800" b="1" dirty="0">
                <a:solidFill>
                  <a:srgbClr val="FF0000"/>
                </a:solidFill>
                <a:sym typeface="Symbol" pitchFamily="1" charset="2"/>
              </a:rPr>
              <a:t></a:t>
            </a:r>
            <a:r>
              <a:rPr lang="en-US" altLang="ja-JP" sz="2800" b="1" dirty="0">
                <a:solidFill>
                  <a:srgbClr val="FF0000"/>
                </a:solidFill>
              </a:rPr>
              <a:t>(</a:t>
            </a:r>
            <a:r>
              <a:rPr lang="en-US" altLang="ja-JP" sz="2800" b="1" i="1" dirty="0">
                <a:solidFill>
                  <a:srgbClr val="FF0000"/>
                </a:solidFill>
              </a:rPr>
              <a:t>p </a:t>
            </a:r>
            <a:r>
              <a:rPr lang="en-US" altLang="ja-JP" sz="2800" b="1" dirty="0">
                <a:solidFill>
                  <a:srgbClr val="FF0000"/>
                </a:solidFill>
                <a:sym typeface="Symbol" pitchFamily="1" charset="2"/>
              </a:rPr>
              <a:t></a:t>
            </a:r>
            <a:r>
              <a:rPr lang="en-US" altLang="ja-JP" sz="2800" b="1" i="1" dirty="0">
                <a:solidFill>
                  <a:srgbClr val="FF0000"/>
                </a:solidFill>
              </a:rPr>
              <a:t>q </a:t>
            </a:r>
            <a:r>
              <a:rPr lang="en-US" altLang="ja-JP" sz="2800" b="1" dirty="0">
                <a:solidFill>
                  <a:srgbClr val="FF0000"/>
                </a:solidFill>
              </a:rPr>
              <a:t>)]</a:t>
            </a:r>
            <a:r>
              <a:rPr lang="en-US" altLang="ja-JP" sz="2800" b="1" dirty="0">
                <a:solidFill>
                  <a:srgbClr val="FF0000"/>
                </a:solidFill>
                <a:sym typeface="Symbol" pitchFamily="1" charset="2"/>
              </a:rPr>
              <a:t></a:t>
            </a:r>
            <a:r>
              <a:rPr lang="en-US" altLang="ja-JP" sz="2800" b="1" i="1" dirty="0">
                <a:solidFill>
                  <a:srgbClr val="FF0000"/>
                </a:solidFill>
              </a:rPr>
              <a:t>q </a:t>
            </a:r>
            <a:r>
              <a:rPr lang="en-US" altLang="ja-JP" sz="2800" dirty="0">
                <a:solidFill>
                  <a:srgbClr val="FF0000"/>
                </a:solidFill>
              </a:rPr>
              <a:t>is a </a:t>
            </a:r>
            <a:r>
              <a:rPr lang="en-US" altLang="ja-JP" sz="2800" i="1" dirty="0">
                <a:solidFill>
                  <a:srgbClr val="FF0000"/>
                </a:solidFill>
              </a:rPr>
              <a:t>tautology using a </a:t>
            </a:r>
          </a:p>
          <a:p>
            <a:r>
              <a:rPr lang="en-US" altLang="ja-JP" sz="2800" i="1" dirty="0">
                <a:solidFill>
                  <a:srgbClr val="FF0000"/>
                </a:solidFill>
              </a:rPr>
              <a:t>Truth Table </a:t>
            </a:r>
            <a:endParaRPr lang="en-US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8509" y="544540"/>
            <a:ext cx="8545240" cy="1352499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Solution </a:t>
            </a:r>
          </a:p>
        </p:txBody>
      </p:sp>
      <p:graphicFrame>
        <p:nvGraphicFramePr>
          <p:cNvPr id="5" name="Group 54"/>
          <p:cNvGraphicFramePr>
            <a:graphicFrameLocks noGrp="1"/>
          </p:cNvGraphicFramePr>
          <p:nvPr/>
        </p:nvGraphicFramePr>
        <p:xfrm>
          <a:off x="545904" y="2197296"/>
          <a:ext cx="7848600" cy="3886200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D226CE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p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800" b="1" i="1" u="none" strike="noStrike" cap="none" normalizeH="0" baseline="0">
                          <a:ln>
                            <a:noFill/>
                          </a:ln>
                          <a:solidFill>
                            <a:srgbClr val="D226CE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q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D226CE"/>
                          </a:solidFill>
                          <a:effectLst/>
                          <a:latin typeface="Tahoma"/>
                          <a:ea typeface="ＭＳ Ｐゴシック" pitchFamily="1" charset="-128"/>
                          <a:cs typeface="Arial" charset="0"/>
                        </a:rPr>
                        <a:t>¬</a:t>
                      </a:r>
                      <a:r>
                        <a:rPr kumimoji="1" lang="en-US" altLang="ja-JP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D226CE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p</a:t>
                      </a:r>
                    </a:p>
                  </a:txBody>
                  <a:tcPr anchor="ctr" horzOverflow="overflow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D226CE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p </a:t>
                      </a:r>
                      <a:r>
                        <a:rPr kumimoji="1" lang="en-US" altLang="ja-JP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D226CE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sym typeface="Symbol" pitchFamily="1" charset="2"/>
                        </a:rPr>
                        <a:t></a:t>
                      </a:r>
                      <a:r>
                        <a:rPr kumimoji="1" lang="en-US" altLang="ja-JP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D226CE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q</a:t>
                      </a:r>
                      <a:endParaRPr kumimoji="1" lang="en-US" altLang="ja-JP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D226CE"/>
                        </a:solidFill>
                        <a:effectLst/>
                        <a:latin typeface="Arial" charset="0"/>
                        <a:ea typeface="ＭＳ Ｐゴシック" pitchFamily="1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D226CE"/>
                          </a:solidFill>
                          <a:effectLst/>
                          <a:latin typeface="Tahoma"/>
                          <a:ea typeface="ＭＳ Ｐゴシック" pitchFamily="1" charset="-128"/>
                          <a:cs typeface="Arial" charset="0"/>
                        </a:rPr>
                        <a:t>¬</a:t>
                      </a:r>
                      <a:r>
                        <a:rPr kumimoji="1" lang="en-US" altLang="ja-JP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D226CE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p</a:t>
                      </a:r>
                      <a:r>
                        <a:rPr kumimoji="1" lang="en-US" altLang="ja-JP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D226CE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 </a:t>
                      </a:r>
                      <a:r>
                        <a:rPr kumimoji="1" lang="en-US" altLang="ja-JP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D226CE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  <a:sym typeface="Symbol" pitchFamily="1" charset="2"/>
                        </a:rPr>
                        <a:t></a:t>
                      </a:r>
                      <a:r>
                        <a:rPr kumimoji="1" lang="en-US" altLang="ja-JP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D226CE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(</a:t>
                      </a:r>
                      <a:r>
                        <a:rPr kumimoji="1" lang="en-US" altLang="ja-JP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D226CE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p </a:t>
                      </a:r>
                      <a:r>
                        <a:rPr kumimoji="1" lang="en-US" altLang="ja-JP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D226CE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  <a:sym typeface="Symbol" pitchFamily="1" charset="2"/>
                        </a:rPr>
                        <a:t></a:t>
                      </a:r>
                      <a:r>
                        <a:rPr kumimoji="1" lang="en-US" altLang="ja-JP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D226CE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q </a:t>
                      </a:r>
                      <a:r>
                        <a:rPr kumimoji="1" lang="en-US" altLang="ja-JP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D226CE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D226CE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[</a:t>
                      </a:r>
                      <a:r>
                        <a:rPr kumimoji="1" lang="en-US" altLang="ja-JP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D226CE"/>
                          </a:solidFill>
                          <a:effectLst/>
                          <a:latin typeface="Tahoma"/>
                          <a:ea typeface="ＭＳ Ｐゴシック" pitchFamily="1" charset="-128"/>
                          <a:cs typeface="Arial" charset="0"/>
                        </a:rPr>
                        <a:t>¬</a:t>
                      </a:r>
                      <a:r>
                        <a:rPr kumimoji="1" lang="en-US" altLang="ja-JP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D226CE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p</a:t>
                      </a:r>
                      <a:r>
                        <a:rPr kumimoji="1" lang="en-US" altLang="ja-JP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D226CE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 </a:t>
                      </a:r>
                      <a:r>
                        <a:rPr kumimoji="1" lang="en-US" altLang="ja-JP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D226CE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  <a:sym typeface="Symbol" pitchFamily="1" charset="2"/>
                        </a:rPr>
                        <a:t></a:t>
                      </a:r>
                      <a:r>
                        <a:rPr kumimoji="1" lang="en-US" altLang="ja-JP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D226CE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(</a:t>
                      </a:r>
                      <a:r>
                        <a:rPr kumimoji="1" lang="en-US" altLang="ja-JP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D226CE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p </a:t>
                      </a:r>
                      <a:r>
                        <a:rPr kumimoji="1" lang="en-US" altLang="ja-JP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D226CE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  <a:sym typeface="Symbol" pitchFamily="1" charset="2"/>
                        </a:rPr>
                        <a:t></a:t>
                      </a:r>
                      <a:r>
                        <a:rPr kumimoji="1" lang="en-US" altLang="ja-JP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D226CE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q </a:t>
                      </a:r>
                      <a:r>
                        <a:rPr kumimoji="1" lang="en-US" altLang="ja-JP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D226CE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)]</a:t>
                      </a:r>
                      <a:r>
                        <a:rPr kumimoji="1" lang="en-US" altLang="ja-JP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D226CE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  <a:sym typeface="Symbol" pitchFamily="1" charset="2"/>
                        </a:rPr>
                        <a:t></a:t>
                      </a:r>
                      <a:r>
                        <a:rPr kumimoji="1" lang="en-US" altLang="ja-JP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D226CE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q</a:t>
                      </a:r>
                      <a:endParaRPr kumimoji="1" lang="en-US" altLang="ja-JP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D226CE"/>
                        </a:solidFill>
                        <a:effectLst/>
                        <a:latin typeface="Arial" charset="0"/>
                        <a:ea typeface="ＭＳ Ｐゴシック" pitchFamily="1" charset="-128"/>
                        <a:cs typeface="Arial" charset="0"/>
                      </a:endParaRPr>
                    </a:p>
                  </a:txBody>
                  <a:tcPr anchor="ctr" horzOverflow="overflow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T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3F2CCC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ja-JP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1" charset="-128"/>
                      </a:endParaRPr>
                    </a:p>
                  </a:txBody>
                  <a:tcPr anchor="ctr" horzOverflow="overflow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ja-JP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1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ja-JP" altLang="en-US" sz="2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1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ja-JP" altLang="en-US" sz="2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1" charset="-128"/>
                      </a:endParaRPr>
                    </a:p>
                  </a:txBody>
                  <a:tcPr anchor="ctr" horzOverflow="overflow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T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3F2CCC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F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ja-JP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1" charset="-128"/>
                      </a:endParaRPr>
                    </a:p>
                  </a:txBody>
                  <a:tcPr anchor="ctr" horzOverflow="overflow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ja-JP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1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ja-JP" altLang="en-US" sz="2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1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ja-JP" altLang="en-US" sz="2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1" charset="-128"/>
                      </a:endParaRPr>
                    </a:p>
                  </a:txBody>
                  <a:tcPr anchor="ctr" horzOverflow="overflow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F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3F2CCC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ja-JP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1" charset="-128"/>
                      </a:endParaRPr>
                    </a:p>
                  </a:txBody>
                  <a:tcPr anchor="ctr" horzOverflow="overflow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ja-JP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1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ja-JP" altLang="en-US" sz="2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1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ja-JP" altLang="en-US" sz="2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1" charset="-128"/>
                      </a:endParaRPr>
                    </a:p>
                  </a:txBody>
                  <a:tcPr anchor="ctr" horzOverflow="overflow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F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3F2CCC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F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ja-JP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1" charset="-128"/>
                      </a:endParaRPr>
                    </a:p>
                  </a:txBody>
                  <a:tcPr anchor="ctr" horzOverflow="overflow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ja-JP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1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ja-JP" altLang="en-US" sz="2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1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ja-JP" altLang="en-US" sz="2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1" charset="-128"/>
                      </a:endParaRPr>
                    </a:p>
                  </a:txBody>
                  <a:tcPr anchor="ctr" horzOverflow="overflow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Solution </a:t>
            </a:r>
          </a:p>
        </p:txBody>
      </p:sp>
      <p:graphicFrame>
        <p:nvGraphicFramePr>
          <p:cNvPr id="5" name="Group 50"/>
          <p:cNvGraphicFramePr>
            <a:graphicFrameLocks noGrp="1"/>
          </p:cNvGraphicFramePr>
          <p:nvPr/>
        </p:nvGraphicFramePr>
        <p:xfrm>
          <a:off x="709680" y="2115408"/>
          <a:ext cx="7848600" cy="3886200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3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p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3200" b="1" i="1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q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Tahoma"/>
                          <a:ea typeface="ＭＳ Ｐゴシック" pitchFamily="1" charset="-128"/>
                          <a:cs typeface="Arial" charset="0"/>
                        </a:rPr>
                        <a:t>¬</a:t>
                      </a:r>
                      <a:r>
                        <a:rPr kumimoji="1" lang="en-US" altLang="ja-JP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p</a:t>
                      </a:r>
                    </a:p>
                  </a:txBody>
                  <a:tcPr anchor="ctr" horzOverflow="overflow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p </a:t>
                      </a:r>
                      <a:r>
                        <a:rPr kumimoji="1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sym typeface="Symbol" pitchFamily="1" charset="2"/>
                        </a:rPr>
                        <a:t> </a:t>
                      </a:r>
                      <a:r>
                        <a:rPr kumimoji="1" lang="en-US" altLang="ja-JP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q</a:t>
                      </a:r>
                      <a:endParaRPr kumimoji="1" lang="en-US" altLang="ja-JP" sz="2400" b="1" i="0" u="none" strike="noStrike" cap="none" normalizeH="0" baseline="0">
                        <a:ln>
                          <a:noFill/>
                        </a:ln>
                        <a:solidFill>
                          <a:srgbClr val="C84DD9"/>
                        </a:solidFill>
                        <a:effectLst/>
                        <a:latin typeface="Arial" charset="0"/>
                        <a:ea typeface="ＭＳ Ｐゴシック" pitchFamily="1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Tahoma"/>
                          <a:ea typeface="ＭＳ Ｐゴシック" pitchFamily="1" charset="-128"/>
                          <a:cs typeface="Arial" charset="0"/>
                        </a:rPr>
                        <a:t>¬</a:t>
                      </a:r>
                      <a:r>
                        <a:rPr kumimoji="1" lang="en-US" altLang="ja-JP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p</a:t>
                      </a:r>
                      <a:r>
                        <a:rPr kumimoji="1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 </a:t>
                      </a:r>
                      <a:r>
                        <a:rPr kumimoji="1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  <a:sym typeface="Symbol" pitchFamily="1" charset="2"/>
                        </a:rPr>
                        <a:t></a:t>
                      </a:r>
                      <a:r>
                        <a:rPr kumimoji="1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(</a:t>
                      </a:r>
                      <a:r>
                        <a:rPr kumimoji="1" lang="en-US" altLang="ja-JP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p </a:t>
                      </a:r>
                      <a:r>
                        <a:rPr kumimoji="1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  <a:sym typeface="Symbol" pitchFamily="1" charset="2"/>
                        </a:rPr>
                        <a:t></a:t>
                      </a:r>
                      <a:r>
                        <a:rPr kumimoji="1" lang="en-US" altLang="ja-JP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q </a:t>
                      </a:r>
                      <a:r>
                        <a:rPr kumimoji="1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[</a:t>
                      </a:r>
                      <a:r>
                        <a:rPr kumimoji="1" lang="en-US" altLang="ja-JP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Tahoma"/>
                          <a:ea typeface="ＭＳ Ｐゴシック" pitchFamily="1" charset="-128"/>
                          <a:cs typeface="Arial" charset="0"/>
                        </a:rPr>
                        <a:t>¬</a:t>
                      </a:r>
                      <a:r>
                        <a:rPr kumimoji="1" lang="en-US" altLang="ja-JP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p</a:t>
                      </a:r>
                      <a:r>
                        <a:rPr kumimoji="1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 </a:t>
                      </a:r>
                      <a:r>
                        <a:rPr kumimoji="1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  <a:sym typeface="Symbol" pitchFamily="1" charset="2"/>
                        </a:rPr>
                        <a:t></a:t>
                      </a:r>
                      <a:r>
                        <a:rPr kumimoji="1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(</a:t>
                      </a:r>
                      <a:r>
                        <a:rPr kumimoji="1" lang="en-US" altLang="ja-JP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p </a:t>
                      </a:r>
                      <a:r>
                        <a:rPr kumimoji="1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  <a:sym typeface="Symbol" pitchFamily="1" charset="2"/>
                        </a:rPr>
                        <a:t></a:t>
                      </a:r>
                      <a:r>
                        <a:rPr kumimoji="1" lang="en-US" altLang="ja-JP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q </a:t>
                      </a:r>
                      <a:r>
                        <a:rPr kumimoji="1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)]</a:t>
                      </a:r>
                      <a:r>
                        <a:rPr kumimoji="1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  <a:sym typeface="Symbol" pitchFamily="1" charset="2"/>
                        </a:rPr>
                        <a:t></a:t>
                      </a:r>
                      <a:r>
                        <a:rPr kumimoji="1" lang="en-US" altLang="ja-JP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q</a:t>
                      </a:r>
                      <a:endParaRPr kumimoji="1" lang="en-US" altLang="ja-JP" sz="2400" b="1" i="0" u="none" strike="noStrike" cap="none" normalizeH="0" baseline="0">
                        <a:ln>
                          <a:noFill/>
                        </a:ln>
                        <a:solidFill>
                          <a:srgbClr val="C84DD9"/>
                        </a:solidFill>
                        <a:effectLst/>
                        <a:latin typeface="Arial" charset="0"/>
                        <a:ea typeface="ＭＳ Ｐゴシック" pitchFamily="1" charset="-128"/>
                        <a:cs typeface="Arial" charset="0"/>
                      </a:endParaRPr>
                    </a:p>
                  </a:txBody>
                  <a:tcPr anchor="ctr" horzOverflow="overflow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D226CE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T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3F2CCC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DDA43D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F</a:t>
                      </a:r>
                    </a:p>
                  </a:txBody>
                  <a:tcPr anchor="ctr" horzOverflow="overflow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ja-JP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1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ja-JP" altLang="en-US" sz="28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1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ja-JP" altLang="en-US" sz="28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1" charset="-128"/>
                      </a:endParaRPr>
                    </a:p>
                  </a:txBody>
                  <a:tcPr anchor="ctr" horzOverflow="overflow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D226CE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T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3F2CCC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F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DDA43D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F</a:t>
                      </a:r>
                    </a:p>
                  </a:txBody>
                  <a:tcPr anchor="ctr" horzOverflow="overflow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ja-JP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1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ja-JP" altLang="en-US" sz="28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1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ja-JP" altLang="en-US" sz="28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1" charset="-128"/>
                      </a:endParaRPr>
                    </a:p>
                  </a:txBody>
                  <a:tcPr anchor="ctr" horzOverflow="overflow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D226CE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F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3F2CCC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DDA43D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T</a:t>
                      </a:r>
                    </a:p>
                  </a:txBody>
                  <a:tcPr anchor="ctr" horzOverflow="overflow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ja-JP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1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ja-JP" altLang="en-US" sz="28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1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ja-JP" altLang="en-US" sz="28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1" charset="-128"/>
                      </a:endParaRPr>
                    </a:p>
                  </a:txBody>
                  <a:tcPr anchor="ctr" horzOverflow="overflow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D226CE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F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3F2CCC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F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DDA43D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T</a:t>
                      </a:r>
                    </a:p>
                  </a:txBody>
                  <a:tcPr anchor="ctr" horzOverflow="overflow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ja-JP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1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ja-JP" altLang="en-US" sz="28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1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ja-JP" altLang="en-US" sz="28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1" charset="-128"/>
                      </a:endParaRPr>
                    </a:p>
                  </a:txBody>
                  <a:tcPr anchor="ctr" horzOverflow="overflow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2157" y="612781"/>
            <a:ext cx="7808976" cy="1088136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Solution </a:t>
            </a:r>
          </a:p>
        </p:txBody>
      </p:sp>
      <p:graphicFrame>
        <p:nvGraphicFramePr>
          <p:cNvPr id="6" name="Group 51"/>
          <p:cNvGraphicFramePr>
            <a:graphicFrameLocks noGrp="1"/>
          </p:cNvGraphicFramePr>
          <p:nvPr/>
        </p:nvGraphicFramePr>
        <p:xfrm>
          <a:off x="696032" y="2115408"/>
          <a:ext cx="7848600" cy="3911600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3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p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3200" b="1" i="1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q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Tahoma"/>
                          <a:ea typeface="ＭＳ Ｐゴシック" pitchFamily="1" charset="-128"/>
                          <a:cs typeface="Arial" charset="0"/>
                        </a:rPr>
                        <a:t>¬</a:t>
                      </a:r>
                      <a:r>
                        <a:rPr kumimoji="1" lang="en-US" altLang="ja-JP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p</a:t>
                      </a:r>
                    </a:p>
                  </a:txBody>
                  <a:tcPr anchor="ctr" horzOverflow="overflow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p </a:t>
                      </a:r>
                      <a:r>
                        <a:rPr kumimoji="1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sym typeface="Symbol" pitchFamily="1" charset="2"/>
                        </a:rPr>
                        <a:t></a:t>
                      </a:r>
                      <a:r>
                        <a:rPr kumimoji="1" lang="en-US" altLang="ja-JP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q</a:t>
                      </a:r>
                      <a:endParaRPr kumimoji="1" lang="en-US" altLang="ja-JP" sz="2400" b="1" i="0" u="none" strike="noStrike" cap="none" normalizeH="0" baseline="0">
                        <a:ln>
                          <a:noFill/>
                        </a:ln>
                        <a:solidFill>
                          <a:srgbClr val="C84DD9"/>
                        </a:solidFill>
                        <a:effectLst/>
                        <a:latin typeface="Arial" charset="0"/>
                        <a:ea typeface="ＭＳ Ｐゴシック" pitchFamily="1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Tahoma"/>
                          <a:ea typeface="ＭＳ Ｐゴシック" pitchFamily="1" charset="-128"/>
                          <a:cs typeface="Arial" charset="0"/>
                        </a:rPr>
                        <a:t>¬</a:t>
                      </a:r>
                      <a:r>
                        <a:rPr kumimoji="1" lang="en-US" altLang="ja-JP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p</a:t>
                      </a:r>
                      <a:r>
                        <a:rPr kumimoji="1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 </a:t>
                      </a:r>
                      <a:r>
                        <a:rPr kumimoji="1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  <a:sym typeface="Symbol" pitchFamily="1" charset="2"/>
                        </a:rPr>
                        <a:t></a:t>
                      </a:r>
                      <a:r>
                        <a:rPr kumimoji="1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(</a:t>
                      </a:r>
                      <a:r>
                        <a:rPr kumimoji="1" lang="en-US" altLang="ja-JP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p </a:t>
                      </a:r>
                      <a:r>
                        <a:rPr kumimoji="1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  <a:sym typeface="Symbol" pitchFamily="1" charset="2"/>
                        </a:rPr>
                        <a:t></a:t>
                      </a:r>
                      <a:r>
                        <a:rPr kumimoji="1" lang="en-US" altLang="ja-JP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q </a:t>
                      </a:r>
                      <a:r>
                        <a:rPr kumimoji="1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[</a:t>
                      </a:r>
                      <a:r>
                        <a:rPr kumimoji="1" lang="en-US" altLang="ja-JP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Tahoma"/>
                          <a:ea typeface="ＭＳ Ｐゴシック" pitchFamily="1" charset="-128"/>
                          <a:cs typeface="Arial" charset="0"/>
                        </a:rPr>
                        <a:t>¬</a:t>
                      </a:r>
                      <a:r>
                        <a:rPr kumimoji="1" lang="en-US" altLang="ja-JP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p</a:t>
                      </a:r>
                      <a:r>
                        <a:rPr kumimoji="1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 </a:t>
                      </a:r>
                      <a:r>
                        <a:rPr kumimoji="1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  <a:sym typeface="Symbol" pitchFamily="1" charset="2"/>
                        </a:rPr>
                        <a:t></a:t>
                      </a:r>
                      <a:r>
                        <a:rPr kumimoji="1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(</a:t>
                      </a:r>
                      <a:r>
                        <a:rPr kumimoji="1" lang="en-US" altLang="ja-JP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p </a:t>
                      </a:r>
                      <a:r>
                        <a:rPr kumimoji="1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  <a:sym typeface="Symbol" pitchFamily="1" charset="2"/>
                        </a:rPr>
                        <a:t></a:t>
                      </a:r>
                      <a:r>
                        <a:rPr kumimoji="1" lang="en-US" altLang="ja-JP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q </a:t>
                      </a:r>
                      <a:r>
                        <a:rPr kumimoji="1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)]</a:t>
                      </a:r>
                      <a:r>
                        <a:rPr kumimoji="1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  <a:sym typeface="Symbol" pitchFamily="1" charset="2"/>
                        </a:rPr>
                        <a:t></a:t>
                      </a:r>
                      <a:r>
                        <a:rPr kumimoji="1" lang="en-US" altLang="ja-JP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q</a:t>
                      </a:r>
                      <a:endParaRPr kumimoji="1" lang="en-US" altLang="ja-JP" sz="2400" b="1" i="0" u="none" strike="noStrike" cap="none" normalizeH="0" baseline="0">
                        <a:ln>
                          <a:noFill/>
                        </a:ln>
                        <a:solidFill>
                          <a:srgbClr val="C84DD9"/>
                        </a:solidFill>
                        <a:effectLst/>
                        <a:latin typeface="Arial" charset="0"/>
                        <a:ea typeface="ＭＳ Ｐゴシック" pitchFamily="1" charset="-128"/>
                        <a:cs typeface="Arial" charset="0"/>
                      </a:endParaRPr>
                    </a:p>
                  </a:txBody>
                  <a:tcPr anchor="ctr" horzOverflow="overflow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D124DE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T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3F2CCC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DDA43D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F</a:t>
                      </a:r>
                    </a:p>
                  </a:txBody>
                  <a:tcPr anchor="ctr" horzOverflow="overflow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289E33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ja-JP" altLang="en-US" sz="32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1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ja-JP" altLang="en-US" sz="32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1" charset="-128"/>
                      </a:endParaRPr>
                    </a:p>
                  </a:txBody>
                  <a:tcPr anchor="ctr" horzOverflow="overflow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D124DE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T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3F2CCC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F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DDA43D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F</a:t>
                      </a:r>
                    </a:p>
                  </a:txBody>
                  <a:tcPr anchor="ctr" horzOverflow="overflow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289E33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ja-JP" altLang="en-US" sz="32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1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ja-JP" altLang="en-US" sz="32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1" charset="-128"/>
                      </a:endParaRPr>
                    </a:p>
                  </a:txBody>
                  <a:tcPr anchor="ctr" horzOverflow="overflow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D124DE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F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3F2CCC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DDA43D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T</a:t>
                      </a:r>
                    </a:p>
                  </a:txBody>
                  <a:tcPr anchor="ctr" horzOverflow="overflow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289E33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ja-JP" altLang="en-US" sz="32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1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ja-JP" altLang="en-US" sz="32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1" charset="-128"/>
                      </a:endParaRPr>
                    </a:p>
                  </a:txBody>
                  <a:tcPr anchor="ctr" horzOverflow="overflow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D124DE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F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3F2CCC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F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DDA43D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T</a:t>
                      </a:r>
                    </a:p>
                  </a:txBody>
                  <a:tcPr anchor="ctr" horzOverflow="overflow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289E33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F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ja-JP" altLang="en-US" sz="32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1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ja-JP" altLang="en-US" sz="32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1" charset="-128"/>
                      </a:endParaRPr>
                    </a:p>
                  </a:txBody>
                  <a:tcPr anchor="ctr" horzOverflow="overflow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8509" y="721965"/>
            <a:ext cx="7808976" cy="1088136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Solution </a:t>
            </a:r>
          </a:p>
        </p:txBody>
      </p:sp>
      <p:graphicFrame>
        <p:nvGraphicFramePr>
          <p:cNvPr id="4" name="Group 51"/>
          <p:cNvGraphicFramePr>
            <a:graphicFrameLocks noGrp="1"/>
          </p:cNvGraphicFramePr>
          <p:nvPr/>
        </p:nvGraphicFramePr>
        <p:xfrm>
          <a:off x="614144" y="2129056"/>
          <a:ext cx="7848600" cy="3911600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3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p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3200" b="1" i="1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q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Tahoma"/>
                          <a:ea typeface="ＭＳ Ｐゴシック" pitchFamily="1" charset="-128"/>
                          <a:cs typeface="Arial" charset="0"/>
                        </a:rPr>
                        <a:t>¬</a:t>
                      </a:r>
                      <a:r>
                        <a:rPr kumimoji="1" lang="en-US" altLang="ja-JP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p</a:t>
                      </a:r>
                    </a:p>
                  </a:txBody>
                  <a:tcPr anchor="ctr" horzOverflow="overflow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p </a:t>
                      </a:r>
                      <a:r>
                        <a:rPr kumimoji="1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sym typeface="Symbol" pitchFamily="1" charset="2"/>
                        </a:rPr>
                        <a:t></a:t>
                      </a:r>
                      <a:r>
                        <a:rPr kumimoji="1" lang="en-US" altLang="ja-JP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q</a:t>
                      </a:r>
                      <a:endParaRPr kumimoji="1" lang="en-US" altLang="ja-JP" sz="2400" b="1" i="0" u="none" strike="noStrike" cap="none" normalizeH="0" baseline="0">
                        <a:ln>
                          <a:noFill/>
                        </a:ln>
                        <a:solidFill>
                          <a:srgbClr val="C84DD9"/>
                        </a:solidFill>
                        <a:effectLst/>
                        <a:latin typeface="Arial" charset="0"/>
                        <a:ea typeface="ＭＳ Ｐゴシック" pitchFamily="1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Tahoma"/>
                          <a:ea typeface="ＭＳ Ｐゴシック" pitchFamily="1" charset="-128"/>
                          <a:cs typeface="Arial" charset="0"/>
                        </a:rPr>
                        <a:t>¬</a:t>
                      </a:r>
                      <a:r>
                        <a:rPr kumimoji="1" lang="en-US" altLang="ja-JP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p</a:t>
                      </a:r>
                      <a:r>
                        <a:rPr kumimoji="1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 </a:t>
                      </a:r>
                      <a:r>
                        <a:rPr kumimoji="1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  <a:sym typeface="Symbol" pitchFamily="1" charset="2"/>
                        </a:rPr>
                        <a:t></a:t>
                      </a:r>
                      <a:r>
                        <a:rPr kumimoji="1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(</a:t>
                      </a:r>
                      <a:r>
                        <a:rPr kumimoji="1" lang="en-US" altLang="ja-JP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p </a:t>
                      </a:r>
                      <a:r>
                        <a:rPr kumimoji="1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  <a:sym typeface="Symbol" pitchFamily="1" charset="2"/>
                        </a:rPr>
                        <a:t></a:t>
                      </a:r>
                      <a:r>
                        <a:rPr kumimoji="1" lang="en-US" altLang="ja-JP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q </a:t>
                      </a:r>
                      <a:r>
                        <a:rPr kumimoji="1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[</a:t>
                      </a:r>
                      <a:r>
                        <a:rPr kumimoji="1" lang="en-US" altLang="ja-JP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Tahoma"/>
                          <a:ea typeface="ＭＳ Ｐゴシック" pitchFamily="1" charset="-128"/>
                          <a:cs typeface="Arial" charset="0"/>
                        </a:rPr>
                        <a:t>¬</a:t>
                      </a:r>
                      <a:r>
                        <a:rPr kumimoji="1" lang="en-US" altLang="ja-JP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p</a:t>
                      </a:r>
                      <a:r>
                        <a:rPr kumimoji="1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 </a:t>
                      </a:r>
                      <a:r>
                        <a:rPr kumimoji="1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  <a:sym typeface="Symbol" pitchFamily="1" charset="2"/>
                        </a:rPr>
                        <a:t></a:t>
                      </a:r>
                      <a:r>
                        <a:rPr kumimoji="1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(</a:t>
                      </a:r>
                      <a:r>
                        <a:rPr kumimoji="1" lang="en-US" altLang="ja-JP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p </a:t>
                      </a:r>
                      <a:r>
                        <a:rPr kumimoji="1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  <a:sym typeface="Symbol" pitchFamily="1" charset="2"/>
                        </a:rPr>
                        <a:t></a:t>
                      </a:r>
                      <a:r>
                        <a:rPr kumimoji="1" lang="en-US" altLang="ja-JP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q </a:t>
                      </a:r>
                      <a:r>
                        <a:rPr kumimoji="1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)]</a:t>
                      </a:r>
                      <a:r>
                        <a:rPr kumimoji="1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  <a:sym typeface="Symbol" pitchFamily="1" charset="2"/>
                        </a:rPr>
                        <a:t></a:t>
                      </a:r>
                      <a:r>
                        <a:rPr kumimoji="1" lang="en-US" altLang="ja-JP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q</a:t>
                      </a:r>
                      <a:endParaRPr kumimoji="1" lang="en-US" altLang="ja-JP" sz="2400" b="1" i="0" u="none" strike="noStrike" cap="none" normalizeH="0" baseline="0">
                        <a:ln>
                          <a:noFill/>
                        </a:ln>
                        <a:solidFill>
                          <a:srgbClr val="C84DD9"/>
                        </a:solidFill>
                        <a:effectLst/>
                        <a:latin typeface="Arial" charset="0"/>
                        <a:ea typeface="ＭＳ Ｐゴシック" pitchFamily="1" charset="-128"/>
                        <a:cs typeface="Arial" charset="0"/>
                      </a:endParaRPr>
                    </a:p>
                  </a:txBody>
                  <a:tcPr anchor="ctr" horzOverflow="overflow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T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3F2CCC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DDA43D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F</a:t>
                      </a:r>
                    </a:p>
                  </a:txBody>
                  <a:tcPr anchor="ctr" horzOverflow="overflow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289E33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F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ja-JP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1" charset="-128"/>
                      </a:endParaRPr>
                    </a:p>
                  </a:txBody>
                  <a:tcPr anchor="ctr" horzOverflow="overflow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T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3F2CCC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F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DDA43D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F</a:t>
                      </a:r>
                    </a:p>
                  </a:txBody>
                  <a:tcPr anchor="ctr" horzOverflow="overflow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289E33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F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ja-JP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1" charset="-128"/>
                      </a:endParaRPr>
                    </a:p>
                  </a:txBody>
                  <a:tcPr anchor="ctr" horzOverflow="overflow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F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3F2CCC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DDA43D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T</a:t>
                      </a:r>
                    </a:p>
                  </a:txBody>
                  <a:tcPr anchor="ctr" horzOverflow="overflow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289E33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ja-JP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1" charset="-128"/>
                      </a:endParaRPr>
                    </a:p>
                  </a:txBody>
                  <a:tcPr anchor="ctr" horzOverflow="overflow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C84DD9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F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3F2CCC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F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DDA43D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T</a:t>
                      </a:r>
                    </a:p>
                  </a:txBody>
                  <a:tcPr anchor="ctr" horzOverflow="overflow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289E33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F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F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ja-JP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1" charset="-128"/>
                      </a:endParaRPr>
                    </a:p>
                  </a:txBody>
                  <a:tcPr anchor="ctr" horzOverflow="overflow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Solution </a:t>
            </a:r>
          </a:p>
        </p:txBody>
      </p:sp>
      <p:graphicFrame>
        <p:nvGraphicFramePr>
          <p:cNvPr id="4" name="Group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0329274"/>
              </p:ext>
            </p:extLst>
          </p:nvPr>
        </p:nvGraphicFramePr>
        <p:xfrm>
          <a:off x="555008" y="2155224"/>
          <a:ext cx="7848600" cy="2938989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3904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32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p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32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q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/>
                          <a:ea typeface="ＭＳ Ｐゴシック" pitchFamily="1" charset="-128"/>
                          <a:cs typeface="Arial" charset="0"/>
                        </a:rPr>
                        <a:t>¬</a:t>
                      </a:r>
                      <a:r>
                        <a:rPr kumimoji="1" lang="en-US" altLang="ja-JP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p</a:t>
                      </a:r>
                    </a:p>
                  </a:txBody>
                  <a:tcPr anchor="ctr" horzOverflow="overflow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p </a:t>
                      </a:r>
                      <a:r>
                        <a:rPr kumimoji="1" lang="en-US" altLang="ja-JP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sym typeface="Symbol" pitchFamily="1" charset="2"/>
                        </a:rPr>
                        <a:t></a:t>
                      </a:r>
                      <a:r>
                        <a:rPr kumimoji="1" lang="en-US" altLang="ja-JP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q</a:t>
                      </a:r>
                      <a:endParaRPr kumimoji="1" lang="en-US" altLang="ja-JP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1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/>
                          <a:ea typeface="ＭＳ Ｐゴシック" pitchFamily="1" charset="-128"/>
                          <a:cs typeface="Arial" charset="0"/>
                        </a:rPr>
                        <a:t>¬</a:t>
                      </a:r>
                      <a:r>
                        <a:rPr kumimoji="1" lang="en-US" altLang="ja-JP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p</a:t>
                      </a:r>
                      <a:r>
                        <a:rPr kumimoji="1" lang="en-US" altLang="ja-JP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 </a:t>
                      </a:r>
                      <a:r>
                        <a:rPr kumimoji="1" lang="en-US" altLang="ja-JP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  <a:sym typeface="Symbol" pitchFamily="1" charset="2"/>
                        </a:rPr>
                        <a:t></a:t>
                      </a:r>
                      <a:r>
                        <a:rPr kumimoji="1" lang="en-US" altLang="ja-JP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(</a:t>
                      </a:r>
                      <a:r>
                        <a:rPr kumimoji="1" lang="en-US" altLang="ja-JP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p </a:t>
                      </a:r>
                      <a:r>
                        <a:rPr kumimoji="1" lang="en-US" altLang="ja-JP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  <a:sym typeface="Symbol" pitchFamily="1" charset="2"/>
                        </a:rPr>
                        <a:t></a:t>
                      </a:r>
                      <a:r>
                        <a:rPr kumimoji="1" lang="en-US" altLang="ja-JP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q </a:t>
                      </a:r>
                      <a:r>
                        <a:rPr kumimoji="1" lang="en-US" altLang="ja-JP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[</a:t>
                      </a:r>
                      <a:r>
                        <a:rPr kumimoji="1" lang="en-US" altLang="ja-JP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/>
                          <a:ea typeface="ＭＳ Ｐゴシック" pitchFamily="1" charset="-128"/>
                          <a:cs typeface="Arial" charset="0"/>
                        </a:rPr>
                        <a:t>¬</a:t>
                      </a:r>
                      <a:r>
                        <a:rPr kumimoji="1" lang="en-US" altLang="ja-JP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p</a:t>
                      </a:r>
                      <a:r>
                        <a:rPr kumimoji="1" lang="en-US" altLang="ja-JP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 </a:t>
                      </a:r>
                      <a:r>
                        <a:rPr kumimoji="1" lang="en-US" altLang="ja-JP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  <a:sym typeface="Symbol" pitchFamily="1" charset="2"/>
                        </a:rPr>
                        <a:t></a:t>
                      </a:r>
                      <a:r>
                        <a:rPr kumimoji="1" lang="en-US" altLang="ja-JP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(</a:t>
                      </a:r>
                      <a:r>
                        <a:rPr kumimoji="1" lang="en-US" altLang="ja-JP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p </a:t>
                      </a:r>
                      <a:r>
                        <a:rPr kumimoji="1" lang="en-US" altLang="ja-JP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  <a:sym typeface="Symbol" pitchFamily="1" charset="2"/>
                        </a:rPr>
                        <a:t></a:t>
                      </a:r>
                      <a:r>
                        <a:rPr kumimoji="1" lang="en-US" altLang="ja-JP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q </a:t>
                      </a:r>
                      <a:r>
                        <a:rPr kumimoji="1" lang="en-US" altLang="ja-JP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)]</a:t>
                      </a:r>
                      <a:r>
                        <a:rPr kumimoji="1" lang="en-US" altLang="ja-JP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  <a:sym typeface="Symbol" pitchFamily="1" charset="2"/>
                        </a:rPr>
                        <a:t></a:t>
                      </a:r>
                      <a:r>
                        <a:rPr kumimoji="1" lang="en-US" altLang="ja-JP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1" charset="-128"/>
                          <a:cs typeface="Arial" charset="0"/>
                        </a:rPr>
                        <a:t>q</a:t>
                      </a:r>
                      <a:endParaRPr kumimoji="1" lang="en-US" altLang="ja-JP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1" charset="-128"/>
                        <a:cs typeface="Arial" charset="0"/>
                      </a:endParaRPr>
                    </a:p>
                  </a:txBody>
                  <a:tcPr anchor="ctr" horzOverflow="overflow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68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T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F</a:t>
                      </a:r>
                    </a:p>
                  </a:txBody>
                  <a:tcPr anchor="ctr" horzOverflow="overflow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289E33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F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T</a:t>
                      </a:r>
                    </a:p>
                  </a:txBody>
                  <a:tcPr anchor="ctr" horzOverflow="overflow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3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T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F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F</a:t>
                      </a:r>
                    </a:p>
                  </a:txBody>
                  <a:tcPr anchor="ctr" horzOverflow="overflow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289E33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F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T</a:t>
                      </a:r>
                    </a:p>
                  </a:txBody>
                  <a:tcPr anchor="ctr" horzOverflow="overflow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3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F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T</a:t>
                      </a:r>
                    </a:p>
                  </a:txBody>
                  <a:tcPr anchor="ctr" horzOverflow="overflow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289E33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T</a:t>
                      </a:r>
                    </a:p>
                  </a:txBody>
                  <a:tcPr anchor="ctr" horzOverflow="overflow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3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F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F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T</a:t>
                      </a:r>
                    </a:p>
                  </a:txBody>
                  <a:tcPr anchor="ctr" horzOverflow="overflow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289E33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F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F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T</a:t>
                      </a:r>
                    </a:p>
                  </a:txBody>
                  <a:tcPr anchor="ctr" horzOverflow="overflow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51"/>
          <p:cNvSpPr>
            <a:spLocks noChangeArrowheads="1"/>
          </p:cNvSpPr>
          <p:nvPr/>
        </p:nvSpPr>
        <p:spPr bwMode="auto">
          <a:xfrm>
            <a:off x="685800" y="5334000"/>
            <a:ext cx="76200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ja-JP" b="1" dirty="0">
                <a:solidFill>
                  <a:srgbClr val="0000FF"/>
                </a:solidFill>
                <a:latin typeface="Calibri" pitchFamily="34" charset="0"/>
              </a:rPr>
              <a:t>Since the truth table shows all the true values of compound proposition </a:t>
            </a:r>
          </a:p>
          <a:p>
            <a:r>
              <a:rPr lang="en-US" altLang="ja-JP" b="1" dirty="0">
                <a:solidFill>
                  <a:srgbClr val="0000FF"/>
                </a:solidFill>
                <a:latin typeface="Calibri" pitchFamily="34" charset="0"/>
              </a:rPr>
              <a:t>[</a:t>
            </a:r>
            <a:r>
              <a:rPr lang="en-US" altLang="ja-JP" b="1" i="1" dirty="0">
                <a:solidFill>
                  <a:srgbClr val="0000FF"/>
                </a:solidFill>
                <a:latin typeface="Calibri" pitchFamily="34" charset="0"/>
              </a:rPr>
              <a:t>¬p</a:t>
            </a:r>
            <a:r>
              <a:rPr lang="en-US" altLang="ja-JP" b="1" dirty="0">
                <a:solidFill>
                  <a:srgbClr val="0000FF"/>
                </a:solidFill>
                <a:latin typeface="Calibri" pitchFamily="34" charset="0"/>
              </a:rPr>
              <a:t> </a:t>
            </a:r>
            <a:r>
              <a:rPr lang="en-US" altLang="ja-JP" b="1" dirty="0">
                <a:solidFill>
                  <a:srgbClr val="0000FF"/>
                </a:solidFill>
                <a:latin typeface="Calibri" pitchFamily="34" charset="0"/>
                <a:sym typeface="Symbol" pitchFamily="18" charset="2"/>
              </a:rPr>
              <a:t></a:t>
            </a:r>
            <a:r>
              <a:rPr lang="en-US" altLang="ja-JP" b="1" dirty="0">
                <a:solidFill>
                  <a:srgbClr val="0000FF"/>
                </a:solidFill>
                <a:latin typeface="Calibri" pitchFamily="34" charset="0"/>
              </a:rPr>
              <a:t>(</a:t>
            </a:r>
            <a:r>
              <a:rPr lang="en-US" altLang="ja-JP" b="1" i="1" dirty="0">
                <a:solidFill>
                  <a:srgbClr val="0000FF"/>
                </a:solidFill>
                <a:latin typeface="Calibri" pitchFamily="34" charset="0"/>
              </a:rPr>
              <a:t>p </a:t>
            </a:r>
            <a:r>
              <a:rPr lang="en-US" altLang="ja-JP" b="1" dirty="0">
                <a:solidFill>
                  <a:srgbClr val="0000FF"/>
                </a:solidFill>
                <a:latin typeface="Calibri" pitchFamily="34" charset="0"/>
                <a:sym typeface="Symbol" pitchFamily="18" charset="2"/>
              </a:rPr>
              <a:t></a:t>
            </a:r>
            <a:r>
              <a:rPr lang="en-US" altLang="ja-JP" b="1" i="1" dirty="0">
                <a:solidFill>
                  <a:srgbClr val="0000FF"/>
                </a:solidFill>
                <a:latin typeface="Calibri" pitchFamily="34" charset="0"/>
              </a:rPr>
              <a:t>q </a:t>
            </a:r>
            <a:r>
              <a:rPr lang="en-US" altLang="ja-JP" b="1" dirty="0">
                <a:solidFill>
                  <a:srgbClr val="0000FF"/>
                </a:solidFill>
                <a:latin typeface="Calibri" pitchFamily="34" charset="0"/>
              </a:rPr>
              <a:t>)]</a:t>
            </a:r>
            <a:r>
              <a:rPr lang="en-US" altLang="ja-JP" b="1" dirty="0">
                <a:solidFill>
                  <a:srgbClr val="0000FF"/>
                </a:solidFill>
                <a:latin typeface="Calibri" pitchFamily="34" charset="0"/>
                <a:sym typeface="Symbol" pitchFamily="18" charset="2"/>
              </a:rPr>
              <a:t></a:t>
            </a:r>
            <a:r>
              <a:rPr lang="en-US" altLang="ja-JP" b="1" i="1" dirty="0">
                <a:solidFill>
                  <a:srgbClr val="0000FF"/>
                </a:solidFill>
                <a:latin typeface="Calibri" pitchFamily="34" charset="0"/>
              </a:rPr>
              <a:t>q </a:t>
            </a:r>
            <a:r>
              <a:rPr lang="en-US" altLang="ja-JP" b="1" dirty="0">
                <a:solidFill>
                  <a:srgbClr val="0000FF"/>
                </a:solidFill>
                <a:latin typeface="Calibri" pitchFamily="34" charset="0"/>
              </a:rPr>
              <a:t>are true(T), so it is a tautology.</a:t>
            </a:r>
            <a:endParaRPr lang="ja-JP" altLang="en-US" b="1" dirty="0">
              <a:solidFill>
                <a:srgbClr val="0000FF"/>
              </a:solidFill>
              <a:latin typeface="Calibri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ja-JP" sz="4000" b="1" dirty="0">
                <a:latin typeface="+mn-lt"/>
              </a:rPr>
              <a:t>Class Work</a:t>
            </a:r>
            <a:endParaRPr lang="en-US" sz="4000" b="1" dirty="0"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27796" y="2551837"/>
            <a:ext cx="8284191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buFont typeface="Calibri" pitchFamily="34" charset="0"/>
              <a:buAutoNum type="arabicParenR"/>
            </a:pPr>
            <a:r>
              <a:rPr lang="en-US" sz="2800" dirty="0"/>
              <a:t>Determine whether </a:t>
            </a:r>
            <a:r>
              <a:rPr kumimoji="1" lang="en-US" altLang="ja-JP" sz="2800" b="1" i="1" dirty="0">
                <a:solidFill>
                  <a:srgbClr val="0000FF"/>
                </a:solidFill>
                <a:cs typeface="Arial" pitchFamily="34" charset="0"/>
              </a:rPr>
              <a:t>¬ </a:t>
            </a:r>
            <a:r>
              <a:rPr lang="en-US" sz="2800" b="1" dirty="0">
                <a:solidFill>
                  <a:srgbClr val="0000FF"/>
                </a:solidFill>
              </a:rPr>
              <a:t>(</a:t>
            </a:r>
            <a:r>
              <a:rPr kumimoji="1" lang="en-US" altLang="ja-JP" sz="2800" b="1" i="1" dirty="0">
                <a:solidFill>
                  <a:srgbClr val="0000FF"/>
                </a:solidFill>
              </a:rPr>
              <a:t>p</a:t>
            </a:r>
            <a:r>
              <a:rPr kumimoji="1" lang="en-US" altLang="ja-JP" sz="2800" b="1" dirty="0">
                <a:solidFill>
                  <a:srgbClr val="0000FF"/>
                </a:solidFill>
              </a:rPr>
              <a:t> </a:t>
            </a:r>
            <a:r>
              <a:rPr kumimoji="1" lang="en-US" altLang="ja-JP" sz="2800" b="1" dirty="0">
                <a:solidFill>
                  <a:srgbClr val="0000FF"/>
                </a:solidFill>
                <a:sym typeface="Symbol" pitchFamily="18" charset="2"/>
              </a:rPr>
              <a:t> </a:t>
            </a:r>
            <a:r>
              <a:rPr kumimoji="1" lang="en-US" altLang="ja-JP" sz="2800" b="1" i="1" dirty="0">
                <a:solidFill>
                  <a:srgbClr val="0000FF"/>
                </a:solidFill>
              </a:rPr>
              <a:t>q)</a:t>
            </a:r>
            <a:r>
              <a:rPr kumimoji="1" lang="en-US" altLang="ja-JP" sz="2800" b="1" dirty="0">
                <a:solidFill>
                  <a:srgbClr val="0000FF"/>
                </a:solidFill>
                <a:sym typeface="Symbol" pitchFamily="18" charset="2"/>
              </a:rPr>
              <a:t>  </a:t>
            </a:r>
            <a:r>
              <a:rPr kumimoji="1" lang="en-US" altLang="ja-JP" sz="2800" b="1" i="1" dirty="0">
                <a:solidFill>
                  <a:srgbClr val="0000FF"/>
                </a:solidFill>
              </a:rPr>
              <a:t>p</a:t>
            </a:r>
            <a:r>
              <a:rPr kumimoji="1" lang="en-US" altLang="ja-JP" sz="2800" b="1" dirty="0">
                <a:solidFill>
                  <a:srgbClr val="0000FF"/>
                </a:solidFill>
              </a:rPr>
              <a:t> </a:t>
            </a:r>
            <a:r>
              <a:rPr kumimoji="1" lang="en-US" altLang="ja-JP" sz="2800" dirty="0"/>
              <a:t>is a tautology or contradiction.</a:t>
            </a:r>
          </a:p>
          <a:p>
            <a:pPr marL="514350" indent="-514350">
              <a:buFont typeface="Calibri" pitchFamily="34" charset="0"/>
              <a:buAutoNum type="arabicParenR"/>
            </a:pPr>
            <a:endParaRPr lang="en-US" sz="2800" dirty="0"/>
          </a:p>
          <a:p>
            <a:pPr marL="514350" indent="-514350">
              <a:buFont typeface="Calibri" pitchFamily="34" charset="0"/>
              <a:buAutoNum type="arabicParenR"/>
            </a:pPr>
            <a:r>
              <a:rPr lang="en-US" sz="2800" dirty="0"/>
              <a:t>Determine whether </a:t>
            </a:r>
            <a:r>
              <a:rPr kumimoji="1" lang="en-US" altLang="ja-JP" sz="2800" b="1" i="1" dirty="0">
                <a:solidFill>
                  <a:srgbClr val="0000FF"/>
                </a:solidFill>
              </a:rPr>
              <a:t>p</a:t>
            </a:r>
            <a:r>
              <a:rPr kumimoji="1" lang="en-US" altLang="ja-JP" sz="2800" b="1" dirty="0">
                <a:solidFill>
                  <a:srgbClr val="0000FF"/>
                </a:solidFill>
              </a:rPr>
              <a:t> </a:t>
            </a:r>
            <a:r>
              <a:rPr kumimoji="1" lang="en-US" altLang="ja-JP" sz="2800" b="1" dirty="0">
                <a:solidFill>
                  <a:srgbClr val="0000FF"/>
                </a:solidFill>
                <a:sym typeface="Symbol" pitchFamily="18" charset="2"/>
              </a:rPr>
              <a:t> </a:t>
            </a:r>
            <a:r>
              <a:rPr kumimoji="1" lang="en-US" altLang="ja-JP" sz="2800" b="1" dirty="0">
                <a:solidFill>
                  <a:srgbClr val="0000FF"/>
                </a:solidFill>
              </a:rPr>
              <a:t>(</a:t>
            </a:r>
            <a:r>
              <a:rPr kumimoji="1" lang="en-US" altLang="ja-JP" sz="2800" b="1" i="1" dirty="0">
                <a:solidFill>
                  <a:srgbClr val="0000FF"/>
                </a:solidFill>
              </a:rPr>
              <a:t>q</a:t>
            </a:r>
            <a:r>
              <a:rPr kumimoji="1" lang="en-US" altLang="ja-JP" sz="2800" b="1" dirty="0">
                <a:solidFill>
                  <a:srgbClr val="0000FF"/>
                </a:solidFill>
                <a:sym typeface="Symbol" pitchFamily="18" charset="2"/>
              </a:rPr>
              <a:t> </a:t>
            </a:r>
            <a:r>
              <a:rPr kumimoji="1" lang="en-US" altLang="ja-JP" sz="2800" b="1" i="1" dirty="0">
                <a:solidFill>
                  <a:srgbClr val="0000FF"/>
                </a:solidFill>
              </a:rPr>
              <a:t>¬p</a:t>
            </a:r>
            <a:r>
              <a:rPr kumimoji="1" lang="en-US" altLang="ja-JP" sz="2800" b="1" dirty="0">
                <a:solidFill>
                  <a:srgbClr val="0000FF"/>
                </a:solidFill>
              </a:rPr>
              <a:t>) </a:t>
            </a:r>
            <a:r>
              <a:rPr kumimoji="1" lang="en-US" altLang="ja-JP" sz="2800" dirty="0"/>
              <a:t>is a tautology or contradiction.</a:t>
            </a:r>
          </a:p>
          <a:p>
            <a:pPr marL="514350" indent="-514350"/>
            <a:endParaRPr lang="en-US" sz="2800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>
                <a:latin typeface="+mn-lt"/>
              </a:rPr>
              <a:t>Logical Equivalences</a:t>
            </a:r>
            <a:endParaRPr lang="en-US" sz="4000" dirty="0"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00244" y="2413338"/>
            <a:ext cx="8447964" cy="37702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zh-TW" sz="2800" dirty="0"/>
              <a:t>Compound propositions that have the same truth values in all possible cases are called </a:t>
            </a:r>
            <a:r>
              <a:rPr lang="en-US" altLang="zh-TW" sz="2800" b="1" dirty="0"/>
              <a:t>logically</a:t>
            </a:r>
            <a:r>
              <a:rPr lang="en-US" altLang="zh-TW" sz="2800" dirty="0"/>
              <a:t> </a:t>
            </a:r>
            <a:r>
              <a:rPr lang="en-US" altLang="zh-TW" sz="2800" b="1" dirty="0"/>
              <a:t>equivalent</a:t>
            </a:r>
            <a:r>
              <a:rPr lang="en-US" altLang="zh-TW" sz="2800" dirty="0"/>
              <a:t>.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endParaRPr lang="en-US" altLang="zh-TW" sz="2800" dirty="0"/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zh-TW" sz="2800" b="1" i="1" u="sng" dirty="0">
                <a:solidFill>
                  <a:srgbClr val="FF0000"/>
                </a:solidFill>
              </a:rPr>
              <a:t>Definition</a:t>
            </a:r>
            <a:r>
              <a:rPr lang="en-US" altLang="zh-TW" sz="2800" dirty="0">
                <a:solidFill>
                  <a:srgbClr val="0000FF"/>
                </a:solidFill>
              </a:rPr>
              <a:t> </a:t>
            </a:r>
            <a:r>
              <a:rPr lang="en-US" altLang="zh-TW" sz="2800" dirty="0"/>
              <a:t>: </a:t>
            </a:r>
            <a:r>
              <a:rPr lang="en-US" altLang="zh-TW" sz="2800" dirty="0">
                <a:solidFill>
                  <a:srgbClr val="0000FF"/>
                </a:solidFill>
              </a:rPr>
              <a:t>Compound propositions </a:t>
            </a:r>
            <a:r>
              <a:rPr lang="en-US" altLang="zh-TW" sz="2800" i="1" dirty="0">
                <a:solidFill>
                  <a:srgbClr val="0000FF"/>
                </a:solidFill>
              </a:rPr>
              <a:t>p</a:t>
            </a:r>
            <a:r>
              <a:rPr lang="en-US" altLang="zh-TW" sz="2800" dirty="0">
                <a:solidFill>
                  <a:srgbClr val="0000FF"/>
                </a:solidFill>
              </a:rPr>
              <a:t> and </a:t>
            </a:r>
            <a:r>
              <a:rPr lang="en-US" altLang="zh-TW" sz="2800" i="1" dirty="0">
                <a:solidFill>
                  <a:srgbClr val="0000FF"/>
                </a:solidFill>
              </a:rPr>
              <a:t>q</a:t>
            </a:r>
            <a:r>
              <a:rPr lang="en-US" altLang="zh-TW" sz="2800" dirty="0">
                <a:solidFill>
                  <a:srgbClr val="0000FF"/>
                </a:solidFill>
              </a:rPr>
              <a:t> are </a:t>
            </a:r>
            <a:r>
              <a:rPr lang="en-US" altLang="zh-TW" sz="2800" i="1" dirty="0">
                <a:solidFill>
                  <a:srgbClr val="0000FF"/>
                </a:solidFill>
              </a:rPr>
              <a:t>logically equivalent</a:t>
            </a:r>
            <a:r>
              <a:rPr lang="en-US" altLang="zh-TW" sz="2800" dirty="0">
                <a:solidFill>
                  <a:srgbClr val="0000FF"/>
                </a:solidFill>
              </a:rPr>
              <a:t> if </a:t>
            </a:r>
            <a:r>
              <a:rPr lang="en-US" altLang="zh-TW" sz="2800" i="1" dirty="0">
                <a:solidFill>
                  <a:srgbClr val="0000FF"/>
                </a:solidFill>
              </a:rPr>
              <a:t>p</a:t>
            </a:r>
            <a:r>
              <a:rPr lang="en-US" altLang="zh-TW" sz="2800" dirty="0">
                <a:solidFill>
                  <a:srgbClr val="0000FF"/>
                </a:solidFill>
              </a:rPr>
              <a:t> </a:t>
            </a:r>
            <a:r>
              <a:rPr lang="en-US" altLang="zh-TW" sz="2800" dirty="0">
                <a:solidFill>
                  <a:srgbClr val="0000FF"/>
                </a:solidFill>
                <a:sym typeface="Symbol" pitchFamily="18" charset="2"/>
              </a:rPr>
              <a:t></a:t>
            </a:r>
            <a:r>
              <a:rPr lang="en-US" altLang="zh-TW" sz="2800" dirty="0">
                <a:solidFill>
                  <a:srgbClr val="0000FF"/>
                </a:solidFill>
              </a:rPr>
              <a:t> </a:t>
            </a:r>
            <a:r>
              <a:rPr lang="en-US" altLang="zh-TW" sz="2800" i="1" dirty="0">
                <a:solidFill>
                  <a:srgbClr val="0000FF"/>
                </a:solidFill>
              </a:rPr>
              <a:t>q</a:t>
            </a:r>
            <a:r>
              <a:rPr lang="en-US" altLang="zh-TW" sz="2800" dirty="0">
                <a:solidFill>
                  <a:srgbClr val="0000FF"/>
                </a:solidFill>
              </a:rPr>
              <a:t> is a tautology (denoted by </a:t>
            </a:r>
            <a:r>
              <a:rPr lang="en-US" altLang="zh-TW" sz="2800" b="1" i="1" dirty="0">
                <a:solidFill>
                  <a:srgbClr val="0000FF"/>
                </a:solidFill>
              </a:rPr>
              <a:t>p</a:t>
            </a:r>
            <a:r>
              <a:rPr lang="en-US" altLang="zh-TW" sz="2800" b="1" dirty="0">
                <a:solidFill>
                  <a:srgbClr val="0000FF"/>
                </a:solidFill>
              </a:rPr>
              <a:t> </a:t>
            </a:r>
            <a:r>
              <a:rPr lang="en-US" altLang="zh-TW" sz="2800" b="1" dirty="0">
                <a:solidFill>
                  <a:srgbClr val="0000FF"/>
                </a:solidFill>
                <a:sym typeface="Symbol" pitchFamily="18" charset="2"/>
              </a:rPr>
              <a:t></a:t>
            </a:r>
            <a:r>
              <a:rPr lang="en-US" altLang="zh-TW" sz="2800" b="1" dirty="0">
                <a:solidFill>
                  <a:srgbClr val="0000FF"/>
                </a:solidFill>
              </a:rPr>
              <a:t> </a:t>
            </a:r>
            <a:r>
              <a:rPr lang="en-US" altLang="zh-TW" sz="2800" b="1" i="1" dirty="0">
                <a:solidFill>
                  <a:srgbClr val="0000FF"/>
                </a:solidFill>
              </a:rPr>
              <a:t>q</a:t>
            </a:r>
            <a:r>
              <a:rPr lang="en-US" altLang="zh-TW" sz="2800" i="1" dirty="0">
                <a:solidFill>
                  <a:srgbClr val="0000FF"/>
                </a:solidFill>
              </a:rPr>
              <a:t> </a:t>
            </a:r>
            <a:r>
              <a:rPr lang="en-US" altLang="zh-TW" sz="2800" dirty="0">
                <a:solidFill>
                  <a:srgbClr val="FF0000"/>
                </a:solidFill>
              </a:rPr>
              <a:t>or</a:t>
            </a:r>
            <a:r>
              <a:rPr lang="en-US" altLang="zh-TW" sz="2800" i="1" dirty="0">
                <a:solidFill>
                  <a:srgbClr val="0000FF"/>
                </a:solidFill>
              </a:rPr>
              <a:t> p</a:t>
            </a:r>
            <a:r>
              <a:rPr lang="en-US" altLang="zh-TW" sz="2800" dirty="0">
                <a:solidFill>
                  <a:srgbClr val="0000FF"/>
                </a:solidFill>
              </a:rPr>
              <a:t> </a:t>
            </a:r>
            <a:r>
              <a:rPr lang="en-US" altLang="zh-TW" sz="2800" dirty="0">
                <a:solidFill>
                  <a:srgbClr val="0000FF"/>
                </a:solidFill>
                <a:sym typeface="Symbol" pitchFamily="18" charset="2"/>
              </a:rPr>
              <a:t></a:t>
            </a:r>
            <a:r>
              <a:rPr lang="en-US" altLang="zh-TW" sz="2800" dirty="0">
                <a:solidFill>
                  <a:srgbClr val="0000FF"/>
                </a:solidFill>
              </a:rPr>
              <a:t> </a:t>
            </a:r>
            <a:r>
              <a:rPr lang="en-US" altLang="zh-TW" sz="2800" i="1" dirty="0">
                <a:solidFill>
                  <a:srgbClr val="0000FF"/>
                </a:solidFill>
              </a:rPr>
              <a:t>q</a:t>
            </a:r>
            <a:r>
              <a:rPr lang="en-US" altLang="zh-TW" sz="2800" dirty="0">
                <a:solidFill>
                  <a:srgbClr val="0000FF"/>
                </a:solidFill>
              </a:rPr>
              <a:t> ) </a:t>
            </a:r>
          </a:p>
          <a:p>
            <a:pPr marL="274320" indent="-274320">
              <a:spcBef>
                <a:spcPts val="600"/>
              </a:spcBef>
            </a:pPr>
            <a:endParaRPr lang="en-US" altLang="zh-TW" sz="2800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7565" y="599133"/>
            <a:ext cx="7808976" cy="1088136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+mn-lt"/>
              </a:rPr>
              <a:t>How to determine whether two compound propositions are logically equivalent?</a:t>
            </a:r>
            <a:endParaRPr lang="en-US" sz="2800" dirty="0">
              <a:latin typeface="+mn-l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7565" y="2606722"/>
            <a:ext cx="8722662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3200" dirty="0"/>
              <a:t>We can determine whether two compound propositions are logically equivalent in two ways:</a:t>
            </a:r>
          </a:p>
          <a:p>
            <a:pPr marL="971550" lvl="1" indent="-514350">
              <a:spcBef>
                <a:spcPts val="600"/>
              </a:spcBef>
              <a:buFont typeface="+mj-lt"/>
              <a:buAutoNum type="arabicParenR"/>
            </a:pPr>
            <a:r>
              <a:rPr lang="en-US" sz="2800" dirty="0"/>
              <a:t>Using a Truth Table</a:t>
            </a:r>
          </a:p>
          <a:p>
            <a:pPr marL="971550" lvl="1" indent="-514350">
              <a:spcBef>
                <a:spcPts val="600"/>
              </a:spcBef>
              <a:buFont typeface="+mj-lt"/>
              <a:buAutoNum type="arabicParenR"/>
            </a:pPr>
            <a:r>
              <a:rPr lang="en-US" sz="2800" dirty="0"/>
              <a:t>Using (laws of ) Logical Equivalences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8509" y="435357"/>
            <a:ext cx="7808976" cy="1557216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+mn-lt"/>
              </a:rPr>
              <a:t>Using a Truth Table to determine whether two compound propositions are logically equivalent</a:t>
            </a:r>
            <a:endParaRPr lang="en-US" sz="2800" dirty="0"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39453" y="2116632"/>
            <a:ext cx="8572535" cy="28315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zh-TW" sz="2400" b="1" dirty="0"/>
              <a:t>Two compound propositions are </a:t>
            </a:r>
            <a:r>
              <a:rPr lang="en-US" altLang="zh-TW" sz="2400" b="1" i="1" dirty="0"/>
              <a:t>logically</a:t>
            </a:r>
            <a:r>
              <a:rPr lang="en-US" altLang="zh-TW" sz="2400" i="1" dirty="0"/>
              <a:t> </a:t>
            </a:r>
            <a:r>
              <a:rPr lang="en-US" altLang="zh-TW" sz="2400" b="1" i="1" dirty="0"/>
              <a:t>equivalent</a:t>
            </a:r>
            <a:r>
              <a:rPr lang="en-US" altLang="zh-TW" sz="2400" dirty="0"/>
              <a:t> if they always have the same truth values in the corresponding rows.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zh-TW" sz="2400" dirty="0"/>
              <a:t>Construct a truth table for the given two compound propositions </a:t>
            </a:r>
            <a:r>
              <a:rPr lang="en-US" altLang="zh-TW" sz="2400" dirty="0">
                <a:solidFill>
                  <a:srgbClr val="FF0000"/>
                </a:solidFill>
              </a:rPr>
              <a:t>[in one table]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zh-TW" sz="2400" dirty="0">
                <a:solidFill>
                  <a:srgbClr val="FF0000"/>
                </a:solidFill>
              </a:rPr>
              <a:t>If the true values of both of the compound propositions are different in one or more rows, then they are NOT logically equivalent.</a:t>
            </a:r>
            <a:endParaRPr lang="en-US" sz="2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b="1" i="1" dirty="0">
                <a:latin typeface="+mn-lt"/>
              </a:rPr>
              <a:t>Example 1</a:t>
            </a:r>
            <a:endParaRPr lang="en-US" sz="4000" dirty="0"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25805" y="2169991"/>
            <a:ext cx="838146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365760"/>
            <a:r>
              <a:rPr lang="en-US" altLang="ja-JP" sz="2400" dirty="0">
                <a:solidFill>
                  <a:srgbClr val="FF0000"/>
                </a:solidFill>
              </a:rPr>
              <a:t>Show that </a:t>
            </a:r>
            <a:r>
              <a:rPr lang="en-US" altLang="zh-TW" sz="2400" b="1" i="1" dirty="0">
                <a:solidFill>
                  <a:srgbClr val="FF0000"/>
                </a:solidFill>
              </a:rPr>
              <a:t>p</a:t>
            </a:r>
            <a:r>
              <a:rPr lang="en-US" altLang="zh-TW" sz="2400" b="1" dirty="0">
                <a:solidFill>
                  <a:srgbClr val="FF0000"/>
                </a:solidFill>
              </a:rPr>
              <a:t> </a:t>
            </a:r>
            <a:r>
              <a:rPr lang="en-US" altLang="zh-TW" sz="2400" b="1" dirty="0">
                <a:solidFill>
                  <a:srgbClr val="FF0000"/>
                </a:solidFill>
                <a:sym typeface="Symbol" pitchFamily="18" charset="2"/>
              </a:rPr>
              <a:t></a:t>
            </a:r>
            <a:r>
              <a:rPr lang="en-US" altLang="zh-TW" sz="2400" b="1" dirty="0">
                <a:solidFill>
                  <a:srgbClr val="FF0000"/>
                </a:solidFill>
              </a:rPr>
              <a:t> </a:t>
            </a:r>
            <a:r>
              <a:rPr lang="en-US" altLang="zh-TW" sz="2400" b="1" i="1" dirty="0">
                <a:solidFill>
                  <a:srgbClr val="FF0000"/>
                </a:solidFill>
              </a:rPr>
              <a:t>q</a:t>
            </a:r>
            <a:r>
              <a:rPr lang="en-US" altLang="zh-TW" sz="2400" b="1" dirty="0">
                <a:solidFill>
                  <a:srgbClr val="FF0000"/>
                </a:solidFill>
              </a:rPr>
              <a:t> </a:t>
            </a:r>
            <a:r>
              <a:rPr lang="en-US" altLang="ja-JP" sz="2400" dirty="0">
                <a:solidFill>
                  <a:srgbClr val="FF0000"/>
                </a:solidFill>
              </a:rPr>
              <a:t>is </a:t>
            </a:r>
            <a:r>
              <a:rPr lang="en-US" altLang="ja-JP" sz="2400" b="1" dirty="0">
                <a:solidFill>
                  <a:srgbClr val="FF0000"/>
                </a:solidFill>
              </a:rPr>
              <a:t>logically</a:t>
            </a:r>
            <a:r>
              <a:rPr lang="en-US" altLang="ja-JP" sz="2400" dirty="0">
                <a:solidFill>
                  <a:srgbClr val="FF0000"/>
                </a:solidFill>
              </a:rPr>
              <a:t> </a:t>
            </a:r>
            <a:r>
              <a:rPr lang="en-US" altLang="ja-JP" sz="2400" b="1" dirty="0">
                <a:solidFill>
                  <a:srgbClr val="FF0000"/>
                </a:solidFill>
              </a:rPr>
              <a:t>equivalent</a:t>
            </a:r>
            <a:r>
              <a:rPr lang="en-US" altLang="ja-JP" sz="2400" dirty="0">
                <a:solidFill>
                  <a:srgbClr val="FF0000"/>
                </a:solidFill>
              </a:rPr>
              <a:t> to </a:t>
            </a:r>
            <a:r>
              <a:rPr lang="en-US" altLang="ja-JP" sz="2400" b="1" dirty="0">
                <a:solidFill>
                  <a:srgbClr val="FF0000"/>
                </a:solidFill>
              </a:rPr>
              <a:t>(p </a:t>
            </a:r>
            <a:r>
              <a:rPr lang="en-US" altLang="ja-JP" sz="2400" b="1" dirty="0">
                <a:solidFill>
                  <a:srgbClr val="FF0000"/>
                </a:solidFill>
                <a:sym typeface="Symbol" pitchFamily="18" charset="2"/>
              </a:rPr>
              <a:t></a:t>
            </a:r>
            <a:r>
              <a:rPr lang="en-US" altLang="ja-JP" sz="2400" b="1" dirty="0">
                <a:solidFill>
                  <a:srgbClr val="FF0000"/>
                </a:solidFill>
              </a:rPr>
              <a:t> q) </a:t>
            </a:r>
            <a:r>
              <a:rPr lang="en-US" altLang="ja-JP" sz="2400" b="1" dirty="0">
                <a:solidFill>
                  <a:srgbClr val="FF0000"/>
                </a:solidFill>
                <a:sym typeface="Symbol"/>
              </a:rPr>
              <a:t> (</a:t>
            </a:r>
            <a:r>
              <a:rPr lang="en-US" altLang="ja-JP" sz="2400" b="1" dirty="0">
                <a:solidFill>
                  <a:srgbClr val="FF0000"/>
                </a:solidFill>
              </a:rPr>
              <a:t>q </a:t>
            </a:r>
            <a:r>
              <a:rPr lang="en-US" altLang="ja-JP" sz="2400" b="1" dirty="0">
                <a:solidFill>
                  <a:srgbClr val="FF0000"/>
                </a:solidFill>
                <a:sym typeface="Symbol" pitchFamily="18" charset="2"/>
              </a:rPr>
              <a:t></a:t>
            </a:r>
            <a:r>
              <a:rPr lang="en-US" altLang="ja-JP" sz="2400" b="1" dirty="0">
                <a:solidFill>
                  <a:srgbClr val="FF0000"/>
                </a:solidFill>
              </a:rPr>
              <a:t> p) </a:t>
            </a:r>
            <a:endParaRPr lang="en-US" altLang="ja-JP" sz="2400" b="1" u="sng" dirty="0">
              <a:solidFill>
                <a:srgbClr val="FF0000"/>
              </a:solidFill>
            </a:endParaRPr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2697712"/>
            <a:ext cx="8010853" cy="2706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481079" y="5369383"/>
            <a:ext cx="801085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b="1" dirty="0">
                <a:solidFill>
                  <a:srgbClr val="0000FF"/>
                </a:solidFill>
              </a:rPr>
              <a:t>Since the truth values of both of the compound propositions are same in the corresponding rows, they are logically equivalent. </a:t>
            </a: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Class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298509" y="2273307"/>
            <a:ext cx="8722659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Show that </a:t>
            </a:r>
            <a:r>
              <a:rPr lang="en-US" altLang="ja-JP" sz="2800" b="1" i="1" dirty="0">
                <a:solidFill>
                  <a:srgbClr val="FF0000"/>
                </a:solidFill>
                <a:cs typeface="Arial" pitchFamily="34" charset="0"/>
              </a:rPr>
              <a:t>p</a:t>
            </a:r>
            <a:r>
              <a:rPr lang="en-US" altLang="ja-JP" sz="2800" b="1" dirty="0">
                <a:solidFill>
                  <a:srgbClr val="FF0000"/>
                </a:solidFill>
                <a:cs typeface="Arial" pitchFamily="34" charset="0"/>
                <a:sym typeface="Symbol" pitchFamily="18" charset="2"/>
              </a:rPr>
              <a:t>  </a:t>
            </a:r>
            <a:r>
              <a:rPr lang="en-US" altLang="ja-JP" sz="2800" b="1" dirty="0">
                <a:solidFill>
                  <a:srgbClr val="FF0000"/>
                </a:solidFill>
                <a:cs typeface="Arial" pitchFamily="34" charset="0"/>
              </a:rPr>
              <a:t>(</a:t>
            </a:r>
            <a:r>
              <a:rPr lang="en-US" altLang="ja-JP" sz="2800" b="1" i="1" dirty="0">
                <a:solidFill>
                  <a:srgbClr val="FF0000"/>
                </a:solidFill>
                <a:cs typeface="Arial" pitchFamily="34" charset="0"/>
              </a:rPr>
              <a:t>q </a:t>
            </a:r>
            <a:r>
              <a:rPr lang="en-US" altLang="ja-JP" sz="2800" b="1" dirty="0">
                <a:solidFill>
                  <a:srgbClr val="FF0000"/>
                </a:solidFill>
                <a:cs typeface="Arial" pitchFamily="34" charset="0"/>
                <a:sym typeface="Symbol" pitchFamily="18" charset="2"/>
              </a:rPr>
              <a:t> </a:t>
            </a:r>
            <a:r>
              <a:rPr lang="en-US" altLang="ja-JP" sz="2800" b="1" i="1" dirty="0">
                <a:solidFill>
                  <a:srgbClr val="FF0000"/>
                </a:solidFill>
                <a:cs typeface="Arial" pitchFamily="34" charset="0"/>
                <a:sym typeface="Symbol" pitchFamily="18" charset="2"/>
              </a:rPr>
              <a:t>r </a:t>
            </a:r>
            <a:r>
              <a:rPr lang="en-US" altLang="ja-JP" sz="2800" b="1" dirty="0">
                <a:solidFill>
                  <a:srgbClr val="FF0000"/>
                </a:solidFill>
                <a:cs typeface="Arial" pitchFamily="34" charset="0"/>
              </a:rPr>
              <a:t>)</a:t>
            </a:r>
            <a:r>
              <a:rPr lang="en-US" sz="2800" b="1" dirty="0">
                <a:solidFill>
                  <a:srgbClr val="FF0000"/>
                </a:solidFill>
              </a:rPr>
              <a:t>  </a:t>
            </a:r>
            <a:r>
              <a:rPr lang="en-US" sz="2800" dirty="0">
                <a:solidFill>
                  <a:srgbClr val="FF0000"/>
                </a:solidFill>
              </a:rPr>
              <a:t>and </a:t>
            </a:r>
            <a:r>
              <a:rPr lang="en-US" altLang="ja-JP" sz="2800" b="1" dirty="0">
                <a:solidFill>
                  <a:srgbClr val="FF0000"/>
                </a:solidFill>
                <a:cs typeface="Arial" pitchFamily="34" charset="0"/>
              </a:rPr>
              <a:t>(</a:t>
            </a:r>
            <a:r>
              <a:rPr lang="en-US" altLang="ja-JP" sz="2800" b="1" i="1" dirty="0">
                <a:solidFill>
                  <a:srgbClr val="FF0000"/>
                </a:solidFill>
                <a:cs typeface="Arial" pitchFamily="34" charset="0"/>
              </a:rPr>
              <a:t>p </a:t>
            </a:r>
            <a:r>
              <a:rPr lang="en-US" altLang="ja-JP" sz="2800" b="1" dirty="0">
                <a:solidFill>
                  <a:srgbClr val="FF0000"/>
                </a:solidFill>
                <a:cs typeface="Arial" pitchFamily="34" charset="0"/>
                <a:sym typeface="Symbol" pitchFamily="18" charset="2"/>
              </a:rPr>
              <a:t></a:t>
            </a:r>
            <a:r>
              <a:rPr lang="en-US" altLang="ja-JP" sz="2800" b="1" i="1" dirty="0">
                <a:solidFill>
                  <a:srgbClr val="FF0000"/>
                </a:solidFill>
                <a:cs typeface="Arial" pitchFamily="34" charset="0"/>
              </a:rPr>
              <a:t>q </a:t>
            </a:r>
            <a:r>
              <a:rPr lang="en-US" altLang="ja-JP" sz="2800" b="1" dirty="0">
                <a:solidFill>
                  <a:srgbClr val="FF0000"/>
                </a:solidFill>
                <a:cs typeface="Arial" pitchFamily="34" charset="0"/>
              </a:rPr>
              <a:t>)</a:t>
            </a:r>
            <a:r>
              <a:rPr lang="en-US" altLang="ja-JP" sz="2800" b="1" dirty="0">
                <a:solidFill>
                  <a:srgbClr val="FF0000"/>
                </a:solidFill>
                <a:cs typeface="Arial" pitchFamily="34" charset="0"/>
                <a:sym typeface="Symbol" pitchFamily="18" charset="2"/>
              </a:rPr>
              <a:t>  </a:t>
            </a:r>
            <a:r>
              <a:rPr lang="en-US" altLang="ja-JP" sz="2800" b="1" dirty="0">
                <a:solidFill>
                  <a:srgbClr val="FF0000"/>
                </a:solidFill>
                <a:cs typeface="Arial" pitchFamily="34" charset="0"/>
              </a:rPr>
              <a:t>(</a:t>
            </a:r>
            <a:r>
              <a:rPr lang="en-US" altLang="ja-JP" sz="2800" b="1" i="1" dirty="0">
                <a:solidFill>
                  <a:srgbClr val="FF0000"/>
                </a:solidFill>
                <a:cs typeface="Arial" pitchFamily="34" charset="0"/>
              </a:rPr>
              <a:t>p </a:t>
            </a:r>
            <a:r>
              <a:rPr lang="en-US" altLang="ja-JP" sz="2800" b="1" dirty="0">
                <a:solidFill>
                  <a:srgbClr val="FF0000"/>
                </a:solidFill>
                <a:cs typeface="Arial" pitchFamily="34" charset="0"/>
                <a:sym typeface="Symbol" pitchFamily="18" charset="2"/>
              </a:rPr>
              <a:t> </a:t>
            </a:r>
            <a:r>
              <a:rPr lang="en-US" altLang="ja-JP" sz="2800" b="1" i="1" dirty="0">
                <a:solidFill>
                  <a:srgbClr val="FF0000"/>
                </a:solidFill>
                <a:cs typeface="Arial" pitchFamily="34" charset="0"/>
                <a:sym typeface="Symbol" pitchFamily="18" charset="2"/>
              </a:rPr>
              <a:t>r</a:t>
            </a:r>
            <a:r>
              <a:rPr lang="en-US" altLang="ja-JP" sz="2800" b="1" i="1" dirty="0">
                <a:solidFill>
                  <a:srgbClr val="FF0000"/>
                </a:solidFill>
                <a:cs typeface="Arial" pitchFamily="34" charset="0"/>
              </a:rPr>
              <a:t> </a:t>
            </a:r>
            <a:r>
              <a:rPr lang="en-US" altLang="ja-JP" sz="2800" b="1" dirty="0">
                <a:solidFill>
                  <a:srgbClr val="FF0000"/>
                </a:solidFill>
                <a:cs typeface="Arial" pitchFamily="34" charset="0"/>
              </a:rPr>
              <a:t>)</a:t>
            </a:r>
            <a:r>
              <a:rPr lang="en-US" sz="2800" dirty="0">
                <a:solidFill>
                  <a:srgbClr val="FF0000"/>
                </a:solidFill>
              </a:rPr>
              <a:t> are logically equivalent</a:t>
            </a:r>
          </a:p>
          <a:p>
            <a:endParaRPr lang="en-US" sz="2800" dirty="0">
              <a:solidFill>
                <a:srgbClr val="FF0000"/>
              </a:solidFill>
            </a:endParaRPr>
          </a:p>
          <a:p>
            <a:r>
              <a:rPr lang="en-US" sz="2800" dirty="0">
                <a:solidFill>
                  <a:srgbClr val="FF0000"/>
                </a:solidFill>
              </a:rPr>
              <a:t> </a:t>
            </a:r>
            <a:endParaRPr lang="en-US" sz="2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5805" y="708317"/>
            <a:ext cx="7808976" cy="1088136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Solution</a:t>
            </a:r>
          </a:p>
        </p:txBody>
      </p:sp>
      <p:pic>
        <p:nvPicPr>
          <p:cNvPr id="4" name="Picture 3" descr="t01_2_00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8317" y="1951628"/>
            <a:ext cx="8386762" cy="34665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481079" y="5492215"/>
            <a:ext cx="801085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</a:rPr>
              <a:t>Since the truth values of both of the compound propositions are same in the corresponding rows, they are logically equivalent. 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9689" y="73240"/>
            <a:ext cx="7808976" cy="1529920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+mn-lt"/>
              </a:rPr>
              <a:t>Logical Equivalences </a:t>
            </a:r>
            <a:br>
              <a:rPr lang="en-US" sz="3200" dirty="0">
                <a:latin typeface="+mn-lt"/>
              </a:rPr>
            </a:br>
            <a:r>
              <a:rPr lang="en-US" altLang="ja-JP" sz="3200" b="1" dirty="0">
                <a:latin typeface="+mn-lt"/>
              </a:rPr>
              <a:t>Table 6 ( page 24 ) </a:t>
            </a:r>
            <a:r>
              <a:rPr lang="en-US" altLang="ja-JP" sz="3200" b="1" dirty="0">
                <a:latin typeface="+mn-lt"/>
                <a:sym typeface="Wingdings" pitchFamily="2" charset="2"/>
              </a:rPr>
              <a:t> Rosen, 7</a:t>
            </a:r>
            <a:r>
              <a:rPr lang="en-US" altLang="ja-JP" sz="3200" b="1" baseline="30000" dirty="0">
                <a:latin typeface="+mn-lt"/>
                <a:sym typeface="Wingdings" pitchFamily="2" charset="2"/>
              </a:rPr>
              <a:t>th</a:t>
            </a:r>
            <a:r>
              <a:rPr lang="en-US" altLang="ja-JP" sz="3200" b="1" dirty="0">
                <a:latin typeface="+mn-lt"/>
                <a:sym typeface="Wingdings" pitchFamily="2" charset="2"/>
              </a:rPr>
              <a:t> edition</a:t>
            </a:r>
            <a:endParaRPr lang="en-US" sz="3200" dirty="0">
              <a:latin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EF4B32-D2D1-E012-6071-3AA080C3CB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690" y="2272280"/>
            <a:ext cx="4347506" cy="288694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C3D5550-14F3-91AD-89B5-63DAEF0F8F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7196" y="2304104"/>
            <a:ext cx="4347506" cy="286423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7565" y="694669"/>
            <a:ext cx="7808976" cy="1088136"/>
          </a:xfrm>
        </p:spPr>
        <p:txBody>
          <a:bodyPr>
            <a:noAutofit/>
          </a:bodyPr>
          <a:lstStyle/>
          <a:p>
            <a:r>
              <a:rPr lang="en-US" sz="3200" dirty="0">
                <a:latin typeface="+mn-lt"/>
              </a:rPr>
              <a:t>A very Useful Logical Equivalence(</a:t>
            </a:r>
            <a:r>
              <a:rPr lang="en-US" sz="3200" b="1" dirty="0">
                <a:latin typeface="+mn-lt"/>
              </a:rPr>
              <a:t>ULE</a:t>
            </a:r>
            <a:r>
              <a:rPr lang="en-US" sz="3200" dirty="0">
                <a:latin typeface="+mn-lt"/>
              </a:rPr>
              <a:t>)</a:t>
            </a:r>
          </a:p>
        </p:txBody>
      </p:sp>
      <p:sp>
        <p:nvSpPr>
          <p:cNvPr id="4" name="Rectangle 3"/>
          <p:cNvSpPr/>
          <p:nvPr/>
        </p:nvSpPr>
        <p:spPr>
          <a:xfrm>
            <a:off x="704512" y="2766654"/>
            <a:ext cx="262443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kumimoji="1" lang="en-US" altLang="ja-JP" sz="2800" b="1" i="1" dirty="0">
                <a:solidFill>
                  <a:srgbClr val="FF0000"/>
                </a:solidFill>
              </a:rPr>
              <a:t>p</a:t>
            </a:r>
            <a:r>
              <a:rPr kumimoji="1" lang="en-US" altLang="ja-JP" sz="2800" b="1" dirty="0">
                <a:solidFill>
                  <a:srgbClr val="FF0000"/>
                </a:solidFill>
                <a:sym typeface="Symbol" pitchFamily="18" charset="2"/>
              </a:rPr>
              <a:t> </a:t>
            </a:r>
            <a:r>
              <a:rPr kumimoji="1" lang="en-US" altLang="ja-JP" sz="2800" b="1" dirty="0">
                <a:solidFill>
                  <a:srgbClr val="FF0000"/>
                </a:solidFill>
                <a:cs typeface="Arial" pitchFamily="34" charset="0"/>
                <a:sym typeface="Symbol" pitchFamily="18" charset="2"/>
              </a:rPr>
              <a:t></a:t>
            </a:r>
            <a:r>
              <a:rPr kumimoji="1" lang="en-US" altLang="ja-JP" sz="2800" b="1" dirty="0">
                <a:solidFill>
                  <a:srgbClr val="FF0000"/>
                </a:solidFill>
                <a:sym typeface="Symbol" pitchFamily="18" charset="2"/>
              </a:rPr>
              <a:t> </a:t>
            </a:r>
            <a:r>
              <a:rPr kumimoji="1" lang="en-US" altLang="ja-JP" sz="2800" b="1" i="1" dirty="0">
                <a:solidFill>
                  <a:srgbClr val="FF0000"/>
                </a:solidFill>
              </a:rPr>
              <a:t>q </a:t>
            </a:r>
            <a:r>
              <a:rPr lang="en-US" sz="2800" b="1" dirty="0">
                <a:solidFill>
                  <a:srgbClr val="FF0000"/>
                </a:solidFill>
                <a:sym typeface="Symbol" pitchFamily="18" charset="2"/>
              </a:rPr>
              <a:t> </a:t>
            </a:r>
            <a:r>
              <a:rPr kumimoji="1" lang="en-US" altLang="ja-JP" sz="2800" b="1" i="1" dirty="0">
                <a:solidFill>
                  <a:srgbClr val="FF0000"/>
                </a:solidFill>
              </a:rPr>
              <a:t>¬ p</a:t>
            </a:r>
            <a:r>
              <a:rPr kumimoji="1" lang="en-US" altLang="ja-JP" sz="2800" b="1" dirty="0">
                <a:solidFill>
                  <a:srgbClr val="FF0000"/>
                </a:solidFill>
                <a:sym typeface="Symbol" pitchFamily="18" charset="2"/>
              </a:rPr>
              <a:t>  </a:t>
            </a:r>
            <a:r>
              <a:rPr kumimoji="1" lang="en-US" altLang="ja-JP" sz="2800" b="1" i="1" dirty="0">
                <a:solidFill>
                  <a:srgbClr val="FF0000"/>
                </a:solidFill>
              </a:rPr>
              <a:t>q  </a:t>
            </a:r>
            <a:endParaRPr lang="en-US" sz="28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8509" y="681021"/>
            <a:ext cx="7808976" cy="1088136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Example 1 </a:t>
            </a:r>
          </a:p>
        </p:txBody>
      </p:sp>
      <p:sp>
        <p:nvSpPr>
          <p:cNvPr id="4" name="Rectangle 3"/>
          <p:cNvSpPr/>
          <p:nvPr/>
        </p:nvSpPr>
        <p:spPr>
          <a:xfrm>
            <a:off x="272946" y="2207086"/>
            <a:ext cx="848891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Show that </a:t>
            </a:r>
            <a:r>
              <a:rPr kumimoji="1" lang="en-US" altLang="ja-JP" sz="2800" b="1" i="1" dirty="0">
                <a:solidFill>
                  <a:srgbClr val="FF0000"/>
                </a:solidFill>
              </a:rPr>
              <a:t>¬</a:t>
            </a:r>
            <a:r>
              <a:rPr lang="en-US" sz="2800" b="1" dirty="0">
                <a:solidFill>
                  <a:srgbClr val="FF0000"/>
                </a:solidFill>
              </a:rPr>
              <a:t>(</a:t>
            </a:r>
            <a:r>
              <a:rPr lang="en-US" sz="2800" b="1" i="1" dirty="0">
                <a:solidFill>
                  <a:srgbClr val="FF0000"/>
                </a:solidFill>
              </a:rPr>
              <a:t>p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>
                <a:solidFill>
                  <a:srgbClr val="FF0000"/>
                </a:solidFill>
                <a:sym typeface="Symbol"/>
              </a:rPr>
              <a:t> </a:t>
            </a:r>
            <a:r>
              <a:rPr lang="en-US" sz="2800" b="1" i="1" dirty="0">
                <a:solidFill>
                  <a:srgbClr val="FF0000"/>
                </a:solidFill>
                <a:sym typeface="Symbol"/>
              </a:rPr>
              <a:t>q</a:t>
            </a:r>
            <a:r>
              <a:rPr lang="en-US" sz="2800" b="1" dirty="0">
                <a:solidFill>
                  <a:srgbClr val="FF0000"/>
                </a:solidFill>
                <a:sym typeface="Symbol"/>
              </a:rPr>
              <a:t>) </a:t>
            </a:r>
            <a:r>
              <a:rPr lang="en-US" sz="2800" dirty="0">
                <a:sym typeface="Symbol"/>
              </a:rPr>
              <a:t>and </a:t>
            </a:r>
            <a:r>
              <a:rPr lang="en-US" sz="2800" b="1" i="1" dirty="0">
                <a:solidFill>
                  <a:srgbClr val="FF0000"/>
                </a:solidFill>
                <a:sym typeface="Symbol"/>
              </a:rPr>
              <a:t>p</a:t>
            </a:r>
            <a:r>
              <a:rPr lang="en-US" sz="2800" b="1" dirty="0">
                <a:solidFill>
                  <a:srgbClr val="FF0000"/>
                </a:solidFill>
                <a:sym typeface="Symbol"/>
              </a:rPr>
              <a:t> </a:t>
            </a:r>
            <a:r>
              <a:rPr kumimoji="1" lang="en-US" altLang="ja-JP" sz="2800" b="1" i="1" dirty="0">
                <a:solidFill>
                  <a:srgbClr val="FF0000"/>
                </a:solidFill>
              </a:rPr>
              <a:t> ¬ q </a:t>
            </a:r>
            <a:r>
              <a:rPr kumimoji="1" lang="en-US" altLang="ja-JP" sz="2800" dirty="0"/>
              <a:t>are logically equivalent.</a:t>
            </a:r>
            <a:endParaRPr lang="en-US" sz="2800" dirty="0"/>
          </a:p>
        </p:txBody>
      </p:sp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457200" y="3495707"/>
            <a:ext cx="8458200" cy="1762125"/>
            <a:chOff x="288" y="1050"/>
            <a:chExt cx="5328" cy="1110"/>
          </a:xfrm>
        </p:grpSpPr>
        <p:pic>
          <p:nvPicPr>
            <p:cNvPr id="6" name="Picture 5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88" y="1050"/>
              <a:ext cx="2880" cy="1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" name="Picture 6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024" y="1451"/>
              <a:ext cx="2592" cy="6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" name="Text Box 7"/>
            <p:cNvSpPr txBox="1">
              <a:spLocks noChangeArrowheads="1"/>
            </p:cNvSpPr>
            <p:nvPr/>
          </p:nvSpPr>
          <p:spPr bwMode="auto">
            <a:xfrm>
              <a:off x="3024" y="1161"/>
              <a:ext cx="658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ja-JP" b="1" dirty="0"/>
                <a:t>by ULE </a:t>
              </a: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320720" y="3125334"/>
            <a:ext cx="15247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00FF"/>
                </a:solidFill>
              </a:rPr>
              <a:t>Solution: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marL="609600" indent="-609600"/>
            <a:r>
              <a:rPr lang="en-US" altLang="ja-JP" sz="4000" b="1" dirty="0">
                <a:latin typeface="+mn-lt"/>
              </a:rPr>
              <a:t>Example 7 (page 26) </a:t>
            </a:r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125104" y="2060983"/>
            <a:ext cx="8915400" cy="962025"/>
          </a:xfrm>
          <a:prstGeom prst="rect">
            <a:avLst/>
          </a:prstGeom>
          <a:noFill/>
        </p:spPr>
      </p:pic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3257500"/>
            <a:ext cx="8458200" cy="2187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68400" y="5486400"/>
            <a:ext cx="8001000" cy="434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134733" y="2913824"/>
            <a:ext cx="13340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Solution: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ja-JP" sz="4000" b="1" dirty="0">
                <a:latin typeface="+mn-lt"/>
              </a:rPr>
              <a:t>Exercise</a:t>
            </a:r>
            <a:endParaRPr lang="en-US" sz="4000" dirty="0"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21341" y="2587211"/>
            <a:ext cx="780897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defRPr/>
            </a:pPr>
            <a:r>
              <a:rPr lang="en-US" altLang="ja-JP" sz="2800" b="1" dirty="0"/>
              <a:t>Show that  </a:t>
            </a:r>
            <a:r>
              <a:rPr lang="en-US" altLang="ja-JP" sz="2800" b="1" dirty="0">
                <a:solidFill>
                  <a:srgbClr val="0000FF"/>
                </a:solidFill>
                <a:cs typeface="Arial" charset="0"/>
              </a:rPr>
              <a:t>(</a:t>
            </a:r>
            <a:r>
              <a:rPr lang="en-US" altLang="ja-JP" sz="2800" b="1" i="1" dirty="0">
                <a:solidFill>
                  <a:srgbClr val="0000FF"/>
                </a:solidFill>
                <a:cs typeface="Arial" charset="0"/>
              </a:rPr>
              <a:t>¬</a:t>
            </a:r>
            <a:r>
              <a:rPr lang="en-US" altLang="ja-JP" sz="2800" b="1" i="1" dirty="0">
                <a:solidFill>
                  <a:srgbClr val="0000FF"/>
                </a:solidFill>
              </a:rPr>
              <a:t>p</a:t>
            </a:r>
            <a:r>
              <a:rPr lang="en-US" altLang="ja-JP" sz="2800" b="1" dirty="0">
                <a:solidFill>
                  <a:srgbClr val="0000FF"/>
                </a:solidFill>
              </a:rPr>
              <a:t> </a:t>
            </a:r>
            <a:r>
              <a:rPr lang="en-US" altLang="ja-JP" sz="2800" b="1" dirty="0">
                <a:solidFill>
                  <a:srgbClr val="0000FF"/>
                </a:solidFill>
                <a:sym typeface="Symbol" pitchFamily="18" charset="2"/>
              </a:rPr>
              <a:t></a:t>
            </a:r>
            <a:r>
              <a:rPr lang="en-US" altLang="ja-JP" sz="2800" b="1" dirty="0">
                <a:solidFill>
                  <a:srgbClr val="0000FF"/>
                </a:solidFill>
              </a:rPr>
              <a:t>(</a:t>
            </a:r>
            <a:r>
              <a:rPr lang="en-US" altLang="ja-JP" sz="2800" b="1" i="1" dirty="0">
                <a:solidFill>
                  <a:srgbClr val="0000FF"/>
                </a:solidFill>
              </a:rPr>
              <a:t>p </a:t>
            </a:r>
            <a:r>
              <a:rPr lang="en-US" altLang="ja-JP" sz="2800" b="1" dirty="0">
                <a:solidFill>
                  <a:srgbClr val="0000FF"/>
                </a:solidFill>
                <a:sym typeface="Symbol" pitchFamily="18" charset="2"/>
              </a:rPr>
              <a:t></a:t>
            </a:r>
            <a:r>
              <a:rPr lang="en-US" altLang="ja-JP" sz="2800" b="1" i="1" dirty="0">
                <a:solidFill>
                  <a:srgbClr val="0000FF"/>
                </a:solidFill>
              </a:rPr>
              <a:t>q </a:t>
            </a:r>
            <a:r>
              <a:rPr lang="en-US" altLang="ja-JP" sz="2800" b="1" dirty="0">
                <a:solidFill>
                  <a:srgbClr val="0000FF"/>
                </a:solidFill>
              </a:rPr>
              <a:t>))</a:t>
            </a:r>
            <a:r>
              <a:rPr lang="en-US" altLang="ja-JP" sz="2800" b="1" dirty="0">
                <a:solidFill>
                  <a:srgbClr val="0000FF"/>
                </a:solidFill>
                <a:sym typeface="Symbol" pitchFamily="18" charset="2"/>
              </a:rPr>
              <a:t></a:t>
            </a:r>
            <a:r>
              <a:rPr lang="en-US" altLang="ja-JP" sz="2800" b="1" i="1" dirty="0">
                <a:solidFill>
                  <a:srgbClr val="0000FF"/>
                </a:solidFill>
              </a:rPr>
              <a:t>q  </a:t>
            </a:r>
            <a:r>
              <a:rPr lang="en-US" altLang="ja-JP" sz="2800" b="1" dirty="0"/>
              <a:t>is a </a:t>
            </a:r>
            <a:r>
              <a:rPr lang="en-US" altLang="ja-JP" sz="2800" b="1" dirty="0">
                <a:solidFill>
                  <a:srgbClr val="0000FF"/>
                </a:solidFill>
              </a:rPr>
              <a:t>tautology</a:t>
            </a:r>
            <a:r>
              <a:rPr lang="en-US" altLang="ja-JP" sz="2800" b="1" dirty="0"/>
              <a:t> using a </a:t>
            </a:r>
          </a:p>
          <a:p>
            <a:pPr marL="274320" indent="-274320">
              <a:defRPr/>
            </a:pPr>
            <a:r>
              <a:rPr lang="en-US" altLang="ja-JP" sz="2800" b="1" dirty="0"/>
              <a:t>series of logical equivalences. 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2157" y="449005"/>
            <a:ext cx="7808976" cy="1461682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Solution </a:t>
            </a:r>
          </a:p>
        </p:txBody>
      </p:sp>
      <p:sp>
        <p:nvSpPr>
          <p:cNvPr id="4" name="Rectangle 3"/>
          <p:cNvSpPr/>
          <p:nvPr/>
        </p:nvSpPr>
        <p:spPr>
          <a:xfrm>
            <a:off x="312157" y="2079482"/>
            <a:ext cx="8613479" cy="43550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b="1" dirty="0">
                <a:cs typeface="Arial" pitchFamily="34" charset="0"/>
              </a:rPr>
              <a:t>		(</a:t>
            </a:r>
            <a:r>
              <a:rPr lang="en-US" altLang="ja-JP" b="1" i="1" dirty="0">
                <a:cs typeface="Arial" pitchFamily="34" charset="0"/>
              </a:rPr>
              <a:t>¬p</a:t>
            </a:r>
            <a:r>
              <a:rPr lang="en-US" altLang="ja-JP" b="1" dirty="0">
                <a:cs typeface="Arial" pitchFamily="34" charset="0"/>
              </a:rPr>
              <a:t> </a:t>
            </a:r>
            <a:r>
              <a:rPr lang="en-US" altLang="ja-JP" b="1" dirty="0">
                <a:cs typeface="Arial" pitchFamily="34" charset="0"/>
                <a:sym typeface="Symbol" pitchFamily="18" charset="2"/>
              </a:rPr>
              <a:t></a:t>
            </a:r>
            <a:r>
              <a:rPr lang="en-US" altLang="ja-JP" b="1" dirty="0">
                <a:cs typeface="Arial" pitchFamily="34" charset="0"/>
              </a:rPr>
              <a:t>(</a:t>
            </a:r>
            <a:r>
              <a:rPr lang="en-US" altLang="ja-JP" b="1" i="1" dirty="0">
                <a:cs typeface="Arial" pitchFamily="34" charset="0"/>
              </a:rPr>
              <a:t>p </a:t>
            </a:r>
            <a:r>
              <a:rPr lang="en-US" altLang="ja-JP" b="1" dirty="0">
                <a:cs typeface="Arial" pitchFamily="34" charset="0"/>
                <a:sym typeface="Symbol" pitchFamily="18" charset="2"/>
              </a:rPr>
              <a:t></a:t>
            </a:r>
            <a:r>
              <a:rPr lang="en-US" altLang="ja-JP" b="1" i="1" dirty="0">
                <a:cs typeface="Arial" pitchFamily="34" charset="0"/>
              </a:rPr>
              <a:t>q </a:t>
            </a:r>
            <a:r>
              <a:rPr lang="en-US" altLang="ja-JP" b="1" dirty="0">
                <a:cs typeface="Arial" pitchFamily="34" charset="0"/>
              </a:rPr>
              <a:t>))</a:t>
            </a:r>
            <a:r>
              <a:rPr lang="en-US" altLang="ja-JP" b="1" dirty="0">
                <a:cs typeface="Arial" pitchFamily="34" charset="0"/>
                <a:sym typeface="Symbol" pitchFamily="18" charset="2"/>
              </a:rPr>
              <a:t></a:t>
            </a:r>
            <a:r>
              <a:rPr lang="en-US" altLang="ja-JP" b="1" i="1" dirty="0">
                <a:cs typeface="Arial" pitchFamily="34" charset="0"/>
              </a:rPr>
              <a:t>q  </a:t>
            </a:r>
          </a:p>
          <a:p>
            <a:r>
              <a:rPr lang="en-US" altLang="ja-JP" b="1" i="1" dirty="0">
                <a:cs typeface="Arial" pitchFamily="34" charset="0"/>
              </a:rPr>
              <a:t>		</a:t>
            </a:r>
            <a:r>
              <a:rPr lang="en-US" b="1" dirty="0">
                <a:sym typeface="Symbol" pitchFamily="18" charset="2"/>
              </a:rPr>
              <a:t>  </a:t>
            </a:r>
            <a:r>
              <a:rPr lang="en-US" altLang="ja-JP" b="1" dirty="0">
                <a:cs typeface="Arial" pitchFamily="34" charset="0"/>
              </a:rPr>
              <a:t> ( (</a:t>
            </a:r>
            <a:r>
              <a:rPr lang="en-US" altLang="ja-JP" b="1" i="1" dirty="0">
                <a:cs typeface="Arial" pitchFamily="34" charset="0"/>
              </a:rPr>
              <a:t>¬p</a:t>
            </a:r>
            <a:r>
              <a:rPr lang="en-US" altLang="ja-JP" b="1" dirty="0">
                <a:cs typeface="Arial" pitchFamily="34" charset="0"/>
              </a:rPr>
              <a:t> </a:t>
            </a:r>
            <a:r>
              <a:rPr lang="en-US" altLang="ja-JP" b="1" dirty="0">
                <a:cs typeface="Arial" pitchFamily="34" charset="0"/>
                <a:sym typeface="Symbol" pitchFamily="18" charset="2"/>
              </a:rPr>
              <a:t></a:t>
            </a:r>
            <a:r>
              <a:rPr lang="en-US" altLang="ja-JP" b="1" i="1" dirty="0">
                <a:cs typeface="Arial" pitchFamily="34" charset="0"/>
              </a:rPr>
              <a:t>p</a:t>
            </a:r>
            <a:r>
              <a:rPr lang="en-US" altLang="ja-JP" b="1" dirty="0">
                <a:cs typeface="Arial" pitchFamily="34" charset="0"/>
              </a:rPr>
              <a:t>)</a:t>
            </a:r>
            <a:r>
              <a:rPr lang="en-US" altLang="ja-JP" b="1" dirty="0">
                <a:cs typeface="Arial" pitchFamily="34" charset="0"/>
                <a:sym typeface="Symbol" pitchFamily="18" charset="2"/>
              </a:rPr>
              <a:t></a:t>
            </a:r>
            <a:r>
              <a:rPr lang="en-US" altLang="ja-JP" b="1" dirty="0">
                <a:cs typeface="Arial" pitchFamily="34" charset="0"/>
              </a:rPr>
              <a:t>(</a:t>
            </a:r>
            <a:r>
              <a:rPr lang="en-US" altLang="ja-JP" b="1" i="1" dirty="0">
                <a:cs typeface="Arial" pitchFamily="34" charset="0"/>
              </a:rPr>
              <a:t>¬p</a:t>
            </a:r>
            <a:r>
              <a:rPr lang="en-US" altLang="ja-JP" b="1" dirty="0">
                <a:cs typeface="Arial" pitchFamily="34" charset="0"/>
              </a:rPr>
              <a:t> </a:t>
            </a:r>
            <a:r>
              <a:rPr lang="en-US" altLang="ja-JP" b="1" dirty="0">
                <a:cs typeface="Arial" pitchFamily="34" charset="0"/>
                <a:sym typeface="Symbol" pitchFamily="18" charset="2"/>
              </a:rPr>
              <a:t></a:t>
            </a:r>
            <a:r>
              <a:rPr lang="en-US" altLang="ja-JP" b="1" i="1" dirty="0">
                <a:cs typeface="Arial" pitchFamily="34" charset="0"/>
              </a:rPr>
              <a:t>q</a:t>
            </a:r>
            <a:r>
              <a:rPr lang="en-US" altLang="ja-JP" b="1" dirty="0">
                <a:cs typeface="Arial" pitchFamily="34" charset="0"/>
              </a:rPr>
              <a:t>) ) </a:t>
            </a:r>
            <a:r>
              <a:rPr lang="en-US" altLang="ja-JP" b="1" dirty="0">
                <a:cs typeface="Arial" pitchFamily="34" charset="0"/>
                <a:sym typeface="Symbol" pitchFamily="18" charset="2"/>
              </a:rPr>
              <a:t> </a:t>
            </a:r>
            <a:r>
              <a:rPr lang="en-US" altLang="ja-JP" b="1" i="1" dirty="0">
                <a:cs typeface="Arial" pitchFamily="34" charset="0"/>
              </a:rPr>
              <a:t>q		</a:t>
            </a:r>
            <a:r>
              <a:rPr lang="en-US" altLang="ja-JP" b="1" dirty="0">
                <a:cs typeface="Arial" pitchFamily="34" charset="0"/>
              </a:rPr>
              <a:t>Distributive Law</a:t>
            </a:r>
          </a:p>
          <a:p>
            <a:endParaRPr lang="en-US" altLang="ja-JP" sz="1100" b="1" dirty="0">
              <a:cs typeface="Arial" pitchFamily="34" charset="0"/>
            </a:endParaRPr>
          </a:p>
          <a:p>
            <a:r>
              <a:rPr lang="en-US" altLang="ja-JP" b="1" i="1" dirty="0">
                <a:cs typeface="Arial" pitchFamily="34" charset="0"/>
              </a:rPr>
              <a:t>		</a:t>
            </a:r>
            <a:r>
              <a:rPr lang="en-US" b="1" dirty="0">
                <a:sym typeface="Symbol" pitchFamily="18" charset="2"/>
              </a:rPr>
              <a:t>  </a:t>
            </a:r>
            <a:r>
              <a:rPr lang="en-US" altLang="ja-JP" b="1" dirty="0">
                <a:cs typeface="Arial" pitchFamily="34" charset="0"/>
              </a:rPr>
              <a:t> ( F </a:t>
            </a:r>
            <a:r>
              <a:rPr lang="en-US" altLang="ja-JP" b="1" dirty="0">
                <a:cs typeface="Arial" pitchFamily="34" charset="0"/>
                <a:sym typeface="Symbol" pitchFamily="18" charset="2"/>
              </a:rPr>
              <a:t></a:t>
            </a:r>
            <a:r>
              <a:rPr lang="en-US" altLang="ja-JP" b="1" dirty="0">
                <a:cs typeface="Arial" pitchFamily="34" charset="0"/>
              </a:rPr>
              <a:t> (</a:t>
            </a:r>
            <a:r>
              <a:rPr lang="en-US" altLang="ja-JP" b="1" i="1" dirty="0">
                <a:cs typeface="Arial" pitchFamily="34" charset="0"/>
              </a:rPr>
              <a:t>¬p</a:t>
            </a:r>
            <a:r>
              <a:rPr lang="en-US" altLang="ja-JP" b="1" dirty="0">
                <a:cs typeface="Arial" pitchFamily="34" charset="0"/>
              </a:rPr>
              <a:t> </a:t>
            </a:r>
            <a:r>
              <a:rPr lang="en-US" altLang="ja-JP" b="1" dirty="0">
                <a:cs typeface="Arial" pitchFamily="34" charset="0"/>
                <a:sym typeface="Symbol" pitchFamily="18" charset="2"/>
              </a:rPr>
              <a:t></a:t>
            </a:r>
            <a:r>
              <a:rPr lang="en-US" altLang="ja-JP" b="1" i="1" dirty="0">
                <a:cs typeface="Arial" pitchFamily="34" charset="0"/>
              </a:rPr>
              <a:t>q</a:t>
            </a:r>
            <a:r>
              <a:rPr lang="en-US" altLang="ja-JP" b="1" dirty="0">
                <a:cs typeface="Arial" pitchFamily="34" charset="0"/>
              </a:rPr>
              <a:t>))</a:t>
            </a:r>
            <a:r>
              <a:rPr lang="en-US" altLang="ja-JP" b="1" dirty="0">
                <a:cs typeface="Arial" pitchFamily="34" charset="0"/>
                <a:sym typeface="Symbol" pitchFamily="18" charset="2"/>
              </a:rPr>
              <a:t></a:t>
            </a:r>
            <a:r>
              <a:rPr lang="en-US" altLang="ja-JP" b="1" i="1" dirty="0">
                <a:cs typeface="Arial" pitchFamily="34" charset="0"/>
              </a:rPr>
              <a:t>q 	  	</a:t>
            </a:r>
            <a:r>
              <a:rPr lang="en-US" altLang="ja-JP" b="1" dirty="0">
                <a:cs typeface="Arial" pitchFamily="34" charset="0"/>
              </a:rPr>
              <a:t>Negation</a:t>
            </a:r>
            <a:r>
              <a:rPr lang="en-US" altLang="ja-JP" b="1" i="1" dirty="0">
                <a:cs typeface="Arial" pitchFamily="34" charset="0"/>
              </a:rPr>
              <a:t> </a:t>
            </a:r>
            <a:r>
              <a:rPr lang="en-US" altLang="ja-JP" b="1" dirty="0">
                <a:cs typeface="Arial" pitchFamily="34" charset="0"/>
              </a:rPr>
              <a:t>Law </a:t>
            </a:r>
          </a:p>
          <a:p>
            <a:endParaRPr lang="en-US" altLang="ja-JP" sz="1100" b="1" dirty="0">
              <a:cs typeface="Arial" pitchFamily="34" charset="0"/>
            </a:endParaRPr>
          </a:p>
          <a:p>
            <a:r>
              <a:rPr lang="en-US" altLang="ja-JP" b="1" i="1" dirty="0">
                <a:cs typeface="Arial" pitchFamily="34" charset="0"/>
              </a:rPr>
              <a:t>		</a:t>
            </a:r>
            <a:r>
              <a:rPr lang="en-US" b="1" dirty="0">
                <a:sym typeface="Symbol" pitchFamily="18" charset="2"/>
              </a:rPr>
              <a:t> </a:t>
            </a:r>
            <a:r>
              <a:rPr lang="en-US" altLang="ja-JP" b="1" dirty="0">
                <a:cs typeface="Arial" pitchFamily="34" charset="0"/>
              </a:rPr>
              <a:t>  (</a:t>
            </a:r>
            <a:r>
              <a:rPr lang="en-US" altLang="ja-JP" b="1" i="1" dirty="0">
                <a:cs typeface="Arial" pitchFamily="34" charset="0"/>
              </a:rPr>
              <a:t>¬p</a:t>
            </a:r>
            <a:r>
              <a:rPr lang="en-US" altLang="ja-JP" b="1" dirty="0">
                <a:cs typeface="Arial" pitchFamily="34" charset="0"/>
              </a:rPr>
              <a:t> </a:t>
            </a:r>
            <a:r>
              <a:rPr lang="en-US" altLang="ja-JP" b="1" dirty="0">
                <a:cs typeface="Arial" pitchFamily="34" charset="0"/>
                <a:sym typeface="Symbol" pitchFamily="18" charset="2"/>
              </a:rPr>
              <a:t></a:t>
            </a:r>
            <a:r>
              <a:rPr lang="en-US" altLang="ja-JP" b="1" i="1" dirty="0">
                <a:cs typeface="Arial" pitchFamily="34" charset="0"/>
              </a:rPr>
              <a:t>q </a:t>
            </a:r>
            <a:r>
              <a:rPr lang="en-US" altLang="ja-JP" b="1" dirty="0">
                <a:cs typeface="Arial" pitchFamily="34" charset="0"/>
              </a:rPr>
              <a:t>)</a:t>
            </a:r>
            <a:r>
              <a:rPr lang="en-US" altLang="ja-JP" b="1" dirty="0">
                <a:cs typeface="Arial" pitchFamily="34" charset="0"/>
                <a:sym typeface="Symbol" pitchFamily="18" charset="2"/>
              </a:rPr>
              <a:t></a:t>
            </a:r>
            <a:r>
              <a:rPr lang="en-US" altLang="ja-JP" b="1" i="1" dirty="0">
                <a:cs typeface="Arial" pitchFamily="34" charset="0"/>
              </a:rPr>
              <a:t>q 	  		</a:t>
            </a:r>
            <a:r>
              <a:rPr lang="en-US" altLang="ja-JP" b="1" dirty="0">
                <a:cs typeface="Arial" pitchFamily="34" charset="0"/>
              </a:rPr>
              <a:t>Identity Law </a:t>
            </a:r>
          </a:p>
          <a:p>
            <a:endParaRPr lang="en-US" altLang="ja-JP" sz="1100" b="1" dirty="0">
              <a:cs typeface="Arial" pitchFamily="34" charset="0"/>
            </a:endParaRPr>
          </a:p>
          <a:p>
            <a:r>
              <a:rPr lang="en-US" altLang="ja-JP" b="1" i="1" dirty="0">
                <a:cs typeface="Arial" pitchFamily="34" charset="0"/>
              </a:rPr>
              <a:t>		</a:t>
            </a:r>
            <a:r>
              <a:rPr lang="en-US" b="1" dirty="0">
                <a:sym typeface="Symbol" pitchFamily="18" charset="2"/>
              </a:rPr>
              <a:t> </a:t>
            </a:r>
            <a:r>
              <a:rPr lang="en-US" altLang="ja-JP" b="1" dirty="0">
                <a:cs typeface="Arial" pitchFamily="34" charset="0"/>
              </a:rPr>
              <a:t>  </a:t>
            </a:r>
            <a:r>
              <a:rPr lang="en-US" altLang="ja-JP" b="1" i="1" dirty="0">
                <a:cs typeface="Arial" pitchFamily="34" charset="0"/>
              </a:rPr>
              <a:t>¬</a:t>
            </a:r>
            <a:r>
              <a:rPr lang="en-US" altLang="ja-JP" b="1" dirty="0">
                <a:cs typeface="Arial" pitchFamily="34" charset="0"/>
              </a:rPr>
              <a:t> (</a:t>
            </a:r>
            <a:r>
              <a:rPr lang="en-US" altLang="ja-JP" b="1" i="1" dirty="0">
                <a:cs typeface="Arial" pitchFamily="34" charset="0"/>
              </a:rPr>
              <a:t>¬p</a:t>
            </a:r>
            <a:r>
              <a:rPr lang="en-US" altLang="ja-JP" b="1" dirty="0">
                <a:cs typeface="Arial" pitchFamily="34" charset="0"/>
              </a:rPr>
              <a:t> </a:t>
            </a:r>
            <a:r>
              <a:rPr lang="en-US" altLang="ja-JP" b="1" dirty="0">
                <a:cs typeface="Arial" pitchFamily="34" charset="0"/>
                <a:sym typeface="Symbol" pitchFamily="18" charset="2"/>
              </a:rPr>
              <a:t></a:t>
            </a:r>
            <a:r>
              <a:rPr lang="en-US" altLang="ja-JP" b="1" i="1" dirty="0">
                <a:cs typeface="Arial" pitchFamily="34" charset="0"/>
              </a:rPr>
              <a:t>q </a:t>
            </a:r>
            <a:r>
              <a:rPr lang="en-US" altLang="ja-JP" b="1" dirty="0">
                <a:cs typeface="Arial" pitchFamily="34" charset="0"/>
              </a:rPr>
              <a:t>) </a:t>
            </a:r>
            <a:r>
              <a:rPr lang="en-US" altLang="ja-JP" b="1" dirty="0">
                <a:cs typeface="Arial" pitchFamily="34" charset="0"/>
                <a:sym typeface="Symbol" pitchFamily="18" charset="2"/>
              </a:rPr>
              <a:t></a:t>
            </a:r>
            <a:r>
              <a:rPr lang="en-US" altLang="ja-JP" b="1" dirty="0">
                <a:cs typeface="Arial" pitchFamily="34" charset="0"/>
              </a:rPr>
              <a:t> </a:t>
            </a:r>
            <a:r>
              <a:rPr lang="en-US" altLang="ja-JP" b="1" i="1" dirty="0">
                <a:cs typeface="Arial" pitchFamily="34" charset="0"/>
              </a:rPr>
              <a:t>q 	  	  	</a:t>
            </a:r>
            <a:r>
              <a:rPr lang="en-US" altLang="ja-JP" b="1" dirty="0">
                <a:cs typeface="Arial" pitchFamily="34" charset="0"/>
              </a:rPr>
              <a:t>ULE</a:t>
            </a:r>
          </a:p>
          <a:p>
            <a:endParaRPr lang="en-US" altLang="ja-JP" sz="1100" b="1" dirty="0">
              <a:cs typeface="Arial" pitchFamily="34" charset="0"/>
            </a:endParaRPr>
          </a:p>
          <a:p>
            <a:r>
              <a:rPr lang="en-US" altLang="ja-JP" b="1" i="1" dirty="0">
                <a:cs typeface="Arial" pitchFamily="34" charset="0"/>
              </a:rPr>
              <a:t>		</a:t>
            </a:r>
            <a:r>
              <a:rPr lang="en-US" b="1" dirty="0">
                <a:sym typeface="Symbol" pitchFamily="18" charset="2"/>
              </a:rPr>
              <a:t> </a:t>
            </a:r>
            <a:r>
              <a:rPr lang="en-US" altLang="ja-JP" b="1" dirty="0">
                <a:cs typeface="Arial" pitchFamily="34" charset="0"/>
              </a:rPr>
              <a:t>  (</a:t>
            </a:r>
            <a:r>
              <a:rPr lang="en-US" altLang="ja-JP" b="1" i="1" dirty="0">
                <a:cs typeface="Arial" pitchFamily="34" charset="0"/>
              </a:rPr>
              <a:t>¬</a:t>
            </a:r>
            <a:r>
              <a:rPr lang="en-US" altLang="ja-JP" b="1" dirty="0">
                <a:cs typeface="Arial" pitchFamily="34" charset="0"/>
              </a:rPr>
              <a:t>(</a:t>
            </a:r>
            <a:r>
              <a:rPr lang="en-US" altLang="ja-JP" b="1" i="1" dirty="0">
                <a:cs typeface="Arial" pitchFamily="34" charset="0"/>
              </a:rPr>
              <a:t>¬p</a:t>
            </a:r>
            <a:r>
              <a:rPr lang="en-US" altLang="ja-JP" b="1" dirty="0">
                <a:cs typeface="Arial" pitchFamily="34" charset="0"/>
              </a:rPr>
              <a:t>)</a:t>
            </a:r>
            <a:r>
              <a:rPr lang="en-US" altLang="ja-JP" b="1" dirty="0">
                <a:cs typeface="Arial" pitchFamily="34" charset="0"/>
                <a:sym typeface="Symbol" pitchFamily="18" charset="2"/>
              </a:rPr>
              <a:t></a:t>
            </a:r>
            <a:r>
              <a:rPr lang="en-US" altLang="ja-JP" b="1" dirty="0">
                <a:cs typeface="Arial" pitchFamily="34" charset="0"/>
              </a:rPr>
              <a:t> </a:t>
            </a:r>
            <a:r>
              <a:rPr lang="en-US" altLang="ja-JP" b="1" i="1" dirty="0">
                <a:cs typeface="Arial" pitchFamily="34" charset="0"/>
              </a:rPr>
              <a:t>¬q </a:t>
            </a:r>
            <a:r>
              <a:rPr lang="en-US" altLang="ja-JP" b="1" dirty="0">
                <a:cs typeface="Arial" pitchFamily="34" charset="0"/>
              </a:rPr>
              <a:t>) </a:t>
            </a:r>
            <a:r>
              <a:rPr lang="en-US" altLang="ja-JP" b="1" dirty="0">
                <a:cs typeface="Arial" pitchFamily="34" charset="0"/>
                <a:sym typeface="Symbol" pitchFamily="18" charset="2"/>
              </a:rPr>
              <a:t></a:t>
            </a:r>
            <a:r>
              <a:rPr lang="en-US" altLang="ja-JP" b="1" dirty="0">
                <a:cs typeface="Arial" pitchFamily="34" charset="0"/>
              </a:rPr>
              <a:t> </a:t>
            </a:r>
            <a:r>
              <a:rPr lang="en-US" altLang="ja-JP" b="1" i="1" dirty="0">
                <a:cs typeface="Arial" pitchFamily="34" charset="0"/>
              </a:rPr>
              <a:t>q 	  		</a:t>
            </a:r>
            <a:r>
              <a:rPr lang="en-US" altLang="ja-JP" b="1" dirty="0">
                <a:cs typeface="Arial" pitchFamily="34" charset="0"/>
              </a:rPr>
              <a:t>De Morgan’s Law </a:t>
            </a:r>
          </a:p>
          <a:p>
            <a:endParaRPr lang="en-US" altLang="ja-JP" sz="1100" b="1" i="1" dirty="0">
              <a:cs typeface="Arial" pitchFamily="34" charset="0"/>
            </a:endParaRPr>
          </a:p>
          <a:p>
            <a:r>
              <a:rPr lang="en-US" altLang="ja-JP" b="1" i="1" dirty="0">
                <a:cs typeface="Arial" pitchFamily="34" charset="0"/>
              </a:rPr>
              <a:t>		</a:t>
            </a:r>
            <a:r>
              <a:rPr lang="en-US" b="1" dirty="0">
                <a:sym typeface="Symbol" pitchFamily="18" charset="2"/>
              </a:rPr>
              <a:t> </a:t>
            </a:r>
            <a:r>
              <a:rPr lang="en-US" altLang="ja-JP" b="1" dirty="0">
                <a:cs typeface="Arial" pitchFamily="34" charset="0"/>
              </a:rPr>
              <a:t>  ( </a:t>
            </a:r>
            <a:r>
              <a:rPr lang="en-US" altLang="ja-JP" b="1" i="1" dirty="0">
                <a:cs typeface="Arial" pitchFamily="34" charset="0"/>
              </a:rPr>
              <a:t>p </a:t>
            </a:r>
            <a:r>
              <a:rPr lang="en-US" altLang="ja-JP" b="1" dirty="0">
                <a:cs typeface="Arial" pitchFamily="34" charset="0"/>
                <a:sym typeface="Symbol" pitchFamily="18" charset="2"/>
              </a:rPr>
              <a:t></a:t>
            </a:r>
            <a:r>
              <a:rPr lang="en-US" altLang="ja-JP" b="1" dirty="0">
                <a:cs typeface="Arial" pitchFamily="34" charset="0"/>
              </a:rPr>
              <a:t> </a:t>
            </a:r>
            <a:r>
              <a:rPr lang="en-US" altLang="ja-JP" b="1" i="1" dirty="0">
                <a:cs typeface="Arial" pitchFamily="34" charset="0"/>
              </a:rPr>
              <a:t>¬q )</a:t>
            </a:r>
            <a:r>
              <a:rPr lang="en-US" altLang="ja-JP" b="1" dirty="0">
                <a:cs typeface="Arial" pitchFamily="34" charset="0"/>
              </a:rPr>
              <a:t> </a:t>
            </a:r>
            <a:r>
              <a:rPr lang="en-US" altLang="ja-JP" b="1" dirty="0">
                <a:cs typeface="Arial" pitchFamily="34" charset="0"/>
                <a:sym typeface="Symbol" pitchFamily="18" charset="2"/>
              </a:rPr>
              <a:t></a:t>
            </a:r>
            <a:r>
              <a:rPr lang="en-US" altLang="ja-JP" b="1" dirty="0">
                <a:cs typeface="Arial" pitchFamily="34" charset="0"/>
              </a:rPr>
              <a:t> </a:t>
            </a:r>
            <a:r>
              <a:rPr lang="en-US" altLang="ja-JP" b="1" i="1" dirty="0">
                <a:cs typeface="Arial" pitchFamily="34" charset="0"/>
              </a:rPr>
              <a:t>q 	  		</a:t>
            </a:r>
            <a:r>
              <a:rPr lang="en-US" altLang="ja-JP" b="1" dirty="0">
                <a:cs typeface="Arial" pitchFamily="34" charset="0"/>
              </a:rPr>
              <a:t>Double Negation Law </a:t>
            </a:r>
          </a:p>
          <a:p>
            <a:endParaRPr lang="en-US" altLang="ja-JP" sz="1100" b="1" i="1" dirty="0">
              <a:cs typeface="Arial" pitchFamily="34" charset="0"/>
            </a:endParaRPr>
          </a:p>
          <a:p>
            <a:r>
              <a:rPr lang="en-US" altLang="ja-JP" b="1" i="1" dirty="0">
                <a:cs typeface="Arial" pitchFamily="34" charset="0"/>
              </a:rPr>
              <a:t>		</a:t>
            </a:r>
            <a:r>
              <a:rPr lang="en-US" b="1" dirty="0">
                <a:sym typeface="Symbol" pitchFamily="18" charset="2"/>
              </a:rPr>
              <a:t>  </a:t>
            </a:r>
            <a:r>
              <a:rPr lang="en-US" altLang="ja-JP" b="1" dirty="0">
                <a:cs typeface="Arial" pitchFamily="34" charset="0"/>
              </a:rPr>
              <a:t> </a:t>
            </a:r>
            <a:r>
              <a:rPr lang="en-US" altLang="ja-JP" b="1" i="1" dirty="0">
                <a:cs typeface="Arial" pitchFamily="34" charset="0"/>
              </a:rPr>
              <a:t>p </a:t>
            </a:r>
            <a:r>
              <a:rPr lang="en-US" altLang="ja-JP" b="1" dirty="0">
                <a:cs typeface="Arial" pitchFamily="34" charset="0"/>
                <a:sym typeface="Symbol" pitchFamily="18" charset="2"/>
              </a:rPr>
              <a:t></a:t>
            </a:r>
            <a:r>
              <a:rPr lang="en-US" altLang="ja-JP" b="1" dirty="0">
                <a:cs typeface="Arial" pitchFamily="34" charset="0"/>
              </a:rPr>
              <a:t> (</a:t>
            </a:r>
            <a:r>
              <a:rPr lang="en-US" altLang="ja-JP" b="1" i="1" dirty="0">
                <a:cs typeface="Arial" pitchFamily="34" charset="0"/>
              </a:rPr>
              <a:t>¬q </a:t>
            </a:r>
            <a:r>
              <a:rPr lang="en-US" altLang="ja-JP" b="1" dirty="0">
                <a:cs typeface="Arial" pitchFamily="34" charset="0"/>
                <a:sym typeface="Symbol" pitchFamily="18" charset="2"/>
              </a:rPr>
              <a:t></a:t>
            </a:r>
            <a:r>
              <a:rPr lang="en-US" altLang="ja-JP" b="1" i="1" dirty="0">
                <a:cs typeface="Arial" pitchFamily="34" charset="0"/>
              </a:rPr>
              <a:t>q </a:t>
            </a:r>
            <a:r>
              <a:rPr lang="en-US" altLang="ja-JP" b="1" dirty="0">
                <a:cs typeface="Arial" pitchFamily="34" charset="0"/>
              </a:rPr>
              <a:t>)</a:t>
            </a:r>
            <a:r>
              <a:rPr lang="en-US" altLang="ja-JP" b="1" i="1" dirty="0">
                <a:cs typeface="Arial" pitchFamily="34" charset="0"/>
              </a:rPr>
              <a:t>	  		</a:t>
            </a:r>
            <a:r>
              <a:rPr lang="en-US" altLang="ja-JP" b="1" dirty="0">
                <a:cs typeface="Arial" pitchFamily="34" charset="0"/>
              </a:rPr>
              <a:t>Associative Law </a:t>
            </a:r>
          </a:p>
          <a:p>
            <a:endParaRPr lang="en-US" altLang="ja-JP" sz="1100" b="1" i="1" dirty="0">
              <a:cs typeface="Arial" pitchFamily="34" charset="0"/>
            </a:endParaRPr>
          </a:p>
          <a:p>
            <a:r>
              <a:rPr lang="en-US" altLang="ja-JP" b="1" i="1" dirty="0">
                <a:cs typeface="Arial" pitchFamily="34" charset="0"/>
              </a:rPr>
              <a:t>		</a:t>
            </a:r>
            <a:r>
              <a:rPr lang="en-US" b="1" dirty="0">
                <a:sym typeface="Symbol" pitchFamily="18" charset="2"/>
              </a:rPr>
              <a:t>  </a:t>
            </a:r>
            <a:r>
              <a:rPr lang="en-US" altLang="ja-JP" b="1" dirty="0">
                <a:cs typeface="Arial" pitchFamily="34" charset="0"/>
              </a:rPr>
              <a:t> </a:t>
            </a:r>
            <a:r>
              <a:rPr lang="en-US" altLang="ja-JP" b="1" i="1" dirty="0">
                <a:cs typeface="Arial" pitchFamily="34" charset="0"/>
              </a:rPr>
              <a:t>p </a:t>
            </a:r>
            <a:r>
              <a:rPr lang="en-US" altLang="ja-JP" b="1" dirty="0">
                <a:cs typeface="Arial" pitchFamily="34" charset="0"/>
                <a:sym typeface="Symbol" pitchFamily="18" charset="2"/>
              </a:rPr>
              <a:t></a:t>
            </a:r>
            <a:r>
              <a:rPr lang="en-US" altLang="ja-JP" b="1" dirty="0">
                <a:cs typeface="Arial" pitchFamily="34" charset="0"/>
              </a:rPr>
              <a:t> T	</a:t>
            </a:r>
            <a:r>
              <a:rPr lang="en-US" altLang="ja-JP" b="1" i="1" dirty="0">
                <a:cs typeface="Arial" pitchFamily="34" charset="0"/>
              </a:rPr>
              <a:t> 	  		</a:t>
            </a:r>
            <a:r>
              <a:rPr lang="en-US" altLang="ja-JP" b="1" dirty="0">
                <a:cs typeface="Arial" pitchFamily="34" charset="0"/>
              </a:rPr>
              <a:t> Domination Law </a:t>
            </a:r>
          </a:p>
          <a:p>
            <a:r>
              <a:rPr lang="en-US" altLang="ja-JP" b="1" i="1" dirty="0">
                <a:cs typeface="Arial" pitchFamily="34" charset="0"/>
              </a:rPr>
              <a:t>		</a:t>
            </a:r>
            <a:r>
              <a:rPr lang="en-US" b="1" dirty="0">
                <a:sym typeface="Symbol" pitchFamily="18" charset="2"/>
              </a:rPr>
              <a:t> </a:t>
            </a:r>
            <a:r>
              <a:rPr lang="en-US" altLang="ja-JP" b="1" dirty="0">
                <a:cs typeface="Arial" pitchFamily="34" charset="0"/>
              </a:rPr>
              <a:t>  T	</a:t>
            </a:r>
            <a:r>
              <a:rPr lang="en-US" altLang="ja-JP" b="1" i="1" dirty="0">
                <a:cs typeface="Arial" pitchFamily="34" charset="0"/>
              </a:rPr>
              <a:t> </a:t>
            </a:r>
            <a:r>
              <a:rPr lang="en-US" altLang="ja-JP" b="1" dirty="0">
                <a:solidFill>
                  <a:srgbClr val="FF0000"/>
                </a:solidFill>
                <a:cs typeface="Arial" pitchFamily="34" charset="0"/>
              </a:rPr>
              <a:t>So, (</a:t>
            </a:r>
            <a:r>
              <a:rPr lang="en-US" altLang="ja-JP" b="1" i="1" dirty="0">
                <a:solidFill>
                  <a:srgbClr val="FF0000"/>
                </a:solidFill>
                <a:cs typeface="Arial" pitchFamily="34" charset="0"/>
              </a:rPr>
              <a:t>¬p</a:t>
            </a:r>
            <a:r>
              <a:rPr lang="en-US" altLang="ja-JP" b="1" dirty="0">
                <a:solidFill>
                  <a:srgbClr val="FF0000"/>
                </a:solidFill>
                <a:cs typeface="Arial" pitchFamily="34" charset="0"/>
              </a:rPr>
              <a:t> </a:t>
            </a:r>
            <a:r>
              <a:rPr lang="en-US" altLang="ja-JP" b="1" dirty="0">
                <a:solidFill>
                  <a:srgbClr val="FF0000"/>
                </a:solidFill>
                <a:cs typeface="Arial" pitchFamily="34" charset="0"/>
                <a:sym typeface="Symbol" pitchFamily="18" charset="2"/>
              </a:rPr>
              <a:t></a:t>
            </a:r>
            <a:r>
              <a:rPr lang="en-US" altLang="ja-JP" b="1" dirty="0">
                <a:solidFill>
                  <a:srgbClr val="FF0000"/>
                </a:solidFill>
                <a:cs typeface="Arial" pitchFamily="34" charset="0"/>
              </a:rPr>
              <a:t>(</a:t>
            </a:r>
            <a:r>
              <a:rPr lang="en-US" altLang="ja-JP" b="1" i="1" dirty="0">
                <a:solidFill>
                  <a:srgbClr val="FF0000"/>
                </a:solidFill>
                <a:cs typeface="Arial" pitchFamily="34" charset="0"/>
              </a:rPr>
              <a:t>p </a:t>
            </a:r>
            <a:r>
              <a:rPr lang="en-US" altLang="ja-JP" b="1" dirty="0">
                <a:solidFill>
                  <a:srgbClr val="FF0000"/>
                </a:solidFill>
                <a:cs typeface="Arial" pitchFamily="34" charset="0"/>
                <a:sym typeface="Symbol" pitchFamily="18" charset="2"/>
              </a:rPr>
              <a:t></a:t>
            </a:r>
            <a:r>
              <a:rPr lang="en-US" altLang="ja-JP" b="1" i="1" dirty="0">
                <a:solidFill>
                  <a:srgbClr val="FF0000"/>
                </a:solidFill>
                <a:cs typeface="Arial" pitchFamily="34" charset="0"/>
              </a:rPr>
              <a:t>q </a:t>
            </a:r>
            <a:r>
              <a:rPr lang="en-US" altLang="ja-JP" b="1" dirty="0">
                <a:solidFill>
                  <a:srgbClr val="FF0000"/>
                </a:solidFill>
                <a:cs typeface="Arial" pitchFamily="34" charset="0"/>
              </a:rPr>
              <a:t>))</a:t>
            </a:r>
            <a:r>
              <a:rPr lang="en-US" altLang="ja-JP" b="1" dirty="0">
                <a:solidFill>
                  <a:srgbClr val="FF0000"/>
                </a:solidFill>
                <a:cs typeface="Arial" pitchFamily="34" charset="0"/>
                <a:sym typeface="Symbol" pitchFamily="18" charset="2"/>
              </a:rPr>
              <a:t></a:t>
            </a:r>
            <a:r>
              <a:rPr lang="en-US" altLang="ja-JP" b="1" i="1" dirty="0">
                <a:solidFill>
                  <a:srgbClr val="FF0000"/>
                </a:solidFill>
                <a:cs typeface="Arial" pitchFamily="34" charset="0"/>
              </a:rPr>
              <a:t>q  </a:t>
            </a:r>
            <a:r>
              <a:rPr lang="en-US" altLang="ja-JP" b="1" dirty="0">
                <a:solidFill>
                  <a:srgbClr val="FF0000"/>
                </a:solidFill>
                <a:cs typeface="Arial" pitchFamily="34" charset="0"/>
              </a:rPr>
              <a:t>is a tautology. </a:t>
            </a:r>
          </a:p>
          <a:p>
            <a:r>
              <a:rPr lang="en-US" altLang="ja-JP" b="1" i="1" dirty="0">
                <a:cs typeface="Arial" pitchFamily="34" charset="0"/>
              </a:rPr>
              <a:t>		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ja-JP" sz="4000" b="1" dirty="0">
                <a:latin typeface="+mn-lt"/>
              </a:rPr>
              <a:t>Practice</a:t>
            </a:r>
            <a:endParaRPr lang="en-US" sz="4000" dirty="0"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90711" y="2114939"/>
            <a:ext cx="833077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defRPr/>
            </a:pPr>
            <a:r>
              <a:rPr lang="en-US" altLang="ja-JP" sz="2800" b="1" dirty="0"/>
              <a:t>Show that  </a:t>
            </a:r>
            <a:r>
              <a:rPr 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(</a:t>
            </a:r>
            <a:r>
              <a:rPr lang="en-US" sz="2800" b="1" i="1" dirty="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¬q</a:t>
            </a:r>
            <a:r>
              <a:rPr 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itchFamily="2" charset="2"/>
              </a:rPr>
              <a:t></a:t>
            </a:r>
            <a:r>
              <a:rPr 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(</a:t>
            </a:r>
            <a:r>
              <a:rPr lang="en-US" sz="2800" b="1" i="1" dirty="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p </a:t>
            </a:r>
            <a:r>
              <a:rPr 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itchFamily="2" charset="2"/>
              </a:rPr>
              <a:t></a:t>
            </a:r>
            <a:r>
              <a:rPr lang="en-US" sz="2800" b="1" i="1" dirty="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q</a:t>
            </a:r>
            <a:r>
              <a:rPr 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)) </a:t>
            </a:r>
            <a:r>
              <a:rPr 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itchFamily="2" charset="2"/>
              </a:rPr>
              <a:t></a:t>
            </a:r>
            <a:r>
              <a:rPr 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b="1" i="1" dirty="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¬p</a:t>
            </a:r>
            <a:r>
              <a:rPr lang="en-US" sz="2800" dirty="0">
                <a:solidFill>
                  <a:srgbClr val="0000FF"/>
                </a:solidFill>
              </a:rPr>
              <a:t>  </a:t>
            </a:r>
            <a:r>
              <a:rPr lang="en-US" altLang="ja-JP" sz="2800" b="1" dirty="0"/>
              <a:t>is a </a:t>
            </a:r>
            <a:r>
              <a:rPr lang="en-US" altLang="ja-JP" sz="2800" b="1" dirty="0">
                <a:solidFill>
                  <a:srgbClr val="0000FF"/>
                </a:solidFill>
              </a:rPr>
              <a:t>tautology</a:t>
            </a:r>
            <a:r>
              <a:rPr lang="en-US" altLang="ja-JP" sz="2800" b="1" dirty="0"/>
              <a:t> using a </a:t>
            </a:r>
          </a:p>
          <a:p>
            <a:pPr marL="274320" indent="-274320">
              <a:defRPr/>
            </a:pPr>
            <a:r>
              <a:rPr lang="en-US" altLang="ja-JP" sz="2800" b="1" dirty="0"/>
              <a:t>series of logical equivalences. </a:t>
            </a:r>
          </a:p>
        </p:txBody>
      </p:sp>
    </p:spTree>
    <p:extLst>
      <p:ext uri="{BB962C8B-B14F-4D97-AF65-F5344CB8AC3E}">
        <p14:creationId xmlns:p14="http://schemas.microsoft.com/office/powerpoint/2010/main" val="14180211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179" y="2142814"/>
            <a:ext cx="8925637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zh-TW" sz="2000" dirty="0">
                <a:solidFill>
                  <a:srgbClr val="FF0000"/>
                </a:solidFill>
              </a:rPr>
              <a:t>What is Tautology and Contradiction? What is Contingency? 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zh-TW" sz="2000" dirty="0">
                <a:solidFill>
                  <a:srgbClr val="FF0000"/>
                </a:solidFill>
              </a:rPr>
              <a:t>How to show/determine whether two compound propositions are logically equivalent?</a:t>
            </a:r>
          </a:p>
          <a:p>
            <a:pPr marL="731520" lvl="2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zh-TW" sz="2000" dirty="0"/>
              <a:t>Using a </a:t>
            </a:r>
            <a:r>
              <a:rPr lang="en-US" altLang="zh-TW" sz="2000" dirty="0">
                <a:solidFill>
                  <a:srgbClr val="0000FF"/>
                </a:solidFill>
              </a:rPr>
              <a:t>truth table </a:t>
            </a:r>
          </a:p>
          <a:p>
            <a:pPr marL="731520" lvl="2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zh-TW" sz="2000" dirty="0"/>
              <a:t>Using  </a:t>
            </a:r>
            <a:r>
              <a:rPr lang="en-US" altLang="zh-TW" sz="2000" dirty="0">
                <a:solidFill>
                  <a:srgbClr val="0000FF"/>
                </a:solidFill>
              </a:rPr>
              <a:t>logical equivalences</a:t>
            </a:r>
            <a:endParaRPr lang="en-US" altLang="zh-TW" sz="2000" dirty="0"/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zh-TW" sz="2000" dirty="0">
                <a:solidFill>
                  <a:srgbClr val="FF0000"/>
                </a:solidFill>
              </a:rPr>
              <a:t>How to show whether a compound proposition is a tautology?</a:t>
            </a:r>
            <a:endParaRPr lang="en-US" altLang="zh-TW" sz="2000" b="1" dirty="0">
              <a:solidFill>
                <a:srgbClr val="FF0000"/>
              </a:solidFill>
            </a:endParaRPr>
          </a:p>
          <a:p>
            <a:pPr marL="731520" lvl="2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zh-TW" sz="2000" dirty="0"/>
              <a:t>Using a </a:t>
            </a:r>
            <a:r>
              <a:rPr lang="en-US" altLang="zh-TW" sz="2000" dirty="0">
                <a:solidFill>
                  <a:srgbClr val="0000FF"/>
                </a:solidFill>
              </a:rPr>
              <a:t>truth table </a:t>
            </a:r>
          </a:p>
          <a:p>
            <a:pPr marL="731520" lvl="2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zh-TW" sz="2000" dirty="0"/>
              <a:t>Using </a:t>
            </a:r>
            <a:r>
              <a:rPr lang="en-US" altLang="zh-TW" sz="2000" dirty="0">
                <a:solidFill>
                  <a:srgbClr val="0000FF"/>
                </a:solidFill>
              </a:rPr>
              <a:t>logical equivalences</a:t>
            </a:r>
            <a:endParaRPr lang="en-US" altLang="zh-TW" sz="2000" dirty="0"/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zh-TW" sz="2000" b="1" u="sng" dirty="0">
                <a:solidFill>
                  <a:srgbClr val="FF0000"/>
                </a:solidFill>
              </a:rPr>
              <a:t>Note</a:t>
            </a:r>
            <a:r>
              <a:rPr lang="en-US" altLang="zh-TW" sz="2000" dirty="0"/>
              <a:t>: </a:t>
            </a:r>
            <a:r>
              <a:rPr lang="en-US" altLang="zh-TW" sz="2000" b="1" dirty="0">
                <a:solidFill>
                  <a:srgbClr val="FF0000"/>
                </a:solidFill>
              </a:rPr>
              <a:t>Make sure you learn the important Logical Equivalences in Table 6 (page 24)</a:t>
            </a:r>
            <a:r>
              <a:rPr lang="en-US" altLang="zh-TW" sz="2000" b="1" dirty="0">
                <a:solidFill>
                  <a:srgbClr val="C00000"/>
                </a:solidFill>
              </a:rPr>
              <a:t> </a:t>
            </a:r>
            <a:r>
              <a:rPr lang="en-US" altLang="zh-TW" sz="2000" dirty="0"/>
              <a:t>&amp; </a:t>
            </a:r>
            <a:r>
              <a:rPr lang="en-US" altLang="zh-TW" sz="2000" b="1" dirty="0">
                <a:solidFill>
                  <a:srgbClr val="FF0000"/>
                </a:solidFill>
              </a:rPr>
              <a:t>ULE</a:t>
            </a:r>
            <a:r>
              <a:rPr lang="en-US" altLang="zh-TW" sz="2000" dirty="0"/>
              <a:t> (</a:t>
            </a:r>
            <a:r>
              <a:rPr kumimoji="1" lang="en-US" altLang="ja-JP" sz="2000" b="1" i="1" dirty="0">
                <a:solidFill>
                  <a:srgbClr val="0000FF"/>
                </a:solidFill>
              </a:rPr>
              <a:t> </a:t>
            </a:r>
            <a:r>
              <a:rPr kumimoji="1" lang="en-US" altLang="ja-JP" sz="2000" b="1" i="1" dirty="0">
                <a:solidFill>
                  <a:srgbClr val="FF0000"/>
                </a:solidFill>
              </a:rPr>
              <a:t>p</a:t>
            </a:r>
            <a:r>
              <a:rPr kumimoji="1" lang="en-US" altLang="ja-JP" sz="2000" b="1" dirty="0">
                <a:solidFill>
                  <a:srgbClr val="FF0000"/>
                </a:solidFill>
                <a:sym typeface="Symbol" pitchFamily="18" charset="2"/>
              </a:rPr>
              <a:t> </a:t>
            </a:r>
            <a:r>
              <a:rPr kumimoji="1" lang="en-US" altLang="ja-JP" sz="2000" b="1" dirty="0">
                <a:solidFill>
                  <a:srgbClr val="FF0000"/>
                </a:solidFill>
                <a:cs typeface="Arial" pitchFamily="34" charset="0"/>
                <a:sym typeface="Symbol" pitchFamily="18" charset="2"/>
              </a:rPr>
              <a:t></a:t>
            </a:r>
            <a:r>
              <a:rPr kumimoji="1" lang="en-US" altLang="ja-JP" sz="2000" b="1" dirty="0">
                <a:solidFill>
                  <a:srgbClr val="FF0000"/>
                </a:solidFill>
                <a:sym typeface="Symbol" pitchFamily="18" charset="2"/>
              </a:rPr>
              <a:t> </a:t>
            </a:r>
            <a:r>
              <a:rPr kumimoji="1" lang="en-US" altLang="ja-JP" sz="2000" b="1" i="1" dirty="0">
                <a:solidFill>
                  <a:srgbClr val="FF0000"/>
                </a:solidFill>
              </a:rPr>
              <a:t>q </a:t>
            </a:r>
            <a:r>
              <a:rPr lang="en-US" sz="2000" b="1" dirty="0">
                <a:solidFill>
                  <a:srgbClr val="FF0000"/>
                </a:solidFill>
                <a:sym typeface="Symbol" pitchFamily="18" charset="2"/>
              </a:rPr>
              <a:t> </a:t>
            </a:r>
            <a:r>
              <a:rPr kumimoji="1" lang="en-US" altLang="ja-JP" sz="2000" b="1" i="1" dirty="0">
                <a:solidFill>
                  <a:srgbClr val="FF0000"/>
                </a:solidFill>
              </a:rPr>
              <a:t>¬ p</a:t>
            </a:r>
            <a:r>
              <a:rPr kumimoji="1" lang="en-US" altLang="ja-JP" sz="2000" b="1" dirty="0">
                <a:solidFill>
                  <a:srgbClr val="FF0000"/>
                </a:solidFill>
                <a:sym typeface="Symbol" pitchFamily="18" charset="2"/>
              </a:rPr>
              <a:t>  </a:t>
            </a:r>
            <a:r>
              <a:rPr kumimoji="1" lang="en-US" altLang="ja-JP" sz="2000" b="1" i="1" dirty="0">
                <a:solidFill>
                  <a:srgbClr val="FF0000"/>
                </a:solidFill>
              </a:rPr>
              <a:t>q</a:t>
            </a:r>
            <a:r>
              <a:rPr lang="en-US" altLang="zh-TW" sz="2000" b="1" dirty="0">
                <a:solidFill>
                  <a:srgbClr val="FF0000"/>
                </a:solidFill>
              </a:rPr>
              <a:t> </a:t>
            </a:r>
            <a:r>
              <a:rPr lang="en-US" altLang="zh-TW" sz="2000" dirty="0"/>
              <a:t>) 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000" b="1" dirty="0">
                <a:solidFill>
                  <a:srgbClr val="0000FF"/>
                </a:solidFill>
              </a:rPr>
              <a:t>Practice @ Home</a:t>
            </a:r>
            <a:r>
              <a:rPr lang="en-US" sz="2000" dirty="0"/>
              <a:t>: </a:t>
            </a:r>
            <a:r>
              <a:rPr lang="en-US" sz="2000" b="1" dirty="0">
                <a:solidFill>
                  <a:srgbClr val="FF0000"/>
                </a:solidFill>
              </a:rPr>
              <a:t>Relevant</a:t>
            </a:r>
            <a:r>
              <a:rPr lang="en-US" sz="2000" dirty="0"/>
              <a:t> </a:t>
            </a:r>
            <a:r>
              <a:rPr lang="en-US" sz="2000" b="1" dirty="0">
                <a:solidFill>
                  <a:srgbClr val="FF0000"/>
                </a:solidFill>
              </a:rPr>
              <a:t>Odd-numbered Exercises </a:t>
            </a:r>
            <a:r>
              <a:rPr lang="en-US" sz="2000" dirty="0"/>
              <a:t> </a:t>
            </a:r>
            <a:r>
              <a:rPr lang="en-US" sz="2000" b="1" dirty="0"/>
              <a:t>(e.g. </a:t>
            </a:r>
            <a:r>
              <a:rPr lang="en-US" altLang="ja-JP" sz="2000" b="1" dirty="0"/>
              <a:t>1, 3, 7, 9, 11, 15, 17 )</a:t>
            </a:r>
            <a:endParaRPr lang="en-US" altLang="zh-TW" sz="2000" b="1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944A7F-5AE5-EC49-82AF-722C8C8F62C6}"/>
              </a:ext>
            </a:extLst>
          </p:cNvPr>
          <p:cNvSpPr txBox="1"/>
          <p:nvPr/>
        </p:nvSpPr>
        <p:spPr>
          <a:xfrm>
            <a:off x="361732" y="1802837"/>
            <a:ext cx="806480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320" lvl="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000" i="1" dirty="0"/>
              <a:t>Discrete Mathematics and its applications with combinatorics and graph theory (7</a:t>
            </a:r>
            <a:r>
              <a:rPr lang="en-US" sz="2000" i="1" baseline="30000" dirty="0"/>
              <a:t>th</a:t>
            </a:r>
            <a:r>
              <a:rPr lang="en-US" sz="2000" i="1" dirty="0"/>
              <a:t> edition) </a:t>
            </a:r>
            <a:r>
              <a:rPr lang="en-US" sz="2000" dirty="0"/>
              <a:t>by Kenneth H. Rosen [Indian Adaptation by KAMALA KRITHIVASAN], published by McGraw-Hill </a:t>
            </a:r>
          </a:p>
        </p:txBody>
      </p:sp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432072" y="1800664"/>
            <a:ext cx="817734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buFont typeface="+mj-lt"/>
              <a:buAutoNum type="arabicPeriod"/>
            </a:pPr>
            <a:r>
              <a:rPr lang="en-US" sz="2000" dirty="0"/>
              <a:t>Discrete Mathematics, </a:t>
            </a:r>
            <a:r>
              <a:rPr lang="en-US" sz="2000" i="1" dirty="0"/>
              <a:t>Richard</a:t>
            </a:r>
            <a:r>
              <a:rPr lang="en-US" sz="2000" dirty="0"/>
              <a:t> </a:t>
            </a:r>
            <a:r>
              <a:rPr lang="en-US" sz="2000" i="1" dirty="0" err="1"/>
              <a:t>Johnsonbaugh</a:t>
            </a:r>
            <a:r>
              <a:rPr lang="en-US" sz="2000" dirty="0"/>
              <a:t>, Pearson education, Inc.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000" dirty="0"/>
              <a:t>Discrete Mathematical Structures, </a:t>
            </a:r>
            <a:r>
              <a:rPr lang="en-US" sz="2000" i="1" dirty="0"/>
              <a:t>Bernard</a:t>
            </a:r>
            <a:r>
              <a:rPr lang="en-US" sz="2000" dirty="0"/>
              <a:t> </a:t>
            </a:r>
            <a:r>
              <a:rPr lang="en-US" sz="2000" i="1" dirty="0" err="1"/>
              <a:t>Kolman</a:t>
            </a:r>
            <a:r>
              <a:rPr lang="en-US" sz="2000" dirty="0"/>
              <a:t>, </a:t>
            </a:r>
            <a:r>
              <a:rPr lang="en-US" sz="2000" i="1" dirty="0"/>
              <a:t>Robert C. Busby</a:t>
            </a:r>
            <a:r>
              <a:rPr lang="en-US" sz="2000" dirty="0"/>
              <a:t>, </a:t>
            </a:r>
            <a:r>
              <a:rPr lang="en-US" sz="2000" i="1" dirty="0"/>
              <a:t>Sharon</a:t>
            </a:r>
            <a:r>
              <a:rPr lang="en-US" sz="2000" dirty="0"/>
              <a:t> </a:t>
            </a:r>
            <a:r>
              <a:rPr lang="en-US" sz="2000" i="1" dirty="0"/>
              <a:t>Ross, </a:t>
            </a:r>
            <a:r>
              <a:rPr lang="en-US" sz="2000" dirty="0"/>
              <a:t>Prentice-Hall, Inc.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000" i="1" dirty="0"/>
              <a:t>SCHAUM’S  outlines Discrete Mathematics(2</a:t>
            </a:r>
            <a:r>
              <a:rPr lang="en-US" sz="2000" i="1" baseline="30000" dirty="0"/>
              <a:t>nd</a:t>
            </a:r>
            <a:r>
              <a:rPr lang="en-US" sz="2000" i="1" dirty="0"/>
              <a:t> edition)</a:t>
            </a:r>
            <a:r>
              <a:rPr lang="en-US" sz="2000" dirty="0"/>
              <a:t>, by </a:t>
            </a:r>
            <a:r>
              <a:rPr lang="en-US" sz="2000" i="1" dirty="0"/>
              <a:t>Seymour</a:t>
            </a:r>
            <a:r>
              <a:rPr lang="en-US" sz="2000" dirty="0"/>
              <a:t> </a:t>
            </a:r>
            <a:r>
              <a:rPr lang="en-US" sz="2000" i="1" dirty="0" err="1"/>
              <a:t>Lipschutz</a:t>
            </a:r>
            <a:r>
              <a:rPr lang="en-US" sz="2000" dirty="0"/>
              <a:t>, </a:t>
            </a:r>
            <a:r>
              <a:rPr lang="en-US" sz="2000" i="1" dirty="0"/>
              <a:t>Marc</a:t>
            </a:r>
            <a:r>
              <a:rPr lang="en-US" sz="2000" dirty="0"/>
              <a:t> </a:t>
            </a:r>
            <a:r>
              <a:rPr lang="en-US" sz="2000" i="1" dirty="0"/>
              <a:t>Lipson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801</TotalTime>
  <Words>1420</Words>
  <Application>Microsoft Office PowerPoint</Application>
  <PresentationFormat>On-screen Show (4:3)</PresentationFormat>
  <Paragraphs>248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9" baseType="lpstr">
      <vt:lpstr>Arial</vt:lpstr>
      <vt:lpstr>Calibri</vt:lpstr>
      <vt:lpstr>Corbel</vt:lpstr>
      <vt:lpstr>Tahoma</vt:lpstr>
      <vt:lpstr>Times New Roman</vt:lpstr>
      <vt:lpstr>Wingdings</vt:lpstr>
      <vt:lpstr>Spectrum</vt:lpstr>
      <vt:lpstr>Propositional Equivalences</vt:lpstr>
      <vt:lpstr>Lecture Outline</vt:lpstr>
      <vt:lpstr>Objectives and Outcomes</vt:lpstr>
      <vt:lpstr>Preface</vt:lpstr>
      <vt:lpstr>Tautology</vt:lpstr>
      <vt:lpstr>Contradiction</vt:lpstr>
      <vt:lpstr>Examples of  Tautology and Contradiction</vt:lpstr>
      <vt:lpstr>Contingency</vt:lpstr>
      <vt:lpstr>How to determine whether a compound proposition is a Tautology or Contradiction?</vt:lpstr>
      <vt:lpstr>Tautology : Example </vt:lpstr>
      <vt:lpstr>Solution </vt:lpstr>
      <vt:lpstr>Solution </vt:lpstr>
      <vt:lpstr>Solution </vt:lpstr>
      <vt:lpstr>Solution </vt:lpstr>
      <vt:lpstr>Solution </vt:lpstr>
      <vt:lpstr>Class Work</vt:lpstr>
      <vt:lpstr>Logical Equivalences</vt:lpstr>
      <vt:lpstr>How to determine whether two compound propositions are logically equivalent?</vt:lpstr>
      <vt:lpstr>Using a Truth Table to determine whether two compound propositions are logically equivalent</vt:lpstr>
      <vt:lpstr>Example 1</vt:lpstr>
      <vt:lpstr>Class Work</vt:lpstr>
      <vt:lpstr>Solution</vt:lpstr>
      <vt:lpstr>Logical Equivalences  Table 6 ( page 24 )  Rosen, 7th edition</vt:lpstr>
      <vt:lpstr>A very Useful Logical Equivalence(ULE)</vt:lpstr>
      <vt:lpstr>Example 1 </vt:lpstr>
      <vt:lpstr>Example 7 (page 26) </vt:lpstr>
      <vt:lpstr>Exercise</vt:lpstr>
      <vt:lpstr>Solution </vt:lpstr>
      <vt:lpstr>Practice</vt:lpstr>
      <vt:lpstr>Summary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Dr. Ashraf Uddin</cp:lastModifiedBy>
  <cp:revision>38</cp:revision>
  <dcterms:created xsi:type="dcterms:W3CDTF">2018-12-10T17:20:29Z</dcterms:created>
  <dcterms:modified xsi:type="dcterms:W3CDTF">2023-01-28T06:54:20Z</dcterms:modified>
</cp:coreProperties>
</file>