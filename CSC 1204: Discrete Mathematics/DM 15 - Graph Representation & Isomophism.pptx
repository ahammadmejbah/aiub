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90" r:id="rId4"/>
    <p:sldId id="267" r:id="rId5"/>
    <p:sldId id="258" r:id="rId6"/>
    <p:sldId id="291" r:id="rId7"/>
    <p:sldId id="292" r:id="rId8"/>
    <p:sldId id="293" r:id="rId9"/>
    <p:sldId id="294" r:id="rId10"/>
    <p:sldId id="295" r:id="rId11"/>
    <p:sldId id="296" r:id="rId12"/>
    <p:sldId id="297" r:id="rId13"/>
    <p:sldId id="298" r:id="rId14"/>
    <p:sldId id="299" r:id="rId15"/>
    <p:sldId id="300" r:id="rId16"/>
    <p:sldId id="301" r:id="rId17"/>
    <p:sldId id="303" r:id="rId18"/>
    <p:sldId id="308" r:id="rId19"/>
    <p:sldId id="304" r:id="rId20"/>
    <p:sldId id="305" r:id="rId21"/>
    <p:sldId id="309" r:id="rId22"/>
    <p:sldId id="306" r:id="rId23"/>
    <p:sldId id="307" r:id="rId24"/>
    <p:sldId id="311" r:id="rId25"/>
    <p:sldId id="310" r:id="rId26"/>
    <p:sldId id="312" r:id="rId27"/>
    <p:sldId id="313" r:id="rId28"/>
    <p:sldId id="314" r:id="rId29"/>
    <p:sldId id="316" r:id="rId30"/>
    <p:sldId id="317" r:id="rId31"/>
    <p:sldId id="318" r:id="rId32"/>
    <p:sldId id="319" r:id="rId33"/>
    <p:sldId id="321" r:id="rId34"/>
    <p:sldId id="320" r:id="rId35"/>
    <p:sldId id="264" r:id="rId36"/>
    <p:sldId id="265" r:id="rId37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65E8905-3A9F-4DF8-BE85-8764B14DC0D4}" v="1" dt="2019-04-17T04:06:04.64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0"/>
    <p:restoredTop sz="94787"/>
  </p:normalViewPr>
  <p:slideViewPr>
    <p:cSldViewPr snapToGrid="0" snapToObjects="1">
      <p:cViewPr varScale="1">
        <p:scale>
          <a:sx n="108" d="100"/>
          <a:sy n="108" d="100"/>
        </p:scale>
        <p:origin x="1704" y="10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microsoft.com/office/2016/11/relationships/changesInfo" Target="changesInfos/changesInfo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 " userId="7df7294e-d88c-40ba-90e5-79451dd84eeb" providerId="ADAL" clId="{865E8905-3A9F-4DF8-BE85-8764B14DC0D4}"/>
    <pc:docChg chg="modSld">
      <pc:chgData name=" " userId="7df7294e-d88c-40ba-90e5-79451dd84eeb" providerId="ADAL" clId="{865E8905-3A9F-4DF8-BE85-8764B14DC0D4}" dt="2019-04-17T04:06:04.677" v="0" actId="1076"/>
      <pc:docMkLst>
        <pc:docMk/>
      </pc:docMkLst>
      <pc:sldChg chg="modSp">
        <pc:chgData name=" " userId="7df7294e-d88c-40ba-90e5-79451dd84eeb" providerId="ADAL" clId="{865E8905-3A9F-4DF8-BE85-8764B14DC0D4}" dt="2019-04-17T04:06:04.677" v="0" actId="1076"/>
        <pc:sldMkLst>
          <pc:docMk/>
          <pc:sldMk cId="3716353229" sldId="259"/>
        </pc:sldMkLst>
        <pc:spChg chg="mod">
          <ac:chgData name=" " userId="7df7294e-d88c-40ba-90e5-79451dd84eeb" providerId="ADAL" clId="{865E8905-3A9F-4DF8-BE85-8764B14DC0D4}" dt="2019-04-17T04:06:04.677" v="0" actId="1076"/>
          <ac:spMkLst>
            <pc:docMk/>
            <pc:sldMk cId="3716353229" sldId="259"/>
            <ac:spMk id="5" creationId="{00000000-0000-0000-0000-000000000000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pPr/>
              <a:t>28-Mar-23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284163" y="444728"/>
            <a:ext cx="857408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8" name="Group 16"/>
          <p:cNvGrpSpPr/>
          <p:nvPr/>
        </p:nvGrpSpPr>
        <p:grpSpPr>
          <a:xfrm>
            <a:off x="284163" y="1906542"/>
            <a:ext cx="8576373" cy="137411"/>
            <a:chOff x="284163" y="1759424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21341" y="449005"/>
            <a:ext cx="7808976" cy="1088136"/>
          </a:xfrm>
          <a:noFill/>
        </p:spPr>
        <p:txBody>
          <a:bodyPr vert="horz" lIns="91440" tIns="45720" rIns="91440" bIns="45720" rtlCol="0" anchor="b" anchorCtr="0">
            <a:normAutofit/>
          </a:bodyPr>
          <a:lstStyle>
            <a:lvl1pPr marL="0" algn="l" defTabSz="914400" rtl="0" eaLnBrk="1" latinLnBrk="0" hangingPunct="1">
              <a:lnSpc>
                <a:spcPts val="4600"/>
              </a:lnSpc>
              <a:spcBef>
                <a:spcPct val="0"/>
              </a:spcBef>
              <a:buNone/>
              <a:defRPr sz="42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76205" y="1532427"/>
            <a:ext cx="7754112" cy="484632"/>
          </a:xfr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i-FI"/>
              <a:t>Click to edit Master subtitle style</a:t>
            </a:r>
            <a:endParaRPr dirty="0"/>
          </a:p>
        </p:txBody>
      </p:sp>
      <p:sp>
        <p:nvSpPr>
          <p:cNvPr id="13" name="Rectangle 12"/>
          <p:cNvSpPr/>
          <p:nvPr/>
        </p:nvSpPr>
        <p:spPr>
          <a:xfrm>
            <a:off x="284163" y="6227064"/>
            <a:ext cx="8574087" cy="173736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26" name="Picture 2" descr="Image result for AIUB logo">
            <a:extLst>
              <a:ext uri="{FF2B5EF4-FFF2-40B4-BE49-F238E27FC236}">
                <a16:creationId xmlns:a16="http://schemas.microsoft.com/office/drawing/2014/main" id="{CF3BFD94-6180-4B73-8361-A4B02BAD1757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38596" y="459899"/>
            <a:ext cx="1419654" cy="14285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8" name="Group 7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5pPr>
              <a:defRPr/>
            </a:lvl5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pPr/>
              <a:t>28-Mar-23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/>
          <p:cNvSpPr/>
          <p:nvPr/>
        </p:nvSpPr>
        <p:spPr>
          <a:xfrm>
            <a:off x="284163" y="444728"/>
            <a:ext cx="857408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pPr/>
              <a:t>28-Mar-23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Picture Placeholder 7"/>
          <p:cNvSpPr>
            <a:spLocks noGrp="1"/>
          </p:cNvSpPr>
          <p:nvPr>
            <p:ph type="pic" sz="quarter" idx="13"/>
          </p:nvPr>
        </p:nvSpPr>
        <p:spPr>
          <a:xfrm>
            <a:off x="284162" y="2017058"/>
            <a:ext cx="8574087" cy="4377391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72420" y="1532965"/>
            <a:ext cx="7754284" cy="484094"/>
          </a:xfrm>
        </p:spPr>
        <p:txBody>
          <a:bodyPr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bg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i-FI"/>
              <a:t>Click to edit Master subtitle style</a:t>
            </a:r>
            <a:endParaRPr dirty="0"/>
          </a:p>
        </p:txBody>
      </p:sp>
      <p:grpSp>
        <p:nvGrpSpPr>
          <p:cNvPr id="7" name="Group 16"/>
          <p:cNvGrpSpPr/>
          <p:nvPr/>
        </p:nvGrpSpPr>
        <p:grpSpPr>
          <a:xfrm>
            <a:off x="284163" y="1906542"/>
            <a:ext cx="8576373" cy="137411"/>
            <a:chOff x="284163" y="1759424"/>
            <a:chExt cx="8576373" cy="137411"/>
          </a:xfrm>
        </p:grpSpPr>
        <p:sp>
          <p:nvSpPr>
            <p:cNvPr id="11" name="Rectangle 10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3" name="Rectangle 12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19" name="TextBox 18"/>
          <p:cNvSpPr txBox="1"/>
          <p:nvPr/>
        </p:nvSpPr>
        <p:spPr>
          <a:xfrm>
            <a:off x="8230889" y="444728"/>
            <a:ext cx="58702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sz="3600">
                <a:solidFill>
                  <a:schemeClr val="bg1"/>
                </a:solidFill>
                <a:sym typeface="Wingdings"/>
              </a:rPr>
              <a:t></a:t>
            </a:r>
            <a:endParaRPr sz="3600">
              <a:solidFill>
                <a:schemeClr val="bg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18633" y="444728"/>
            <a:ext cx="7810967" cy="1088237"/>
          </a:xfrm>
          <a:noFill/>
        </p:spPr>
        <p:txBody>
          <a:bodyPr bIns="45720" anchor="b" anchorCtr="0">
            <a:normAutofit/>
          </a:bodyPr>
          <a:lstStyle>
            <a:lvl1pPr algn="l">
              <a:lnSpc>
                <a:spcPts val="4600"/>
              </a:lnSpc>
              <a:defRPr/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284163" y="4801575"/>
            <a:ext cx="857408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9" name="Group 8"/>
          <p:cNvGrpSpPr/>
          <p:nvPr/>
        </p:nvGrpSpPr>
        <p:grpSpPr>
          <a:xfrm>
            <a:off x="284163" y="6263389"/>
            <a:ext cx="8576373" cy="137411"/>
            <a:chOff x="284163" y="1759424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13" name="TextBox 12"/>
          <p:cNvSpPr txBox="1"/>
          <p:nvPr/>
        </p:nvSpPr>
        <p:spPr>
          <a:xfrm>
            <a:off x="8230889" y="4801575"/>
            <a:ext cx="58702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sz="3600">
                <a:solidFill>
                  <a:schemeClr val="bg1"/>
                </a:solidFill>
                <a:sym typeface="Wingdings"/>
              </a:rPr>
              <a:t></a:t>
            </a:r>
            <a:endParaRPr sz="3600">
              <a:solidFill>
                <a:schemeClr val="bg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9768" y="4814125"/>
            <a:ext cx="7772400" cy="1051560"/>
          </a:xfrm>
          <a:noFill/>
        </p:spPr>
        <p:txBody>
          <a:bodyPr vert="horz" lIns="91440" tIns="45720" rIns="91440" bIns="45720" rtlCol="0" anchor="b" anchorCtr="0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4200" b="0" i="0" kern="1200" cap="none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5488" y="5861304"/>
            <a:ext cx="7735824" cy="402336"/>
          </a:xfrm>
        </p:spPr>
        <p:txBody>
          <a:bodyPr vert="horz" lIns="91440" tIns="45720" rIns="91440" bIns="45720" rtlCol="0" anchor="t" anchorCtr="0">
            <a:normAutofit/>
          </a:bodyPr>
          <a:lstStyle>
            <a:lvl1pPr marL="0" indent="0">
              <a:spcBef>
                <a:spcPts val="0"/>
              </a:spcBef>
              <a:buNone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marL="0" lvl="0" indent="0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</a:pPr>
            <a:r>
              <a:rPr lang="fi-FI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pPr/>
              <a:t>28-Mar-23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icture Placeholder 7"/>
          <p:cNvSpPr>
            <a:spLocks noGrp="1"/>
          </p:cNvSpPr>
          <p:nvPr>
            <p:ph type="pic" sz="quarter" idx="13"/>
          </p:nvPr>
        </p:nvSpPr>
        <p:spPr>
          <a:xfrm>
            <a:off x="284162" y="443754"/>
            <a:ext cx="8574087" cy="4370293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pPr/>
              <a:t>28-Mar-23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284163" y="4801575"/>
            <a:ext cx="857408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8" name="Group 7"/>
          <p:cNvGrpSpPr/>
          <p:nvPr/>
        </p:nvGrpSpPr>
        <p:grpSpPr>
          <a:xfrm>
            <a:off x="284163" y="6263389"/>
            <a:ext cx="8576373" cy="137411"/>
            <a:chOff x="284163" y="1759424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12" name="TextBox 11"/>
          <p:cNvSpPr txBox="1"/>
          <p:nvPr/>
        </p:nvSpPr>
        <p:spPr>
          <a:xfrm>
            <a:off x="8230889" y="4801575"/>
            <a:ext cx="58702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sz="3600">
                <a:solidFill>
                  <a:schemeClr val="bg1"/>
                </a:solidFill>
                <a:sym typeface="Wingdings"/>
              </a:rPr>
              <a:t></a:t>
            </a:r>
            <a:endParaRPr sz="3600">
              <a:solidFill>
                <a:schemeClr val="bg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0306" y="4814047"/>
            <a:ext cx="7772400" cy="1048871"/>
          </a:xfrm>
          <a:noFill/>
        </p:spPr>
        <p:txBody>
          <a:bodyPr anchor="b" anchorCtr="0">
            <a:normAutofit/>
          </a:bodyPr>
          <a:lstStyle>
            <a:lvl1pPr algn="l">
              <a:defRPr sz="4200" b="0" i="0" cap="none" baseline="0"/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0647" y="5862918"/>
            <a:ext cx="7732059" cy="403412"/>
          </a:xfrm>
        </p:spPr>
        <p:txBody>
          <a:bodyPr anchor="t" anchorCtr="0">
            <a:normAutofit/>
          </a:bodyPr>
          <a:lstStyle>
            <a:lvl1pPr marL="0" indent="0">
              <a:spcBef>
                <a:spcPts val="0"/>
              </a:spcBef>
              <a:buNone/>
              <a:defRPr sz="1800">
                <a:solidFill>
                  <a:schemeClr val="bg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9" name="Group 8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03412" y="2151063"/>
            <a:ext cx="3931920" cy="3975100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78188" y="2151063"/>
            <a:ext cx="3931920" cy="3975100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pPr/>
              <a:t>28-Mar-23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11" name="Group 10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12" name="Rectangle 11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3" name="Rectangle 12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4" name="Rectangle 13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03412" y="1735138"/>
            <a:ext cx="3931920" cy="833250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600"/>
              </a:spcBef>
              <a:buNone/>
              <a:defRPr sz="26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03412" y="2590800"/>
            <a:ext cx="3931920" cy="3535362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79495" y="1735138"/>
            <a:ext cx="3931920" cy="833250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600"/>
              </a:spcBef>
              <a:buNone/>
              <a:defRPr sz="26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79495" y="2590800"/>
            <a:ext cx="3931920" cy="3535362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pPr/>
              <a:t>28-Mar-23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7" name="Group 6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8" name="Rectangle 7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9" name="Rectangle 8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pPr/>
              <a:t>28-Mar-23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pPr/>
              <a:t>28-Mar-23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grpSp>
        <p:nvGrpSpPr>
          <p:cNvPr id="5" name="Group 4"/>
          <p:cNvGrpSpPr/>
          <p:nvPr/>
        </p:nvGrpSpPr>
        <p:grpSpPr>
          <a:xfrm>
            <a:off x="284164" y="452718"/>
            <a:ext cx="7365210" cy="137411"/>
            <a:chOff x="284163" y="1577847"/>
            <a:chExt cx="8576373" cy="137411"/>
          </a:xfrm>
        </p:grpSpPr>
        <p:sp>
          <p:nvSpPr>
            <p:cNvPr id="6" name="Rectangle 5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7" name="Rectangle 6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8" name="Rectangle 7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pic>
        <p:nvPicPr>
          <p:cNvPr id="2050" name="Picture 2" descr="Image result for AIUB logo">
            <a:extLst>
              <a:ext uri="{FF2B5EF4-FFF2-40B4-BE49-F238E27FC236}">
                <a16:creationId xmlns:a16="http://schemas.microsoft.com/office/drawing/2014/main" id="{C28CB252-6044-4564-B6A7-264FC3396E0A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49374" y="55844"/>
            <a:ext cx="1279161" cy="12871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8941" y="1298762"/>
            <a:ext cx="4069080" cy="1162050"/>
          </a:xfrm>
          <a:noFill/>
        </p:spPr>
        <p:txBody>
          <a:bodyPr anchor="b">
            <a:noAutofit/>
          </a:bodyPr>
          <a:lstStyle>
            <a:lvl1pPr algn="ctr">
              <a:defRPr sz="3200" b="1">
                <a:solidFill>
                  <a:schemeClr val="accent2"/>
                </a:solidFill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3567" y="914400"/>
            <a:ext cx="4069080" cy="5211763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68941" y="2456329"/>
            <a:ext cx="4069080" cy="3182472"/>
          </a:xfrm>
        </p:spPr>
        <p:txBody>
          <a:bodyPr>
            <a:normAutofit/>
          </a:bodyPr>
          <a:lstStyle>
            <a:lvl1pPr marL="0" indent="0" algn="ctr">
              <a:spcBef>
                <a:spcPts val="600"/>
              </a:spcBef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pPr/>
              <a:t>28-Mar-23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pPr/>
              <a:t>‹#›</a:t>
            </a:fld>
            <a:endParaRPr lang="en-US"/>
          </a:p>
        </p:txBody>
      </p:sp>
      <p:grpSp>
        <p:nvGrpSpPr>
          <p:cNvPr id="8" name="Group 7"/>
          <p:cNvGrpSpPr/>
          <p:nvPr/>
        </p:nvGrpSpPr>
        <p:grpSpPr>
          <a:xfrm>
            <a:off x="284163" y="452718"/>
            <a:ext cx="8576373" cy="137411"/>
            <a:chOff x="284163" y="1577847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284163" y="4801575"/>
            <a:ext cx="857408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9" name="Group 8"/>
          <p:cNvGrpSpPr/>
          <p:nvPr/>
        </p:nvGrpSpPr>
        <p:grpSpPr>
          <a:xfrm>
            <a:off x="284163" y="6263389"/>
            <a:ext cx="8576373" cy="137411"/>
            <a:chOff x="284163" y="1759424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3071" y="4800600"/>
            <a:ext cx="8360242" cy="566738"/>
          </a:xfrm>
          <a:noFill/>
        </p:spPr>
        <p:txBody>
          <a:bodyPr vert="horz" lIns="91440" tIns="45720" rIns="91440" bIns="45720" rtlCol="0" anchor="b" anchorCtr="0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2800" b="0" i="0" kern="1200" cap="none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84163" y="457199"/>
            <a:ext cx="8577072" cy="4352544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19099" y="5367338"/>
            <a:ext cx="8304213" cy="804862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pPr/>
              <a:t>28-Mar-23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, Alt.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8"/>
          <p:cNvGrpSpPr/>
          <p:nvPr/>
        </p:nvGrpSpPr>
        <p:grpSpPr>
          <a:xfrm>
            <a:off x="284163" y="4280647"/>
            <a:ext cx="8576373" cy="137411"/>
            <a:chOff x="284163" y="1759424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3071" y="4778189"/>
            <a:ext cx="8360242" cy="566738"/>
          </a:xfrm>
          <a:noFill/>
        </p:spPr>
        <p:txBody>
          <a:bodyPr anchor="b">
            <a:normAutofit/>
          </a:bodyPr>
          <a:lstStyle>
            <a:lvl1pPr algn="l">
              <a:defRPr sz="2800" b="0">
                <a:solidFill>
                  <a:schemeClr val="accent2"/>
                </a:solidFill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84163" y="457200"/>
            <a:ext cx="8577072" cy="3822192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19099" y="5344927"/>
            <a:ext cx="8304213" cy="804862"/>
          </a:xfrm>
          <a:noFill/>
        </p:spPr>
        <p:txBody>
          <a:bodyPr/>
          <a:lstStyle>
            <a:lvl1pPr marL="0" indent="0">
              <a:spcBef>
                <a:spcPts val="0"/>
              </a:spcBef>
              <a:buNone/>
              <a:defRPr sz="140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pPr/>
              <a:t>28-Mar-23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, Picture,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57600" y="914400"/>
            <a:ext cx="5195047" cy="5211763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pPr/>
              <a:t>28-Mar-23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284163" y="4267200"/>
            <a:ext cx="2743200" cy="2120153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19101" y="4953001"/>
            <a:ext cx="2472017" cy="1246094"/>
          </a:xfrm>
        </p:spPr>
        <p:txBody>
          <a:bodyPr>
            <a:normAutofit/>
          </a:bodyPr>
          <a:lstStyle>
            <a:lvl1pPr marL="0" indent="0" algn="l">
              <a:spcBef>
                <a:spcPts val="0"/>
              </a:spcBef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0764" y="4419600"/>
            <a:ext cx="2475395" cy="510988"/>
          </a:xfrm>
          <a:noFill/>
        </p:spPr>
        <p:txBody>
          <a:bodyPr anchor="b">
            <a:normAutofit/>
          </a:bodyPr>
          <a:lstStyle>
            <a:lvl1pPr algn="l">
              <a:defRPr sz="2000" b="1">
                <a:solidFill>
                  <a:schemeClr val="bg1"/>
                </a:solidFill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14" name="Picture Placeholder 13"/>
          <p:cNvSpPr>
            <a:spLocks noGrp="1"/>
          </p:cNvSpPr>
          <p:nvPr>
            <p:ph type="pic" sz="quarter" idx="13"/>
          </p:nvPr>
        </p:nvSpPr>
        <p:spPr>
          <a:xfrm>
            <a:off x="284164" y="594360"/>
            <a:ext cx="2743200" cy="3675888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grpSp>
        <p:nvGrpSpPr>
          <p:cNvPr id="8" name="Group 14"/>
          <p:cNvGrpSpPr/>
          <p:nvPr/>
        </p:nvGrpSpPr>
        <p:grpSpPr>
          <a:xfrm>
            <a:off x="284163" y="461682"/>
            <a:ext cx="8576373" cy="137411"/>
            <a:chOff x="284163" y="1759424"/>
            <a:chExt cx="8576373" cy="137411"/>
          </a:xfrm>
        </p:grpSpPr>
        <p:sp>
          <p:nvSpPr>
            <p:cNvPr id="16" name="Rectangle 15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7" name="Rectangle 16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8" name="Rectangle 17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3 Pictures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3021013" y="4801575"/>
            <a:ext cx="583723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9" name="Group 8"/>
          <p:cNvGrpSpPr/>
          <p:nvPr/>
        </p:nvGrpSpPr>
        <p:grpSpPr>
          <a:xfrm>
            <a:off x="284163" y="6263389"/>
            <a:ext cx="8576373" cy="137411"/>
            <a:chOff x="284163" y="1759424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31661" y="4800600"/>
            <a:ext cx="5691651" cy="566738"/>
          </a:xfrm>
          <a:noFill/>
        </p:spPr>
        <p:txBody>
          <a:bodyPr vert="horz" lIns="91440" tIns="45720" rIns="91440" bIns="45720" rtlCol="0" anchor="b" anchorCtr="0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2800" b="0" i="0" kern="1200" cap="none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021014" y="457199"/>
            <a:ext cx="5833872" cy="4352544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069805" y="5367338"/>
            <a:ext cx="5653507" cy="804862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pPr/>
              <a:t>28-Mar-23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3" name="Picture Placeholder 2"/>
          <p:cNvSpPr>
            <a:spLocks noGrp="1"/>
          </p:cNvSpPr>
          <p:nvPr>
            <p:ph type="pic" idx="13"/>
          </p:nvPr>
        </p:nvSpPr>
        <p:spPr>
          <a:xfrm>
            <a:off x="284164" y="457200"/>
            <a:ext cx="2736850" cy="2907792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14" name="Picture Placeholder 2"/>
          <p:cNvSpPr>
            <a:spLocks noGrp="1"/>
          </p:cNvSpPr>
          <p:nvPr>
            <p:ph type="pic" idx="14"/>
          </p:nvPr>
        </p:nvSpPr>
        <p:spPr>
          <a:xfrm>
            <a:off x="284164" y="3364992"/>
            <a:ext cx="2736850" cy="2898648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Drag picture to placeholder or click icon to add</a:t>
            </a:r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8" name="Group 7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84163" y="2133600"/>
            <a:ext cx="8574087" cy="4013200"/>
          </a:xfrm>
        </p:spPr>
        <p:txBody>
          <a:bodyPr vert="eaVert"/>
          <a:lstStyle>
            <a:lvl5pPr>
              <a:defRPr/>
            </a:lvl5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pPr/>
              <a:t>28-Mar-23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 rot="5400000">
            <a:off x="5313882" y="2857535"/>
            <a:ext cx="5934615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695124" y="473075"/>
            <a:ext cx="969264" cy="5921375"/>
          </a:xfrm>
        </p:spPr>
        <p:txBody>
          <a:bodyPr vert="eaVert"/>
          <a:lstStyle>
            <a:lvl1pPr algn="l">
              <a:defRPr sz="3400"/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84163" y="457200"/>
            <a:ext cx="6497637" cy="5937250"/>
          </a:xfrm>
        </p:spPr>
        <p:txBody>
          <a:bodyPr vert="eaVert"/>
          <a:lstStyle>
            <a:lvl5pPr algn="l">
              <a:defRPr/>
            </a:lvl5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pPr/>
              <a:t>28-Mar-23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pPr/>
              <a:t>‹#›</a:t>
            </a:fld>
            <a:endParaRPr lang="en-US"/>
          </a:p>
        </p:txBody>
      </p:sp>
      <p:grpSp>
        <p:nvGrpSpPr>
          <p:cNvPr id="8" name="Group 7"/>
          <p:cNvGrpSpPr/>
          <p:nvPr/>
        </p:nvGrpSpPr>
        <p:grpSpPr>
          <a:xfrm rot="5400000">
            <a:off x="4658724" y="3355723"/>
            <a:ext cx="5934456" cy="137411"/>
            <a:chOff x="284163" y="1577847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81503" y="2133600"/>
            <a:ext cx="7076747" cy="39925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794936" y="6437032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 b="1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fld id="{4251665B-C24A-4702-B522-6A4334602E03}" type="datetimeFigureOut">
              <a:rPr lang="en-US" smtClean="0"/>
              <a:pPr/>
              <a:t>28-Mar-23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99698" y="6437032"/>
            <a:ext cx="612490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 b="1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306459" y="167347"/>
            <a:ext cx="630621" cy="35976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00" b="1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5FD889E0-CAB2-4699-909D-B9A88D47ACBE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84163" y="630382"/>
            <a:ext cx="8574087" cy="967840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i-FI"/>
              <a:t>Click to edit Master title style</a:t>
            </a:r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r" defTabSz="914400" rtl="0" eaLnBrk="1" latinLnBrk="0" hangingPunct="1">
        <a:spcBef>
          <a:spcPct val="0"/>
        </a:spcBef>
        <a:buNone/>
        <a:defRPr sz="4200" kern="120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454025" indent="-454025" algn="l" defTabSz="914400" rtl="0" eaLnBrk="1" latinLnBrk="0" hangingPunct="1">
        <a:spcBef>
          <a:spcPts val="20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sz="2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914400" indent="-457200" algn="l" defTabSz="914400" rtl="0" eaLnBrk="1" latinLnBrk="0" hangingPunct="1">
        <a:spcBef>
          <a:spcPts val="600"/>
        </a:spcBef>
        <a:buClr>
          <a:schemeClr val="tx1">
            <a:lumMod val="75000"/>
            <a:lumOff val="25000"/>
          </a:schemeClr>
        </a:buClr>
        <a:buSzPct val="90000"/>
        <a:buFont typeface="Wingdings" pitchFamily="2" charset="2"/>
        <a:buChar char=""/>
        <a:defRPr sz="22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1260475" indent="-346075" algn="l" defTabSz="914400" rtl="0" eaLnBrk="1" latinLnBrk="0" hangingPunct="1">
        <a:spcBef>
          <a:spcPts val="6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sz="20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1600200" indent="-339725" algn="l" defTabSz="914400" rtl="0" eaLnBrk="1" latinLnBrk="0" hangingPunct="1">
        <a:spcBef>
          <a:spcPts val="600"/>
        </a:spcBef>
        <a:buClr>
          <a:schemeClr val="tx1">
            <a:lumMod val="75000"/>
            <a:lumOff val="25000"/>
          </a:schemeClr>
        </a:buClr>
        <a:buSzPct val="90000"/>
        <a:buFont typeface="Wingdings" pitchFamily="2" charset="2"/>
        <a:buChar char="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939925" indent="-331788" algn="l" defTabSz="914400" rtl="0" eaLnBrk="1" latinLnBrk="0" hangingPunct="1">
        <a:spcBef>
          <a:spcPts val="6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2290763" indent="-344488" algn="l" defTabSz="914400" rtl="0" eaLnBrk="1" latinLnBrk="0" hangingPunct="1">
        <a:spcBef>
          <a:spcPts val="600"/>
        </a:spcBef>
        <a:buClr>
          <a:schemeClr val="tx1">
            <a:lumMod val="75000"/>
            <a:lumOff val="25000"/>
          </a:schemeClr>
        </a:buClr>
        <a:buSzPct val="90000"/>
        <a:buFont typeface="Wingdings" pitchFamily="2" charset="2"/>
        <a:buChar char=""/>
        <a:defRPr lang="en-US" sz="1800" kern="1200" dirty="0" smtClean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6pPr>
      <a:lvl7pPr marL="2625725" indent="-344488" algn="l" defTabSz="914400" rtl="0" eaLnBrk="1" latinLnBrk="0" hangingPunct="1">
        <a:spcBef>
          <a:spcPts val="6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lang="en-US" sz="1800" kern="1200" dirty="0" smtClean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7pPr>
      <a:lvl8pPr marL="2970213" indent="-344488" algn="l" defTabSz="914400" rtl="0" eaLnBrk="1" latinLnBrk="0" hangingPunct="1">
        <a:spcBef>
          <a:spcPts val="600"/>
        </a:spcBef>
        <a:buClr>
          <a:schemeClr val="tx1">
            <a:lumMod val="75000"/>
            <a:lumOff val="25000"/>
          </a:schemeClr>
        </a:buClr>
        <a:buSzPct val="90000"/>
        <a:buFont typeface="Wingdings" pitchFamily="2" charset="2"/>
        <a:buChar char=""/>
        <a:defRPr lang="en-US" sz="1800" kern="1200" dirty="0" smtClean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8pPr>
      <a:lvl9pPr marL="3313113" indent="-344488" algn="l" defTabSz="914400" rtl="0" eaLnBrk="1" latinLnBrk="0" hangingPunct="1">
        <a:spcBef>
          <a:spcPts val="6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lang="en-US" sz="1800" kern="1200" dirty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9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9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e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9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emf"/><Relationship Id="rId2" Type="http://schemas.openxmlformats.org/officeDocument/2006/relationships/oleObject" Target="../embeddings/oleObject2.bin"/><Relationship Id="rId1" Type="http://schemas.openxmlformats.org/officeDocument/2006/relationships/slideLayout" Target="../slideLayouts/slideLayout9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9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9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gatevidyalay.com/graph-isomorphism/" TargetMode="External"/><Relationship Id="rId2" Type="http://schemas.openxmlformats.org/officeDocument/2006/relationships/hyperlink" Target="https://www.geeksforgeeks.org/graph-and-its-representations/" TargetMode="External"/><Relationship Id="rId1" Type="http://schemas.openxmlformats.org/officeDocument/2006/relationships/slideLayout" Target="../slideLayouts/slideLayout9.xml"/><Relationship Id="rId4" Type="http://schemas.openxmlformats.org/officeDocument/2006/relationships/hyperlink" Target="http://www.rogerfhouse.com/math-articles/graph-isomorphism.pdf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Representing Graphs and Graph Isomorphism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76205" y="1532427"/>
            <a:ext cx="2789509" cy="484632"/>
          </a:xfrm>
        </p:spPr>
        <p:txBody>
          <a:bodyPr/>
          <a:lstStyle/>
          <a:p>
            <a:r>
              <a:rPr lang="en-US" dirty="0"/>
              <a:t>Course Code: 00090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971" y="2446757"/>
            <a:ext cx="902461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Dept. of Computer Science</a:t>
            </a:r>
          </a:p>
          <a:p>
            <a:pPr algn="ctr"/>
            <a:r>
              <a:rPr lang="en-US" sz="20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Faculty of Science and Technology</a:t>
            </a:r>
            <a:endParaRPr lang="en-US" sz="2400" b="1" dirty="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29FF08AD-7519-4C4A-8E0D-640DF5BB5E5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96726126"/>
              </p:ext>
            </p:extLst>
          </p:nvPr>
        </p:nvGraphicFramePr>
        <p:xfrm>
          <a:off x="476205" y="5186042"/>
          <a:ext cx="8335798" cy="757472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1483224">
                  <a:extLst>
                    <a:ext uri="{9D8B030D-6E8A-4147-A177-3AD203B41FA5}">
                      <a16:colId xmlns:a16="http://schemas.microsoft.com/office/drawing/2014/main" val="3905988420"/>
                    </a:ext>
                  </a:extLst>
                </a:gridCol>
                <a:gridCol w="1397725">
                  <a:extLst>
                    <a:ext uri="{9D8B030D-6E8A-4147-A177-3AD203B41FA5}">
                      <a16:colId xmlns:a16="http://schemas.microsoft.com/office/drawing/2014/main" val="2889894460"/>
                    </a:ext>
                  </a:extLst>
                </a:gridCol>
                <a:gridCol w="1227909">
                  <a:extLst>
                    <a:ext uri="{9D8B030D-6E8A-4147-A177-3AD203B41FA5}">
                      <a16:colId xmlns:a16="http://schemas.microsoft.com/office/drawing/2014/main" val="3023211198"/>
                    </a:ext>
                  </a:extLst>
                </a:gridCol>
                <a:gridCol w="1541417">
                  <a:extLst>
                    <a:ext uri="{9D8B030D-6E8A-4147-A177-3AD203B41FA5}">
                      <a16:colId xmlns:a16="http://schemas.microsoft.com/office/drawing/2014/main" val="1762131981"/>
                    </a:ext>
                  </a:extLst>
                </a:gridCol>
                <a:gridCol w="1240971">
                  <a:extLst>
                    <a:ext uri="{9D8B030D-6E8A-4147-A177-3AD203B41FA5}">
                      <a16:colId xmlns:a16="http://schemas.microsoft.com/office/drawing/2014/main" val="445458238"/>
                    </a:ext>
                  </a:extLst>
                </a:gridCol>
                <a:gridCol w="1444552">
                  <a:extLst>
                    <a:ext uri="{9D8B030D-6E8A-4147-A177-3AD203B41FA5}">
                      <a16:colId xmlns:a16="http://schemas.microsoft.com/office/drawing/2014/main" val="1508364941"/>
                    </a:ext>
                  </a:extLst>
                </a:gridCol>
              </a:tblGrid>
              <a:tr h="378736">
                <a:tc>
                  <a:txBody>
                    <a:bodyPr/>
                    <a:lstStyle/>
                    <a:p>
                      <a:r>
                        <a:rPr lang="en-US" dirty="0"/>
                        <a:t>Lecturer No: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Week No: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Semester: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97040212"/>
                  </a:ext>
                </a:extLst>
              </a:tr>
              <a:tr h="37873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Lecturer:</a:t>
                      </a:r>
                    </a:p>
                  </a:txBody>
                  <a:tcPr/>
                </a:tc>
                <a:tc gridSpan="5">
                  <a:txBody>
                    <a:bodyPr/>
                    <a:lstStyle/>
                    <a:p>
                      <a:r>
                        <a:rPr lang="en-US" i="1" dirty="0"/>
                        <a:t>Name &amp; email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x-non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x-non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x-non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x-none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91734565"/>
                  </a:ext>
                </a:extLst>
              </a:tr>
            </a:tbl>
          </a:graphicData>
        </a:graphic>
      </p:graphicFrame>
      <p:sp>
        <p:nvSpPr>
          <p:cNvPr id="8" name="Subtitle 2">
            <a:extLst>
              <a:ext uri="{FF2B5EF4-FFF2-40B4-BE49-F238E27FC236}">
                <a16:creationId xmlns:a16="http://schemas.microsoft.com/office/drawing/2014/main" id="{FF0F860A-68ED-3A45-9B2E-50E8CE1BC6B7}"/>
              </a:ext>
            </a:extLst>
          </p:cNvPr>
          <p:cNvSpPr txBox="1">
            <a:spLocks/>
          </p:cNvSpPr>
          <p:nvPr/>
        </p:nvSpPr>
        <p:spPr>
          <a:xfrm>
            <a:off x="3320578" y="1538380"/>
            <a:ext cx="4164439" cy="48463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sz="2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Course Title: Discrete Mathematics</a:t>
            </a:r>
          </a:p>
        </p:txBody>
      </p:sp>
    </p:spTree>
    <p:extLst>
      <p:ext uri="{BB962C8B-B14F-4D97-AF65-F5344CB8AC3E}">
        <p14:creationId xmlns:p14="http://schemas.microsoft.com/office/powerpoint/2010/main" val="70070732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Lecture Outline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86697" y="2363927"/>
            <a:ext cx="7754112" cy="3405105"/>
          </a:xfrm>
        </p:spPr>
        <p:txBody>
          <a:bodyPr>
            <a:normAutofit/>
          </a:bodyPr>
          <a:lstStyle/>
          <a:p>
            <a:r>
              <a:rPr lang="en-US" sz="2400" dirty="0">
                <a:solidFill>
                  <a:schemeClr val="tx1"/>
                </a:solidFill>
              </a:rPr>
              <a:t>Representing Graphs and Graph Isomorphism (8.3)</a:t>
            </a:r>
          </a:p>
          <a:p>
            <a:pPr marL="342900" indent="-342900">
              <a:buClrTx/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1"/>
                </a:solidFill>
              </a:rPr>
              <a:t>Graph Representation: </a:t>
            </a:r>
          </a:p>
          <a:p>
            <a:pPr marL="342900" indent="-342900">
              <a:buClrTx/>
            </a:pPr>
            <a:r>
              <a:rPr lang="en-US" sz="2400" dirty="0">
                <a:solidFill>
                  <a:schemeClr val="tx1"/>
                </a:solidFill>
              </a:rPr>
              <a:t>	</a:t>
            </a:r>
            <a:r>
              <a:rPr lang="en-US" sz="2400" b="1" dirty="0">
                <a:solidFill>
                  <a:schemeClr val="tx1"/>
                </a:solidFill>
                <a:sym typeface="Symbol"/>
              </a:rPr>
              <a:t></a:t>
            </a:r>
            <a:r>
              <a:rPr lang="en-US" sz="2400" dirty="0">
                <a:solidFill>
                  <a:schemeClr val="tx1"/>
                </a:solidFill>
                <a:sym typeface="Symbol"/>
              </a:rPr>
              <a:t> </a:t>
            </a:r>
            <a:r>
              <a:rPr lang="en-US" sz="2400" dirty="0">
                <a:solidFill>
                  <a:schemeClr val="tx1"/>
                </a:solidFill>
              </a:rPr>
              <a:t>Adjacency lists</a:t>
            </a:r>
          </a:p>
          <a:p>
            <a:pPr marL="342900" indent="-342900">
              <a:buClrTx/>
            </a:pPr>
            <a:r>
              <a:rPr lang="en-US" sz="2400" dirty="0">
                <a:solidFill>
                  <a:schemeClr val="tx1"/>
                </a:solidFill>
              </a:rPr>
              <a:t>	</a:t>
            </a:r>
            <a:r>
              <a:rPr lang="en-US" sz="2400" b="1" dirty="0">
                <a:solidFill>
                  <a:schemeClr val="tx1"/>
                </a:solidFill>
                <a:sym typeface="Symbol"/>
              </a:rPr>
              <a:t>  </a:t>
            </a:r>
            <a:r>
              <a:rPr lang="en-US" sz="2400" dirty="0">
                <a:solidFill>
                  <a:schemeClr val="tx1"/>
                </a:solidFill>
              </a:rPr>
              <a:t>Adjacency matrices</a:t>
            </a:r>
          </a:p>
          <a:p>
            <a:pPr marL="342900" indent="-342900">
              <a:buClrTx/>
            </a:pPr>
            <a:r>
              <a:rPr lang="en-US" sz="2400" dirty="0">
                <a:solidFill>
                  <a:schemeClr val="tx1"/>
                </a:solidFill>
              </a:rPr>
              <a:t>	</a:t>
            </a:r>
            <a:r>
              <a:rPr lang="en-US" sz="2400" b="1" dirty="0">
                <a:solidFill>
                  <a:schemeClr val="tx1"/>
                </a:solidFill>
                <a:sym typeface="Symbol"/>
              </a:rPr>
              <a:t>  </a:t>
            </a:r>
            <a:r>
              <a:rPr lang="en-US" sz="2400" dirty="0">
                <a:solidFill>
                  <a:schemeClr val="tx1"/>
                </a:solidFill>
              </a:rPr>
              <a:t>Incidence matrices</a:t>
            </a:r>
          </a:p>
          <a:p>
            <a:pPr marL="342900" indent="-342900">
              <a:buClrTx/>
            </a:pPr>
            <a:endParaRPr lang="en-US" sz="2400" dirty="0">
              <a:solidFill>
                <a:schemeClr val="tx1"/>
              </a:solidFill>
            </a:endParaRPr>
          </a:p>
          <a:p>
            <a:pPr marL="342900" indent="-342900">
              <a:buClrTx/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1"/>
                </a:solidFill>
              </a:rPr>
              <a:t>Graph Isomorphism</a:t>
            </a:r>
          </a:p>
          <a:p>
            <a:pPr marL="342900" indent="-342900">
              <a:buClrTx/>
            </a:pPr>
            <a:endParaRPr lang="en-US" sz="2400" dirty="0">
              <a:solidFill>
                <a:schemeClr val="tx1"/>
              </a:solidFill>
            </a:endParaRPr>
          </a:p>
          <a:p>
            <a:pPr marL="342900" indent="-342900">
              <a:buAutoNum type="arabicPeriod"/>
            </a:pPr>
            <a:endParaRPr lang="en-US" dirty="0">
              <a:solidFill>
                <a:schemeClr val="tx1"/>
              </a:solidFill>
            </a:endParaRPr>
          </a:p>
          <a:p>
            <a:pPr marL="342900" indent="-342900">
              <a:buAutoNum type="arabicPeriod"/>
            </a:pPr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487404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Objectives and Outcomes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86697" y="2363928"/>
            <a:ext cx="7754112" cy="3009930"/>
          </a:xfrm>
        </p:spPr>
        <p:txBody>
          <a:bodyPr>
            <a:normAutofit/>
          </a:bodyPr>
          <a:lstStyle/>
          <a:p>
            <a:endParaRPr lang="en-US" sz="2400" dirty="0">
              <a:solidFill>
                <a:schemeClr val="tx1"/>
              </a:solidFill>
            </a:endParaRPr>
          </a:p>
          <a:p>
            <a:pPr marL="342900" indent="-342900">
              <a:buAutoNum type="arabicPeriod"/>
            </a:pPr>
            <a:endParaRPr lang="en-US" dirty="0">
              <a:solidFill>
                <a:schemeClr val="tx1"/>
              </a:solidFill>
            </a:endParaRPr>
          </a:p>
          <a:p>
            <a:pPr marL="342900" indent="-342900">
              <a:buAutoNum type="arabicPeriod"/>
            </a:pP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85547D47-305F-4AEC-89B1-C03FB04CC6DB}"/>
              </a:ext>
            </a:extLst>
          </p:cNvPr>
          <p:cNvSpPr txBox="1">
            <a:spLocks/>
          </p:cNvSpPr>
          <p:nvPr/>
        </p:nvSpPr>
        <p:spPr bwMode="auto">
          <a:xfrm>
            <a:off x="0" y="2028306"/>
            <a:ext cx="9143999" cy="408986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r>
              <a:rPr lang="en-US" sz="2800" u="sng" dirty="0">
                <a:solidFill>
                  <a:srgbClr val="FF0000"/>
                </a:solidFill>
              </a:rPr>
              <a:t>Objectives</a:t>
            </a:r>
            <a:r>
              <a:rPr lang="en-US" sz="2800" dirty="0">
                <a:solidFill>
                  <a:srgbClr val="FF0000"/>
                </a:solidFill>
              </a:rPr>
              <a:t>: </a:t>
            </a:r>
            <a:r>
              <a:rPr lang="en-US" sz="2800" dirty="0"/>
              <a:t>To understand three different representation of a Graph, to understand graph invariants and graph isomorphism.</a:t>
            </a:r>
          </a:p>
          <a:p>
            <a:pPr lvl="0"/>
            <a:endParaRPr lang="en-US" sz="2800" dirty="0"/>
          </a:p>
          <a:p>
            <a:r>
              <a:rPr lang="en-US" sz="2800" u="sng" dirty="0">
                <a:solidFill>
                  <a:srgbClr val="FF0000"/>
                </a:solidFill>
              </a:rPr>
              <a:t>Outcomes</a:t>
            </a:r>
            <a:r>
              <a:rPr lang="en-US" sz="2800" dirty="0">
                <a:solidFill>
                  <a:srgbClr val="FF0000"/>
                </a:solidFill>
              </a:rPr>
              <a:t>: </a:t>
            </a:r>
            <a:r>
              <a:rPr lang="en-US" sz="2800" dirty="0"/>
              <a:t> This students are expected to be able to represent a graph using adjacency list, adjacency matrix, and incidence matrix; be able to determine whether two graphs are isomorphic.</a:t>
            </a:r>
          </a:p>
          <a:p>
            <a:pPr>
              <a:buNone/>
            </a:pPr>
            <a:r>
              <a:rPr lang="en-US" sz="2800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40756039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Representing Graphs 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2590AADD-CD58-4F6F-BE3F-74565EC807EE}"/>
              </a:ext>
            </a:extLst>
          </p:cNvPr>
          <p:cNvSpPr txBox="1">
            <a:spLocks/>
          </p:cNvSpPr>
          <p:nvPr/>
        </p:nvSpPr>
        <p:spPr bwMode="auto">
          <a:xfrm>
            <a:off x="211029" y="2332038"/>
            <a:ext cx="8666964" cy="3603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65125" marR="0" lvl="0" indent="-365125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charset="0"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ea typeface="+mn-ea"/>
                <a:cs typeface="+mn-cs"/>
              </a:rPr>
              <a:t>One way to represent 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ea typeface="+mn-ea"/>
                <a:cs typeface="+mn-cs"/>
              </a:rPr>
              <a:t>a graph without multiple edges 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ea typeface="+mn-ea"/>
                <a:cs typeface="+mn-cs"/>
              </a:rPr>
              <a:t>is to 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ea typeface="+mn-ea"/>
                <a:cs typeface="+mn-cs"/>
              </a:rPr>
              <a:t>list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ea typeface="+mn-ea"/>
                <a:cs typeface="+mn-cs"/>
              </a:rPr>
              <a:t> all the edges of the graph.</a:t>
            </a:r>
          </a:p>
          <a:p>
            <a:pPr marL="365125" marR="0" lvl="0" indent="-365125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charset="0"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ea typeface="+mn-ea"/>
                <a:cs typeface="+mn-cs"/>
              </a:rPr>
              <a:t>Another way to represent 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ea typeface="+mn-ea"/>
                <a:cs typeface="+mn-cs"/>
              </a:rPr>
              <a:t>a graph with no multiple edges 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ea typeface="+mn-ea"/>
                <a:cs typeface="+mn-cs"/>
              </a:rPr>
              <a:t>is to use 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ea typeface="+mn-ea"/>
                <a:cs typeface="+mn-cs"/>
              </a:rPr>
              <a:t>adjacency lists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ea typeface="+mn-ea"/>
                <a:cs typeface="+mn-cs"/>
              </a:rPr>
              <a:t>, which specify the vertices that are adjacent to each vertex of the graph.</a:t>
            </a:r>
          </a:p>
          <a:p>
            <a:pPr marL="365125" marR="0" lvl="0" indent="-365125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charset="0"/>
              <a:buChar char="•"/>
              <a:tabLst/>
              <a:defRPr/>
            </a:pPr>
            <a:r>
              <a:rPr kumimoji="0" lang="en-US" sz="2400" b="1" i="0" u="sng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ea typeface="+mn-ea"/>
                <a:cs typeface="+mn-cs"/>
              </a:rPr>
              <a:t>Adjacency Lists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ea typeface="+mn-ea"/>
                <a:cs typeface="+mn-cs"/>
              </a:rPr>
              <a:t>: A table with 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ea typeface="+mn-ea"/>
                <a:cs typeface="+mn-cs"/>
              </a:rPr>
              <a:t>1 row per vertex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ea typeface="+mn-ea"/>
                <a:cs typeface="+mn-cs"/>
              </a:rPr>
              <a:t>, listing its adjacent vertices.</a:t>
            </a:r>
          </a:p>
          <a:p>
            <a:pPr marL="365125" marR="0" lvl="0" indent="-365125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charset="0"/>
              <a:buChar char="•"/>
              <a:tabLst/>
              <a:defRPr/>
            </a:pPr>
            <a:r>
              <a:rPr kumimoji="0" lang="en-US" sz="2400" b="1" i="0" u="sng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ea typeface="+mn-ea"/>
                <a:cs typeface="+mn-cs"/>
              </a:rPr>
              <a:t>Directed Adjacency Lists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ea typeface="+mn-ea"/>
                <a:cs typeface="+mn-cs"/>
              </a:rPr>
              <a:t>: A table with 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ea typeface="+mn-ea"/>
                <a:cs typeface="+mn-cs"/>
              </a:rPr>
              <a:t>1 row per node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ea typeface="+mn-ea"/>
                <a:cs typeface="+mn-cs"/>
              </a:rPr>
              <a:t>, listing the </a:t>
            </a:r>
            <a:r>
              <a:rPr kumimoji="0" lang="en-US" sz="2400" b="0" i="1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ea typeface="+mn-ea"/>
                <a:cs typeface="+mn-cs"/>
              </a:rPr>
              <a:t>terminal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ea typeface="+mn-ea"/>
                <a:cs typeface="+mn-cs"/>
              </a:rPr>
              <a:t> </a:t>
            </a:r>
            <a:r>
              <a:rPr kumimoji="0" lang="en-US" sz="2400" b="0" i="1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ea typeface="+mn-ea"/>
                <a:cs typeface="+mn-cs"/>
              </a:rPr>
              <a:t>nodes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ea typeface="+mn-ea"/>
                <a:cs typeface="+mn-cs"/>
              </a:rPr>
              <a:t> 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ea typeface="+mn-ea"/>
                <a:cs typeface="+mn-cs"/>
              </a:rPr>
              <a:t>of each edge </a:t>
            </a:r>
            <a:r>
              <a:rPr kumimoji="0" lang="en-US" sz="2400" b="0" i="1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ea typeface="+mn-ea"/>
                <a:cs typeface="+mn-cs"/>
              </a:rPr>
              <a:t>incident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ea typeface="+mn-ea"/>
                <a:cs typeface="+mn-cs"/>
              </a:rPr>
              <a:t> </a:t>
            </a:r>
            <a:r>
              <a:rPr kumimoji="0" lang="en-US" sz="2400" b="0" i="1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ea typeface="+mn-ea"/>
                <a:cs typeface="+mn-cs"/>
              </a:rPr>
              <a:t>from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ea typeface="+mn-ea"/>
                <a:cs typeface="+mn-cs"/>
              </a:rPr>
              <a:t> </a:t>
            </a:r>
            <a:r>
              <a:rPr kumimoji="0" lang="en-US" sz="2400" b="0" i="1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ea typeface="+mn-ea"/>
                <a:cs typeface="+mn-cs"/>
              </a:rPr>
              <a:t>that node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ea typeface="+mn-ea"/>
                <a:cs typeface="+mn-cs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13215458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2"/>
          <p:cNvSpPr txBox="1">
            <a:spLocks/>
          </p:cNvSpPr>
          <p:nvPr/>
        </p:nvSpPr>
        <p:spPr>
          <a:xfrm>
            <a:off x="335494" y="731162"/>
            <a:ext cx="6543608" cy="493414"/>
          </a:xfrm>
          <a:prstGeom prst="rect">
            <a:avLst/>
          </a:prstGeom>
        </p:spPr>
        <p:txBody>
          <a:bodyPr>
            <a:normAutofit/>
          </a:bodyPr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600" b="1" dirty="0">
                <a:solidFill>
                  <a:schemeClr val="tx1"/>
                </a:solidFill>
              </a:rPr>
              <a:t>Representing a Graph with an Adjacency List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468F1153-153A-40DD-86EC-680044BD5D87}"/>
              </a:ext>
            </a:extLst>
          </p:cNvPr>
          <p:cNvSpPr txBox="1">
            <a:spLocks/>
          </p:cNvSpPr>
          <p:nvPr/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Char char="•"/>
              <a:tabLst/>
              <a:defRPr/>
            </a:pPr>
            <a:r>
              <a:rPr kumimoji="0" lang="en-US" sz="2800" b="0" i="0" u="sng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EXAMPLE 1</a:t>
            </a: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: Use </a:t>
            </a:r>
            <a:r>
              <a:rPr kumimoji="0" lang="en-US" sz="2800" b="1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adjacency</a:t>
            </a: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  <a:r>
              <a:rPr kumimoji="0" lang="en-US" sz="2800" b="1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lists</a:t>
            </a: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to describe the simple graph given in Figure 1.</a:t>
            </a: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Char char="•"/>
              <a:tabLst/>
              <a:defRPr/>
            </a:pPr>
            <a:endParaRPr kumimoji="0" lang="en-US" sz="2800" b="0" i="0" u="none" strike="noStrike" kern="120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Char char="•"/>
              <a:tabLst/>
              <a:defRPr/>
            </a:pP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9" name="Picture 2">
            <a:extLst>
              <a:ext uri="{FF2B5EF4-FFF2-40B4-BE49-F238E27FC236}">
                <a16:creationId xmlns:a16="http://schemas.microsoft.com/office/drawing/2014/main" id="{67B06718-F3C3-438F-A86E-263A29B414D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57200" y="2590800"/>
            <a:ext cx="8315325" cy="381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282376211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2"/>
          <p:cNvSpPr txBox="1">
            <a:spLocks/>
          </p:cNvSpPr>
          <p:nvPr/>
        </p:nvSpPr>
        <p:spPr>
          <a:xfrm>
            <a:off x="335494" y="731162"/>
            <a:ext cx="6543608" cy="493414"/>
          </a:xfrm>
          <a:prstGeom prst="rect">
            <a:avLst/>
          </a:prstGeom>
        </p:spPr>
        <p:txBody>
          <a:bodyPr>
            <a:normAutofit/>
          </a:bodyPr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600" b="1" dirty="0">
                <a:solidFill>
                  <a:schemeClr val="tx1"/>
                </a:solidFill>
              </a:rPr>
              <a:t>Representing a Graph with an Adjacency List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2DE39CAC-B03D-4417-9004-B969E1456CC1}"/>
              </a:ext>
            </a:extLst>
          </p:cNvPr>
          <p:cNvSpPr txBox="1">
            <a:spLocks/>
          </p:cNvSpPr>
          <p:nvPr/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Char char="•"/>
              <a:tabLst/>
              <a:defRPr/>
            </a:pPr>
            <a:r>
              <a:rPr kumimoji="0" lang="en-US" sz="2400" b="0" i="0" u="sng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EXAMPLE 2</a:t>
            </a:r>
            <a:r>
              <a: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:</a:t>
            </a:r>
            <a:r>
              <a: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  <a:r>
              <a: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Represent the directed graph shown in Figure 2 by listing all the vertices that are the terminal vertices of edges starting at each vertex of the graph.</a:t>
            </a: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Char char="•"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6" name="Picture 2">
            <a:extLst>
              <a:ext uri="{FF2B5EF4-FFF2-40B4-BE49-F238E27FC236}">
                <a16:creationId xmlns:a16="http://schemas.microsoft.com/office/drawing/2014/main" id="{84EEB366-F65C-4D07-9DE9-D1D3E37D1C6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03225" y="2971800"/>
            <a:ext cx="8512175" cy="3200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252377253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2"/>
          <p:cNvSpPr txBox="1">
            <a:spLocks/>
          </p:cNvSpPr>
          <p:nvPr/>
        </p:nvSpPr>
        <p:spPr>
          <a:xfrm>
            <a:off x="335494" y="731162"/>
            <a:ext cx="6543608" cy="493414"/>
          </a:xfrm>
          <a:prstGeom prst="rect">
            <a:avLst/>
          </a:prstGeom>
        </p:spPr>
        <p:txBody>
          <a:bodyPr>
            <a:normAutofit/>
          </a:bodyPr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600" b="1" dirty="0">
                <a:solidFill>
                  <a:schemeClr val="tx1"/>
                </a:solidFill>
              </a:rPr>
              <a:t>Representing Graphs using Matrices  </a:t>
            </a:r>
          </a:p>
          <a:p>
            <a:pPr marL="0" indent="0">
              <a:buNone/>
            </a:pPr>
            <a:endParaRPr lang="en-US" sz="2600" b="1" dirty="0">
              <a:solidFill>
                <a:schemeClr val="tx1"/>
              </a:solidFill>
            </a:endParaRP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D6B9B096-50B6-4704-856B-7352BD08C25B}"/>
              </a:ext>
            </a:extLst>
          </p:cNvPr>
          <p:cNvSpPr txBox="1">
            <a:spLocks/>
          </p:cNvSpPr>
          <p:nvPr/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Char char="•"/>
              <a:tabLst/>
              <a:defRPr/>
            </a:pP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Two types of </a:t>
            </a:r>
            <a:r>
              <a:rPr kumimoji="0" lang="en-US" sz="2800" b="1" i="0" u="none" strike="noStrike" kern="120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matrices</a:t>
            </a: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commonly used to represent graphs –</a:t>
            </a:r>
          </a:p>
          <a:p>
            <a:pPr marL="1314450" marR="0" lvl="2" indent="-4572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Calibri" pitchFamily="34" charset="0"/>
              <a:buAutoNum type="arabicParenR"/>
              <a:tabLst/>
              <a:defRPr/>
            </a:pPr>
            <a:r>
              <a:rPr kumimoji="0" lang="en-US" sz="2800" b="1" i="0" u="none" strike="noStrike" kern="120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Adjacency</a:t>
            </a: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matrix</a:t>
            </a:r>
          </a:p>
          <a:p>
            <a:pPr marL="1314450" marR="0" lvl="2" indent="-4572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Calibri" pitchFamily="34" charset="0"/>
              <a:buAutoNum type="arabicParenR"/>
              <a:tabLst/>
              <a:defRPr/>
            </a:pPr>
            <a:r>
              <a:rPr kumimoji="0" lang="en-US" sz="2800" b="1" i="0" u="none" strike="noStrike" kern="120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Incidence</a:t>
            </a: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matrix</a:t>
            </a:r>
          </a:p>
          <a:p>
            <a:pPr marL="1314450" marR="0" lvl="2" indent="-4572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Calibri" pitchFamily="34" charset="0"/>
              <a:buAutoNum type="arabicParenR"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Char char="•"/>
              <a:tabLst/>
              <a:defRPr/>
            </a:pPr>
            <a:r>
              <a:rPr kumimoji="0" lang="en-US" sz="2800" b="0" i="0" u="sng" strike="noStrike" kern="120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Adjacency matrix</a:t>
            </a: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: </a:t>
            </a: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A matrix representing a graph using the </a:t>
            </a: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adjacency of vertices</a:t>
            </a: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.</a:t>
            </a: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Char char="•"/>
              <a:tabLst/>
              <a:defRPr/>
            </a:pPr>
            <a:r>
              <a:rPr kumimoji="0" lang="en-US" sz="2800" b="0" i="0" u="sng" strike="noStrike" kern="120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Incidence matrix</a:t>
            </a: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: A matrix representing a graph using the </a:t>
            </a: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incidence of edges and vertices</a:t>
            </a: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.</a:t>
            </a: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None/>
              <a:tabLst/>
              <a:defRPr/>
            </a:pP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56499521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Adjacency matrices 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5D2652A6-ED04-4B09-A51B-3D2A6B9E554E}"/>
              </a:ext>
            </a:extLst>
          </p:cNvPr>
          <p:cNvSpPr txBox="1">
            <a:spLocks/>
          </p:cNvSpPr>
          <p:nvPr/>
        </p:nvSpPr>
        <p:spPr bwMode="auto">
          <a:xfrm>
            <a:off x="396403" y="2032462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Suppose that </a:t>
            </a:r>
            <a:r>
              <a: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G = (V, E) is a simple graph </a:t>
            </a:r>
            <a:r>
              <a: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where </a:t>
            </a:r>
            <a:r>
              <a: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|V|= n. </a:t>
            </a:r>
            <a:r>
              <a: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Suppose that the vertices of G are listed arbitrarily as v</a:t>
            </a:r>
            <a:r>
              <a:rPr kumimoji="0" lang="en-US" sz="2400" b="0" i="0" u="none" strike="noStrike" kern="1200" cap="none" spc="0" normalizeH="0" baseline="-2500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1</a:t>
            </a:r>
            <a:r>
              <a: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, v</a:t>
            </a:r>
            <a:r>
              <a:rPr kumimoji="0" lang="en-US" sz="2400" b="0" i="0" u="none" strike="noStrike" kern="1200" cap="none" spc="0" normalizeH="0" baseline="-2500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2</a:t>
            </a:r>
            <a:r>
              <a: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, …., v</a:t>
            </a:r>
            <a:r>
              <a:rPr kumimoji="0" lang="en-US" sz="2400" b="0" i="0" u="none" strike="noStrike" kern="1200" cap="none" spc="0" normalizeH="0" baseline="-2500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n</a:t>
            </a:r>
            <a:r>
              <a: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. </a:t>
            </a: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	The </a:t>
            </a:r>
            <a:r>
              <a:rPr kumimoji="0" lang="en-US" sz="2400" b="1" i="0" u="none" strike="noStrike" kern="120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adjacency matrix A</a:t>
            </a:r>
            <a:r>
              <a: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  <a:r>
              <a: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of G, with respect to this listing of the vertices, is the </a:t>
            </a:r>
            <a:r>
              <a:rPr kumimoji="0" lang="en-US" sz="2400" b="0" i="1" u="none" strike="noStrike" kern="120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n x n </a:t>
            </a:r>
            <a:r>
              <a: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zero-one matrix </a:t>
            </a:r>
            <a:r>
              <a: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with 1 as its (i,j)th entry when v</a:t>
            </a:r>
            <a:r>
              <a:rPr kumimoji="0" lang="en-US" sz="2400" b="0" i="0" u="none" strike="noStrike" kern="1200" cap="none" spc="0" normalizeH="0" baseline="-2500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i</a:t>
            </a:r>
            <a:r>
              <a: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and v</a:t>
            </a:r>
            <a:r>
              <a:rPr kumimoji="0" lang="en-US" sz="2400" b="0" i="0" u="none" strike="noStrike" kern="1200" cap="none" spc="0" normalizeH="0" baseline="-2500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j   </a:t>
            </a:r>
            <a:r>
              <a: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are adjacent, and 0 as its (i,j)th entry when they are not adjacent.</a:t>
            </a: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In other words, if its adjacency matrix is </a:t>
            </a:r>
            <a:r>
              <a:rPr kumimoji="0" lang="en-US" sz="2400" b="1" i="0" u="none" strike="noStrike" kern="120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A</a:t>
            </a:r>
            <a:r>
              <a: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= [ a</a:t>
            </a:r>
            <a:r>
              <a:rPr kumimoji="0" lang="en-US" sz="2400" b="0" i="0" u="none" strike="noStrike" kern="1200" cap="none" spc="0" normalizeH="0" baseline="-2500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ij</a:t>
            </a:r>
            <a:r>
              <a: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], </a:t>
            </a:r>
            <a:r>
              <a: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then</a:t>
            </a: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	a</a:t>
            </a:r>
            <a:r>
              <a:rPr kumimoji="0" lang="en-US" sz="2400" b="0" i="0" u="none" strike="noStrike" kern="1200" cap="none" spc="0" normalizeH="0" baseline="-2500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ij</a:t>
            </a:r>
            <a:r>
              <a: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=    1	if {v</a:t>
            </a:r>
            <a:r>
              <a:rPr kumimoji="0" lang="en-US" sz="2400" b="0" i="0" u="none" strike="noStrike" kern="1200" cap="none" spc="0" normalizeH="0" baseline="-2500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i</a:t>
            </a:r>
            <a:r>
              <a: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, v</a:t>
            </a:r>
            <a:r>
              <a:rPr kumimoji="0" lang="en-US" sz="2400" b="0" i="0" u="none" strike="noStrike" kern="1200" cap="none" spc="0" normalizeH="0" baseline="-2500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j</a:t>
            </a:r>
            <a:r>
              <a: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} is an edge of G,</a:t>
            </a: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		  0	otherwise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4" name="Left Brace 13">
            <a:extLst>
              <a:ext uri="{FF2B5EF4-FFF2-40B4-BE49-F238E27FC236}">
                <a16:creationId xmlns:a16="http://schemas.microsoft.com/office/drawing/2014/main" id="{EE2E7659-0E50-4441-A6DF-F63F321C4236}"/>
              </a:ext>
            </a:extLst>
          </p:cNvPr>
          <p:cNvSpPr/>
          <p:nvPr/>
        </p:nvSpPr>
        <p:spPr>
          <a:xfrm>
            <a:off x="1307628" y="5309062"/>
            <a:ext cx="155575" cy="914400"/>
          </a:xfrm>
          <a:prstGeom prst="leftBrace">
            <a:avLst/>
          </a:prstGeom>
          <a:noFill/>
          <a:ln w="9525" cap="flat" cmpd="sng" algn="ctr">
            <a:solidFill>
              <a:sysClr val="windowText" lastClr="000000">
                <a:alpha val="98000"/>
              </a:sysClr>
            </a:solidFill>
            <a:prstDash val="solid"/>
          </a:ln>
          <a:effectLst/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3870559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2"/>
          <p:cNvSpPr txBox="1">
            <a:spLocks/>
          </p:cNvSpPr>
          <p:nvPr/>
        </p:nvSpPr>
        <p:spPr>
          <a:xfrm>
            <a:off x="335494" y="731162"/>
            <a:ext cx="7162586" cy="493414"/>
          </a:xfrm>
          <a:prstGeom prst="rect">
            <a:avLst/>
          </a:prstGeom>
        </p:spPr>
        <p:txBody>
          <a:bodyPr>
            <a:noAutofit/>
          </a:bodyPr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000" b="1" dirty="0">
                <a:solidFill>
                  <a:srgbClr val="FF0000"/>
                </a:solidFill>
              </a:rPr>
              <a:t>Example 3: Representing a graph using an Adjacency Matrix</a:t>
            </a:r>
          </a:p>
        </p:txBody>
      </p:sp>
      <p:pic>
        <p:nvPicPr>
          <p:cNvPr id="7" name="Picture 5">
            <a:extLst>
              <a:ext uri="{FF2B5EF4-FFF2-40B4-BE49-F238E27FC236}">
                <a16:creationId xmlns:a16="http://schemas.microsoft.com/office/drawing/2014/main" id="{C33831F7-0797-46E3-B4AD-90D64700187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419600" y="3471862"/>
            <a:ext cx="3810000" cy="2624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8" name="Picture 3">
            <a:extLst>
              <a:ext uri="{FF2B5EF4-FFF2-40B4-BE49-F238E27FC236}">
                <a16:creationId xmlns:a16="http://schemas.microsoft.com/office/drawing/2014/main" id="{425EE0DB-B009-4B2A-843B-DF8A0A73DE5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762000" y="1411778"/>
            <a:ext cx="8001000" cy="2286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163007664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2"/>
          <p:cNvSpPr txBox="1">
            <a:spLocks/>
          </p:cNvSpPr>
          <p:nvPr/>
        </p:nvSpPr>
        <p:spPr>
          <a:xfrm>
            <a:off x="335494" y="731162"/>
            <a:ext cx="6543608" cy="493414"/>
          </a:xfrm>
          <a:prstGeom prst="rect">
            <a:avLst/>
          </a:prstGeom>
        </p:spPr>
        <p:txBody>
          <a:bodyPr>
            <a:normAutofit lnSpcReduction="10000"/>
          </a:bodyPr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800" b="1" dirty="0">
                <a:solidFill>
                  <a:srgbClr val="FF0000"/>
                </a:solidFill>
                <a:cs typeface="Times New Roman" pitchFamily="18" charset="0"/>
              </a:rPr>
              <a:t>Given an Adjacency matrix, draw the graph </a:t>
            </a:r>
            <a:endParaRPr lang="en-US" sz="2600" b="1" dirty="0">
              <a:solidFill>
                <a:srgbClr val="FF0000"/>
              </a:solidFill>
            </a:endParaRPr>
          </a:p>
        </p:txBody>
      </p:sp>
      <p:sp>
        <p:nvSpPr>
          <p:cNvPr id="55" name="Content Placeholder 2">
            <a:extLst>
              <a:ext uri="{FF2B5EF4-FFF2-40B4-BE49-F238E27FC236}">
                <a16:creationId xmlns:a16="http://schemas.microsoft.com/office/drawing/2014/main" id="{5D22DFD2-4DF7-4CC1-8089-4E2975264C8D}"/>
              </a:ext>
            </a:extLst>
          </p:cNvPr>
          <p:cNvSpPr txBox="1">
            <a:spLocks/>
          </p:cNvSpPr>
          <p:nvPr/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Char char="•"/>
              <a:tabLst/>
              <a:defRPr/>
            </a:pPr>
            <a:r>
              <a:rPr kumimoji="0" lang="en-US" sz="2400" b="1" i="0" u="sng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n-ea"/>
                <a:cs typeface="Times New Roman" pitchFamily="18" charset="0"/>
              </a:rPr>
              <a:t>Example 4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n-ea"/>
                <a:cs typeface="Times New Roman" pitchFamily="18" charset="0"/>
              </a:rPr>
              <a:t> : Draw a graph with the adjacency matrix below.</a:t>
            </a: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Times New Roman" pitchFamily="18" charset="0"/>
              </a:rPr>
              <a:t>		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Times New Roman" pitchFamily="18" charset="0"/>
              </a:rPr>
              <a:t>0	1	1	0</a:t>
            </a: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Times New Roman" pitchFamily="18" charset="0"/>
              </a:rPr>
              <a:t>		1	0	0	1</a:t>
            </a: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Times New Roman" pitchFamily="18" charset="0"/>
              </a:rPr>
              <a:t>		1	0	0	1</a:t>
            </a: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Times New Roman" pitchFamily="18" charset="0"/>
              </a:rPr>
              <a:t>		0	1	1	0</a:t>
            </a: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None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ea typeface="+mn-ea"/>
              <a:cs typeface="Times New Roman" pitchFamily="18" charset="0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Times New Roman" pitchFamily="18" charset="0"/>
              </a:rPr>
              <a:t>      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Times New Roman" pitchFamily="18" charset="0"/>
              </a:rPr>
              <a:t>a                           b </a:t>
            </a: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Times New Roman" pitchFamily="18" charset="0"/>
              </a:rPr>
              <a:t> </a:t>
            </a: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     d                        c</a:t>
            </a:r>
          </a:p>
        </p:txBody>
      </p:sp>
      <p:cxnSp>
        <p:nvCxnSpPr>
          <p:cNvPr id="57" name="Straight Connector 56">
            <a:extLst>
              <a:ext uri="{FF2B5EF4-FFF2-40B4-BE49-F238E27FC236}">
                <a16:creationId xmlns:a16="http://schemas.microsoft.com/office/drawing/2014/main" id="{71552D25-3CE6-4DFC-BCF2-F93DB7D5E4B5}"/>
              </a:ext>
            </a:extLst>
          </p:cNvPr>
          <p:cNvCxnSpPr/>
          <p:nvPr/>
        </p:nvCxnSpPr>
        <p:spPr>
          <a:xfrm>
            <a:off x="1219200" y="2133600"/>
            <a:ext cx="0" cy="1371600"/>
          </a:xfrm>
          <a:prstGeom prst="line">
            <a:avLst/>
          </a:prstGeom>
          <a:noFill/>
          <a:ln w="25400" cap="flat" cmpd="sng" algn="ctr">
            <a:solidFill>
              <a:sysClr val="windowText" lastClr="000000">
                <a:alpha val="96000"/>
              </a:sysClr>
            </a:solidFill>
            <a:prstDash val="solid"/>
          </a:ln>
          <a:effectLst/>
        </p:spPr>
      </p:cxnSp>
      <p:cxnSp>
        <p:nvCxnSpPr>
          <p:cNvPr id="58" name="Straight Connector 57">
            <a:extLst>
              <a:ext uri="{FF2B5EF4-FFF2-40B4-BE49-F238E27FC236}">
                <a16:creationId xmlns:a16="http://schemas.microsoft.com/office/drawing/2014/main" id="{AA9C1781-9372-4CFB-9A4A-EB862E726FD1}"/>
              </a:ext>
            </a:extLst>
          </p:cNvPr>
          <p:cNvCxnSpPr/>
          <p:nvPr/>
        </p:nvCxnSpPr>
        <p:spPr>
          <a:xfrm>
            <a:off x="4724400" y="2133600"/>
            <a:ext cx="0" cy="1371600"/>
          </a:xfrm>
          <a:prstGeom prst="line">
            <a:avLst/>
          </a:prstGeom>
          <a:noFill/>
          <a:ln w="25400" cap="flat" cmpd="sng" algn="ctr">
            <a:solidFill>
              <a:sysClr val="windowText" lastClr="000000">
                <a:alpha val="96000"/>
              </a:sysClr>
            </a:solidFill>
            <a:prstDash val="solid"/>
          </a:ln>
          <a:effectLst/>
        </p:spPr>
      </p:cxnSp>
      <p:cxnSp>
        <p:nvCxnSpPr>
          <p:cNvPr id="59" name="Straight Connector 58">
            <a:extLst>
              <a:ext uri="{FF2B5EF4-FFF2-40B4-BE49-F238E27FC236}">
                <a16:creationId xmlns:a16="http://schemas.microsoft.com/office/drawing/2014/main" id="{6C439AC3-8446-4F77-B43B-BC796722E595}"/>
              </a:ext>
            </a:extLst>
          </p:cNvPr>
          <p:cNvCxnSpPr/>
          <p:nvPr/>
        </p:nvCxnSpPr>
        <p:spPr>
          <a:xfrm>
            <a:off x="1219200" y="4114800"/>
            <a:ext cx="1524000" cy="0"/>
          </a:xfrm>
          <a:prstGeom prst="line">
            <a:avLst/>
          </a:prstGeom>
          <a:noFill/>
          <a:ln w="25400" cap="flat" cmpd="sng" algn="ctr">
            <a:solidFill>
              <a:sysClr val="windowText" lastClr="000000"/>
            </a:solidFill>
            <a:prstDash val="solid"/>
          </a:ln>
          <a:effectLst/>
        </p:spPr>
      </p:cxnSp>
      <p:cxnSp>
        <p:nvCxnSpPr>
          <p:cNvPr id="60" name="Straight Connector 59">
            <a:extLst>
              <a:ext uri="{FF2B5EF4-FFF2-40B4-BE49-F238E27FC236}">
                <a16:creationId xmlns:a16="http://schemas.microsoft.com/office/drawing/2014/main" id="{A1938BB0-04D5-4ACC-8570-66044957C901}"/>
              </a:ext>
            </a:extLst>
          </p:cNvPr>
          <p:cNvCxnSpPr/>
          <p:nvPr/>
        </p:nvCxnSpPr>
        <p:spPr>
          <a:xfrm>
            <a:off x="1295400" y="5334000"/>
            <a:ext cx="1371600" cy="0"/>
          </a:xfrm>
          <a:prstGeom prst="line">
            <a:avLst/>
          </a:prstGeom>
          <a:noFill/>
          <a:ln w="25400" cap="flat" cmpd="sng" algn="ctr">
            <a:solidFill>
              <a:sysClr val="windowText" lastClr="000000"/>
            </a:solidFill>
            <a:prstDash val="solid"/>
          </a:ln>
          <a:effectLst/>
        </p:spPr>
      </p:cxnSp>
      <p:cxnSp>
        <p:nvCxnSpPr>
          <p:cNvPr id="61" name="Straight Connector 60">
            <a:extLst>
              <a:ext uri="{FF2B5EF4-FFF2-40B4-BE49-F238E27FC236}">
                <a16:creationId xmlns:a16="http://schemas.microsoft.com/office/drawing/2014/main" id="{5E86825B-3BC3-4146-9F9D-B1F2C0376058}"/>
              </a:ext>
            </a:extLst>
          </p:cNvPr>
          <p:cNvCxnSpPr/>
          <p:nvPr/>
        </p:nvCxnSpPr>
        <p:spPr>
          <a:xfrm flipV="1">
            <a:off x="1295400" y="4114800"/>
            <a:ext cx="1447800" cy="1219200"/>
          </a:xfrm>
          <a:prstGeom prst="line">
            <a:avLst/>
          </a:prstGeom>
          <a:noFill/>
          <a:ln w="25400" cap="flat" cmpd="sng" algn="ctr">
            <a:solidFill>
              <a:sysClr val="windowText" lastClr="000000"/>
            </a:solidFill>
            <a:prstDash val="solid"/>
          </a:ln>
          <a:effectLst/>
        </p:spPr>
      </p:cxnSp>
      <p:cxnSp>
        <p:nvCxnSpPr>
          <p:cNvPr id="62" name="Straight Connector 61">
            <a:extLst>
              <a:ext uri="{FF2B5EF4-FFF2-40B4-BE49-F238E27FC236}">
                <a16:creationId xmlns:a16="http://schemas.microsoft.com/office/drawing/2014/main" id="{A7AAFC3C-998C-4C6B-926D-B0F5570AC191}"/>
              </a:ext>
            </a:extLst>
          </p:cNvPr>
          <p:cNvCxnSpPr/>
          <p:nvPr/>
        </p:nvCxnSpPr>
        <p:spPr>
          <a:xfrm>
            <a:off x="1219200" y="4114800"/>
            <a:ext cx="1447800" cy="1219200"/>
          </a:xfrm>
          <a:prstGeom prst="line">
            <a:avLst/>
          </a:prstGeom>
          <a:noFill/>
          <a:ln w="25400" cap="flat" cmpd="sng" algn="ctr">
            <a:solidFill>
              <a:sysClr val="windowText" lastClr="000000"/>
            </a:solidFill>
            <a:prstDash val="solid"/>
          </a:ln>
          <a:effectLst/>
        </p:spPr>
      </p:cxnSp>
      <p:cxnSp>
        <p:nvCxnSpPr>
          <p:cNvPr id="63" name="Straight Connector 62">
            <a:extLst>
              <a:ext uri="{FF2B5EF4-FFF2-40B4-BE49-F238E27FC236}">
                <a16:creationId xmlns:a16="http://schemas.microsoft.com/office/drawing/2014/main" id="{11AB270C-62A0-4E8B-AFE3-88DB31B296FF}"/>
              </a:ext>
            </a:extLst>
          </p:cNvPr>
          <p:cNvCxnSpPr/>
          <p:nvPr/>
        </p:nvCxnSpPr>
        <p:spPr>
          <a:xfrm>
            <a:off x="1219200" y="2133600"/>
            <a:ext cx="152400" cy="0"/>
          </a:xfrm>
          <a:prstGeom prst="line">
            <a:avLst/>
          </a:prstGeom>
          <a:noFill/>
          <a:ln w="25400" cap="flat" cmpd="sng" algn="ctr">
            <a:solidFill>
              <a:sysClr val="windowText" lastClr="000000"/>
            </a:solidFill>
            <a:prstDash val="solid"/>
          </a:ln>
          <a:effectLst/>
        </p:spPr>
      </p:cxnSp>
      <p:cxnSp>
        <p:nvCxnSpPr>
          <p:cNvPr id="64" name="Straight Connector 63">
            <a:extLst>
              <a:ext uri="{FF2B5EF4-FFF2-40B4-BE49-F238E27FC236}">
                <a16:creationId xmlns:a16="http://schemas.microsoft.com/office/drawing/2014/main" id="{5056CF8E-5ADF-4BE2-B574-48927F582D5D}"/>
              </a:ext>
            </a:extLst>
          </p:cNvPr>
          <p:cNvCxnSpPr/>
          <p:nvPr/>
        </p:nvCxnSpPr>
        <p:spPr>
          <a:xfrm>
            <a:off x="1219200" y="3505200"/>
            <a:ext cx="152400" cy="0"/>
          </a:xfrm>
          <a:prstGeom prst="line">
            <a:avLst/>
          </a:prstGeom>
          <a:noFill/>
          <a:ln w="25400" cap="flat" cmpd="sng" algn="ctr">
            <a:solidFill>
              <a:sysClr val="windowText" lastClr="000000"/>
            </a:solidFill>
            <a:prstDash val="solid"/>
          </a:ln>
          <a:effectLst/>
        </p:spPr>
      </p:cxnSp>
      <p:cxnSp>
        <p:nvCxnSpPr>
          <p:cNvPr id="65" name="Straight Connector 64">
            <a:extLst>
              <a:ext uri="{FF2B5EF4-FFF2-40B4-BE49-F238E27FC236}">
                <a16:creationId xmlns:a16="http://schemas.microsoft.com/office/drawing/2014/main" id="{46178290-F796-41B1-A4E5-B407FBE6A1D0}"/>
              </a:ext>
            </a:extLst>
          </p:cNvPr>
          <p:cNvCxnSpPr/>
          <p:nvPr/>
        </p:nvCxnSpPr>
        <p:spPr>
          <a:xfrm>
            <a:off x="4572000" y="2133600"/>
            <a:ext cx="152400" cy="0"/>
          </a:xfrm>
          <a:prstGeom prst="line">
            <a:avLst/>
          </a:prstGeom>
          <a:noFill/>
          <a:ln w="25400" cap="flat" cmpd="sng" algn="ctr">
            <a:solidFill>
              <a:sysClr val="windowText" lastClr="000000"/>
            </a:solidFill>
            <a:prstDash val="solid"/>
          </a:ln>
          <a:effectLst/>
        </p:spPr>
      </p:cxnSp>
      <p:cxnSp>
        <p:nvCxnSpPr>
          <p:cNvPr id="66" name="Straight Connector 65">
            <a:extLst>
              <a:ext uri="{FF2B5EF4-FFF2-40B4-BE49-F238E27FC236}">
                <a16:creationId xmlns:a16="http://schemas.microsoft.com/office/drawing/2014/main" id="{34F77042-A227-4EED-9625-B949F5B9F482}"/>
              </a:ext>
            </a:extLst>
          </p:cNvPr>
          <p:cNvCxnSpPr/>
          <p:nvPr/>
        </p:nvCxnSpPr>
        <p:spPr>
          <a:xfrm>
            <a:off x="4572000" y="3505200"/>
            <a:ext cx="152400" cy="0"/>
          </a:xfrm>
          <a:prstGeom prst="line">
            <a:avLst/>
          </a:prstGeom>
          <a:noFill/>
          <a:ln w="25400" cap="flat" cmpd="sng" algn="ctr">
            <a:solidFill>
              <a:sysClr val="windowText" lastClr="000000"/>
            </a:solidFill>
            <a:prstDash val="solid"/>
          </a:ln>
          <a:effectLst/>
        </p:spPr>
      </p:cxnSp>
      <p:sp>
        <p:nvSpPr>
          <p:cNvPr id="67" name="Flowchart: Connector 66">
            <a:extLst>
              <a:ext uri="{FF2B5EF4-FFF2-40B4-BE49-F238E27FC236}">
                <a16:creationId xmlns:a16="http://schemas.microsoft.com/office/drawing/2014/main" id="{9DEE1AFE-3033-4E08-ABE3-C92B90485946}"/>
              </a:ext>
            </a:extLst>
          </p:cNvPr>
          <p:cNvSpPr/>
          <p:nvPr/>
        </p:nvSpPr>
        <p:spPr>
          <a:xfrm>
            <a:off x="1143000" y="4038600"/>
            <a:ext cx="152400" cy="152400"/>
          </a:xfrm>
          <a:prstGeom prst="flowChartConnector">
            <a:avLst/>
          </a:prstGeom>
          <a:solidFill>
            <a:sysClr val="windowText" lastClr="000000"/>
          </a:solidFill>
          <a:ln w="25400" cap="flat" cmpd="sng" algn="ctr">
            <a:solidFill>
              <a:srgbClr val="4F81BD">
                <a:shade val="50000"/>
              </a:srgbClr>
            </a:solidFill>
            <a:prstDash val="solid"/>
          </a:ln>
          <a:effectLst/>
        </p:spPr>
        <p:txBody>
          <a:bodyPr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8" name="Flowchart: Connector 67">
            <a:extLst>
              <a:ext uri="{FF2B5EF4-FFF2-40B4-BE49-F238E27FC236}">
                <a16:creationId xmlns:a16="http://schemas.microsoft.com/office/drawing/2014/main" id="{785D66BF-7897-4BDB-931C-39C7262CA3D3}"/>
              </a:ext>
            </a:extLst>
          </p:cNvPr>
          <p:cNvSpPr/>
          <p:nvPr/>
        </p:nvSpPr>
        <p:spPr>
          <a:xfrm>
            <a:off x="2667000" y="4038600"/>
            <a:ext cx="152400" cy="152400"/>
          </a:xfrm>
          <a:prstGeom prst="flowChartConnector">
            <a:avLst/>
          </a:prstGeom>
          <a:solidFill>
            <a:sysClr val="windowText" lastClr="000000"/>
          </a:solidFill>
          <a:ln w="25400" cap="flat" cmpd="sng" algn="ctr">
            <a:solidFill>
              <a:srgbClr val="4F81BD">
                <a:shade val="50000"/>
              </a:srgbClr>
            </a:solidFill>
            <a:prstDash val="solid"/>
          </a:ln>
          <a:effectLst/>
        </p:spPr>
        <p:txBody>
          <a:bodyPr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9" name="Flowchart: Connector 68">
            <a:extLst>
              <a:ext uri="{FF2B5EF4-FFF2-40B4-BE49-F238E27FC236}">
                <a16:creationId xmlns:a16="http://schemas.microsoft.com/office/drawing/2014/main" id="{11D5D8E9-EEE4-4D35-9CDC-42DF00EA2B86}"/>
              </a:ext>
            </a:extLst>
          </p:cNvPr>
          <p:cNvSpPr/>
          <p:nvPr/>
        </p:nvSpPr>
        <p:spPr>
          <a:xfrm>
            <a:off x="1219200" y="5257800"/>
            <a:ext cx="152400" cy="152400"/>
          </a:xfrm>
          <a:prstGeom prst="flowChartConnector">
            <a:avLst/>
          </a:prstGeom>
          <a:solidFill>
            <a:sysClr val="windowText" lastClr="000000"/>
          </a:solidFill>
          <a:ln w="25400" cap="flat" cmpd="sng" algn="ctr">
            <a:solidFill>
              <a:srgbClr val="4F81BD">
                <a:shade val="50000"/>
              </a:srgbClr>
            </a:solidFill>
            <a:prstDash val="solid"/>
          </a:ln>
          <a:effectLst/>
        </p:spPr>
        <p:txBody>
          <a:bodyPr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0" name="Flowchart: Connector 69">
            <a:extLst>
              <a:ext uri="{FF2B5EF4-FFF2-40B4-BE49-F238E27FC236}">
                <a16:creationId xmlns:a16="http://schemas.microsoft.com/office/drawing/2014/main" id="{26507944-4FAE-4F9A-BA12-32A28A2DE998}"/>
              </a:ext>
            </a:extLst>
          </p:cNvPr>
          <p:cNvSpPr/>
          <p:nvPr/>
        </p:nvSpPr>
        <p:spPr>
          <a:xfrm>
            <a:off x="2590800" y="5257800"/>
            <a:ext cx="152400" cy="152400"/>
          </a:xfrm>
          <a:prstGeom prst="flowChartConnector">
            <a:avLst/>
          </a:prstGeom>
          <a:solidFill>
            <a:sysClr val="windowText" lastClr="000000"/>
          </a:solidFill>
          <a:ln w="25400" cap="flat" cmpd="sng" algn="ctr">
            <a:solidFill>
              <a:srgbClr val="4F81BD">
                <a:shade val="50000"/>
              </a:srgbClr>
            </a:solidFill>
            <a:prstDash val="solid"/>
          </a:ln>
          <a:effectLst/>
        </p:spPr>
        <p:txBody>
          <a:bodyPr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1" name="TextBox 19">
            <a:extLst>
              <a:ext uri="{FF2B5EF4-FFF2-40B4-BE49-F238E27FC236}">
                <a16:creationId xmlns:a16="http://schemas.microsoft.com/office/drawing/2014/main" id="{432F320F-15C9-4A2F-953D-04B58E6CCFA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" y="3638550"/>
            <a:ext cx="1295400" cy="400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sz="2000" b="1" u="sng" dirty="0">
                <a:solidFill>
                  <a:srgbClr val="0000FF"/>
                </a:solidFill>
                <a:latin typeface="Arial" charset="0"/>
                <a:cs typeface="Arial" charset="0"/>
              </a:rPr>
              <a:t>Solution</a:t>
            </a:r>
            <a:r>
              <a:rPr lang="en-US" sz="2000" b="1" dirty="0">
                <a:solidFill>
                  <a:srgbClr val="0000FF"/>
                </a:solidFill>
                <a:latin typeface="Arial" charset="0"/>
                <a:cs typeface="Arial" charset="0"/>
              </a:rPr>
              <a:t>:</a:t>
            </a:r>
          </a:p>
        </p:txBody>
      </p:sp>
    </p:spTree>
    <p:extLst>
      <p:ext uri="{BB962C8B-B14F-4D97-AF65-F5344CB8AC3E}">
        <p14:creationId xmlns:p14="http://schemas.microsoft.com/office/powerpoint/2010/main" val="372490499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2"/>
          <p:cNvSpPr txBox="1">
            <a:spLocks/>
          </p:cNvSpPr>
          <p:nvPr/>
        </p:nvSpPr>
        <p:spPr>
          <a:xfrm>
            <a:off x="335494" y="731162"/>
            <a:ext cx="6543608" cy="493414"/>
          </a:xfrm>
          <a:prstGeom prst="rect">
            <a:avLst/>
          </a:prstGeom>
        </p:spPr>
        <p:txBody>
          <a:bodyPr>
            <a:normAutofit lnSpcReduction="10000"/>
          </a:bodyPr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800" b="1" dirty="0">
                <a:cs typeface="Times New Roman" pitchFamily="18" charset="0"/>
              </a:rPr>
              <a:t>Adjacency matrices </a:t>
            </a:r>
            <a:endParaRPr lang="en-US" sz="2600" b="1" dirty="0">
              <a:solidFill>
                <a:srgbClr val="FF0000"/>
              </a:solidFill>
            </a:endParaRPr>
          </a:p>
        </p:txBody>
      </p:sp>
      <p:sp>
        <p:nvSpPr>
          <p:cNvPr id="23" name="Content Placeholder 2">
            <a:extLst>
              <a:ext uri="{FF2B5EF4-FFF2-40B4-BE49-F238E27FC236}">
                <a16:creationId xmlns:a16="http://schemas.microsoft.com/office/drawing/2014/main" id="{BEE9A614-D78F-4DC4-87A6-3002028FCDC0}"/>
              </a:ext>
            </a:extLst>
          </p:cNvPr>
          <p:cNvSpPr txBox="1">
            <a:spLocks/>
          </p:cNvSpPr>
          <p:nvPr/>
        </p:nvSpPr>
        <p:spPr bwMode="auto">
          <a:xfrm>
            <a:off x="457200" y="1447800"/>
            <a:ext cx="8229600" cy="46783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Char char="•"/>
              <a:tabLst/>
              <a:defRPr/>
            </a:pP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Adjacency matrix can also be used to represent </a:t>
            </a:r>
            <a:r>
              <a:rPr kumimoji="0" lang="en-US" sz="2800" b="1" i="0" u="none" strike="noStrike" kern="120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undirected</a:t>
            </a: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  <a:r>
              <a:rPr kumimoji="0" lang="en-US" sz="2800" b="1" i="0" u="none" strike="noStrike" kern="120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graphs</a:t>
            </a: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with </a:t>
            </a:r>
            <a:r>
              <a:rPr kumimoji="0" lang="en-US" sz="2800" b="1" i="0" u="none" strike="noStrike" kern="120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loops</a:t>
            </a: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and with </a:t>
            </a:r>
            <a:r>
              <a:rPr kumimoji="0" lang="en-US" sz="2800" b="1" i="0" u="none" strike="noStrike" kern="120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multiple</a:t>
            </a: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  <a:r>
              <a:rPr kumimoji="0" lang="en-US" sz="2800" b="1" i="0" u="none" strike="noStrike" kern="120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edges</a:t>
            </a: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.</a:t>
            </a:r>
          </a:p>
          <a:p>
            <a:pPr marL="742950" marR="0" lvl="1" indent="-2857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Char char="–"/>
              <a:tabLst/>
              <a:defRPr/>
            </a:pPr>
            <a:r>
              <a: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A loop at the vertex a</a:t>
            </a:r>
            <a:r>
              <a:rPr kumimoji="0" lang="en-US" sz="2400" b="0" i="0" u="none" strike="noStrike" kern="1200" cap="none" spc="0" normalizeH="0" baseline="-2500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i </a:t>
            </a:r>
            <a:r>
              <a: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is represented by 1 at the (</a:t>
            </a:r>
            <a:r>
              <a:rPr kumimoji="0" lang="en-US" sz="2400" b="0" i="1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i,j</a:t>
            </a:r>
            <a:r>
              <a: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)th position of the adjacency matrix.</a:t>
            </a:r>
          </a:p>
          <a:p>
            <a:pPr marL="742950" marR="0" lvl="1" indent="-2857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Char char="–"/>
              <a:tabLst/>
              <a:defRPr/>
            </a:pPr>
            <a:r>
              <a: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When multiple edges are present, the adjacency matrix is no longer zero-one matrix</a:t>
            </a:r>
            <a:r>
              <a: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, because the (</a:t>
            </a:r>
            <a:r>
              <a:rPr kumimoji="0" lang="en-US" sz="2400" b="0" i="1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i,j</a:t>
            </a:r>
            <a:r>
              <a: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)th entry of this matrix equals the number of edges that are associated to {a</a:t>
            </a:r>
            <a:r>
              <a:rPr kumimoji="0" lang="en-US" sz="2400" b="0" i="0" u="none" strike="noStrike" kern="1200" cap="none" spc="0" normalizeH="0" baseline="-2500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i ,</a:t>
            </a:r>
            <a:r>
              <a: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a</a:t>
            </a:r>
            <a:r>
              <a:rPr kumimoji="0" lang="en-US" sz="2400" b="0" i="0" u="none" strike="noStrike" kern="1200" cap="none" spc="0" normalizeH="0" baseline="-2500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j </a:t>
            </a:r>
            <a:r>
              <a: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}</a:t>
            </a:r>
          </a:p>
          <a:p>
            <a:pPr marL="742950" marR="0" lvl="1" indent="-2857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Char char="–"/>
              <a:tabLst/>
              <a:defRPr/>
            </a:pPr>
            <a:r>
              <a:rPr kumimoji="0" lang="en-US" sz="2400" b="1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All</a:t>
            </a:r>
            <a:r>
              <a: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  <a:r>
              <a:rPr kumimoji="0" lang="en-US" sz="2400" b="1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undirected</a:t>
            </a:r>
            <a:r>
              <a: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  <a:r>
              <a:rPr kumimoji="0" lang="en-US" sz="2400" b="1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graphs</a:t>
            </a:r>
            <a:r>
              <a: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, including multigraphs and pseudographs, </a:t>
            </a:r>
            <a:r>
              <a:rPr kumimoji="0" lang="en-US" sz="2400" b="1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have symmetric adjacency matrices</a:t>
            </a:r>
            <a:endParaRPr kumimoji="0" lang="en-US" sz="24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0970294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2"/>
          <p:cNvSpPr txBox="1">
            <a:spLocks/>
          </p:cNvSpPr>
          <p:nvPr/>
        </p:nvSpPr>
        <p:spPr>
          <a:xfrm>
            <a:off x="335494" y="731162"/>
            <a:ext cx="6543608" cy="493414"/>
          </a:xfrm>
          <a:prstGeom prst="rect">
            <a:avLst/>
          </a:prstGeom>
        </p:spPr>
        <p:txBody>
          <a:bodyPr>
            <a:normAutofit lnSpcReduction="10000"/>
          </a:bodyPr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800" b="1" dirty="0">
                <a:cs typeface="Times New Roman" pitchFamily="18" charset="0"/>
              </a:rPr>
              <a:t>Adjacency matrices </a:t>
            </a:r>
            <a:endParaRPr lang="en-US" sz="2600" b="1" dirty="0">
              <a:solidFill>
                <a:srgbClr val="FF0000"/>
              </a:solidFill>
            </a:endParaRPr>
          </a:p>
        </p:txBody>
      </p:sp>
      <p:sp>
        <p:nvSpPr>
          <p:cNvPr id="20" name="Rectangle 3" descr="Rectangle: Click to edit Master text styles&#10;Second level&#10;Third level&#10;Fourth level&#10;Fifth level">
            <a:extLst>
              <a:ext uri="{FF2B5EF4-FFF2-40B4-BE49-F238E27FC236}">
                <a16:creationId xmlns:a16="http://schemas.microsoft.com/office/drawing/2014/main" id="{3720839B-CC72-4278-98D5-B1A40D74B9E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8200" y="1524000"/>
            <a:ext cx="7924800" cy="4724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Char char="•"/>
              <a:tabLst/>
              <a:defRPr/>
            </a:pPr>
            <a:r>
              <a:rPr kumimoji="0" lang="en-US" sz="2400" b="1" i="1" u="sng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Example</a:t>
            </a:r>
            <a:r>
              <a: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: What’s the adjacency matrix of the following graph?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1" name="Oval 4">
            <a:extLst>
              <a:ext uri="{FF2B5EF4-FFF2-40B4-BE49-F238E27FC236}">
                <a16:creationId xmlns:a16="http://schemas.microsoft.com/office/drawing/2014/main" id="{B78B3833-3D35-4730-B588-5291B526CBD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67000" y="2743200"/>
            <a:ext cx="381000" cy="381000"/>
          </a:xfrm>
          <a:prstGeom prst="ellipse">
            <a:avLst/>
          </a:prstGeom>
          <a:solidFill>
            <a:srgbClr val="4F81BD"/>
          </a:solidFill>
          <a:ln w="9525">
            <a:solidFill>
              <a:sysClr val="windowText" lastClr="000000"/>
            </a:solidFill>
            <a:round/>
            <a:headEnd/>
            <a:tailEnd/>
          </a:ln>
        </p:spPr>
        <p:txBody>
          <a:bodyPr wrap="none"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cs typeface="Arial" charset="0"/>
              </a:rPr>
              <a:t>a</a:t>
            </a:r>
          </a:p>
        </p:txBody>
      </p:sp>
      <p:sp>
        <p:nvSpPr>
          <p:cNvPr id="22" name="Oval 5">
            <a:extLst>
              <a:ext uri="{FF2B5EF4-FFF2-40B4-BE49-F238E27FC236}">
                <a16:creationId xmlns:a16="http://schemas.microsoft.com/office/drawing/2014/main" id="{3306E35F-F295-4646-8AF2-3B10827D6D7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81600" y="2743200"/>
            <a:ext cx="381000" cy="381000"/>
          </a:xfrm>
          <a:prstGeom prst="ellipse">
            <a:avLst/>
          </a:prstGeom>
          <a:solidFill>
            <a:srgbClr val="4F81BD"/>
          </a:solidFill>
          <a:ln w="9525">
            <a:solidFill>
              <a:sysClr val="windowText" lastClr="000000"/>
            </a:solidFill>
            <a:round/>
            <a:headEnd/>
            <a:tailEnd/>
          </a:ln>
        </p:spPr>
        <p:txBody>
          <a:bodyPr wrap="none"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cs typeface="Arial" charset="0"/>
              </a:rPr>
              <a:t>b</a:t>
            </a:r>
          </a:p>
        </p:txBody>
      </p:sp>
      <p:sp>
        <p:nvSpPr>
          <p:cNvPr id="24" name="Oval 6">
            <a:extLst>
              <a:ext uri="{FF2B5EF4-FFF2-40B4-BE49-F238E27FC236}">
                <a16:creationId xmlns:a16="http://schemas.microsoft.com/office/drawing/2014/main" id="{051B5645-25F1-4DFF-8CF9-44FAE6AA76A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62400" y="3886200"/>
            <a:ext cx="381000" cy="381000"/>
          </a:xfrm>
          <a:prstGeom prst="ellipse">
            <a:avLst/>
          </a:prstGeom>
          <a:solidFill>
            <a:srgbClr val="4F81BD"/>
          </a:solidFill>
          <a:ln w="9525">
            <a:solidFill>
              <a:sysClr val="windowText" lastClr="000000"/>
            </a:solidFill>
            <a:round/>
            <a:headEnd/>
            <a:tailEnd/>
          </a:ln>
        </p:spPr>
        <p:txBody>
          <a:bodyPr wrap="none"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cs typeface="Arial" charset="0"/>
              </a:rPr>
              <a:t>c</a:t>
            </a:r>
          </a:p>
        </p:txBody>
      </p:sp>
      <p:sp>
        <p:nvSpPr>
          <p:cNvPr id="25" name="Oval 7">
            <a:extLst>
              <a:ext uri="{FF2B5EF4-FFF2-40B4-BE49-F238E27FC236}">
                <a16:creationId xmlns:a16="http://schemas.microsoft.com/office/drawing/2014/main" id="{FD860CB3-7D9B-4BCF-9155-E9733A2D000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81600" y="3886200"/>
            <a:ext cx="381000" cy="381000"/>
          </a:xfrm>
          <a:prstGeom prst="ellipse">
            <a:avLst/>
          </a:prstGeom>
          <a:solidFill>
            <a:srgbClr val="4F81BD"/>
          </a:solidFill>
          <a:ln w="9525">
            <a:solidFill>
              <a:sysClr val="windowText" lastClr="000000"/>
            </a:solidFill>
            <a:round/>
            <a:headEnd/>
            <a:tailEnd/>
          </a:ln>
        </p:spPr>
        <p:txBody>
          <a:bodyPr wrap="none"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cs typeface="Arial" charset="0"/>
              </a:rPr>
              <a:t>d</a:t>
            </a:r>
          </a:p>
        </p:txBody>
      </p:sp>
      <p:cxnSp>
        <p:nvCxnSpPr>
          <p:cNvPr id="26" name="AutoShape 8">
            <a:extLst>
              <a:ext uri="{FF2B5EF4-FFF2-40B4-BE49-F238E27FC236}">
                <a16:creationId xmlns:a16="http://schemas.microsoft.com/office/drawing/2014/main" id="{FACF80BF-3E92-4760-B1D3-4DA82FA50AE1}"/>
              </a:ext>
            </a:extLst>
          </p:cNvPr>
          <p:cNvCxnSpPr>
            <a:cxnSpLocks noChangeShapeType="1"/>
            <a:stCxn id="21" idx="6"/>
            <a:endCxn id="22" idx="2"/>
          </p:cNvCxnSpPr>
          <p:nvPr/>
        </p:nvCxnSpPr>
        <p:spPr bwMode="auto">
          <a:xfrm>
            <a:off x="3048000" y="2933700"/>
            <a:ext cx="2133600" cy="0"/>
          </a:xfrm>
          <a:prstGeom prst="straightConnector1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</p:spPr>
      </p:cxnSp>
      <p:cxnSp>
        <p:nvCxnSpPr>
          <p:cNvPr id="27" name="AutoShape 9">
            <a:extLst>
              <a:ext uri="{FF2B5EF4-FFF2-40B4-BE49-F238E27FC236}">
                <a16:creationId xmlns:a16="http://schemas.microsoft.com/office/drawing/2014/main" id="{7627CBCC-32C5-4B4E-9DCF-A0787C611F5A}"/>
              </a:ext>
            </a:extLst>
          </p:cNvPr>
          <p:cNvCxnSpPr>
            <a:cxnSpLocks noChangeShapeType="1"/>
            <a:stCxn id="21" idx="5"/>
            <a:endCxn id="24" idx="1"/>
          </p:cNvCxnSpPr>
          <p:nvPr/>
        </p:nvCxnSpPr>
        <p:spPr bwMode="auto">
          <a:xfrm>
            <a:off x="2992438" y="3068638"/>
            <a:ext cx="1025525" cy="873125"/>
          </a:xfrm>
          <a:prstGeom prst="straightConnector1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</p:spPr>
      </p:cxnSp>
      <p:cxnSp>
        <p:nvCxnSpPr>
          <p:cNvPr id="28" name="AutoShape 10">
            <a:extLst>
              <a:ext uri="{FF2B5EF4-FFF2-40B4-BE49-F238E27FC236}">
                <a16:creationId xmlns:a16="http://schemas.microsoft.com/office/drawing/2014/main" id="{54A964AB-A5D6-4E9C-865A-BED6ABEF8396}"/>
              </a:ext>
            </a:extLst>
          </p:cNvPr>
          <p:cNvCxnSpPr>
            <a:cxnSpLocks noChangeShapeType="1"/>
            <a:stCxn id="24" idx="7"/>
            <a:endCxn id="22" idx="3"/>
          </p:cNvCxnSpPr>
          <p:nvPr/>
        </p:nvCxnSpPr>
        <p:spPr bwMode="auto">
          <a:xfrm flipV="1">
            <a:off x="4287838" y="3068638"/>
            <a:ext cx="949325" cy="873125"/>
          </a:xfrm>
          <a:prstGeom prst="straightConnector1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</p:spPr>
      </p:cxnSp>
      <p:cxnSp>
        <p:nvCxnSpPr>
          <p:cNvPr id="29" name="AutoShape 11">
            <a:extLst>
              <a:ext uri="{FF2B5EF4-FFF2-40B4-BE49-F238E27FC236}">
                <a16:creationId xmlns:a16="http://schemas.microsoft.com/office/drawing/2014/main" id="{315C631D-84DE-492B-B6F9-BA41288DAEFF}"/>
              </a:ext>
            </a:extLst>
          </p:cNvPr>
          <p:cNvCxnSpPr>
            <a:cxnSpLocks noChangeShapeType="1"/>
            <a:stCxn id="21" idx="7"/>
            <a:endCxn id="22" idx="1"/>
          </p:cNvCxnSpPr>
          <p:nvPr/>
        </p:nvCxnSpPr>
        <p:spPr bwMode="auto">
          <a:xfrm>
            <a:off x="2992438" y="2798763"/>
            <a:ext cx="2244725" cy="0"/>
          </a:xfrm>
          <a:prstGeom prst="straightConnector1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</p:spPr>
      </p:cxnSp>
      <p:cxnSp>
        <p:nvCxnSpPr>
          <p:cNvPr id="30" name="AutoShape 12">
            <a:extLst>
              <a:ext uri="{FF2B5EF4-FFF2-40B4-BE49-F238E27FC236}">
                <a16:creationId xmlns:a16="http://schemas.microsoft.com/office/drawing/2014/main" id="{BD5FD00C-F34D-4197-BFC3-B37CC3C50310}"/>
              </a:ext>
            </a:extLst>
          </p:cNvPr>
          <p:cNvCxnSpPr>
            <a:cxnSpLocks noChangeShapeType="1"/>
            <a:stCxn id="22" idx="4"/>
            <a:endCxn id="22" idx="6"/>
          </p:cNvCxnSpPr>
          <p:nvPr/>
        </p:nvCxnSpPr>
        <p:spPr bwMode="auto">
          <a:xfrm rot="5400000" flipH="1" flipV="1">
            <a:off x="5372100" y="2933700"/>
            <a:ext cx="190500" cy="190500"/>
          </a:xfrm>
          <a:prstGeom prst="curvedConnector4">
            <a:avLst>
              <a:gd name="adj1" fmla="val -120000"/>
              <a:gd name="adj2" fmla="val 220000"/>
            </a:avLst>
          </a:prstGeom>
          <a:noFill/>
          <a:ln w="9525">
            <a:solidFill>
              <a:sysClr val="windowText" lastClr="000000"/>
            </a:solidFill>
            <a:round/>
            <a:headEnd/>
            <a:tailEnd/>
          </a:ln>
        </p:spPr>
      </p:cxnSp>
      <p:cxnSp>
        <p:nvCxnSpPr>
          <p:cNvPr id="31" name="AutoShape 13">
            <a:extLst>
              <a:ext uri="{FF2B5EF4-FFF2-40B4-BE49-F238E27FC236}">
                <a16:creationId xmlns:a16="http://schemas.microsoft.com/office/drawing/2014/main" id="{84ED63D5-8719-4C09-963B-DF9E16BB00C0}"/>
              </a:ext>
            </a:extLst>
          </p:cNvPr>
          <p:cNvCxnSpPr>
            <a:cxnSpLocks noChangeShapeType="1"/>
            <a:stCxn id="22" idx="6"/>
            <a:endCxn id="22" idx="0"/>
          </p:cNvCxnSpPr>
          <p:nvPr/>
        </p:nvCxnSpPr>
        <p:spPr bwMode="auto">
          <a:xfrm flipH="1" flipV="1">
            <a:off x="5372100" y="2743200"/>
            <a:ext cx="190500" cy="190500"/>
          </a:xfrm>
          <a:prstGeom prst="curvedConnector4">
            <a:avLst>
              <a:gd name="adj1" fmla="val -120000"/>
              <a:gd name="adj2" fmla="val 220000"/>
            </a:avLst>
          </a:prstGeom>
          <a:noFill/>
          <a:ln w="9525">
            <a:solidFill>
              <a:sysClr val="windowText" lastClr="000000"/>
            </a:solidFill>
            <a:round/>
            <a:headEnd/>
            <a:tailEnd/>
          </a:ln>
        </p:spPr>
      </p:cxnSp>
      <p:cxnSp>
        <p:nvCxnSpPr>
          <p:cNvPr id="32" name="AutoShape 14">
            <a:extLst>
              <a:ext uri="{FF2B5EF4-FFF2-40B4-BE49-F238E27FC236}">
                <a16:creationId xmlns:a16="http://schemas.microsoft.com/office/drawing/2014/main" id="{A64E16C2-D693-4CFE-A364-96B34AAA9E1D}"/>
              </a:ext>
            </a:extLst>
          </p:cNvPr>
          <p:cNvCxnSpPr>
            <a:cxnSpLocks noChangeShapeType="1"/>
            <a:stCxn id="25" idx="6"/>
            <a:endCxn id="25" idx="0"/>
          </p:cNvCxnSpPr>
          <p:nvPr/>
        </p:nvCxnSpPr>
        <p:spPr bwMode="auto">
          <a:xfrm flipH="1" flipV="1">
            <a:off x="5372100" y="3886200"/>
            <a:ext cx="190500" cy="190500"/>
          </a:xfrm>
          <a:prstGeom prst="curvedConnector4">
            <a:avLst>
              <a:gd name="adj1" fmla="val -120000"/>
              <a:gd name="adj2" fmla="val 220000"/>
            </a:avLst>
          </a:prstGeom>
          <a:noFill/>
          <a:ln w="9525">
            <a:solidFill>
              <a:sysClr val="windowText" lastClr="000000"/>
            </a:solidFill>
            <a:round/>
            <a:headEnd/>
            <a:tailEnd/>
          </a:ln>
        </p:spPr>
      </p:cxnSp>
    </p:spTree>
    <p:extLst>
      <p:ext uri="{BB962C8B-B14F-4D97-AF65-F5344CB8AC3E}">
        <p14:creationId xmlns:p14="http://schemas.microsoft.com/office/powerpoint/2010/main" val="326750215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2"/>
          <p:cNvSpPr txBox="1">
            <a:spLocks/>
          </p:cNvSpPr>
          <p:nvPr/>
        </p:nvSpPr>
        <p:spPr>
          <a:xfrm>
            <a:off x="335494" y="731162"/>
            <a:ext cx="6543608" cy="493414"/>
          </a:xfrm>
          <a:prstGeom prst="rect">
            <a:avLst/>
          </a:prstGeom>
        </p:spPr>
        <p:txBody>
          <a:bodyPr>
            <a:normAutofit lnSpcReduction="10000"/>
          </a:bodyPr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800" b="1" dirty="0">
                <a:cs typeface="Times New Roman" pitchFamily="18" charset="0"/>
              </a:rPr>
              <a:t>Adjacency matrices </a:t>
            </a:r>
            <a:endParaRPr lang="en-US" sz="2600" b="1" dirty="0">
              <a:solidFill>
                <a:srgbClr val="FF0000"/>
              </a:solidFill>
            </a:endParaRPr>
          </a:p>
        </p:txBody>
      </p:sp>
      <p:sp>
        <p:nvSpPr>
          <p:cNvPr id="44" name="Rectangle 3" descr="Rectangle: Click to edit Master text styles&#10;Second level&#10;Third level&#10;Fourth level&#10;Fifth level">
            <a:extLst>
              <a:ext uri="{FF2B5EF4-FFF2-40B4-BE49-F238E27FC236}">
                <a16:creationId xmlns:a16="http://schemas.microsoft.com/office/drawing/2014/main" id="{C62D2910-EEA0-4CF1-BE51-5BCFC74486E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8200" y="1752600"/>
            <a:ext cx="7924800" cy="4724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itchFamily="2" charset="2"/>
              <a:buNone/>
              <a:tabLst/>
              <a:defRPr/>
            </a:pPr>
            <a:endParaRPr kumimoji="0" lang="en-US" sz="3200" b="0" i="0" u="none" strike="noStrike" kern="120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itchFamily="2" charset="2"/>
              <a:buNone/>
              <a:tabLst/>
              <a:defRPr/>
            </a:pPr>
            <a:endParaRPr kumimoji="0" lang="en-US" sz="3200" b="0" i="0" u="none" strike="noStrike" kern="120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itchFamily="2" charset="2"/>
              <a:buNone/>
              <a:tabLst/>
              <a:defRPr/>
            </a:pPr>
            <a:endParaRPr kumimoji="0" lang="en-US" sz="3200" b="0" i="0" u="none" strike="noStrike" kern="120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itchFamily="2" charset="2"/>
              <a:buNone/>
              <a:tabLst/>
              <a:defRPr/>
            </a:pPr>
            <a:r>
              <a:rPr kumimoji="0" lang="en-US" sz="2800" b="1" i="0" u="sng" strike="noStrike" kern="120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Solution:</a:t>
            </a:r>
            <a:endParaRPr kumimoji="0" lang="en-US" sz="3200" b="0" i="0" u="none" strike="noStrike" kern="1200" cap="none" spc="0" normalizeH="0" baseline="0" noProof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itchFamily="2" charset="2"/>
              <a:buNone/>
              <a:tabLst/>
              <a:defRPr/>
            </a:pPr>
            <a:endParaRPr kumimoji="0" lang="en-US" sz="3200" b="0" i="0" u="none" strike="noStrike" kern="120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itchFamily="2" charset="2"/>
              <a:buNone/>
              <a:tabLst/>
              <a:defRPr/>
            </a:pPr>
            <a:endParaRPr kumimoji="0" lang="en-US" sz="3200" b="0" i="0" u="none" strike="noStrike" kern="120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itchFamily="2" charset="2"/>
              <a:buNone/>
              <a:tabLst/>
              <a:defRPr/>
            </a:pPr>
            <a:endParaRPr kumimoji="0" lang="en-US" sz="32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5" name="Oval 4">
            <a:extLst>
              <a:ext uri="{FF2B5EF4-FFF2-40B4-BE49-F238E27FC236}">
                <a16:creationId xmlns:a16="http://schemas.microsoft.com/office/drawing/2014/main" id="{E471619B-F29E-4CC0-8927-ED119828353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19400" y="1600200"/>
            <a:ext cx="381000" cy="381000"/>
          </a:xfrm>
          <a:prstGeom prst="ellipse">
            <a:avLst/>
          </a:prstGeom>
          <a:solidFill>
            <a:srgbClr val="4F81BD"/>
          </a:solidFill>
          <a:ln w="9525">
            <a:solidFill>
              <a:sysClr val="windowText" lastClr="000000"/>
            </a:solidFill>
            <a:round/>
            <a:headEnd/>
            <a:tailEnd/>
          </a:ln>
        </p:spPr>
        <p:txBody>
          <a:bodyPr wrap="none"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cs typeface="Arial" charset="0"/>
              </a:rPr>
              <a:t>a</a:t>
            </a:r>
          </a:p>
        </p:txBody>
      </p:sp>
      <p:sp>
        <p:nvSpPr>
          <p:cNvPr id="46" name="Oval 5">
            <a:extLst>
              <a:ext uri="{FF2B5EF4-FFF2-40B4-BE49-F238E27FC236}">
                <a16:creationId xmlns:a16="http://schemas.microsoft.com/office/drawing/2014/main" id="{9FE57F71-09FE-414B-BB66-3466CA632D4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34000" y="1600200"/>
            <a:ext cx="381000" cy="381000"/>
          </a:xfrm>
          <a:prstGeom prst="ellipse">
            <a:avLst/>
          </a:prstGeom>
          <a:solidFill>
            <a:srgbClr val="4F81BD"/>
          </a:solidFill>
          <a:ln w="9525">
            <a:solidFill>
              <a:sysClr val="windowText" lastClr="000000"/>
            </a:solidFill>
            <a:round/>
            <a:headEnd/>
            <a:tailEnd/>
          </a:ln>
        </p:spPr>
        <p:txBody>
          <a:bodyPr wrap="none"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cs typeface="Arial" charset="0"/>
              </a:rPr>
              <a:t>b</a:t>
            </a:r>
          </a:p>
        </p:txBody>
      </p:sp>
      <p:sp>
        <p:nvSpPr>
          <p:cNvPr id="47" name="Oval 6">
            <a:extLst>
              <a:ext uri="{FF2B5EF4-FFF2-40B4-BE49-F238E27FC236}">
                <a16:creationId xmlns:a16="http://schemas.microsoft.com/office/drawing/2014/main" id="{9AB1B1A0-5CF9-4166-8FA3-BDEDE609479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14800" y="2743200"/>
            <a:ext cx="381000" cy="381000"/>
          </a:xfrm>
          <a:prstGeom prst="ellipse">
            <a:avLst/>
          </a:prstGeom>
          <a:solidFill>
            <a:srgbClr val="4F81BD"/>
          </a:solidFill>
          <a:ln w="9525">
            <a:solidFill>
              <a:sysClr val="windowText" lastClr="000000"/>
            </a:solidFill>
            <a:round/>
            <a:headEnd/>
            <a:tailEnd/>
          </a:ln>
        </p:spPr>
        <p:txBody>
          <a:bodyPr wrap="none"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cs typeface="Arial" charset="0"/>
              </a:rPr>
              <a:t>c</a:t>
            </a:r>
          </a:p>
        </p:txBody>
      </p:sp>
      <p:sp>
        <p:nvSpPr>
          <p:cNvPr id="48" name="Oval 7">
            <a:extLst>
              <a:ext uri="{FF2B5EF4-FFF2-40B4-BE49-F238E27FC236}">
                <a16:creationId xmlns:a16="http://schemas.microsoft.com/office/drawing/2014/main" id="{9019F547-7861-4D6F-B5BD-06A4C3AF05F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34000" y="2743200"/>
            <a:ext cx="381000" cy="381000"/>
          </a:xfrm>
          <a:prstGeom prst="ellipse">
            <a:avLst/>
          </a:prstGeom>
          <a:solidFill>
            <a:srgbClr val="4F81BD"/>
          </a:solidFill>
          <a:ln w="9525">
            <a:solidFill>
              <a:sysClr val="windowText" lastClr="000000"/>
            </a:solidFill>
            <a:round/>
            <a:headEnd/>
            <a:tailEnd/>
          </a:ln>
        </p:spPr>
        <p:txBody>
          <a:bodyPr wrap="none"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cs typeface="Arial" charset="0"/>
              </a:rPr>
              <a:t>d</a:t>
            </a:r>
          </a:p>
        </p:txBody>
      </p:sp>
      <p:cxnSp>
        <p:nvCxnSpPr>
          <p:cNvPr id="49" name="AutoShape 8">
            <a:extLst>
              <a:ext uri="{FF2B5EF4-FFF2-40B4-BE49-F238E27FC236}">
                <a16:creationId xmlns:a16="http://schemas.microsoft.com/office/drawing/2014/main" id="{944B08D8-7616-45C2-A3B8-B8C334644B65}"/>
              </a:ext>
            </a:extLst>
          </p:cNvPr>
          <p:cNvCxnSpPr>
            <a:cxnSpLocks noChangeShapeType="1"/>
            <a:stCxn id="45" idx="6"/>
            <a:endCxn id="46" idx="2"/>
          </p:cNvCxnSpPr>
          <p:nvPr/>
        </p:nvCxnSpPr>
        <p:spPr bwMode="auto">
          <a:xfrm>
            <a:off x="3200400" y="1790700"/>
            <a:ext cx="2133600" cy="0"/>
          </a:xfrm>
          <a:prstGeom prst="straightConnector1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</p:spPr>
      </p:cxnSp>
      <p:cxnSp>
        <p:nvCxnSpPr>
          <p:cNvPr id="50" name="AutoShape 9">
            <a:extLst>
              <a:ext uri="{FF2B5EF4-FFF2-40B4-BE49-F238E27FC236}">
                <a16:creationId xmlns:a16="http://schemas.microsoft.com/office/drawing/2014/main" id="{2082E45B-8608-4D5C-A5D4-4131A491D6A4}"/>
              </a:ext>
            </a:extLst>
          </p:cNvPr>
          <p:cNvCxnSpPr>
            <a:cxnSpLocks noChangeShapeType="1"/>
            <a:stCxn id="45" idx="5"/>
            <a:endCxn id="47" idx="1"/>
          </p:cNvCxnSpPr>
          <p:nvPr/>
        </p:nvCxnSpPr>
        <p:spPr bwMode="auto">
          <a:xfrm>
            <a:off x="3144838" y="1925638"/>
            <a:ext cx="1025525" cy="873125"/>
          </a:xfrm>
          <a:prstGeom prst="straightConnector1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</p:spPr>
      </p:cxnSp>
      <p:cxnSp>
        <p:nvCxnSpPr>
          <p:cNvPr id="51" name="AutoShape 10">
            <a:extLst>
              <a:ext uri="{FF2B5EF4-FFF2-40B4-BE49-F238E27FC236}">
                <a16:creationId xmlns:a16="http://schemas.microsoft.com/office/drawing/2014/main" id="{95941F09-B190-46C8-97ED-BB8045EC52C0}"/>
              </a:ext>
            </a:extLst>
          </p:cNvPr>
          <p:cNvCxnSpPr>
            <a:cxnSpLocks noChangeShapeType="1"/>
            <a:stCxn id="47" idx="7"/>
            <a:endCxn id="46" idx="3"/>
          </p:cNvCxnSpPr>
          <p:nvPr/>
        </p:nvCxnSpPr>
        <p:spPr bwMode="auto">
          <a:xfrm flipV="1">
            <a:off x="4440238" y="1925638"/>
            <a:ext cx="949325" cy="873125"/>
          </a:xfrm>
          <a:prstGeom prst="straightConnector1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</p:spPr>
      </p:cxnSp>
      <p:cxnSp>
        <p:nvCxnSpPr>
          <p:cNvPr id="52" name="AutoShape 11">
            <a:extLst>
              <a:ext uri="{FF2B5EF4-FFF2-40B4-BE49-F238E27FC236}">
                <a16:creationId xmlns:a16="http://schemas.microsoft.com/office/drawing/2014/main" id="{8DE4AC93-C5AE-4A8F-B920-8934AAF74101}"/>
              </a:ext>
            </a:extLst>
          </p:cNvPr>
          <p:cNvCxnSpPr>
            <a:cxnSpLocks noChangeShapeType="1"/>
            <a:stCxn id="45" idx="7"/>
            <a:endCxn id="46" idx="1"/>
          </p:cNvCxnSpPr>
          <p:nvPr/>
        </p:nvCxnSpPr>
        <p:spPr bwMode="auto">
          <a:xfrm>
            <a:off x="3144838" y="1655763"/>
            <a:ext cx="2244725" cy="0"/>
          </a:xfrm>
          <a:prstGeom prst="straightConnector1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</p:spPr>
      </p:cxnSp>
      <p:cxnSp>
        <p:nvCxnSpPr>
          <p:cNvPr id="53" name="AutoShape 12">
            <a:extLst>
              <a:ext uri="{FF2B5EF4-FFF2-40B4-BE49-F238E27FC236}">
                <a16:creationId xmlns:a16="http://schemas.microsoft.com/office/drawing/2014/main" id="{B9DEAD2A-ECE8-43F6-AED1-1C3B78C51056}"/>
              </a:ext>
            </a:extLst>
          </p:cNvPr>
          <p:cNvCxnSpPr>
            <a:cxnSpLocks noChangeShapeType="1"/>
            <a:stCxn id="46" idx="4"/>
            <a:endCxn id="46" idx="6"/>
          </p:cNvCxnSpPr>
          <p:nvPr/>
        </p:nvCxnSpPr>
        <p:spPr bwMode="auto">
          <a:xfrm rot="5400000" flipH="1" flipV="1">
            <a:off x="5524500" y="1790700"/>
            <a:ext cx="190500" cy="190500"/>
          </a:xfrm>
          <a:prstGeom prst="curvedConnector4">
            <a:avLst>
              <a:gd name="adj1" fmla="val -120000"/>
              <a:gd name="adj2" fmla="val 220000"/>
            </a:avLst>
          </a:prstGeom>
          <a:noFill/>
          <a:ln w="9525">
            <a:solidFill>
              <a:sysClr val="windowText" lastClr="000000"/>
            </a:solidFill>
            <a:round/>
            <a:headEnd/>
            <a:tailEnd/>
          </a:ln>
        </p:spPr>
      </p:cxnSp>
      <p:cxnSp>
        <p:nvCxnSpPr>
          <p:cNvPr id="54" name="AutoShape 13">
            <a:extLst>
              <a:ext uri="{FF2B5EF4-FFF2-40B4-BE49-F238E27FC236}">
                <a16:creationId xmlns:a16="http://schemas.microsoft.com/office/drawing/2014/main" id="{62ED0DE5-E50E-4ACF-A595-42FB26559922}"/>
              </a:ext>
            </a:extLst>
          </p:cNvPr>
          <p:cNvCxnSpPr>
            <a:cxnSpLocks noChangeShapeType="1"/>
            <a:stCxn id="46" idx="6"/>
            <a:endCxn id="46" idx="0"/>
          </p:cNvCxnSpPr>
          <p:nvPr/>
        </p:nvCxnSpPr>
        <p:spPr bwMode="auto">
          <a:xfrm flipH="1" flipV="1">
            <a:off x="5524500" y="1600200"/>
            <a:ext cx="190500" cy="190500"/>
          </a:xfrm>
          <a:prstGeom prst="curvedConnector4">
            <a:avLst>
              <a:gd name="adj1" fmla="val -120000"/>
              <a:gd name="adj2" fmla="val 220000"/>
            </a:avLst>
          </a:prstGeom>
          <a:noFill/>
          <a:ln w="9525">
            <a:solidFill>
              <a:sysClr val="windowText" lastClr="000000"/>
            </a:solidFill>
            <a:round/>
            <a:headEnd/>
            <a:tailEnd/>
          </a:ln>
        </p:spPr>
      </p:cxnSp>
      <p:cxnSp>
        <p:nvCxnSpPr>
          <p:cNvPr id="55" name="AutoShape 14">
            <a:extLst>
              <a:ext uri="{FF2B5EF4-FFF2-40B4-BE49-F238E27FC236}">
                <a16:creationId xmlns:a16="http://schemas.microsoft.com/office/drawing/2014/main" id="{AC4073A5-CD67-4532-AC2E-770AD46E4489}"/>
              </a:ext>
            </a:extLst>
          </p:cNvPr>
          <p:cNvCxnSpPr>
            <a:cxnSpLocks noChangeShapeType="1"/>
            <a:stCxn id="48" idx="6"/>
            <a:endCxn id="48" idx="0"/>
          </p:cNvCxnSpPr>
          <p:nvPr/>
        </p:nvCxnSpPr>
        <p:spPr bwMode="auto">
          <a:xfrm flipH="1" flipV="1">
            <a:off x="5524500" y="2743200"/>
            <a:ext cx="190500" cy="190500"/>
          </a:xfrm>
          <a:prstGeom prst="curvedConnector4">
            <a:avLst>
              <a:gd name="adj1" fmla="val -120000"/>
              <a:gd name="adj2" fmla="val 220000"/>
            </a:avLst>
          </a:prstGeom>
          <a:noFill/>
          <a:ln w="9525">
            <a:solidFill>
              <a:sysClr val="windowText" lastClr="000000"/>
            </a:solidFill>
            <a:round/>
            <a:headEnd/>
            <a:tailEnd/>
          </a:ln>
        </p:spPr>
      </p:cxnSp>
      <p:graphicFrame>
        <p:nvGraphicFramePr>
          <p:cNvPr id="56" name="Object 2">
            <a:extLst>
              <a:ext uri="{FF2B5EF4-FFF2-40B4-BE49-F238E27FC236}">
                <a16:creationId xmlns:a16="http://schemas.microsoft.com/office/drawing/2014/main" id="{AE1DACED-5F60-4AE0-843B-BC0AC08D608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932113" y="3429000"/>
          <a:ext cx="2867025" cy="2362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1936209" imgH="21935875" progId="">
                  <p:embed/>
                </p:oleObj>
              </mc:Choice>
              <mc:Fallback>
                <p:oleObj name="Equation" r:id="rId2" imgW="21936209" imgH="21935875" progId="">
                  <p:embed/>
                  <p:pic>
                    <p:nvPicPr>
                      <p:cNvPr id="0" name="Picture 3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32113" y="3429000"/>
                        <a:ext cx="2867025" cy="23622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60391903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2"/>
          <p:cNvSpPr txBox="1">
            <a:spLocks/>
          </p:cNvSpPr>
          <p:nvPr/>
        </p:nvSpPr>
        <p:spPr>
          <a:xfrm>
            <a:off x="335494" y="731162"/>
            <a:ext cx="6543608" cy="493414"/>
          </a:xfrm>
          <a:prstGeom prst="rect">
            <a:avLst/>
          </a:prstGeom>
        </p:spPr>
        <p:txBody>
          <a:bodyPr>
            <a:normAutofit lnSpcReduction="10000"/>
          </a:bodyPr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800" b="1" dirty="0">
                <a:solidFill>
                  <a:srgbClr val="FF0000"/>
                </a:solidFill>
                <a:cs typeface="Times New Roman" pitchFamily="18" charset="0"/>
              </a:rPr>
              <a:t>Practice at Home </a:t>
            </a:r>
            <a:endParaRPr lang="en-US" sz="2600" b="1" dirty="0">
              <a:solidFill>
                <a:srgbClr val="FF0000"/>
              </a:solidFill>
            </a:endParaRPr>
          </a:p>
        </p:txBody>
      </p:sp>
      <p:sp>
        <p:nvSpPr>
          <p:cNvPr id="17" name="Content Placeholder 2">
            <a:extLst>
              <a:ext uri="{FF2B5EF4-FFF2-40B4-BE49-F238E27FC236}">
                <a16:creationId xmlns:a16="http://schemas.microsoft.com/office/drawing/2014/main" id="{2DB57A51-70B5-4C15-817F-6DF44D5017C2}"/>
              </a:ext>
            </a:extLst>
          </p:cNvPr>
          <p:cNvSpPr txBox="1">
            <a:spLocks/>
          </p:cNvSpPr>
          <p:nvPr/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Char char="•"/>
              <a:tabLst/>
              <a:defRPr/>
            </a:pPr>
            <a:r>
              <a:rPr kumimoji="0" lang="en-US" sz="2800" b="1" i="0" u="sng" strike="noStrike" kern="120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Example 5 </a:t>
            </a: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: Use an adjacency matrix to represent the pseudograph shown in </a:t>
            </a:r>
            <a:r>
              <a:rPr kumimoji="0" lang="en-US" sz="2800" b="1" i="0" u="none" strike="noStrike" kern="120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Figure 5</a:t>
            </a: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.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6528830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65069" y="575617"/>
            <a:ext cx="7808976" cy="1088136"/>
          </a:xfrm>
        </p:spPr>
        <p:txBody>
          <a:bodyPr>
            <a:normAutofit fontScale="90000"/>
          </a:bodyPr>
          <a:lstStyle/>
          <a:p>
            <a:r>
              <a:rPr lang="en-US" dirty="0"/>
              <a:t>Adjacency matrices for</a:t>
            </a:r>
            <a:br>
              <a:rPr lang="en-US" dirty="0"/>
            </a:br>
            <a:r>
              <a:rPr lang="en-US" dirty="0"/>
              <a:t> Directed Graphs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A3EDDE76-DC1B-4485-992E-8B1BB41E62E7}"/>
              </a:ext>
            </a:extLst>
          </p:cNvPr>
          <p:cNvSpPr txBox="1">
            <a:spLocks/>
          </p:cNvSpPr>
          <p:nvPr/>
        </p:nvSpPr>
        <p:spPr bwMode="auto">
          <a:xfrm>
            <a:off x="421341" y="2306385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Char char="•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ea typeface="+mn-ea"/>
                <a:cs typeface="Times New Roman" pitchFamily="18" charset="0"/>
              </a:rPr>
              <a:t>Adjacency matrices can also be used to represent </a:t>
            </a: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ea typeface="+mn-ea"/>
                <a:cs typeface="Times New Roman" pitchFamily="18" charset="0"/>
              </a:rPr>
              <a:t>directed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ea typeface="+mn-ea"/>
                <a:cs typeface="Times New Roman" pitchFamily="18" charset="0"/>
              </a:rPr>
              <a:t> </a:t>
            </a: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ea typeface="+mn-ea"/>
                <a:cs typeface="Times New Roman" pitchFamily="18" charset="0"/>
              </a:rPr>
              <a:t>multigraphs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Times New Roman" pitchFamily="18" charset="0"/>
              </a:rPr>
              <a:t>. </a:t>
            </a:r>
          </a:p>
          <a:p>
            <a:pPr marL="742950" marR="0" lvl="1" indent="-2857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Char char="–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Times New Roman" pitchFamily="18" charset="0"/>
              </a:rPr>
              <a:t>However, such matrices are 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n-ea"/>
                <a:cs typeface="Times New Roman" pitchFamily="18" charset="0"/>
              </a:rPr>
              <a:t>not zero-one matrices when there are multiple edges 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Times New Roman" pitchFamily="18" charset="0"/>
              </a:rPr>
              <a:t>in the same direction connecting two vertices</a:t>
            </a: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Char char="•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Times New Roman" pitchFamily="18" charset="0"/>
              </a:rPr>
              <a:t>In the adjacency matrix for a directed graph, </a:t>
            </a:r>
            <a:r>
              <a:rPr kumimoji="0" lang="en-US" sz="2800" b="0" i="1" u="none" strike="noStrike" kern="1200" cap="none" spc="0" normalizeH="0" baseline="0" noProof="0" dirty="0" err="1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a</a:t>
            </a:r>
            <a:r>
              <a:rPr kumimoji="0" lang="en-US" sz="2800" b="0" i="0" u="none" strike="noStrike" kern="1200" cap="none" spc="0" normalizeH="0" baseline="-25000" noProof="0" dirty="0" err="1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ij</a:t>
            </a:r>
            <a:r>
              <a:rPr kumimoji="0" lang="en-US" sz="2800" b="0" i="0" u="none" strike="noStrike" kern="1200" cap="none" spc="0" normalizeH="0" baseline="-2500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Times New Roman" pitchFamily="18" charset="0"/>
              </a:rPr>
              <a:t> equals the number of edges that are associated to</a:t>
            </a: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Times New Roman" pitchFamily="18" charset="0"/>
              </a:rPr>
              <a:t>	(</a:t>
            </a:r>
            <a:r>
              <a:rPr kumimoji="0" lang="en-US" sz="2800" b="0" i="1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v</a:t>
            </a:r>
            <a:r>
              <a:rPr kumimoji="0" lang="en-US" sz="2800" b="0" i="1" u="none" strike="noStrike" kern="1200" cap="none" spc="0" normalizeH="0" baseline="-2500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i ,</a:t>
            </a:r>
            <a:r>
              <a:rPr kumimoji="0" lang="en-US" sz="2800" b="0" i="1" u="none" strike="noStrike" kern="1200" cap="none" spc="0" normalizeH="0" baseline="0" noProof="0" dirty="0" err="1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v</a:t>
            </a:r>
            <a:r>
              <a:rPr kumimoji="0" lang="en-US" sz="2800" b="0" i="0" u="none" strike="noStrike" kern="1200" cap="none" spc="0" normalizeH="0" baseline="-25000" noProof="0" dirty="0" err="1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j</a:t>
            </a:r>
            <a:r>
              <a:rPr kumimoji="0" lang="en-US" sz="2800" b="0" i="0" u="none" strike="noStrike" kern="1200" cap="none" spc="0" normalizeH="0" baseline="-2500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Times New Roman" pitchFamily="18" charset="0"/>
              </a:rPr>
              <a:t>).</a:t>
            </a: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Char char="•"/>
              <a:tabLst/>
              <a:defRPr/>
            </a:pP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1136399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2"/>
          <p:cNvSpPr txBox="1">
            <a:spLocks/>
          </p:cNvSpPr>
          <p:nvPr/>
        </p:nvSpPr>
        <p:spPr>
          <a:xfrm>
            <a:off x="335494" y="731162"/>
            <a:ext cx="6543608" cy="493414"/>
          </a:xfrm>
          <a:prstGeom prst="rect">
            <a:avLst/>
          </a:prstGeom>
        </p:spPr>
        <p:txBody>
          <a:bodyPr>
            <a:normAutofit lnSpcReduction="10000"/>
          </a:bodyPr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800" b="1" dirty="0">
                <a:cs typeface="Times New Roman" pitchFamily="18" charset="0"/>
              </a:rPr>
              <a:t>Adjacency matrices for directed graphs</a:t>
            </a:r>
            <a:endParaRPr lang="en-US" sz="2600" b="1" dirty="0">
              <a:solidFill>
                <a:srgbClr val="FF0000"/>
              </a:solidFill>
            </a:endParaRPr>
          </a:p>
        </p:txBody>
      </p:sp>
      <p:sp>
        <p:nvSpPr>
          <p:cNvPr id="24" name="Rectangle 3" descr="Rectangle: Click to edit Master text styles&#10;Second level&#10;Third level&#10;Fourth level&#10;Fifth level">
            <a:extLst>
              <a:ext uri="{FF2B5EF4-FFF2-40B4-BE49-F238E27FC236}">
                <a16:creationId xmlns:a16="http://schemas.microsoft.com/office/drawing/2014/main" id="{3C2E1AE5-10C0-43D3-8B12-484E91E291F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itchFamily="2" charset="2"/>
              <a:buNone/>
              <a:tabLst/>
              <a:defRPr/>
            </a:pPr>
            <a:r>
              <a:rPr kumimoji="0" lang="en-US" sz="3200" b="0" i="0" u="sng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Example</a:t>
            </a:r>
            <a:r>
              <a:rPr kumimoji="0" lang="en-US" sz="3200" b="0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: What is the adjacency matrix?</a:t>
            </a:r>
            <a:endParaRPr kumimoji="0" lang="en-US" sz="32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5" name="Oval 16">
            <a:extLst>
              <a:ext uri="{FF2B5EF4-FFF2-40B4-BE49-F238E27FC236}">
                <a16:creationId xmlns:a16="http://schemas.microsoft.com/office/drawing/2014/main" id="{A645F396-265C-4419-A650-55D94B65BDE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71800" y="3962400"/>
            <a:ext cx="381000" cy="381000"/>
          </a:xfrm>
          <a:prstGeom prst="ellipse">
            <a:avLst/>
          </a:prstGeom>
          <a:solidFill>
            <a:srgbClr val="4F81BD"/>
          </a:solidFill>
          <a:ln w="9525">
            <a:solidFill>
              <a:sysClr val="windowText" lastClr="000000"/>
            </a:solidFill>
            <a:round/>
            <a:headEnd/>
            <a:tailEnd/>
          </a:ln>
        </p:spPr>
        <p:txBody>
          <a:bodyPr wrap="none"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cs typeface="Arial" charset="0"/>
              </a:rPr>
              <a:t>a</a:t>
            </a:r>
          </a:p>
        </p:txBody>
      </p:sp>
      <p:sp>
        <p:nvSpPr>
          <p:cNvPr id="26" name="Oval 17">
            <a:extLst>
              <a:ext uri="{FF2B5EF4-FFF2-40B4-BE49-F238E27FC236}">
                <a16:creationId xmlns:a16="http://schemas.microsoft.com/office/drawing/2014/main" id="{8BA7D5C2-FCF0-4958-92B2-5CBCA50D6A8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91000" y="3048000"/>
            <a:ext cx="381000" cy="381000"/>
          </a:xfrm>
          <a:prstGeom prst="ellipse">
            <a:avLst/>
          </a:prstGeom>
          <a:solidFill>
            <a:srgbClr val="4F81BD"/>
          </a:solidFill>
          <a:ln w="9525">
            <a:solidFill>
              <a:sysClr val="windowText" lastClr="000000"/>
            </a:solidFill>
            <a:round/>
            <a:headEnd/>
            <a:tailEnd/>
          </a:ln>
        </p:spPr>
        <p:txBody>
          <a:bodyPr wrap="none"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cs typeface="Arial" charset="0"/>
              </a:rPr>
              <a:t>b</a:t>
            </a:r>
          </a:p>
        </p:txBody>
      </p:sp>
      <p:sp>
        <p:nvSpPr>
          <p:cNvPr id="27" name="Oval 18">
            <a:extLst>
              <a:ext uri="{FF2B5EF4-FFF2-40B4-BE49-F238E27FC236}">
                <a16:creationId xmlns:a16="http://schemas.microsoft.com/office/drawing/2014/main" id="{43DEE352-6299-4F56-852B-D23B3EF6E8B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34000" y="3962400"/>
            <a:ext cx="381000" cy="381000"/>
          </a:xfrm>
          <a:prstGeom prst="ellipse">
            <a:avLst/>
          </a:prstGeom>
          <a:solidFill>
            <a:srgbClr val="4F81BD"/>
          </a:solidFill>
          <a:ln w="9525">
            <a:solidFill>
              <a:sysClr val="windowText" lastClr="000000"/>
            </a:solidFill>
            <a:round/>
            <a:headEnd/>
            <a:tailEnd/>
          </a:ln>
        </p:spPr>
        <p:txBody>
          <a:bodyPr wrap="none"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cs typeface="Arial" charset="0"/>
              </a:rPr>
              <a:t>c</a:t>
            </a:r>
          </a:p>
        </p:txBody>
      </p:sp>
      <p:cxnSp>
        <p:nvCxnSpPr>
          <p:cNvPr id="28" name="AutoShape 19">
            <a:extLst>
              <a:ext uri="{FF2B5EF4-FFF2-40B4-BE49-F238E27FC236}">
                <a16:creationId xmlns:a16="http://schemas.microsoft.com/office/drawing/2014/main" id="{5EF30F6F-DB3B-4FA3-8007-A430E0191451}"/>
              </a:ext>
            </a:extLst>
          </p:cNvPr>
          <p:cNvCxnSpPr>
            <a:cxnSpLocks noChangeShapeType="1"/>
            <a:stCxn id="25" idx="7"/>
            <a:endCxn id="26" idx="3"/>
          </p:cNvCxnSpPr>
          <p:nvPr/>
        </p:nvCxnSpPr>
        <p:spPr bwMode="auto">
          <a:xfrm flipV="1">
            <a:off x="3297238" y="3373438"/>
            <a:ext cx="949325" cy="644525"/>
          </a:xfrm>
          <a:prstGeom prst="straightConnector1">
            <a:avLst/>
          </a:prstGeom>
          <a:noFill/>
          <a:ln w="25400">
            <a:solidFill>
              <a:sysClr val="windowText" lastClr="000000"/>
            </a:solidFill>
            <a:round/>
            <a:headEnd/>
            <a:tailEnd type="triangle" w="med" len="med"/>
          </a:ln>
        </p:spPr>
      </p:cxnSp>
      <p:cxnSp>
        <p:nvCxnSpPr>
          <p:cNvPr id="29" name="AutoShape 20">
            <a:extLst>
              <a:ext uri="{FF2B5EF4-FFF2-40B4-BE49-F238E27FC236}">
                <a16:creationId xmlns:a16="http://schemas.microsoft.com/office/drawing/2014/main" id="{7FC2C213-F642-421C-A262-501431B2AB9D}"/>
              </a:ext>
            </a:extLst>
          </p:cNvPr>
          <p:cNvCxnSpPr>
            <a:cxnSpLocks noChangeShapeType="1"/>
            <a:stCxn id="26" idx="5"/>
            <a:endCxn id="27" idx="1"/>
          </p:cNvCxnSpPr>
          <p:nvPr/>
        </p:nvCxnSpPr>
        <p:spPr bwMode="auto">
          <a:xfrm>
            <a:off x="4516438" y="3373438"/>
            <a:ext cx="873125" cy="644525"/>
          </a:xfrm>
          <a:prstGeom prst="straightConnector1">
            <a:avLst/>
          </a:prstGeom>
          <a:noFill/>
          <a:ln w="25400">
            <a:solidFill>
              <a:sysClr val="windowText" lastClr="000000"/>
            </a:solidFill>
            <a:round/>
            <a:headEnd/>
            <a:tailEnd type="triangle" w="med" len="med"/>
          </a:ln>
        </p:spPr>
      </p:cxnSp>
      <p:cxnSp>
        <p:nvCxnSpPr>
          <p:cNvPr id="30" name="AutoShape 21">
            <a:extLst>
              <a:ext uri="{FF2B5EF4-FFF2-40B4-BE49-F238E27FC236}">
                <a16:creationId xmlns:a16="http://schemas.microsoft.com/office/drawing/2014/main" id="{F15D8348-7EAD-47A8-BA3D-9DFA3CC2AF11}"/>
              </a:ext>
            </a:extLst>
          </p:cNvPr>
          <p:cNvCxnSpPr>
            <a:cxnSpLocks noChangeShapeType="1"/>
            <a:stCxn id="27" idx="2"/>
            <a:endCxn id="27" idx="4"/>
          </p:cNvCxnSpPr>
          <p:nvPr/>
        </p:nvCxnSpPr>
        <p:spPr bwMode="auto">
          <a:xfrm rot="10800000" flipH="1" flipV="1">
            <a:off x="5334000" y="4152900"/>
            <a:ext cx="190500" cy="190500"/>
          </a:xfrm>
          <a:prstGeom prst="curvedConnector4">
            <a:avLst>
              <a:gd name="adj1" fmla="val -120000"/>
              <a:gd name="adj2" fmla="val 220000"/>
            </a:avLst>
          </a:prstGeom>
          <a:noFill/>
          <a:ln w="25400">
            <a:solidFill>
              <a:sysClr val="windowText" lastClr="000000"/>
            </a:solidFill>
            <a:round/>
            <a:headEnd/>
            <a:tailEnd type="triangle" w="med" len="med"/>
          </a:ln>
        </p:spPr>
      </p:cxnSp>
      <p:cxnSp>
        <p:nvCxnSpPr>
          <p:cNvPr id="31" name="AutoShape 22">
            <a:extLst>
              <a:ext uri="{FF2B5EF4-FFF2-40B4-BE49-F238E27FC236}">
                <a16:creationId xmlns:a16="http://schemas.microsoft.com/office/drawing/2014/main" id="{4272751C-C828-42CB-B994-FB8DBA48D53F}"/>
              </a:ext>
            </a:extLst>
          </p:cNvPr>
          <p:cNvCxnSpPr>
            <a:cxnSpLocks noChangeShapeType="1"/>
            <a:stCxn id="26" idx="6"/>
            <a:endCxn id="26" idx="1"/>
          </p:cNvCxnSpPr>
          <p:nvPr/>
        </p:nvCxnSpPr>
        <p:spPr bwMode="auto">
          <a:xfrm flipH="1" flipV="1">
            <a:off x="4246563" y="3103563"/>
            <a:ext cx="325437" cy="134937"/>
          </a:xfrm>
          <a:prstGeom prst="curvedConnector4">
            <a:avLst>
              <a:gd name="adj1" fmla="val -35611"/>
              <a:gd name="adj2" fmla="val 425880"/>
            </a:avLst>
          </a:prstGeom>
          <a:noFill/>
          <a:ln w="25400">
            <a:solidFill>
              <a:sysClr val="windowText" lastClr="000000"/>
            </a:solidFill>
            <a:round/>
            <a:headEnd/>
            <a:tailEnd type="triangle" w="med" len="med"/>
          </a:ln>
        </p:spPr>
      </p:cxnSp>
      <p:cxnSp>
        <p:nvCxnSpPr>
          <p:cNvPr id="32" name="AutoShape 23">
            <a:extLst>
              <a:ext uri="{FF2B5EF4-FFF2-40B4-BE49-F238E27FC236}">
                <a16:creationId xmlns:a16="http://schemas.microsoft.com/office/drawing/2014/main" id="{AFF9F252-EF88-4357-A211-B64FD812E2B7}"/>
              </a:ext>
            </a:extLst>
          </p:cNvPr>
          <p:cNvCxnSpPr>
            <a:cxnSpLocks noChangeShapeType="1"/>
            <a:stCxn id="27" idx="6"/>
            <a:endCxn id="27" idx="7"/>
          </p:cNvCxnSpPr>
          <p:nvPr/>
        </p:nvCxnSpPr>
        <p:spPr bwMode="auto">
          <a:xfrm flipH="1" flipV="1">
            <a:off x="5659438" y="4017963"/>
            <a:ext cx="55562" cy="134937"/>
          </a:xfrm>
          <a:prstGeom prst="curvedConnector4">
            <a:avLst>
              <a:gd name="adj1" fmla="val -674287"/>
              <a:gd name="adj2" fmla="val 310588"/>
            </a:avLst>
          </a:prstGeom>
          <a:noFill/>
          <a:ln w="25400">
            <a:solidFill>
              <a:sysClr val="windowText" lastClr="000000"/>
            </a:solidFill>
            <a:round/>
            <a:headEnd/>
            <a:tailEnd type="triangle" w="med" len="med"/>
          </a:ln>
        </p:spPr>
      </p:cxnSp>
      <p:cxnSp>
        <p:nvCxnSpPr>
          <p:cNvPr id="33" name="AutoShape 24">
            <a:extLst>
              <a:ext uri="{FF2B5EF4-FFF2-40B4-BE49-F238E27FC236}">
                <a16:creationId xmlns:a16="http://schemas.microsoft.com/office/drawing/2014/main" id="{63C30524-D26D-40F1-B6EA-21FBEC7B4A97}"/>
              </a:ext>
            </a:extLst>
          </p:cNvPr>
          <p:cNvCxnSpPr>
            <a:cxnSpLocks noChangeShapeType="1"/>
            <a:stCxn id="26" idx="6"/>
            <a:endCxn id="27" idx="0"/>
          </p:cNvCxnSpPr>
          <p:nvPr/>
        </p:nvCxnSpPr>
        <p:spPr bwMode="auto">
          <a:xfrm>
            <a:off x="4572000" y="3238500"/>
            <a:ext cx="952500" cy="723900"/>
          </a:xfrm>
          <a:prstGeom prst="straightConnector1">
            <a:avLst/>
          </a:prstGeom>
          <a:noFill/>
          <a:ln w="25400">
            <a:solidFill>
              <a:sysClr val="windowText" lastClr="000000"/>
            </a:solidFill>
            <a:round/>
            <a:headEnd/>
            <a:tailEnd type="triangle" w="med" len="med"/>
          </a:ln>
        </p:spPr>
      </p:cxnSp>
      <p:cxnSp>
        <p:nvCxnSpPr>
          <p:cNvPr id="34" name="AutoShape 25">
            <a:extLst>
              <a:ext uri="{FF2B5EF4-FFF2-40B4-BE49-F238E27FC236}">
                <a16:creationId xmlns:a16="http://schemas.microsoft.com/office/drawing/2014/main" id="{9E626F5A-3992-4DD8-92DA-5F105FE3E30A}"/>
              </a:ext>
            </a:extLst>
          </p:cNvPr>
          <p:cNvCxnSpPr>
            <a:cxnSpLocks noChangeShapeType="1"/>
            <a:stCxn id="25" idx="0"/>
            <a:endCxn id="26" idx="2"/>
          </p:cNvCxnSpPr>
          <p:nvPr/>
        </p:nvCxnSpPr>
        <p:spPr bwMode="auto">
          <a:xfrm flipV="1">
            <a:off x="3162300" y="3238500"/>
            <a:ext cx="1028700" cy="723900"/>
          </a:xfrm>
          <a:prstGeom prst="straightConnector1">
            <a:avLst/>
          </a:prstGeom>
          <a:noFill/>
          <a:ln w="25400">
            <a:solidFill>
              <a:sysClr val="windowText" lastClr="000000"/>
            </a:solidFill>
            <a:round/>
            <a:headEnd/>
            <a:tailEnd type="triangle" w="med" len="med"/>
          </a:ln>
        </p:spPr>
      </p:cxnSp>
      <p:cxnSp>
        <p:nvCxnSpPr>
          <p:cNvPr id="35" name="AutoShape 26">
            <a:extLst>
              <a:ext uri="{FF2B5EF4-FFF2-40B4-BE49-F238E27FC236}">
                <a16:creationId xmlns:a16="http://schemas.microsoft.com/office/drawing/2014/main" id="{AAC58C89-351C-451F-938D-BDAF2E71BA97}"/>
              </a:ext>
            </a:extLst>
          </p:cNvPr>
          <p:cNvCxnSpPr>
            <a:cxnSpLocks noChangeShapeType="1"/>
            <a:stCxn id="25" idx="6"/>
            <a:endCxn id="26" idx="4"/>
          </p:cNvCxnSpPr>
          <p:nvPr/>
        </p:nvCxnSpPr>
        <p:spPr bwMode="auto">
          <a:xfrm flipV="1">
            <a:off x="3352800" y="3429000"/>
            <a:ext cx="1028700" cy="723900"/>
          </a:xfrm>
          <a:prstGeom prst="straightConnector1">
            <a:avLst/>
          </a:prstGeom>
          <a:noFill/>
          <a:ln w="25400">
            <a:solidFill>
              <a:sysClr val="windowText" lastClr="000000"/>
            </a:solidFill>
            <a:round/>
            <a:headEnd/>
            <a:tailEnd type="triangle" w="med" len="med"/>
          </a:ln>
        </p:spPr>
      </p:cxnSp>
      <p:cxnSp>
        <p:nvCxnSpPr>
          <p:cNvPr id="36" name="AutoShape 27">
            <a:extLst>
              <a:ext uri="{FF2B5EF4-FFF2-40B4-BE49-F238E27FC236}">
                <a16:creationId xmlns:a16="http://schemas.microsoft.com/office/drawing/2014/main" id="{4CF652DC-C089-4E54-A54E-6A0B96B86703}"/>
              </a:ext>
            </a:extLst>
          </p:cNvPr>
          <p:cNvCxnSpPr>
            <a:cxnSpLocks noChangeShapeType="1"/>
            <a:stCxn id="27" idx="2"/>
            <a:endCxn id="26" idx="4"/>
          </p:cNvCxnSpPr>
          <p:nvPr/>
        </p:nvCxnSpPr>
        <p:spPr bwMode="auto">
          <a:xfrm flipH="1" flipV="1">
            <a:off x="4381500" y="3429000"/>
            <a:ext cx="952500" cy="723900"/>
          </a:xfrm>
          <a:prstGeom prst="straightConnector1">
            <a:avLst/>
          </a:prstGeom>
          <a:noFill/>
          <a:ln w="25400">
            <a:solidFill>
              <a:sysClr val="windowText" lastClr="000000"/>
            </a:solidFill>
            <a:round/>
            <a:headEnd/>
            <a:tailEnd type="triangle" w="med" len="med"/>
          </a:ln>
        </p:spPr>
      </p:cxnSp>
      <p:sp>
        <p:nvSpPr>
          <p:cNvPr id="37" name="Oval 28">
            <a:extLst>
              <a:ext uri="{FF2B5EF4-FFF2-40B4-BE49-F238E27FC236}">
                <a16:creationId xmlns:a16="http://schemas.microsoft.com/office/drawing/2014/main" id="{DC4DC7A9-B190-49CC-8AB0-48196031655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91000" y="3962400"/>
            <a:ext cx="381000" cy="381000"/>
          </a:xfrm>
          <a:prstGeom prst="ellipse">
            <a:avLst/>
          </a:prstGeom>
          <a:solidFill>
            <a:srgbClr val="4F81BD"/>
          </a:solidFill>
          <a:ln w="9525">
            <a:solidFill>
              <a:sysClr val="windowText" lastClr="000000"/>
            </a:solidFill>
            <a:round/>
            <a:headEnd/>
            <a:tailEnd/>
          </a:ln>
        </p:spPr>
        <p:txBody>
          <a:bodyPr wrap="none"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cs typeface="Arial" charset="0"/>
              </a:rPr>
              <a:t>d</a:t>
            </a:r>
          </a:p>
        </p:txBody>
      </p:sp>
      <p:cxnSp>
        <p:nvCxnSpPr>
          <p:cNvPr id="38" name="AutoShape 29">
            <a:extLst>
              <a:ext uri="{FF2B5EF4-FFF2-40B4-BE49-F238E27FC236}">
                <a16:creationId xmlns:a16="http://schemas.microsoft.com/office/drawing/2014/main" id="{E066F109-AB8E-4982-9C8B-56D9DC724DAE}"/>
              </a:ext>
            </a:extLst>
          </p:cNvPr>
          <p:cNvCxnSpPr>
            <a:cxnSpLocks noChangeShapeType="1"/>
            <a:stCxn id="25" idx="6"/>
            <a:endCxn id="37" idx="2"/>
          </p:cNvCxnSpPr>
          <p:nvPr/>
        </p:nvCxnSpPr>
        <p:spPr bwMode="auto">
          <a:xfrm>
            <a:off x="3352800" y="4152900"/>
            <a:ext cx="838200" cy="0"/>
          </a:xfrm>
          <a:prstGeom prst="straightConnector1">
            <a:avLst/>
          </a:prstGeom>
          <a:noFill/>
          <a:ln w="25400">
            <a:solidFill>
              <a:sysClr val="windowText" lastClr="000000"/>
            </a:solidFill>
            <a:round/>
            <a:headEnd/>
            <a:tailEnd type="triangle" w="med" len="med"/>
          </a:ln>
        </p:spPr>
      </p:cxnSp>
    </p:spTree>
    <p:extLst>
      <p:ext uri="{BB962C8B-B14F-4D97-AF65-F5344CB8AC3E}">
        <p14:creationId xmlns:p14="http://schemas.microsoft.com/office/powerpoint/2010/main" val="77693038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 3" descr="Rectangle: Click to edit Master text styles&#10;Second level&#10;Third level&#10;Fourth level&#10;Fifth level">
            <a:extLst>
              <a:ext uri="{FF2B5EF4-FFF2-40B4-BE49-F238E27FC236}">
                <a16:creationId xmlns:a16="http://schemas.microsoft.com/office/drawing/2014/main" id="{ABBA5552-2420-453A-98B3-DEBE35A97D7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itchFamily="2" charset="2"/>
              <a:buNone/>
              <a:tabLst/>
              <a:defRPr/>
            </a:pPr>
            <a:endParaRPr kumimoji="0" lang="en-US" sz="3200" b="0" i="0" u="none" strike="noStrike" kern="120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itchFamily="2" charset="2"/>
              <a:buNone/>
              <a:tabLst/>
              <a:defRPr/>
            </a:pPr>
            <a:endParaRPr kumimoji="0" lang="en-US" sz="3200" b="0" i="0" u="none" strike="noStrike" kern="120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itchFamily="2" charset="2"/>
              <a:buNone/>
              <a:tabLst/>
              <a:defRPr/>
            </a:pPr>
            <a:endParaRPr kumimoji="0" lang="en-US" sz="3200" b="0" i="0" u="none" strike="noStrike" kern="120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itchFamily="2" charset="2"/>
              <a:buNone/>
              <a:tabLst/>
              <a:defRPr/>
            </a:pPr>
            <a:r>
              <a:rPr kumimoji="0" lang="en-US" sz="2800" b="1" i="0" u="sng" strike="noStrike" kern="120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Solution</a:t>
            </a:r>
            <a:r>
              <a:rPr kumimoji="0" lang="en-US" sz="3200" b="0" i="0" u="none" strike="noStrike" kern="120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:</a:t>
            </a:r>
            <a:endParaRPr kumimoji="0" lang="en-US" sz="32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4" name="Oval 4">
            <a:extLst>
              <a:ext uri="{FF2B5EF4-FFF2-40B4-BE49-F238E27FC236}">
                <a16:creationId xmlns:a16="http://schemas.microsoft.com/office/drawing/2014/main" id="{F9A80951-0324-4FBE-9ABD-0AD79160E07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71800" y="2819400"/>
            <a:ext cx="381000" cy="381000"/>
          </a:xfrm>
          <a:prstGeom prst="ellipse">
            <a:avLst/>
          </a:prstGeom>
          <a:solidFill>
            <a:srgbClr val="4F81BD"/>
          </a:solidFill>
          <a:ln w="9525">
            <a:solidFill>
              <a:sysClr val="windowText" lastClr="000000"/>
            </a:solidFill>
            <a:round/>
            <a:headEnd/>
            <a:tailEnd/>
          </a:ln>
        </p:spPr>
        <p:txBody>
          <a:bodyPr wrap="none"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cs typeface="Arial" charset="0"/>
              </a:rPr>
              <a:t>a</a:t>
            </a:r>
          </a:p>
        </p:txBody>
      </p:sp>
      <p:sp>
        <p:nvSpPr>
          <p:cNvPr id="25" name="Oval 5">
            <a:extLst>
              <a:ext uri="{FF2B5EF4-FFF2-40B4-BE49-F238E27FC236}">
                <a16:creationId xmlns:a16="http://schemas.microsoft.com/office/drawing/2014/main" id="{F5FE4872-19F4-4754-AA2B-A9EF26EDBE4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91000" y="1905000"/>
            <a:ext cx="381000" cy="381000"/>
          </a:xfrm>
          <a:prstGeom prst="ellipse">
            <a:avLst/>
          </a:prstGeom>
          <a:solidFill>
            <a:srgbClr val="4F81BD"/>
          </a:solidFill>
          <a:ln w="9525">
            <a:solidFill>
              <a:sysClr val="windowText" lastClr="000000"/>
            </a:solidFill>
            <a:round/>
            <a:headEnd/>
            <a:tailEnd/>
          </a:ln>
        </p:spPr>
        <p:txBody>
          <a:bodyPr wrap="none"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cs typeface="Arial" charset="0"/>
              </a:rPr>
              <a:t>b</a:t>
            </a:r>
          </a:p>
        </p:txBody>
      </p:sp>
      <p:sp>
        <p:nvSpPr>
          <p:cNvPr id="26" name="Oval 6">
            <a:extLst>
              <a:ext uri="{FF2B5EF4-FFF2-40B4-BE49-F238E27FC236}">
                <a16:creationId xmlns:a16="http://schemas.microsoft.com/office/drawing/2014/main" id="{F965AC23-A2EC-484E-97F2-463D58E8CF4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34000" y="2819400"/>
            <a:ext cx="381000" cy="381000"/>
          </a:xfrm>
          <a:prstGeom prst="ellipse">
            <a:avLst/>
          </a:prstGeom>
          <a:solidFill>
            <a:srgbClr val="4F81BD"/>
          </a:solidFill>
          <a:ln w="9525">
            <a:solidFill>
              <a:sysClr val="windowText" lastClr="000000"/>
            </a:solidFill>
            <a:round/>
            <a:headEnd/>
            <a:tailEnd/>
          </a:ln>
        </p:spPr>
        <p:txBody>
          <a:bodyPr wrap="none"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cs typeface="Arial" charset="0"/>
              </a:rPr>
              <a:t>c</a:t>
            </a:r>
          </a:p>
        </p:txBody>
      </p:sp>
      <p:cxnSp>
        <p:nvCxnSpPr>
          <p:cNvPr id="27" name="AutoShape 7">
            <a:extLst>
              <a:ext uri="{FF2B5EF4-FFF2-40B4-BE49-F238E27FC236}">
                <a16:creationId xmlns:a16="http://schemas.microsoft.com/office/drawing/2014/main" id="{E225B3CE-2076-48A2-8A0D-7A96ABFB16D2}"/>
              </a:ext>
            </a:extLst>
          </p:cNvPr>
          <p:cNvCxnSpPr>
            <a:cxnSpLocks noChangeShapeType="1"/>
            <a:stCxn id="24" idx="7"/>
            <a:endCxn id="25" idx="3"/>
          </p:cNvCxnSpPr>
          <p:nvPr/>
        </p:nvCxnSpPr>
        <p:spPr bwMode="auto">
          <a:xfrm flipV="1">
            <a:off x="3297238" y="2230438"/>
            <a:ext cx="949325" cy="644525"/>
          </a:xfrm>
          <a:prstGeom prst="straightConnector1">
            <a:avLst/>
          </a:prstGeom>
          <a:noFill/>
          <a:ln w="25400">
            <a:solidFill>
              <a:sysClr val="windowText" lastClr="000000"/>
            </a:solidFill>
            <a:round/>
            <a:headEnd/>
            <a:tailEnd type="triangle" w="med" len="med"/>
          </a:ln>
        </p:spPr>
      </p:cxnSp>
      <p:cxnSp>
        <p:nvCxnSpPr>
          <p:cNvPr id="28" name="AutoShape 8">
            <a:extLst>
              <a:ext uri="{FF2B5EF4-FFF2-40B4-BE49-F238E27FC236}">
                <a16:creationId xmlns:a16="http://schemas.microsoft.com/office/drawing/2014/main" id="{0D45386F-09B3-42D3-871B-DCABEB10E82C}"/>
              </a:ext>
            </a:extLst>
          </p:cNvPr>
          <p:cNvCxnSpPr>
            <a:cxnSpLocks noChangeShapeType="1"/>
            <a:stCxn id="25" idx="5"/>
            <a:endCxn id="26" idx="1"/>
          </p:cNvCxnSpPr>
          <p:nvPr/>
        </p:nvCxnSpPr>
        <p:spPr bwMode="auto">
          <a:xfrm>
            <a:off x="4516438" y="2230438"/>
            <a:ext cx="873125" cy="644525"/>
          </a:xfrm>
          <a:prstGeom prst="straightConnector1">
            <a:avLst/>
          </a:prstGeom>
          <a:noFill/>
          <a:ln w="25400">
            <a:solidFill>
              <a:sysClr val="windowText" lastClr="000000"/>
            </a:solidFill>
            <a:round/>
            <a:headEnd/>
            <a:tailEnd type="triangle" w="med" len="med"/>
          </a:ln>
        </p:spPr>
      </p:cxnSp>
      <p:cxnSp>
        <p:nvCxnSpPr>
          <p:cNvPr id="29" name="AutoShape 9">
            <a:extLst>
              <a:ext uri="{FF2B5EF4-FFF2-40B4-BE49-F238E27FC236}">
                <a16:creationId xmlns:a16="http://schemas.microsoft.com/office/drawing/2014/main" id="{277283F2-48B0-4B5C-848F-BC4C5E7C1127}"/>
              </a:ext>
            </a:extLst>
          </p:cNvPr>
          <p:cNvCxnSpPr>
            <a:cxnSpLocks noChangeShapeType="1"/>
            <a:stCxn id="26" idx="2"/>
            <a:endCxn id="26" idx="4"/>
          </p:cNvCxnSpPr>
          <p:nvPr/>
        </p:nvCxnSpPr>
        <p:spPr bwMode="auto">
          <a:xfrm rot="10800000" flipH="1" flipV="1">
            <a:off x="5334000" y="3009900"/>
            <a:ext cx="190500" cy="190500"/>
          </a:xfrm>
          <a:prstGeom prst="curvedConnector4">
            <a:avLst>
              <a:gd name="adj1" fmla="val -120000"/>
              <a:gd name="adj2" fmla="val 220000"/>
            </a:avLst>
          </a:prstGeom>
          <a:noFill/>
          <a:ln w="25400">
            <a:solidFill>
              <a:sysClr val="windowText" lastClr="000000"/>
            </a:solidFill>
            <a:round/>
            <a:headEnd/>
            <a:tailEnd type="triangle" w="med" len="med"/>
          </a:ln>
        </p:spPr>
      </p:cxnSp>
      <p:cxnSp>
        <p:nvCxnSpPr>
          <p:cNvPr id="30" name="AutoShape 10">
            <a:extLst>
              <a:ext uri="{FF2B5EF4-FFF2-40B4-BE49-F238E27FC236}">
                <a16:creationId xmlns:a16="http://schemas.microsoft.com/office/drawing/2014/main" id="{78CE40FF-5E2F-4F5B-B8B4-C722E3351537}"/>
              </a:ext>
            </a:extLst>
          </p:cNvPr>
          <p:cNvCxnSpPr>
            <a:cxnSpLocks noChangeShapeType="1"/>
            <a:stCxn id="25" idx="6"/>
            <a:endCxn id="25" idx="1"/>
          </p:cNvCxnSpPr>
          <p:nvPr/>
        </p:nvCxnSpPr>
        <p:spPr bwMode="auto">
          <a:xfrm flipH="1" flipV="1">
            <a:off x="4246563" y="1960563"/>
            <a:ext cx="325437" cy="134937"/>
          </a:xfrm>
          <a:prstGeom prst="curvedConnector4">
            <a:avLst>
              <a:gd name="adj1" fmla="val -35611"/>
              <a:gd name="adj2" fmla="val 425880"/>
            </a:avLst>
          </a:prstGeom>
          <a:noFill/>
          <a:ln w="25400">
            <a:solidFill>
              <a:sysClr val="windowText" lastClr="000000"/>
            </a:solidFill>
            <a:round/>
            <a:headEnd/>
            <a:tailEnd type="triangle" w="med" len="med"/>
          </a:ln>
        </p:spPr>
      </p:cxnSp>
      <p:cxnSp>
        <p:nvCxnSpPr>
          <p:cNvPr id="31" name="AutoShape 11">
            <a:extLst>
              <a:ext uri="{FF2B5EF4-FFF2-40B4-BE49-F238E27FC236}">
                <a16:creationId xmlns:a16="http://schemas.microsoft.com/office/drawing/2014/main" id="{2CDC84FE-89D6-46A3-BA05-B5D62636ACC7}"/>
              </a:ext>
            </a:extLst>
          </p:cNvPr>
          <p:cNvCxnSpPr>
            <a:cxnSpLocks noChangeShapeType="1"/>
            <a:stCxn id="26" idx="6"/>
            <a:endCxn id="26" idx="7"/>
          </p:cNvCxnSpPr>
          <p:nvPr/>
        </p:nvCxnSpPr>
        <p:spPr bwMode="auto">
          <a:xfrm flipH="1" flipV="1">
            <a:off x="5659438" y="2874963"/>
            <a:ext cx="55562" cy="134937"/>
          </a:xfrm>
          <a:prstGeom prst="curvedConnector4">
            <a:avLst>
              <a:gd name="adj1" fmla="val -674287"/>
              <a:gd name="adj2" fmla="val 310588"/>
            </a:avLst>
          </a:prstGeom>
          <a:noFill/>
          <a:ln w="25400">
            <a:solidFill>
              <a:sysClr val="windowText" lastClr="000000"/>
            </a:solidFill>
            <a:round/>
            <a:headEnd/>
            <a:tailEnd type="triangle" w="med" len="med"/>
          </a:ln>
        </p:spPr>
      </p:cxnSp>
      <p:cxnSp>
        <p:nvCxnSpPr>
          <p:cNvPr id="32" name="AutoShape 12">
            <a:extLst>
              <a:ext uri="{FF2B5EF4-FFF2-40B4-BE49-F238E27FC236}">
                <a16:creationId xmlns:a16="http://schemas.microsoft.com/office/drawing/2014/main" id="{9C25D217-20D6-4361-893E-DC61F4F86F88}"/>
              </a:ext>
            </a:extLst>
          </p:cNvPr>
          <p:cNvCxnSpPr>
            <a:cxnSpLocks noChangeShapeType="1"/>
            <a:stCxn id="25" idx="6"/>
            <a:endCxn id="26" idx="0"/>
          </p:cNvCxnSpPr>
          <p:nvPr/>
        </p:nvCxnSpPr>
        <p:spPr bwMode="auto">
          <a:xfrm>
            <a:off x="4572000" y="2095500"/>
            <a:ext cx="952500" cy="723900"/>
          </a:xfrm>
          <a:prstGeom prst="straightConnector1">
            <a:avLst/>
          </a:prstGeom>
          <a:noFill/>
          <a:ln w="25400">
            <a:solidFill>
              <a:sysClr val="windowText" lastClr="000000"/>
            </a:solidFill>
            <a:round/>
            <a:headEnd/>
            <a:tailEnd type="triangle" w="med" len="med"/>
          </a:ln>
        </p:spPr>
      </p:cxnSp>
      <p:cxnSp>
        <p:nvCxnSpPr>
          <p:cNvPr id="33" name="AutoShape 13">
            <a:extLst>
              <a:ext uri="{FF2B5EF4-FFF2-40B4-BE49-F238E27FC236}">
                <a16:creationId xmlns:a16="http://schemas.microsoft.com/office/drawing/2014/main" id="{0F2C62BB-95EA-46AD-B260-96AE4CC61BB2}"/>
              </a:ext>
            </a:extLst>
          </p:cNvPr>
          <p:cNvCxnSpPr>
            <a:cxnSpLocks noChangeShapeType="1"/>
            <a:stCxn id="24" idx="0"/>
            <a:endCxn id="25" idx="2"/>
          </p:cNvCxnSpPr>
          <p:nvPr/>
        </p:nvCxnSpPr>
        <p:spPr bwMode="auto">
          <a:xfrm flipV="1">
            <a:off x="3162300" y="2095500"/>
            <a:ext cx="1028700" cy="723900"/>
          </a:xfrm>
          <a:prstGeom prst="straightConnector1">
            <a:avLst/>
          </a:prstGeom>
          <a:noFill/>
          <a:ln w="25400">
            <a:solidFill>
              <a:sysClr val="windowText" lastClr="000000"/>
            </a:solidFill>
            <a:round/>
            <a:headEnd/>
            <a:tailEnd type="triangle" w="med" len="med"/>
          </a:ln>
        </p:spPr>
      </p:cxnSp>
      <p:cxnSp>
        <p:nvCxnSpPr>
          <p:cNvPr id="34" name="AutoShape 14">
            <a:extLst>
              <a:ext uri="{FF2B5EF4-FFF2-40B4-BE49-F238E27FC236}">
                <a16:creationId xmlns:a16="http://schemas.microsoft.com/office/drawing/2014/main" id="{909AB204-3562-4517-9D09-06051D1A8863}"/>
              </a:ext>
            </a:extLst>
          </p:cNvPr>
          <p:cNvCxnSpPr>
            <a:cxnSpLocks noChangeShapeType="1"/>
            <a:stCxn id="24" idx="6"/>
            <a:endCxn id="25" idx="4"/>
          </p:cNvCxnSpPr>
          <p:nvPr/>
        </p:nvCxnSpPr>
        <p:spPr bwMode="auto">
          <a:xfrm flipV="1">
            <a:off x="3352800" y="2286000"/>
            <a:ext cx="1028700" cy="723900"/>
          </a:xfrm>
          <a:prstGeom prst="straightConnector1">
            <a:avLst/>
          </a:prstGeom>
          <a:noFill/>
          <a:ln w="25400">
            <a:solidFill>
              <a:sysClr val="windowText" lastClr="000000"/>
            </a:solidFill>
            <a:round/>
            <a:headEnd/>
            <a:tailEnd type="triangle" w="med" len="med"/>
          </a:ln>
        </p:spPr>
      </p:cxnSp>
      <p:cxnSp>
        <p:nvCxnSpPr>
          <p:cNvPr id="35" name="AutoShape 15">
            <a:extLst>
              <a:ext uri="{FF2B5EF4-FFF2-40B4-BE49-F238E27FC236}">
                <a16:creationId xmlns:a16="http://schemas.microsoft.com/office/drawing/2014/main" id="{DA91CEAA-B61A-474B-A373-1DE412E0EE4B}"/>
              </a:ext>
            </a:extLst>
          </p:cNvPr>
          <p:cNvCxnSpPr>
            <a:cxnSpLocks noChangeShapeType="1"/>
            <a:stCxn id="26" idx="2"/>
            <a:endCxn id="25" idx="4"/>
          </p:cNvCxnSpPr>
          <p:nvPr/>
        </p:nvCxnSpPr>
        <p:spPr bwMode="auto">
          <a:xfrm flipH="1" flipV="1">
            <a:off x="4381500" y="2286000"/>
            <a:ext cx="952500" cy="723900"/>
          </a:xfrm>
          <a:prstGeom prst="straightConnector1">
            <a:avLst/>
          </a:prstGeom>
          <a:noFill/>
          <a:ln w="25400">
            <a:solidFill>
              <a:sysClr val="windowText" lastClr="000000"/>
            </a:solidFill>
            <a:round/>
            <a:headEnd/>
            <a:tailEnd type="triangle" w="med" len="med"/>
          </a:ln>
        </p:spPr>
      </p:cxnSp>
      <p:graphicFrame>
        <p:nvGraphicFramePr>
          <p:cNvPr id="36" name="Object 2">
            <a:extLst>
              <a:ext uri="{FF2B5EF4-FFF2-40B4-BE49-F238E27FC236}">
                <a16:creationId xmlns:a16="http://schemas.microsoft.com/office/drawing/2014/main" id="{E6B0DFAC-F858-4D8D-8DE8-EC1DDBD75AF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932113" y="3810000"/>
          <a:ext cx="2867025" cy="2362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1936209" imgH="21935875" progId="">
                  <p:embed/>
                </p:oleObj>
              </mc:Choice>
              <mc:Fallback>
                <p:oleObj name="Equation" r:id="rId2" imgW="21936209" imgH="21935875" progId="">
                  <p:embed/>
                  <p:pic>
                    <p:nvPicPr>
                      <p:cNvPr id="0" name="Picture 3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32113" y="3810000"/>
                        <a:ext cx="2867025" cy="23622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7" name="Oval 17">
            <a:extLst>
              <a:ext uri="{FF2B5EF4-FFF2-40B4-BE49-F238E27FC236}">
                <a16:creationId xmlns:a16="http://schemas.microsoft.com/office/drawing/2014/main" id="{E1810554-6CE7-4072-AEA8-5862998E0CB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91000" y="2819400"/>
            <a:ext cx="381000" cy="381000"/>
          </a:xfrm>
          <a:prstGeom prst="ellipse">
            <a:avLst/>
          </a:prstGeom>
          <a:solidFill>
            <a:srgbClr val="4F81BD"/>
          </a:solidFill>
          <a:ln w="9525">
            <a:solidFill>
              <a:sysClr val="windowText" lastClr="000000"/>
            </a:solidFill>
            <a:round/>
            <a:headEnd/>
            <a:tailEnd/>
          </a:ln>
        </p:spPr>
        <p:txBody>
          <a:bodyPr wrap="none"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cs typeface="Arial" charset="0"/>
              </a:rPr>
              <a:t>d</a:t>
            </a:r>
          </a:p>
        </p:txBody>
      </p:sp>
      <p:cxnSp>
        <p:nvCxnSpPr>
          <p:cNvPr id="38" name="AutoShape 18">
            <a:extLst>
              <a:ext uri="{FF2B5EF4-FFF2-40B4-BE49-F238E27FC236}">
                <a16:creationId xmlns:a16="http://schemas.microsoft.com/office/drawing/2014/main" id="{29A991F8-A453-451C-9358-2473B2D84120}"/>
              </a:ext>
            </a:extLst>
          </p:cNvPr>
          <p:cNvCxnSpPr>
            <a:cxnSpLocks noChangeShapeType="1"/>
            <a:stCxn id="24" idx="6"/>
            <a:endCxn id="37" idx="2"/>
          </p:cNvCxnSpPr>
          <p:nvPr/>
        </p:nvCxnSpPr>
        <p:spPr bwMode="auto">
          <a:xfrm>
            <a:off x="3352800" y="3009900"/>
            <a:ext cx="838200" cy="0"/>
          </a:xfrm>
          <a:prstGeom prst="straightConnector1">
            <a:avLst/>
          </a:prstGeom>
          <a:noFill/>
          <a:ln w="25400">
            <a:solidFill>
              <a:sysClr val="windowText" lastClr="000000"/>
            </a:solidFill>
            <a:round/>
            <a:headEnd/>
            <a:tailEnd type="triangle" w="med" len="med"/>
          </a:ln>
        </p:spPr>
      </p:cxnSp>
    </p:spTree>
    <p:extLst>
      <p:ext uri="{BB962C8B-B14F-4D97-AF65-F5344CB8AC3E}">
        <p14:creationId xmlns:p14="http://schemas.microsoft.com/office/powerpoint/2010/main" val="289323077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Incidence matrices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076D1D87-A77C-4F85-8EFA-AC91E590E9D0}"/>
              </a:ext>
            </a:extLst>
          </p:cNvPr>
          <p:cNvSpPr txBox="1">
            <a:spLocks/>
          </p:cNvSpPr>
          <p:nvPr/>
        </p:nvSpPr>
        <p:spPr bwMode="auto">
          <a:xfrm>
            <a:off x="421341" y="2195512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Char char="•"/>
              <a:tabLst/>
              <a:defRPr/>
            </a:pPr>
            <a:r>
              <a:rPr kumimoji="0" lang="en-US" sz="2400" b="1" i="0" u="sng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Incidence matrix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: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A matrix representing a graph using the 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incidence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of 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edges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and 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vertices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.</a:t>
            </a: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Let G = (V, E) be an undirected graph. Suppose that v</a:t>
            </a:r>
            <a:r>
              <a:rPr kumimoji="0" lang="en-US" sz="2400" b="0" i="0" u="none" strike="noStrike" kern="1200" cap="none" spc="0" normalizeH="0" baseline="-2500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1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, v</a:t>
            </a:r>
            <a:r>
              <a:rPr kumimoji="0" lang="en-US" sz="2400" b="0" i="0" u="none" strike="noStrike" kern="1200" cap="none" spc="0" normalizeH="0" baseline="-2500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2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, …., </a:t>
            </a:r>
            <a:r>
              <a:rPr kumimoji="0" lang="en-US" sz="2400" b="0" i="1" u="none" strike="noStrike" kern="1200" cap="none" spc="0" normalizeH="0" baseline="0" noProof="0" dirty="0" err="1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v</a:t>
            </a:r>
            <a:r>
              <a:rPr kumimoji="0" lang="en-US" sz="2400" b="0" i="0" u="none" strike="noStrike" kern="1200" cap="none" spc="0" normalizeH="0" baseline="-25000" noProof="0" dirty="0" err="1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n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are the vertices and e</a:t>
            </a:r>
            <a:r>
              <a:rPr kumimoji="0" lang="en-US" sz="2400" b="0" i="0" u="none" strike="noStrike" kern="1200" cap="none" spc="0" normalizeH="0" baseline="-2500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1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, e</a:t>
            </a:r>
            <a:r>
              <a:rPr kumimoji="0" lang="en-US" sz="2400" b="0" i="0" u="none" strike="noStrike" kern="1200" cap="none" spc="0" normalizeH="0" baseline="-2500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2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, …., </a:t>
            </a:r>
            <a:r>
              <a:rPr kumimoji="0" 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e</a:t>
            </a:r>
            <a:r>
              <a:rPr kumimoji="0" lang="en-US" sz="2400" b="0" i="0" u="none" strike="noStrike" kern="1200" cap="none" spc="0" normalizeH="0" baseline="-25000" noProof="0" dirty="0" err="1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m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are the edges of G.</a:t>
            </a: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	Then the incidence matrix with respect to this ordering of V and E is the 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n x m matrix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, 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M = [</a:t>
            </a:r>
            <a:r>
              <a:rPr kumimoji="0" lang="en-US" sz="2400" b="1" i="1" u="none" strike="noStrike" kern="1200" cap="none" spc="0" normalizeH="0" baseline="0" noProof="0" dirty="0" err="1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m</a:t>
            </a:r>
            <a:r>
              <a:rPr kumimoji="0" lang="en-US" sz="2400" b="1" i="0" u="none" strike="noStrike" kern="1200" cap="none" spc="0" normalizeH="0" baseline="-25000" noProof="0" dirty="0" err="1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ij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], 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where </a:t>
            </a: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	 </a:t>
            </a:r>
            <a:r>
              <a:rPr kumimoji="0" lang="en-US" sz="2400" b="0" i="1" u="none" strike="noStrike" kern="1200" cap="none" spc="0" normalizeH="0" baseline="0" noProof="0" dirty="0" err="1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m</a:t>
            </a:r>
            <a:r>
              <a:rPr kumimoji="0" lang="en-US" sz="2400" b="0" i="0" u="none" strike="noStrike" kern="1200" cap="none" spc="0" normalizeH="0" baseline="-25000" noProof="0" dirty="0" err="1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ij</a:t>
            </a:r>
            <a:r>
              <a:rPr kumimoji="0" lang="en-US" sz="2400" b="0" i="0" u="none" strike="noStrike" kern="1200" cap="none" spc="0" normalizeH="0" baseline="-2500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 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 =	1	when edge </a:t>
            </a:r>
            <a:r>
              <a:rPr kumimoji="0" 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e</a:t>
            </a:r>
            <a:r>
              <a:rPr kumimoji="0" lang="en-US" sz="2400" b="0" i="0" u="none" strike="noStrike" kern="1200" cap="none" spc="0" normalizeH="0" baseline="-25000" noProof="0" dirty="0" err="1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j</a:t>
            </a:r>
            <a:r>
              <a:rPr kumimoji="0" lang="en-US" sz="2400" b="0" i="0" u="none" strike="noStrike" kern="1200" cap="none" spc="0" normalizeH="0" baseline="-2500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is incident with v</a:t>
            </a:r>
            <a:r>
              <a:rPr kumimoji="0" lang="en-US" sz="2400" b="0" i="0" u="none" strike="noStrike" kern="1200" cap="none" spc="0" normalizeH="0" baseline="-2500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i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,</a:t>
            </a: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			0	otherwise</a:t>
            </a: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	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2" name="Left Brace 11">
            <a:extLst>
              <a:ext uri="{FF2B5EF4-FFF2-40B4-BE49-F238E27FC236}">
                <a16:creationId xmlns:a16="http://schemas.microsoft.com/office/drawing/2014/main" id="{689B577A-9740-494D-A71D-1D96AD31B7CD}"/>
              </a:ext>
            </a:extLst>
          </p:cNvPr>
          <p:cNvSpPr/>
          <p:nvPr/>
        </p:nvSpPr>
        <p:spPr>
          <a:xfrm>
            <a:off x="1945341" y="4710112"/>
            <a:ext cx="152400" cy="914400"/>
          </a:xfrm>
          <a:prstGeom prst="leftBrace">
            <a:avLst/>
          </a:prstGeom>
          <a:noFill/>
          <a:ln w="9525" cap="flat" cmpd="sng" algn="ctr">
            <a:solidFill>
              <a:sysClr val="windowText" lastClr="000000">
                <a:alpha val="95000"/>
              </a:sysClr>
            </a:solidFill>
            <a:prstDash val="solid"/>
          </a:ln>
          <a:effectLst/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3883487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2"/>
          <p:cNvSpPr txBox="1">
            <a:spLocks/>
          </p:cNvSpPr>
          <p:nvPr/>
        </p:nvSpPr>
        <p:spPr>
          <a:xfrm>
            <a:off x="335493" y="731162"/>
            <a:ext cx="7303263" cy="493414"/>
          </a:xfrm>
          <a:prstGeom prst="rect">
            <a:avLst/>
          </a:prstGeom>
        </p:spPr>
        <p:txBody>
          <a:bodyPr>
            <a:noAutofit/>
          </a:bodyPr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200" b="1" dirty="0">
                <a:solidFill>
                  <a:srgbClr val="FF0000"/>
                </a:solidFill>
                <a:cs typeface="Times New Roman" pitchFamily="18" charset="0"/>
              </a:rPr>
              <a:t>Example 6: Representing</a:t>
            </a:r>
            <a:r>
              <a:rPr lang="en-US" sz="2200" b="1" dirty="0">
                <a:solidFill>
                  <a:srgbClr val="FF0000"/>
                </a:solidFill>
              </a:rPr>
              <a:t> </a:t>
            </a:r>
            <a:r>
              <a:rPr lang="en-US" sz="2200" b="1" dirty="0">
                <a:solidFill>
                  <a:srgbClr val="FF0000"/>
                </a:solidFill>
                <a:cs typeface="Times New Roman" pitchFamily="18" charset="0"/>
              </a:rPr>
              <a:t>a</a:t>
            </a:r>
            <a:r>
              <a:rPr lang="en-US" sz="2200" b="1" dirty="0">
                <a:solidFill>
                  <a:srgbClr val="FF0000"/>
                </a:solidFill>
              </a:rPr>
              <a:t> </a:t>
            </a:r>
            <a:r>
              <a:rPr lang="en-US" sz="2200" b="1" dirty="0">
                <a:solidFill>
                  <a:srgbClr val="FF0000"/>
                </a:solidFill>
                <a:cs typeface="Times New Roman" pitchFamily="18" charset="0"/>
              </a:rPr>
              <a:t>graph</a:t>
            </a:r>
            <a:r>
              <a:rPr lang="en-US" sz="2200" b="1" dirty="0">
                <a:solidFill>
                  <a:srgbClr val="FF0000"/>
                </a:solidFill>
              </a:rPr>
              <a:t> </a:t>
            </a:r>
            <a:r>
              <a:rPr lang="en-US" sz="2200" b="1" dirty="0">
                <a:solidFill>
                  <a:srgbClr val="FF0000"/>
                </a:solidFill>
                <a:cs typeface="Times New Roman" pitchFamily="18" charset="0"/>
              </a:rPr>
              <a:t>with</a:t>
            </a:r>
            <a:r>
              <a:rPr lang="en-US" sz="2200" b="1" dirty="0">
                <a:solidFill>
                  <a:srgbClr val="FF0000"/>
                </a:solidFill>
              </a:rPr>
              <a:t> </a:t>
            </a:r>
            <a:r>
              <a:rPr lang="en-US" sz="2200" b="1" dirty="0">
                <a:solidFill>
                  <a:srgbClr val="FF0000"/>
                </a:solidFill>
                <a:cs typeface="Times New Roman" pitchFamily="18" charset="0"/>
              </a:rPr>
              <a:t>an</a:t>
            </a:r>
            <a:r>
              <a:rPr lang="en-US" sz="2200" b="1" dirty="0">
                <a:solidFill>
                  <a:srgbClr val="FF0000"/>
                </a:solidFill>
              </a:rPr>
              <a:t> </a:t>
            </a:r>
            <a:r>
              <a:rPr lang="en-US" sz="2200" b="1" dirty="0">
                <a:solidFill>
                  <a:srgbClr val="FF0000"/>
                </a:solidFill>
                <a:cs typeface="Times New Roman" pitchFamily="18" charset="0"/>
              </a:rPr>
              <a:t>Incidence</a:t>
            </a:r>
            <a:r>
              <a:rPr lang="en-US" sz="2200" b="1" dirty="0">
                <a:solidFill>
                  <a:srgbClr val="FF0000"/>
                </a:solidFill>
              </a:rPr>
              <a:t> </a:t>
            </a:r>
            <a:r>
              <a:rPr lang="en-US" sz="2200" b="1" dirty="0">
                <a:solidFill>
                  <a:srgbClr val="FF0000"/>
                </a:solidFill>
                <a:cs typeface="Times New Roman" pitchFamily="18" charset="0"/>
              </a:rPr>
              <a:t>Matrix</a:t>
            </a:r>
            <a:r>
              <a:rPr lang="en-US" sz="2200" b="1" dirty="0">
                <a:solidFill>
                  <a:srgbClr val="FF0000"/>
                </a:solidFill>
              </a:rPr>
              <a:t> </a:t>
            </a:r>
            <a:r>
              <a:rPr lang="en-US" sz="2200" b="1" dirty="0">
                <a:solidFill>
                  <a:srgbClr val="FF0000"/>
                </a:solidFill>
                <a:cs typeface="Times New Roman" pitchFamily="18" charset="0"/>
              </a:rPr>
              <a:t> </a:t>
            </a:r>
            <a:endParaRPr lang="en-US" sz="2200" b="1" dirty="0">
              <a:solidFill>
                <a:srgbClr val="FF0000"/>
              </a:solidFill>
            </a:endParaRPr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8ED1BD73-8206-427C-9F07-04B3FD134D6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14338" y="1600200"/>
            <a:ext cx="8120062" cy="4572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184524034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2"/>
          <p:cNvSpPr txBox="1">
            <a:spLocks/>
          </p:cNvSpPr>
          <p:nvPr/>
        </p:nvSpPr>
        <p:spPr>
          <a:xfrm>
            <a:off x="335494" y="731162"/>
            <a:ext cx="6543608" cy="493414"/>
          </a:xfrm>
          <a:prstGeom prst="rect">
            <a:avLst/>
          </a:prstGeom>
        </p:spPr>
        <p:txBody>
          <a:bodyPr>
            <a:normAutofit fontScale="77500" lnSpcReduction="20000"/>
          </a:bodyPr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800" b="1" dirty="0">
                <a:solidFill>
                  <a:srgbClr val="FF0000"/>
                </a:solidFill>
                <a:cs typeface="Times New Roman" pitchFamily="18" charset="0"/>
              </a:rPr>
              <a:t>Example 7 : Representing a graph with an Incidence</a:t>
            </a:r>
            <a:endParaRPr lang="en-US" sz="2600" b="1" dirty="0">
              <a:solidFill>
                <a:srgbClr val="FF0000"/>
              </a:solidFill>
            </a:endParaRPr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EB847E91-7193-4A58-83DE-CB055CCB87E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41288" y="1981200"/>
            <a:ext cx="8850312" cy="4419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21221773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Isomorphism of Graphs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754EDEB8-0946-4AEE-9538-48881DA17B42}"/>
              </a:ext>
            </a:extLst>
          </p:cNvPr>
          <p:cNvSpPr txBox="1">
            <a:spLocks/>
          </p:cNvSpPr>
          <p:nvPr/>
        </p:nvSpPr>
        <p:spPr bwMode="auto">
          <a:xfrm>
            <a:off x="421341" y="2057399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Char char="•"/>
              <a:tabLst/>
              <a:defRPr/>
            </a:pPr>
            <a:r>
              <a:rPr kumimoji="0" lang="en-US" sz="2000" b="1" i="0" u="sng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Definition 1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: The simple graphs G</a:t>
            </a:r>
            <a:r>
              <a:rPr kumimoji="0" lang="en-US" sz="2000" b="0" i="0" u="none" strike="noStrike" kern="1200" cap="none" spc="0" normalizeH="0" baseline="-2500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1 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= (V</a:t>
            </a:r>
            <a:r>
              <a:rPr kumimoji="0" lang="en-US" sz="2000" b="0" i="0" u="none" strike="noStrike" kern="1200" cap="none" spc="0" normalizeH="0" baseline="-2500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1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, E</a:t>
            </a:r>
            <a:r>
              <a:rPr kumimoji="0" lang="en-US" sz="2000" b="0" i="0" u="none" strike="noStrike" kern="1200" cap="none" spc="0" normalizeH="0" baseline="-2500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1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) and G</a:t>
            </a:r>
            <a:r>
              <a:rPr kumimoji="0" lang="en-US" sz="2000" b="0" i="0" u="none" strike="noStrike" kern="1200" cap="none" spc="0" normalizeH="0" baseline="-2500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2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= (V</a:t>
            </a:r>
            <a:r>
              <a:rPr kumimoji="0" lang="en-US" sz="2000" b="0" i="0" u="none" strike="noStrike" kern="1200" cap="none" spc="0" normalizeH="0" baseline="-2500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2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, E</a:t>
            </a:r>
            <a:r>
              <a:rPr kumimoji="0" lang="en-US" sz="2000" b="0" i="0" u="none" strike="noStrike" kern="1200" cap="none" spc="0" normalizeH="0" baseline="-2500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2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)</a:t>
            </a: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	are isomorphic </a:t>
            </a: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if there is a one-to-one and onto function </a:t>
            </a:r>
            <a:r>
              <a:rPr kumimoji="0" lang="en-US" sz="2000" b="1" i="1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f </a:t>
            </a: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from V</a:t>
            </a:r>
            <a:r>
              <a:rPr kumimoji="0" lang="en-US" sz="2000" b="1" i="0" u="none" strike="noStrike" kern="1200" cap="none" spc="0" normalizeH="0" baseline="-2500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1 </a:t>
            </a: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to V</a:t>
            </a:r>
            <a:r>
              <a:rPr kumimoji="0" lang="en-US" sz="2000" b="1" i="0" u="none" strike="noStrike" kern="1200" cap="none" spc="0" normalizeH="0" baseline="-2500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2</a:t>
            </a: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with the property that a and b are adjacent in G</a:t>
            </a:r>
            <a:r>
              <a:rPr kumimoji="0" lang="en-US" sz="2000" b="0" i="0" u="none" strike="noStrike" kern="1200" cap="none" spc="0" normalizeH="0" baseline="-2500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1 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iff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  <a:r>
              <a:rPr kumimoji="0" lang="en-US" sz="2000" b="0" i="1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f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(a) and </a:t>
            </a:r>
            <a:r>
              <a:rPr kumimoji="0" lang="en-US" sz="2000" b="0" i="1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f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(b) are adjacent in G</a:t>
            </a:r>
            <a:r>
              <a:rPr kumimoji="0" lang="en-US" sz="2000" b="0" i="0" u="none" strike="noStrike" kern="1200" cap="none" spc="0" normalizeH="0" baseline="-2500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1 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, for all a and b in V</a:t>
            </a:r>
            <a:r>
              <a:rPr kumimoji="0" lang="en-US" sz="2000" b="0" i="0" u="none" strike="noStrike" kern="1200" cap="none" spc="0" normalizeH="0" baseline="-2500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1 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. </a:t>
            </a: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	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Such a function </a:t>
            </a:r>
            <a:r>
              <a:rPr kumimoji="0" lang="en-US" sz="2000" b="1" i="1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f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is called an </a:t>
            </a: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isomorphism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.</a:t>
            </a:r>
          </a:p>
          <a:p>
            <a:pPr marL="742950" marR="0" lvl="1" indent="-2857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Char char="–"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When two simple graphs are isomorphic, there is a one-to-one correspondence between vertices of the two graphs that preserves the adjacency relationship</a:t>
            </a:r>
          </a:p>
          <a:p>
            <a:pPr marL="742950" marR="0" lvl="1" indent="-2857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Char char="–"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highlight>
                  <a:srgbClr val="FFFF00"/>
                </a:highlight>
                <a:uLnTx/>
                <a:uFillTx/>
                <a:latin typeface="Calibri"/>
                <a:ea typeface="+mn-ea"/>
                <a:cs typeface="+mn-cs"/>
              </a:rPr>
              <a:t>Two graphs are isomorphic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sysClr val="windowText" lastClr="000000"/>
                </a:solidFill>
                <a:effectLst/>
                <a:highlight>
                  <a:srgbClr val="FFFF00"/>
                </a:highlight>
                <a:uLnTx/>
                <a:uFillTx/>
                <a:latin typeface="Calibri"/>
                <a:ea typeface="+mn-ea"/>
                <a:cs typeface="+mn-cs"/>
              </a:rPr>
              <a:t>iff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highlight>
                  <a:srgbClr val="FFFF00"/>
                </a:highlight>
                <a:uLnTx/>
                <a:uFillTx/>
                <a:latin typeface="Calibri"/>
                <a:ea typeface="+mn-ea"/>
                <a:cs typeface="+mn-cs"/>
              </a:rPr>
              <a:t> they are identical except for their node names</a:t>
            </a:r>
          </a:p>
          <a:p>
            <a:pPr marL="742950" marR="0" lvl="1" indent="-2857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Char char="–"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Isomorphism of simple graphs is an equivalence relation</a:t>
            </a:r>
          </a:p>
        </p:txBody>
      </p:sp>
    </p:spTree>
    <p:extLst>
      <p:ext uri="{BB962C8B-B14F-4D97-AF65-F5344CB8AC3E}">
        <p14:creationId xmlns:p14="http://schemas.microsoft.com/office/powerpoint/2010/main" val="154340390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2"/>
          <p:cNvSpPr txBox="1">
            <a:spLocks/>
          </p:cNvSpPr>
          <p:nvPr/>
        </p:nvSpPr>
        <p:spPr>
          <a:xfrm>
            <a:off x="335494" y="731162"/>
            <a:ext cx="6543608" cy="493414"/>
          </a:xfrm>
          <a:prstGeom prst="rect">
            <a:avLst/>
          </a:prstGeom>
        </p:spPr>
        <p:txBody>
          <a:bodyPr>
            <a:normAutofit lnSpcReduction="10000"/>
          </a:bodyPr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800" b="1" dirty="0">
                <a:cs typeface="Times New Roman" pitchFamily="18" charset="0"/>
              </a:rPr>
              <a:t>Isomorphism of Graphs</a:t>
            </a:r>
            <a:endParaRPr lang="en-US" sz="2600" b="1" dirty="0">
              <a:solidFill>
                <a:srgbClr val="FF0000"/>
              </a:solidFill>
            </a:endParaRPr>
          </a:p>
        </p:txBody>
      </p:sp>
      <p:sp>
        <p:nvSpPr>
          <p:cNvPr id="25" name="Rectangle 3" descr="Rectangle: Click to edit Master text styles&#10;Second level&#10;Third level&#10;Fourth level&#10;Fifth level">
            <a:extLst>
              <a:ext uri="{FF2B5EF4-FFF2-40B4-BE49-F238E27FC236}">
                <a16:creationId xmlns:a16="http://schemas.microsoft.com/office/drawing/2014/main" id="{B60B9DBF-D002-4A60-B5A2-814BC38F7AD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5800" y="1600200"/>
            <a:ext cx="7848600" cy="5029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Char char="•"/>
              <a:tabLst/>
              <a:defRPr/>
            </a:pP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Intuitively, two graphs are isomorphic if can bend, stretch and reposition vertices of the first graph, until the second graph is formed.  Etymologically, </a:t>
            </a:r>
            <a:r>
              <a:rPr kumimoji="0" lang="en-US" sz="2800" b="0" i="1" u="none" strike="noStrike" kern="120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isomorphic</a:t>
            </a: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means “</a:t>
            </a: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same</a:t>
            </a: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shape</a:t>
            </a: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”.</a:t>
            </a: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itchFamily="2" charset="2"/>
              <a:buNone/>
              <a:tabLst/>
              <a:defRPr/>
            </a:pPr>
            <a:endParaRPr kumimoji="0" lang="en-US" sz="2800" b="0" i="0" u="none" strike="noStrike" kern="120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itchFamily="2" charset="2"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e.g.:  Can twist or relabel:	</a:t>
            </a: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itchFamily="2" charset="2"/>
              <a:buNone/>
              <a:tabLst/>
              <a:defRPr/>
            </a:pPr>
            <a:endParaRPr kumimoji="0" lang="en-US" sz="2800" b="0" i="0" u="none" strike="noStrike" kern="120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itchFamily="2" charset="2"/>
              <a:buNone/>
              <a:tabLst/>
              <a:defRPr/>
            </a:pPr>
            <a:endParaRPr kumimoji="0" lang="en-US" sz="2800" b="0" i="0" u="none" strike="noStrike" kern="120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itchFamily="2" charset="2"/>
              <a:buNone/>
              <a:tabLst/>
              <a:defRPr/>
            </a:pPr>
            <a:endParaRPr kumimoji="0" lang="en-US" sz="2800" b="0" i="0" u="none" strike="noStrike" kern="120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itchFamily="2" charset="2"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to obtain:</a:t>
            </a:r>
          </a:p>
        </p:txBody>
      </p:sp>
      <p:grpSp>
        <p:nvGrpSpPr>
          <p:cNvPr id="26" name="Group 4">
            <a:extLst>
              <a:ext uri="{FF2B5EF4-FFF2-40B4-BE49-F238E27FC236}">
                <a16:creationId xmlns:a16="http://schemas.microsoft.com/office/drawing/2014/main" id="{C84A823A-0869-4399-89FC-5CBBF0E033B6}"/>
              </a:ext>
            </a:extLst>
          </p:cNvPr>
          <p:cNvGrpSpPr>
            <a:grpSpLocks/>
          </p:cNvGrpSpPr>
          <p:nvPr/>
        </p:nvGrpSpPr>
        <p:grpSpPr bwMode="auto">
          <a:xfrm>
            <a:off x="2590800" y="4905375"/>
            <a:ext cx="1295400" cy="1343025"/>
            <a:chOff x="3648" y="960"/>
            <a:chExt cx="1440" cy="1344"/>
          </a:xfrm>
        </p:grpSpPr>
        <p:sp>
          <p:nvSpPr>
            <p:cNvPr id="27" name="Oval 5">
              <a:extLst>
                <a:ext uri="{FF2B5EF4-FFF2-40B4-BE49-F238E27FC236}">
                  <a16:creationId xmlns:a16="http://schemas.microsoft.com/office/drawing/2014/main" id="{A04A417E-82E7-4764-A852-40AF16A5EBC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48" y="960"/>
              <a:ext cx="111" cy="112"/>
            </a:xfrm>
            <a:prstGeom prst="ellipse">
              <a:avLst/>
            </a:prstGeom>
            <a:noFill/>
            <a:ln w="9525">
              <a:solidFill>
                <a:sysClr val="windowText" lastClr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charset="0"/>
                <a:cs typeface="Arial" charset="0"/>
              </a:endParaRPr>
            </a:p>
          </p:txBody>
        </p:sp>
        <p:sp>
          <p:nvSpPr>
            <p:cNvPr id="28" name="Oval 6">
              <a:extLst>
                <a:ext uri="{FF2B5EF4-FFF2-40B4-BE49-F238E27FC236}">
                  <a16:creationId xmlns:a16="http://schemas.microsoft.com/office/drawing/2014/main" id="{A8C76B12-54CD-4403-9EE7-3B9237DC879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77" y="960"/>
              <a:ext cx="111" cy="112"/>
            </a:xfrm>
            <a:prstGeom prst="ellipse">
              <a:avLst/>
            </a:prstGeom>
            <a:solidFill>
              <a:srgbClr val="800000"/>
            </a:solidFill>
            <a:ln w="9525">
              <a:solidFill>
                <a:sysClr val="windowText" lastClr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charset="0"/>
                <a:cs typeface="Arial" charset="0"/>
              </a:endParaRPr>
            </a:p>
          </p:txBody>
        </p:sp>
        <p:sp>
          <p:nvSpPr>
            <p:cNvPr id="29" name="Oval 7">
              <a:extLst>
                <a:ext uri="{FF2B5EF4-FFF2-40B4-BE49-F238E27FC236}">
                  <a16:creationId xmlns:a16="http://schemas.microsoft.com/office/drawing/2014/main" id="{99D73ABD-5C4F-4DC0-BE72-3B85F59B1F9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48" y="2192"/>
              <a:ext cx="111" cy="112"/>
            </a:xfrm>
            <a:prstGeom prst="ellipse">
              <a:avLst/>
            </a:prstGeom>
            <a:solidFill>
              <a:srgbClr val="800000"/>
            </a:solidFill>
            <a:ln w="9525">
              <a:solidFill>
                <a:sysClr val="windowText" lastClr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charset="0"/>
                <a:cs typeface="Arial" charset="0"/>
              </a:endParaRPr>
            </a:p>
          </p:txBody>
        </p:sp>
        <p:cxnSp>
          <p:nvCxnSpPr>
            <p:cNvPr id="30" name="AutoShape 8">
              <a:extLst>
                <a:ext uri="{FF2B5EF4-FFF2-40B4-BE49-F238E27FC236}">
                  <a16:creationId xmlns:a16="http://schemas.microsoft.com/office/drawing/2014/main" id="{96CCCC55-6BD6-451A-96B1-51854DF821D5}"/>
                </a:ext>
              </a:extLst>
            </p:cNvPr>
            <p:cNvCxnSpPr>
              <a:cxnSpLocks noChangeShapeType="1"/>
              <a:stCxn id="27" idx="6"/>
              <a:endCxn id="28" idx="2"/>
            </p:cNvCxnSpPr>
            <p:nvPr/>
          </p:nvCxnSpPr>
          <p:spPr bwMode="auto">
            <a:xfrm>
              <a:off x="3759" y="1016"/>
              <a:ext cx="1218" cy="0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</p:cxnSp>
        <p:cxnSp>
          <p:nvCxnSpPr>
            <p:cNvPr id="31" name="AutoShape 9">
              <a:extLst>
                <a:ext uri="{FF2B5EF4-FFF2-40B4-BE49-F238E27FC236}">
                  <a16:creationId xmlns:a16="http://schemas.microsoft.com/office/drawing/2014/main" id="{FC713FBA-E040-4E94-A0F7-A57C8B8D296C}"/>
                </a:ext>
              </a:extLst>
            </p:cNvPr>
            <p:cNvCxnSpPr>
              <a:cxnSpLocks noChangeShapeType="1"/>
              <a:stCxn id="27" idx="4"/>
              <a:endCxn id="29" idx="0"/>
            </p:cNvCxnSpPr>
            <p:nvPr/>
          </p:nvCxnSpPr>
          <p:spPr bwMode="auto">
            <a:xfrm>
              <a:off x="3703" y="1072"/>
              <a:ext cx="0" cy="1120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</p:cxnSp>
        <p:sp>
          <p:nvSpPr>
            <p:cNvPr id="32" name="Oval 10">
              <a:extLst>
                <a:ext uri="{FF2B5EF4-FFF2-40B4-BE49-F238E27FC236}">
                  <a16:creationId xmlns:a16="http://schemas.microsoft.com/office/drawing/2014/main" id="{ADC62A71-3657-41B7-A540-CE5D330B7ED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77" y="2192"/>
              <a:ext cx="111" cy="112"/>
            </a:xfrm>
            <a:prstGeom prst="ellipse">
              <a:avLst/>
            </a:prstGeom>
            <a:noFill/>
            <a:ln w="9525">
              <a:solidFill>
                <a:sysClr val="windowText" lastClr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charset="0"/>
                <a:cs typeface="Arial" charset="0"/>
              </a:endParaRPr>
            </a:p>
          </p:txBody>
        </p:sp>
        <p:cxnSp>
          <p:nvCxnSpPr>
            <p:cNvPr id="33" name="AutoShape 11">
              <a:extLst>
                <a:ext uri="{FF2B5EF4-FFF2-40B4-BE49-F238E27FC236}">
                  <a16:creationId xmlns:a16="http://schemas.microsoft.com/office/drawing/2014/main" id="{2E057FFB-0933-4F8E-A743-31DECC49C48F}"/>
                </a:ext>
              </a:extLst>
            </p:cNvPr>
            <p:cNvCxnSpPr>
              <a:cxnSpLocks noChangeShapeType="1"/>
              <a:stCxn id="29" idx="6"/>
              <a:endCxn id="32" idx="2"/>
            </p:cNvCxnSpPr>
            <p:nvPr/>
          </p:nvCxnSpPr>
          <p:spPr bwMode="auto">
            <a:xfrm>
              <a:off x="3759" y="2248"/>
              <a:ext cx="1218" cy="0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</p:cxnSp>
        <p:cxnSp>
          <p:nvCxnSpPr>
            <p:cNvPr id="34" name="AutoShape 12">
              <a:extLst>
                <a:ext uri="{FF2B5EF4-FFF2-40B4-BE49-F238E27FC236}">
                  <a16:creationId xmlns:a16="http://schemas.microsoft.com/office/drawing/2014/main" id="{2AF3BE28-69FE-4767-B374-AE69EAFCA3A0}"/>
                </a:ext>
              </a:extLst>
            </p:cNvPr>
            <p:cNvCxnSpPr>
              <a:cxnSpLocks noChangeShapeType="1"/>
              <a:stCxn id="28" idx="4"/>
              <a:endCxn id="32" idx="0"/>
            </p:cNvCxnSpPr>
            <p:nvPr/>
          </p:nvCxnSpPr>
          <p:spPr bwMode="auto">
            <a:xfrm>
              <a:off x="5033" y="1072"/>
              <a:ext cx="0" cy="1120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</p:cxnSp>
      </p:grpSp>
      <p:sp>
        <p:nvSpPr>
          <p:cNvPr id="35" name="Oval 13">
            <a:extLst>
              <a:ext uri="{FF2B5EF4-FFF2-40B4-BE49-F238E27FC236}">
                <a16:creationId xmlns:a16="http://schemas.microsoft.com/office/drawing/2014/main" id="{A0534F01-025B-4C0E-B38A-659A05F46655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62788" y="4078288"/>
            <a:ext cx="100012" cy="112712"/>
          </a:xfrm>
          <a:prstGeom prst="ellipse">
            <a:avLst/>
          </a:prstGeom>
          <a:noFill/>
          <a:ln w="9525">
            <a:solidFill>
              <a:sysClr val="windowText" lastClr="000000"/>
            </a:solidFill>
            <a:round/>
            <a:headEnd/>
            <a:tailEnd/>
          </a:ln>
        </p:spPr>
        <p:txBody>
          <a:bodyPr wrap="none"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charset="0"/>
              <a:cs typeface="Arial" charset="0"/>
            </a:endParaRPr>
          </a:p>
        </p:txBody>
      </p:sp>
      <p:sp>
        <p:nvSpPr>
          <p:cNvPr id="36" name="Oval 14">
            <a:extLst>
              <a:ext uri="{FF2B5EF4-FFF2-40B4-BE49-F238E27FC236}">
                <a16:creationId xmlns:a16="http://schemas.microsoft.com/office/drawing/2014/main" id="{D87FAB50-A4AF-4860-89E4-04F1AB38E30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38775" y="4916488"/>
            <a:ext cx="100013" cy="112712"/>
          </a:xfrm>
          <a:prstGeom prst="ellipse">
            <a:avLst/>
          </a:prstGeom>
          <a:solidFill>
            <a:srgbClr val="800000"/>
          </a:solidFill>
          <a:ln w="9525">
            <a:solidFill>
              <a:sysClr val="windowText" lastClr="000000"/>
            </a:solidFill>
            <a:round/>
            <a:headEnd/>
            <a:tailEnd/>
          </a:ln>
        </p:spPr>
        <p:txBody>
          <a:bodyPr wrap="none"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charset="0"/>
              <a:cs typeface="Arial" charset="0"/>
            </a:endParaRPr>
          </a:p>
        </p:txBody>
      </p:sp>
      <p:sp>
        <p:nvSpPr>
          <p:cNvPr id="37" name="Oval 15">
            <a:extLst>
              <a:ext uri="{FF2B5EF4-FFF2-40B4-BE49-F238E27FC236}">
                <a16:creationId xmlns:a16="http://schemas.microsoft.com/office/drawing/2014/main" id="{4470548D-502B-4FDA-A849-9020CF6E814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38775" y="4078288"/>
            <a:ext cx="100013" cy="112712"/>
          </a:xfrm>
          <a:prstGeom prst="ellipse">
            <a:avLst/>
          </a:prstGeom>
          <a:solidFill>
            <a:srgbClr val="800000"/>
          </a:solidFill>
          <a:ln w="9525">
            <a:solidFill>
              <a:sysClr val="windowText" lastClr="000000"/>
            </a:solidFill>
            <a:round/>
            <a:headEnd/>
            <a:tailEnd/>
          </a:ln>
        </p:spPr>
        <p:txBody>
          <a:bodyPr wrap="none"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charset="0"/>
              <a:cs typeface="Arial" charset="0"/>
            </a:endParaRPr>
          </a:p>
        </p:txBody>
      </p:sp>
      <p:cxnSp>
        <p:nvCxnSpPr>
          <p:cNvPr id="38" name="AutoShape 16">
            <a:extLst>
              <a:ext uri="{FF2B5EF4-FFF2-40B4-BE49-F238E27FC236}">
                <a16:creationId xmlns:a16="http://schemas.microsoft.com/office/drawing/2014/main" id="{B633419D-43D5-47C2-A523-BECD7F48C210}"/>
              </a:ext>
            </a:extLst>
          </p:cNvPr>
          <p:cNvCxnSpPr>
            <a:cxnSpLocks noChangeShapeType="1"/>
            <a:stCxn id="35" idx="3"/>
            <a:endCxn id="36" idx="7"/>
          </p:cNvCxnSpPr>
          <p:nvPr/>
        </p:nvCxnSpPr>
        <p:spPr bwMode="auto">
          <a:xfrm flipH="1">
            <a:off x="5524500" y="4175125"/>
            <a:ext cx="1552575" cy="757238"/>
          </a:xfrm>
          <a:prstGeom prst="straightConnector1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</p:spPr>
      </p:cxnSp>
      <p:cxnSp>
        <p:nvCxnSpPr>
          <p:cNvPr id="39" name="AutoShape 17">
            <a:extLst>
              <a:ext uri="{FF2B5EF4-FFF2-40B4-BE49-F238E27FC236}">
                <a16:creationId xmlns:a16="http://schemas.microsoft.com/office/drawing/2014/main" id="{D1ADF7B5-0402-45A4-A580-D2CAB4C426FC}"/>
              </a:ext>
            </a:extLst>
          </p:cNvPr>
          <p:cNvCxnSpPr>
            <a:cxnSpLocks noChangeShapeType="1"/>
            <a:stCxn id="35" idx="2"/>
            <a:endCxn id="37" idx="6"/>
          </p:cNvCxnSpPr>
          <p:nvPr/>
        </p:nvCxnSpPr>
        <p:spPr bwMode="auto">
          <a:xfrm flipH="1">
            <a:off x="5538788" y="4135438"/>
            <a:ext cx="1524000" cy="0"/>
          </a:xfrm>
          <a:prstGeom prst="straightConnector1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</p:spPr>
      </p:cxnSp>
      <p:sp>
        <p:nvSpPr>
          <p:cNvPr id="40" name="Oval 18">
            <a:extLst>
              <a:ext uri="{FF2B5EF4-FFF2-40B4-BE49-F238E27FC236}">
                <a16:creationId xmlns:a16="http://schemas.microsoft.com/office/drawing/2014/main" id="{129B27AE-54EA-4C97-B968-420F8E81C74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62788" y="4916488"/>
            <a:ext cx="100012" cy="112712"/>
          </a:xfrm>
          <a:prstGeom prst="ellipse">
            <a:avLst/>
          </a:prstGeom>
          <a:noFill/>
          <a:ln w="9525">
            <a:solidFill>
              <a:sysClr val="windowText" lastClr="000000"/>
            </a:solidFill>
            <a:round/>
            <a:headEnd/>
            <a:tailEnd/>
          </a:ln>
        </p:spPr>
        <p:txBody>
          <a:bodyPr wrap="none"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charset="0"/>
              <a:cs typeface="Arial" charset="0"/>
            </a:endParaRPr>
          </a:p>
        </p:txBody>
      </p:sp>
      <p:cxnSp>
        <p:nvCxnSpPr>
          <p:cNvPr id="41" name="AutoShape 19">
            <a:extLst>
              <a:ext uri="{FF2B5EF4-FFF2-40B4-BE49-F238E27FC236}">
                <a16:creationId xmlns:a16="http://schemas.microsoft.com/office/drawing/2014/main" id="{83A0553D-CFD0-444A-BE27-090BD3EC362D}"/>
              </a:ext>
            </a:extLst>
          </p:cNvPr>
          <p:cNvCxnSpPr>
            <a:cxnSpLocks noChangeShapeType="1"/>
            <a:stCxn id="37" idx="5"/>
            <a:endCxn id="40" idx="1"/>
          </p:cNvCxnSpPr>
          <p:nvPr/>
        </p:nvCxnSpPr>
        <p:spPr bwMode="auto">
          <a:xfrm>
            <a:off x="5524500" y="4175125"/>
            <a:ext cx="1552575" cy="757238"/>
          </a:xfrm>
          <a:prstGeom prst="straightConnector1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</p:spPr>
      </p:cxnSp>
      <p:cxnSp>
        <p:nvCxnSpPr>
          <p:cNvPr id="42" name="AutoShape 20">
            <a:extLst>
              <a:ext uri="{FF2B5EF4-FFF2-40B4-BE49-F238E27FC236}">
                <a16:creationId xmlns:a16="http://schemas.microsoft.com/office/drawing/2014/main" id="{13C14E4F-B773-41BB-A226-5A3EDEB5BA68}"/>
              </a:ext>
            </a:extLst>
          </p:cNvPr>
          <p:cNvCxnSpPr>
            <a:cxnSpLocks noChangeShapeType="1"/>
            <a:stCxn id="36" idx="6"/>
            <a:endCxn id="40" idx="2"/>
          </p:cNvCxnSpPr>
          <p:nvPr/>
        </p:nvCxnSpPr>
        <p:spPr bwMode="auto">
          <a:xfrm>
            <a:off x="5538788" y="4973638"/>
            <a:ext cx="1524000" cy="0"/>
          </a:xfrm>
          <a:prstGeom prst="straightConnector1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</p:spPr>
      </p:cxnSp>
    </p:spTree>
    <p:extLst>
      <p:ext uri="{BB962C8B-B14F-4D97-AF65-F5344CB8AC3E}">
        <p14:creationId xmlns:p14="http://schemas.microsoft.com/office/powerpoint/2010/main" val="131019721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2"/>
          <p:cNvSpPr txBox="1">
            <a:spLocks/>
          </p:cNvSpPr>
          <p:nvPr/>
        </p:nvSpPr>
        <p:spPr>
          <a:xfrm>
            <a:off x="335494" y="731162"/>
            <a:ext cx="6543608" cy="493414"/>
          </a:xfrm>
          <a:prstGeom prst="rect">
            <a:avLst/>
          </a:prstGeom>
        </p:spPr>
        <p:txBody>
          <a:bodyPr>
            <a:normAutofit lnSpcReduction="10000"/>
          </a:bodyPr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800" b="1" dirty="0">
                <a:solidFill>
                  <a:srgbClr val="FF0000"/>
                </a:solidFill>
                <a:cs typeface="Times New Roman" pitchFamily="18" charset="0"/>
              </a:rPr>
              <a:t>Example 8</a:t>
            </a:r>
            <a:endParaRPr lang="en-US" sz="2600" b="1" dirty="0">
              <a:solidFill>
                <a:srgbClr val="FF0000"/>
              </a:solidFill>
            </a:endParaRPr>
          </a:p>
        </p:txBody>
      </p:sp>
      <p:sp>
        <p:nvSpPr>
          <p:cNvPr id="43" name="Content Placeholder 2">
            <a:extLst>
              <a:ext uri="{FF2B5EF4-FFF2-40B4-BE49-F238E27FC236}">
                <a16:creationId xmlns:a16="http://schemas.microsoft.com/office/drawing/2014/main" id="{3B2B5CE4-BFCB-4077-B829-895C9592C0E0}"/>
              </a:ext>
            </a:extLst>
          </p:cNvPr>
          <p:cNvSpPr txBox="1">
            <a:spLocks/>
          </p:cNvSpPr>
          <p:nvPr/>
        </p:nvSpPr>
        <p:spPr bwMode="auto">
          <a:xfrm>
            <a:off x="457200" y="1610833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Show that the graphs 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highlight>
                  <a:srgbClr val="FFFF00"/>
                </a:highlight>
                <a:uLnTx/>
                <a:uFillTx/>
                <a:latin typeface="Calibri"/>
                <a:ea typeface="+mn-ea"/>
                <a:cs typeface="+mn-cs"/>
              </a:rPr>
              <a:t>G=(V,E) 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and 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highlight>
                  <a:srgbClr val="FFFF00"/>
                </a:highlight>
                <a:uLnTx/>
                <a:uFillTx/>
                <a:latin typeface="Calibri"/>
                <a:ea typeface="+mn-ea"/>
                <a:cs typeface="+mn-cs"/>
              </a:rPr>
              <a:t>H=(W,F) 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are isomorphic.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Char char="•"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u</a:t>
            </a:r>
            <a:r>
              <a:rPr kumimoji="0" lang="en-US" sz="2400" b="0" i="0" u="none" strike="noStrike" kern="1200" cap="none" spc="0" normalizeH="0" baseline="-2500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1	                            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u</a:t>
            </a:r>
            <a:r>
              <a:rPr kumimoji="0" lang="en-US" sz="2400" b="0" i="0" u="none" strike="noStrike" kern="1200" cap="none" spc="0" normalizeH="0" baseline="-2500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2                                 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v</a:t>
            </a:r>
            <a:r>
              <a:rPr kumimoji="0" lang="en-US" sz="2400" b="0" i="0" u="none" strike="noStrike" kern="1200" cap="none" spc="0" normalizeH="0" baseline="-2500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1                                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v</a:t>
            </a:r>
            <a:r>
              <a:rPr kumimoji="0" lang="en-US" sz="2400" b="0" i="0" u="none" strike="noStrike" kern="1200" cap="none" spc="0" normalizeH="0" baseline="-2500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2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None/>
              <a:tabLst/>
              <a:defRPr/>
            </a:pPr>
            <a:r>
              <a:rPr kumimoji="0" lang="en-US" sz="2400" b="0" i="0" u="none" strike="noStrike" kern="1200" cap="none" spc="0" normalizeH="0" baseline="-2500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None/>
              <a:tabLst/>
              <a:defRPr/>
            </a:pPr>
            <a:r>
              <a:rPr kumimoji="0" lang="en-US" sz="2400" b="0" i="0" u="none" strike="noStrike" kern="1200" cap="none" spc="0" normalizeH="0" baseline="-2500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   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None/>
              <a:tabLst/>
              <a:defRPr/>
            </a:pPr>
            <a:endParaRPr kumimoji="0" lang="en-US" sz="2400" b="0" i="0" u="none" strike="noStrike" kern="1200" cap="none" spc="0" normalizeH="0" baseline="-2500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None/>
              <a:tabLst/>
              <a:defRPr/>
            </a:pPr>
            <a:r>
              <a:rPr kumimoji="0" lang="en-US" sz="2400" b="0" i="0" u="none" strike="noStrike" kern="1200" cap="none" spc="0" normalizeH="0" baseline="-2500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u</a:t>
            </a:r>
            <a:r>
              <a:rPr kumimoji="0" lang="en-US" sz="2400" b="0" i="0" u="none" strike="noStrike" kern="1200" cap="none" spc="0" normalizeH="0" baseline="-2500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3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                   u</a:t>
            </a:r>
            <a:r>
              <a:rPr kumimoji="0" lang="en-US" sz="2400" b="0" i="0" u="none" strike="noStrike" kern="1200" cap="none" spc="0" normalizeH="0" baseline="-2500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4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                    v</a:t>
            </a:r>
            <a:r>
              <a:rPr kumimoji="0" lang="en-US" sz="2400" b="0" i="0" u="none" strike="noStrike" kern="1200" cap="none" spc="0" normalizeH="0" baseline="-2500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3                               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v</a:t>
            </a:r>
            <a:r>
              <a:rPr kumimoji="0" lang="en-US" sz="2400" b="0" i="0" u="none" strike="noStrike" kern="1200" cap="none" spc="0" normalizeH="0" baseline="-2500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4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None/>
              <a:tabLst/>
              <a:defRPr/>
            </a:pPr>
            <a:endParaRPr kumimoji="0" lang="en-US" sz="2400" b="0" i="0" u="none" strike="noStrike" kern="1200" cap="none" spc="0" normalizeH="0" baseline="-2500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None/>
              <a:tabLst/>
              <a:defRPr/>
            </a:pPr>
            <a:r>
              <a:rPr kumimoji="0" lang="en-US" sz="2400" b="0" i="0" u="none" strike="noStrike" kern="1200" cap="none" spc="0" normalizeH="0" baseline="-2500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None/>
              <a:tabLst/>
              <a:defRPr/>
            </a:pPr>
            <a:r>
              <a:rPr kumimoji="0" lang="en-US" sz="3200" b="1" i="0" u="none" strike="noStrike" kern="1200" cap="none" spc="0" normalizeH="0" baseline="-2500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         </a:t>
            </a: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G </a:t>
            </a: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				</a:t>
            </a: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H</a:t>
            </a:r>
            <a:r>
              <a:rPr kumimoji="0" lang="en-US" sz="3200" b="0" i="0" u="none" strike="noStrike" kern="1200" cap="none" spc="0" normalizeH="0" baseline="-2500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		 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None/>
              <a:tabLst/>
              <a:defRPr/>
            </a:pPr>
            <a:endParaRPr kumimoji="0" lang="en-US" sz="2400" b="0" i="0" u="none" strike="noStrike" kern="1200" cap="none" spc="0" normalizeH="0" baseline="-2500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None/>
              <a:tabLst/>
              <a:defRPr/>
            </a:pPr>
            <a:endParaRPr kumimoji="0" lang="en-US" sz="2400" b="0" i="0" u="none" strike="noStrike" kern="1200" cap="none" spc="0" normalizeH="0" baseline="-2500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None/>
              <a:tabLst/>
              <a:defRPr/>
            </a:pPr>
            <a:endParaRPr kumimoji="0" lang="en-US" sz="2400" b="0" i="0" u="none" strike="noStrike" kern="1200" cap="none" spc="0" normalizeH="0" baseline="-2500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6F65C488-75CA-4522-B37E-472E03DD9856}"/>
              </a:ext>
            </a:extLst>
          </p:cNvPr>
          <p:cNvCxnSpPr/>
          <p:nvPr/>
        </p:nvCxnSpPr>
        <p:spPr>
          <a:xfrm>
            <a:off x="990600" y="2667000"/>
            <a:ext cx="0" cy="1295400"/>
          </a:xfrm>
          <a:prstGeom prst="line">
            <a:avLst/>
          </a:prstGeom>
          <a:noFill/>
          <a:ln w="9525" cap="flat" cmpd="sng" algn="ctr">
            <a:solidFill>
              <a:sysClr val="windowText" lastClr="000000">
                <a:alpha val="94000"/>
              </a:sysClr>
            </a:solidFill>
            <a:prstDash val="solid"/>
          </a:ln>
          <a:effectLst/>
        </p:spPr>
      </p:cxn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FFD8A2BF-90E3-4BA2-BFCA-ACD5D3BD7BDB}"/>
              </a:ext>
            </a:extLst>
          </p:cNvPr>
          <p:cNvCxnSpPr/>
          <p:nvPr/>
        </p:nvCxnSpPr>
        <p:spPr>
          <a:xfrm>
            <a:off x="990600" y="2667000"/>
            <a:ext cx="1066800" cy="0"/>
          </a:xfrm>
          <a:prstGeom prst="line">
            <a:avLst/>
          </a:prstGeom>
          <a:noFill/>
          <a:ln w="9525" cap="flat" cmpd="sng" algn="ctr">
            <a:solidFill>
              <a:sysClr val="windowText" lastClr="000000">
                <a:alpha val="94000"/>
              </a:sysClr>
            </a:solidFill>
            <a:prstDash val="solid"/>
          </a:ln>
          <a:effectLst/>
        </p:spPr>
      </p:cxn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2352E683-4371-48F7-A7CD-86B470EA7033}"/>
              </a:ext>
            </a:extLst>
          </p:cNvPr>
          <p:cNvCxnSpPr/>
          <p:nvPr/>
        </p:nvCxnSpPr>
        <p:spPr>
          <a:xfrm flipH="1">
            <a:off x="990600" y="3962400"/>
            <a:ext cx="1066800" cy="0"/>
          </a:xfrm>
          <a:prstGeom prst="line">
            <a:avLst/>
          </a:prstGeom>
          <a:noFill/>
          <a:ln w="9525" cap="flat" cmpd="sng" algn="ctr">
            <a:solidFill>
              <a:sysClr val="windowText" lastClr="000000">
                <a:alpha val="94000"/>
              </a:sysClr>
            </a:solidFill>
            <a:prstDash val="solid"/>
          </a:ln>
          <a:effectLst/>
        </p:spPr>
      </p:cxn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7B3C30C6-0E55-4369-A3EC-10F28230518B}"/>
              </a:ext>
            </a:extLst>
          </p:cNvPr>
          <p:cNvCxnSpPr/>
          <p:nvPr/>
        </p:nvCxnSpPr>
        <p:spPr>
          <a:xfrm>
            <a:off x="2057400" y="2667000"/>
            <a:ext cx="0" cy="1295400"/>
          </a:xfrm>
          <a:prstGeom prst="line">
            <a:avLst/>
          </a:prstGeom>
          <a:noFill/>
          <a:ln w="9525" cap="flat" cmpd="sng" algn="ctr">
            <a:solidFill>
              <a:sysClr val="windowText" lastClr="000000">
                <a:alpha val="94000"/>
              </a:sysClr>
            </a:solidFill>
            <a:prstDash val="solid"/>
          </a:ln>
          <a:effectLst/>
        </p:spPr>
      </p:cxn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D7A04CE0-3A5F-4A69-9209-99EA8BBC912D}"/>
              </a:ext>
            </a:extLst>
          </p:cNvPr>
          <p:cNvCxnSpPr/>
          <p:nvPr/>
        </p:nvCxnSpPr>
        <p:spPr>
          <a:xfrm>
            <a:off x="4343400" y="2743200"/>
            <a:ext cx="0" cy="1295400"/>
          </a:xfrm>
          <a:prstGeom prst="line">
            <a:avLst/>
          </a:prstGeom>
          <a:noFill/>
          <a:ln w="9525" cap="flat" cmpd="sng" algn="ctr">
            <a:solidFill>
              <a:sysClr val="windowText" lastClr="000000">
                <a:alpha val="94000"/>
              </a:sysClr>
            </a:solidFill>
            <a:prstDash val="solid"/>
          </a:ln>
          <a:effectLst/>
        </p:spPr>
      </p:cxnSp>
      <p:cxnSp>
        <p:nvCxnSpPr>
          <p:cNvPr id="50" name="Straight Connector 49">
            <a:extLst>
              <a:ext uri="{FF2B5EF4-FFF2-40B4-BE49-F238E27FC236}">
                <a16:creationId xmlns:a16="http://schemas.microsoft.com/office/drawing/2014/main" id="{B47D4F47-9F27-4697-8BB6-635C2D2A108F}"/>
              </a:ext>
            </a:extLst>
          </p:cNvPr>
          <p:cNvCxnSpPr/>
          <p:nvPr/>
        </p:nvCxnSpPr>
        <p:spPr>
          <a:xfrm>
            <a:off x="5486400" y="2743200"/>
            <a:ext cx="0" cy="1295400"/>
          </a:xfrm>
          <a:prstGeom prst="line">
            <a:avLst/>
          </a:prstGeom>
          <a:noFill/>
          <a:ln w="9525" cap="flat" cmpd="sng" algn="ctr">
            <a:solidFill>
              <a:sysClr val="windowText" lastClr="000000">
                <a:alpha val="94000"/>
              </a:sysClr>
            </a:solidFill>
            <a:prstDash val="solid"/>
          </a:ln>
          <a:effectLst/>
        </p:spPr>
      </p:cxn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723F336D-5231-475E-B2A2-93C0A439AD51}"/>
              </a:ext>
            </a:extLst>
          </p:cNvPr>
          <p:cNvCxnSpPr/>
          <p:nvPr/>
        </p:nvCxnSpPr>
        <p:spPr>
          <a:xfrm flipH="1">
            <a:off x="4343400" y="2743200"/>
            <a:ext cx="1143000" cy="1295400"/>
          </a:xfrm>
          <a:prstGeom prst="line">
            <a:avLst/>
          </a:prstGeom>
          <a:noFill/>
          <a:ln w="9525" cap="flat" cmpd="sng" algn="ctr">
            <a:solidFill>
              <a:sysClr val="windowText" lastClr="000000">
                <a:alpha val="94000"/>
              </a:sysClr>
            </a:solidFill>
            <a:prstDash val="solid"/>
          </a:ln>
          <a:effectLst/>
        </p:spPr>
      </p:cxnSp>
      <p:cxnSp>
        <p:nvCxnSpPr>
          <p:cNvPr id="52" name="Straight Connector 51">
            <a:extLst>
              <a:ext uri="{FF2B5EF4-FFF2-40B4-BE49-F238E27FC236}">
                <a16:creationId xmlns:a16="http://schemas.microsoft.com/office/drawing/2014/main" id="{185FDB23-BD1B-485E-8A4D-BA2345A97CCD}"/>
              </a:ext>
            </a:extLst>
          </p:cNvPr>
          <p:cNvCxnSpPr/>
          <p:nvPr/>
        </p:nvCxnSpPr>
        <p:spPr>
          <a:xfrm>
            <a:off x="4343400" y="2743200"/>
            <a:ext cx="1143000" cy="1295400"/>
          </a:xfrm>
          <a:prstGeom prst="line">
            <a:avLst/>
          </a:prstGeom>
          <a:noFill/>
          <a:ln w="9525" cap="flat" cmpd="sng" algn="ctr">
            <a:solidFill>
              <a:sysClr val="windowText" lastClr="000000">
                <a:alpha val="94000"/>
              </a:sysClr>
            </a:solidFill>
            <a:prstDash val="solid"/>
          </a:ln>
          <a:effectLst/>
        </p:spPr>
      </p:cxnSp>
      <p:sp>
        <p:nvSpPr>
          <p:cNvPr id="53" name="Flowchart: Connector 52">
            <a:extLst>
              <a:ext uri="{FF2B5EF4-FFF2-40B4-BE49-F238E27FC236}">
                <a16:creationId xmlns:a16="http://schemas.microsoft.com/office/drawing/2014/main" id="{9B861A9C-50A8-418F-84EF-C24F474BD545}"/>
              </a:ext>
            </a:extLst>
          </p:cNvPr>
          <p:cNvSpPr/>
          <p:nvPr/>
        </p:nvSpPr>
        <p:spPr>
          <a:xfrm>
            <a:off x="914400" y="2590800"/>
            <a:ext cx="152400" cy="152400"/>
          </a:xfrm>
          <a:prstGeom prst="flowChartConnector">
            <a:avLst/>
          </a:prstGeom>
          <a:solidFill>
            <a:sysClr val="windowText" lastClr="000000"/>
          </a:solidFill>
          <a:ln w="25400" cap="flat" cmpd="sng" algn="ctr">
            <a:solidFill>
              <a:srgbClr val="4F81BD">
                <a:shade val="50000"/>
              </a:srgbClr>
            </a:solidFill>
            <a:prstDash val="solid"/>
          </a:ln>
          <a:effectLst/>
        </p:spPr>
        <p:txBody>
          <a:bodyPr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4" name="Flowchart: Connector 53">
            <a:extLst>
              <a:ext uri="{FF2B5EF4-FFF2-40B4-BE49-F238E27FC236}">
                <a16:creationId xmlns:a16="http://schemas.microsoft.com/office/drawing/2014/main" id="{C7C9606C-AB1E-470E-8C1E-078AD5127E44}"/>
              </a:ext>
            </a:extLst>
          </p:cNvPr>
          <p:cNvSpPr/>
          <p:nvPr/>
        </p:nvSpPr>
        <p:spPr>
          <a:xfrm>
            <a:off x="1981200" y="2590800"/>
            <a:ext cx="152400" cy="152400"/>
          </a:xfrm>
          <a:prstGeom prst="flowChartConnector">
            <a:avLst/>
          </a:prstGeom>
          <a:solidFill>
            <a:sysClr val="windowText" lastClr="000000"/>
          </a:solidFill>
          <a:ln w="25400" cap="flat" cmpd="sng" algn="ctr">
            <a:solidFill>
              <a:srgbClr val="4F81BD">
                <a:shade val="50000"/>
              </a:srgbClr>
            </a:solidFill>
            <a:prstDash val="solid"/>
          </a:ln>
          <a:effectLst/>
        </p:spPr>
        <p:txBody>
          <a:bodyPr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5" name="Flowchart: Connector 54">
            <a:extLst>
              <a:ext uri="{FF2B5EF4-FFF2-40B4-BE49-F238E27FC236}">
                <a16:creationId xmlns:a16="http://schemas.microsoft.com/office/drawing/2014/main" id="{028DA661-756F-416A-90C6-22D8CD7D34FF}"/>
              </a:ext>
            </a:extLst>
          </p:cNvPr>
          <p:cNvSpPr/>
          <p:nvPr/>
        </p:nvSpPr>
        <p:spPr>
          <a:xfrm>
            <a:off x="914400" y="3886200"/>
            <a:ext cx="152400" cy="152400"/>
          </a:xfrm>
          <a:prstGeom prst="flowChartConnector">
            <a:avLst/>
          </a:prstGeom>
          <a:solidFill>
            <a:sysClr val="windowText" lastClr="000000"/>
          </a:solidFill>
          <a:ln w="25400" cap="flat" cmpd="sng" algn="ctr">
            <a:solidFill>
              <a:srgbClr val="4F81BD">
                <a:shade val="50000"/>
              </a:srgbClr>
            </a:solidFill>
            <a:prstDash val="solid"/>
          </a:ln>
          <a:effectLst/>
        </p:spPr>
        <p:txBody>
          <a:bodyPr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6" name="Flowchart: Connector 55">
            <a:extLst>
              <a:ext uri="{FF2B5EF4-FFF2-40B4-BE49-F238E27FC236}">
                <a16:creationId xmlns:a16="http://schemas.microsoft.com/office/drawing/2014/main" id="{448B7124-6797-4AB9-A7D9-B90CB844CE1B}"/>
              </a:ext>
            </a:extLst>
          </p:cNvPr>
          <p:cNvSpPr/>
          <p:nvPr/>
        </p:nvSpPr>
        <p:spPr>
          <a:xfrm>
            <a:off x="1981200" y="3886200"/>
            <a:ext cx="152400" cy="152400"/>
          </a:xfrm>
          <a:prstGeom prst="flowChartConnector">
            <a:avLst/>
          </a:prstGeom>
          <a:solidFill>
            <a:sysClr val="windowText" lastClr="000000"/>
          </a:solidFill>
          <a:ln w="25400" cap="flat" cmpd="sng" algn="ctr">
            <a:solidFill>
              <a:srgbClr val="4F81BD">
                <a:shade val="50000"/>
              </a:srgbClr>
            </a:solidFill>
            <a:prstDash val="solid"/>
          </a:ln>
          <a:effectLst/>
        </p:spPr>
        <p:txBody>
          <a:bodyPr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7" name="Flowchart: Connector 56">
            <a:extLst>
              <a:ext uri="{FF2B5EF4-FFF2-40B4-BE49-F238E27FC236}">
                <a16:creationId xmlns:a16="http://schemas.microsoft.com/office/drawing/2014/main" id="{407A1B8E-E39A-4F00-873B-B2327286435E}"/>
              </a:ext>
            </a:extLst>
          </p:cNvPr>
          <p:cNvSpPr/>
          <p:nvPr/>
        </p:nvSpPr>
        <p:spPr>
          <a:xfrm>
            <a:off x="4267200" y="2667000"/>
            <a:ext cx="152400" cy="152400"/>
          </a:xfrm>
          <a:prstGeom prst="flowChartConnector">
            <a:avLst/>
          </a:prstGeom>
          <a:solidFill>
            <a:sysClr val="windowText" lastClr="000000"/>
          </a:solidFill>
          <a:ln w="25400" cap="flat" cmpd="sng" algn="ctr">
            <a:solidFill>
              <a:srgbClr val="4F81BD">
                <a:shade val="50000"/>
              </a:srgbClr>
            </a:solidFill>
            <a:prstDash val="solid"/>
          </a:ln>
          <a:effectLst/>
        </p:spPr>
        <p:txBody>
          <a:bodyPr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8" name="Flowchart: Connector 57">
            <a:extLst>
              <a:ext uri="{FF2B5EF4-FFF2-40B4-BE49-F238E27FC236}">
                <a16:creationId xmlns:a16="http://schemas.microsoft.com/office/drawing/2014/main" id="{510D8766-4578-4673-88AF-EA2E5F5A0588}"/>
              </a:ext>
            </a:extLst>
          </p:cNvPr>
          <p:cNvSpPr/>
          <p:nvPr/>
        </p:nvSpPr>
        <p:spPr>
          <a:xfrm>
            <a:off x="5410200" y="2743200"/>
            <a:ext cx="152400" cy="152400"/>
          </a:xfrm>
          <a:prstGeom prst="flowChartConnector">
            <a:avLst/>
          </a:prstGeom>
          <a:solidFill>
            <a:sysClr val="windowText" lastClr="000000"/>
          </a:solidFill>
          <a:ln w="25400" cap="flat" cmpd="sng" algn="ctr">
            <a:solidFill>
              <a:srgbClr val="4F81BD">
                <a:shade val="50000"/>
              </a:srgbClr>
            </a:solidFill>
            <a:prstDash val="solid"/>
          </a:ln>
          <a:effectLst/>
        </p:spPr>
        <p:txBody>
          <a:bodyPr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9" name="Flowchart: Connector 58">
            <a:extLst>
              <a:ext uri="{FF2B5EF4-FFF2-40B4-BE49-F238E27FC236}">
                <a16:creationId xmlns:a16="http://schemas.microsoft.com/office/drawing/2014/main" id="{4BB69F24-C8E6-4EA3-9D25-B8F24B64DD9E}"/>
              </a:ext>
            </a:extLst>
          </p:cNvPr>
          <p:cNvSpPr/>
          <p:nvPr/>
        </p:nvSpPr>
        <p:spPr>
          <a:xfrm>
            <a:off x="4267200" y="3962400"/>
            <a:ext cx="152400" cy="152400"/>
          </a:xfrm>
          <a:prstGeom prst="flowChartConnector">
            <a:avLst/>
          </a:prstGeom>
          <a:solidFill>
            <a:sysClr val="windowText" lastClr="000000"/>
          </a:solidFill>
          <a:ln w="25400" cap="flat" cmpd="sng" algn="ctr">
            <a:solidFill>
              <a:srgbClr val="4F81BD">
                <a:shade val="50000"/>
              </a:srgbClr>
            </a:solidFill>
            <a:prstDash val="solid"/>
          </a:ln>
          <a:effectLst/>
        </p:spPr>
        <p:txBody>
          <a:bodyPr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0" name="Flowchart: Connector 59">
            <a:extLst>
              <a:ext uri="{FF2B5EF4-FFF2-40B4-BE49-F238E27FC236}">
                <a16:creationId xmlns:a16="http://schemas.microsoft.com/office/drawing/2014/main" id="{EC88999E-99AD-4CB5-9278-58CF4A61EC81}"/>
              </a:ext>
            </a:extLst>
          </p:cNvPr>
          <p:cNvSpPr/>
          <p:nvPr/>
        </p:nvSpPr>
        <p:spPr>
          <a:xfrm>
            <a:off x="5410200" y="3962400"/>
            <a:ext cx="152400" cy="152400"/>
          </a:xfrm>
          <a:prstGeom prst="flowChartConnector">
            <a:avLst/>
          </a:prstGeom>
          <a:solidFill>
            <a:sysClr val="windowText" lastClr="000000"/>
          </a:solidFill>
          <a:ln w="25400" cap="flat" cmpd="sng" algn="ctr">
            <a:solidFill>
              <a:srgbClr val="4F81BD">
                <a:shade val="50000"/>
              </a:srgbClr>
            </a:solidFill>
            <a:prstDash val="solid"/>
          </a:ln>
          <a:effectLst/>
        </p:spPr>
        <p:txBody>
          <a:bodyPr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2781360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2"/>
          <p:cNvSpPr txBox="1">
            <a:spLocks/>
          </p:cNvSpPr>
          <p:nvPr/>
        </p:nvSpPr>
        <p:spPr>
          <a:xfrm>
            <a:off x="335494" y="731162"/>
            <a:ext cx="6543608" cy="493414"/>
          </a:xfrm>
          <a:prstGeom prst="rect">
            <a:avLst/>
          </a:prstGeom>
        </p:spPr>
        <p:txBody>
          <a:bodyPr>
            <a:normAutofit lnSpcReduction="10000"/>
          </a:bodyPr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800" b="1" dirty="0">
                <a:solidFill>
                  <a:srgbClr val="0000FF"/>
                </a:solidFill>
              </a:rPr>
              <a:t>Solution</a:t>
            </a:r>
            <a:r>
              <a:rPr lang="en-US" sz="2800" dirty="0">
                <a:solidFill>
                  <a:srgbClr val="C00000"/>
                </a:solidFill>
              </a:rPr>
              <a:t> </a:t>
            </a:r>
            <a:r>
              <a:rPr lang="en-US" sz="2800" b="1" dirty="0">
                <a:solidFill>
                  <a:srgbClr val="FF0000"/>
                </a:solidFill>
              </a:rPr>
              <a:t>of Example 8</a:t>
            </a:r>
            <a:endParaRPr lang="en-US" sz="2600" b="1" dirty="0">
              <a:solidFill>
                <a:srgbClr val="FF0000"/>
              </a:solidFill>
            </a:endParaRPr>
          </a:p>
        </p:txBody>
      </p:sp>
      <p:sp>
        <p:nvSpPr>
          <p:cNvPr id="22" name="Content Placeholder 2">
            <a:extLst>
              <a:ext uri="{FF2B5EF4-FFF2-40B4-BE49-F238E27FC236}">
                <a16:creationId xmlns:a16="http://schemas.microsoft.com/office/drawing/2014/main" id="{7A7A333E-987B-413F-B2AD-F82D8F3EFC8F}"/>
              </a:ext>
            </a:extLst>
          </p:cNvPr>
          <p:cNvSpPr txBox="1">
            <a:spLocks/>
          </p:cNvSpPr>
          <p:nvPr/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Char char="•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The function </a:t>
            </a:r>
            <a:r>
              <a:rPr kumimoji="0" lang="en-US" sz="2800" b="0" i="1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f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with </a:t>
            </a:r>
            <a:r>
              <a:rPr kumimoji="0" lang="en-US" sz="2800" b="0" i="1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f(u</a:t>
            </a:r>
            <a:r>
              <a:rPr kumimoji="0" lang="en-US" sz="2800" b="0" i="1" u="none" strike="noStrike" kern="1200" cap="none" spc="0" normalizeH="0" baseline="-2500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1</a:t>
            </a:r>
            <a:r>
              <a:rPr kumimoji="0" lang="en-US" sz="2800" b="0" i="1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) = v</a:t>
            </a:r>
            <a:r>
              <a:rPr kumimoji="0" lang="en-US" sz="2800" b="0" i="1" u="none" strike="noStrike" kern="1200" cap="none" spc="0" normalizeH="0" baseline="-2500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1</a:t>
            </a:r>
            <a:r>
              <a:rPr kumimoji="0" lang="en-US" sz="2800" b="0" i="1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, f(u</a:t>
            </a:r>
            <a:r>
              <a:rPr kumimoji="0" lang="en-US" sz="2800" b="0" i="1" u="none" strike="noStrike" kern="1200" cap="none" spc="0" normalizeH="0" baseline="-2500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2</a:t>
            </a:r>
            <a:r>
              <a:rPr kumimoji="0" lang="en-US" sz="2800" b="0" i="1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) = v</a:t>
            </a:r>
            <a:r>
              <a:rPr kumimoji="0" lang="en-US" sz="2800" b="0" i="1" u="none" strike="noStrike" kern="1200" cap="none" spc="0" normalizeH="0" baseline="-2500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4</a:t>
            </a:r>
            <a:r>
              <a:rPr kumimoji="0" lang="en-US" sz="2800" b="0" i="1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, f(u</a:t>
            </a:r>
            <a:r>
              <a:rPr kumimoji="0" lang="en-US" sz="2800" b="0" i="1" u="none" strike="noStrike" kern="1200" cap="none" spc="0" normalizeH="0" baseline="-2500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3</a:t>
            </a:r>
            <a:r>
              <a:rPr kumimoji="0" lang="en-US" sz="2800" b="0" i="1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) = v</a:t>
            </a:r>
            <a:r>
              <a:rPr kumimoji="0" lang="en-US" sz="2800" b="0" i="1" u="none" strike="noStrike" kern="1200" cap="none" spc="0" normalizeH="0" baseline="-2500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3</a:t>
            </a:r>
            <a:r>
              <a:rPr kumimoji="0" lang="en-US" sz="2800" b="0" i="1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, and f(u</a:t>
            </a:r>
            <a:r>
              <a:rPr kumimoji="0" lang="en-US" sz="2800" b="0" i="1" u="none" strike="noStrike" kern="1200" cap="none" spc="0" normalizeH="0" baseline="-2500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4</a:t>
            </a:r>
            <a:r>
              <a:rPr kumimoji="0" lang="en-US" sz="2800" b="0" i="1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)= v</a:t>
            </a:r>
            <a:r>
              <a:rPr kumimoji="0" lang="en-US" sz="2800" b="0" i="1" u="none" strike="noStrike" kern="1200" cap="none" spc="0" normalizeH="0" baseline="-2500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2</a:t>
            </a:r>
            <a:r>
              <a:rPr kumimoji="0" lang="en-US" sz="2800" b="0" i="1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is a one-to-one correspondence between </a:t>
            </a:r>
            <a:r>
              <a:rPr kumimoji="0" lang="en-US" sz="2800" b="0" i="1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V 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and</a:t>
            </a:r>
            <a:r>
              <a:rPr kumimoji="0" lang="en-US" sz="2800" b="0" i="1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W.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To see that this correspondence preserves adjacency, note that adjacent vertices in G are </a:t>
            </a:r>
            <a:r>
              <a:rPr kumimoji="0" lang="en-US" sz="2800" b="0" i="1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u</a:t>
            </a:r>
            <a:r>
              <a:rPr kumimoji="0" lang="en-US" sz="2800" b="0" i="1" u="none" strike="noStrike" kern="1200" cap="none" spc="0" normalizeH="0" baseline="-2500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1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and </a:t>
            </a:r>
            <a:r>
              <a:rPr kumimoji="0" lang="en-US" sz="2800" b="0" i="1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u</a:t>
            </a:r>
            <a:r>
              <a:rPr kumimoji="0" lang="en-US" sz="2800" b="0" i="1" u="none" strike="noStrike" kern="1200" cap="none" spc="0" normalizeH="0" baseline="-2500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2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, </a:t>
            </a:r>
            <a:r>
              <a:rPr kumimoji="0" lang="en-US" sz="2800" b="0" i="1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u</a:t>
            </a:r>
            <a:r>
              <a:rPr kumimoji="0" lang="en-US" sz="2800" b="0" i="1" u="none" strike="noStrike" kern="1200" cap="none" spc="0" normalizeH="0" baseline="-2500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1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and </a:t>
            </a:r>
            <a:r>
              <a:rPr kumimoji="0" lang="en-US" sz="2800" b="0" i="1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u</a:t>
            </a:r>
            <a:r>
              <a:rPr kumimoji="0" lang="en-US" sz="2800" b="0" i="1" u="none" strike="noStrike" kern="1200" cap="none" spc="0" normalizeH="0" baseline="-2500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3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, </a:t>
            </a:r>
            <a:r>
              <a:rPr kumimoji="0" lang="en-US" sz="2800" b="0" i="1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u</a:t>
            </a:r>
            <a:r>
              <a:rPr kumimoji="0" lang="en-US" sz="2800" b="0" i="1" u="none" strike="noStrike" kern="1200" cap="none" spc="0" normalizeH="0" baseline="-2500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2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and </a:t>
            </a:r>
            <a:r>
              <a:rPr kumimoji="0" lang="en-US" sz="2800" b="0" i="1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u</a:t>
            </a:r>
            <a:r>
              <a:rPr kumimoji="0" lang="en-US" sz="2800" b="0" i="1" u="none" strike="noStrike" kern="1200" cap="none" spc="0" normalizeH="0" baseline="-2500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4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, and each of the pairs </a:t>
            </a:r>
            <a:r>
              <a:rPr kumimoji="0" lang="en-US" sz="2800" b="0" i="1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f(u</a:t>
            </a:r>
            <a:r>
              <a:rPr kumimoji="0" lang="en-US" sz="2800" b="0" i="1" u="none" strike="noStrike" kern="1200" cap="none" spc="0" normalizeH="0" baseline="-2500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1</a:t>
            </a:r>
            <a:r>
              <a:rPr kumimoji="0" lang="en-US" sz="2800" b="0" i="1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)= v</a:t>
            </a:r>
            <a:r>
              <a:rPr kumimoji="0" lang="en-US" sz="2800" b="0" i="1" u="none" strike="noStrike" kern="1200" cap="none" spc="0" normalizeH="0" baseline="-2500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1 </a:t>
            </a:r>
            <a:r>
              <a:rPr kumimoji="0" lang="en-US" sz="2800" b="0" i="1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and f(u</a:t>
            </a:r>
            <a:r>
              <a:rPr kumimoji="0" lang="en-US" sz="2800" b="0" i="1" u="none" strike="noStrike" kern="1200" cap="none" spc="0" normalizeH="0" baseline="-2500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2</a:t>
            </a:r>
            <a:r>
              <a:rPr kumimoji="0" lang="en-US" sz="2800" b="0" i="1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) = v</a:t>
            </a:r>
            <a:r>
              <a:rPr kumimoji="0" lang="en-US" sz="2800" b="0" i="1" u="none" strike="noStrike" kern="1200" cap="none" spc="0" normalizeH="0" baseline="-2500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4</a:t>
            </a:r>
            <a:r>
              <a:rPr kumimoji="0" lang="en-US" sz="2800" b="0" i="1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, f(u</a:t>
            </a:r>
            <a:r>
              <a:rPr kumimoji="0" lang="en-US" sz="2800" b="0" i="1" u="none" strike="noStrike" kern="1200" cap="none" spc="0" normalizeH="0" baseline="-2500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1</a:t>
            </a:r>
            <a:r>
              <a:rPr kumimoji="0" lang="en-US" sz="2800" b="0" i="1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)= v</a:t>
            </a:r>
            <a:r>
              <a:rPr kumimoji="0" lang="en-US" sz="2800" b="0" i="1" u="none" strike="noStrike" kern="1200" cap="none" spc="0" normalizeH="0" baseline="-2500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1 </a:t>
            </a:r>
            <a:r>
              <a:rPr kumimoji="0" lang="en-US" sz="2800" b="0" i="1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and f(u</a:t>
            </a:r>
            <a:r>
              <a:rPr kumimoji="0" lang="en-US" sz="2800" b="0" i="1" u="none" strike="noStrike" kern="1200" cap="none" spc="0" normalizeH="0" baseline="-2500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3</a:t>
            </a:r>
            <a:r>
              <a:rPr kumimoji="0" lang="en-US" sz="2800" b="0" i="1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)= v</a:t>
            </a:r>
            <a:r>
              <a:rPr kumimoji="0" lang="en-US" sz="2800" b="0" i="1" u="none" strike="noStrike" kern="1200" cap="none" spc="0" normalizeH="0" baseline="-2500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3</a:t>
            </a:r>
            <a:r>
              <a:rPr kumimoji="0" lang="en-US" sz="2800" b="0" i="1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, </a:t>
            </a: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Char char="•"/>
              <a:tabLst/>
              <a:defRPr/>
            </a:pPr>
            <a:r>
              <a:rPr lang="en-US" sz="2800" i="1" dirty="0">
                <a:solidFill>
                  <a:sysClr val="windowText" lastClr="000000"/>
                </a:solidFill>
                <a:latin typeface="Calibri"/>
              </a:rPr>
              <a:t>Again </a:t>
            </a:r>
            <a:r>
              <a:rPr kumimoji="0" lang="en-US" sz="2800" b="0" i="1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f(u</a:t>
            </a:r>
            <a:r>
              <a:rPr kumimoji="0" lang="en-US" sz="2800" b="0" i="1" u="none" strike="noStrike" kern="1200" cap="none" spc="0" normalizeH="0" baseline="-2500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2</a:t>
            </a:r>
            <a:r>
              <a:rPr kumimoji="0" lang="en-US" sz="2800" b="0" i="1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)= v</a:t>
            </a:r>
            <a:r>
              <a:rPr kumimoji="0" lang="en-US" sz="2800" b="0" i="1" u="none" strike="noStrike" kern="1200" cap="none" spc="0" normalizeH="0" baseline="-2500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4</a:t>
            </a:r>
            <a:r>
              <a:rPr kumimoji="0" lang="en-US" sz="2800" b="0" i="1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and f(u</a:t>
            </a:r>
            <a:r>
              <a:rPr kumimoji="0" lang="en-US" sz="2800" b="0" i="1" u="none" strike="noStrike" kern="1200" cap="none" spc="0" normalizeH="0" baseline="-2500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4</a:t>
            </a:r>
            <a:r>
              <a:rPr kumimoji="0" lang="en-US" sz="2800" b="0" i="1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)= v</a:t>
            </a:r>
            <a:r>
              <a:rPr kumimoji="0" lang="en-US" sz="2800" b="0" i="1" u="none" strike="noStrike" kern="1200" cap="none" spc="0" normalizeH="0" baseline="-2500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2</a:t>
            </a:r>
            <a:r>
              <a:rPr kumimoji="0" lang="en-US" sz="2800" b="0" i="1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, and f(u</a:t>
            </a:r>
            <a:r>
              <a:rPr kumimoji="0" lang="en-US" sz="2800" b="0" i="1" u="none" strike="noStrike" kern="1200" cap="none" spc="0" normalizeH="0" baseline="-2500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3</a:t>
            </a:r>
            <a:r>
              <a:rPr kumimoji="0" lang="en-US" sz="2800" b="0" i="1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)= v</a:t>
            </a:r>
            <a:r>
              <a:rPr kumimoji="0" lang="en-US" sz="2800" b="0" i="1" u="none" strike="noStrike" kern="1200" cap="none" spc="0" normalizeH="0" baseline="-2500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3</a:t>
            </a:r>
            <a:r>
              <a:rPr kumimoji="0" lang="en-US" sz="2800" b="0" i="1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and f(u</a:t>
            </a:r>
            <a:r>
              <a:rPr kumimoji="0" lang="en-US" sz="2800" b="0" i="1" u="none" strike="noStrike" kern="1200" cap="none" spc="0" normalizeH="0" baseline="-2500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4</a:t>
            </a:r>
            <a:r>
              <a:rPr kumimoji="0" lang="en-US" sz="2800" b="0" i="1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)= v</a:t>
            </a:r>
            <a:r>
              <a:rPr kumimoji="0" lang="en-US" sz="2800" b="0" i="1" u="none" strike="noStrike" kern="1200" cap="none" spc="0" normalizeH="0" baseline="-2500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2</a:t>
            </a:r>
            <a:r>
              <a:rPr kumimoji="0" lang="en-US" sz="2800" b="0" i="1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are adjacent in H.</a:t>
            </a: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Char char="•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So, the graphs G and H are isomorphic.</a:t>
            </a:r>
          </a:p>
        </p:txBody>
      </p:sp>
    </p:spTree>
    <p:extLst>
      <p:ext uri="{BB962C8B-B14F-4D97-AF65-F5344CB8AC3E}">
        <p14:creationId xmlns:p14="http://schemas.microsoft.com/office/powerpoint/2010/main" val="226869749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Isomorphism of Graphs</a:t>
            </a:r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E61C3C8B-75A7-4D34-BB5C-6443F5D54083}"/>
              </a:ext>
            </a:extLst>
          </p:cNvPr>
          <p:cNvSpPr txBox="1">
            <a:spLocks/>
          </p:cNvSpPr>
          <p:nvPr/>
        </p:nvSpPr>
        <p:spPr bwMode="auto">
          <a:xfrm>
            <a:off x="421341" y="2061556"/>
            <a:ext cx="8265459" cy="434743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Char char="•"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It is often difficult to determine whether two simple graphs are isomorphic.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Char char="•"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Sometimes it is not hard to show that two graphs are </a:t>
            </a: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not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isomorphic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.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Char char="•"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A property preserved by isomorphism of graph is called a </a:t>
            </a:r>
            <a:r>
              <a:rPr kumimoji="0" lang="en-US" sz="2000" b="1" i="1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graph invariant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.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Char char="•"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Isomorphic simple graphs must have 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–</a:t>
            </a: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Char char="–"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The same # of vertices</a:t>
            </a: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Char char="–"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The same # of edges</a:t>
            </a: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Char char="–"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The degrees of the vertices must be the same and degrees of adjacent vertices must</a:t>
            </a:r>
            <a:r>
              <a:rPr kumimoji="0" lang="en-US" sz="2000" b="0" i="0" u="none" strike="noStrike" kern="1200" cap="none" spc="0" normalizeH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be same</a:t>
            </a: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Char char="–"/>
              <a:tabLst/>
              <a:defRPr/>
            </a:pPr>
            <a:r>
              <a:rPr lang="en-US" sz="2000" baseline="0" dirty="0">
                <a:solidFill>
                  <a:sysClr val="windowText" lastClr="000000"/>
                </a:solidFill>
                <a:latin typeface="Calibri"/>
              </a:rPr>
              <a:t>Same</a:t>
            </a:r>
            <a:r>
              <a:rPr lang="en-US" sz="2000" dirty="0">
                <a:solidFill>
                  <a:sysClr val="windowText" lastClr="000000"/>
                </a:solidFill>
                <a:latin typeface="Calibri"/>
              </a:rPr>
              <a:t> length of simple circuit(s), if any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2391775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2"/>
          <p:cNvSpPr txBox="1">
            <a:spLocks/>
          </p:cNvSpPr>
          <p:nvPr/>
        </p:nvSpPr>
        <p:spPr>
          <a:xfrm>
            <a:off x="335494" y="731162"/>
            <a:ext cx="6543608" cy="493414"/>
          </a:xfrm>
          <a:prstGeom prst="rect">
            <a:avLst/>
          </a:prstGeom>
        </p:spPr>
        <p:txBody>
          <a:bodyPr>
            <a:normAutofit lnSpcReduction="10000"/>
          </a:bodyPr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800" b="1" dirty="0">
                <a:solidFill>
                  <a:srgbClr val="FF0000"/>
                </a:solidFill>
              </a:rPr>
              <a:t>Example 9</a:t>
            </a:r>
            <a:endParaRPr lang="en-US" sz="2600" b="1" dirty="0">
              <a:solidFill>
                <a:srgbClr val="FF0000"/>
              </a:solidFill>
            </a:endParaRPr>
          </a:p>
        </p:txBody>
      </p:sp>
      <p:sp>
        <p:nvSpPr>
          <p:cNvPr id="29" name="Content Placeholder 2">
            <a:extLst>
              <a:ext uri="{FF2B5EF4-FFF2-40B4-BE49-F238E27FC236}">
                <a16:creationId xmlns:a16="http://schemas.microsoft.com/office/drawing/2014/main" id="{4C1A7459-9A1F-4907-A5FC-52DADCA4AEBC}"/>
              </a:ext>
            </a:extLst>
          </p:cNvPr>
          <p:cNvSpPr txBox="1">
            <a:spLocks/>
          </p:cNvSpPr>
          <p:nvPr/>
        </p:nvSpPr>
        <p:spPr bwMode="auto">
          <a:xfrm>
            <a:off x="304800" y="1295400"/>
            <a:ext cx="8382000" cy="48307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Show that  the following two graphs G and H are not isomorphic.                                                                             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    </a:t>
            </a:r>
            <a:r>
              <a: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                                                              b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            b                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    a                       c                           a                          c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     e                     d                            e                         d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   </a:t>
            </a:r>
            <a:r>
              <a: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           </a:t>
            </a:r>
            <a:r>
              <a:rPr kumimoji="0" lang="en-US" sz="2800" b="1" i="0" u="none" strike="noStrike" kern="120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G 				     H</a:t>
            </a:r>
            <a:endParaRPr kumimoji="0" lang="en-US" sz="28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3EB722AF-CAC5-442A-8BE6-70D2EC3CB4F8}"/>
              </a:ext>
            </a:extLst>
          </p:cNvPr>
          <p:cNvCxnSpPr/>
          <p:nvPr/>
        </p:nvCxnSpPr>
        <p:spPr>
          <a:xfrm>
            <a:off x="990600" y="3200400"/>
            <a:ext cx="0" cy="1676400"/>
          </a:xfrm>
          <a:prstGeom prst="line">
            <a:avLst/>
          </a:prstGeom>
          <a:noFill/>
          <a:ln w="9525" cap="flat" cmpd="sng" algn="ctr">
            <a:solidFill>
              <a:sysClr val="windowText" lastClr="000000">
                <a:alpha val="94000"/>
              </a:sysClr>
            </a:solidFill>
            <a:prstDash val="solid"/>
          </a:ln>
          <a:effectLst/>
        </p:spPr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213459CE-6E87-4BAC-A5CE-BCFFCC73BF66}"/>
              </a:ext>
            </a:extLst>
          </p:cNvPr>
          <p:cNvCxnSpPr/>
          <p:nvPr/>
        </p:nvCxnSpPr>
        <p:spPr>
          <a:xfrm>
            <a:off x="2286000" y="3200400"/>
            <a:ext cx="0" cy="1676400"/>
          </a:xfrm>
          <a:prstGeom prst="line">
            <a:avLst/>
          </a:prstGeom>
          <a:noFill/>
          <a:ln w="9525" cap="flat" cmpd="sng" algn="ctr">
            <a:solidFill>
              <a:sysClr val="windowText" lastClr="000000">
                <a:alpha val="94000"/>
              </a:sysClr>
            </a:solidFill>
            <a:prstDash val="solid"/>
          </a:ln>
          <a:effectLst/>
        </p:spPr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593FB626-E077-4BAA-8967-90256BE1AC7D}"/>
              </a:ext>
            </a:extLst>
          </p:cNvPr>
          <p:cNvCxnSpPr/>
          <p:nvPr/>
        </p:nvCxnSpPr>
        <p:spPr>
          <a:xfrm flipH="1">
            <a:off x="990600" y="2743200"/>
            <a:ext cx="609600" cy="457200"/>
          </a:xfrm>
          <a:prstGeom prst="line">
            <a:avLst/>
          </a:prstGeom>
          <a:noFill/>
          <a:ln w="9525" cap="flat" cmpd="sng" algn="ctr">
            <a:solidFill>
              <a:sysClr val="windowText" lastClr="000000">
                <a:alpha val="94000"/>
              </a:sysClr>
            </a:solidFill>
            <a:prstDash val="solid"/>
          </a:ln>
          <a:effectLst/>
        </p:spPr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AD8BD247-D2AF-4C99-B16E-80DE6B581686}"/>
              </a:ext>
            </a:extLst>
          </p:cNvPr>
          <p:cNvCxnSpPr/>
          <p:nvPr/>
        </p:nvCxnSpPr>
        <p:spPr>
          <a:xfrm>
            <a:off x="1600200" y="2743200"/>
            <a:ext cx="685800" cy="457200"/>
          </a:xfrm>
          <a:prstGeom prst="line">
            <a:avLst/>
          </a:prstGeom>
          <a:noFill/>
          <a:ln w="9525" cap="flat" cmpd="sng" algn="ctr">
            <a:solidFill>
              <a:sysClr val="windowText" lastClr="000000">
                <a:alpha val="94000"/>
              </a:sysClr>
            </a:solidFill>
            <a:prstDash val="solid"/>
          </a:ln>
          <a:effectLst/>
        </p:spPr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2652E0A4-75DA-4F9B-BFA7-049605F328B1}"/>
              </a:ext>
            </a:extLst>
          </p:cNvPr>
          <p:cNvCxnSpPr/>
          <p:nvPr/>
        </p:nvCxnSpPr>
        <p:spPr>
          <a:xfrm flipH="1">
            <a:off x="990600" y="4876800"/>
            <a:ext cx="1295400" cy="0"/>
          </a:xfrm>
          <a:prstGeom prst="line">
            <a:avLst/>
          </a:prstGeom>
          <a:noFill/>
          <a:ln w="9525" cap="flat" cmpd="sng" algn="ctr">
            <a:solidFill>
              <a:sysClr val="windowText" lastClr="000000">
                <a:alpha val="94000"/>
              </a:sysClr>
            </a:solidFill>
            <a:prstDash val="solid"/>
          </a:ln>
          <a:effectLst/>
        </p:spPr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0365C65E-A93C-414F-82FF-4CFBBCC9B48A}"/>
              </a:ext>
            </a:extLst>
          </p:cNvPr>
          <p:cNvCxnSpPr/>
          <p:nvPr/>
        </p:nvCxnSpPr>
        <p:spPr>
          <a:xfrm flipH="1">
            <a:off x="990600" y="3200400"/>
            <a:ext cx="1295400" cy="1676400"/>
          </a:xfrm>
          <a:prstGeom prst="line">
            <a:avLst/>
          </a:prstGeom>
          <a:noFill/>
          <a:ln w="9525" cap="flat" cmpd="sng" algn="ctr">
            <a:solidFill>
              <a:sysClr val="windowText" lastClr="000000">
                <a:alpha val="94000"/>
              </a:sysClr>
            </a:solidFill>
            <a:prstDash val="solid"/>
          </a:ln>
          <a:effectLst/>
        </p:spPr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3D5ADAAC-CA6B-443A-B8C7-9D26C40FE477}"/>
              </a:ext>
            </a:extLst>
          </p:cNvPr>
          <p:cNvCxnSpPr/>
          <p:nvPr/>
        </p:nvCxnSpPr>
        <p:spPr>
          <a:xfrm>
            <a:off x="6172200" y="3048000"/>
            <a:ext cx="0" cy="1676400"/>
          </a:xfrm>
          <a:prstGeom prst="line">
            <a:avLst/>
          </a:prstGeom>
          <a:noFill/>
          <a:ln w="9525" cap="flat" cmpd="sng" algn="ctr">
            <a:solidFill>
              <a:sysClr val="windowText" lastClr="000000">
                <a:alpha val="94000"/>
              </a:sysClr>
            </a:solidFill>
            <a:prstDash val="solid"/>
          </a:ln>
          <a:effectLst/>
        </p:spPr>
      </p:cxn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D6DAF954-1E20-4AAA-A17B-FB2151118BD2}"/>
              </a:ext>
            </a:extLst>
          </p:cNvPr>
          <p:cNvCxnSpPr/>
          <p:nvPr/>
        </p:nvCxnSpPr>
        <p:spPr>
          <a:xfrm>
            <a:off x="4648200" y="3048000"/>
            <a:ext cx="0" cy="1676400"/>
          </a:xfrm>
          <a:prstGeom prst="line">
            <a:avLst/>
          </a:prstGeom>
          <a:noFill/>
          <a:ln w="9525" cap="flat" cmpd="sng" algn="ctr">
            <a:solidFill>
              <a:sysClr val="windowText" lastClr="000000">
                <a:alpha val="94000"/>
              </a:sysClr>
            </a:solidFill>
            <a:prstDash val="solid"/>
          </a:ln>
          <a:effectLst/>
        </p:spPr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B2BDF853-68D0-4769-8F84-56091DAD86E3}"/>
              </a:ext>
            </a:extLst>
          </p:cNvPr>
          <p:cNvCxnSpPr/>
          <p:nvPr/>
        </p:nvCxnSpPr>
        <p:spPr>
          <a:xfrm>
            <a:off x="4648200" y="3048000"/>
            <a:ext cx="1524000" cy="1676400"/>
          </a:xfrm>
          <a:prstGeom prst="line">
            <a:avLst/>
          </a:prstGeom>
          <a:noFill/>
          <a:ln w="9525" cap="flat" cmpd="sng" algn="ctr">
            <a:solidFill>
              <a:sysClr val="windowText" lastClr="000000">
                <a:alpha val="94000"/>
              </a:sysClr>
            </a:solidFill>
            <a:prstDash val="solid"/>
          </a:ln>
          <a:effectLst/>
        </p:spPr>
      </p:cxn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D32C6903-F49C-4DC7-8032-A7E6F421AE88}"/>
              </a:ext>
            </a:extLst>
          </p:cNvPr>
          <p:cNvCxnSpPr/>
          <p:nvPr/>
        </p:nvCxnSpPr>
        <p:spPr>
          <a:xfrm>
            <a:off x="4648200" y="3048000"/>
            <a:ext cx="1524000" cy="0"/>
          </a:xfrm>
          <a:prstGeom prst="line">
            <a:avLst/>
          </a:prstGeom>
          <a:noFill/>
          <a:ln w="9525" cap="flat" cmpd="sng" algn="ctr">
            <a:solidFill>
              <a:sysClr val="windowText" lastClr="000000">
                <a:alpha val="94000"/>
              </a:sysClr>
            </a:solidFill>
            <a:prstDash val="solid"/>
          </a:ln>
          <a:effectLst/>
        </p:spPr>
      </p:cxn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39A18417-345B-4BB8-9520-8EE10C22068B}"/>
              </a:ext>
            </a:extLst>
          </p:cNvPr>
          <p:cNvCxnSpPr/>
          <p:nvPr/>
        </p:nvCxnSpPr>
        <p:spPr>
          <a:xfrm>
            <a:off x="5410200" y="2362200"/>
            <a:ext cx="762000" cy="685800"/>
          </a:xfrm>
          <a:prstGeom prst="line">
            <a:avLst/>
          </a:prstGeom>
          <a:noFill/>
          <a:ln w="9525" cap="flat" cmpd="sng" algn="ctr">
            <a:solidFill>
              <a:sysClr val="windowText" lastClr="000000">
                <a:alpha val="94000"/>
              </a:sysClr>
            </a:solidFill>
            <a:prstDash val="solid"/>
          </a:ln>
          <a:effectLst/>
        </p:spPr>
      </p:cxn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41B4362E-1F9D-4C8A-95E0-D4CEE68B07AF}"/>
              </a:ext>
            </a:extLst>
          </p:cNvPr>
          <p:cNvCxnSpPr/>
          <p:nvPr/>
        </p:nvCxnSpPr>
        <p:spPr>
          <a:xfrm flipH="1">
            <a:off x="4648200" y="2362200"/>
            <a:ext cx="762000" cy="685800"/>
          </a:xfrm>
          <a:prstGeom prst="line">
            <a:avLst/>
          </a:prstGeom>
          <a:noFill/>
          <a:ln w="9525" cap="flat" cmpd="sng" algn="ctr">
            <a:solidFill>
              <a:sysClr val="windowText" lastClr="000000">
                <a:alpha val="94000"/>
              </a:sysClr>
            </a:solidFill>
            <a:prstDash val="solid"/>
          </a:ln>
          <a:effectLst/>
        </p:spPr>
      </p:cxnSp>
      <p:sp>
        <p:nvSpPr>
          <p:cNvPr id="43" name="Flowchart: Connector 42">
            <a:extLst>
              <a:ext uri="{FF2B5EF4-FFF2-40B4-BE49-F238E27FC236}">
                <a16:creationId xmlns:a16="http://schemas.microsoft.com/office/drawing/2014/main" id="{A6520E7B-2330-4F1C-8007-F2EF89071109}"/>
              </a:ext>
            </a:extLst>
          </p:cNvPr>
          <p:cNvSpPr/>
          <p:nvPr/>
        </p:nvSpPr>
        <p:spPr>
          <a:xfrm>
            <a:off x="914400" y="3124200"/>
            <a:ext cx="152400" cy="152400"/>
          </a:xfrm>
          <a:prstGeom prst="flowChartConnector">
            <a:avLst/>
          </a:prstGeom>
          <a:solidFill>
            <a:sysClr val="windowText" lastClr="000000"/>
          </a:solidFill>
          <a:ln w="25400" cap="flat" cmpd="sng" algn="ctr">
            <a:solidFill>
              <a:srgbClr val="4F81BD">
                <a:shade val="50000"/>
              </a:srgbClr>
            </a:solidFill>
            <a:prstDash val="solid"/>
          </a:ln>
          <a:effectLst/>
        </p:spPr>
        <p:txBody>
          <a:bodyPr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4" name="Flowchart: Connector 43">
            <a:extLst>
              <a:ext uri="{FF2B5EF4-FFF2-40B4-BE49-F238E27FC236}">
                <a16:creationId xmlns:a16="http://schemas.microsoft.com/office/drawing/2014/main" id="{A54A9C8C-BD2E-4323-8BAB-CD49461CC8F6}"/>
              </a:ext>
            </a:extLst>
          </p:cNvPr>
          <p:cNvSpPr/>
          <p:nvPr/>
        </p:nvSpPr>
        <p:spPr>
          <a:xfrm>
            <a:off x="1524000" y="2667000"/>
            <a:ext cx="152400" cy="152400"/>
          </a:xfrm>
          <a:prstGeom prst="flowChartConnector">
            <a:avLst/>
          </a:prstGeom>
          <a:solidFill>
            <a:sysClr val="windowText" lastClr="000000"/>
          </a:solidFill>
          <a:ln w="25400" cap="flat" cmpd="sng" algn="ctr">
            <a:solidFill>
              <a:srgbClr val="4F81BD">
                <a:shade val="50000"/>
              </a:srgbClr>
            </a:solidFill>
            <a:prstDash val="solid"/>
          </a:ln>
          <a:effectLst/>
        </p:spPr>
        <p:txBody>
          <a:bodyPr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5" name="Flowchart: Connector 44">
            <a:extLst>
              <a:ext uri="{FF2B5EF4-FFF2-40B4-BE49-F238E27FC236}">
                <a16:creationId xmlns:a16="http://schemas.microsoft.com/office/drawing/2014/main" id="{CEFEEE45-C91A-481A-96AC-4974FDB57306}"/>
              </a:ext>
            </a:extLst>
          </p:cNvPr>
          <p:cNvSpPr/>
          <p:nvPr/>
        </p:nvSpPr>
        <p:spPr>
          <a:xfrm>
            <a:off x="5334000" y="2286000"/>
            <a:ext cx="152400" cy="152400"/>
          </a:xfrm>
          <a:prstGeom prst="flowChartConnector">
            <a:avLst/>
          </a:prstGeom>
          <a:solidFill>
            <a:sysClr val="windowText" lastClr="000000"/>
          </a:solidFill>
          <a:ln w="25400" cap="flat" cmpd="sng" algn="ctr">
            <a:solidFill>
              <a:srgbClr val="4F81BD">
                <a:shade val="50000"/>
              </a:srgbClr>
            </a:solidFill>
            <a:prstDash val="solid"/>
          </a:ln>
          <a:effectLst/>
        </p:spPr>
        <p:txBody>
          <a:bodyPr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</a:p>
        </p:txBody>
      </p:sp>
      <p:sp>
        <p:nvSpPr>
          <p:cNvPr id="46" name="Flowchart: Connector 45">
            <a:extLst>
              <a:ext uri="{FF2B5EF4-FFF2-40B4-BE49-F238E27FC236}">
                <a16:creationId xmlns:a16="http://schemas.microsoft.com/office/drawing/2014/main" id="{75B2CD11-B387-4F7A-B94D-69355C665F6B}"/>
              </a:ext>
            </a:extLst>
          </p:cNvPr>
          <p:cNvSpPr/>
          <p:nvPr/>
        </p:nvSpPr>
        <p:spPr>
          <a:xfrm>
            <a:off x="2209800" y="3124200"/>
            <a:ext cx="152400" cy="152400"/>
          </a:xfrm>
          <a:prstGeom prst="flowChartConnector">
            <a:avLst/>
          </a:prstGeom>
          <a:solidFill>
            <a:sysClr val="windowText" lastClr="000000"/>
          </a:solidFill>
          <a:ln w="25400" cap="flat" cmpd="sng" algn="ctr">
            <a:solidFill>
              <a:srgbClr val="4F81BD">
                <a:shade val="50000"/>
              </a:srgbClr>
            </a:solidFill>
            <a:prstDash val="solid"/>
          </a:ln>
          <a:effectLst/>
        </p:spPr>
        <p:txBody>
          <a:bodyPr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7" name="Flowchart: Connector 46">
            <a:extLst>
              <a:ext uri="{FF2B5EF4-FFF2-40B4-BE49-F238E27FC236}">
                <a16:creationId xmlns:a16="http://schemas.microsoft.com/office/drawing/2014/main" id="{8C592891-CA1C-40FA-BA77-8098220592CD}"/>
              </a:ext>
            </a:extLst>
          </p:cNvPr>
          <p:cNvSpPr/>
          <p:nvPr/>
        </p:nvSpPr>
        <p:spPr>
          <a:xfrm>
            <a:off x="914400" y="4724400"/>
            <a:ext cx="152400" cy="152400"/>
          </a:xfrm>
          <a:prstGeom prst="flowChartConnector">
            <a:avLst/>
          </a:prstGeom>
          <a:solidFill>
            <a:sysClr val="windowText" lastClr="000000"/>
          </a:solidFill>
          <a:ln w="25400" cap="flat" cmpd="sng" algn="ctr">
            <a:solidFill>
              <a:srgbClr val="4F81BD">
                <a:shade val="50000"/>
              </a:srgbClr>
            </a:solidFill>
            <a:prstDash val="solid"/>
          </a:ln>
          <a:effectLst/>
        </p:spPr>
        <p:txBody>
          <a:bodyPr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8" name="Flowchart: Connector 47">
            <a:extLst>
              <a:ext uri="{FF2B5EF4-FFF2-40B4-BE49-F238E27FC236}">
                <a16:creationId xmlns:a16="http://schemas.microsoft.com/office/drawing/2014/main" id="{2112C3B8-04FD-46FC-95F7-FDCFAD379633}"/>
              </a:ext>
            </a:extLst>
          </p:cNvPr>
          <p:cNvSpPr/>
          <p:nvPr/>
        </p:nvSpPr>
        <p:spPr>
          <a:xfrm>
            <a:off x="2209800" y="4724400"/>
            <a:ext cx="152400" cy="152400"/>
          </a:xfrm>
          <a:prstGeom prst="flowChartConnector">
            <a:avLst/>
          </a:prstGeom>
          <a:solidFill>
            <a:sysClr val="windowText" lastClr="000000"/>
          </a:solidFill>
          <a:ln w="25400" cap="flat" cmpd="sng" algn="ctr">
            <a:solidFill>
              <a:srgbClr val="4F81BD">
                <a:shade val="50000"/>
              </a:srgbClr>
            </a:solidFill>
            <a:prstDash val="solid"/>
          </a:ln>
          <a:effectLst/>
        </p:spPr>
        <p:txBody>
          <a:bodyPr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9" name="Flowchart: Connector 48">
            <a:extLst>
              <a:ext uri="{FF2B5EF4-FFF2-40B4-BE49-F238E27FC236}">
                <a16:creationId xmlns:a16="http://schemas.microsoft.com/office/drawing/2014/main" id="{188EDBAD-BB0A-418A-94E3-9660543AE73A}"/>
              </a:ext>
            </a:extLst>
          </p:cNvPr>
          <p:cNvSpPr/>
          <p:nvPr/>
        </p:nvSpPr>
        <p:spPr>
          <a:xfrm>
            <a:off x="4572000" y="2971800"/>
            <a:ext cx="152400" cy="152400"/>
          </a:xfrm>
          <a:prstGeom prst="flowChartConnector">
            <a:avLst/>
          </a:prstGeom>
          <a:solidFill>
            <a:sysClr val="windowText" lastClr="000000"/>
          </a:solidFill>
          <a:ln w="25400" cap="flat" cmpd="sng" algn="ctr">
            <a:solidFill>
              <a:srgbClr val="4F81BD">
                <a:shade val="50000"/>
              </a:srgbClr>
            </a:solidFill>
            <a:prstDash val="solid"/>
          </a:ln>
          <a:effectLst/>
        </p:spPr>
        <p:txBody>
          <a:bodyPr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0" name="Flowchart: Connector 49">
            <a:extLst>
              <a:ext uri="{FF2B5EF4-FFF2-40B4-BE49-F238E27FC236}">
                <a16:creationId xmlns:a16="http://schemas.microsoft.com/office/drawing/2014/main" id="{9A860FF6-3309-4B7E-A5DC-EBBAF3CCC0D5}"/>
              </a:ext>
            </a:extLst>
          </p:cNvPr>
          <p:cNvSpPr/>
          <p:nvPr/>
        </p:nvSpPr>
        <p:spPr>
          <a:xfrm>
            <a:off x="6096000" y="2971800"/>
            <a:ext cx="152400" cy="152400"/>
          </a:xfrm>
          <a:prstGeom prst="flowChartConnector">
            <a:avLst/>
          </a:prstGeom>
          <a:solidFill>
            <a:sysClr val="windowText" lastClr="000000"/>
          </a:solidFill>
          <a:ln w="25400" cap="flat" cmpd="sng" algn="ctr">
            <a:solidFill>
              <a:srgbClr val="4F81BD">
                <a:shade val="50000"/>
              </a:srgbClr>
            </a:solidFill>
            <a:prstDash val="solid"/>
          </a:ln>
          <a:effectLst/>
        </p:spPr>
        <p:txBody>
          <a:bodyPr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1" name="Flowchart: Connector 50">
            <a:extLst>
              <a:ext uri="{FF2B5EF4-FFF2-40B4-BE49-F238E27FC236}">
                <a16:creationId xmlns:a16="http://schemas.microsoft.com/office/drawing/2014/main" id="{FFC2B65B-E739-4E7E-B837-080EC1524AE5}"/>
              </a:ext>
            </a:extLst>
          </p:cNvPr>
          <p:cNvSpPr/>
          <p:nvPr/>
        </p:nvSpPr>
        <p:spPr>
          <a:xfrm>
            <a:off x="4572000" y="4572000"/>
            <a:ext cx="152400" cy="152400"/>
          </a:xfrm>
          <a:prstGeom prst="flowChartConnector">
            <a:avLst/>
          </a:prstGeom>
          <a:solidFill>
            <a:sysClr val="windowText" lastClr="000000"/>
          </a:solidFill>
          <a:ln w="25400" cap="flat" cmpd="sng" algn="ctr">
            <a:solidFill>
              <a:srgbClr val="4F81BD">
                <a:shade val="50000"/>
              </a:srgbClr>
            </a:solidFill>
            <a:prstDash val="solid"/>
          </a:ln>
          <a:effectLst/>
        </p:spPr>
        <p:txBody>
          <a:bodyPr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2" name="Flowchart: Connector 51">
            <a:extLst>
              <a:ext uri="{FF2B5EF4-FFF2-40B4-BE49-F238E27FC236}">
                <a16:creationId xmlns:a16="http://schemas.microsoft.com/office/drawing/2014/main" id="{F7472646-E461-4918-9682-1DAF157ACEDB}"/>
              </a:ext>
            </a:extLst>
          </p:cNvPr>
          <p:cNvSpPr/>
          <p:nvPr/>
        </p:nvSpPr>
        <p:spPr>
          <a:xfrm>
            <a:off x="6096000" y="4648200"/>
            <a:ext cx="152400" cy="152400"/>
          </a:xfrm>
          <a:prstGeom prst="flowChartConnector">
            <a:avLst/>
          </a:prstGeom>
          <a:solidFill>
            <a:sysClr val="windowText" lastClr="000000"/>
          </a:solidFill>
          <a:ln w="25400" cap="flat" cmpd="sng" algn="ctr">
            <a:solidFill>
              <a:srgbClr val="4F81BD">
                <a:shade val="50000"/>
              </a:srgbClr>
            </a:solidFill>
            <a:prstDash val="solid"/>
          </a:ln>
          <a:effectLst/>
        </p:spPr>
        <p:txBody>
          <a:bodyPr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3859115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2"/>
          <p:cNvSpPr txBox="1">
            <a:spLocks/>
          </p:cNvSpPr>
          <p:nvPr/>
        </p:nvSpPr>
        <p:spPr>
          <a:xfrm>
            <a:off x="335494" y="731162"/>
            <a:ext cx="6543608" cy="493414"/>
          </a:xfrm>
          <a:prstGeom prst="rect">
            <a:avLst/>
          </a:prstGeom>
        </p:spPr>
        <p:txBody>
          <a:bodyPr>
            <a:normAutofit lnSpcReduction="10000"/>
          </a:bodyPr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800" b="1" dirty="0">
                <a:solidFill>
                  <a:srgbClr val="0000FF"/>
                </a:solidFill>
              </a:rPr>
              <a:t>Solution</a:t>
            </a:r>
            <a:r>
              <a:rPr lang="en-US" sz="2800" dirty="0">
                <a:solidFill>
                  <a:srgbClr val="C00000"/>
                </a:solidFill>
              </a:rPr>
              <a:t> </a:t>
            </a:r>
            <a:r>
              <a:rPr lang="en-US" sz="2800" b="1" dirty="0">
                <a:solidFill>
                  <a:srgbClr val="FF0000"/>
                </a:solidFill>
              </a:rPr>
              <a:t>of Example 9</a:t>
            </a:r>
            <a:endParaRPr lang="en-US" sz="2600" b="1" dirty="0">
              <a:solidFill>
                <a:srgbClr val="FF0000"/>
              </a:solidFill>
            </a:endParaRP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1957EA70-427F-4E87-9E9F-12189BC59B45}"/>
              </a:ext>
            </a:extLst>
          </p:cNvPr>
          <p:cNvSpPr txBox="1">
            <a:spLocks/>
          </p:cNvSpPr>
          <p:nvPr/>
        </p:nvSpPr>
        <p:spPr bwMode="auto">
          <a:xfrm>
            <a:off x="457200" y="14478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Char char="•"/>
              <a:tabLst/>
              <a:defRPr/>
            </a:pP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Solution : 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Both G and H have five vertices and six edges. However, H has a vertex of degree one, namely e, whereas G has no vertices of degree one.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	It follows that G and H are 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not isomorphic.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None/>
              <a:tabLst/>
              <a:defRPr/>
            </a:pP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Char char="•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There are other answers too!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	What are the other answers?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None/>
              <a:tabLst/>
              <a:defRPr/>
            </a:pP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None/>
              <a:tabLst/>
              <a:defRPr/>
            </a:pP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8218078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2"/>
          <p:cNvSpPr txBox="1">
            <a:spLocks/>
          </p:cNvSpPr>
          <p:nvPr/>
        </p:nvSpPr>
        <p:spPr>
          <a:xfrm>
            <a:off x="335494" y="731162"/>
            <a:ext cx="6543608" cy="493414"/>
          </a:xfrm>
          <a:prstGeom prst="rect">
            <a:avLst/>
          </a:prstGeom>
        </p:spPr>
        <p:txBody>
          <a:bodyPr>
            <a:normAutofit lnSpcReduction="10000"/>
          </a:bodyPr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800" b="1" dirty="0"/>
              <a:t>Isomorphism of Graphs</a:t>
            </a:r>
            <a:endParaRPr lang="en-US" sz="2600" b="1" dirty="0">
              <a:solidFill>
                <a:srgbClr val="FF0000"/>
              </a:solidFill>
            </a:endParaRP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E2F37ADC-8DDE-4D28-86A3-4B81E83CC44A}"/>
              </a:ext>
            </a:extLst>
          </p:cNvPr>
          <p:cNvSpPr txBox="1">
            <a:spLocks/>
          </p:cNvSpPr>
          <p:nvPr/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Char char="•"/>
              <a:tabLst/>
              <a:defRPr/>
            </a:pPr>
            <a:r>
              <a:rPr kumimoji="0" lang="en-US" sz="2800" b="1" i="0" u="sng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Note</a:t>
            </a: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:</a:t>
            </a: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The number of vertices, the number of edges, and the number of vertices of each degree are all invariants under isomorphism. </a:t>
            </a: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If any of these quantities differ in two simple graphs, these graphs cannot be isomorphic. 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Char char="•"/>
              <a:tabLst/>
              <a:defRPr/>
            </a:pP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However, when these invariants are the same, it does not necessarily mean that the two graphs are isomorphic</a:t>
            </a: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. </a:t>
            </a: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There are NO useful sets of invariants currently known that can be used to determine whether simple graphs are isomorphic.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Char char="•"/>
              <a:tabLst/>
              <a:defRPr/>
            </a:pP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2014122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2"/>
          <p:cNvSpPr txBox="1">
            <a:spLocks/>
          </p:cNvSpPr>
          <p:nvPr/>
        </p:nvSpPr>
        <p:spPr>
          <a:xfrm>
            <a:off x="335494" y="731162"/>
            <a:ext cx="6543608" cy="493414"/>
          </a:xfrm>
          <a:prstGeom prst="rect">
            <a:avLst/>
          </a:prstGeom>
        </p:spPr>
        <p:txBody>
          <a:bodyPr>
            <a:normAutofit lnSpcReduction="10000"/>
          </a:bodyPr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800" b="1" dirty="0">
                <a:solidFill>
                  <a:schemeClr val="tx1"/>
                </a:solidFill>
              </a:rPr>
              <a:t>Graph Isomorphism : </a:t>
            </a:r>
            <a:r>
              <a:rPr lang="en-US" sz="2800" b="1" dirty="0">
                <a:solidFill>
                  <a:srgbClr val="FF0000"/>
                </a:solidFill>
              </a:rPr>
              <a:t>Negative Examples</a:t>
            </a:r>
          </a:p>
          <a:p>
            <a:pPr marL="0" indent="0">
              <a:buNone/>
            </a:pPr>
            <a:endParaRPr lang="en-US" sz="2600" b="1" dirty="0">
              <a:solidFill>
                <a:srgbClr val="FF0000"/>
              </a:solidFill>
            </a:endParaRPr>
          </a:p>
        </p:txBody>
      </p:sp>
      <p:sp>
        <p:nvSpPr>
          <p:cNvPr id="36" name="Rectangle 3" descr="Rectangle: Click to edit Master text styles&#10;Second level&#10;Third level&#10;Fourth level&#10;Fifth level">
            <a:extLst>
              <a:ext uri="{FF2B5EF4-FFF2-40B4-BE49-F238E27FC236}">
                <a16:creationId xmlns:a16="http://schemas.microsoft.com/office/drawing/2014/main" id="{D5368179-3EB5-4466-AE33-F8C04A67E6E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itchFamily="2" charset="2"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Q1: Why are the following graphs not isomorphic?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7" name="Oval 4">
            <a:extLst>
              <a:ext uri="{FF2B5EF4-FFF2-40B4-BE49-F238E27FC236}">
                <a16:creationId xmlns:a16="http://schemas.microsoft.com/office/drawing/2014/main" id="{4AB36927-B38B-4B47-8E67-77867CDB94D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73275" y="4191000"/>
            <a:ext cx="76200" cy="76200"/>
          </a:xfrm>
          <a:prstGeom prst="ellipse">
            <a:avLst/>
          </a:prstGeom>
          <a:solidFill>
            <a:srgbClr val="4F81BD"/>
          </a:solidFill>
          <a:ln w="9525">
            <a:solidFill>
              <a:sysClr val="windowText" lastClr="000000"/>
            </a:solidFill>
            <a:round/>
            <a:headEnd/>
            <a:tailEnd/>
          </a:ln>
        </p:spPr>
        <p:txBody>
          <a:bodyPr wrap="none"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charset="0"/>
              <a:cs typeface="Arial" charset="0"/>
            </a:endParaRPr>
          </a:p>
        </p:txBody>
      </p:sp>
      <p:sp>
        <p:nvSpPr>
          <p:cNvPr id="38" name="Oval 5">
            <a:extLst>
              <a:ext uri="{FF2B5EF4-FFF2-40B4-BE49-F238E27FC236}">
                <a16:creationId xmlns:a16="http://schemas.microsoft.com/office/drawing/2014/main" id="{9C3208D3-044E-45C6-B0B6-37BCB08E0E5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87675" y="4191000"/>
            <a:ext cx="76200" cy="76200"/>
          </a:xfrm>
          <a:prstGeom prst="ellipse">
            <a:avLst/>
          </a:prstGeom>
          <a:solidFill>
            <a:srgbClr val="4F81BD"/>
          </a:solidFill>
          <a:ln w="9525">
            <a:solidFill>
              <a:sysClr val="windowText" lastClr="000000"/>
            </a:solidFill>
            <a:round/>
            <a:headEnd/>
            <a:tailEnd/>
          </a:ln>
        </p:spPr>
        <p:txBody>
          <a:bodyPr wrap="none"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charset="0"/>
              <a:cs typeface="Arial" charset="0"/>
            </a:endParaRPr>
          </a:p>
        </p:txBody>
      </p:sp>
      <p:sp>
        <p:nvSpPr>
          <p:cNvPr id="39" name="Oval 6">
            <a:extLst>
              <a:ext uri="{FF2B5EF4-FFF2-40B4-BE49-F238E27FC236}">
                <a16:creationId xmlns:a16="http://schemas.microsoft.com/office/drawing/2014/main" id="{84D8E746-129B-4130-AFC6-2BBE3C69E6D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25675" y="4800600"/>
            <a:ext cx="76200" cy="76200"/>
          </a:xfrm>
          <a:prstGeom prst="ellipse">
            <a:avLst/>
          </a:prstGeom>
          <a:solidFill>
            <a:srgbClr val="4F81BD"/>
          </a:solidFill>
          <a:ln w="9525">
            <a:solidFill>
              <a:sysClr val="windowText" lastClr="000000"/>
            </a:solidFill>
            <a:round/>
            <a:headEnd/>
            <a:tailEnd/>
          </a:ln>
        </p:spPr>
        <p:txBody>
          <a:bodyPr wrap="none"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charset="0"/>
              <a:cs typeface="Arial" charset="0"/>
            </a:endParaRPr>
          </a:p>
        </p:txBody>
      </p:sp>
      <p:cxnSp>
        <p:nvCxnSpPr>
          <p:cNvPr id="40" name="AutoShape 7">
            <a:extLst>
              <a:ext uri="{FF2B5EF4-FFF2-40B4-BE49-F238E27FC236}">
                <a16:creationId xmlns:a16="http://schemas.microsoft.com/office/drawing/2014/main" id="{C670D0EF-1771-4807-8E6A-A894D58FF640}"/>
              </a:ext>
            </a:extLst>
          </p:cNvPr>
          <p:cNvCxnSpPr>
            <a:cxnSpLocks noChangeShapeType="1"/>
            <a:stCxn id="37" idx="4"/>
            <a:endCxn id="39" idx="1"/>
          </p:cNvCxnSpPr>
          <p:nvPr/>
        </p:nvCxnSpPr>
        <p:spPr bwMode="auto">
          <a:xfrm>
            <a:off x="2111375" y="4267200"/>
            <a:ext cx="125413" cy="544513"/>
          </a:xfrm>
          <a:prstGeom prst="straightConnector1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</p:spPr>
      </p:cxnSp>
      <p:sp>
        <p:nvSpPr>
          <p:cNvPr id="41" name="Oval 8">
            <a:extLst>
              <a:ext uri="{FF2B5EF4-FFF2-40B4-BE49-F238E27FC236}">
                <a16:creationId xmlns:a16="http://schemas.microsoft.com/office/drawing/2014/main" id="{7DAF4061-40BE-418E-9D3D-2C5D36DFBCD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35275" y="4800600"/>
            <a:ext cx="76200" cy="76200"/>
          </a:xfrm>
          <a:prstGeom prst="ellipse">
            <a:avLst/>
          </a:prstGeom>
          <a:solidFill>
            <a:srgbClr val="4F81BD"/>
          </a:solidFill>
          <a:ln w="9525">
            <a:solidFill>
              <a:sysClr val="windowText" lastClr="000000"/>
            </a:solidFill>
            <a:round/>
            <a:headEnd/>
            <a:tailEnd/>
          </a:ln>
        </p:spPr>
        <p:txBody>
          <a:bodyPr wrap="none"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charset="0"/>
              <a:cs typeface="Arial" charset="0"/>
            </a:endParaRPr>
          </a:p>
        </p:txBody>
      </p:sp>
      <p:cxnSp>
        <p:nvCxnSpPr>
          <p:cNvPr id="42" name="AutoShape 9">
            <a:extLst>
              <a:ext uri="{FF2B5EF4-FFF2-40B4-BE49-F238E27FC236}">
                <a16:creationId xmlns:a16="http://schemas.microsoft.com/office/drawing/2014/main" id="{B4E91EF0-873C-4356-A4AB-BBD07AF9074D}"/>
              </a:ext>
            </a:extLst>
          </p:cNvPr>
          <p:cNvCxnSpPr>
            <a:cxnSpLocks noChangeShapeType="1"/>
            <a:stCxn id="39" idx="6"/>
            <a:endCxn id="41" idx="2"/>
          </p:cNvCxnSpPr>
          <p:nvPr/>
        </p:nvCxnSpPr>
        <p:spPr bwMode="auto">
          <a:xfrm>
            <a:off x="2301875" y="4838700"/>
            <a:ext cx="533400" cy="0"/>
          </a:xfrm>
          <a:prstGeom prst="straightConnector1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</p:spPr>
      </p:cxnSp>
      <p:cxnSp>
        <p:nvCxnSpPr>
          <p:cNvPr id="43" name="AutoShape 10">
            <a:extLst>
              <a:ext uri="{FF2B5EF4-FFF2-40B4-BE49-F238E27FC236}">
                <a16:creationId xmlns:a16="http://schemas.microsoft.com/office/drawing/2014/main" id="{B7FC615B-089E-406B-8EF6-E658DA59D4CD}"/>
              </a:ext>
            </a:extLst>
          </p:cNvPr>
          <p:cNvCxnSpPr>
            <a:cxnSpLocks noChangeShapeType="1"/>
            <a:stCxn id="38" idx="4"/>
            <a:endCxn id="41" idx="7"/>
          </p:cNvCxnSpPr>
          <p:nvPr/>
        </p:nvCxnSpPr>
        <p:spPr bwMode="auto">
          <a:xfrm flipH="1">
            <a:off x="2900363" y="4267200"/>
            <a:ext cx="125412" cy="544513"/>
          </a:xfrm>
          <a:prstGeom prst="straightConnector1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</p:spPr>
      </p:cxnSp>
      <p:sp>
        <p:nvSpPr>
          <p:cNvPr id="44" name="Oval 11">
            <a:extLst>
              <a:ext uri="{FF2B5EF4-FFF2-40B4-BE49-F238E27FC236}">
                <a16:creationId xmlns:a16="http://schemas.microsoft.com/office/drawing/2014/main" id="{CE2731D5-CBF8-4DAD-9DD1-9B09EBFE72D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30475" y="3886200"/>
            <a:ext cx="76200" cy="76200"/>
          </a:xfrm>
          <a:prstGeom prst="ellipse">
            <a:avLst/>
          </a:prstGeom>
          <a:solidFill>
            <a:srgbClr val="4F81BD"/>
          </a:solidFill>
          <a:ln w="9525">
            <a:solidFill>
              <a:sysClr val="windowText" lastClr="000000"/>
            </a:solidFill>
            <a:round/>
            <a:headEnd/>
            <a:tailEnd/>
          </a:ln>
        </p:spPr>
        <p:txBody>
          <a:bodyPr wrap="none"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charset="0"/>
              <a:cs typeface="Arial" charset="0"/>
            </a:endParaRPr>
          </a:p>
        </p:txBody>
      </p:sp>
      <p:cxnSp>
        <p:nvCxnSpPr>
          <p:cNvPr id="45" name="AutoShape 12">
            <a:extLst>
              <a:ext uri="{FF2B5EF4-FFF2-40B4-BE49-F238E27FC236}">
                <a16:creationId xmlns:a16="http://schemas.microsoft.com/office/drawing/2014/main" id="{84132428-85F3-482F-8BC8-2388DD9B080C}"/>
              </a:ext>
            </a:extLst>
          </p:cNvPr>
          <p:cNvCxnSpPr>
            <a:cxnSpLocks noChangeShapeType="1"/>
            <a:stCxn id="44" idx="2"/>
            <a:endCxn id="37" idx="7"/>
          </p:cNvCxnSpPr>
          <p:nvPr/>
        </p:nvCxnSpPr>
        <p:spPr bwMode="auto">
          <a:xfrm flipH="1">
            <a:off x="2138363" y="3924300"/>
            <a:ext cx="392112" cy="277813"/>
          </a:xfrm>
          <a:prstGeom prst="straightConnector1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</p:spPr>
      </p:cxnSp>
      <p:cxnSp>
        <p:nvCxnSpPr>
          <p:cNvPr id="46" name="AutoShape 13">
            <a:extLst>
              <a:ext uri="{FF2B5EF4-FFF2-40B4-BE49-F238E27FC236}">
                <a16:creationId xmlns:a16="http://schemas.microsoft.com/office/drawing/2014/main" id="{018BBFB3-6508-43D5-BCBB-5A521B1EBA33}"/>
              </a:ext>
            </a:extLst>
          </p:cNvPr>
          <p:cNvCxnSpPr>
            <a:cxnSpLocks noChangeShapeType="1"/>
            <a:stCxn id="44" idx="6"/>
            <a:endCxn id="38" idx="1"/>
          </p:cNvCxnSpPr>
          <p:nvPr/>
        </p:nvCxnSpPr>
        <p:spPr bwMode="auto">
          <a:xfrm>
            <a:off x="2606675" y="3924300"/>
            <a:ext cx="392113" cy="277813"/>
          </a:xfrm>
          <a:prstGeom prst="straightConnector1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</p:spPr>
      </p:cxnSp>
      <p:sp>
        <p:nvSpPr>
          <p:cNvPr id="47" name="Text Box 14">
            <a:extLst>
              <a:ext uri="{FF2B5EF4-FFF2-40B4-BE49-F238E27FC236}">
                <a16:creationId xmlns:a16="http://schemas.microsoft.com/office/drawing/2014/main" id="{12F3EBF3-7C4D-459B-B616-8CB36180880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00200" y="3962400"/>
            <a:ext cx="465138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i="1">
                <a:solidFill>
                  <a:prstClr val="black"/>
                </a:solidFill>
                <a:latin typeface="Arial" charset="0"/>
                <a:cs typeface="Arial" charset="0"/>
              </a:rPr>
              <a:t>u</a:t>
            </a:r>
            <a:r>
              <a:rPr lang="en-US" baseline="-25000">
                <a:solidFill>
                  <a:prstClr val="black"/>
                </a:solidFill>
                <a:latin typeface="Arial" charset="0"/>
                <a:cs typeface="Arial" charset="0"/>
              </a:rPr>
              <a:t>1</a:t>
            </a:r>
          </a:p>
        </p:txBody>
      </p:sp>
      <p:sp>
        <p:nvSpPr>
          <p:cNvPr id="48" name="Text Box 15">
            <a:extLst>
              <a:ext uri="{FF2B5EF4-FFF2-40B4-BE49-F238E27FC236}">
                <a16:creationId xmlns:a16="http://schemas.microsoft.com/office/drawing/2014/main" id="{8A944D8F-7DC6-4C6E-92CB-6795A8211C6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08238" y="3505200"/>
            <a:ext cx="465137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i="1">
                <a:solidFill>
                  <a:prstClr val="black"/>
                </a:solidFill>
                <a:latin typeface="Arial" charset="0"/>
                <a:cs typeface="Arial" charset="0"/>
              </a:rPr>
              <a:t>u</a:t>
            </a:r>
            <a:r>
              <a:rPr lang="en-US" baseline="-25000">
                <a:solidFill>
                  <a:prstClr val="black"/>
                </a:solidFill>
                <a:latin typeface="Arial" charset="0"/>
                <a:cs typeface="Arial" charset="0"/>
              </a:rPr>
              <a:t>2</a:t>
            </a:r>
            <a:endParaRPr lang="en-US">
              <a:solidFill>
                <a:prstClr val="black"/>
              </a:solidFill>
              <a:latin typeface="Arial" charset="0"/>
              <a:cs typeface="Arial" charset="0"/>
            </a:endParaRPr>
          </a:p>
        </p:txBody>
      </p:sp>
      <p:sp>
        <p:nvSpPr>
          <p:cNvPr id="49" name="Text Box 16">
            <a:extLst>
              <a:ext uri="{FF2B5EF4-FFF2-40B4-BE49-F238E27FC236}">
                <a16:creationId xmlns:a16="http://schemas.microsoft.com/office/drawing/2014/main" id="{F41EE4DA-D5F7-4913-BFBB-E35B33FAFD4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41638" y="3810000"/>
            <a:ext cx="465137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i="1">
                <a:solidFill>
                  <a:prstClr val="black"/>
                </a:solidFill>
                <a:latin typeface="Arial" charset="0"/>
                <a:cs typeface="Arial" charset="0"/>
              </a:rPr>
              <a:t>u</a:t>
            </a:r>
            <a:r>
              <a:rPr lang="en-US" baseline="-25000">
                <a:solidFill>
                  <a:prstClr val="black"/>
                </a:solidFill>
                <a:latin typeface="Arial" charset="0"/>
                <a:cs typeface="Arial" charset="0"/>
              </a:rPr>
              <a:t>3</a:t>
            </a:r>
            <a:endParaRPr lang="en-US">
              <a:solidFill>
                <a:prstClr val="black"/>
              </a:solidFill>
              <a:latin typeface="Arial" charset="0"/>
              <a:cs typeface="Arial" charset="0"/>
            </a:endParaRPr>
          </a:p>
        </p:txBody>
      </p:sp>
      <p:sp>
        <p:nvSpPr>
          <p:cNvPr id="50" name="Text Box 17">
            <a:extLst>
              <a:ext uri="{FF2B5EF4-FFF2-40B4-BE49-F238E27FC236}">
                <a16:creationId xmlns:a16="http://schemas.microsoft.com/office/drawing/2014/main" id="{A5069107-DAF3-4A31-A8C2-3FF4E9E6411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44663" y="4648200"/>
            <a:ext cx="465137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i="1">
                <a:solidFill>
                  <a:prstClr val="black"/>
                </a:solidFill>
                <a:latin typeface="Arial" charset="0"/>
                <a:cs typeface="Arial" charset="0"/>
              </a:rPr>
              <a:t>u</a:t>
            </a:r>
            <a:r>
              <a:rPr lang="en-US" baseline="-25000">
                <a:solidFill>
                  <a:prstClr val="black"/>
                </a:solidFill>
                <a:latin typeface="Arial" charset="0"/>
                <a:cs typeface="Arial" charset="0"/>
              </a:rPr>
              <a:t>5</a:t>
            </a:r>
            <a:endParaRPr lang="en-US">
              <a:solidFill>
                <a:prstClr val="black"/>
              </a:solidFill>
              <a:latin typeface="Arial" charset="0"/>
              <a:cs typeface="Arial" charset="0"/>
            </a:endParaRPr>
          </a:p>
        </p:txBody>
      </p:sp>
      <p:sp>
        <p:nvSpPr>
          <p:cNvPr id="51" name="Text Box 18">
            <a:extLst>
              <a:ext uri="{FF2B5EF4-FFF2-40B4-BE49-F238E27FC236}">
                <a16:creationId xmlns:a16="http://schemas.microsoft.com/office/drawing/2014/main" id="{8684936B-C0FA-43E7-B85E-5577415F416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95600" y="4572000"/>
            <a:ext cx="465138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i="1">
                <a:solidFill>
                  <a:prstClr val="black"/>
                </a:solidFill>
                <a:latin typeface="Arial" charset="0"/>
                <a:cs typeface="Arial" charset="0"/>
              </a:rPr>
              <a:t>u</a:t>
            </a:r>
            <a:r>
              <a:rPr lang="en-US" baseline="-25000">
                <a:solidFill>
                  <a:prstClr val="black"/>
                </a:solidFill>
                <a:latin typeface="Arial" charset="0"/>
                <a:cs typeface="Arial" charset="0"/>
              </a:rPr>
              <a:t>4</a:t>
            </a:r>
            <a:endParaRPr lang="en-US">
              <a:solidFill>
                <a:prstClr val="black"/>
              </a:solidFill>
              <a:latin typeface="Arial" charset="0"/>
              <a:cs typeface="Arial" charset="0"/>
            </a:endParaRPr>
          </a:p>
        </p:txBody>
      </p:sp>
      <p:sp>
        <p:nvSpPr>
          <p:cNvPr id="52" name="Oval 19">
            <a:extLst>
              <a:ext uri="{FF2B5EF4-FFF2-40B4-BE49-F238E27FC236}">
                <a16:creationId xmlns:a16="http://schemas.microsoft.com/office/drawing/2014/main" id="{9FD99752-E411-493B-A151-2BDA293BB17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76900" y="4191000"/>
            <a:ext cx="76200" cy="76200"/>
          </a:xfrm>
          <a:prstGeom prst="ellipse">
            <a:avLst/>
          </a:prstGeom>
          <a:solidFill>
            <a:srgbClr val="4F81BD"/>
          </a:solidFill>
          <a:ln w="9525">
            <a:solidFill>
              <a:sysClr val="windowText" lastClr="000000"/>
            </a:solidFill>
            <a:round/>
            <a:headEnd/>
            <a:tailEnd/>
          </a:ln>
        </p:spPr>
        <p:txBody>
          <a:bodyPr wrap="none"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charset="0"/>
              <a:cs typeface="Arial" charset="0"/>
            </a:endParaRPr>
          </a:p>
        </p:txBody>
      </p:sp>
      <p:sp>
        <p:nvSpPr>
          <p:cNvPr id="53" name="Oval 20">
            <a:extLst>
              <a:ext uri="{FF2B5EF4-FFF2-40B4-BE49-F238E27FC236}">
                <a16:creationId xmlns:a16="http://schemas.microsoft.com/office/drawing/2014/main" id="{7D8705B7-E9EB-4194-B8D6-CFF62ED833A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91300" y="4191000"/>
            <a:ext cx="76200" cy="76200"/>
          </a:xfrm>
          <a:prstGeom prst="ellipse">
            <a:avLst/>
          </a:prstGeom>
          <a:solidFill>
            <a:srgbClr val="4F81BD"/>
          </a:solidFill>
          <a:ln w="9525">
            <a:solidFill>
              <a:sysClr val="windowText" lastClr="000000"/>
            </a:solidFill>
            <a:round/>
            <a:headEnd/>
            <a:tailEnd/>
          </a:ln>
        </p:spPr>
        <p:txBody>
          <a:bodyPr wrap="none"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charset="0"/>
              <a:cs typeface="Arial" charset="0"/>
            </a:endParaRPr>
          </a:p>
        </p:txBody>
      </p:sp>
      <p:cxnSp>
        <p:nvCxnSpPr>
          <p:cNvPr id="54" name="AutoShape 21">
            <a:extLst>
              <a:ext uri="{FF2B5EF4-FFF2-40B4-BE49-F238E27FC236}">
                <a16:creationId xmlns:a16="http://schemas.microsoft.com/office/drawing/2014/main" id="{8CFEA54D-7BF1-4EA5-9774-EBFC6B817952}"/>
              </a:ext>
            </a:extLst>
          </p:cNvPr>
          <p:cNvCxnSpPr>
            <a:cxnSpLocks noChangeShapeType="1"/>
            <a:stCxn id="52" idx="4"/>
            <a:endCxn id="55" idx="1"/>
          </p:cNvCxnSpPr>
          <p:nvPr/>
        </p:nvCxnSpPr>
        <p:spPr bwMode="auto">
          <a:xfrm>
            <a:off x="5715000" y="4267200"/>
            <a:ext cx="735013" cy="544513"/>
          </a:xfrm>
          <a:prstGeom prst="straightConnector1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</p:spPr>
      </p:cxnSp>
      <p:sp>
        <p:nvSpPr>
          <p:cNvPr id="55" name="Oval 22">
            <a:extLst>
              <a:ext uri="{FF2B5EF4-FFF2-40B4-BE49-F238E27FC236}">
                <a16:creationId xmlns:a16="http://schemas.microsoft.com/office/drawing/2014/main" id="{D46996F3-FCF2-47F1-9FB4-C2BB4B4B909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38900" y="4800600"/>
            <a:ext cx="76200" cy="76200"/>
          </a:xfrm>
          <a:prstGeom prst="ellipse">
            <a:avLst/>
          </a:prstGeom>
          <a:solidFill>
            <a:srgbClr val="4F81BD"/>
          </a:solidFill>
          <a:ln w="9525">
            <a:solidFill>
              <a:sysClr val="windowText" lastClr="000000"/>
            </a:solidFill>
            <a:round/>
            <a:headEnd/>
            <a:tailEnd/>
          </a:ln>
        </p:spPr>
        <p:txBody>
          <a:bodyPr wrap="none"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charset="0"/>
              <a:cs typeface="Arial" charset="0"/>
            </a:endParaRPr>
          </a:p>
        </p:txBody>
      </p:sp>
      <p:cxnSp>
        <p:nvCxnSpPr>
          <p:cNvPr id="56" name="AutoShape 23">
            <a:extLst>
              <a:ext uri="{FF2B5EF4-FFF2-40B4-BE49-F238E27FC236}">
                <a16:creationId xmlns:a16="http://schemas.microsoft.com/office/drawing/2014/main" id="{9AEBC2FF-0B1B-4FFA-8DC3-BE7D269C5D1E}"/>
              </a:ext>
            </a:extLst>
          </p:cNvPr>
          <p:cNvCxnSpPr>
            <a:cxnSpLocks noChangeShapeType="1"/>
            <a:stCxn id="53" idx="4"/>
            <a:endCxn id="55" idx="7"/>
          </p:cNvCxnSpPr>
          <p:nvPr/>
        </p:nvCxnSpPr>
        <p:spPr bwMode="auto">
          <a:xfrm flipH="1">
            <a:off x="6503988" y="4267200"/>
            <a:ext cx="125412" cy="544513"/>
          </a:xfrm>
          <a:prstGeom prst="straightConnector1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</p:spPr>
      </p:cxnSp>
      <p:sp>
        <p:nvSpPr>
          <p:cNvPr id="57" name="Oval 24">
            <a:extLst>
              <a:ext uri="{FF2B5EF4-FFF2-40B4-BE49-F238E27FC236}">
                <a16:creationId xmlns:a16="http://schemas.microsoft.com/office/drawing/2014/main" id="{1600868A-8CDD-404D-B3ED-D0DCAA2D46A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34100" y="3886200"/>
            <a:ext cx="76200" cy="76200"/>
          </a:xfrm>
          <a:prstGeom prst="ellipse">
            <a:avLst/>
          </a:prstGeom>
          <a:solidFill>
            <a:srgbClr val="4F81BD"/>
          </a:solidFill>
          <a:ln w="9525">
            <a:solidFill>
              <a:sysClr val="windowText" lastClr="000000"/>
            </a:solidFill>
            <a:round/>
            <a:headEnd/>
            <a:tailEnd/>
          </a:ln>
        </p:spPr>
        <p:txBody>
          <a:bodyPr wrap="none"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charset="0"/>
              <a:cs typeface="Arial" charset="0"/>
            </a:endParaRPr>
          </a:p>
        </p:txBody>
      </p:sp>
      <p:cxnSp>
        <p:nvCxnSpPr>
          <p:cNvPr id="58" name="AutoShape 25">
            <a:extLst>
              <a:ext uri="{FF2B5EF4-FFF2-40B4-BE49-F238E27FC236}">
                <a16:creationId xmlns:a16="http://schemas.microsoft.com/office/drawing/2014/main" id="{52484CF8-E0E3-4BD9-A4A8-C78738764A1F}"/>
              </a:ext>
            </a:extLst>
          </p:cNvPr>
          <p:cNvCxnSpPr>
            <a:cxnSpLocks noChangeShapeType="1"/>
            <a:stCxn id="57" idx="2"/>
            <a:endCxn id="52" idx="7"/>
          </p:cNvCxnSpPr>
          <p:nvPr/>
        </p:nvCxnSpPr>
        <p:spPr bwMode="auto">
          <a:xfrm flipH="1">
            <a:off x="5741988" y="3924300"/>
            <a:ext cx="392112" cy="277813"/>
          </a:xfrm>
          <a:prstGeom prst="straightConnector1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</p:spPr>
      </p:cxnSp>
      <p:cxnSp>
        <p:nvCxnSpPr>
          <p:cNvPr id="59" name="AutoShape 26">
            <a:extLst>
              <a:ext uri="{FF2B5EF4-FFF2-40B4-BE49-F238E27FC236}">
                <a16:creationId xmlns:a16="http://schemas.microsoft.com/office/drawing/2014/main" id="{B9B9F78C-FC17-4565-ABC8-9775C2F68B74}"/>
              </a:ext>
            </a:extLst>
          </p:cNvPr>
          <p:cNvCxnSpPr>
            <a:cxnSpLocks noChangeShapeType="1"/>
            <a:stCxn id="57" idx="6"/>
            <a:endCxn id="53" idx="1"/>
          </p:cNvCxnSpPr>
          <p:nvPr/>
        </p:nvCxnSpPr>
        <p:spPr bwMode="auto">
          <a:xfrm>
            <a:off x="6210300" y="3924300"/>
            <a:ext cx="392113" cy="277813"/>
          </a:xfrm>
          <a:prstGeom prst="straightConnector1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</p:spPr>
      </p:cxnSp>
      <p:sp>
        <p:nvSpPr>
          <p:cNvPr id="60" name="Text Box 27">
            <a:extLst>
              <a:ext uri="{FF2B5EF4-FFF2-40B4-BE49-F238E27FC236}">
                <a16:creationId xmlns:a16="http://schemas.microsoft.com/office/drawing/2014/main" id="{479470A7-948B-4031-8672-E91209B2014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03825" y="3962400"/>
            <a:ext cx="447675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i="1">
                <a:solidFill>
                  <a:prstClr val="black"/>
                </a:solidFill>
                <a:latin typeface="Arial" charset="0"/>
                <a:cs typeface="Arial" charset="0"/>
              </a:rPr>
              <a:t>v</a:t>
            </a:r>
            <a:r>
              <a:rPr lang="en-US" baseline="-25000">
                <a:solidFill>
                  <a:prstClr val="black"/>
                </a:solidFill>
                <a:latin typeface="Arial" charset="0"/>
                <a:cs typeface="Arial" charset="0"/>
              </a:rPr>
              <a:t>1</a:t>
            </a:r>
          </a:p>
        </p:txBody>
      </p:sp>
      <p:sp>
        <p:nvSpPr>
          <p:cNvPr id="61" name="Text Box 28">
            <a:extLst>
              <a:ext uri="{FF2B5EF4-FFF2-40B4-BE49-F238E27FC236}">
                <a16:creationId xmlns:a16="http://schemas.microsoft.com/office/drawing/2014/main" id="{015D406D-7686-4152-A769-2AF61AB22BC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11863" y="3505200"/>
            <a:ext cx="447675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i="1">
                <a:solidFill>
                  <a:prstClr val="black"/>
                </a:solidFill>
                <a:latin typeface="Arial" charset="0"/>
                <a:cs typeface="Arial" charset="0"/>
              </a:rPr>
              <a:t>v</a:t>
            </a:r>
            <a:r>
              <a:rPr lang="en-US" baseline="-25000">
                <a:solidFill>
                  <a:prstClr val="black"/>
                </a:solidFill>
                <a:latin typeface="Arial" charset="0"/>
                <a:cs typeface="Arial" charset="0"/>
              </a:rPr>
              <a:t>2</a:t>
            </a:r>
            <a:endParaRPr lang="en-US">
              <a:solidFill>
                <a:prstClr val="black"/>
              </a:solidFill>
              <a:latin typeface="Arial" charset="0"/>
              <a:cs typeface="Arial" charset="0"/>
            </a:endParaRPr>
          </a:p>
        </p:txBody>
      </p:sp>
      <p:sp>
        <p:nvSpPr>
          <p:cNvPr id="62" name="Text Box 29">
            <a:extLst>
              <a:ext uri="{FF2B5EF4-FFF2-40B4-BE49-F238E27FC236}">
                <a16:creationId xmlns:a16="http://schemas.microsoft.com/office/drawing/2014/main" id="{81069AAA-F8C6-48F8-85F0-D97D1527000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05600" y="3962400"/>
            <a:ext cx="447675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i="1">
                <a:solidFill>
                  <a:prstClr val="black"/>
                </a:solidFill>
                <a:latin typeface="Arial" charset="0"/>
                <a:cs typeface="Arial" charset="0"/>
              </a:rPr>
              <a:t>v</a:t>
            </a:r>
            <a:r>
              <a:rPr lang="en-US" baseline="-25000">
                <a:solidFill>
                  <a:prstClr val="black"/>
                </a:solidFill>
                <a:latin typeface="Arial" charset="0"/>
                <a:cs typeface="Arial" charset="0"/>
              </a:rPr>
              <a:t>3</a:t>
            </a:r>
            <a:endParaRPr lang="en-US">
              <a:solidFill>
                <a:prstClr val="black"/>
              </a:solidFill>
              <a:latin typeface="Arial" charset="0"/>
              <a:cs typeface="Arial" charset="0"/>
            </a:endParaRPr>
          </a:p>
        </p:txBody>
      </p:sp>
      <p:sp>
        <p:nvSpPr>
          <p:cNvPr id="63" name="Text Box 30">
            <a:extLst>
              <a:ext uri="{FF2B5EF4-FFF2-40B4-BE49-F238E27FC236}">
                <a16:creationId xmlns:a16="http://schemas.microsoft.com/office/drawing/2014/main" id="{56026DBC-712A-46EB-BA07-29CCCA41188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99225" y="4572000"/>
            <a:ext cx="447675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i="1">
                <a:solidFill>
                  <a:prstClr val="black"/>
                </a:solidFill>
                <a:latin typeface="Arial" charset="0"/>
                <a:cs typeface="Arial" charset="0"/>
              </a:rPr>
              <a:t>v</a:t>
            </a:r>
            <a:r>
              <a:rPr lang="en-US" baseline="-25000">
                <a:solidFill>
                  <a:prstClr val="black"/>
                </a:solidFill>
                <a:latin typeface="Arial" charset="0"/>
                <a:cs typeface="Arial" charset="0"/>
              </a:rPr>
              <a:t>4</a:t>
            </a:r>
            <a:endParaRPr lang="en-US">
              <a:solidFill>
                <a:prstClr val="black"/>
              </a:solidFill>
              <a:latin typeface="Arial" charset="0"/>
              <a:cs typeface="Arial" charset="0"/>
            </a:endParaRPr>
          </a:p>
        </p:txBody>
      </p:sp>
      <p:cxnSp>
        <p:nvCxnSpPr>
          <p:cNvPr id="64" name="AutoShape 31">
            <a:extLst>
              <a:ext uri="{FF2B5EF4-FFF2-40B4-BE49-F238E27FC236}">
                <a16:creationId xmlns:a16="http://schemas.microsoft.com/office/drawing/2014/main" id="{81AC8E4E-D375-4DC3-8B1D-11493DB71000}"/>
              </a:ext>
            </a:extLst>
          </p:cNvPr>
          <p:cNvCxnSpPr>
            <a:cxnSpLocks noChangeShapeType="1"/>
            <a:stCxn id="52" idx="6"/>
            <a:endCxn id="53" idx="4"/>
          </p:cNvCxnSpPr>
          <p:nvPr/>
        </p:nvCxnSpPr>
        <p:spPr bwMode="auto">
          <a:xfrm>
            <a:off x="5753100" y="4229100"/>
            <a:ext cx="876300" cy="38100"/>
          </a:xfrm>
          <a:prstGeom prst="straightConnector1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</p:spPr>
      </p:cxnSp>
    </p:spTree>
    <p:extLst>
      <p:ext uri="{BB962C8B-B14F-4D97-AF65-F5344CB8AC3E}">
        <p14:creationId xmlns:p14="http://schemas.microsoft.com/office/powerpoint/2010/main" val="271357663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2"/>
          <p:cNvSpPr txBox="1">
            <a:spLocks/>
          </p:cNvSpPr>
          <p:nvPr/>
        </p:nvSpPr>
        <p:spPr>
          <a:xfrm>
            <a:off x="335494" y="731162"/>
            <a:ext cx="6543608" cy="493414"/>
          </a:xfrm>
          <a:prstGeom prst="rect">
            <a:avLst/>
          </a:prstGeom>
        </p:spPr>
        <p:txBody>
          <a:bodyPr>
            <a:normAutofit lnSpcReduction="10000"/>
          </a:bodyPr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800" b="1" dirty="0">
                <a:solidFill>
                  <a:schemeClr val="tx1"/>
                </a:solidFill>
              </a:rPr>
              <a:t>Graph Isomorphism : </a:t>
            </a:r>
            <a:r>
              <a:rPr lang="en-US" sz="2800" b="1" dirty="0">
                <a:solidFill>
                  <a:srgbClr val="FF0000"/>
                </a:solidFill>
              </a:rPr>
              <a:t>Negative Examples</a:t>
            </a:r>
          </a:p>
          <a:p>
            <a:pPr marL="0" indent="0">
              <a:buNone/>
            </a:pPr>
            <a:endParaRPr lang="en-US" sz="2600" b="1" dirty="0">
              <a:solidFill>
                <a:srgbClr val="FF0000"/>
              </a:solidFill>
            </a:endParaRPr>
          </a:p>
        </p:txBody>
      </p:sp>
      <p:sp>
        <p:nvSpPr>
          <p:cNvPr id="95" name="Rectangle 3" descr="Rectangle: Click to edit Master text styles&#10;Second level&#10;Third level&#10;Fourth level&#10;Fifth level">
            <a:extLst>
              <a:ext uri="{FF2B5EF4-FFF2-40B4-BE49-F238E27FC236}">
                <a16:creationId xmlns:a16="http://schemas.microsoft.com/office/drawing/2014/main" id="{9F84B8B4-E824-48CD-8F70-880EA79D0A2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A1:  1</a:t>
            </a:r>
            <a:r>
              <a:rPr kumimoji="0" lang="en-US" sz="2800" b="0" i="0" u="none" strike="noStrike" kern="1200" cap="none" spc="0" normalizeH="0" baseline="3000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st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graph has more vertices than 2</a:t>
            </a:r>
            <a:r>
              <a:rPr kumimoji="0" lang="en-US" sz="2800" b="0" i="0" u="none" strike="noStrike" kern="1200" cap="none" spc="0" normalizeH="0" baseline="3000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nd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. So, the graphs are not isomorphic. 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What are other answers?</a:t>
            </a: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itchFamily="2" charset="2"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Q2:  Why are the following graphs not isomorphic?</a:t>
            </a:r>
          </a:p>
        </p:txBody>
      </p:sp>
      <p:sp>
        <p:nvSpPr>
          <p:cNvPr id="96" name="Oval 4">
            <a:extLst>
              <a:ext uri="{FF2B5EF4-FFF2-40B4-BE49-F238E27FC236}">
                <a16:creationId xmlns:a16="http://schemas.microsoft.com/office/drawing/2014/main" id="{2AD2DB5D-D635-431A-A7F9-38B3C83E2E6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73275" y="4191000"/>
            <a:ext cx="76200" cy="76200"/>
          </a:xfrm>
          <a:prstGeom prst="ellipse">
            <a:avLst/>
          </a:prstGeom>
          <a:solidFill>
            <a:srgbClr val="4F81BD"/>
          </a:solidFill>
          <a:ln w="9525">
            <a:solidFill>
              <a:sysClr val="windowText" lastClr="000000"/>
            </a:solidFill>
            <a:round/>
            <a:headEnd/>
            <a:tailEnd/>
          </a:ln>
        </p:spPr>
        <p:txBody>
          <a:bodyPr wrap="none"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charset="0"/>
              <a:cs typeface="Arial" charset="0"/>
            </a:endParaRPr>
          </a:p>
        </p:txBody>
      </p:sp>
      <p:sp>
        <p:nvSpPr>
          <p:cNvPr id="97" name="Oval 5">
            <a:extLst>
              <a:ext uri="{FF2B5EF4-FFF2-40B4-BE49-F238E27FC236}">
                <a16:creationId xmlns:a16="http://schemas.microsoft.com/office/drawing/2014/main" id="{5982B9C3-8713-4A95-86AD-F5158857167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87675" y="4191000"/>
            <a:ext cx="76200" cy="76200"/>
          </a:xfrm>
          <a:prstGeom prst="ellipse">
            <a:avLst/>
          </a:prstGeom>
          <a:solidFill>
            <a:srgbClr val="4F81BD"/>
          </a:solidFill>
          <a:ln w="9525">
            <a:solidFill>
              <a:sysClr val="windowText" lastClr="000000"/>
            </a:solidFill>
            <a:round/>
            <a:headEnd/>
            <a:tailEnd/>
          </a:ln>
        </p:spPr>
        <p:txBody>
          <a:bodyPr wrap="none"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charset="0"/>
              <a:cs typeface="Arial" charset="0"/>
            </a:endParaRPr>
          </a:p>
        </p:txBody>
      </p:sp>
      <p:sp>
        <p:nvSpPr>
          <p:cNvPr id="98" name="Oval 6">
            <a:extLst>
              <a:ext uri="{FF2B5EF4-FFF2-40B4-BE49-F238E27FC236}">
                <a16:creationId xmlns:a16="http://schemas.microsoft.com/office/drawing/2014/main" id="{5D9E746D-72DA-485F-9DE6-597A7A74E8D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25675" y="4800600"/>
            <a:ext cx="76200" cy="76200"/>
          </a:xfrm>
          <a:prstGeom prst="ellipse">
            <a:avLst/>
          </a:prstGeom>
          <a:solidFill>
            <a:srgbClr val="4F81BD"/>
          </a:solidFill>
          <a:ln w="9525">
            <a:solidFill>
              <a:sysClr val="windowText" lastClr="000000"/>
            </a:solidFill>
            <a:round/>
            <a:headEnd/>
            <a:tailEnd/>
          </a:ln>
        </p:spPr>
        <p:txBody>
          <a:bodyPr wrap="none"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charset="0"/>
              <a:cs typeface="Arial" charset="0"/>
            </a:endParaRPr>
          </a:p>
        </p:txBody>
      </p:sp>
      <p:cxnSp>
        <p:nvCxnSpPr>
          <p:cNvPr id="99" name="AutoShape 7">
            <a:extLst>
              <a:ext uri="{FF2B5EF4-FFF2-40B4-BE49-F238E27FC236}">
                <a16:creationId xmlns:a16="http://schemas.microsoft.com/office/drawing/2014/main" id="{F090F3AB-32A4-475D-A48D-B7F086F6A0E5}"/>
              </a:ext>
            </a:extLst>
          </p:cNvPr>
          <p:cNvCxnSpPr>
            <a:cxnSpLocks noChangeShapeType="1"/>
            <a:stCxn id="96" idx="4"/>
            <a:endCxn id="98" idx="1"/>
          </p:cNvCxnSpPr>
          <p:nvPr/>
        </p:nvCxnSpPr>
        <p:spPr bwMode="auto">
          <a:xfrm>
            <a:off x="2111375" y="4267200"/>
            <a:ext cx="125413" cy="544513"/>
          </a:xfrm>
          <a:prstGeom prst="straightConnector1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</p:spPr>
      </p:cxnSp>
      <p:sp>
        <p:nvSpPr>
          <p:cNvPr id="100" name="Oval 8">
            <a:extLst>
              <a:ext uri="{FF2B5EF4-FFF2-40B4-BE49-F238E27FC236}">
                <a16:creationId xmlns:a16="http://schemas.microsoft.com/office/drawing/2014/main" id="{3CA97DC1-3B4A-4E06-97C4-8E983B7D35A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35275" y="4800600"/>
            <a:ext cx="76200" cy="76200"/>
          </a:xfrm>
          <a:prstGeom prst="ellipse">
            <a:avLst/>
          </a:prstGeom>
          <a:solidFill>
            <a:srgbClr val="4F81BD"/>
          </a:solidFill>
          <a:ln w="9525">
            <a:solidFill>
              <a:sysClr val="windowText" lastClr="000000"/>
            </a:solidFill>
            <a:round/>
            <a:headEnd/>
            <a:tailEnd/>
          </a:ln>
        </p:spPr>
        <p:txBody>
          <a:bodyPr wrap="none"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charset="0"/>
              <a:cs typeface="Arial" charset="0"/>
            </a:endParaRPr>
          </a:p>
        </p:txBody>
      </p:sp>
      <p:cxnSp>
        <p:nvCxnSpPr>
          <p:cNvPr id="101" name="AutoShape 9">
            <a:extLst>
              <a:ext uri="{FF2B5EF4-FFF2-40B4-BE49-F238E27FC236}">
                <a16:creationId xmlns:a16="http://schemas.microsoft.com/office/drawing/2014/main" id="{C58FCAB1-2580-430E-8F1B-8C8151EE6D9D}"/>
              </a:ext>
            </a:extLst>
          </p:cNvPr>
          <p:cNvCxnSpPr>
            <a:cxnSpLocks noChangeShapeType="1"/>
            <a:stCxn id="98" idx="6"/>
            <a:endCxn id="100" idx="2"/>
          </p:cNvCxnSpPr>
          <p:nvPr/>
        </p:nvCxnSpPr>
        <p:spPr bwMode="auto">
          <a:xfrm>
            <a:off x="2301875" y="4838700"/>
            <a:ext cx="533400" cy="0"/>
          </a:xfrm>
          <a:prstGeom prst="straightConnector1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</p:spPr>
      </p:cxnSp>
      <p:cxnSp>
        <p:nvCxnSpPr>
          <p:cNvPr id="102" name="AutoShape 10">
            <a:extLst>
              <a:ext uri="{FF2B5EF4-FFF2-40B4-BE49-F238E27FC236}">
                <a16:creationId xmlns:a16="http://schemas.microsoft.com/office/drawing/2014/main" id="{79A9A45B-1990-4542-944D-5F143E3C31A2}"/>
              </a:ext>
            </a:extLst>
          </p:cNvPr>
          <p:cNvCxnSpPr>
            <a:cxnSpLocks noChangeShapeType="1"/>
            <a:stCxn id="97" idx="4"/>
            <a:endCxn id="100" idx="7"/>
          </p:cNvCxnSpPr>
          <p:nvPr/>
        </p:nvCxnSpPr>
        <p:spPr bwMode="auto">
          <a:xfrm flipH="1">
            <a:off x="2900363" y="4267200"/>
            <a:ext cx="125412" cy="544513"/>
          </a:xfrm>
          <a:prstGeom prst="straightConnector1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</p:spPr>
      </p:cxnSp>
      <p:sp>
        <p:nvSpPr>
          <p:cNvPr id="103" name="Oval 11">
            <a:extLst>
              <a:ext uri="{FF2B5EF4-FFF2-40B4-BE49-F238E27FC236}">
                <a16:creationId xmlns:a16="http://schemas.microsoft.com/office/drawing/2014/main" id="{D525A488-26D7-4A47-AF2C-19F5A46872A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30475" y="3886200"/>
            <a:ext cx="76200" cy="76200"/>
          </a:xfrm>
          <a:prstGeom prst="ellipse">
            <a:avLst/>
          </a:prstGeom>
          <a:solidFill>
            <a:srgbClr val="4F81BD"/>
          </a:solidFill>
          <a:ln w="9525">
            <a:solidFill>
              <a:sysClr val="windowText" lastClr="000000"/>
            </a:solidFill>
            <a:round/>
            <a:headEnd/>
            <a:tailEnd/>
          </a:ln>
        </p:spPr>
        <p:txBody>
          <a:bodyPr wrap="none"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charset="0"/>
              <a:cs typeface="Arial" charset="0"/>
            </a:endParaRPr>
          </a:p>
        </p:txBody>
      </p:sp>
      <p:cxnSp>
        <p:nvCxnSpPr>
          <p:cNvPr id="104" name="AutoShape 12">
            <a:extLst>
              <a:ext uri="{FF2B5EF4-FFF2-40B4-BE49-F238E27FC236}">
                <a16:creationId xmlns:a16="http://schemas.microsoft.com/office/drawing/2014/main" id="{541B28BD-7CF3-4D5B-894B-E9A5F02DE272}"/>
              </a:ext>
            </a:extLst>
          </p:cNvPr>
          <p:cNvCxnSpPr>
            <a:cxnSpLocks noChangeShapeType="1"/>
            <a:stCxn id="103" idx="2"/>
            <a:endCxn id="96" idx="7"/>
          </p:cNvCxnSpPr>
          <p:nvPr/>
        </p:nvCxnSpPr>
        <p:spPr bwMode="auto">
          <a:xfrm flipH="1">
            <a:off x="2138363" y="3924300"/>
            <a:ext cx="392112" cy="277813"/>
          </a:xfrm>
          <a:prstGeom prst="straightConnector1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</p:spPr>
      </p:cxnSp>
      <p:cxnSp>
        <p:nvCxnSpPr>
          <p:cNvPr id="105" name="AutoShape 13">
            <a:extLst>
              <a:ext uri="{FF2B5EF4-FFF2-40B4-BE49-F238E27FC236}">
                <a16:creationId xmlns:a16="http://schemas.microsoft.com/office/drawing/2014/main" id="{5B62DB51-FD9A-4AB9-93FC-44D96854D160}"/>
              </a:ext>
            </a:extLst>
          </p:cNvPr>
          <p:cNvCxnSpPr>
            <a:cxnSpLocks noChangeShapeType="1"/>
            <a:stCxn id="103" idx="6"/>
            <a:endCxn id="97" idx="1"/>
          </p:cNvCxnSpPr>
          <p:nvPr/>
        </p:nvCxnSpPr>
        <p:spPr bwMode="auto">
          <a:xfrm>
            <a:off x="2606675" y="3924300"/>
            <a:ext cx="392113" cy="277813"/>
          </a:xfrm>
          <a:prstGeom prst="straightConnector1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</p:spPr>
      </p:cxnSp>
      <p:sp>
        <p:nvSpPr>
          <p:cNvPr id="106" name="Text Box 14">
            <a:extLst>
              <a:ext uri="{FF2B5EF4-FFF2-40B4-BE49-F238E27FC236}">
                <a16:creationId xmlns:a16="http://schemas.microsoft.com/office/drawing/2014/main" id="{D062CE0E-63FD-4B0F-B202-4558F17A838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00200" y="3962400"/>
            <a:ext cx="465138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i="1">
                <a:solidFill>
                  <a:prstClr val="black"/>
                </a:solidFill>
                <a:latin typeface="Arial" charset="0"/>
                <a:cs typeface="Arial" charset="0"/>
              </a:rPr>
              <a:t>u</a:t>
            </a:r>
            <a:r>
              <a:rPr lang="en-US" baseline="-25000">
                <a:solidFill>
                  <a:prstClr val="black"/>
                </a:solidFill>
                <a:latin typeface="Arial" charset="0"/>
                <a:cs typeface="Arial" charset="0"/>
              </a:rPr>
              <a:t>1</a:t>
            </a:r>
          </a:p>
        </p:txBody>
      </p:sp>
      <p:sp>
        <p:nvSpPr>
          <p:cNvPr id="107" name="Text Box 15">
            <a:extLst>
              <a:ext uri="{FF2B5EF4-FFF2-40B4-BE49-F238E27FC236}">
                <a16:creationId xmlns:a16="http://schemas.microsoft.com/office/drawing/2014/main" id="{0933FAEB-D569-4B87-B537-3C0AD40E395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08238" y="3505200"/>
            <a:ext cx="465137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i="1">
                <a:solidFill>
                  <a:prstClr val="black"/>
                </a:solidFill>
                <a:latin typeface="Arial" charset="0"/>
                <a:cs typeface="Arial" charset="0"/>
              </a:rPr>
              <a:t>u</a:t>
            </a:r>
            <a:r>
              <a:rPr lang="en-US" baseline="-25000">
                <a:solidFill>
                  <a:prstClr val="black"/>
                </a:solidFill>
                <a:latin typeface="Arial" charset="0"/>
                <a:cs typeface="Arial" charset="0"/>
              </a:rPr>
              <a:t>2</a:t>
            </a:r>
            <a:endParaRPr lang="en-US">
              <a:solidFill>
                <a:prstClr val="black"/>
              </a:solidFill>
              <a:latin typeface="Arial" charset="0"/>
              <a:cs typeface="Arial" charset="0"/>
            </a:endParaRPr>
          </a:p>
        </p:txBody>
      </p:sp>
      <p:sp>
        <p:nvSpPr>
          <p:cNvPr id="108" name="Text Box 16">
            <a:extLst>
              <a:ext uri="{FF2B5EF4-FFF2-40B4-BE49-F238E27FC236}">
                <a16:creationId xmlns:a16="http://schemas.microsoft.com/office/drawing/2014/main" id="{870BF243-CD0B-4107-9853-10C18679E40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41638" y="3810000"/>
            <a:ext cx="465137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i="1">
                <a:solidFill>
                  <a:prstClr val="black"/>
                </a:solidFill>
                <a:latin typeface="Arial" charset="0"/>
                <a:cs typeface="Arial" charset="0"/>
              </a:rPr>
              <a:t>u</a:t>
            </a:r>
            <a:r>
              <a:rPr lang="en-US" baseline="-25000">
                <a:solidFill>
                  <a:prstClr val="black"/>
                </a:solidFill>
                <a:latin typeface="Arial" charset="0"/>
                <a:cs typeface="Arial" charset="0"/>
              </a:rPr>
              <a:t>3</a:t>
            </a:r>
            <a:endParaRPr lang="en-US">
              <a:solidFill>
                <a:prstClr val="black"/>
              </a:solidFill>
              <a:latin typeface="Arial" charset="0"/>
              <a:cs typeface="Arial" charset="0"/>
            </a:endParaRPr>
          </a:p>
        </p:txBody>
      </p:sp>
      <p:sp>
        <p:nvSpPr>
          <p:cNvPr id="109" name="Text Box 17">
            <a:extLst>
              <a:ext uri="{FF2B5EF4-FFF2-40B4-BE49-F238E27FC236}">
                <a16:creationId xmlns:a16="http://schemas.microsoft.com/office/drawing/2014/main" id="{2018353A-275D-493F-A041-659C088E5DB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44663" y="4648200"/>
            <a:ext cx="465137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i="1">
                <a:solidFill>
                  <a:prstClr val="black"/>
                </a:solidFill>
                <a:latin typeface="Arial" charset="0"/>
                <a:cs typeface="Arial" charset="0"/>
              </a:rPr>
              <a:t>u</a:t>
            </a:r>
            <a:r>
              <a:rPr lang="en-US" baseline="-25000">
                <a:solidFill>
                  <a:prstClr val="black"/>
                </a:solidFill>
                <a:latin typeface="Arial" charset="0"/>
                <a:cs typeface="Arial" charset="0"/>
              </a:rPr>
              <a:t>5</a:t>
            </a:r>
            <a:endParaRPr lang="en-US">
              <a:solidFill>
                <a:prstClr val="black"/>
              </a:solidFill>
              <a:latin typeface="Arial" charset="0"/>
              <a:cs typeface="Arial" charset="0"/>
            </a:endParaRPr>
          </a:p>
        </p:txBody>
      </p:sp>
      <p:sp>
        <p:nvSpPr>
          <p:cNvPr id="110" name="Text Box 18">
            <a:extLst>
              <a:ext uri="{FF2B5EF4-FFF2-40B4-BE49-F238E27FC236}">
                <a16:creationId xmlns:a16="http://schemas.microsoft.com/office/drawing/2014/main" id="{89AB5FAD-C4DA-41F0-809C-B5BD54AF177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95600" y="4572000"/>
            <a:ext cx="465138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i="1">
                <a:solidFill>
                  <a:prstClr val="black"/>
                </a:solidFill>
                <a:latin typeface="Arial" charset="0"/>
                <a:cs typeface="Arial" charset="0"/>
              </a:rPr>
              <a:t>u</a:t>
            </a:r>
            <a:r>
              <a:rPr lang="en-US" baseline="-25000">
                <a:solidFill>
                  <a:prstClr val="black"/>
                </a:solidFill>
                <a:latin typeface="Arial" charset="0"/>
                <a:cs typeface="Arial" charset="0"/>
              </a:rPr>
              <a:t>4</a:t>
            </a:r>
            <a:endParaRPr lang="en-US">
              <a:solidFill>
                <a:prstClr val="black"/>
              </a:solidFill>
              <a:latin typeface="Arial" charset="0"/>
              <a:cs typeface="Arial" charset="0"/>
            </a:endParaRPr>
          </a:p>
        </p:txBody>
      </p:sp>
      <p:sp>
        <p:nvSpPr>
          <p:cNvPr id="111" name="Oval 19">
            <a:extLst>
              <a:ext uri="{FF2B5EF4-FFF2-40B4-BE49-F238E27FC236}">
                <a16:creationId xmlns:a16="http://schemas.microsoft.com/office/drawing/2014/main" id="{564A02A6-2DC8-4BE0-B9D2-51E368CC454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76900" y="4191000"/>
            <a:ext cx="76200" cy="76200"/>
          </a:xfrm>
          <a:prstGeom prst="ellipse">
            <a:avLst/>
          </a:prstGeom>
          <a:solidFill>
            <a:srgbClr val="4F81BD"/>
          </a:solidFill>
          <a:ln w="9525">
            <a:solidFill>
              <a:sysClr val="windowText" lastClr="000000"/>
            </a:solidFill>
            <a:round/>
            <a:headEnd/>
            <a:tailEnd/>
          </a:ln>
        </p:spPr>
        <p:txBody>
          <a:bodyPr wrap="none"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charset="0"/>
              <a:cs typeface="Arial" charset="0"/>
            </a:endParaRPr>
          </a:p>
        </p:txBody>
      </p:sp>
      <p:sp>
        <p:nvSpPr>
          <p:cNvPr id="112" name="Oval 20">
            <a:extLst>
              <a:ext uri="{FF2B5EF4-FFF2-40B4-BE49-F238E27FC236}">
                <a16:creationId xmlns:a16="http://schemas.microsoft.com/office/drawing/2014/main" id="{62EBE55B-A58D-4E9A-93F9-EB2B48C5639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91300" y="4191000"/>
            <a:ext cx="76200" cy="76200"/>
          </a:xfrm>
          <a:prstGeom prst="ellipse">
            <a:avLst/>
          </a:prstGeom>
          <a:solidFill>
            <a:srgbClr val="4F81BD"/>
          </a:solidFill>
          <a:ln w="9525">
            <a:solidFill>
              <a:sysClr val="windowText" lastClr="000000"/>
            </a:solidFill>
            <a:round/>
            <a:headEnd/>
            <a:tailEnd/>
          </a:ln>
        </p:spPr>
        <p:txBody>
          <a:bodyPr wrap="none"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charset="0"/>
              <a:cs typeface="Arial" charset="0"/>
            </a:endParaRPr>
          </a:p>
        </p:txBody>
      </p:sp>
      <p:sp>
        <p:nvSpPr>
          <p:cNvPr id="113" name="Oval 21">
            <a:extLst>
              <a:ext uri="{FF2B5EF4-FFF2-40B4-BE49-F238E27FC236}">
                <a16:creationId xmlns:a16="http://schemas.microsoft.com/office/drawing/2014/main" id="{EB5415FF-0BA9-453D-B745-15BDA087551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29300" y="4800600"/>
            <a:ext cx="76200" cy="76200"/>
          </a:xfrm>
          <a:prstGeom prst="ellipse">
            <a:avLst/>
          </a:prstGeom>
          <a:solidFill>
            <a:srgbClr val="4F81BD"/>
          </a:solidFill>
          <a:ln w="9525">
            <a:solidFill>
              <a:sysClr val="windowText" lastClr="000000"/>
            </a:solidFill>
            <a:round/>
            <a:headEnd/>
            <a:tailEnd/>
          </a:ln>
        </p:spPr>
        <p:txBody>
          <a:bodyPr wrap="none"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charset="0"/>
              <a:cs typeface="Arial" charset="0"/>
            </a:endParaRPr>
          </a:p>
        </p:txBody>
      </p:sp>
      <p:cxnSp>
        <p:nvCxnSpPr>
          <p:cNvPr id="114" name="AutoShape 22">
            <a:extLst>
              <a:ext uri="{FF2B5EF4-FFF2-40B4-BE49-F238E27FC236}">
                <a16:creationId xmlns:a16="http://schemas.microsoft.com/office/drawing/2014/main" id="{6D40A2F7-A2C8-435F-B119-B4AD3A38A3B9}"/>
              </a:ext>
            </a:extLst>
          </p:cNvPr>
          <p:cNvCxnSpPr>
            <a:cxnSpLocks noChangeShapeType="1"/>
            <a:stCxn id="111" idx="4"/>
            <a:endCxn id="115" idx="2"/>
          </p:cNvCxnSpPr>
          <p:nvPr/>
        </p:nvCxnSpPr>
        <p:spPr bwMode="auto">
          <a:xfrm>
            <a:off x="5715000" y="4267200"/>
            <a:ext cx="723900" cy="571500"/>
          </a:xfrm>
          <a:prstGeom prst="straightConnector1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</p:spPr>
      </p:cxnSp>
      <p:sp>
        <p:nvSpPr>
          <p:cNvPr id="115" name="Oval 23">
            <a:extLst>
              <a:ext uri="{FF2B5EF4-FFF2-40B4-BE49-F238E27FC236}">
                <a16:creationId xmlns:a16="http://schemas.microsoft.com/office/drawing/2014/main" id="{98810E28-97D5-4790-8211-C094F83D1E9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38900" y="4800600"/>
            <a:ext cx="76200" cy="76200"/>
          </a:xfrm>
          <a:prstGeom prst="ellipse">
            <a:avLst/>
          </a:prstGeom>
          <a:solidFill>
            <a:srgbClr val="4F81BD"/>
          </a:solidFill>
          <a:ln w="9525">
            <a:solidFill>
              <a:sysClr val="windowText" lastClr="000000"/>
            </a:solidFill>
            <a:round/>
            <a:headEnd/>
            <a:tailEnd/>
          </a:ln>
        </p:spPr>
        <p:txBody>
          <a:bodyPr wrap="none"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charset="0"/>
              <a:cs typeface="Arial" charset="0"/>
            </a:endParaRPr>
          </a:p>
        </p:txBody>
      </p:sp>
      <p:cxnSp>
        <p:nvCxnSpPr>
          <p:cNvPr id="116" name="AutoShape 24">
            <a:extLst>
              <a:ext uri="{FF2B5EF4-FFF2-40B4-BE49-F238E27FC236}">
                <a16:creationId xmlns:a16="http://schemas.microsoft.com/office/drawing/2014/main" id="{06B1FE11-DD11-464C-8299-1C517100FDDB}"/>
              </a:ext>
            </a:extLst>
          </p:cNvPr>
          <p:cNvCxnSpPr>
            <a:cxnSpLocks noChangeShapeType="1"/>
            <a:stCxn id="112" idx="4"/>
            <a:endCxn id="115" idx="7"/>
          </p:cNvCxnSpPr>
          <p:nvPr/>
        </p:nvCxnSpPr>
        <p:spPr bwMode="auto">
          <a:xfrm flipH="1">
            <a:off x="6503988" y="4267200"/>
            <a:ext cx="125412" cy="544513"/>
          </a:xfrm>
          <a:prstGeom prst="straightConnector1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</p:spPr>
      </p:cxnSp>
      <p:sp>
        <p:nvSpPr>
          <p:cNvPr id="117" name="Oval 25">
            <a:extLst>
              <a:ext uri="{FF2B5EF4-FFF2-40B4-BE49-F238E27FC236}">
                <a16:creationId xmlns:a16="http://schemas.microsoft.com/office/drawing/2014/main" id="{F163F2C3-76D9-45D2-87E6-A131CC08C33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34100" y="3886200"/>
            <a:ext cx="76200" cy="76200"/>
          </a:xfrm>
          <a:prstGeom prst="ellipse">
            <a:avLst/>
          </a:prstGeom>
          <a:solidFill>
            <a:srgbClr val="4F81BD"/>
          </a:solidFill>
          <a:ln w="9525">
            <a:solidFill>
              <a:sysClr val="windowText" lastClr="000000"/>
            </a:solidFill>
            <a:round/>
            <a:headEnd/>
            <a:tailEnd/>
          </a:ln>
        </p:spPr>
        <p:txBody>
          <a:bodyPr wrap="none"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charset="0"/>
              <a:cs typeface="Arial" charset="0"/>
            </a:endParaRPr>
          </a:p>
        </p:txBody>
      </p:sp>
      <p:cxnSp>
        <p:nvCxnSpPr>
          <p:cNvPr id="118" name="AutoShape 26">
            <a:extLst>
              <a:ext uri="{FF2B5EF4-FFF2-40B4-BE49-F238E27FC236}">
                <a16:creationId xmlns:a16="http://schemas.microsoft.com/office/drawing/2014/main" id="{431CF5A6-B727-4021-9B58-8E56B1EFE412}"/>
              </a:ext>
            </a:extLst>
          </p:cNvPr>
          <p:cNvCxnSpPr>
            <a:cxnSpLocks noChangeShapeType="1"/>
            <a:stCxn id="117" idx="2"/>
            <a:endCxn id="111" idx="7"/>
          </p:cNvCxnSpPr>
          <p:nvPr/>
        </p:nvCxnSpPr>
        <p:spPr bwMode="auto">
          <a:xfrm flipH="1">
            <a:off x="5741988" y="3924300"/>
            <a:ext cx="392112" cy="277813"/>
          </a:xfrm>
          <a:prstGeom prst="straightConnector1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</p:spPr>
      </p:cxnSp>
      <p:cxnSp>
        <p:nvCxnSpPr>
          <p:cNvPr id="119" name="AutoShape 27">
            <a:extLst>
              <a:ext uri="{FF2B5EF4-FFF2-40B4-BE49-F238E27FC236}">
                <a16:creationId xmlns:a16="http://schemas.microsoft.com/office/drawing/2014/main" id="{9648C2A0-4756-4095-A9A1-FC3E5491B262}"/>
              </a:ext>
            </a:extLst>
          </p:cNvPr>
          <p:cNvCxnSpPr>
            <a:cxnSpLocks noChangeShapeType="1"/>
            <a:stCxn id="117" idx="6"/>
            <a:endCxn id="112" idx="1"/>
          </p:cNvCxnSpPr>
          <p:nvPr/>
        </p:nvCxnSpPr>
        <p:spPr bwMode="auto">
          <a:xfrm>
            <a:off x="6210300" y="3924300"/>
            <a:ext cx="392113" cy="277813"/>
          </a:xfrm>
          <a:prstGeom prst="straightConnector1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</p:spPr>
      </p:cxnSp>
      <p:sp>
        <p:nvSpPr>
          <p:cNvPr id="120" name="Text Box 28">
            <a:extLst>
              <a:ext uri="{FF2B5EF4-FFF2-40B4-BE49-F238E27FC236}">
                <a16:creationId xmlns:a16="http://schemas.microsoft.com/office/drawing/2014/main" id="{2B76F99A-D827-49FC-B2EC-04DED182255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03825" y="3962400"/>
            <a:ext cx="447675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i="1">
                <a:solidFill>
                  <a:prstClr val="black"/>
                </a:solidFill>
                <a:latin typeface="Arial" charset="0"/>
                <a:cs typeface="Arial" charset="0"/>
              </a:rPr>
              <a:t>v</a:t>
            </a:r>
            <a:r>
              <a:rPr lang="en-US" baseline="-25000">
                <a:solidFill>
                  <a:prstClr val="black"/>
                </a:solidFill>
                <a:latin typeface="Arial" charset="0"/>
                <a:cs typeface="Arial" charset="0"/>
              </a:rPr>
              <a:t>1</a:t>
            </a:r>
          </a:p>
        </p:txBody>
      </p:sp>
      <p:sp>
        <p:nvSpPr>
          <p:cNvPr id="121" name="Text Box 29">
            <a:extLst>
              <a:ext uri="{FF2B5EF4-FFF2-40B4-BE49-F238E27FC236}">
                <a16:creationId xmlns:a16="http://schemas.microsoft.com/office/drawing/2014/main" id="{FFA3C430-14B9-48F6-B2AB-A2AFEAFAC0D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11863" y="3505200"/>
            <a:ext cx="447675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i="1">
                <a:solidFill>
                  <a:prstClr val="black"/>
                </a:solidFill>
                <a:latin typeface="Arial" charset="0"/>
                <a:cs typeface="Arial" charset="0"/>
              </a:rPr>
              <a:t>v</a:t>
            </a:r>
            <a:r>
              <a:rPr lang="en-US" baseline="-25000">
                <a:solidFill>
                  <a:prstClr val="black"/>
                </a:solidFill>
                <a:latin typeface="Arial" charset="0"/>
                <a:cs typeface="Arial" charset="0"/>
              </a:rPr>
              <a:t>2</a:t>
            </a:r>
            <a:endParaRPr lang="en-US">
              <a:solidFill>
                <a:prstClr val="black"/>
              </a:solidFill>
              <a:latin typeface="Arial" charset="0"/>
              <a:cs typeface="Arial" charset="0"/>
            </a:endParaRPr>
          </a:p>
        </p:txBody>
      </p:sp>
      <p:sp>
        <p:nvSpPr>
          <p:cNvPr id="122" name="Text Box 30">
            <a:extLst>
              <a:ext uri="{FF2B5EF4-FFF2-40B4-BE49-F238E27FC236}">
                <a16:creationId xmlns:a16="http://schemas.microsoft.com/office/drawing/2014/main" id="{4FC58EB6-B772-4379-BC2E-746A64BC74F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45263" y="3810000"/>
            <a:ext cx="447675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i="1">
                <a:solidFill>
                  <a:prstClr val="black"/>
                </a:solidFill>
                <a:latin typeface="Arial" charset="0"/>
                <a:cs typeface="Arial" charset="0"/>
              </a:rPr>
              <a:t>v</a:t>
            </a:r>
            <a:r>
              <a:rPr lang="en-US" baseline="-25000">
                <a:solidFill>
                  <a:prstClr val="black"/>
                </a:solidFill>
                <a:latin typeface="Arial" charset="0"/>
                <a:cs typeface="Arial" charset="0"/>
              </a:rPr>
              <a:t>3</a:t>
            </a:r>
            <a:endParaRPr lang="en-US">
              <a:solidFill>
                <a:prstClr val="black"/>
              </a:solidFill>
              <a:latin typeface="Arial" charset="0"/>
              <a:cs typeface="Arial" charset="0"/>
            </a:endParaRPr>
          </a:p>
        </p:txBody>
      </p:sp>
      <p:sp>
        <p:nvSpPr>
          <p:cNvPr id="123" name="Text Box 31">
            <a:extLst>
              <a:ext uri="{FF2B5EF4-FFF2-40B4-BE49-F238E27FC236}">
                <a16:creationId xmlns:a16="http://schemas.microsoft.com/office/drawing/2014/main" id="{3737467C-9904-4EC9-8618-641B37D90E9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48288" y="4648200"/>
            <a:ext cx="447675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i="1">
                <a:solidFill>
                  <a:prstClr val="black"/>
                </a:solidFill>
                <a:latin typeface="Arial" charset="0"/>
                <a:cs typeface="Arial" charset="0"/>
              </a:rPr>
              <a:t>v</a:t>
            </a:r>
            <a:r>
              <a:rPr lang="en-US" baseline="-25000">
                <a:solidFill>
                  <a:prstClr val="black"/>
                </a:solidFill>
                <a:latin typeface="Arial" charset="0"/>
                <a:cs typeface="Arial" charset="0"/>
              </a:rPr>
              <a:t>5</a:t>
            </a:r>
            <a:endParaRPr lang="en-US">
              <a:solidFill>
                <a:prstClr val="black"/>
              </a:solidFill>
              <a:latin typeface="Arial" charset="0"/>
              <a:cs typeface="Arial" charset="0"/>
            </a:endParaRPr>
          </a:p>
        </p:txBody>
      </p:sp>
      <p:sp>
        <p:nvSpPr>
          <p:cNvPr id="124" name="Text Box 32">
            <a:extLst>
              <a:ext uri="{FF2B5EF4-FFF2-40B4-BE49-F238E27FC236}">
                <a16:creationId xmlns:a16="http://schemas.microsoft.com/office/drawing/2014/main" id="{EB5B0E57-42E2-4987-A85F-DF90FAAB3CB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99225" y="4572000"/>
            <a:ext cx="447675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i="1">
                <a:solidFill>
                  <a:prstClr val="black"/>
                </a:solidFill>
                <a:latin typeface="Arial" charset="0"/>
                <a:cs typeface="Arial" charset="0"/>
              </a:rPr>
              <a:t>v</a:t>
            </a:r>
            <a:r>
              <a:rPr lang="en-US" baseline="-25000">
                <a:solidFill>
                  <a:prstClr val="black"/>
                </a:solidFill>
                <a:latin typeface="Arial" charset="0"/>
                <a:cs typeface="Arial" charset="0"/>
              </a:rPr>
              <a:t>4</a:t>
            </a:r>
            <a:endParaRPr lang="en-US">
              <a:solidFill>
                <a:prstClr val="black"/>
              </a:solidFill>
              <a:latin typeface="Arial" charset="0"/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1609622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2"/>
          <p:cNvSpPr txBox="1">
            <a:spLocks/>
          </p:cNvSpPr>
          <p:nvPr/>
        </p:nvSpPr>
        <p:spPr>
          <a:xfrm>
            <a:off x="335494" y="731162"/>
            <a:ext cx="6543608" cy="493414"/>
          </a:xfrm>
          <a:prstGeom prst="rect">
            <a:avLst/>
          </a:prstGeom>
        </p:spPr>
        <p:txBody>
          <a:bodyPr>
            <a:normAutofit lnSpcReduction="10000"/>
          </a:bodyPr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800" b="1" dirty="0">
                <a:solidFill>
                  <a:schemeClr val="tx1"/>
                </a:solidFill>
              </a:rPr>
              <a:t>Graph Isomorphism : Negative Examples</a:t>
            </a:r>
          </a:p>
          <a:p>
            <a:pPr marL="0" indent="0">
              <a:buNone/>
            </a:pPr>
            <a:endParaRPr lang="en-US" sz="2600" b="1" dirty="0">
              <a:solidFill>
                <a:srgbClr val="FF0000"/>
              </a:solidFill>
            </a:endParaRPr>
          </a:p>
        </p:txBody>
      </p:sp>
      <p:sp>
        <p:nvSpPr>
          <p:cNvPr id="131" name="Rectangle 3" descr="Rectangle: Click to edit Master text styles&#10;Second level&#10;Third level&#10;Fourth level&#10;Fifth level">
            <a:extLst>
              <a:ext uri="{FF2B5EF4-FFF2-40B4-BE49-F238E27FC236}">
                <a16:creationId xmlns:a16="http://schemas.microsoft.com/office/drawing/2014/main" id="{9842CB0A-B129-4984-9A8F-02D38B2C2D9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A2:  1</a:t>
            </a:r>
            <a:r>
              <a:rPr kumimoji="0" lang="en-US" sz="2800" b="0" i="0" u="none" strike="noStrike" kern="1200" cap="none" spc="0" normalizeH="0" baseline="3000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st</a:t>
            </a: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graph has more edges than 2</a:t>
            </a:r>
            <a:r>
              <a:rPr kumimoji="0" lang="en-US" sz="2800" b="0" i="0" u="none" strike="noStrike" kern="1200" cap="none" spc="0" normalizeH="0" baseline="3000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nd</a:t>
            </a: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.</a:t>
            </a: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What are other answers?</a:t>
            </a: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itchFamily="2" charset="2"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Q3:  Why are the following graphs not isomorphic?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32" name="Oval 4">
            <a:extLst>
              <a:ext uri="{FF2B5EF4-FFF2-40B4-BE49-F238E27FC236}">
                <a16:creationId xmlns:a16="http://schemas.microsoft.com/office/drawing/2014/main" id="{85FE3785-50B0-49A8-B86B-62616F524C2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73275" y="4191000"/>
            <a:ext cx="76200" cy="76200"/>
          </a:xfrm>
          <a:prstGeom prst="ellipse">
            <a:avLst/>
          </a:prstGeom>
          <a:solidFill>
            <a:srgbClr val="4F81BD"/>
          </a:solidFill>
          <a:ln w="9525">
            <a:solidFill>
              <a:sysClr val="windowText" lastClr="000000"/>
            </a:solidFill>
            <a:round/>
            <a:headEnd/>
            <a:tailEnd/>
          </a:ln>
        </p:spPr>
        <p:txBody>
          <a:bodyPr wrap="none"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charset="0"/>
              <a:cs typeface="Arial" charset="0"/>
            </a:endParaRPr>
          </a:p>
        </p:txBody>
      </p:sp>
      <p:sp>
        <p:nvSpPr>
          <p:cNvPr id="133" name="Oval 5">
            <a:extLst>
              <a:ext uri="{FF2B5EF4-FFF2-40B4-BE49-F238E27FC236}">
                <a16:creationId xmlns:a16="http://schemas.microsoft.com/office/drawing/2014/main" id="{08EC3D65-7A56-4BA9-B54A-9A21E0F9BF7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87675" y="4191000"/>
            <a:ext cx="76200" cy="76200"/>
          </a:xfrm>
          <a:prstGeom prst="ellipse">
            <a:avLst/>
          </a:prstGeom>
          <a:solidFill>
            <a:srgbClr val="4F81BD"/>
          </a:solidFill>
          <a:ln w="9525">
            <a:solidFill>
              <a:sysClr val="windowText" lastClr="000000"/>
            </a:solidFill>
            <a:round/>
            <a:headEnd/>
            <a:tailEnd/>
          </a:ln>
        </p:spPr>
        <p:txBody>
          <a:bodyPr wrap="none"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charset="0"/>
              <a:cs typeface="Arial" charset="0"/>
            </a:endParaRPr>
          </a:p>
        </p:txBody>
      </p:sp>
      <p:sp>
        <p:nvSpPr>
          <p:cNvPr id="134" name="Oval 6">
            <a:extLst>
              <a:ext uri="{FF2B5EF4-FFF2-40B4-BE49-F238E27FC236}">
                <a16:creationId xmlns:a16="http://schemas.microsoft.com/office/drawing/2014/main" id="{9829DD81-7E20-400B-B652-B8446843E85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25675" y="4800600"/>
            <a:ext cx="76200" cy="76200"/>
          </a:xfrm>
          <a:prstGeom prst="ellipse">
            <a:avLst/>
          </a:prstGeom>
          <a:solidFill>
            <a:srgbClr val="4F81BD"/>
          </a:solidFill>
          <a:ln w="9525">
            <a:solidFill>
              <a:sysClr val="windowText" lastClr="000000"/>
            </a:solidFill>
            <a:round/>
            <a:headEnd/>
            <a:tailEnd/>
          </a:ln>
        </p:spPr>
        <p:txBody>
          <a:bodyPr wrap="none"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charset="0"/>
              <a:cs typeface="Arial" charset="0"/>
            </a:endParaRPr>
          </a:p>
        </p:txBody>
      </p:sp>
      <p:cxnSp>
        <p:nvCxnSpPr>
          <p:cNvPr id="135" name="AutoShape 7">
            <a:extLst>
              <a:ext uri="{FF2B5EF4-FFF2-40B4-BE49-F238E27FC236}">
                <a16:creationId xmlns:a16="http://schemas.microsoft.com/office/drawing/2014/main" id="{5E3ADC32-F2F5-4FE4-B214-D4EB63A08B45}"/>
              </a:ext>
            </a:extLst>
          </p:cNvPr>
          <p:cNvCxnSpPr>
            <a:cxnSpLocks noChangeShapeType="1"/>
            <a:stCxn id="132" idx="4"/>
            <a:endCxn id="134" idx="1"/>
          </p:cNvCxnSpPr>
          <p:nvPr/>
        </p:nvCxnSpPr>
        <p:spPr bwMode="auto">
          <a:xfrm>
            <a:off x="2111375" y="4267200"/>
            <a:ext cx="125413" cy="544513"/>
          </a:xfrm>
          <a:prstGeom prst="straightConnector1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</p:spPr>
      </p:cxnSp>
      <p:sp>
        <p:nvSpPr>
          <p:cNvPr id="136" name="Oval 8">
            <a:extLst>
              <a:ext uri="{FF2B5EF4-FFF2-40B4-BE49-F238E27FC236}">
                <a16:creationId xmlns:a16="http://schemas.microsoft.com/office/drawing/2014/main" id="{A59AB7BA-F748-4E6E-83F8-AEF40FF2651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35275" y="4800600"/>
            <a:ext cx="76200" cy="76200"/>
          </a:xfrm>
          <a:prstGeom prst="ellipse">
            <a:avLst/>
          </a:prstGeom>
          <a:solidFill>
            <a:srgbClr val="4F81BD"/>
          </a:solidFill>
          <a:ln w="9525">
            <a:solidFill>
              <a:sysClr val="windowText" lastClr="000000"/>
            </a:solidFill>
            <a:round/>
            <a:headEnd/>
            <a:tailEnd/>
          </a:ln>
        </p:spPr>
        <p:txBody>
          <a:bodyPr wrap="none"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charset="0"/>
              <a:cs typeface="Arial" charset="0"/>
            </a:endParaRPr>
          </a:p>
        </p:txBody>
      </p:sp>
      <p:cxnSp>
        <p:nvCxnSpPr>
          <p:cNvPr id="137" name="AutoShape 9">
            <a:extLst>
              <a:ext uri="{FF2B5EF4-FFF2-40B4-BE49-F238E27FC236}">
                <a16:creationId xmlns:a16="http://schemas.microsoft.com/office/drawing/2014/main" id="{BE9D778B-56B0-4132-BB30-D310076797FD}"/>
              </a:ext>
            </a:extLst>
          </p:cNvPr>
          <p:cNvCxnSpPr>
            <a:cxnSpLocks noChangeShapeType="1"/>
            <a:stCxn id="134" idx="6"/>
            <a:endCxn id="136" idx="2"/>
          </p:cNvCxnSpPr>
          <p:nvPr/>
        </p:nvCxnSpPr>
        <p:spPr bwMode="auto">
          <a:xfrm>
            <a:off x="2301875" y="4838700"/>
            <a:ext cx="533400" cy="0"/>
          </a:xfrm>
          <a:prstGeom prst="straightConnector1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</p:spPr>
      </p:cxnSp>
      <p:cxnSp>
        <p:nvCxnSpPr>
          <p:cNvPr id="138" name="AutoShape 10">
            <a:extLst>
              <a:ext uri="{FF2B5EF4-FFF2-40B4-BE49-F238E27FC236}">
                <a16:creationId xmlns:a16="http://schemas.microsoft.com/office/drawing/2014/main" id="{9966555F-D48B-4E3D-9427-55B077177400}"/>
              </a:ext>
            </a:extLst>
          </p:cNvPr>
          <p:cNvCxnSpPr>
            <a:cxnSpLocks noChangeShapeType="1"/>
            <a:stCxn id="133" idx="4"/>
            <a:endCxn id="136" idx="7"/>
          </p:cNvCxnSpPr>
          <p:nvPr/>
        </p:nvCxnSpPr>
        <p:spPr bwMode="auto">
          <a:xfrm flipH="1">
            <a:off x="2900363" y="4267200"/>
            <a:ext cx="125412" cy="544513"/>
          </a:xfrm>
          <a:prstGeom prst="straightConnector1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</p:spPr>
      </p:cxnSp>
      <p:sp>
        <p:nvSpPr>
          <p:cNvPr id="139" name="Oval 11">
            <a:extLst>
              <a:ext uri="{FF2B5EF4-FFF2-40B4-BE49-F238E27FC236}">
                <a16:creationId xmlns:a16="http://schemas.microsoft.com/office/drawing/2014/main" id="{8D745D1A-6E24-4228-BD28-5A9BBF9DCB8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30475" y="3886200"/>
            <a:ext cx="76200" cy="76200"/>
          </a:xfrm>
          <a:prstGeom prst="ellipse">
            <a:avLst/>
          </a:prstGeom>
          <a:solidFill>
            <a:srgbClr val="4F81BD"/>
          </a:solidFill>
          <a:ln w="9525">
            <a:solidFill>
              <a:sysClr val="windowText" lastClr="000000"/>
            </a:solidFill>
            <a:round/>
            <a:headEnd/>
            <a:tailEnd/>
          </a:ln>
        </p:spPr>
        <p:txBody>
          <a:bodyPr wrap="none"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charset="0"/>
              <a:cs typeface="Arial" charset="0"/>
            </a:endParaRPr>
          </a:p>
        </p:txBody>
      </p:sp>
      <p:cxnSp>
        <p:nvCxnSpPr>
          <p:cNvPr id="140" name="AutoShape 12">
            <a:extLst>
              <a:ext uri="{FF2B5EF4-FFF2-40B4-BE49-F238E27FC236}">
                <a16:creationId xmlns:a16="http://schemas.microsoft.com/office/drawing/2014/main" id="{C2506399-D203-46AC-B035-C171B58138DF}"/>
              </a:ext>
            </a:extLst>
          </p:cNvPr>
          <p:cNvCxnSpPr>
            <a:cxnSpLocks noChangeShapeType="1"/>
            <a:stCxn id="139" idx="2"/>
            <a:endCxn id="132" idx="7"/>
          </p:cNvCxnSpPr>
          <p:nvPr/>
        </p:nvCxnSpPr>
        <p:spPr bwMode="auto">
          <a:xfrm flipH="1">
            <a:off x="2138363" y="3924300"/>
            <a:ext cx="392112" cy="277813"/>
          </a:xfrm>
          <a:prstGeom prst="straightConnector1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</p:spPr>
      </p:cxnSp>
      <p:cxnSp>
        <p:nvCxnSpPr>
          <p:cNvPr id="141" name="AutoShape 13">
            <a:extLst>
              <a:ext uri="{FF2B5EF4-FFF2-40B4-BE49-F238E27FC236}">
                <a16:creationId xmlns:a16="http://schemas.microsoft.com/office/drawing/2014/main" id="{D9055CF8-3D3C-4442-BC18-38980D79C9C4}"/>
              </a:ext>
            </a:extLst>
          </p:cNvPr>
          <p:cNvCxnSpPr>
            <a:cxnSpLocks noChangeShapeType="1"/>
            <a:stCxn id="139" idx="6"/>
            <a:endCxn id="133" idx="1"/>
          </p:cNvCxnSpPr>
          <p:nvPr/>
        </p:nvCxnSpPr>
        <p:spPr bwMode="auto">
          <a:xfrm>
            <a:off x="2606675" y="3924300"/>
            <a:ext cx="392113" cy="277813"/>
          </a:xfrm>
          <a:prstGeom prst="straightConnector1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</p:spPr>
      </p:cxnSp>
      <p:sp>
        <p:nvSpPr>
          <p:cNvPr id="142" name="Text Box 14">
            <a:extLst>
              <a:ext uri="{FF2B5EF4-FFF2-40B4-BE49-F238E27FC236}">
                <a16:creationId xmlns:a16="http://schemas.microsoft.com/office/drawing/2014/main" id="{73B19DB0-5451-47B2-B5C8-C62B15281DB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00200" y="3962400"/>
            <a:ext cx="465138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i="1">
                <a:solidFill>
                  <a:prstClr val="black"/>
                </a:solidFill>
                <a:latin typeface="Arial" charset="0"/>
                <a:cs typeface="Arial" charset="0"/>
              </a:rPr>
              <a:t>u</a:t>
            </a:r>
            <a:r>
              <a:rPr lang="en-US" baseline="-25000">
                <a:solidFill>
                  <a:prstClr val="black"/>
                </a:solidFill>
                <a:latin typeface="Arial" charset="0"/>
                <a:cs typeface="Arial" charset="0"/>
              </a:rPr>
              <a:t>1</a:t>
            </a:r>
          </a:p>
        </p:txBody>
      </p:sp>
      <p:sp>
        <p:nvSpPr>
          <p:cNvPr id="143" name="Text Box 15">
            <a:extLst>
              <a:ext uri="{FF2B5EF4-FFF2-40B4-BE49-F238E27FC236}">
                <a16:creationId xmlns:a16="http://schemas.microsoft.com/office/drawing/2014/main" id="{3B7595BF-876F-48F0-B421-67745ED6253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08238" y="3505200"/>
            <a:ext cx="465137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i="1">
                <a:solidFill>
                  <a:prstClr val="black"/>
                </a:solidFill>
                <a:latin typeface="Arial" charset="0"/>
                <a:cs typeface="Arial" charset="0"/>
              </a:rPr>
              <a:t>u</a:t>
            </a:r>
            <a:r>
              <a:rPr lang="en-US" baseline="-25000">
                <a:solidFill>
                  <a:prstClr val="black"/>
                </a:solidFill>
                <a:latin typeface="Arial" charset="0"/>
                <a:cs typeface="Arial" charset="0"/>
              </a:rPr>
              <a:t>2</a:t>
            </a:r>
            <a:endParaRPr lang="en-US">
              <a:solidFill>
                <a:prstClr val="black"/>
              </a:solidFill>
              <a:latin typeface="Arial" charset="0"/>
              <a:cs typeface="Arial" charset="0"/>
            </a:endParaRPr>
          </a:p>
        </p:txBody>
      </p:sp>
      <p:sp>
        <p:nvSpPr>
          <p:cNvPr id="144" name="Text Box 16">
            <a:extLst>
              <a:ext uri="{FF2B5EF4-FFF2-40B4-BE49-F238E27FC236}">
                <a16:creationId xmlns:a16="http://schemas.microsoft.com/office/drawing/2014/main" id="{BB9D959A-B196-4C36-B4DE-97036FCB566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41638" y="3810000"/>
            <a:ext cx="465137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i="1">
                <a:solidFill>
                  <a:prstClr val="black"/>
                </a:solidFill>
                <a:latin typeface="Arial" charset="0"/>
                <a:cs typeface="Arial" charset="0"/>
              </a:rPr>
              <a:t>u</a:t>
            </a:r>
            <a:r>
              <a:rPr lang="en-US" baseline="-25000">
                <a:solidFill>
                  <a:prstClr val="black"/>
                </a:solidFill>
                <a:latin typeface="Arial" charset="0"/>
                <a:cs typeface="Arial" charset="0"/>
              </a:rPr>
              <a:t>3</a:t>
            </a:r>
            <a:endParaRPr lang="en-US">
              <a:solidFill>
                <a:prstClr val="black"/>
              </a:solidFill>
              <a:latin typeface="Arial" charset="0"/>
              <a:cs typeface="Arial" charset="0"/>
            </a:endParaRPr>
          </a:p>
        </p:txBody>
      </p:sp>
      <p:sp>
        <p:nvSpPr>
          <p:cNvPr id="145" name="Text Box 17">
            <a:extLst>
              <a:ext uri="{FF2B5EF4-FFF2-40B4-BE49-F238E27FC236}">
                <a16:creationId xmlns:a16="http://schemas.microsoft.com/office/drawing/2014/main" id="{C16183D0-7F2A-4149-98DA-E5277C8FEA0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44663" y="4648200"/>
            <a:ext cx="465137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i="1">
                <a:solidFill>
                  <a:prstClr val="black"/>
                </a:solidFill>
                <a:latin typeface="Arial" charset="0"/>
                <a:cs typeface="Arial" charset="0"/>
              </a:rPr>
              <a:t>u</a:t>
            </a:r>
            <a:r>
              <a:rPr lang="en-US" baseline="-25000">
                <a:solidFill>
                  <a:prstClr val="black"/>
                </a:solidFill>
                <a:latin typeface="Arial" charset="0"/>
                <a:cs typeface="Arial" charset="0"/>
              </a:rPr>
              <a:t>5</a:t>
            </a:r>
            <a:endParaRPr lang="en-US">
              <a:solidFill>
                <a:prstClr val="black"/>
              </a:solidFill>
              <a:latin typeface="Arial" charset="0"/>
              <a:cs typeface="Arial" charset="0"/>
            </a:endParaRPr>
          </a:p>
        </p:txBody>
      </p:sp>
      <p:sp>
        <p:nvSpPr>
          <p:cNvPr id="146" name="Text Box 18">
            <a:extLst>
              <a:ext uri="{FF2B5EF4-FFF2-40B4-BE49-F238E27FC236}">
                <a16:creationId xmlns:a16="http://schemas.microsoft.com/office/drawing/2014/main" id="{A9533ABF-20B2-441F-9DC8-2A188CBF2C4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95600" y="4572000"/>
            <a:ext cx="465138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i="1">
                <a:solidFill>
                  <a:prstClr val="black"/>
                </a:solidFill>
                <a:latin typeface="Arial" charset="0"/>
                <a:cs typeface="Arial" charset="0"/>
              </a:rPr>
              <a:t>u</a:t>
            </a:r>
            <a:r>
              <a:rPr lang="en-US" baseline="-25000">
                <a:solidFill>
                  <a:prstClr val="black"/>
                </a:solidFill>
                <a:latin typeface="Arial" charset="0"/>
                <a:cs typeface="Arial" charset="0"/>
              </a:rPr>
              <a:t>4</a:t>
            </a:r>
            <a:endParaRPr lang="en-US">
              <a:solidFill>
                <a:prstClr val="black"/>
              </a:solidFill>
              <a:latin typeface="Arial" charset="0"/>
              <a:cs typeface="Arial" charset="0"/>
            </a:endParaRPr>
          </a:p>
        </p:txBody>
      </p:sp>
      <p:sp>
        <p:nvSpPr>
          <p:cNvPr id="147" name="Oval 19">
            <a:extLst>
              <a:ext uri="{FF2B5EF4-FFF2-40B4-BE49-F238E27FC236}">
                <a16:creationId xmlns:a16="http://schemas.microsoft.com/office/drawing/2014/main" id="{96DC2FA2-B830-4DF8-88B8-2941CAC372B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76900" y="4191000"/>
            <a:ext cx="76200" cy="76200"/>
          </a:xfrm>
          <a:prstGeom prst="ellipse">
            <a:avLst/>
          </a:prstGeom>
          <a:solidFill>
            <a:srgbClr val="4F81BD"/>
          </a:solidFill>
          <a:ln w="9525">
            <a:solidFill>
              <a:sysClr val="windowText" lastClr="000000"/>
            </a:solidFill>
            <a:round/>
            <a:headEnd/>
            <a:tailEnd/>
          </a:ln>
        </p:spPr>
        <p:txBody>
          <a:bodyPr wrap="none"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charset="0"/>
              <a:cs typeface="Arial" charset="0"/>
            </a:endParaRPr>
          </a:p>
        </p:txBody>
      </p:sp>
      <p:sp>
        <p:nvSpPr>
          <p:cNvPr id="148" name="Oval 20">
            <a:extLst>
              <a:ext uri="{FF2B5EF4-FFF2-40B4-BE49-F238E27FC236}">
                <a16:creationId xmlns:a16="http://schemas.microsoft.com/office/drawing/2014/main" id="{CEC910E4-14E2-4D4D-AB64-C8A38A60229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91300" y="4191000"/>
            <a:ext cx="76200" cy="76200"/>
          </a:xfrm>
          <a:prstGeom prst="ellipse">
            <a:avLst/>
          </a:prstGeom>
          <a:solidFill>
            <a:srgbClr val="4F81BD"/>
          </a:solidFill>
          <a:ln w="9525">
            <a:solidFill>
              <a:sysClr val="windowText" lastClr="000000"/>
            </a:solidFill>
            <a:round/>
            <a:headEnd/>
            <a:tailEnd/>
          </a:ln>
        </p:spPr>
        <p:txBody>
          <a:bodyPr wrap="none"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charset="0"/>
              <a:cs typeface="Arial" charset="0"/>
            </a:endParaRPr>
          </a:p>
        </p:txBody>
      </p:sp>
      <p:sp>
        <p:nvSpPr>
          <p:cNvPr id="149" name="Oval 21">
            <a:extLst>
              <a:ext uri="{FF2B5EF4-FFF2-40B4-BE49-F238E27FC236}">
                <a16:creationId xmlns:a16="http://schemas.microsoft.com/office/drawing/2014/main" id="{8B6BAFD3-4D7D-473D-B6FB-C71E7106033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29300" y="4800600"/>
            <a:ext cx="76200" cy="76200"/>
          </a:xfrm>
          <a:prstGeom prst="ellipse">
            <a:avLst/>
          </a:prstGeom>
          <a:solidFill>
            <a:srgbClr val="4F81BD"/>
          </a:solidFill>
          <a:ln w="9525">
            <a:solidFill>
              <a:sysClr val="windowText" lastClr="000000"/>
            </a:solidFill>
            <a:round/>
            <a:headEnd/>
            <a:tailEnd/>
          </a:ln>
        </p:spPr>
        <p:txBody>
          <a:bodyPr wrap="none"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charset="0"/>
              <a:cs typeface="Arial" charset="0"/>
            </a:endParaRPr>
          </a:p>
        </p:txBody>
      </p:sp>
      <p:cxnSp>
        <p:nvCxnSpPr>
          <p:cNvPr id="150" name="AutoShape 22">
            <a:extLst>
              <a:ext uri="{FF2B5EF4-FFF2-40B4-BE49-F238E27FC236}">
                <a16:creationId xmlns:a16="http://schemas.microsoft.com/office/drawing/2014/main" id="{9AFA66C8-3C1D-41F5-B937-C65212598BD3}"/>
              </a:ext>
            </a:extLst>
          </p:cNvPr>
          <p:cNvCxnSpPr>
            <a:cxnSpLocks noChangeShapeType="1"/>
            <a:stCxn id="147" idx="4"/>
            <a:endCxn id="151" idx="1"/>
          </p:cNvCxnSpPr>
          <p:nvPr/>
        </p:nvCxnSpPr>
        <p:spPr bwMode="auto">
          <a:xfrm>
            <a:off x="5715000" y="4267200"/>
            <a:ext cx="735013" cy="544513"/>
          </a:xfrm>
          <a:prstGeom prst="straightConnector1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</p:spPr>
      </p:cxnSp>
      <p:sp>
        <p:nvSpPr>
          <p:cNvPr id="151" name="Oval 23">
            <a:extLst>
              <a:ext uri="{FF2B5EF4-FFF2-40B4-BE49-F238E27FC236}">
                <a16:creationId xmlns:a16="http://schemas.microsoft.com/office/drawing/2014/main" id="{56FDE618-0FB1-40B6-A157-BA89AFD5277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38900" y="4800600"/>
            <a:ext cx="76200" cy="76200"/>
          </a:xfrm>
          <a:prstGeom prst="ellipse">
            <a:avLst/>
          </a:prstGeom>
          <a:solidFill>
            <a:srgbClr val="4F81BD"/>
          </a:solidFill>
          <a:ln w="9525">
            <a:solidFill>
              <a:sysClr val="windowText" lastClr="000000"/>
            </a:solidFill>
            <a:round/>
            <a:headEnd/>
            <a:tailEnd/>
          </a:ln>
        </p:spPr>
        <p:txBody>
          <a:bodyPr wrap="none"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charset="0"/>
              <a:cs typeface="Arial" charset="0"/>
            </a:endParaRPr>
          </a:p>
        </p:txBody>
      </p:sp>
      <p:cxnSp>
        <p:nvCxnSpPr>
          <p:cNvPr id="152" name="AutoShape 24">
            <a:extLst>
              <a:ext uri="{FF2B5EF4-FFF2-40B4-BE49-F238E27FC236}">
                <a16:creationId xmlns:a16="http://schemas.microsoft.com/office/drawing/2014/main" id="{0F1078E9-D3F8-4AF8-9408-2D59B0137A4E}"/>
              </a:ext>
            </a:extLst>
          </p:cNvPr>
          <p:cNvCxnSpPr>
            <a:cxnSpLocks noChangeShapeType="1"/>
            <a:stCxn id="149" idx="6"/>
            <a:endCxn id="151" idx="2"/>
          </p:cNvCxnSpPr>
          <p:nvPr/>
        </p:nvCxnSpPr>
        <p:spPr bwMode="auto">
          <a:xfrm>
            <a:off x="5905500" y="4838700"/>
            <a:ext cx="533400" cy="0"/>
          </a:xfrm>
          <a:prstGeom prst="straightConnector1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</p:spPr>
      </p:cxnSp>
      <p:cxnSp>
        <p:nvCxnSpPr>
          <p:cNvPr id="153" name="AutoShape 25">
            <a:extLst>
              <a:ext uri="{FF2B5EF4-FFF2-40B4-BE49-F238E27FC236}">
                <a16:creationId xmlns:a16="http://schemas.microsoft.com/office/drawing/2014/main" id="{7527E47B-560A-44B1-A9C9-7F2D2F6E74D9}"/>
              </a:ext>
            </a:extLst>
          </p:cNvPr>
          <p:cNvCxnSpPr>
            <a:cxnSpLocks noChangeShapeType="1"/>
            <a:stCxn id="148" idx="4"/>
            <a:endCxn id="151" idx="7"/>
          </p:cNvCxnSpPr>
          <p:nvPr/>
        </p:nvCxnSpPr>
        <p:spPr bwMode="auto">
          <a:xfrm flipH="1">
            <a:off x="6503988" y="4267200"/>
            <a:ext cx="125412" cy="544513"/>
          </a:xfrm>
          <a:prstGeom prst="straightConnector1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</p:spPr>
      </p:cxnSp>
      <p:sp>
        <p:nvSpPr>
          <p:cNvPr id="154" name="Oval 26">
            <a:extLst>
              <a:ext uri="{FF2B5EF4-FFF2-40B4-BE49-F238E27FC236}">
                <a16:creationId xmlns:a16="http://schemas.microsoft.com/office/drawing/2014/main" id="{E09FF501-4FCC-4BBD-9164-6FE190710CD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34100" y="3886200"/>
            <a:ext cx="76200" cy="76200"/>
          </a:xfrm>
          <a:prstGeom prst="ellipse">
            <a:avLst/>
          </a:prstGeom>
          <a:solidFill>
            <a:srgbClr val="4F81BD"/>
          </a:solidFill>
          <a:ln w="9525">
            <a:solidFill>
              <a:sysClr val="windowText" lastClr="000000"/>
            </a:solidFill>
            <a:round/>
            <a:headEnd/>
            <a:tailEnd/>
          </a:ln>
        </p:spPr>
        <p:txBody>
          <a:bodyPr wrap="none"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charset="0"/>
              <a:cs typeface="Arial" charset="0"/>
            </a:endParaRPr>
          </a:p>
        </p:txBody>
      </p:sp>
      <p:cxnSp>
        <p:nvCxnSpPr>
          <p:cNvPr id="155" name="AutoShape 27">
            <a:extLst>
              <a:ext uri="{FF2B5EF4-FFF2-40B4-BE49-F238E27FC236}">
                <a16:creationId xmlns:a16="http://schemas.microsoft.com/office/drawing/2014/main" id="{459682FD-A320-4CB2-AF67-211FD5C9C89C}"/>
              </a:ext>
            </a:extLst>
          </p:cNvPr>
          <p:cNvCxnSpPr>
            <a:cxnSpLocks noChangeShapeType="1"/>
            <a:stCxn id="154" idx="2"/>
            <a:endCxn id="147" idx="7"/>
          </p:cNvCxnSpPr>
          <p:nvPr/>
        </p:nvCxnSpPr>
        <p:spPr bwMode="auto">
          <a:xfrm flipH="1">
            <a:off x="5741988" y="3924300"/>
            <a:ext cx="392112" cy="277813"/>
          </a:xfrm>
          <a:prstGeom prst="straightConnector1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</p:spPr>
      </p:cxnSp>
      <p:cxnSp>
        <p:nvCxnSpPr>
          <p:cNvPr id="156" name="AutoShape 28">
            <a:extLst>
              <a:ext uri="{FF2B5EF4-FFF2-40B4-BE49-F238E27FC236}">
                <a16:creationId xmlns:a16="http://schemas.microsoft.com/office/drawing/2014/main" id="{A725D373-3875-448A-96DB-95A63DE36EB5}"/>
              </a:ext>
            </a:extLst>
          </p:cNvPr>
          <p:cNvCxnSpPr>
            <a:cxnSpLocks noChangeShapeType="1"/>
            <a:stCxn id="154" idx="6"/>
            <a:endCxn id="148" idx="1"/>
          </p:cNvCxnSpPr>
          <p:nvPr/>
        </p:nvCxnSpPr>
        <p:spPr bwMode="auto">
          <a:xfrm>
            <a:off x="6210300" y="3924300"/>
            <a:ext cx="392113" cy="277813"/>
          </a:xfrm>
          <a:prstGeom prst="straightConnector1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</p:spPr>
      </p:cxnSp>
      <p:sp>
        <p:nvSpPr>
          <p:cNvPr id="157" name="Text Box 29">
            <a:extLst>
              <a:ext uri="{FF2B5EF4-FFF2-40B4-BE49-F238E27FC236}">
                <a16:creationId xmlns:a16="http://schemas.microsoft.com/office/drawing/2014/main" id="{9B4CD13B-9E88-4D0B-BAB0-39291AB908F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03825" y="3962400"/>
            <a:ext cx="447675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i="1">
                <a:solidFill>
                  <a:prstClr val="black"/>
                </a:solidFill>
                <a:latin typeface="Arial" charset="0"/>
                <a:cs typeface="Arial" charset="0"/>
              </a:rPr>
              <a:t>v</a:t>
            </a:r>
            <a:r>
              <a:rPr lang="en-US" baseline="-25000">
                <a:solidFill>
                  <a:prstClr val="black"/>
                </a:solidFill>
                <a:latin typeface="Arial" charset="0"/>
                <a:cs typeface="Arial" charset="0"/>
              </a:rPr>
              <a:t>1</a:t>
            </a:r>
          </a:p>
        </p:txBody>
      </p:sp>
      <p:sp>
        <p:nvSpPr>
          <p:cNvPr id="158" name="Text Box 30">
            <a:extLst>
              <a:ext uri="{FF2B5EF4-FFF2-40B4-BE49-F238E27FC236}">
                <a16:creationId xmlns:a16="http://schemas.microsoft.com/office/drawing/2014/main" id="{A5B9A270-0DCE-4F79-9712-F4B4AF13106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11863" y="3505200"/>
            <a:ext cx="447675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i="1">
                <a:solidFill>
                  <a:prstClr val="black"/>
                </a:solidFill>
                <a:latin typeface="Arial" charset="0"/>
                <a:cs typeface="Arial" charset="0"/>
              </a:rPr>
              <a:t>v</a:t>
            </a:r>
            <a:r>
              <a:rPr lang="en-US" baseline="-25000">
                <a:solidFill>
                  <a:prstClr val="black"/>
                </a:solidFill>
                <a:latin typeface="Arial" charset="0"/>
                <a:cs typeface="Arial" charset="0"/>
              </a:rPr>
              <a:t>2</a:t>
            </a:r>
            <a:endParaRPr lang="en-US">
              <a:solidFill>
                <a:prstClr val="black"/>
              </a:solidFill>
              <a:latin typeface="Arial" charset="0"/>
              <a:cs typeface="Arial" charset="0"/>
            </a:endParaRPr>
          </a:p>
        </p:txBody>
      </p:sp>
      <p:sp>
        <p:nvSpPr>
          <p:cNvPr id="159" name="Text Box 31">
            <a:extLst>
              <a:ext uri="{FF2B5EF4-FFF2-40B4-BE49-F238E27FC236}">
                <a16:creationId xmlns:a16="http://schemas.microsoft.com/office/drawing/2014/main" id="{BA82F311-2369-447D-A133-5DD829DD943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45263" y="3810000"/>
            <a:ext cx="447675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i="1">
                <a:solidFill>
                  <a:prstClr val="black"/>
                </a:solidFill>
                <a:latin typeface="Arial" charset="0"/>
                <a:cs typeface="Arial" charset="0"/>
              </a:rPr>
              <a:t>v</a:t>
            </a:r>
            <a:r>
              <a:rPr lang="en-US" baseline="-25000">
                <a:solidFill>
                  <a:prstClr val="black"/>
                </a:solidFill>
                <a:latin typeface="Arial" charset="0"/>
                <a:cs typeface="Arial" charset="0"/>
              </a:rPr>
              <a:t>3</a:t>
            </a:r>
            <a:endParaRPr lang="en-US">
              <a:solidFill>
                <a:prstClr val="black"/>
              </a:solidFill>
              <a:latin typeface="Arial" charset="0"/>
              <a:cs typeface="Arial" charset="0"/>
            </a:endParaRPr>
          </a:p>
        </p:txBody>
      </p:sp>
      <p:sp>
        <p:nvSpPr>
          <p:cNvPr id="160" name="Text Box 32">
            <a:extLst>
              <a:ext uri="{FF2B5EF4-FFF2-40B4-BE49-F238E27FC236}">
                <a16:creationId xmlns:a16="http://schemas.microsoft.com/office/drawing/2014/main" id="{6D2B8476-9692-4257-89C0-74F4B88D04E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48288" y="4648200"/>
            <a:ext cx="447675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i="1">
                <a:solidFill>
                  <a:prstClr val="black"/>
                </a:solidFill>
                <a:latin typeface="Arial" charset="0"/>
                <a:cs typeface="Arial" charset="0"/>
              </a:rPr>
              <a:t>v</a:t>
            </a:r>
            <a:r>
              <a:rPr lang="en-US" baseline="-25000">
                <a:solidFill>
                  <a:prstClr val="black"/>
                </a:solidFill>
                <a:latin typeface="Arial" charset="0"/>
                <a:cs typeface="Arial" charset="0"/>
              </a:rPr>
              <a:t>5</a:t>
            </a:r>
            <a:endParaRPr lang="en-US">
              <a:solidFill>
                <a:prstClr val="black"/>
              </a:solidFill>
              <a:latin typeface="Arial" charset="0"/>
              <a:cs typeface="Arial" charset="0"/>
            </a:endParaRPr>
          </a:p>
        </p:txBody>
      </p:sp>
      <p:sp>
        <p:nvSpPr>
          <p:cNvPr id="161" name="Text Box 33">
            <a:extLst>
              <a:ext uri="{FF2B5EF4-FFF2-40B4-BE49-F238E27FC236}">
                <a16:creationId xmlns:a16="http://schemas.microsoft.com/office/drawing/2014/main" id="{689B58D7-2A10-43BD-AC81-261B3DE5989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99225" y="4572000"/>
            <a:ext cx="447675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i="1">
                <a:solidFill>
                  <a:prstClr val="black"/>
                </a:solidFill>
                <a:latin typeface="Arial" charset="0"/>
                <a:cs typeface="Arial" charset="0"/>
              </a:rPr>
              <a:t>v</a:t>
            </a:r>
            <a:r>
              <a:rPr lang="en-US" baseline="-25000">
                <a:solidFill>
                  <a:prstClr val="black"/>
                </a:solidFill>
                <a:latin typeface="Arial" charset="0"/>
                <a:cs typeface="Arial" charset="0"/>
              </a:rPr>
              <a:t>4</a:t>
            </a:r>
            <a:endParaRPr lang="en-US">
              <a:solidFill>
                <a:prstClr val="black"/>
              </a:solidFill>
              <a:latin typeface="Arial" charset="0"/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3535250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2"/>
          <p:cNvSpPr txBox="1">
            <a:spLocks/>
          </p:cNvSpPr>
          <p:nvPr/>
        </p:nvSpPr>
        <p:spPr>
          <a:xfrm>
            <a:off x="335494" y="731162"/>
            <a:ext cx="6543608" cy="493414"/>
          </a:xfrm>
          <a:prstGeom prst="rect">
            <a:avLst/>
          </a:prstGeom>
        </p:spPr>
        <p:txBody>
          <a:bodyPr>
            <a:normAutofit lnSpcReduction="10000"/>
          </a:bodyPr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800" b="1" dirty="0">
                <a:solidFill>
                  <a:schemeClr val="tx1"/>
                </a:solidFill>
              </a:rPr>
              <a:t>Graph Isomorphism : Negative Examples</a:t>
            </a:r>
          </a:p>
          <a:p>
            <a:pPr marL="0" indent="0">
              <a:buNone/>
            </a:pPr>
            <a:endParaRPr lang="en-US" sz="2600" b="1" dirty="0">
              <a:solidFill>
                <a:srgbClr val="FF0000"/>
              </a:solidFill>
            </a:endParaRPr>
          </a:p>
        </p:txBody>
      </p:sp>
      <p:sp>
        <p:nvSpPr>
          <p:cNvPr id="63" name="Rectangle 3" descr="Rectangle: Click to edit Master text styles&#10;Second level&#10;Third level&#10;Fourth level&#10;Fifth level">
            <a:extLst>
              <a:ext uri="{FF2B5EF4-FFF2-40B4-BE49-F238E27FC236}">
                <a16:creationId xmlns:a16="http://schemas.microsoft.com/office/drawing/2014/main" id="{E93491DC-3CB3-4B95-8186-A0684A5B574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A3:  2</a:t>
            </a:r>
            <a:r>
              <a:rPr kumimoji="0" lang="en-US" sz="2800" b="0" i="0" u="none" strike="noStrike" kern="1200" cap="none" spc="0" normalizeH="0" baseline="3000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nd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graph has vertex of degree 1, 1</a:t>
            </a:r>
            <a:r>
              <a:rPr kumimoji="0" lang="en-US" sz="2800" b="0" i="0" u="none" strike="noStrike" kern="1200" cap="none" spc="0" normalizeH="0" baseline="3000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st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graph doesn't. So, the graphs are not isomorphic.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What are other answers?</a:t>
            </a: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None/>
              <a:tabLst/>
              <a:defRPr/>
            </a:pP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itchFamily="2" charset="2"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Q4: Why are the following graphs non-isomorphic?</a:t>
            </a:r>
          </a:p>
        </p:txBody>
      </p:sp>
      <p:sp>
        <p:nvSpPr>
          <p:cNvPr id="64" name="Oval 4">
            <a:extLst>
              <a:ext uri="{FF2B5EF4-FFF2-40B4-BE49-F238E27FC236}">
                <a16:creationId xmlns:a16="http://schemas.microsoft.com/office/drawing/2014/main" id="{05373B2B-12D7-4C74-BEC3-5E0AA04EE55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8925" y="4419600"/>
            <a:ext cx="76200" cy="76200"/>
          </a:xfrm>
          <a:prstGeom prst="ellipse">
            <a:avLst/>
          </a:prstGeom>
          <a:solidFill>
            <a:srgbClr val="4F81BD"/>
          </a:solidFill>
          <a:ln w="9525">
            <a:solidFill>
              <a:sysClr val="windowText" lastClr="000000"/>
            </a:solidFill>
            <a:round/>
            <a:headEnd/>
            <a:tailEnd/>
          </a:ln>
        </p:spPr>
        <p:txBody>
          <a:bodyPr wrap="none"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charset="0"/>
              <a:cs typeface="Arial" charset="0"/>
            </a:endParaRPr>
          </a:p>
        </p:txBody>
      </p:sp>
      <p:sp>
        <p:nvSpPr>
          <p:cNvPr id="65" name="Oval 5">
            <a:extLst>
              <a:ext uri="{FF2B5EF4-FFF2-40B4-BE49-F238E27FC236}">
                <a16:creationId xmlns:a16="http://schemas.microsoft.com/office/drawing/2014/main" id="{429618A0-30DA-49D5-8A62-C7BC0B429C8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92288" y="4419600"/>
            <a:ext cx="76200" cy="76200"/>
          </a:xfrm>
          <a:prstGeom prst="ellipse">
            <a:avLst/>
          </a:prstGeom>
          <a:solidFill>
            <a:srgbClr val="4F81BD"/>
          </a:solidFill>
          <a:ln w="9525">
            <a:solidFill>
              <a:sysClr val="windowText" lastClr="000000"/>
            </a:solidFill>
            <a:round/>
            <a:headEnd/>
            <a:tailEnd/>
          </a:ln>
        </p:spPr>
        <p:txBody>
          <a:bodyPr wrap="none"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charset="0"/>
              <a:cs typeface="Arial" charset="0"/>
            </a:endParaRPr>
          </a:p>
        </p:txBody>
      </p:sp>
      <p:sp>
        <p:nvSpPr>
          <p:cNvPr id="66" name="Oval 6">
            <a:extLst>
              <a:ext uri="{FF2B5EF4-FFF2-40B4-BE49-F238E27FC236}">
                <a16:creationId xmlns:a16="http://schemas.microsoft.com/office/drawing/2014/main" id="{17373BDC-4248-4044-803D-A80CEC9C8EA6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0600" y="5029200"/>
            <a:ext cx="76200" cy="76200"/>
          </a:xfrm>
          <a:prstGeom prst="ellipse">
            <a:avLst/>
          </a:prstGeom>
          <a:solidFill>
            <a:srgbClr val="4F81BD"/>
          </a:solidFill>
          <a:ln w="9525">
            <a:solidFill>
              <a:sysClr val="windowText" lastClr="000000"/>
            </a:solidFill>
            <a:round/>
            <a:headEnd/>
            <a:tailEnd/>
          </a:ln>
        </p:spPr>
        <p:txBody>
          <a:bodyPr wrap="none"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charset="0"/>
              <a:cs typeface="Arial" charset="0"/>
            </a:endParaRPr>
          </a:p>
        </p:txBody>
      </p:sp>
      <p:cxnSp>
        <p:nvCxnSpPr>
          <p:cNvPr id="67" name="AutoShape 7">
            <a:extLst>
              <a:ext uri="{FF2B5EF4-FFF2-40B4-BE49-F238E27FC236}">
                <a16:creationId xmlns:a16="http://schemas.microsoft.com/office/drawing/2014/main" id="{CD3F7493-9FF6-46F8-890D-10CC144ABF9E}"/>
              </a:ext>
            </a:extLst>
          </p:cNvPr>
          <p:cNvCxnSpPr>
            <a:cxnSpLocks noChangeShapeType="1"/>
            <a:stCxn id="71" idx="4"/>
            <a:endCxn id="66" idx="0"/>
          </p:cNvCxnSpPr>
          <p:nvPr/>
        </p:nvCxnSpPr>
        <p:spPr bwMode="auto">
          <a:xfrm>
            <a:off x="1028700" y="4495800"/>
            <a:ext cx="0" cy="533400"/>
          </a:xfrm>
          <a:prstGeom prst="straightConnector1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</p:spPr>
      </p:cxnSp>
      <p:sp>
        <p:nvSpPr>
          <p:cNvPr id="68" name="Oval 8">
            <a:extLst>
              <a:ext uri="{FF2B5EF4-FFF2-40B4-BE49-F238E27FC236}">
                <a16:creationId xmlns:a16="http://schemas.microsoft.com/office/drawing/2014/main" id="{790AB5DD-EC0E-4E4A-87D8-47816013155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30488" y="4419600"/>
            <a:ext cx="76200" cy="76200"/>
          </a:xfrm>
          <a:prstGeom prst="ellipse">
            <a:avLst/>
          </a:prstGeom>
          <a:solidFill>
            <a:srgbClr val="4F81BD"/>
          </a:solidFill>
          <a:ln w="9525">
            <a:solidFill>
              <a:sysClr val="windowText" lastClr="000000"/>
            </a:solidFill>
            <a:round/>
            <a:headEnd/>
            <a:tailEnd/>
          </a:ln>
        </p:spPr>
        <p:txBody>
          <a:bodyPr wrap="none"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charset="0"/>
              <a:cs typeface="Arial" charset="0"/>
            </a:endParaRPr>
          </a:p>
        </p:txBody>
      </p:sp>
      <p:cxnSp>
        <p:nvCxnSpPr>
          <p:cNvPr id="69" name="AutoShape 9">
            <a:extLst>
              <a:ext uri="{FF2B5EF4-FFF2-40B4-BE49-F238E27FC236}">
                <a16:creationId xmlns:a16="http://schemas.microsoft.com/office/drawing/2014/main" id="{47498718-20C9-4C6E-9F33-9CF20100D89F}"/>
              </a:ext>
            </a:extLst>
          </p:cNvPr>
          <p:cNvCxnSpPr>
            <a:cxnSpLocks noChangeShapeType="1"/>
            <a:stCxn id="79" idx="2"/>
            <a:endCxn id="68" idx="6"/>
          </p:cNvCxnSpPr>
          <p:nvPr/>
        </p:nvCxnSpPr>
        <p:spPr bwMode="auto">
          <a:xfrm flipH="1">
            <a:off x="2706688" y="4457700"/>
            <a:ext cx="709612" cy="0"/>
          </a:xfrm>
          <a:prstGeom prst="straightConnector1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</p:spPr>
      </p:cxnSp>
      <p:cxnSp>
        <p:nvCxnSpPr>
          <p:cNvPr id="70" name="AutoShape 10">
            <a:extLst>
              <a:ext uri="{FF2B5EF4-FFF2-40B4-BE49-F238E27FC236}">
                <a16:creationId xmlns:a16="http://schemas.microsoft.com/office/drawing/2014/main" id="{908CF8DB-65CE-4BB1-B37A-919A6A8AFD55}"/>
              </a:ext>
            </a:extLst>
          </p:cNvPr>
          <p:cNvCxnSpPr>
            <a:cxnSpLocks noChangeShapeType="1"/>
            <a:stCxn id="65" idx="6"/>
            <a:endCxn id="68" idx="2"/>
          </p:cNvCxnSpPr>
          <p:nvPr/>
        </p:nvCxnSpPr>
        <p:spPr bwMode="auto">
          <a:xfrm>
            <a:off x="1868488" y="4457700"/>
            <a:ext cx="762000" cy="0"/>
          </a:xfrm>
          <a:prstGeom prst="straightConnector1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</p:spPr>
      </p:cxnSp>
      <p:sp>
        <p:nvSpPr>
          <p:cNvPr id="71" name="Oval 11">
            <a:extLst>
              <a:ext uri="{FF2B5EF4-FFF2-40B4-BE49-F238E27FC236}">
                <a16:creationId xmlns:a16="http://schemas.microsoft.com/office/drawing/2014/main" id="{459E2349-8AA4-4C65-B781-60E05CF85003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0600" y="4419600"/>
            <a:ext cx="76200" cy="76200"/>
          </a:xfrm>
          <a:prstGeom prst="ellipse">
            <a:avLst/>
          </a:prstGeom>
          <a:solidFill>
            <a:srgbClr val="4F81BD"/>
          </a:solidFill>
          <a:ln w="9525">
            <a:solidFill>
              <a:sysClr val="windowText" lastClr="000000"/>
            </a:solidFill>
            <a:round/>
            <a:headEnd/>
            <a:tailEnd/>
          </a:ln>
        </p:spPr>
        <p:txBody>
          <a:bodyPr wrap="none"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charset="0"/>
              <a:cs typeface="Arial" charset="0"/>
            </a:endParaRPr>
          </a:p>
        </p:txBody>
      </p:sp>
      <p:cxnSp>
        <p:nvCxnSpPr>
          <p:cNvPr id="72" name="AutoShape 12">
            <a:extLst>
              <a:ext uri="{FF2B5EF4-FFF2-40B4-BE49-F238E27FC236}">
                <a16:creationId xmlns:a16="http://schemas.microsoft.com/office/drawing/2014/main" id="{0200CB7D-8629-4F08-AEB1-2966FBA6CF3C}"/>
              </a:ext>
            </a:extLst>
          </p:cNvPr>
          <p:cNvCxnSpPr>
            <a:cxnSpLocks noChangeShapeType="1"/>
            <a:stCxn id="71" idx="2"/>
            <a:endCxn id="64" idx="6"/>
          </p:cNvCxnSpPr>
          <p:nvPr/>
        </p:nvCxnSpPr>
        <p:spPr bwMode="auto">
          <a:xfrm flipH="1">
            <a:off x="365125" y="4457700"/>
            <a:ext cx="625475" cy="0"/>
          </a:xfrm>
          <a:prstGeom prst="straightConnector1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</p:spPr>
      </p:cxnSp>
      <p:cxnSp>
        <p:nvCxnSpPr>
          <p:cNvPr id="73" name="AutoShape 13">
            <a:extLst>
              <a:ext uri="{FF2B5EF4-FFF2-40B4-BE49-F238E27FC236}">
                <a16:creationId xmlns:a16="http://schemas.microsoft.com/office/drawing/2014/main" id="{DF23E2E2-C183-448F-8E33-A8084C6777AD}"/>
              </a:ext>
            </a:extLst>
          </p:cNvPr>
          <p:cNvCxnSpPr>
            <a:cxnSpLocks noChangeShapeType="1"/>
            <a:stCxn id="71" idx="6"/>
            <a:endCxn id="65" idx="2"/>
          </p:cNvCxnSpPr>
          <p:nvPr/>
        </p:nvCxnSpPr>
        <p:spPr bwMode="auto">
          <a:xfrm>
            <a:off x="1066800" y="4457700"/>
            <a:ext cx="725488" cy="0"/>
          </a:xfrm>
          <a:prstGeom prst="straightConnector1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</p:spPr>
      </p:cxnSp>
      <p:sp>
        <p:nvSpPr>
          <p:cNvPr id="74" name="Text Box 14">
            <a:extLst>
              <a:ext uri="{FF2B5EF4-FFF2-40B4-BE49-F238E27FC236}">
                <a16:creationId xmlns:a16="http://schemas.microsoft.com/office/drawing/2014/main" id="{4C6B1E18-E40A-48B0-B304-5C3F9F7DE4C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200" y="3962400"/>
            <a:ext cx="465138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i="1">
                <a:solidFill>
                  <a:prstClr val="black"/>
                </a:solidFill>
                <a:latin typeface="Arial" charset="0"/>
                <a:cs typeface="Arial" charset="0"/>
              </a:rPr>
              <a:t>u</a:t>
            </a:r>
            <a:r>
              <a:rPr lang="en-US" baseline="-25000">
                <a:solidFill>
                  <a:prstClr val="black"/>
                </a:solidFill>
                <a:latin typeface="Arial" charset="0"/>
                <a:cs typeface="Arial" charset="0"/>
              </a:rPr>
              <a:t>1</a:t>
            </a:r>
          </a:p>
        </p:txBody>
      </p:sp>
      <p:sp>
        <p:nvSpPr>
          <p:cNvPr id="75" name="Text Box 15">
            <a:extLst>
              <a:ext uri="{FF2B5EF4-FFF2-40B4-BE49-F238E27FC236}">
                <a16:creationId xmlns:a16="http://schemas.microsoft.com/office/drawing/2014/main" id="{41D4E8F4-063F-45C1-A13A-37ED28717E6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0263" y="3962400"/>
            <a:ext cx="465137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i="1" dirty="0">
                <a:solidFill>
                  <a:prstClr val="black"/>
                </a:solidFill>
                <a:latin typeface="Arial" charset="0"/>
                <a:cs typeface="Arial" charset="0"/>
              </a:rPr>
              <a:t>u</a:t>
            </a:r>
            <a:r>
              <a:rPr lang="en-US" baseline="-25000" dirty="0">
                <a:solidFill>
                  <a:prstClr val="black"/>
                </a:solidFill>
                <a:latin typeface="Arial" charset="0"/>
                <a:cs typeface="Arial" charset="0"/>
              </a:rPr>
              <a:t>2</a:t>
            </a:r>
            <a:endParaRPr lang="en-US" dirty="0">
              <a:solidFill>
                <a:prstClr val="black"/>
              </a:solidFill>
              <a:latin typeface="Arial" charset="0"/>
              <a:cs typeface="Arial" charset="0"/>
            </a:endParaRPr>
          </a:p>
        </p:txBody>
      </p:sp>
      <p:sp>
        <p:nvSpPr>
          <p:cNvPr id="76" name="Text Box 16">
            <a:extLst>
              <a:ext uri="{FF2B5EF4-FFF2-40B4-BE49-F238E27FC236}">
                <a16:creationId xmlns:a16="http://schemas.microsoft.com/office/drawing/2014/main" id="{25F91B96-6A47-4367-BB10-3F2FF423E88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16075" y="3962400"/>
            <a:ext cx="465138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i="1">
                <a:solidFill>
                  <a:prstClr val="black"/>
                </a:solidFill>
                <a:latin typeface="Arial" charset="0"/>
                <a:cs typeface="Arial" charset="0"/>
              </a:rPr>
              <a:t>u</a:t>
            </a:r>
            <a:r>
              <a:rPr lang="en-US" baseline="-25000">
                <a:solidFill>
                  <a:prstClr val="black"/>
                </a:solidFill>
                <a:latin typeface="Arial" charset="0"/>
                <a:cs typeface="Arial" charset="0"/>
              </a:rPr>
              <a:t>3</a:t>
            </a:r>
            <a:endParaRPr lang="en-US">
              <a:solidFill>
                <a:prstClr val="black"/>
              </a:solidFill>
              <a:latin typeface="Arial" charset="0"/>
              <a:cs typeface="Arial" charset="0"/>
            </a:endParaRPr>
          </a:p>
        </p:txBody>
      </p:sp>
      <p:sp>
        <p:nvSpPr>
          <p:cNvPr id="77" name="Text Box 17">
            <a:extLst>
              <a:ext uri="{FF2B5EF4-FFF2-40B4-BE49-F238E27FC236}">
                <a16:creationId xmlns:a16="http://schemas.microsoft.com/office/drawing/2014/main" id="{55285BAC-7B48-4C8A-9D05-CC329E7A819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25888" y="3962400"/>
            <a:ext cx="465137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i="1">
                <a:solidFill>
                  <a:prstClr val="black"/>
                </a:solidFill>
                <a:latin typeface="Arial" charset="0"/>
                <a:cs typeface="Arial" charset="0"/>
              </a:rPr>
              <a:t>u</a:t>
            </a:r>
            <a:r>
              <a:rPr lang="en-US" baseline="-25000">
                <a:solidFill>
                  <a:prstClr val="black"/>
                </a:solidFill>
                <a:latin typeface="Arial" charset="0"/>
                <a:cs typeface="Arial" charset="0"/>
              </a:rPr>
              <a:t>6</a:t>
            </a:r>
            <a:endParaRPr lang="en-US">
              <a:solidFill>
                <a:prstClr val="black"/>
              </a:solidFill>
              <a:latin typeface="Arial" charset="0"/>
              <a:cs typeface="Arial" charset="0"/>
            </a:endParaRPr>
          </a:p>
        </p:txBody>
      </p:sp>
      <p:sp>
        <p:nvSpPr>
          <p:cNvPr id="78" name="Text Box 18">
            <a:extLst>
              <a:ext uri="{FF2B5EF4-FFF2-40B4-BE49-F238E27FC236}">
                <a16:creationId xmlns:a16="http://schemas.microsoft.com/office/drawing/2014/main" id="{5CB56E53-90D1-43E7-AEEA-C3735F44F6A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70150" y="3962400"/>
            <a:ext cx="465138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i="1">
                <a:solidFill>
                  <a:prstClr val="black"/>
                </a:solidFill>
                <a:latin typeface="Arial" charset="0"/>
                <a:cs typeface="Arial" charset="0"/>
              </a:rPr>
              <a:t>u</a:t>
            </a:r>
            <a:r>
              <a:rPr lang="en-US" baseline="-25000">
                <a:solidFill>
                  <a:prstClr val="black"/>
                </a:solidFill>
                <a:latin typeface="Arial" charset="0"/>
                <a:cs typeface="Arial" charset="0"/>
              </a:rPr>
              <a:t>4</a:t>
            </a:r>
            <a:endParaRPr lang="en-US">
              <a:solidFill>
                <a:prstClr val="black"/>
              </a:solidFill>
              <a:latin typeface="Arial" charset="0"/>
              <a:cs typeface="Arial" charset="0"/>
            </a:endParaRPr>
          </a:p>
        </p:txBody>
      </p:sp>
      <p:sp>
        <p:nvSpPr>
          <p:cNvPr id="79" name="Oval 19">
            <a:extLst>
              <a:ext uri="{FF2B5EF4-FFF2-40B4-BE49-F238E27FC236}">
                <a16:creationId xmlns:a16="http://schemas.microsoft.com/office/drawing/2014/main" id="{45DCF2B8-6EAF-4EFE-A9A4-63490DD3C8E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16300" y="4419600"/>
            <a:ext cx="76200" cy="76200"/>
          </a:xfrm>
          <a:prstGeom prst="ellipse">
            <a:avLst/>
          </a:prstGeom>
          <a:solidFill>
            <a:srgbClr val="4F81BD"/>
          </a:solidFill>
          <a:ln w="9525">
            <a:solidFill>
              <a:sysClr val="windowText" lastClr="000000"/>
            </a:solidFill>
            <a:round/>
            <a:headEnd/>
            <a:tailEnd/>
          </a:ln>
        </p:spPr>
        <p:txBody>
          <a:bodyPr wrap="none"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charset="0"/>
              <a:cs typeface="Arial" charset="0"/>
            </a:endParaRPr>
          </a:p>
        </p:txBody>
      </p:sp>
      <p:cxnSp>
        <p:nvCxnSpPr>
          <p:cNvPr id="80" name="AutoShape 20">
            <a:extLst>
              <a:ext uri="{FF2B5EF4-FFF2-40B4-BE49-F238E27FC236}">
                <a16:creationId xmlns:a16="http://schemas.microsoft.com/office/drawing/2014/main" id="{E8970321-6386-4B7D-B40D-E63D82734F75}"/>
              </a:ext>
            </a:extLst>
          </p:cNvPr>
          <p:cNvCxnSpPr>
            <a:cxnSpLocks noChangeShapeType="1"/>
            <a:stCxn id="81" idx="0"/>
            <a:endCxn id="79" idx="4"/>
          </p:cNvCxnSpPr>
          <p:nvPr/>
        </p:nvCxnSpPr>
        <p:spPr bwMode="auto">
          <a:xfrm flipV="1">
            <a:off x="3454400" y="4495800"/>
            <a:ext cx="0" cy="533400"/>
          </a:xfrm>
          <a:prstGeom prst="straightConnector1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</p:spPr>
      </p:cxnSp>
      <p:sp>
        <p:nvSpPr>
          <p:cNvPr id="81" name="Oval 21">
            <a:extLst>
              <a:ext uri="{FF2B5EF4-FFF2-40B4-BE49-F238E27FC236}">
                <a16:creationId xmlns:a16="http://schemas.microsoft.com/office/drawing/2014/main" id="{606C0F4F-7D11-4BD3-9F65-B58E5D99D9B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16300" y="5029200"/>
            <a:ext cx="76200" cy="76200"/>
          </a:xfrm>
          <a:prstGeom prst="ellipse">
            <a:avLst/>
          </a:prstGeom>
          <a:solidFill>
            <a:srgbClr val="4F81BD"/>
          </a:solidFill>
          <a:ln w="9525">
            <a:solidFill>
              <a:sysClr val="windowText" lastClr="000000"/>
            </a:solidFill>
            <a:round/>
            <a:headEnd/>
            <a:tailEnd/>
          </a:ln>
        </p:spPr>
        <p:txBody>
          <a:bodyPr wrap="none"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charset="0"/>
              <a:cs typeface="Arial" charset="0"/>
            </a:endParaRPr>
          </a:p>
        </p:txBody>
      </p:sp>
      <p:sp>
        <p:nvSpPr>
          <p:cNvPr id="82" name="Oval 22">
            <a:extLst>
              <a:ext uri="{FF2B5EF4-FFF2-40B4-BE49-F238E27FC236}">
                <a16:creationId xmlns:a16="http://schemas.microsoft.com/office/drawing/2014/main" id="{06548259-423D-4C0D-8E0D-4CF4003E27B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54488" y="4419600"/>
            <a:ext cx="76200" cy="76200"/>
          </a:xfrm>
          <a:prstGeom prst="ellipse">
            <a:avLst/>
          </a:prstGeom>
          <a:solidFill>
            <a:srgbClr val="4F81BD"/>
          </a:solidFill>
          <a:ln w="9525">
            <a:solidFill>
              <a:sysClr val="windowText" lastClr="000000"/>
            </a:solidFill>
            <a:round/>
            <a:headEnd/>
            <a:tailEnd/>
          </a:ln>
        </p:spPr>
        <p:txBody>
          <a:bodyPr wrap="none"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charset="0"/>
              <a:cs typeface="Arial" charset="0"/>
            </a:endParaRPr>
          </a:p>
        </p:txBody>
      </p:sp>
      <p:cxnSp>
        <p:nvCxnSpPr>
          <p:cNvPr id="83" name="AutoShape 23">
            <a:extLst>
              <a:ext uri="{FF2B5EF4-FFF2-40B4-BE49-F238E27FC236}">
                <a16:creationId xmlns:a16="http://schemas.microsoft.com/office/drawing/2014/main" id="{FC29429D-ED79-4BAA-A8B9-FEDCC807B20A}"/>
              </a:ext>
            </a:extLst>
          </p:cNvPr>
          <p:cNvCxnSpPr>
            <a:cxnSpLocks noChangeShapeType="1"/>
            <a:stCxn id="82" idx="2"/>
            <a:endCxn id="79" idx="6"/>
          </p:cNvCxnSpPr>
          <p:nvPr/>
        </p:nvCxnSpPr>
        <p:spPr bwMode="auto">
          <a:xfrm flipH="1">
            <a:off x="3492500" y="4457700"/>
            <a:ext cx="661988" cy="0"/>
          </a:xfrm>
          <a:prstGeom prst="straightConnector1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</p:spPr>
      </p:cxnSp>
      <p:sp>
        <p:nvSpPr>
          <p:cNvPr id="84" name="Text Box 24">
            <a:extLst>
              <a:ext uri="{FF2B5EF4-FFF2-40B4-BE49-F238E27FC236}">
                <a16:creationId xmlns:a16="http://schemas.microsoft.com/office/drawing/2014/main" id="{B0FF4682-4D0C-4AE2-A567-006AB5BF9B2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55963" y="3962400"/>
            <a:ext cx="465137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i="1">
                <a:solidFill>
                  <a:prstClr val="black"/>
                </a:solidFill>
                <a:latin typeface="Arial" charset="0"/>
                <a:cs typeface="Arial" charset="0"/>
              </a:rPr>
              <a:t>u</a:t>
            </a:r>
            <a:r>
              <a:rPr lang="en-US" baseline="-25000">
                <a:solidFill>
                  <a:prstClr val="black"/>
                </a:solidFill>
                <a:latin typeface="Arial" charset="0"/>
                <a:cs typeface="Arial" charset="0"/>
              </a:rPr>
              <a:t>5</a:t>
            </a:r>
            <a:endParaRPr lang="en-US">
              <a:solidFill>
                <a:prstClr val="black"/>
              </a:solidFill>
              <a:latin typeface="Arial" charset="0"/>
              <a:cs typeface="Arial" charset="0"/>
            </a:endParaRPr>
          </a:p>
        </p:txBody>
      </p:sp>
      <p:sp>
        <p:nvSpPr>
          <p:cNvPr id="85" name="Text Box 25">
            <a:extLst>
              <a:ext uri="{FF2B5EF4-FFF2-40B4-BE49-F238E27FC236}">
                <a16:creationId xmlns:a16="http://schemas.microsoft.com/office/drawing/2014/main" id="{8975C654-8ED2-4395-B549-1859C7475FC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8200" y="5029200"/>
            <a:ext cx="465138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i="1">
                <a:solidFill>
                  <a:prstClr val="black"/>
                </a:solidFill>
                <a:latin typeface="Arial" charset="0"/>
                <a:cs typeface="Arial" charset="0"/>
              </a:rPr>
              <a:t>u</a:t>
            </a:r>
            <a:r>
              <a:rPr lang="en-US" baseline="-25000">
                <a:solidFill>
                  <a:prstClr val="black"/>
                </a:solidFill>
                <a:latin typeface="Arial" charset="0"/>
                <a:cs typeface="Arial" charset="0"/>
              </a:rPr>
              <a:t>7</a:t>
            </a:r>
            <a:endParaRPr lang="en-US">
              <a:solidFill>
                <a:prstClr val="black"/>
              </a:solidFill>
              <a:latin typeface="Arial" charset="0"/>
              <a:cs typeface="Arial" charset="0"/>
            </a:endParaRPr>
          </a:p>
        </p:txBody>
      </p:sp>
      <p:sp>
        <p:nvSpPr>
          <p:cNvPr id="86" name="Text Box 26">
            <a:extLst>
              <a:ext uri="{FF2B5EF4-FFF2-40B4-BE49-F238E27FC236}">
                <a16:creationId xmlns:a16="http://schemas.microsoft.com/office/drawing/2014/main" id="{78CB13FF-B66C-4CC2-840D-449D1E28293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55963" y="5029200"/>
            <a:ext cx="465137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i="1">
                <a:solidFill>
                  <a:prstClr val="black"/>
                </a:solidFill>
                <a:latin typeface="Arial" charset="0"/>
                <a:cs typeface="Arial" charset="0"/>
              </a:rPr>
              <a:t>u</a:t>
            </a:r>
            <a:r>
              <a:rPr lang="en-US" baseline="-25000">
                <a:solidFill>
                  <a:prstClr val="black"/>
                </a:solidFill>
                <a:latin typeface="Arial" charset="0"/>
                <a:cs typeface="Arial" charset="0"/>
              </a:rPr>
              <a:t>9</a:t>
            </a:r>
            <a:endParaRPr lang="en-US">
              <a:solidFill>
                <a:prstClr val="black"/>
              </a:solidFill>
              <a:latin typeface="Arial" charset="0"/>
              <a:cs typeface="Arial" charset="0"/>
            </a:endParaRPr>
          </a:p>
        </p:txBody>
      </p:sp>
      <p:sp>
        <p:nvSpPr>
          <p:cNvPr id="87" name="Oval 27">
            <a:extLst>
              <a:ext uri="{FF2B5EF4-FFF2-40B4-BE49-F238E27FC236}">
                <a16:creationId xmlns:a16="http://schemas.microsoft.com/office/drawing/2014/main" id="{474816A8-5000-4F66-8909-ADA849F2A14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97438" y="4419600"/>
            <a:ext cx="76200" cy="76200"/>
          </a:xfrm>
          <a:prstGeom prst="ellipse">
            <a:avLst/>
          </a:prstGeom>
          <a:solidFill>
            <a:srgbClr val="4F81BD"/>
          </a:solidFill>
          <a:ln w="9525">
            <a:solidFill>
              <a:sysClr val="windowText" lastClr="000000"/>
            </a:solidFill>
            <a:round/>
            <a:headEnd/>
            <a:tailEnd/>
          </a:ln>
        </p:spPr>
        <p:txBody>
          <a:bodyPr wrap="none"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charset="0"/>
              <a:cs typeface="Arial" charset="0"/>
            </a:endParaRPr>
          </a:p>
        </p:txBody>
      </p:sp>
      <p:sp>
        <p:nvSpPr>
          <p:cNvPr id="88" name="Oval 28">
            <a:extLst>
              <a:ext uri="{FF2B5EF4-FFF2-40B4-BE49-F238E27FC236}">
                <a16:creationId xmlns:a16="http://schemas.microsoft.com/office/drawing/2014/main" id="{AB90ED34-5464-46F7-A5A0-EE6BB532FF3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00800" y="4419600"/>
            <a:ext cx="76200" cy="76200"/>
          </a:xfrm>
          <a:prstGeom prst="ellipse">
            <a:avLst/>
          </a:prstGeom>
          <a:solidFill>
            <a:srgbClr val="4F81BD"/>
          </a:solidFill>
          <a:ln w="9525">
            <a:solidFill>
              <a:sysClr val="windowText" lastClr="000000"/>
            </a:solidFill>
            <a:round/>
            <a:headEnd/>
            <a:tailEnd/>
          </a:ln>
        </p:spPr>
        <p:txBody>
          <a:bodyPr wrap="none"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charset="0"/>
              <a:cs typeface="Arial" charset="0"/>
            </a:endParaRPr>
          </a:p>
        </p:txBody>
      </p:sp>
      <p:sp>
        <p:nvSpPr>
          <p:cNvPr id="89" name="Oval 29">
            <a:extLst>
              <a:ext uri="{FF2B5EF4-FFF2-40B4-BE49-F238E27FC236}">
                <a16:creationId xmlns:a16="http://schemas.microsoft.com/office/drawing/2014/main" id="{B3E9E2F4-88BA-4E55-A5F8-6FA0BD23374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99113" y="5029200"/>
            <a:ext cx="76200" cy="76200"/>
          </a:xfrm>
          <a:prstGeom prst="ellipse">
            <a:avLst/>
          </a:prstGeom>
          <a:solidFill>
            <a:srgbClr val="4F81BD"/>
          </a:solidFill>
          <a:ln w="9525">
            <a:solidFill>
              <a:sysClr val="windowText" lastClr="000000"/>
            </a:solidFill>
            <a:round/>
            <a:headEnd/>
            <a:tailEnd/>
          </a:ln>
        </p:spPr>
        <p:txBody>
          <a:bodyPr wrap="none"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charset="0"/>
              <a:cs typeface="Arial" charset="0"/>
            </a:endParaRPr>
          </a:p>
        </p:txBody>
      </p:sp>
      <p:cxnSp>
        <p:nvCxnSpPr>
          <p:cNvPr id="90" name="AutoShape 30">
            <a:extLst>
              <a:ext uri="{FF2B5EF4-FFF2-40B4-BE49-F238E27FC236}">
                <a16:creationId xmlns:a16="http://schemas.microsoft.com/office/drawing/2014/main" id="{E985770E-4EDD-4FA1-855A-C2AEBF80B9B5}"/>
              </a:ext>
            </a:extLst>
          </p:cNvPr>
          <p:cNvCxnSpPr>
            <a:cxnSpLocks noChangeShapeType="1"/>
            <a:stCxn id="94" idx="4"/>
            <a:endCxn id="89" idx="0"/>
          </p:cNvCxnSpPr>
          <p:nvPr/>
        </p:nvCxnSpPr>
        <p:spPr bwMode="auto">
          <a:xfrm>
            <a:off x="5637213" y="4495800"/>
            <a:ext cx="0" cy="533400"/>
          </a:xfrm>
          <a:prstGeom prst="straightConnector1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</p:spPr>
      </p:cxnSp>
      <p:sp>
        <p:nvSpPr>
          <p:cNvPr id="91" name="Oval 31">
            <a:extLst>
              <a:ext uri="{FF2B5EF4-FFF2-40B4-BE49-F238E27FC236}">
                <a16:creationId xmlns:a16="http://schemas.microsoft.com/office/drawing/2014/main" id="{B4D36ED5-E39A-43B7-B2EC-099BB133FC65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39000" y="4419600"/>
            <a:ext cx="76200" cy="76200"/>
          </a:xfrm>
          <a:prstGeom prst="ellipse">
            <a:avLst/>
          </a:prstGeom>
          <a:solidFill>
            <a:srgbClr val="4F81BD"/>
          </a:solidFill>
          <a:ln w="9525">
            <a:solidFill>
              <a:sysClr val="windowText" lastClr="000000"/>
            </a:solidFill>
            <a:round/>
            <a:headEnd/>
            <a:tailEnd/>
          </a:ln>
        </p:spPr>
        <p:txBody>
          <a:bodyPr wrap="none"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charset="0"/>
              <a:cs typeface="Arial" charset="0"/>
            </a:endParaRPr>
          </a:p>
        </p:txBody>
      </p:sp>
      <p:cxnSp>
        <p:nvCxnSpPr>
          <p:cNvPr id="92" name="AutoShape 32">
            <a:extLst>
              <a:ext uri="{FF2B5EF4-FFF2-40B4-BE49-F238E27FC236}">
                <a16:creationId xmlns:a16="http://schemas.microsoft.com/office/drawing/2014/main" id="{EA68061C-0B2C-492B-9CA6-59C77BD178D4}"/>
              </a:ext>
            </a:extLst>
          </p:cNvPr>
          <p:cNvCxnSpPr>
            <a:cxnSpLocks noChangeShapeType="1"/>
            <a:stCxn id="102" idx="2"/>
            <a:endCxn id="91" idx="6"/>
          </p:cNvCxnSpPr>
          <p:nvPr/>
        </p:nvCxnSpPr>
        <p:spPr bwMode="auto">
          <a:xfrm flipH="1">
            <a:off x="7315200" y="4457700"/>
            <a:ext cx="762000" cy="0"/>
          </a:xfrm>
          <a:prstGeom prst="straightConnector1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</p:spPr>
      </p:cxnSp>
      <p:cxnSp>
        <p:nvCxnSpPr>
          <p:cNvPr id="93" name="AutoShape 33">
            <a:extLst>
              <a:ext uri="{FF2B5EF4-FFF2-40B4-BE49-F238E27FC236}">
                <a16:creationId xmlns:a16="http://schemas.microsoft.com/office/drawing/2014/main" id="{D167ADCC-2C46-4767-A03D-0DF805CA4CAE}"/>
              </a:ext>
            </a:extLst>
          </p:cNvPr>
          <p:cNvCxnSpPr>
            <a:cxnSpLocks noChangeShapeType="1"/>
            <a:stCxn id="88" idx="6"/>
            <a:endCxn id="91" idx="2"/>
          </p:cNvCxnSpPr>
          <p:nvPr/>
        </p:nvCxnSpPr>
        <p:spPr bwMode="auto">
          <a:xfrm>
            <a:off x="6477000" y="4457700"/>
            <a:ext cx="762000" cy="0"/>
          </a:xfrm>
          <a:prstGeom prst="straightConnector1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</p:spPr>
      </p:cxnSp>
      <p:sp>
        <p:nvSpPr>
          <p:cNvPr id="94" name="Oval 34">
            <a:extLst>
              <a:ext uri="{FF2B5EF4-FFF2-40B4-BE49-F238E27FC236}">
                <a16:creationId xmlns:a16="http://schemas.microsoft.com/office/drawing/2014/main" id="{F48FA228-E8F3-42D8-A9BF-BF83F28A7E7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99113" y="4419600"/>
            <a:ext cx="76200" cy="76200"/>
          </a:xfrm>
          <a:prstGeom prst="ellipse">
            <a:avLst/>
          </a:prstGeom>
          <a:solidFill>
            <a:srgbClr val="4F81BD"/>
          </a:solidFill>
          <a:ln w="9525">
            <a:solidFill>
              <a:sysClr val="windowText" lastClr="000000"/>
            </a:solidFill>
            <a:round/>
            <a:headEnd/>
            <a:tailEnd/>
          </a:ln>
        </p:spPr>
        <p:txBody>
          <a:bodyPr wrap="none"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charset="0"/>
              <a:cs typeface="Arial" charset="0"/>
            </a:endParaRPr>
          </a:p>
        </p:txBody>
      </p:sp>
      <p:cxnSp>
        <p:nvCxnSpPr>
          <p:cNvPr id="95" name="AutoShape 35">
            <a:extLst>
              <a:ext uri="{FF2B5EF4-FFF2-40B4-BE49-F238E27FC236}">
                <a16:creationId xmlns:a16="http://schemas.microsoft.com/office/drawing/2014/main" id="{FAFA8D1E-2D27-4386-8264-F041BCFD253B}"/>
              </a:ext>
            </a:extLst>
          </p:cNvPr>
          <p:cNvCxnSpPr>
            <a:cxnSpLocks noChangeShapeType="1"/>
            <a:stCxn id="94" idx="2"/>
            <a:endCxn id="87" idx="6"/>
          </p:cNvCxnSpPr>
          <p:nvPr/>
        </p:nvCxnSpPr>
        <p:spPr bwMode="auto">
          <a:xfrm flipH="1">
            <a:off x="4973638" y="4457700"/>
            <a:ext cx="625475" cy="0"/>
          </a:xfrm>
          <a:prstGeom prst="straightConnector1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</p:spPr>
      </p:cxnSp>
      <p:cxnSp>
        <p:nvCxnSpPr>
          <p:cNvPr id="96" name="AutoShape 36">
            <a:extLst>
              <a:ext uri="{FF2B5EF4-FFF2-40B4-BE49-F238E27FC236}">
                <a16:creationId xmlns:a16="http://schemas.microsoft.com/office/drawing/2014/main" id="{2FB88C60-7F35-4393-942B-B9E0C32B2697}"/>
              </a:ext>
            </a:extLst>
          </p:cNvPr>
          <p:cNvCxnSpPr>
            <a:cxnSpLocks noChangeShapeType="1"/>
            <a:stCxn id="94" idx="6"/>
            <a:endCxn id="88" idx="2"/>
          </p:cNvCxnSpPr>
          <p:nvPr/>
        </p:nvCxnSpPr>
        <p:spPr bwMode="auto">
          <a:xfrm>
            <a:off x="5675313" y="4457700"/>
            <a:ext cx="725487" cy="0"/>
          </a:xfrm>
          <a:prstGeom prst="straightConnector1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</p:spPr>
      </p:cxnSp>
      <p:sp>
        <p:nvSpPr>
          <p:cNvPr id="97" name="Text Box 37">
            <a:extLst>
              <a:ext uri="{FF2B5EF4-FFF2-40B4-BE49-F238E27FC236}">
                <a16:creationId xmlns:a16="http://schemas.microsoft.com/office/drawing/2014/main" id="{6DE15B37-D382-443C-8C2C-7C47384F5EB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45038" y="3962400"/>
            <a:ext cx="447675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i="1">
                <a:solidFill>
                  <a:prstClr val="black"/>
                </a:solidFill>
                <a:latin typeface="Arial" charset="0"/>
                <a:cs typeface="Arial" charset="0"/>
              </a:rPr>
              <a:t>v</a:t>
            </a:r>
            <a:r>
              <a:rPr lang="en-US" baseline="-25000">
                <a:solidFill>
                  <a:prstClr val="black"/>
                </a:solidFill>
                <a:latin typeface="Arial" charset="0"/>
                <a:cs typeface="Arial" charset="0"/>
              </a:rPr>
              <a:t>1</a:t>
            </a:r>
          </a:p>
        </p:txBody>
      </p:sp>
      <p:sp>
        <p:nvSpPr>
          <p:cNvPr id="98" name="Text Box 38">
            <a:extLst>
              <a:ext uri="{FF2B5EF4-FFF2-40B4-BE49-F238E27FC236}">
                <a16:creationId xmlns:a16="http://schemas.microsoft.com/office/drawing/2014/main" id="{3D40F459-6BD0-41FC-8E00-3FF48079035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38775" y="3962400"/>
            <a:ext cx="447675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i="1">
                <a:solidFill>
                  <a:prstClr val="black"/>
                </a:solidFill>
                <a:latin typeface="Arial" charset="0"/>
                <a:cs typeface="Arial" charset="0"/>
              </a:rPr>
              <a:t>v</a:t>
            </a:r>
            <a:r>
              <a:rPr lang="en-US" baseline="-25000">
                <a:solidFill>
                  <a:prstClr val="black"/>
                </a:solidFill>
                <a:latin typeface="Arial" charset="0"/>
                <a:cs typeface="Arial" charset="0"/>
              </a:rPr>
              <a:t>2</a:t>
            </a:r>
            <a:endParaRPr lang="en-US">
              <a:solidFill>
                <a:prstClr val="black"/>
              </a:solidFill>
              <a:latin typeface="Arial" charset="0"/>
              <a:cs typeface="Arial" charset="0"/>
            </a:endParaRPr>
          </a:p>
        </p:txBody>
      </p:sp>
      <p:sp>
        <p:nvSpPr>
          <p:cNvPr id="99" name="Text Box 39">
            <a:extLst>
              <a:ext uri="{FF2B5EF4-FFF2-40B4-BE49-F238E27FC236}">
                <a16:creationId xmlns:a16="http://schemas.microsoft.com/office/drawing/2014/main" id="{584E4844-DA78-433D-B9F6-3CB198D0149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24588" y="3962400"/>
            <a:ext cx="465137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i="1">
                <a:solidFill>
                  <a:prstClr val="black"/>
                </a:solidFill>
                <a:latin typeface="Arial" charset="0"/>
                <a:cs typeface="Arial" charset="0"/>
              </a:rPr>
              <a:t>v</a:t>
            </a:r>
            <a:r>
              <a:rPr lang="en-US" baseline="-25000">
                <a:solidFill>
                  <a:prstClr val="black"/>
                </a:solidFill>
                <a:latin typeface="Arial" charset="0"/>
                <a:cs typeface="Arial" charset="0"/>
              </a:rPr>
              <a:t>3</a:t>
            </a:r>
            <a:endParaRPr lang="en-US">
              <a:solidFill>
                <a:prstClr val="black"/>
              </a:solidFill>
              <a:latin typeface="Arial" charset="0"/>
              <a:cs typeface="Arial" charset="0"/>
            </a:endParaRPr>
          </a:p>
        </p:txBody>
      </p:sp>
      <p:sp>
        <p:nvSpPr>
          <p:cNvPr id="100" name="Text Box 40">
            <a:extLst>
              <a:ext uri="{FF2B5EF4-FFF2-40B4-BE49-F238E27FC236}">
                <a16:creationId xmlns:a16="http://schemas.microsoft.com/office/drawing/2014/main" id="{672A9180-4A14-4191-9A9A-AA2A3B0EE85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602663" y="3962400"/>
            <a:ext cx="447675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i="1">
                <a:solidFill>
                  <a:prstClr val="black"/>
                </a:solidFill>
                <a:latin typeface="Arial" charset="0"/>
                <a:cs typeface="Arial" charset="0"/>
              </a:rPr>
              <a:t>v</a:t>
            </a:r>
            <a:r>
              <a:rPr lang="en-US" baseline="-25000">
                <a:solidFill>
                  <a:prstClr val="black"/>
                </a:solidFill>
                <a:latin typeface="Arial" charset="0"/>
                <a:cs typeface="Arial" charset="0"/>
              </a:rPr>
              <a:t>6</a:t>
            </a:r>
            <a:endParaRPr lang="en-US">
              <a:solidFill>
                <a:prstClr val="black"/>
              </a:solidFill>
              <a:latin typeface="Arial" charset="0"/>
              <a:cs typeface="Arial" charset="0"/>
            </a:endParaRPr>
          </a:p>
        </p:txBody>
      </p:sp>
      <p:sp>
        <p:nvSpPr>
          <p:cNvPr id="101" name="Text Box 41">
            <a:extLst>
              <a:ext uri="{FF2B5EF4-FFF2-40B4-BE49-F238E27FC236}">
                <a16:creationId xmlns:a16="http://schemas.microsoft.com/office/drawing/2014/main" id="{D27B8B0B-B8A3-4240-9D5A-5825698E364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78663" y="3962400"/>
            <a:ext cx="447675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i="1">
                <a:solidFill>
                  <a:prstClr val="black"/>
                </a:solidFill>
                <a:latin typeface="Arial" charset="0"/>
                <a:cs typeface="Arial" charset="0"/>
              </a:rPr>
              <a:t>v</a:t>
            </a:r>
            <a:r>
              <a:rPr lang="en-US" baseline="-25000">
                <a:solidFill>
                  <a:prstClr val="black"/>
                </a:solidFill>
                <a:latin typeface="Arial" charset="0"/>
                <a:cs typeface="Arial" charset="0"/>
              </a:rPr>
              <a:t>4</a:t>
            </a:r>
            <a:endParaRPr lang="en-US">
              <a:solidFill>
                <a:prstClr val="black"/>
              </a:solidFill>
              <a:latin typeface="Arial" charset="0"/>
              <a:cs typeface="Arial" charset="0"/>
            </a:endParaRPr>
          </a:p>
        </p:txBody>
      </p:sp>
      <p:sp>
        <p:nvSpPr>
          <p:cNvPr id="102" name="Oval 42">
            <a:extLst>
              <a:ext uri="{FF2B5EF4-FFF2-40B4-BE49-F238E27FC236}">
                <a16:creationId xmlns:a16="http://schemas.microsoft.com/office/drawing/2014/main" id="{5F23A083-A007-4115-A396-BD4701A45E82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77200" y="4419600"/>
            <a:ext cx="76200" cy="76200"/>
          </a:xfrm>
          <a:prstGeom prst="ellipse">
            <a:avLst/>
          </a:prstGeom>
          <a:solidFill>
            <a:srgbClr val="4F81BD"/>
          </a:solidFill>
          <a:ln w="9525">
            <a:solidFill>
              <a:sysClr val="windowText" lastClr="000000"/>
            </a:solidFill>
            <a:round/>
            <a:headEnd/>
            <a:tailEnd/>
          </a:ln>
        </p:spPr>
        <p:txBody>
          <a:bodyPr wrap="none"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charset="0"/>
              <a:cs typeface="Arial" charset="0"/>
            </a:endParaRPr>
          </a:p>
        </p:txBody>
      </p:sp>
      <p:cxnSp>
        <p:nvCxnSpPr>
          <p:cNvPr id="103" name="AutoShape 43">
            <a:extLst>
              <a:ext uri="{FF2B5EF4-FFF2-40B4-BE49-F238E27FC236}">
                <a16:creationId xmlns:a16="http://schemas.microsoft.com/office/drawing/2014/main" id="{1E490F4C-E14D-404D-A804-1FE9454C9737}"/>
              </a:ext>
            </a:extLst>
          </p:cNvPr>
          <p:cNvCxnSpPr>
            <a:cxnSpLocks noChangeShapeType="1"/>
            <a:stCxn id="104" idx="0"/>
            <a:endCxn id="91" idx="4"/>
          </p:cNvCxnSpPr>
          <p:nvPr/>
        </p:nvCxnSpPr>
        <p:spPr bwMode="auto">
          <a:xfrm flipV="1">
            <a:off x="7277100" y="4495800"/>
            <a:ext cx="0" cy="533400"/>
          </a:xfrm>
          <a:prstGeom prst="straightConnector1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</p:spPr>
      </p:cxnSp>
      <p:sp>
        <p:nvSpPr>
          <p:cNvPr id="104" name="Oval 44">
            <a:extLst>
              <a:ext uri="{FF2B5EF4-FFF2-40B4-BE49-F238E27FC236}">
                <a16:creationId xmlns:a16="http://schemas.microsoft.com/office/drawing/2014/main" id="{1213DFDE-24F5-49AA-B0A5-DC6BD1E6CFA7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39000" y="5029200"/>
            <a:ext cx="76200" cy="76200"/>
          </a:xfrm>
          <a:prstGeom prst="ellipse">
            <a:avLst/>
          </a:prstGeom>
          <a:solidFill>
            <a:srgbClr val="4F81BD"/>
          </a:solidFill>
          <a:ln w="9525">
            <a:solidFill>
              <a:sysClr val="windowText" lastClr="000000"/>
            </a:solidFill>
            <a:round/>
            <a:headEnd/>
            <a:tailEnd/>
          </a:ln>
        </p:spPr>
        <p:txBody>
          <a:bodyPr wrap="none"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charset="0"/>
              <a:cs typeface="Arial" charset="0"/>
            </a:endParaRPr>
          </a:p>
        </p:txBody>
      </p:sp>
      <p:sp>
        <p:nvSpPr>
          <p:cNvPr id="105" name="Oval 45">
            <a:extLst>
              <a:ext uri="{FF2B5EF4-FFF2-40B4-BE49-F238E27FC236}">
                <a16:creationId xmlns:a16="http://schemas.microsoft.com/office/drawing/2014/main" id="{677D64A3-CCAF-4FB3-9996-D4BE49854946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31263" y="4419600"/>
            <a:ext cx="76200" cy="76200"/>
          </a:xfrm>
          <a:prstGeom prst="ellipse">
            <a:avLst/>
          </a:prstGeom>
          <a:solidFill>
            <a:srgbClr val="4F81BD"/>
          </a:solidFill>
          <a:ln w="9525">
            <a:solidFill>
              <a:sysClr val="windowText" lastClr="000000"/>
            </a:solidFill>
            <a:round/>
            <a:headEnd/>
            <a:tailEnd/>
          </a:ln>
        </p:spPr>
        <p:txBody>
          <a:bodyPr wrap="none"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charset="0"/>
              <a:cs typeface="Arial" charset="0"/>
            </a:endParaRPr>
          </a:p>
        </p:txBody>
      </p:sp>
      <p:cxnSp>
        <p:nvCxnSpPr>
          <p:cNvPr id="106" name="AutoShape 46">
            <a:extLst>
              <a:ext uri="{FF2B5EF4-FFF2-40B4-BE49-F238E27FC236}">
                <a16:creationId xmlns:a16="http://schemas.microsoft.com/office/drawing/2014/main" id="{4911DA4A-CB3B-47AC-BD10-E250B2D9F07C}"/>
              </a:ext>
            </a:extLst>
          </p:cNvPr>
          <p:cNvCxnSpPr>
            <a:cxnSpLocks noChangeShapeType="1"/>
            <a:stCxn id="105" idx="2"/>
            <a:endCxn id="102" idx="6"/>
          </p:cNvCxnSpPr>
          <p:nvPr/>
        </p:nvCxnSpPr>
        <p:spPr bwMode="auto">
          <a:xfrm flipH="1">
            <a:off x="8153400" y="4457700"/>
            <a:ext cx="677863" cy="0"/>
          </a:xfrm>
          <a:prstGeom prst="straightConnector1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</p:spPr>
      </p:cxnSp>
      <p:sp>
        <p:nvSpPr>
          <p:cNvPr id="107" name="Text Box 47">
            <a:extLst>
              <a:ext uri="{FF2B5EF4-FFF2-40B4-BE49-F238E27FC236}">
                <a16:creationId xmlns:a16="http://schemas.microsoft.com/office/drawing/2014/main" id="{15944DDB-03E3-4DA9-980C-D7993544203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916863" y="3962400"/>
            <a:ext cx="447675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i="1">
                <a:solidFill>
                  <a:prstClr val="black"/>
                </a:solidFill>
                <a:latin typeface="Arial" charset="0"/>
                <a:cs typeface="Arial" charset="0"/>
              </a:rPr>
              <a:t>v</a:t>
            </a:r>
            <a:r>
              <a:rPr lang="en-US" baseline="-25000">
                <a:solidFill>
                  <a:prstClr val="black"/>
                </a:solidFill>
                <a:latin typeface="Arial" charset="0"/>
                <a:cs typeface="Arial" charset="0"/>
              </a:rPr>
              <a:t>5</a:t>
            </a:r>
            <a:endParaRPr lang="en-US">
              <a:solidFill>
                <a:prstClr val="black"/>
              </a:solidFill>
              <a:latin typeface="Arial" charset="0"/>
              <a:cs typeface="Arial" charset="0"/>
            </a:endParaRPr>
          </a:p>
        </p:txBody>
      </p:sp>
      <p:sp>
        <p:nvSpPr>
          <p:cNvPr id="108" name="Text Box 48">
            <a:extLst>
              <a:ext uri="{FF2B5EF4-FFF2-40B4-BE49-F238E27FC236}">
                <a16:creationId xmlns:a16="http://schemas.microsoft.com/office/drawing/2014/main" id="{20F7C59D-477D-4942-B48C-9B7B8B3845B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46713" y="5029200"/>
            <a:ext cx="447675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i="1">
                <a:solidFill>
                  <a:prstClr val="black"/>
                </a:solidFill>
                <a:latin typeface="Arial" charset="0"/>
                <a:cs typeface="Arial" charset="0"/>
              </a:rPr>
              <a:t>v</a:t>
            </a:r>
            <a:r>
              <a:rPr lang="en-US" baseline="-25000">
                <a:solidFill>
                  <a:prstClr val="black"/>
                </a:solidFill>
                <a:latin typeface="Arial" charset="0"/>
                <a:cs typeface="Arial" charset="0"/>
              </a:rPr>
              <a:t>7</a:t>
            </a:r>
            <a:endParaRPr lang="en-US">
              <a:solidFill>
                <a:prstClr val="black"/>
              </a:solidFill>
              <a:latin typeface="Arial" charset="0"/>
              <a:cs typeface="Arial" charset="0"/>
            </a:endParaRPr>
          </a:p>
        </p:txBody>
      </p:sp>
      <p:sp>
        <p:nvSpPr>
          <p:cNvPr id="109" name="Text Box 49">
            <a:extLst>
              <a:ext uri="{FF2B5EF4-FFF2-40B4-BE49-F238E27FC236}">
                <a16:creationId xmlns:a16="http://schemas.microsoft.com/office/drawing/2014/main" id="{5ACADCE2-440C-4219-8E39-7B1F502E78F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86600" y="5029200"/>
            <a:ext cx="447675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i="1">
                <a:solidFill>
                  <a:prstClr val="black"/>
                </a:solidFill>
                <a:latin typeface="Arial" charset="0"/>
                <a:cs typeface="Arial" charset="0"/>
              </a:rPr>
              <a:t>v</a:t>
            </a:r>
            <a:r>
              <a:rPr lang="en-US" baseline="-25000">
                <a:solidFill>
                  <a:prstClr val="black"/>
                </a:solidFill>
                <a:latin typeface="Arial" charset="0"/>
                <a:cs typeface="Arial" charset="0"/>
              </a:rPr>
              <a:t>8</a:t>
            </a:r>
            <a:endParaRPr lang="en-US">
              <a:solidFill>
                <a:prstClr val="black"/>
              </a:solidFill>
              <a:latin typeface="Arial" charset="0"/>
              <a:cs typeface="Arial" charset="0"/>
            </a:endParaRPr>
          </a:p>
        </p:txBody>
      </p:sp>
      <p:cxnSp>
        <p:nvCxnSpPr>
          <p:cNvPr id="110" name="AutoShape 50">
            <a:extLst>
              <a:ext uri="{FF2B5EF4-FFF2-40B4-BE49-F238E27FC236}">
                <a16:creationId xmlns:a16="http://schemas.microsoft.com/office/drawing/2014/main" id="{CCEFF4F1-56EA-45EF-B5E5-E1ED688AA01A}"/>
              </a:ext>
            </a:extLst>
          </p:cNvPr>
          <p:cNvCxnSpPr>
            <a:cxnSpLocks noChangeShapeType="1"/>
            <a:stCxn id="111" idx="0"/>
            <a:endCxn id="102" idx="4"/>
          </p:cNvCxnSpPr>
          <p:nvPr/>
        </p:nvCxnSpPr>
        <p:spPr bwMode="auto">
          <a:xfrm flipV="1">
            <a:off x="8115300" y="4495800"/>
            <a:ext cx="0" cy="533400"/>
          </a:xfrm>
          <a:prstGeom prst="straightConnector1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</p:spPr>
      </p:cxnSp>
      <p:sp>
        <p:nvSpPr>
          <p:cNvPr id="111" name="Oval 51">
            <a:extLst>
              <a:ext uri="{FF2B5EF4-FFF2-40B4-BE49-F238E27FC236}">
                <a16:creationId xmlns:a16="http://schemas.microsoft.com/office/drawing/2014/main" id="{30003F73-1FD1-4D4E-8D3F-F363D064AEFE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77200" y="5029200"/>
            <a:ext cx="76200" cy="76200"/>
          </a:xfrm>
          <a:prstGeom prst="ellipse">
            <a:avLst/>
          </a:prstGeom>
          <a:solidFill>
            <a:srgbClr val="4F81BD"/>
          </a:solidFill>
          <a:ln w="9525">
            <a:solidFill>
              <a:sysClr val="windowText" lastClr="000000"/>
            </a:solidFill>
            <a:round/>
            <a:headEnd/>
            <a:tailEnd/>
          </a:ln>
        </p:spPr>
        <p:txBody>
          <a:bodyPr wrap="none"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charset="0"/>
              <a:cs typeface="Arial" charset="0"/>
            </a:endParaRPr>
          </a:p>
        </p:txBody>
      </p:sp>
      <p:sp>
        <p:nvSpPr>
          <p:cNvPr id="112" name="Text Box 52">
            <a:extLst>
              <a:ext uri="{FF2B5EF4-FFF2-40B4-BE49-F238E27FC236}">
                <a16:creationId xmlns:a16="http://schemas.microsoft.com/office/drawing/2014/main" id="{BFEEF4A9-6C47-4C32-AE6F-D4A4D67AE49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924800" y="5029200"/>
            <a:ext cx="447675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i="1">
                <a:solidFill>
                  <a:prstClr val="black"/>
                </a:solidFill>
                <a:latin typeface="Arial" charset="0"/>
                <a:cs typeface="Arial" charset="0"/>
              </a:rPr>
              <a:t>v</a:t>
            </a:r>
            <a:r>
              <a:rPr lang="en-US" baseline="-25000">
                <a:solidFill>
                  <a:prstClr val="black"/>
                </a:solidFill>
                <a:latin typeface="Arial" charset="0"/>
                <a:cs typeface="Arial" charset="0"/>
              </a:rPr>
              <a:t>9</a:t>
            </a:r>
            <a:endParaRPr lang="en-US">
              <a:solidFill>
                <a:prstClr val="black"/>
              </a:solidFill>
              <a:latin typeface="Arial" charset="0"/>
              <a:cs typeface="Arial" charset="0"/>
            </a:endParaRPr>
          </a:p>
        </p:txBody>
      </p:sp>
      <p:cxnSp>
        <p:nvCxnSpPr>
          <p:cNvPr id="113" name="AutoShape 53">
            <a:extLst>
              <a:ext uri="{FF2B5EF4-FFF2-40B4-BE49-F238E27FC236}">
                <a16:creationId xmlns:a16="http://schemas.microsoft.com/office/drawing/2014/main" id="{650F8D9E-0C49-414B-8376-707F2352CF9F}"/>
              </a:ext>
            </a:extLst>
          </p:cNvPr>
          <p:cNvCxnSpPr>
            <a:cxnSpLocks noChangeShapeType="1"/>
            <a:stCxn id="104" idx="6"/>
            <a:endCxn id="111" idx="2"/>
          </p:cNvCxnSpPr>
          <p:nvPr/>
        </p:nvCxnSpPr>
        <p:spPr bwMode="auto">
          <a:xfrm>
            <a:off x="7315200" y="5067300"/>
            <a:ext cx="762000" cy="0"/>
          </a:xfrm>
          <a:prstGeom prst="straightConnector1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</p:spPr>
      </p:cxnSp>
      <p:sp>
        <p:nvSpPr>
          <p:cNvPr id="114" name="Oval 54">
            <a:extLst>
              <a:ext uri="{FF2B5EF4-FFF2-40B4-BE49-F238E27FC236}">
                <a16:creationId xmlns:a16="http://schemas.microsoft.com/office/drawing/2014/main" id="{48787C41-2D68-4E7A-BFF5-6C9EA9234F5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90700" y="5029200"/>
            <a:ext cx="76200" cy="80963"/>
          </a:xfrm>
          <a:prstGeom prst="ellipse">
            <a:avLst/>
          </a:prstGeom>
          <a:solidFill>
            <a:srgbClr val="4F81BD"/>
          </a:solidFill>
          <a:ln w="9525">
            <a:solidFill>
              <a:sysClr val="windowText" lastClr="000000"/>
            </a:solidFill>
            <a:round/>
            <a:headEnd/>
            <a:tailEnd/>
          </a:ln>
        </p:spPr>
        <p:txBody>
          <a:bodyPr wrap="none"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charset="0"/>
              <a:cs typeface="Arial" charset="0"/>
            </a:endParaRPr>
          </a:p>
        </p:txBody>
      </p:sp>
      <p:sp>
        <p:nvSpPr>
          <p:cNvPr id="115" name="Text Box 55">
            <a:extLst>
              <a:ext uri="{FF2B5EF4-FFF2-40B4-BE49-F238E27FC236}">
                <a16:creationId xmlns:a16="http://schemas.microsoft.com/office/drawing/2014/main" id="{2823D676-D476-4FF6-B1C2-C755BC4F676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30363" y="5029200"/>
            <a:ext cx="465137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i="1">
                <a:solidFill>
                  <a:prstClr val="black"/>
                </a:solidFill>
                <a:latin typeface="Arial" charset="0"/>
                <a:cs typeface="Arial" charset="0"/>
              </a:rPr>
              <a:t>u</a:t>
            </a:r>
            <a:r>
              <a:rPr lang="en-US" baseline="-25000">
                <a:solidFill>
                  <a:prstClr val="black"/>
                </a:solidFill>
                <a:latin typeface="Arial" charset="0"/>
                <a:cs typeface="Arial" charset="0"/>
              </a:rPr>
              <a:t>8</a:t>
            </a:r>
            <a:endParaRPr lang="en-US">
              <a:solidFill>
                <a:prstClr val="black"/>
              </a:solidFill>
              <a:latin typeface="Arial" charset="0"/>
              <a:cs typeface="Arial" charset="0"/>
            </a:endParaRPr>
          </a:p>
        </p:txBody>
      </p:sp>
      <p:cxnSp>
        <p:nvCxnSpPr>
          <p:cNvPr id="116" name="AutoShape 56">
            <a:extLst>
              <a:ext uri="{FF2B5EF4-FFF2-40B4-BE49-F238E27FC236}">
                <a16:creationId xmlns:a16="http://schemas.microsoft.com/office/drawing/2014/main" id="{1F916255-5A2D-49D3-A61A-E365362D335A}"/>
              </a:ext>
            </a:extLst>
          </p:cNvPr>
          <p:cNvCxnSpPr>
            <a:cxnSpLocks noChangeShapeType="1"/>
            <a:stCxn id="66" idx="6"/>
            <a:endCxn id="114" idx="2"/>
          </p:cNvCxnSpPr>
          <p:nvPr/>
        </p:nvCxnSpPr>
        <p:spPr bwMode="auto">
          <a:xfrm>
            <a:off x="1066800" y="5067300"/>
            <a:ext cx="723900" cy="3175"/>
          </a:xfrm>
          <a:prstGeom prst="straightConnector1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</p:spPr>
      </p:cxnSp>
      <p:cxnSp>
        <p:nvCxnSpPr>
          <p:cNvPr id="117" name="AutoShape 57">
            <a:extLst>
              <a:ext uri="{FF2B5EF4-FFF2-40B4-BE49-F238E27FC236}">
                <a16:creationId xmlns:a16="http://schemas.microsoft.com/office/drawing/2014/main" id="{8372F9BF-9706-449D-99D0-45865EEB61C6}"/>
              </a:ext>
            </a:extLst>
          </p:cNvPr>
          <p:cNvCxnSpPr>
            <a:cxnSpLocks noChangeShapeType="1"/>
            <a:stCxn id="86" idx="0"/>
            <a:endCxn id="82" idx="3"/>
          </p:cNvCxnSpPr>
          <p:nvPr/>
        </p:nvCxnSpPr>
        <p:spPr bwMode="auto">
          <a:xfrm flipV="1">
            <a:off x="3489325" y="4484688"/>
            <a:ext cx="676275" cy="544512"/>
          </a:xfrm>
          <a:prstGeom prst="straightConnector1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</p:spPr>
      </p:cxnSp>
    </p:spTree>
    <p:extLst>
      <p:ext uri="{BB962C8B-B14F-4D97-AF65-F5344CB8AC3E}">
        <p14:creationId xmlns:p14="http://schemas.microsoft.com/office/powerpoint/2010/main" val="3459567148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2"/>
          <p:cNvSpPr txBox="1">
            <a:spLocks/>
          </p:cNvSpPr>
          <p:nvPr/>
        </p:nvSpPr>
        <p:spPr>
          <a:xfrm>
            <a:off x="335494" y="731162"/>
            <a:ext cx="6543608" cy="493414"/>
          </a:xfrm>
          <a:prstGeom prst="rect">
            <a:avLst/>
          </a:prstGeom>
        </p:spPr>
        <p:txBody>
          <a:bodyPr>
            <a:normAutofit lnSpcReduction="10000"/>
          </a:bodyPr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800" b="1" dirty="0">
                <a:solidFill>
                  <a:schemeClr val="tx1"/>
                </a:solidFill>
              </a:rPr>
              <a:t>Graph Isomorphism : Negative Examples</a:t>
            </a:r>
          </a:p>
          <a:p>
            <a:pPr marL="0" indent="0">
              <a:buNone/>
            </a:pPr>
            <a:endParaRPr lang="en-US" sz="2600" b="1" dirty="0">
              <a:solidFill>
                <a:srgbClr val="FF0000"/>
              </a:solidFill>
            </a:endParaRPr>
          </a:p>
        </p:txBody>
      </p:sp>
      <p:sp>
        <p:nvSpPr>
          <p:cNvPr id="59" name="Content Placeholder 2">
            <a:extLst>
              <a:ext uri="{FF2B5EF4-FFF2-40B4-BE49-F238E27FC236}">
                <a16:creationId xmlns:a16="http://schemas.microsoft.com/office/drawing/2014/main" id="{5875C2F3-3EC4-4D40-BA66-8D2BA178FB07}"/>
              </a:ext>
            </a:extLst>
          </p:cNvPr>
          <p:cNvSpPr txBox="1">
            <a:spLocks/>
          </p:cNvSpPr>
          <p:nvPr/>
        </p:nvSpPr>
        <p:spPr bwMode="auto">
          <a:xfrm>
            <a:off x="304800" y="1600200"/>
            <a:ext cx="86868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Char char="•"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A4:  1</a:t>
            </a:r>
            <a:r>
              <a:rPr kumimoji="0" lang="en-US" sz="3200" b="0" i="0" u="none" strike="noStrike" kern="1200" cap="none" spc="0" normalizeH="0" baseline="3000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st</a:t>
            </a: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graph has 2 vertices of degree 1, whereas the 2</a:t>
            </a:r>
            <a:r>
              <a:rPr kumimoji="0" lang="en-US" sz="3200" b="0" i="0" u="none" strike="noStrike" kern="1200" cap="none" spc="0" normalizeH="0" baseline="3000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nd</a:t>
            </a: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graph has 3 vertices of degree 1. 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	So, the graphs are not isomorphic.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	What are other answers?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Char char="•"/>
              <a:tabLst/>
              <a:defRPr/>
            </a:pPr>
            <a:endParaRPr kumimoji="0" lang="en-US" sz="32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None/>
              <a:tabLst/>
              <a:defRPr/>
            </a:pPr>
            <a:endParaRPr kumimoji="0" lang="en-US" sz="32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61336655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2"/>
          <p:cNvSpPr txBox="1">
            <a:spLocks/>
          </p:cNvSpPr>
          <p:nvPr/>
        </p:nvSpPr>
        <p:spPr>
          <a:xfrm>
            <a:off x="335494" y="731162"/>
            <a:ext cx="6543608" cy="493414"/>
          </a:xfrm>
          <a:prstGeom prst="rect">
            <a:avLst/>
          </a:prstGeom>
        </p:spPr>
        <p:txBody>
          <a:bodyPr>
            <a:normAutofit lnSpcReduction="10000"/>
          </a:bodyPr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800" b="1" dirty="0">
                <a:solidFill>
                  <a:srgbClr val="FF0000"/>
                </a:solidFill>
              </a:rPr>
              <a:t>Practice @ Home</a:t>
            </a:r>
          </a:p>
          <a:p>
            <a:pPr marL="0" indent="0">
              <a:buNone/>
            </a:pPr>
            <a:endParaRPr lang="en-US" sz="2600" b="1" dirty="0">
              <a:solidFill>
                <a:srgbClr val="FF0000"/>
              </a:solidFill>
            </a:endParaRPr>
          </a:p>
        </p:txBody>
      </p:sp>
      <p:sp>
        <p:nvSpPr>
          <p:cNvPr id="37" name="Content Placeholder 2">
            <a:extLst>
              <a:ext uri="{FF2B5EF4-FFF2-40B4-BE49-F238E27FC236}">
                <a16:creationId xmlns:a16="http://schemas.microsoft.com/office/drawing/2014/main" id="{AF2A5595-B5FF-4053-A4DE-AA768E9127DC}"/>
              </a:ext>
            </a:extLst>
          </p:cNvPr>
          <p:cNvSpPr txBox="1">
            <a:spLocks/>
          </p:cNvSpPr>
          <p:nvPr/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Char char="•"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Example 10 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Char char="•"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Example 11 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Char char="•"/>
              <a:tabLst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Relevant</a:t>
            </a: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Exercises from your text</a:t>
            </a:r>
            <a:r>
              <a:rPr kumimoji="0" lang="en-US" sz="3200" b="1" i="0" u="none" strike="noStrike" kern="1200" cap="none" spc="0" normalizeH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book</a:t>
            </a:r>
            <a:endParaRPr kumimoji="0" lang="en-US" sz="32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None/>
              <a:tabLst/>
              <a:defRPr/>
            </a:pPr>
            <a:endParaRPr kumimoji="0" lang="en-US" sz="32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81385517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2"/>
          <p:cNvSpPr txBox="1">
            <a:spLocks/>
          </p:cNvSpPr>
          <p:nvPr/>
        </p:nvSpPr>
        <p:spPr>
          <a:xfrm>
            <a:off x="335494" y="595100"/>
            <a:ext cx="3232896" cy="493414"/>
          </a:xfrm>
          <a:prstGeom prst="rect">
            <a:avLst/>
          </a:prstGeom>
        </p:spPr>
        <p:txBody>
          <a:bodyPr>
            <a:normAutofit/>
          </a:bodyPr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600" b="1" dirty="0">
                <a:solidFill>
                  <a:schemeClr val="tx1"/>
                </a:solidFill>
              </a:rPr>
              <a:t>Books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51DF020-DFF2-492F-B160-33927CAE9703}"/>
              </a:ext>
            </a:extLst>
          </p:cNvPr>
          <p:cNvSpPr/>
          <p:nvPr/>
        </p:nvSpPr>
        <p:spPr>
          <a:xfrm>
            <a:off x="562707" y="1767006"/>
            <a:ext cx="7891975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Rosen, K. H., &amp; </a:t>
            </a:r>
            <a:r>
              <a:rPr lang="en-US" b="1" dirty="0" err="1"/>
              <a:t>Krithivasan</a:t>
            </a:r>
            <a:r>
              <a:rPr lang="en-US" b="1" dirty="0"/>
              <a:t>, K. (2012). Discrete mathematics and its applications: with combinatorics and graph theory. Tata McGraw-Hill Education. (7</a:t>
            </a:r>
            <a:r>
              <a:rPr lang="en-US" b="1" baseline="30000" dirty="0"/>
              <a:t>th</a:t>
            </a:r>
            <a:r>
              <a:rPr lang="en-US" b="1" dirty="0"/>
              <a:t> Edition)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Liu, C. L. (1986). Elements of discrete mathematics. Tata McGraw-Hill Education.</a:t>
            </a:r>
          </a:p>
        </p:txBody>
      </p:sp>
    </p:spTree>
    <p:extLst>
      <p:ext uri="{BB962C8B-B14F-4D97-AF65-F5344CB8AC3E}">
        <p14:creationId xmlns:p14="http://schemas.microsoft.com/office/powerpoint/2010/main" val="1923382373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2"/>
          <p:cNvSpPr txBox="1">
            <a:spLocks/>
          </p:cNvSpPr>
          <p:nvPr/>
        </p:nvSpPr>
        <p:spPr>
          <a:xfrm>
            <a:off x="335494" y="595100"/>
            <a:ext cx="3232896" cy="493414"/>
          </a:xfrm>
          <a:prstGeom prst="rect">
            <a:avLst/>
          </a:prstGeom>
        </p:spPr>
        <p:txBody>
          <a:bodyPr>
            <a:normAutofit/>
          </a:bodyPr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600" b="1" dirty="0">
                <a:solidFill>
                  <a:schemeClr val="tx1"/>
                </a:solidFill>
              </a:rPr>
              <a:t>References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4A89747-DDDD-43E9-B535-AA47EA6C9A56}"/>
              </a:ext>
            </a:extLst>
          </p:cNvPr>
          <p:cNvSpPr/>
          <p:nvPr/>
        </p:nvSpPr>
        <p:spPr>
          <a:xfrm>
            <a:off x="335494" y="1745672"/>
            <a:ext cx="8459371" cy="25853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lvl="0" indent="-457200">
              <a:buFont typeface="+mj-lt"/>
              <a:buAutoNum type="arabicPeriod"/>
            </a:pPr>
            <a:r>
              <a:rPr lang="en-US" dirty="0"/>
              <a:t>Discrete Mathematics, </a:t>
            </a:r>
            <a:r>
              <a:rPr lang="en-US" i="1" dirty="0"/>
              <a:t>Richard</a:t>
            </a:r>
            <a:r>
              <a:rPr lang="en-US" dirty="0"/>
              <a:t> </a:t>
            </a:r>
            <a:r>
              <a:rPr lang="en-US" i="1" dirty="0" err="1"/>
              <a:t>Johnsonbaugh</a:t>
            </a:r>
            <a:r>
              <a:rPr lang="en-US" dirty="0"/>
              <a:t>, Pearson education, Inc.</a:t>
            </a:r>
          </a:p>
          <a:p>
            <a:pPr marL="457200" lvl="0" indent="-457200">
              <a:buFont typeface="+mj-lt"/>
              <a:buAutoNum type="arabicPeriod"/>
            </a:pPr>
            <a:r>
              <a:rPr lang="en-US" dirty="0"/>
              <a:t>Discrete Mathematical Structures, </a:t>
            </a:r>
            <a:r>
              <a:rPr lang="en-US" i="1" dirty="0"/>
              <a:t>Bernard</a:t>
            </a:r>
            <a:r>
              <a:rPr lang="en-US" dirty="0"/>
              <a:t> </a:t>
            </a:r>
            <a:r>
              <a:rPr lang="en-US" i="1" dirty="0" err="1"/>
              <a:t>Kolman</a:t>
            </a:r>
            <a:r>
              <a:rPr lang="en-US" dirty="0"/>
              <a:t>, </a:t>
            </a:r>
            <a:r>
              <a:rPr lang="en-US" i="1" dirty="0"/>
              <a:t>Robert C. Busby</a:t>
            </a:r>
            <a:r>
              <a:rPr lang="en-US" dirty="0"/>
              <a:t>, </a:t>
            </a:r>
            <a:r>
              <a:rPr lang="en-US" i="1" dirty="0"/>
              <a:t>Sharon</a:t>
            </a:r>
            <a:r>
              <a:rPr lang="en-US" dirty="0"/>
              <a:t> </a:t>
            </a:r>
            <a:r>
              <a:rPr lang="en-US" i="1" dirty="0"/>
              <a:t>Ross, </a:t>
            </a:r>
            <a:r>
              <a:rPr lang="en-US" dirty="0"/>
              <a:t>Prentice-Hall, Inc.</a:t>
            </a:r>
          </a:p>
          <a:p>
            <a:pPr marL="457200" lvl="0" indent="-457200">
              <a:buFont typeface="+mj-lt"/>
              <a:buAutoNum type="arabicPeriod"/>
            </a:pPr>
            <a:r>
              <a:rPr lang="en-US" i="1" dirty="0"/>
              <a:t>SCHAUM’S  outlines Discrete Mathematics(2</a:t>
            </a:r>
            <a:r>
              <a:rPr lang="en-US" i="1" baseline="30000" dirty="0"/>
              <a:t>nd</a:t>
            </a:r>
            <a:r>
              <a:rPr lang="en-US" i="1" dirty="0"/>
              <a:t> edition)</a:t>
            </a:r>
            <a:r>
              <a:rPr lang="en-US" dirty="0"/>
              <a:t>, by </a:t>
            </a:r>
            <a:r>
              <a:rPr lang="en-US" i="1" dirty="0"/>
              <a:t>Seymour</a:t>
            </a:r>
            <a:r>
              <a:rPr lang="en-US" dirty="0"/>
              <a:t> </a:t>
            </a:r>
            <a:r>
              <a:rPr lang="en-US" i="1" dirty="0" err="1"/>
              <a:t>Lipschutz</a:t>
            </a:r>
            <a:r>
              <a:rPr lang="en-US" dirty="0"/>
              <a:t>, </a:t>
            </a:r>
            <a:r>
              <a:rPr lang="en-US" i="1" dirty="0"/>
              <a:t>Marc</a:t>
            </a:r>
            <a:r>
              <a:rPr lang="en-US" dirty="0"/>
              <a:t> </a:t>
            </a:r>
            <a:r>
              <a:rPr lang="en-US" i="1" dirty="0"/>
              <a:t>Lipson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An online tutorial </a:t>
            </a:r>
            <a:r>
              <a:rPr lang="en-US" dirty="0">
                <a:hlinkClick r:id="rId2"/>
              </a:rPr>
              <a:t>https://www.geeksforgeeks.org/graph-and-its-representations/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Another online tutorial </a:t>
            </a:r>
            <a:r>
              <a:rPr lang="en-US" dirty="0">
                <a:hlinkClick r:id="rId3"/>
              </a:rPr>
              <a:t>https://www.gatevidyalay.com/graph-isomorphism/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Personal blog </a:t>
            </a:r>
            <a:r>
              <a:rPr lang="en-US" dirty="0">
                <a:hlinkClick r:id="rId4"/>
              </a:rPr>
              <a:t>http://www.rogerfhouse.com/math-articles/graph-isomorphism.pdf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24969828"/>
      </p:ext>
    </p:extLst>
  </p:cSld>
  <p:clrMapOvr>
    <a:masterClrMapping/>
  </p:clrMapOvr>
</p:sld>
</file>

<file path=ppt/theme/theme1.xml><?xml version="1.0" encoding="utf-8"?>
<a:theme xmlns:a="http://schemas.openxmlformats.org/drawingml/2006/main" name="Spectrum">
  <a:themeElements>
    <a:clrScheme name="Blue Warm">
      <a:dk1>
        <a:sysClr val="windowText" lastClr="000000"/>
      </a:dk1>
      <a:lt1>
        <a:sysClr val="window" lastClr="FFFFFF"/>
      </a:lt1>
      <a:dk2>
        <a:srgbClr val="242852"/>
      </a:dk2>
      <a:lt2>
        <a:srgbClr val="ACCBF9"/>
      </a:lt2>
      <a:accent1>
        <a:srgbClr val="4A66AC"/>
      </a:accent1>
      <a:accent2>
        <a:srgbClr val="629DD1"/>
      </a:accent2>
      <a:accent3>
        <a:srgbClr val="297FD5"/>
      </a:accent3>
      <a:accent4>
        <a:srgbClr val="7F8FA9"/>
      </a:accent4>
      <a:accent5>
        <a:srgbClr val="5AA2AE"/>
      </a:accent5>
      <a:accent6>
        <a:srgbClr val="9D90A0"/>
      </a:accent6>
      <a:hlink>
        <a:srgbClr val="9454C3"/>
      </a:hlink>
      <a:folHlink>
        <a:srgbClr val="3EBBF0"/>
      </a:folHlink>
    </a:clrScheme>
    <a:fontScheme name="Spectrum">
      <a:majorFont>
        <a:latin typeface="Corbel"/>
        <a:ea typeface=""/>
        <a:cs typeface=""/>
        <a:font script="Jpan" typeface="ＭＳ ゴシック"/>
        <a:font script="Hans" typeface="宋体"/>
        <a:font script="Hant" typeface="新細明體"/>
      </a:majorFont>
      <a:minorFont>
        <a:latin typeface="Calibri"/>
        <a:ea typeface=""/>
        <a:cs typeface=""/>
        <a:font script="Jpan" typeface="ＭＳ ゴシック"/>
        <a:font script="Hans" typeface="宋体"/>
        <a:font script="Hant" typeface="新細明體"/>
      </a:minorFont>
    </a:fontScheme>
    <a:fmtScheme name="Spectrum">
      <a: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hade val="70000"/>
                <a:satMod val="150000"/>
              </a:schemeClr>
            </a:gs>
            <a:gs pos="100000">
              <a:schemeClr val="phClr">
                <a:tint val="95000"/>
                <a:satMod val="1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95000"/>
                <a:shade val="70000"/>
                <a:satMod val="150000"/>
              </a:schemeClr>
            </a:gs>
            <a:gs pos="100000">
              <a:schemeClr val="phClr">
                <a:tint val="100000"/>
                <a:shade val="100000"/>
                <a:satMod val="150000"/>
              </a:schemeClr>
            </a:gs>
          </a:gsLst>
          <a:lin ang="16200000" scaled="0"/>
        </a:gradFill>
      </a:fillStyleLst>
      <a:lnStyleLst>
        <a:ln w="12700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6600000" sx="101000" sy="101000" rotWithShape="0">
              <a:srgbClr val="000000">
                <a:alpha val="75000"/>
              </a:srgbClr>
            </a:outerShdw>
          </a:effectLst>
        </a:effectStyle>
        <a:effectStyle>
          <a:effectLst>
            <a:outerShdw blurRad="50800" dir="5400000" sx="105000" sy="105000" algn="ctr" rotWithShape="0">
              <a:srgbClr val="000000">
                <a:alpha val="40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4800000"/>
            </a:lightRig>
          </a:scene3d>
          <a:sp3d prstMaterial="matte">
            <a:bevelT w="63500" h="50800" prst="angle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 rtlCol="0" anchor="ctr"/>
      <a:lstStyle>
        <a:defPPr algn="ctr">
          <a:defRPr/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Spectrum.thmx</Template>
  <TotalTime>367</TotalTime>
  <Words>1890</Words>
  <Application>Microsoft Office PowerPoint</Application>
  <PresentationFormat>On-screen Show (4:3)</PresentationFormat>
  <Paragraphs>251</Paragraphs>
  <Slides>36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36</vt:i4>
      </vt:variant>
    </vt:vector>
  </HeadingPairs>
  <TitlesOfParts>
    <vt:vector size="42" baseType="lpstr">
      <vt:lpstr>Arial</vt:lpstr>
      <vt:lpstr>Calibri</vt:lpstr>
      <vt:lpstr>Corbel</vt:lpstr>
      <vt:lpstr>Wingdings</vt:lpstr>
      <vt:lpstr>Spectrum</vt:lpstr>
      <vt:lpstr>Equation</vt:lpstr>
      <vt:lpstr>Representing Graphs and Graph Isomorphism</vt:lpstr>
      <vt:lpstr>Lecture Outline</vt:lpstr>
      <vt:lpstr>Objectives and Outcomes</vt:lpstr>
      <vt:lpstr>Representing Graphs </vt:lpstr>
      <vt:lpstr>PowerPoint Presentation</vt:lpstr>
      <vt:lpstr>PowerPoint Presentation</vt:lpstr>
      <vt:lpstr>PowerPoint Presentation</vt:lpstr>
      <vt:lpstr>Adjacency matrices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Adjacency matrices for  Directed Graphs</vt:lpstr>
      <vt:lpstr>PowerPoint Presentation</vt:lpstr>
      <vt:lpstr>PowerPoint Presentation</vt:lpstr>
      <vt:lpstr>Incidence matrices</vt:lpstr>
      <vt:lpstr>PowerPoint Presentation</vt:lpstr>
      <vt:lpstr>PowerPoint Presentation</vt:lpstr>
      <vt:lpstr>Isomorphism of Graphs</vt:lpstr>
      <vt:lpstr>PowerPoint Presentation</vt:lpstr>
      <vt:lpstr>PowerPoint Presentation</vt:lpstr>
      <vt:lpstr>PowerPoint Presentation</vt:lpstr>
      <vt:lpstr>Isomorphism of Graphs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home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Thesis Title</dc:title>
  <dc:creator>Mahbubul Syeed</dc:creator>
  <cp:lastModifiedBy>Dr. Ashraf Uddin</cp:lastModifiedBy>
  <cp:revision>61</cp:revision>
  <dcterms:created xsi:type="dcterms:W3CDTF">2018-12-10T17:20:29Z</dcterms:created>
  <dcterms:modified xsi:type="dcterms:W3CDTF">2023-03-28T16:46:44Z</dcterms:modified>
</cp:coreProperties>
</file>