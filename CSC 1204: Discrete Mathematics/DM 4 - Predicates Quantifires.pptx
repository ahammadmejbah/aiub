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5"/>
  </p:notesMasterIdLst>
  <p:sldIdLst>
    <p:sldId id="256" r:id="rId2"/>
    <p:sldId id="257" r:id="rId3"/>
    <p:sldId id="308" r:id="rId4"/>
    <p:sldId id="343" r:id="rId5"/>
    <p:sldId id="309" r:id="rId6"/>
    <p:sldId id="310" r:id="rId7"/>
    <p:sldId id="311" r:id="rId8"/>
    <p:sldId id="312" r:id="rId9"/>
    <p:sldId id="313" r:id="rId10"/>
    <p:sldId id="314" r:id="rId11"/>
    <p:sldId id="315" r:id="rId12"/>
    <p:sldId id="316" r:id="rId13"/>
    <p:sldId id="317" r:id="rId14"/>
    <p:sldId id="318" r:id="rId15"/>
    <p:sldId id="319" r:id="rId16"/>
    <p:sldId id="320" r:id="rId17"/>
    <p:sldId id="321" r:id="rId18"/>
    <p:sldId id="322" r:id="rId19"/>
    <p:sldId id="324" r:id="rId20"/>
    <p:sldId id="347" r:id="rId21"/>
    <p:sldId id="323" r:id="rId22"/>
    <p:sldId id="325" r:id="rId23"/>
    <p:sldId id="326" r:id="rId24"/>
    <p:sldId id="327" r:id="rId25"/>
    <p:sldId id="328" r:id="rId26"/>
    <p:sldId id="329" r:id="rId27"/>
    <p:sldId id="330" r:id="rId28"/>
    <p:sldId id="331" r:id="rId29"/>
    <p:sldId id="332" r:id="rId30"/>
    <p:sldId id="333" r:id="rId31"/>
    <p:sldId id="335" r:id="rId32"/>
    <p:sldId id="336" r:id="rId33"/>
    <p:sldId id="337" r:id="rId34"/>
    <p:sldId id="338" r:id="rId35"/>
    <p:sldId id="339" r:id="rId36"/>
    <p:sldId id="340" r:id="rId37"/>
    <p:sldId id="341" r:id="rId38"/>
    <p:sldId id="345" r:id="rId39"/>
    <p:sldId id="346" r:id="rId40"/>
    <p:sldId id="344" r:id="rId41"/>
    <p:sldId id="342" r:id="rId42"/>
    <p:sldId id="277" r:id="rId43"/>
    <p:sldId id="265" r:id="rId4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65E8905-3A9F-4DF8-BE85-8764B14DC0D4}" v="1" dt="2019-04-17T04:06:04.64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997"/>
    <p:restoredTop sz="94981" autoAdjust="0"/>
  </p:normalViewPr>
  <p:slideViewPr>
    <p:cSldViewPr snapToGrid="0" snapToObjects="1">
      <p:cViewPr varScale="1">
        <p:scale>
          <a:sx n="114" d="100"/>
          <a:sy n="114" d="100"/>
        </p:scale>
        <p:origin x="1674" y="10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51"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 " userId="7df7294e-d88c-40ba-90e5-79451dd84eeb" providerId="ADAL" clId="{865E8905-3A9F-4DF8-BE85-8764B14DC0D4}"/>
    <pc:docChg chg="modSld">
      <pc:chgData name=" " userId="7df7294e-d88c-40ba-90e5-79451dd84eeb" providerId="ADAL" clId="{865E8905-3A9F-4DF8-BE85-8764B14DC0D4}" dt="2019-04-17T04:06:04.677" v="0" actId="1076"/>
      <pc:docMkLst>
        <pc:docMk/>
      </pc:docMkLst>
      <pc:sldChg chg="modSp">
        <pc:chgData name=" " userId="7df7294e-d88c-40ba-90e5-79451dd84eeb" providerId="ADAL" clId="{865E8905-3A9F-4DF8-BE85-8764B14DC0D4}" dt="2019-04-17T04:06:04.677" v="0" actId="1076"/>
        <pc:sldMkLst>
          <pc:docMk/>
          <pc:sldMk cId="3716353229" sldId="259"/>
        </pc:sldMkLst>
        <pc:spChg chg="mod">
          <ac:chgData name=" " userId="7df7294e-d88c-40ba-90e5-79451dd84eeb" providerId="ADAL" clId="{865E8905-3A9F-4DF8-BE85-8764B14DC0D4}" dt="2019-04-17T04:06:04.677" v="0" actId="1076"/>
          <ac:spMkLst>
            <pc:docMk/>
            <pc:sldMk cId="3716353229" sldId="259"/>
            <ac:spMk id="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0E13DDF-8C9F-41ED-BCA0-DFAC852E1B28}" type="datetimeFigureOut">
              <a:rPr lang="en-US" smtClean="0"/>
              <a:pPr/>
              <a:t>28-Jan-23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291CEC4-8705-463B-9A79-B2018D538492}"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BF4630E-50CB-41D4-B880-9F9D7FA7BA29}" type="datetime1">
              <a:rPr lang="en-US" smtClean="0"/>
              <a:pPr/>
              <a:t>28-Jan-23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pPr/>
              <a:t>‹#›</a:t>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fi-FI"/>
              <a:t>Click to edit Master title style</a:t>
            </a:r>
            <a:endParaRPr/>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idx="1"/>
          </p:nvPr>
        </p:nvSpPr>
        <p:spPr/>
        <p:txBody>
          <a:bodyPr/>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7B8E53B5-49FB-46D3-8DDC-FF194BFECA44}" type="datetime1">
              <a:rPr lang="en-US" smtClean="0"/>
              <a:pPr/>
              <a:t>28-Jan-23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9DBB3357-3270-44AD-8313-0626A2642B80}" type="datetime1">
              <a:rPr lang="en-US" smtClean="0"/>
              <a:pPr/>
              <a:t>28-Jan-23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pPr/>
              <a:t>‹#›</a:t>
            </a:fld>
            <a:endParaRPr lang="en-US"/>
          </a:p>
        </p:txBody>
      </p:sp>
      <p:sp>
        <p:nvSpPr>
          <p:cNvPr id="8" name="Picture Placeholder 7"/>
          <p:cNvSpPr>
            <a:spLocks noGrp="1"/>
          </p:cNvSpPr>
          <p:nvPr>
            <p:ph type="pic" sz="quarter" idx="13"/>
          </p:nvPr>
        </p:nvSpPr>
        <p:spPr>
          <a:xfrm>
            <a:off x="284162" y="2017058"/>
            <a:ext cx="8574087" cy="4377391"/>
          </a:xfrm>
        </p:spPr>
        <p:txBody>
          <a:bodyPr/>
          <a:lstStyle>
            <a:lvl1pPr>
              <a:buNone/>
              <a:defRPr/>
            </a:lvl1pPr>
          </a:lstStyle>
          <a:p>
            <a:r>
              <a:rPr lang="fi-FI"/>
              <a:t>Drag picture to placeholder or click icon to add</a:t>
            </a:r>
            <a:endParaRPr/>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fi-FI"/>
              <a:t>Click to edit Master title style</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fi-FI"/>
              <a:t>Click to edit Master title style</a:t>
            </a:r>
            <a:endParaRPr/>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itchFamily="2" charset="2"/>
              <a:buNone/>
            </a:pPr>
            <a:r>
              <a:rPr lang="fi-FI"/>
              <a:t>Click to edit Master text styles</a:t>
            </a:r>
          </a:p>
        </p:txBody>
      </p:sp>
      <p:sp>
        <p:nvSpPr>
          <p:cNvPr id="4" name="Date Placeholder 3"/>
          <p:cNvSpPr>
            <a:spLocks noGrp="1"/>
          </p:cNvSpPr>
          <p:nvPr>
            <p:ph type="dt" sz="half" idx="10"/>
          </p:nvPr>
        </p:nvSpPr>
        <p:spPr/>
        <p:txBody>
          <a:bodyPr/>
          <a:lstStyle/>
          <a:p>
            <a:fld id="{2E3F85F5-738C-480D-8B46-1B1B3DA4FF26}" type="datetime1">
              <a:rPr lang="en-US" smtClean="0"/>
              <a:pPr/>
              <a:t>28-Jan-23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284162" y="443754"/>
            <a:ext cx="8574087" cy="4370293"/>
          </a:xfrm>
        </p:spPr>
        <p:txBody>
          <a:bodyPr/>
          <a:lstStyle>
            <a:lvl1pPr>
              <a:buNone/>
              <a:defRPr/>
            </a:lvl1pPr>
          </a:lstStyle>
          <a:p>
            <a:r>
              <a:rPr lang="fi-FI"/>
              <a:t>Drag picture to placeholder or click icon to add</a:t>
            </a:r>
            <a:endParaRPr/>
          </a:p>
        </p:txBody>
      </p:sp>
      <p:sp>
        <p:nvSpPr>
          <p:cNvPr id="4" name="Date Placeholder 3"/>
          <p:cNvSpPr>
            <a:spLocks noGrp="1"/>
          </p:cNvSpPr>
          <p:nvPr>
            <p:ph type="dt" sz="half" idx="10"/>
          </p:nvPr>
        </p:nvSpPr>
        <p:spPr/>
        <p:txBody>
          <a:bodyPr/>
          <a:lstStyle/>
          <a:p>
            <a:fld id="{1DD20414-9D97-4B74-A477-A764E0D269A0}" type="datetime1">
              <a:rPr lang="en-US" smtClean="0"/>
              <a:pPr/>
              <a:t>28-Jan-23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pPr/>
              <a:t>‹#›</a:t>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fi-FI"/>
              <a:t>Click to edit Master title style</a:t>
            </a:r>
            <a:endParaRPr/>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i-FI"/>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F885F015-530B-454C-ADA2-7F2157207175}" type="datetime1">
              <a:rPr lang="en-US" smtClean="0"/>
              <a:pPr/>
              <a:t>28-Jan-23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lvl1pPr>
              <a:defRPr/>
            </a:lvl1pPr>
          </a:lstStyle>
          <a:p>
            <a:r>
              <a:rPr lang="fi-FI"/>
              <a:t>Click to edit Master title style</a:t>
            </a:r>
            <a:endParaRP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7" name="Date Placeholder 6"/>
          <p:cNvSpPr>
            <a:spLocks noGrp="1"/>
          </p:cNvSpPr>
          <p:nvPr>
            <p:ph type="dt" sz="half" idx="10"/>
          </p:nvPr>
        </p:nvSpPr>
        <p:spPr/>
        <p:txBody>
          <a:bodyPr/>
          <a:lstStyle/>
          <a:p>
            <a:fld id="{84B38430-5DBF-4BDF-AAA2-FD9FC4A2D81F}" type="datetime1">
              <a:rPr lang="en-US" smtClean="0"/>
              <a:pPr/>
              <a:t>28-Jan-23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Date Placeholder 2"/>
          <p:cNvSpPr>
            <a:spLocks noGrp="1"/>
          </p:cNvSpPr>
          <p:nvPr>
            <p:ph type="dt" sz="half" idx="10"/>
          </p:nvPr>
        </p:nvSpPr>
        <p:spPr/>
        <p:txBody>
          <a:bodyPr/>
          <a:lstStyle/>
          <a:p>
            <a:fld id="{C020C2E2-3F23-42C1-AFF2-4509F057067A}" type="datetime1">
              <a:rPr lang="en-US" smtClean="0"/>
              <a:pPr/>
              <a:t>28-Jan-23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C6D1CE5-8CD7-468E-85A4-78CEAD3625E5}" type="datetime1">
              <a:rPr lang="en-US" smtClean="0"/>
              <a:pPr/>
              <a:t>28-Jan-23</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fi-FI"/>
              <a:t>Click to edit Master title style</a:t>
            </a:r>
            <a:endParaRPr/>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270ADB23-474F-49A8-A23D-7A0E84AD2BE6}" type="datetime1">
              <a:rPr lang="en-US" smtClean="0"/>
              <a:pPr/>
              <a:t>28-Jan-23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pPr/>
              <a:t>‹#›</a:t>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1CF55E30-D25B-4216-A7A0-BE8AD9B7E327}" type="datetime1">
              <a:rPr lang="en-US" smtClean="0"/>
              <a:pPr/>
              <a:t>28-Jan-23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fi-FI"/>
              <a:t>Click to edit Master title style</a:t>
            </a:r>
            <a:endParaRPr/>
          </a:p>
        </p:txBody>
      </p:sp>
      <p:sp>
        <p:nvSpPr>
          <p:cNvPr id="3" name="Picture Placeholder 2"/>
          <p:cNvSpPr>
            <a:spLocks noGrp="1"/>
          </p:cNvSpPr>
          <p:nvPr>
            <p:ph type="pic" idx="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ACD8EFD5-F0AF-4965-A66C-E35F81ABEC91}" type="datetime1">
              <a:rPr lang="en-US" smtClean="0"/>
              <a:pPr/>
              <a:t>28-Jan-23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EAA4A2D2-B87B-4847-9811-8BF83A23C0A4}" type="datetime1">
              <a:rPr lang="en-US" smtClean="0"/>
              <a:pPr/>
              <a:t>28-Jan-23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pPr/>
              <a:t>‹#›</a:t>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fi-FI"/>
              <a:t>Click to edit Master title style</a:t>
            </a:r>
            <a:endParaRPr/>
          </a:p>
        </p:txBody>
      </p:sp>
      <p:sp>
        <p:nvSpPr>
          <p:cNvPr id="14" name="Picture Placeholder 13"/>
          <p:cNvSpPr>
            <a:spLocks noGrp="1"/>
          </p:cNvSpPr>
          <p:nvPr>
            <p:ph type="pic" sz="quarter" idx="13"/>
          </p:nvPr>
        </p:nvSpPr>
        <p:spPr>
          <a:xfrm>
            <a:off x="284164" y="594360"/>
            <a:ext cx="2743200" cy="3675888"/>
          </a:xfrm>
        </p:spPr>
        <p:txBody>
          <a:bodyPr/>
          <a:lstStyle>
            <a:lvl1pPr>
              <a:buNone/>
              <a:defRPr/>
            </a:lvl1pPr>
          </a:lstStyle>
          <a:p>
            <a:r>
              <a:rPr lang="fi-FI"/>
              <a:t>Drag picture to placeholder or click icon to add</a:t>
            </a:r>
            <a:endParaRPr/>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60C62871-21BD-4EDE-AE57-59E17BF237ED}" type="datetime1">
              <a:rPr lang="en-US" smtClean="0"/>
              <a:pPr/>
              <a:t>28-Jan-23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pPr/>
              <a:t>‹#›</a:t>
            </a:fld>
            <a:endParaRPr lang="en-US"/>
          </a:p>
        </p:txBody>
      </p:sp>
      <p:sp>
        <p:nvSpPr>
          <p:cNvPr id="13" name="Picture Placeholder 2"/>
          <p:cNvSpPr>
            <a:spLocks noGrp="1"/>
          </p:cNvSpPr>
          <p:nvPr>
            <p:ph type="pic" idx="13"/>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14" name="Picture Placeholder 2"/>
          <p:cNvSpPr>
            <a:spLocks noGrp="1"/>
          </p:cNvSpPr>
          <p:nvPr>
            <p:ph type="pic" idx="14"/>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9ADF78AD-1CB0-4608-B3A1-669F93264AC6}" type="datetime1">
              <a:rPr lang="en-US" smtClean="0"/>
              <a:pPr/>
              <a:t>28-Jan-23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pPr/>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fi-FI"/>
              <a:t>Click to edit Master title style</a:t>
            </a:r>
            <a:endParaRP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61E542CD-9A58-4A2A-A626-496AF398B07A}" type="datetime1">
              <a:rPr lang="en-US" smtClean="0"/>
              <a:pPr/>
              <a:t>28-Jan-23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pPr/>
              <a:t>‹#›</a:t>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54EAB5B0-AB84-48D4-BAFB-665F1E7B35E0}" type="datetime1">
              <a:rPr lang="en-US" smtClean="0"/>
              <a:pPr/>
              <a:t>28-Jan-23</a:t>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pPr/>
              <a:t>‹#›</a:t>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fi-FI"/>
              <a:t>Click to edit Master title style</a:t>
            </a:r>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hf hdr="0" ftr="0" dt="0"/>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1.4 Predicates and Quantifiers</a:t>
            </a:r>
          </a:p>
        </p:txBody>
      </p:sp>
      <p:sp>
        <p:nvSpPr>
          <p:cNvPr id="3" name="Subtitle 2"/>
          <p:cNvSpPr>
            <a:spLocks noGrp="1"/>
          </p:cNvSpPr>
          <p:nvPr>
            <p:ph type="subTitle" idx="1"/>
          </p:nvPr>
        </p:nvSpPr>
        <p:spPr>
          <a:xfrm>
            <a:off x="476205" y="1532427"/>
            <a:ext cx="2789509" cy="484632"/>
          </a:xfrm>
        </p:spPr>
        <p:txBody>
          <a:bodyPr/>
          <a:lstStyle/>
          <a:p>
            <a:r>
              <a:rPr lang="en-US" dirty="0"/>
              <a:t>Course Code: CSC 1204</a:t>
            </a:r>
          </a:p>
        </p:txBody>
      </p:sp>
      <p:sp>
        <p:nvSpPr>
          <p:cNvPr id="4" name="TextBox 3"/>
          <p:cNvSpPr txBox="1"/>
          <p:nvPr/>
        </p:nvSpPr>
        <p:spPr>
          <a:xfrm>
            <a:off x="76971" y="2446757"/>
            <a:ext cx="9024614" cy="707886"/>
          </a:xfrm>
          <a:prstGeom prst="rect">
            <a:avLst/>
          </a:prstGeom>
          <a:noFill/>
        </p:spPr>
        <p:txBody>
          <a:bodyPr wrap="square" rtlCol="0">
            <a:spAutoFit/>
          </a:bodyPr>
          <a:lstStyle/>
          <a:p>
            <a:pPr algn="ctr"/>
            <a:r>
              <a:rPr lang="en-US" sz="2000" b="1" dirty="0">
                <a:solidFill>
                  <a:srgbClr val="0000FF"/>
                </a:solidFill>
                <a:latin typeface="Arial" panose="020B0604020202020204" pitchFamily="34" charset="0"/>
                <a:cs typeface="Arial" panose="020B0604020202020204" pitchFamily="34" charset="0"/>
              </a:rPr>
              <a:t>Dept. of Computer Science</a:t>
            </a:r>
          </a:p>
          <a:p>
            <a:pPr algn="ctr"/>
            <a:r>
              <a:rPr lang="en-US" sz="2000" b="1" dirty="0">
                <a:solidFill>
                  <a:srgbClr val="0000FF"/>
                </a:solidFill>
                <a:latin typeface="Arial" panose="020B0604020202020204" pitchFamily="34" charset="0"/>
                <a:cs typeface="Arial" panose="020B0604020202020204" pitchFamily="34" charset="0"/>
              </a:rPr>
              <a:t>Faculty of Science and Technology</a:t>
            </a:r>
            <a:endParaRPr lang="en-US" sz="2400" b="1" dirty="0">
              <a:solidFill>
                <a:srgbClr val="0000FF"/>
              </a:solidFill>
              <a:latin typeface="Arial" panose="020B0604020202020204" pitchFamily="34" charset="0"/>
              <a:cs typeface="Arial" panose="020B0604020202020204" pitchFamily="34" charset="0"/>
            </a:endParaRPr>
          </a:p>
        </p:txBody>
      </p:sp>
      <p:graphicFrame>
        <p:nvGraphicFramePr>
          <p:cNvPr id="7" name="Table 6">
            <a:extLst>
              <a:ext uri="{FF2B5EF4-FFF2-40B4-BE49-F238E27FC236}">
                <a16:creationId xmlns:a16="http://schemas.microsoft.com/office/drawing/2014/main" id="{29FF08AD-7519-4C4A-8E0D-640DF5BB5E58}"/>
              </a:ext>
            </a:extLst>
          </p:cNvPr>
          <p:cNvGraphicFramePr>
            <a:graphicFrameLocks noGrp="1"/>
          </p:cNvGraphicFramePr>
          <p:nvPr>
            <p:extLst>
              <p:ext uri="{D42A27DB-BD31-4B8C-83A1-F6EECF244321}">
                <p14:modId xmlns:p14="http://schemas.microsoft.com/office/powerpoint/2010/main" val="1578763989"/>
              </p:ext>
            </p:extLst>
          </p:nvPr>
        </p:nvGraphicFramePr>
        <p:xfrm>
          <a:off x="476205" y="5186042"/>
          <a:ext cx="8335798" cy="757472"/>
        </p:xfrm>
        <a:graphic>
          <a:graphicData uri="http://schemas.openxmlformats.org/drawingml/2006/table">
            <a:tbl>
              <a:tblPr firstRow="1" bandRow="1">
                <a:tableStyleId>{D7AC3CCA-C797-4891-BE02-D94E43425B78}</a:tableStyleId>
              </a:tblPr>
              <a:tblGrid>
                <a:gridCol w="1483224">
                  <a:extLst>
                    <a:ext uri="{9D8B030D-6E8A-4147-A177-3AD203B41FA5}">
                      <a16:colId xmlns:a16="http://schemas.microsoft.com/office/drawing/2014/main" val="3905988420"/>
                    </a:ext>
                  </a:extLst>
                </a:gridCol>
                <a:gridCol w="1397725">
                  <a:extLst>
                    <a:ext uri="{9D8B030D-6E8A-4147-A177-3AD203B41FA5}">
                      <a16:colId xmlns:a16="http://schemas.microsoft.com/office/drawing/2014/main" val="2889894460"/>
                    </a:ext>
                  </a:extLst>
                </a:gridCol>
                <a:gridCol w="1227909">
                  <a:extLst>
                    <a:ext uri="{9D8B030D-6E8A-4147-A177-3AD203B41FA5}">
                      <a16:colId xmlns:a16="http://schemas.microsoft.com/office/drawing/2014/main" val="3023211198"/>
                    </a:ext>
                  </a:extLst>
                </a:gridCol>
                <a:gridCol w="1541417">
                  <a:extLst>
                    <a:ext uri="{9D8B030D-6E8A-4147-A177-3AD203B41FA5}">
                      <a16:colId xmlns:a16="http://schemas.microsoft.com/office/drawing/2014/main" val="1762131981"/>
                    </a:ext>
                  </a:extLst>
                </a:gridCol>
                <a:gridCol w="1240971">
                  <a:extLst>
                    <a:ext uri="{9D8B030D-6E8A-4147-A177-3AD203B41FA5}">
                      <a16:colId xmlns:a16="http://schemas.microsoft.com/office/drawing/2014/main" val="445458238"/>
                    </a:ext>
                  </a:extLst>
                </a:gridCol>
                <a:gridCol w="1444552">
                  <a:extLst>
                    <a:ext uri="{9D8B030D-6E8A-4147-A177-3AD203B41FA5}">
                      <a16:colId xmlns:a16="http://schemas.microsoft.com/office/drawing/2014/main" val="1508364941"/>
                    </a:ext>
                  </a:extLst>
                </a:gridCol>
              </a:tblGrid>
              <a:tr h="378736">
                <a:tc>
                  <a:txBody>
                    <a:bodyPr/>
                    <a:lstStyle/>
                    <a:p>
                      <a:r>
                        <a:rPr lang="en-US" dirty="0"/>
                        <a:t>Lecturer No:</a:t>
                      </a:r>
                    </a:p>
                  </a:txBody>
                  <a:tcPr/>
                </a:tc>
                <a:tc>
                  <a:txBody>
                    <a:bodyPr/>
                    <a:lstStyle/>
                    <a:p>
                      <a:r>
                        <a:rPr lang="en-US" dirty="0"/>
                        <a:t>4</a:t>
                      </a:r>
                    </a:p>
                  </a:txBody>
                  <a:tcPr/>
                </a:tc>
                <a:tc>
                  <a:txBody>
                    <a:bodyPr/>
                    <a:lstStyle/>
                    <a:p>
                      <a:r>
                        <a:rPr lang="en-US" dirty="0"/>
                        <a:t>Week No:</a:t>
                      </a:r>
                    </a:p>
                  </a:txBody>
                  <a:tcPr/>
                </a:tc>
                <a:tc>
                  <a:txBody>
                    <a:bodyPr/>
                    <a:lstStyle/>
                    <a:p>
                      <a:r>
                        <a:rPr lang="en-US" dirty="0"/>
                        <a:t>2</a:t>
                      </a:r>
                    </a:p>
                  </a:txBody>
                  <a:tcPr/>
                </a:tc>
                <a:tc>
                  <a:txBody>
                    <a:bodyPr/>
                    <a:lstStyle/>
                    <a:p>
                      <a:r>
                        <a:rPr lang="en-US" dirty="0"/>
                        <a:t>Semester:</a:t>
                      </a:r>
                    </a:p>
                  </a:txBody>
                  <a:tcPr/>
                </a:tc>
                <a:tc>
                  <a:txBody>
                    <a:bodyPr/>
                    <a:lstStyle/>
                    <a:p>
                      <a:endParaRPr lang="en-US" dirty="0"/>
                    </a:p>
                  </a:txBody>
                  <a:tcPr/>
                </a:tc>
                <a:extLst>
                  <a:ext uri="{0D108BD9-81ED-4DB2-BD59-A6C34878D82A}">
                    <a16:rowId xmlns:a16="http://schemas.microsoft.com/office/drawing/2014/main" val="2197040212"/>
                  </a:ext>
                </a:extLst>
              </a:tr>
              <a:tr h="3787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Asst. Prof.</a:t>
                      </a:r>
                    </a:p>
                  </a:txBody>
                  <a:tcPr/>
                </a:tc>
                <a:tc gridSpan="5">
                  <a:txBody>
                    <a:bodyPr/>
                    <a:lstStyle/>
                    <a:p>
                      <a:r>
                        <a:rPr lang="en-US" b="1" i="0" dirty="0"/>
                        <a:t>Dr. Hossain Md Shakhawat</a:t>
                      </a:r>
                    </a:p>
                  </a:txBody>
                  <a:tcPr/>
                </a:tc>
                <a:tc hMerge="1">
                  <a:txBody>
                    <a:bodyPr/>
                    <a:lstStyle/>
                    <a:p>
                      <a:endParaRPr lang="x-none"/>
                    </a:p>
                  </a:txBody>
                  <a:tcPr/>
                </a:tc>
                <a:tc hMerge="1">
                  <a:txBody>
                    <a:bodyPr/>
                    <a:lstStyle/>
                    <a:p>
                      <a:endParaRPr lang="x-none"/>
                    </a:p>
                  </a:txBody>
                  <a:tcPr/>
                </a:tc>
                <a:tc hMerge="1">
                  <a:txBody>
                    <a:bodyPr/>
                    <a:lstStyle/>
                    <a:p>
                      <a:endParaRPr lang="x-none"/>
                    </a:p>
                  </a:txBody>
                  <a:tcPr/>
                </a:tc>
                <a:tc hMerge="1">
                  <a:txBody>
                    <a:bodyPr/>
                    <a:lstStyle/>
                    <a:p>
                      <a:endParaRPr lang="x-none"/>
                    </a:p>
                  </a:txBody>
                  <a:tcPr/>
                </a:tc>
                <a:extLst>
                  <a:ext uri="{0D108BD9-81ED-4DB2-BD59-A6C34878D82A}">
                    <a16:rowId xmlns:a16="http://schemas.microsoft.com/office/drawing/2014/main" val="2091734565"/>
                  </a:ext>
                </a:extLst>
              </a:tr>
            </a:tbl>
          </a:graphicData>
        </a:graphic>
      </p:graphicFrame>
      <p:sp>
        <p:nvSpPr>
          <p:cNvPr id="8" name="Subtitle 2">
            <a:extLst>
              <a:ext uri="{FF2B5EF4-FFF2-40B4-BE49-F238E27FC236}">
                <a16:creationId xmlns:a16="http://schemas.microsoft.com/office/drawing/2014/main" id="{FF0F860A-68ED-3A45-9B2E-50E8CE1BC6B7}"/>
              </a:ext>
            </a:extLst>
          </p:cNvPr>
          <p:cNvSpPr txBox="1">
            <a:spLocks/>
          </p:cNvSpPr>
          <p:nvPr/>
        </p:nvSpPr>
        <p:spPr>
          <a:xfrm>
            <a:off x="3320578" y="1538380"/>
            <a:ext cx="416443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dirty="0"/>
              <a:t>Course Title: Discrete Mathematics</a:t>
            </a:r>
          </a:p>
        </p:txBody>
      </p:sp>
      <p:sp>
        <p:nvSpPr>
          <p:cNvPr id="9" name="Slide Number Placeholder 8"/>
          <p:cNvSpPr>
            <a:spLocks noGrp="1"/>
          </p:cNvSpPr>
          <p:nvPr>
            <p:ph type="sldNum" sz="quarter" idx="12"/>
          </p:nvPr>
        </p:nvSpPr>
        <p:spPr/>
        <p:txBody>
          <a:bodyPr/>
          <a:lstStyle/>
          <a:p>
            <a:fld id="{5FD889E0-CAB2-4699-909D-B9A88D47ACBE}" type="slidenum">
              <a:rPr lang="en-US" smtClean="0"/>
              <a:pPr/>
              <a:t>1</a:t>
            </a:fld>
            <a:endParaRPr lang="en-US"/>
          </a:p>
        </p:txBody>
      </p:sp>
    </p:spTree>
    <p:extLst>
      <p:ext uri="{BB962C8B-B14F-4D97-AF65-F5344CB8AC3E}">
        <p14:creationId xmlns:p14="http://schemas.microsoft.com/office/powerpoint/2010/main" val="700707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Lecture Outline</a:t>
            </a:r>
          </a:p>
        </p:txBody>
      </p:sp>
      <p:sp>
        <p:nvSpPr>
          <p:cNvPr id="3" name="Subtitle 2"/>
          <p:cNvSpPr>
            <a:spLocks noGrp="1"/>
          </p:cNvSpPr>
          <p:nvPr>
            <p:ph type="subTitle" idx="1"/>
          </p:nvPr>
        </p:nvSpPr>
        <p:spPr>
          <a:xfrm>
            <a:off x="363864" y="2363928"/>
            <a:ext cx="8234223" cy="3586496"/>
          </a:xfrm>
        </p:spPr>
        <p:txBody>
          <a:bodyPr>
            <a:noAutofit/>
          </a:bodyPr>
          <a:lstStyle/>
          <a:p>
            <a:r>
              <a:rPr lang="en-US" altLang="zh-TW" sz="3200" b="1" dirty="0">
                <a:solidFill>
                  <a:schemeClr val="tx1"/>
                </a:solidFill>
              </a:rPr>
              <a:t>1.3 Predicates and Quantifiers</a:t>
            </a:r>
          </a:p>
          <a:p>
            <a:pPr marL="457200" indent="-274320">
              <a:buClr>
                <a:srgbClr val="FF0000"/>
              </a:buClr>
              <a:buFont typeface="Arial" pitchFamily="34" charset="0"/>
              <a:buChar char="•"/>
            </a:pPr>
            <a:r>
              <a:rPr lang="en-US" sz="2800" b="1" dirty="0">
                <a:solidFill>
                  <a:schemeClr val="tx1"/>
                </a:solidFill>
              </a:rPr>
              <a:t>Predicates </a:t>
            </a:r>
          </a:p>
          <a:p>
            <a:pPr marL="457200" indent="-274320">
              <a:buClr>
                <a:srgbClr val="FF0000"/>
              </a:buClr>
              <a:buFont typeface="Arial" pitchFamily="34" charset="0"/>
              <a:buChar char="•"/>
            </a:pPr>
            <a:r>
              <a:rPr lang="en-US" sz="2800" b="1" dirty="0">
                <a:solidFill>
                  <a:schemeClr val="tx1"/>
                </a:solidFill>
              </a:rPr>
              <a:t>Quantifiers</a:t>
            </a:r>
          </a:p>
          <a:p>
            <a:pPr marL="457200" indent="-274320">
              <a:buClr>
                <a:srgbClr val="FF0000"/>
              </a:buClr>
              <a:buFont typeface="Arial" pitchFamily="34" charset="0"/>
              <a:buChar char="•"/>
            </a:pPr>
            <a:r>
              <a:rPr lang="en-US" sz="2800" b="1" dirty="0">
                <a:solidFill>
                  <a:schemeClr val="tx1"/>
                </a:solidFill>
              </a:rPr>
              <a:t>Universal Quantifier, </a:t>
            </a:r>
            <a:r>
              <a:rPr lang="en-US" sz="2800" b="1" dirty="0">
                <a:solidFill>
                  <a:schemeClr val="tx1"/>
                </a:solidFill>
                <a:latin typeface="Symbol" pitchFamily="18" charset="2"/>
              </a:rPr>
              <a:t></a:t>
            </a:r>
            <a:endParaRPr lang="en-US" sz="2800" b="1" dirty="0">
              <a:solidFill>
                <a:schemeClr val="tx1"/>
              </a:solidFill>
            </a:endParaRPr>
          </a:p>
          <a:p>
            <a:pPr marL="457200" indent="-274320">
              <a:buClr>
                <a:srgbClr val="FF0000"/>
              </a:buClr>
              <a:buFont typeface="Arial" pitchFamily="34" charset="0"/>
              <a:buChar char="•"/>
            </a:pPr>
            <a:r>
              <a:rPr lang="en-US" sz="2800" b="1" dirty="0">
                <a:solidFill>
                  <a:schemeClr val="tx1"/>
                </a:solidFill>
              </a:rPr>
              <a:t>Existential Quantifier, </a:t>
            </a:r>
            <a:r>
              <a:rPr lang="en-US" sz="2800" b="1" dirty="0">
                <a:solidFill>
                  <a:schemeClr val="tx1"/>
                </a:solidFill>
                <a:latin typeface="Symbol" pitchFamily="18" charset="2"/>
              </a:rPr>
              <a:t> </a:t>
            </a:r>
            <a:endParaRPr lang="en-US" sz="2800" b="1" dirty="0">
              <a:solidFill>
                <a:schemeClr val="tx1"/>
              </a:solidFill>
            </a:endParaRPr>
          </a:p>
          <a:p>
            <a:pPr marL="457200" indent="-274320">
              <a:buClr>
                <a:srgbClr val="FF0000"/>
              </a:buClr>
              <a:buFont typeface="Arial" pitchFamily="34" charset="0"/>
              <a:buChar char="•"/>
            </a:pPr>
            <a:r>
              <a:rPr lang="en-US" sz="2800" b="1" dirty="0">
                <a:solidFill>
                  <a:schemeClr val="tx1"/>
                </a:solidFill>
              </a:rPr>
              <a:t>Precedence of Quantifiers</a:t>
            </a:r>
          </a:p>
          <a:p>
            <a:pPr marL="457200" indent="-274320">
              <a:buClr>
                <a:srgbClr val="FF0000"/>
              </a:buClr>
              <a:buFont typeface="Arial" pitchFamily="34" charset="0"/>
              <a:buChar char="•"/>
            </a:pPr>
            <a:r>
              <a:rPr lang="en-US" sz="2800" b="1" dirty="0">
                <a:solidFill>
                  <a:schemeClr val="tx1"/>
                </a:solidFill>
              </a:rPr>
              <a:t>Negating Quantified Expressions</a:t>
            </a:r>
          </a:p>
          <a:p>
            <a:pPr marL="457200" indent="-274320">
              <a:buClr>
                <a:srgbClr val="FF0000"/>
              </a:buClr>
              <a:buFont typeface="Arial" pitchFamily="34" charset="0"/>
              <a:buChar char="•"/>
            </a:pPr>
            <a:r>
              <a:rPr lang="en-US" sz="2800" b="1" dirty="0">
                <a:solidFill>
                  <a:schemeClr val="tx1"/>
                </a:solidFill>
              </a:rPr>
              <a:t>Translating from English into Logical Expressions</a:t>
            </a:r>
          </a:p>
        </p:txBody>
      </p:sp>
      <p:sp>
        <p:nvSpPr>
          <p:cNvPr id="4" name="Slide Number Placeholder 3"/>
          <p:cNvSpPr>
            <a:spLocks noGrp="1"/>
          </p:cNvSpPr>
          <p:nvPr>
            <p:ph type="sldNum" sz="quarter" idx="12"/>
          </p:nvPr>
        </p:nvSpPr>
        <p:spPr/>
        <p:txBody>
          <a:bodyPr/>
          <a:lstStyle/>
          <a:p>
            <a:fld id="{5FD889E0-CAB2-4699-909D-B9A88D47ACBE}" type="slidenum">
              <a:rPr lang="en-US" smtClean="0"/>
              <a:pPr/>
              <a:t>2</a:t>
            </a:fld>
            <a:endParaRPr lang="en-US"/>
          </a:p>
        </p:txBody>
      </p:sp>
    </p:spTree>
    <p:extLst>
      <p:ext uri="{BB962C8B-B14F-4D97-AF65-F5344CB8AC3E}">
        <p14:creationId xmlns:p14="http://schemas.microsoft.com/office/powerpoint/2010/main" val="424874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000" dirty="0">
                <a:latin typeface="+mn-lt"/>
              </a:rPr>
              <a:t>Objectives and Outcomes</a:t>
            </a:r>
          </a:p>
        </p:txBody>
      </p:sp>
      <p:sp>
        <p:nvSpPr>
          <p:cNvPr id="5" name="TextBox 4"/>
          <p:cNvSpPr txBox="1"/>
          <p:nvPr/>
        </p:nvSpPr>
        <p:spPr>
          <a:xfrm>
            <a:off x="271213" y="2156348"/>
            <a:ext cx="8395113" cy="3616375"/>
          </a:xfrm>
          <a:prstGeom prst="rect">
            <a:avLst/>
          </a:prstGeom>
          <a:noFill/>
        </p:spPr>
        <p:txBody>
          <a:bodyPr wrap="square" rtlCol="0">
            <a:spAutoFit/>
          </a:bodyPr>
          <a:lstStyle/>
          <a:p>
            <a:pPr marL="274320" indent="-274320">
              <a:spcBef>
                <a:spcPts val="600"/>
              </a:spcBef>
              <a:buFont typeface="Arial" pitchFamily="34" charset="0"/>
              <a:buChar char="•"/>
            </a:pPr>
            <a:r>
              <a:rPr lang="en-US" sz="2800" b="1" dirty="0">
                <a:solidFill>
                  <a:srgbClr val="FF0000"/>
                </a:solidFill>
              </a:rPr>
              <a:t>Objectives</a:t>
            </a:r>
            <a:r>
              <a:rPr lang="en-US" sz="2800" dirty="0"/>
              <a:t>: To understand predicates , universal and existential quantifiers,  how to translate English statements into logical expressions</a:t>
            </a:r>
          </a:p>
          <a:p>
            <a:pPr marL="274320" indent="-274320">
              <a:spcBef>
                <a:spcPts val="600"/>
              </a:spcBef>
              <a:buFont typeface="Arial" pitchFamily="34" charset="0"/>
              <a:buChar char="•"/>
            </a:pPr>
            <a:r>
              <a:rPr lang="en-US" sz="2800" b="1" dirty="0">
                <a:solidFill>
                  <a:srgbClr val="FF0000"/>
                </a:solidFill>
              </a:rPr>
              <a:t>Outcomes</a:t>
            </a:r>
            <a:r>
              <a:rPr lang="en-US" sz="2800" dirty="0"/>
              <a:t>: Students are expected to be able to explain predicate logic, be able to find out the truth value of universal and existential quantifications, be able to translate English statements into logical expressions using predicates, quantifiers and logical connectives.</a:t>
            </a:r>
          </a:p>
        </p:txBody>
      </p:sp>
      <p:sp>
        <p:nvSpPr>
          <p:cNvPr id="4" name="Slide Number Placeholder 3"/>
          <p:cNvSpPr>
            <a:spLocks noGrp="1"/>
          </p:cNvSpPr>
          <p:nvPr>
            <p:ph type="sldNum" sz="quarter" idx="12"/>
          </p:nvPr>
        </p:nvSpPr>
        <p:spPr/>
        <p:txBody>
          <a:bodyPr/>
          <a:lstStyle/>
          <a:p>
            <a:fld id="{5FD889E0-CAB2-4699-909D-B9A88D47ACBE}" type="slidenum">
              <a:rPr lang="en-US" smtClean="0"/>
              <a:pP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000" dirty="0">
                <a:latin typeface="+mn-lt"/>
              </a:rPr>
              <a:t>Why do we need predicates?</a:t>
            </a:r>
          </a:p>
        </p:txBody>
      </p:sp>
      <p:sp>
        <p:nvSpPr>
          <p:cNvPr id="4" name="Slide Number Placeholder 3"/>
          <p:cNvSpPr>
            <a:spLocks noGrp="1"/>
          </p:cNvSpPr>
          <p:nvPr>
            <p:ph type="sldNum" sz="quarter" idx="12"/>
          </p:nvPr>
        </p:nvSpPr>
        <p:spPr/>
        <p:txBody>
          <a:bodyPr/>
          <a:lstStyle/>
          <a:p>
            <a:fld id="{5FD889E0-CAB2-4699-909D-B9A88D47ACBE}" type="slidenum">
              <a:rPr lang="en-US" smtClean="0"/>
              <a:pPr/>
              <a:t>4</a:t>
            </a:fld>
            <a:endParaRPr lang="en-US"/>
          </a:p>
        </p:txBody>
      </p:sp>
      <p:sp>
        <p:nvSpPr>
          <p:cNvPr id="6" name="TextBox 5">
            <a:extLst>
              <a:ext uri="{FF2B5EF4-FFF2-40B4-BE49-F238E27FC236}">
                <a16:creationId xmlns:a16="http://schemas.microsoft.com/office/drawing/2014/main" id="{C29FDCA3-1D34-3746-869D-42792D7E1DD6}"/>
              </a:ext>
            </a:extLst>
          </p:cNvPr>
          <p:cNvSpPr txBox="1"/>
          <p:nvPr/>
        </p:nvSpPr>
        <p:spPr>
          <a:xfrm>
            <a:off x="271213" y="2156348"/>
            <a:ext cx="8395113" cy="3708708"/>
          </a:xfrm>
          <a:prstGeom prst="rect">
            <a:avLst/>
          </a:prstGeom>
          <a:noFill/>
        </p:spPr>
        <p:txBody>
          <a:bodyPr wrap="square" rtlCol="0">
            <a:spAutoFit/>
          </a:bodyPr>
          <a:lstStyle/>
          <a:p>
            <a:pPr marL="274320" indent="-274320">
              <a:spcBef>
                <a:spcPts val="600"/>
              </a:spcBef>
              <a:buFont typeface="Arial" pitchFamily="34" charset="0"/>
              <a:buChar char="•"/>
            </a:pPr>
            <a:r>
              <a:rPr lang="en-US" sz="2200" dirty="0"/>
              <a:t>So far, we studied propositional logics and equivalence.</a:t>
            </a:r>
          </a:p>
          <a:p>
            <a:pPr marL="274320" indent="-274320">
              <a:spcBef>
                <a:spcPts val="600"/>
              </a:spcBef>
              <a:buFont typeface="Arial" pitchFamily="34" charset="0"/>
              <a:buChar char="•"/>
            </a:pPr>
            <a:r>
              <a:rPr lang="en-US" sz="2200" dirty="0"/>
              <a:t>However, </a:t>
            </a:r>
            <a:r>
              <a:rPr lang="en-US" sz="2200" dirty="0">
                <a:highlight>
                  <a:srgbClr val="00FFFF"/>
                </a:highlight>
              </a:rPr>
              <a:t>propositional logics cannot adequately express the meaning of all statements</a:t>
            </a:r>
            <a:r>
              <a:rPr lang="en-US" sz="2200" dirty="0"/>
              <a:t> in mathematics and in natural language. For example, suppose that we know that “</a:t>
            </a:r>
            <a:r>
              <a:rPr lang="en-US" sz="2200" dirty="0">
                <a:highlight>
                  <a:srgbClr val="FFFF00"/>
                </a:highlight>
              </a:rPr>
              <a:t>Every computer connected to the university network is functioning properly</a:t>
            </a:r>
            <a:r>
              <a:rPr lang="en-US" sz="2200" dirty="0"/>
              <a:t>” </a:t>
            </a:r>
          </a:p>
          <a:p>
            <a:pPr marL="274320" indent="-274320">
              <a:spcBef>
                <a:spcPts val="600"/>
              </a:spcBef>
              <a:buFont typeface="Arial" pitchFamily="34" charset="0"/>
              <a:buChar char="•"/>
            </a:pPr>
            <a:r>
              <a:rPr lang="en-US" sz="2200" dirty="0"/>
              <a:t>No rules of propositional logic allow us to conclude the truth of the statement “MATH3 is functioning properly,” where MATH3 is one of the computers connected to the university network.</a:t>
            </a:r>
          </a:p>
          <a:p>
            <a:pPr marL="274320" indent="-274320">
              <a:spcBef>
                <a:spcPts val="600"/>
              </a:spcBef>
              <a:buFont typeface="Arial" pitchFamily="34" charset="0"/>
              <a:buChar char="•"/>
            </a:pPr>
            <a:r>
              <a:rPr lang="en-US" sz="2200" dirty="0">
                <a:highlight>
                  <a:srgbClr val="00FFFF"/>
                </a:highlight>
              </a:rPr>
              <a:t>A more powerful type of logic called predicate logic can be used to express the meaning</a:t>
            </a:r>
            <a:r>
              <a:rPr lang="en-US" sz="2200" dirty="0"/>
              <a:t>. </a:t>
            </a:r>
          </a:p>
        </p:txBody>
      </p:sp>
    </p:spTree>
    <p:extLst>
      <p:ext uri="{BB962C8B-B14F-4D97-AF65-F5344CB8AC3E}">
        <p14:creationId xmlns:p14="http://schemas.microsoft.com/office/powerpoint/2010/main" val="26688964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000" dirty="0">
                <a:latin typeface="+mn-lt"/>
              </a:rPr>
              <a:t>Predicates</a:t>
            </a:r>
          </a:p>
        </p:txBody>
      </p:sp>
      <p:sp>
        <p:nvSpPr>
          <p:cNvPr id="4" name="Rectangle 3"/>
          <p:cNvSpPr/>
          <p:nvPr/>
        </p:nvSpPr>
        <p:spPr>
          <a:xfrm>
            <a:off x="339453" y="2255068"/>
            <a:ext cx="8531590" cy="4016484"/>
          </a:xfrm>
          <a:prstGeom prst="rect">
            <a:avLst/>
          </a:prstGeom>
        </p:spPr>
        <p:txBody>
          <a:bodyPr wrap="square">
            <a:spAutoFit/>
          </a:bodyPr>
          <a:lstStyle/>
          <a:p>
            <a:pPr marL="274320" indent="-274320">
              <a:spcBef>
                <a:spcPts val="600"/>
              </a:spcBef>
              <a:buFont typeface="Arial" pitchFamily="34" charset="0"/>
              <a:buChar char="•"/>
            </a:pPr>
            <a:r>
              <a:rPr lang="en-US" altLang="zh-TW" sz="2000" b="1" i="1" u="sng" dirty="0">
                <a:solidFill>
                  <a:srgbClr val="FF0000"/>
                </a:solidFill>
              </a:rPr>
              <a:t>Predicate</a:t>
            </a:r>
            <a:r>
              <a:rPr lang="en-US" altLang="zh-TW" sz="2000" dirty="0">
                <a:solidFill>
                  <a:srgbClr val="FF0000"/>
                </a:solidFill>
              </a:rPr>
              <a:t>: </a:t>
            </a:r>
            <a:r>
              <a:rPr lang="en-US" altLang="zh-TW" sz="2000" dirty="0">
                <a:solidFill>
                  <a:srgbClr val="0000FF"/>
                </a:solidFill>
                <a:highlight>
                  <a:srgbClr val="00FFFF"/>
                </a:highlight>
              </a:rPr>
              <a:t>A property that the subject of the statement can have.</a:t>
            </a:r>
          </a:p>
          <a:p>
            <a:pPr marL="274320" lvl="1" indent="-274320">
              <a:spcBef>
                <a:spcPts val="600"/>
              </a:spcBef>
              <a:buFont typeface="Arial" pitchFamily="34" charset="0"/>
              <a:buChar char="•"/>
            </a:pPr>
            <a:r>
              <a:rPr lang="en-US" altLang="zh-TW" sz="2000" u="sng" dirty="0">
                <a:solidFill>
                  <a:srgbClr val="FF0000"/>
                </a:solidFill>
              </a:rPr>
              <a:t>Example</a:t>
            </a:r>
            <a:r>
              <a:rPr lang="en-US" altLang="zh-TW" sz="2000" dirty="0">
                <a:solidFill>
                  <a:srgbClr val="FF0000"/>
                </a:solidFill>
              </a:rPr>
              <a:t>:  </a:t>
            </a:r>
            <a:r>
              <a:rPr lang="en-US" altLang="zh-TW" sz="2000" dirty="0"/>
              <a:t>“ x &gt; 3 ”</a:t>
            </a:r>
          </a:p>
          <a:p>
            <a:pPr marL="274320" lvl="3" indent="-274320">
              <a:spcBef>
                <a:spcPts val="600"/>
              </a:spcBef>
            </a:pPr>
            <a:r>
              <a:rPr lang="en-US" altLang="zh-TW" sz="2000" dirty="0">
                <a:solidFill>
                  <a:srgbClr val="0000FF"/>
                </a:solidFill>
              </a:rPr>
              <a:t>			  x: variable</a:t>
            </a:r>
          </a:p>
          <a:p>
            <a:pPr marL="274320" lvl="3" indent="-274320">
              <a:spcBef>
                <a:spcPts val="600"/>
              </a:spcBef>
            </a:pPr>
            <a:r>
              <a:rPr lang="en-US" altLang="zh-TW" sz="2000" dirty="0">
                <a:solidFill>
                  <a:srgbClr val="0000FF"/>
                </a:solidFill>
              </a:rPr>
              <a:t>			&gt;3: predicate</a:t>
            </a:r>
          </a:p>
          <a:p>
            <a:pPr marL="274320" indent="-274320">
              <a:spcBef>
                <a:spcPts val="600"/>
              </a:spcBef>
              <a:buFont typeface="Arial" pitchFamily="34" charset="0"/>
              <a:buChar char="•"/>
            </a:pPr>
            <a:r>
              <a:rPr lang="en-US" altLang="zh-TW" sz="2000" dirty="0"/>
              <a:t>We can denote the statement </a:t>
            </a:r>
            <a:r>
              <a:rPr lang="en-US" altLang="zh-TW" sz="2000" dirty="0">
                <a:solidFill>
                  <a:srgbClr val="0000FF"/>
                </a:solidFill>
              </a:rPr>
              <a:t>“x is greater than 3” </a:t>
            </a:r>
            <a:r>
              <a:rPr lang="en-US" altLang="zh-TW" sz="2000" dirty="0"/>
              <a:t>by </a:t>
            </a:r>
            <a:r>
              <a:rPr lang="en-US" altLang="zh-TW" sz="2000" i="1" dirty="0">
                <a:solidFill>
                  <a:srgbClr val="0000FF"/>
                </a:solidFill>
              </a:rPr>
              <a:t>P</a:t>
            </a:r>
            <a:r>
              <a:rPr lang="en-US" altLang="zh-TW" sz="2000" dirty="0">
                <a:solidFill>
                  <a:srgbClr val="0000FF"/>
                </a:solidFill>
              </a:rPr>
              <a:t>(x)</a:t>
            </a:r>
            <a:r>
              <a:rPr lang="en-US" altLang="zh-TW" sz="2000" dirty="0"/>
              <a:t>, where </a:t>
            </a:r>
            <a:r>
              <a:rPr lang="en-US" altLang="zh-TW" sz="2000" i="1" dirty="0"/>
              <a:t>P </a:t>
            </a:r>
            <a:r>
              <a:rPr lang="en-US" altLang="zh-TW" sz="2000" dirty="0"/>
              <a:t>denotes the predicate “is greater than” and x is the variable. The </a:t>
            </a:r>
            <a:r>
              <a:rPr lang="en-US" altLang="zh-TW" sz="2000" dirty="0">
                <a:solidFill>
                  <a:srgbClr val="0000FF"/>
                </a:solidFill>
              </a:rPr>
              <a:t>statement </a:t>
            </a:r>
            <a:r>
              <a:rPr lang="en-US" altLang="zh-TW" sz="2000" i="1" dirty="0">
                <a:solidFill>
                  <a:srgbClr val="0000FF"/>
                </a:solidFill>
              </a:rPr>
              <a:t>P</a:t>
            </a:r>
            <a:r>
              <a:rPr lang="en-US" altLang="zh-TW" sz="2000" dirty="0">
                <a:solidFill>
                  <a:srgbClr val="0000FF"/>
                </a:solidFill>
              </a:rPr>
              <a:t>(x) </a:t>
            </a:r>
            <a:r>
              <a:rPr lang="en-US" altLang="zh-TW" sz="2000" dirty="0"/>
              <a:t>is also said to be the </a:t>
            </a:r>
            <a:r>
              <a:rPr lang="en-US" altLang="zh-TW" sz="2000" dirty="0">
                <a:solidFill>
                  <a:srgbClr val="0000FF"/>
                </a:solidFill>
              </a:rPr>
              <a:t>value of the propositional function </a:t>
            </a:r>
            <a:r>
              <a:rPr lang="en-US" altLang="zh-TW" sz="2000" i="1" dirty="0">
                <a:solidFill>
                  <a:srgbClr val="0000FF"/>
                </a:solidFill>
              </a:rPr>
              <a:t>P</a:t>
            </a:r>
            <a:r>
              <a:rPr lang="en-US" altLang="zh-TW" sz="2000" dirty="0">
                <a:solidFill>
                  <a:srgbClr val="0000FF"/>
                </a:solidFill>
              </a:rPr>
              <a:t> at x.</a:t>
            </a:r>
          </a:p>
          <a:p>
            <a:pPr marL="731520" lvl="3" indent="-274320">
              <a:spcBef>
                <a:spcPts val="600"/>
              </a:spcBef>
              <a:buFont typeface="Arial" pitchFamily="34" charset="0"/>
              <a:buChar char="•"/>
            </a:pPr>
            <a:r>
              <a:rPr lang="en-US" altLang="zh-TW" sz="2000" dirty="0">
                <a:solidFill>
                  <a:srgbClr val="0000FF"/>
                </a:solidFill>
              </a:rPr>
              <a:t>P(x): x&gt;3 </a:t>
            </a:r>
          </a:p>
          <a:p>
            <a:pPr marL="731520" lvl="4" indent="-274320">
              <a:spcBef>
                <a:spcPts val="600"/>
              </a:spcBef>
              <a:buFont typeface="Arial" pitchFamily="34" charset="0"/>
              <a:buChar char="•"/>
            </a:pPr>
            <a:r>
              <a:rPr lang="en-US" altLang="zh-TW" sz="2000" dirty="0">
                <a:solidFill>
                  <a:srgbClr val="0000FF"/>
                </a:solidFill>
              </a:rPr>
              <a:t>The value of the propositional function </a:t>
            </a:r>
            <a:r>
              <a:rPr lang="en-US" altLang="zh-TW" sz="2000" i="1" dirty="0">
                <a:solidFill>
                  <a:srgbClr val="0000FF"/>
                </a:solidFill>
              </a:rPr>
              <a:t>P</a:t>
            </a:r>
            <a:r>
              <a:rPr lang="en-US" altLang="zh-TW" sz="2000" dirty="0">
                <a:solidFill>
                  <a:srgbClr val="0000FF"/>
                </a:solidFill>
              </a:rPr>
              <a:t> at x</a:t>
            </a:r>
          </a:p>
          <a:p>
            <a:pPr marL="274320" indent="-274320">
              <a:spcBef>
                <a:spcPts val="600"/>
              </a:spcBef>
              <a:buFont typeface="Arial" pitchFamily="34" charset="0"/>
              <a:buChar char="•"/>
            </a:pPr>
            <a:r>
              <a:rPr lang="en-US" sz="2000" b="1" u="sng" dirty="0">
                <a:solidFill>
                  <a:srgbClr val="FF0000"/>
                </a:solidFill>
              </a:rPr>
              <a:t>Note</a:t>
            </a:r>
            <a:r>
              <a:rPr lang="en-US" sz="2000" dirty="0"/>
              <a:t>: </a:t>
            </a:r>
            <a:r>
              <a:rPr lang="en-US" sz="2000" i="1" dirty="0">
                <a:solidFill>
                  <a:srgbClr val="FF0000"/>
                </a:solidFill>
              </a:rPr>
              <a:t>Once a value has been assigned to the variable x, the statement P(x) becomes a proposition and has a truth value (either TRUE or FALSE) </a:t>
            </a:r>
          </a:p>
        </p:txBody>
      </p:sp>
      <p:sp>
        <p:nvSpPr>
          <p:cNvPr id="5" name="Slide Number Placeholder 4"/>
          <p:cNvSpPr>
            <a:spLocks noGrp="1"/>
          </p:cNvSpPr>
          <p:nvPr>
            <p:ph type="sldNum" sz="quarter" idx="12"/>
          </p:nvPr>
        </p:nvSpPr>
        <p:spPr/>
        <p:txBody>
          <a:bodyPr/>
          <a:lstStyle/>
          <a:p>
            <a:fld id="{5FD889E0-CAB2-4699-909D-B9A88D47ACBE}" type="slidenum">
              <a:rPr lang="en-US" smtClean="0"/>
              <a:pPr/>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000" dirty="0">
                <a:latin typeface="+mn-lt"/>
              </a:rPr>
              <a:t>Predicates</a:t>
            </a:r>
          </a:p>
        </p:txBody>
      </p:sp>
      <p:sp>
        <p:nvSpPr>
          <p:cNvPr id="4" name="Rectangle 3"/>
          <p:cNvSpPr/>
          <p:nvPr/>
        </p:nvSpPr>
        <p:spPr>
          <a:xfrm>
            <a:off x="312157" y="2363828"/>
            <a:ext cx="8531589" cy="3862596"/>
          </a:xfrm>
          <a:prstGeom prst="rect">
            <a:avLst/>
          </a:prstGeom>
        </p:spPr>
        <p:txBody>
          <a:bodyPr wrap="square">
            <a:spAutoFit/>
          </a:bodyPr>
          <a:lstStyle/>
          <a:p>
            <a:pPr marL="274320" indent="-274320">
              <a:spcBef>
                <a:spcPts val="600"/>
              </a:spcBef>
              <a:buFont typeface="Arial" pitchFamily="34" charset="0"/>
              <a:buChar char="•"/>
              <a:defRPr/>
            </a:pPr>
            <a:r>
              <a:rPr lang="en-US" sz="2000" dirty="0">
                <a:highlight>
                  <a:srgbClr val="00FFFF"/>
                </a:highlight>
              </a:rPr>
              <a:t>A predicate is a sentence that contains a finite number of variables and becomes a proposition when specific values are substituted for the variables.</a:t>
            </a:r>
          </a:p>
          <a:p>
            <a:pPr marL="274320" indent="-274320">
              <a:spcBef>
                <a:spcPts val="600"/>
              </a:spcBef>
              <a:buFont typeface="Arial" pitchFamily="34" charset="0"/>
              <a:buChar char="•"/>
              <a:defRPr/>
            </a:pPr>
            <a:r>
              <a:rPr lang="en-US" sz="2000" dirty="0">
                <a:solidFill>
                  <a:srgbClr val="0000FF"/>
                </a:solidFill>
              </a:rPr>
              <a:t>A </a:t>
            </a:r>
            <a:r>
              <a:rPr lang="en-US" sz="2000" b="1" i="1" dirty="0">
                <a:solidFill>
                  <a:srgbClr val="0000FF"/>
                </a:solidFill>
              </a:rPr>
              <a:t>predicate</a:t>
            </a:r>
            <a:r>
              <a:rPr lang="en-US" sz="2000" dirty="0">
                <a:solidFill>
                  <a:srgbClr val="0000FF"/>
                </a:solidFill>
              </a:rPr>
              <a:t>, </a:t>
            </a:r>
            <a:r>
              <a:rPr lang="en-US" sz="2000" b="1" dirty="0">
                <a:solidFill>
                  <a:srgbClr val="0000FF"/>
                </a:solidFill>
              </a:rPr>
              <a:t>or propositional function</a:t>
            </a:r>
            <a:r>
              <a:rPr lang="en-US" sz="2000" dirty="0">
                <a:solidFill>
                  <a:srgbClr val="0000FF"/>
                </a:solidFill>
              </a:rPr>
              <a:t>, is a function that takes some variable(s) as arguments and returns True or False.</a:t>
            </a:r>
          </a:p>
          <a:p>
            <a:pPr marL="274320" indent="-274320">
              <a:spcBef>
                <a:spcPts val="600"/>
              </a:spcBef>
              <a:buFont typeface="Arial" pitchFamily="34" charset="0"/>
              <a:buChar char="•"/>
              <a:defRPr/>
            </a:pPr>
            <a:r>
              <a:rPr lang="en-US" sz="2000" dirty="0"/>
              <a:t>A </a:t>
            </a:r>
            <a:r>
              <a:rPr lang="en-US" sz="2000" b="1" cap="all" dirty="0">
                <a:solidFill>
                  <a:srgbClr val="FF0000"/>
                </a:solidFill>
              </a:rPr>
              <a:t>predicate</a:t>
            </a:r>
            <a:r>
              <a:rPr lang="en-US" sz="2000" dirty="0"/>
              <a:t> is symbolized by a </a:t>
            </a:r>
            <a:r>
              <a:rPr lang="en-US" sz="2000" b="1" cap="all" dirty="0">
                <a:solidFill>
                  <a:srgbClr val="FF0000"/>
                </a:solidFill>
              </a:rPr>
              <a:t>capital letter </a:t>
            </a:r>
            <a:r>
              <a:rPr lang="en-US" sz="2000" dirty="0"/>
              <a:t>and the </a:t>
            </a:r>
            <a:r>
              <a:rPr lang="en-US" sz="2000" b="1" i="1" dirty="0">
                <a:solidFill>
                  <a:srgbClr val="FF0000"/>
                </a:solidFill>
              </a:rPr>
              <a:t>variable(s</a:t>
            </a:r>
            <a:r>
              <a:rPr lang="en-US" sz="2000" b="1" dirty="0">
                <a:solidFill>
                  <a:srgbClr val="FF0000"/>
                </a:solidFill>
              </a:rPr>
              <a:t>)</a:t>
            </a:r>
            <a:r>
              <a:rPr lang="en-US" sz="2000" dirty="0"/>
              <a:t> by </a:t>
            </a:r>
            <a:r>
              <a:rPr lang="en-US" sz="2000" b="1" i="1" dirty="0">
                <a:solidFill>
                  <a:srgbClr val="FF0000"/>
                </a:solidFill>
              </a:rPr>
              <a:t>small letter(s).</a:t>
            </a:r>
          </a:p>
          <a:p>
            <a:pPr marL="274320" indent="-274320">
              <a:spcBef>
                <a:spcPts val="600"/>
              </a:spcBef>
              <a:buFont typeface="Arial" pitchFamily="34" charset="0"/>
              <a:buChar char="•"/>
              <a:defRPr/>
            </a:pPr>
            <a:r>
              <a:rPr lang="en-US" sz="2000" dirty="0"/>
              <a:t>The sentence </a:t>
            </a:r>
            <a:r>
              <a:rPr lang="en-US" sz="2000" i="1" dirty="0"/>
              <a:t>“</a:t>
            </a:r>
            <a:r>
              <a:rPr lang="en-US" sz="2000" i="1" dirty="0">
                <a:solidFill>
                  <a:srgbClr val="0000FF"/>
                </a:solidFill>
              </a:rPr>
              <a:t>x </a:t>
            </a:r>
            <a:r>
              <a:rPr lang="en-US" sz="2000" dirty="0">
                <a:solidFill>
                  <a:srgbClr val="0000FF"/>
                </a:solidFill>
              </a:rPr>
              <a:t>is a bachelor</a:t>
            </a:r>
            <a:r>
              <a:rPr lang="en-US" sz="2000" dirty="0"/>
              <a:t>” is symbolized as </a:t>
            </a:r>
            <a:r>
              <a:rPr lang="en-US" sz="2000" i="1" dirty="0">
                <a:solidFill>
                  <a:srgbClr val="0033CC"/>
                </a:solidFill>
              </a:rPr>
              <a:t>P(x</a:t>
            </a:r>
            <a:r>
              <a:rPr lang="en-US" sz="2000" dirty="0">
                <a:solidFill>
                  <a:srgbClr val="0033CC"/>
                </a:solidFill>
              </a:rPr>
              <a:t>)</a:t>
            </a:r>
            <a:r>
              <a:rPr lang="en-US" sz="2000" dirty="0"/>
              <a:t>,</a:t>
            </a:r>
          </a:p>
          <a:p>
            <a:pPr marL="274320" indent="-274320">
              <a:spcBef>
                <a:spcPts val="600"/>
              </a:spcBef>
              <a:defRPr/>
            </a:pPr>
            <a:r>
              <a:rPr lang="en-US" sz="2000" dirty="0"/>
              <a:t>	where </a:t>
            </a:r>
            <a:r>
              <a:rPr lang="en-US" sz="2000" i="1" dirty="0">
                <a:solidFill>
                  <a:srgbClr val="0033CC"/>
                </a:solidFill>
              </a:rPr>
              <a:t>x</a:t>
            </a:r>
            <a:r>
              <a:rPr lang="en-US" sz="2000" dirty="0">
                <a:solidFill>
                  <a:srgbClr val="0033CC"/>
                </a:solidFill>
              </a:rPr>
              <a:t> is a variable</a:t>
            </a:r>
            <a:r>
              <a:rPr lang="en-US" sz="2000" dirty="0"/>
              <a:t>. When concrete values are substituted	 in place of </a:t>
            </a:r>
            <a:r>
              <a:rPr lang="en-US" sz="2000" i="1" dirty="0"/>
              <a:t>x</a:t>
            </a:r>
            <a:r>
              <a:rPr lang="en-US" sz="2000" dirty="0"/>
              <a:t>, a proposition results(with a truth value, either True or False). </a:t>
            </a:r>
            <a:r>
              <a:rPr lang="en-US" sz="2000" dirty="0">
                <a:solidFill>
                  <a:srgbClr val="0000FF"/>
                </a:solidFill>
              </a:rPr>
              <a:t>P(</a:t>
            </a:r>
            <a:r>
              <a:rPr lang="en-US" sz="2000" i="1" dirty="0">
                <a:solidFill>
                  <a:srgbClr val="0000FF"/>
                </a:solidFill>
              </a:rPr>
              <a:t>x</a:t>
            </a:r>
            <a:r>
              <a:rPr lang="en-US" sz="2000" dirty="0">
                <a:solidFill>
                  <a:srgbClr val="0000FF"/>
                </a:solidFill>
              </a:rPr>
              <a:t>) </a:t>
            </a:r>
            <a:r>
              <a:rPr lang="en-US" sz="2000" dirty="0"/>
              <a:t>is also called a </a:t>
            </a:r>
            <a:r>
              <a:rPr lang="en-US" sz="2000" i="1" dirty="0">
                <a:solidFill>
                  <a:srgbClr val="0000FF"/>
                </a:solidFill>
              </a:rPr>
              <a:t>propositional function </a:t>
            </a:r>
            <a:r>
              <a:rPr lang="en-US" sz="2000" dirty="0"/>
              <a:t>, because each choice of </a:t>
            </a:r>
            <a:r>
              <a:rPr lang="en-US" sz="2000" i="1" dirty="0"/>
              <a:t>x</a:t>
            </a:r>
            <a:r>
              <a:rPr lang="en-US" sz="2000" dirty="0"/>
              <a:t> produces a proposition </a:t>
            </a:r>
            <a:r>
              <a:rPr lang="en-US" sz="2000" i="1" dirty="0"/>
              <a:t>P</a:t>
            </a:r>
            <a:r>
              <a:rPr lang="en-US" sz="2000" dirty="0"/>
              <a:t>(x) that is either true or false. </a:t>
            </a:r>
          </a:p>
        </p:txBody>
      </p:sp>
      <p:sp>
        <p:nvSpPr>
          <p:cNvPr id="5" name="Slide Number Placeholder 4"/>
          <p:cNvSpPr>
            <a:spLocks noGrp="1"/>
          </p:cNvSpPr>
          <p:nvPr>
            <p:ph type="sldNum" sz="quarter" idx="12"/>
          </p:nvPr>
        </p:nvSpPr>
        <p:spPr/>
        <p:txBody>
          <a:bodyPr/>
          <a:lstStyle/>
          <a:p>
            <a:fld id="{5FD889E0-CAB2-4699-909D-B9A88D47ACBE}" type="slidenum">
              <a:rPr lang="en-US" smtClean="0"/>
              <a:pPr/>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000" dirty="0">
                <a:latin typeface="+mn-lt"/>
              </a:rPr>
              <a:t>Example 1</a:t>
            </a:r>
          </a:p>
        </p:txBody>
      </p:sp>
      <p:sp>
        <p:nvSpPr>
          <p:cNvPr id="4" name="Rectangle 3"/>
          <p:cNvSpPr/>
          <p:nvPr/>
        </p:nvSpPr>
        <p:spPr>
          <a:xfrm>
            <a:off x="218364" y="2198520"/>
            <a:ext cx="8570794" cy="4431983"/>
          </a:xfrm>
          <a:prstGeom prst="rect">
            <a:avLst/>
          </a:prstGeom>
        </p:spPr>
        <p:txBody>
          <a:bodyPr wrap="square">
            <a:spAutoFit/>
          </a:bodyPr>
          <a:lstStyle/>
          <a:p>
            <a:pPr marL="274320" indent="-274320">
              <a:spcBef>
                <a:spcPts val="600"/>
              </a:spcBef>
              <a:buFont typeface="Arial" pitchFamily="34" charset="0"/>
              <a:buChar char="•"/>
            </a:pPr>
            <a:r>
              <a:rPr lang="en-US" sz="2800" dirty="0"/>
              <a:t>Let </a:t>
            </a:r>
            <a:r>
              <a:rPr lang="en-US" sz="2800" i="1" dirty="0"/>
              <a:t>P</a:t>
            </a:r>
            <a:r>
              <a:rPr lang="en-US" sz="2800" dirty="0"/>
              <a:t>(</a:t>
            </a:r>
            <a:r>
              <a:rPr lang="en-US" sz="2800" i="1" dirty="0"/>
              <a:t>x</a:t>
            </a:r>
            <a:r>
              <a:rPr lang="en-US" sz="2800" dirty="0"/>
              <a:t>) denote the statement “x&gt;3”. </a:t>
            </a:r>
          </a:p>
          <a:p>
            <a:pPr marL="274320" indent="-274320">
              <a:spcBef>
                <a:spcPts val="600"/>
              </a:spcBef>
            </a:pPr>
            <a:r>
              <a:rPr lang="en-US" sz="2800" dirty="0"/>
              <a:t> 	What are the truth values of </a:t>
            </a:r>
            <a:r>
              <a:rPr lang="en-US" sz="2800" i="1" dirty="0"/>
              <a:t>P</a:t>
            </a:r>
            <a:r>
              <a:rPr lang="en-US" sz="2800" dirty="0"/>
              <a:t>(4) and </a:t>
            </a:r>
            <a:r>
              <a:rPr lang="en-US" sz="2800" i="1" dirty="0"/>
              <a:t>P</a:t>
            </a:r>
            <a:r>
              <a:rPr lang="en-US" sz="2800" dirty="0"/>
              <a:t>(2)?</a:t>
            </a:r>
          </a:p>
          <a:p>
            <a:pPr marL="274320" indent="-274320">
              <a:spcBef>
                <a:spcPts val="600"/>
              </a:spcBef>
              <a:buFont typeface="Arial" pitchFamily="34" charset="0"/>
              <a:buChar char="•"/>
            </a:pPr>
            <a:endParaRPr lang="en-US" sz="2800" dirty="0"/>
          </a:p>
          <a:p>
            <a:pPr marL="274320" indent="-274320">
              <a:spcBef>
                <a:spcPts val="600"/>
              </a:spcBef>
              <a:buFont typeface="Wingdings" pitchFamily="2" charset="2"/>
              <a:buChar char="§"/>
            </a:pPr>
            <a:r>
              <a:rPr lang="en-US" sz="2800" b="1" u="sng" dirty="0">
                <a:solidFill>
                  <a:srgbClr val="FF0000"/>
                </a:solidFill>
              </a:rPr>
              <a:t>Solution</a:t>
            </a:r>
            <a:r>
              <a:rPr lang="en-US" sz="2800" dirty="0"/>
              <a:t>: 	</a:t>
            </a:r>
            <a:r>
              <a:rPr lang="en-US" sz="2800" dirty="0">
                <a:solidFill>
                  <a:srgbClr val="FF0000"/>
                </a:solidFill>
              </a:rPr>
              <a:t>Given ==&gt; </a:t>
            </a:r>
            <a:r>
              <a:rPr lang="en-US" sz="2800" dirty="0"/>
              <a:t> </a:t>
            </a:r>
            <a:r>
              <a:rPr lang="en-US" sz="2800" i="1" dirty="0">
                <a:solidFill>
                  <a:srgbClr val="FF0000"/>
                </a:solidFill>
              </a:rPr>
              <a:t>P</a:t>
            </a:r>
            <a:r>
              <a:rPr lang="en-US" sz="2800" dirty="0">
                <a:solidFill>
                  <a:srgbClr val="FF0000"/>
                </a:solidFill>
              </a:rPr>
              <a:t>(x) : “</a:t>
            </a:r>
            <a:r>
              <a:rPr lang="en-US" sz="2800" i="1" dirty="0">
                <a:solidFill>
                  <a:srgbClr val="FF0000"/>
                </a:solidFill>
              </a:rPr>
              <a:t>x</a:t>
            </a:r>
            <a:r>
              <a:rPr lang="en-US" sz="2800" dirty="0">
                <a:solidFill>
                  <a:srgbClr val="FF0000"/>
                </a:solidFill>
              </a:rPr>
              <a:t>&gt;3”  </a:t>
            </a:r>
            <a:r>
              <a:rPr lang="en-US" sz="2800" dirty="0"/>
              <a:t>			</a:t>
            </a:r>
            <a:endParaRPr lang="en-US" sz="2800" dirty="0">
              <a:solidFill>
                <a:srgbClr val="FF0000"/>
              </a:solidFill>
            </a:endParaRPr>
          </a:p>
          <a:p>
            <a:pPr marL="274320" indent="-274320">
              <a:spcBef>
                <a:spcPts val="600"/>
              </a:spcBef>
              <a:buFont typeface="Arial" pitchFamily="34" charset="0"/>
              <a:buChar char="•"/>
            </a:pPr>
            <a:r>
              <a:rPr lang="en-US" sz="2800" dirty="0"/>
              <a:t>We obtain the statement </a:t>
            </a:r>
            <a:r>
              <a:rPr lang="en-US" sz="2800" i="1" dirty="0"/>
              <a:t>P</a:t>
            </a:r>
            <a:r>
              <a:rPr lang="en-US" sz="2800" dirty="0"/>
              <a:t>(4) by setting </a:t>
            </a:r>
            <a:r>
              <a:rPr lang="en-US" sz="2800" i="1" dirty="0"/>
              <a:t>x</a:t>
            </a:r>
            <a:r>
              <a:rPr lang="en-US" sz="2800" dirty="0"/>
              <a:t> = 4 in the statement “</a:t>
            </a:r>
            <a:r>
              <a:rPr lang="en-US" sz="2800" i="1" dirty="0"/>
              <a:t>x</a:t>
            </a:r>
            <a:r>
              <a:rPr lang="en-US" sz="2800" dirty="0"/>
              <a:t>&gt;3”. Hence </a:t>
            </a:r>
            <a:r>
              <a:rPr lang="en-US" sz="2800" i="1" dirty="0"/>
              <a:t>P</a:t>
            </a:r>
            <a:r>
              <a:rPr lang="en-US" sz="2800" dirty="0"/>
              <a:t>(4), which is the statement “</a:t>
            </a:r>
            <a:r>
              <a:rPr lang="en-US" sz="2800" b="1" dirty="0">
                <a:solidFill>
                  <a:srgbClr val="0000FF"/>
                </a:solidFill>
              </a:rPr>
              <a:t>4&gt;3</a:t>
            </a:r>
            <a:r>
              <a:rPr lang="en-US" sz="2800" dirty="0"/>
              <a:t>”, is </a:t>
            </a:r>
            <a:r>
              <a:rPr lang="en-US" sz="2800" b="1" dirty="0">
                <a:solidFill>
                  <a:srgbClr val="0000FF"/>
                </a:solidFill>
              </a:rPr>
              <a:t>true</a:t>
            </a:r>
            <a:r>
              <a:rPr lang="en-US" sz="2800" dirty="0"/>
              <a:t>.</a:t>
            </a:r>
          </a:p>
          <a:p>
            <a:pPr marL="274320" indent="-274320">
              <a:spcBef>
                <a:spcPts val="600"/>
              </a:spcBef>
              <a:buFont typeface="Arial" pitchFamily="34" charset="0"/>
              <a:buChar char="•"/>
            </a:pPr>
            <a:r>
              <a:rPr lang="en-US" sz="2800" dirty="0"/>
              <a:t>However, </a:t>
            </a:r>
            <a:r>
              <a:rPr lang="en-US" sz="2800" i="1" dirty="0"/>
              <a:t>P</a:t>
            </a:r>
            <a:r>
              <a:rPr lang="en-US" sz="2800" dirty="0"/>
              <a:t>(2) which is the statement  “</a:t>
            </a:r>
            <a:r>
              <a:rPr lang="en-US" sz="2800" b="1" dirty="0">
                <a:solidFill>
                  <a:srgbClr val="FF0000"/>
                </a:solidFill>
              </a:rPr>
              <a:t>2&gt;3</a:t>
            </a:r>
            <a:r>
              <a:rPr lang="en-US" sz="2800" dirty="0"/>
              <a:t>”, is </a:t>
            </a:r>
            <a:r>
              <a:rPr lang="en-US" sz="2800" b="1" dirty="0">
                <a:solidFill>
                  <a:srgbClr val="FF0000"/>
                </a:solidFill>
              </a:rPr>
              <a:t>false</a:t>
            </a:r>
            <a:r>
              <a:rPr lang="en-US" sz="2800" dirty="0"/>
              <a:t>.</a:t>
            </a:r>
          </a:p>
          <a:p>
            <a:pPr marL="274320" indent="-274320">
              <a:spcBef>
                <a:spcPts val="600"/>
              </a:spcBef>
              <a:buFont typeface="Arial" pitchFamily="34" charset="0"/>
              <a:buChar char="•"/>
            </a:pPr>
            <a:r>
              <a:rPr lang="en-US" sz="2800" dirty="0"/>
              <a:t> </a:t>
            </a:r>
          </a:p>
        </p:txBody>
      </p:sp>
      <p:sp>
        <p:nvSpPr>
          <p:cNvPr id="5" name="Slide Number Placeholder 4"/>
          <p:cNvSpPr>
            <a:spLocks noGrp="1"/>
          </p:cNvSpPr>
          <p:nvPr>
            <p:ph type="sldNum" sz="quarter" idx="12"/>
          </p:nvPr>
        </p:nvSpPr>
        <p:spPr/>
        <p:txBody>
          <a:bodyPr/>
          <a:lstStyle/>
          <a:p>
            <a:fld id="{5FD889E0-CAB2-4699-909D-B9A88D47ACBE}" type="slidenum">
              <a:rPr lang="en-US" smtClean="0"/>
              <a:pPr/>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000" dirty="0">
                <a:latin typeface="+mn-lt"/>
              </a:rPr>
              <a:t>Example 2 </a:t>
            </a:r>
          </a:p>
        </p:txBody>
      </p:sp>
      <p:sp>
        <p:nvSpPr>
          <p:cNvPr id="4" name="Rectangle 3"/>
          <p:cNvSpPr/>
          <p:nvPr/>
        </p:nvSpPr>
        <p:spPr>
          <a:xfrm>
            <a:off x="354836" y="2136546"/>
            <a:ext cx="8475260" cy="3801041"/>
          </a:xfrm>
          <a:prstGeom prst="rect">
            <a:avLst/>
          </a:prstGeom>
        </p:spPr>
        <p:txBody>
          <a:bodyPr wrap="square">
            <a:spAutoFit/>
          </a:bodyPr>
          <a:lstStyle/>
          <a:p>
            <a:pPr marL="274320" indent="-274320">
              <a:spcBef>
                <a:spcPts val="600"/>
              </a:spcBef>
              <a:buFont typeface="Arial" pitchFamily="34" charset="0"/>
              <a:buChar char="•"/>
            </a:pPr>
            <a:r>
              <a:rPr lang="en-US" sz="2400" dirty="0"/>
              <a:t>Let</a:t>
            </a:r>
            <a:r>
              <a:rPr lang="en-US" sz="2400" dirty="0">
                <a:solidFill>
                  <a:srgbClr val="FF0000"/>
                </a:solidFill>
              </a:rPr>
              <a:t>, </a:t>
            </a:r>
            <a:r>
              <a:rPr lang="en-US" sz="2400" i="1" dirty="0">
                <a:solidFill>
                  <a:srgbClr val="FF0000"/>
                </a:solidFill>
              </a:rPr>
              <a:t>A</a:t>
            </a:r>
            <a:r>
              <a:rPr lang="en-US" sz="2400" dirty="0">
                <a:solidFill>
                  <a:srgbClr val="FF0000"/>
                </a:solidFill>
              </a:rPr>
              <a:t>(x) : “Computer x is under attack by an intruder”. </a:t>
            </a:r>
            <a:r>
              <a:rPr lang="en-US" sz="2400" dirty="0"/>
              <a:t>Suppose that of the computers on campus, only C1 and C7 are currently under attack by intruders.  What are the truth values of </a:t>
            </a:r>
            <a:r>
              <a:rPr lang="en-US" sz="2400" i="1" dirty="0"/>
              <a:t>A </a:t>
            </a:r>
            <a:r>
              <a:rPr lang="en-US" sz="2400" dirty="0"/>
              <a:t>(C1), </a:t>
            </a:r>
            <a:r>
              <a:rPr lang="en-US" sz="2400" i="1" dirty="0"/>
              <a:t>A</a:t>
            </a:r>
            <a:r>
              <a:rPr lang="en-US" sz="2400" dirty="0"/>
              <a:t>(C3), </a:t>
            </a:r>
            <a:r>
              <a:rPr lang="en-US" sz="2400" i="1" dirty="0"/>
              <a:t>A</a:t>
            </a:r>
            <a:r>
              <a:rPr lang="en-US" sz="2400" dirty="0"/>
              <a:t>(C7)?</a:t>
            </a:r>
          </a:p>
          <a:p>
            <a:pPr marL="274320" indent="-274320">
              <a:spcBef>
                <a:spcPts val="600"/>
              </a:spcBef>
              <a:buFont typeface="Wingdings" pitchFamily="2" charset="2"/>
              <a:buChar char="§"/>
            </a:pPr>
            <a:r>
              <a:rPr lang="en-US" sz="2400" b="1" dirty="0">
                <a:solidFill>
                  <a:srgbClr val="0000FF"/>
                </a:solidFill>
              </a:rPr>
              <a:t>Solution</a:t>
            </a:r>
            <a:r>
              <a:rPr lang="en-US" sz="2400" dirty="0"/>
              <a:t>:</a:t>
            </a:r>
          </a:p>
          <a:p>
            <a:pPr marL="274320" indent="-274320">
              <a:spcBef>
                <a:spcPts val="600"/>
              </a:spcBef>
              <a:buFont typeface="Arial" pitchFamily="34" charset="0"/>
              <a:buChar char="•"/>
            </a:pPr>
            <a:r>
              <a:rPr lang="en-US" sz="2400" i="1" dirty="0"/>
              <a:t>A</a:t>
            </a:r>
            <a:r>
              <a:rPr lang="en-US" sz="2400" dirty="0"/>
              <a:t>(C1): “Computer C1 is under attack by an intruder” is </a:t>
            </a:r>
            <a:r>
              <a:rPr lang="en-US" sz="2400" dirty="0">
                <a:solidFill>
                  <a:srgbClr val="0000FF"/>
                </a:solidFill>
              </a:rPr>
              <a:t>true</a:t>
            </a:r>
          </a:p>
          <a:p>
            <a:pPr marL="274320" indent="-274320">
              <a:spcBef>
                <a:spcPts val="600"/>
              </a:spcBef>
              <a:buFont typeface="Arial" pitchFamily="34" charset="0"/>
              <a:buChar char="•"/>
            </a:pPr>
            <a:r>
              <a:rPr lang="en-US" sz="2400" i="1" dirty="0"/>
              <a:t>A</a:t>
            </a:r>
            <a:r>
              <a:rPr lang="en-US" sz="2400" dirty="0"/>
              <a:t>(C7):  “Computer C7 is under attack by an intruder” is </a:t>
            </a:r>
            <a:r>
              <a:rPr lang="en-US" sz="2400" dirty="0">
                <a:solidFill>
                  <a:srgbClr val="0000FF"/>
                </a:solidFill>
              </a:rPr>
              <a:t>true</a:t>
            </a:r>
          </a:p>
          <a:p>
            <a:pPr marL="274320" indent="-274320">
              <a:spcBef>
                <a:spcPts val="600"/>
              </a:spcBef>
              <a:buFont typeface="Arial" pitchFamily="34" charset="0"/>
              <a:buChar char="•"/>
            </a:pPr>
            <a:r>
              <a:rPr lang="en-US" sz="2400" i="1" dirty="0"/>
              <a:t>A</a:t>
            </a:r>
            <a:r>
              <a:rPr lang="en-US" sz="2400" dirty="0"/>
              <a:t>(C3): “Computer C3  is under attack by an intruder” is </a:t>
            </a:r>
            <a:r>
              <a:rPr lang="en-US" sz="2400" dirty="0">
                <a:solidFill>
                  <a:srgbClr val="FF0000"/>
                </a:solidFill>
              </a:rPr>
              <a:t>false</a:t>
            </a:r>
          </a:p>
          <a:p>
            <a:pPr marL="274320" indent="-274320">
              <a:spcBef>
                <a:spcPts val="600"/>
              </a:spcBef>
            </a:pPr>
            <a:r>
              <a:rPr lang="en-US" sz="2400" dirty="0">
                <a:solidFill>
                  <a:srgbClr val="FF0000"/>
                </a:solidFill>
              </a:rPr>
              <a:t>Why ? </a:t>
            </a:r>
            <a:r>
              <a:rPr lang="en-US" sz="2000" dirty="0">
                <a:solidFill>
                  <a:srgbClr val="FF0000"/>
                </a:solidFill>
              </a:rPr>
              <a:t>Because C3 is not in the list of computers that are attacked by intruders.</a:t>
            </a:r>
            <a:r>
              <a:rPr lang="en-US" sz="2400" b="1" dirty="0">
                <a:solidFill>
                  <a:srgbClr val="FF0000"/>
                </a:solidFill>
              </a:rPr>
              <a:t> </a:t>
            </a:r>
          </a:p>
        </p:txBody>
      </p:sp>
      <p:sp>
        <p:nvSpPr>
          <p:cNvPr id="5" name="Slide Number Placeholder 4"/>
          <p:cNvSpPr>
            <a:spLocks noGrp="1"/>
          </p:cNvSpPr>
          <p:nvPr>
            <p:ph type="sldNum" sz="quarter" idx="12"/>
          </p:nvPr>
        </p:nvSpPr>
        <p:spPr/>
        <p:txBody>
          <a:bodyPr/>
          <a:lstStyle/>
          <a:p>
            <a:fld id="{5FD889E0-CAB2-4699-909D-B9A88D47ACBE}" type="slidenum">
              <a:rPr lang="en-US" smtClean="0"/>
              <a:pPr/>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000" b="1" i="1" dirty="0">
                <a:latin typeface="+mn-lt"/>
              </a:rPr>
              <a:t>Multivariable</a:t>
            </a:r>
            <a:r>
              <a:rPr lang="en-US" sz="4000" dirty="0">
                <a:latin typeface="+mn-lt"/>
              </a:rPr>
              <a:t> </a:t>
            </a:r>
            <a:r>
              <a:rPr lang="en-US" sz="4000" b="1" dirty="0">
                <a:latin typeface="+mn-lt"/>
              </a:rPr>
              <a:t>Predicates</a:t>
            </a:r>
            <a:endParaRPr lang="en-US" sz="4000" dirty="0">
              <a:latin typeface="+mn-lt"/>
            </a:endParaRPr>
          </a:p>
        </p:txBody>
      </p:sp>
      <p:sp>
        <p:nvSpPr>
          <p:cNvPr id="4" name="Rectangle 3"/>
          <p:cNvSpPr/>
          <p:nvPr/>
        </p:nvSpPr>
        <p:spPr>
          <a:xfrm>
            <a:off x="245661" y="1997839"/>
            <a:ext cx="8407020" cy="3924151"/>
          </a:xfrm>
          <a:prstGeom prst="rect">
            <a:avLst/>
          </a:prstGeom>
        </p:spPr>
        <p:txBody>
          <a:bodyPr wrap="square">
            <a:spAutoFit/>
          </a:bodyPr>
          <a:lstStyle/>
          <a:p>
            <a:pPr marL="274320" indent="-274320">
              <a:spcBef>
                <a:spcPts val="600"/>
              </a:spcBef>
              <a:buFont typeface="Arial" pitchFamily="34" charset="0"/>
              <a:buChar char="•"/>
            </a:pPr>
            <a:r>
              <a:rPr lang="en-US" sz="2800" i="1" dirty="0">
                <a:solidFill>
                  <a:srgbClr val="0000FF"/>
                </a:solidFill>
              </a:rPr>
              <a:t>Multivariable</a:t>
            </a:r>
            <a:r>
              <a:rPr lang="en-US" sz="2800" dirty="0"/>
              <a:t> </a:t>
            </a:r>
            <a:r>
              <a:rPr lang="en-US" sz="2800" dirty="0">
                <a:solidFill>
                  <a:srgbClr val="0000FF"/>
                </a:solidFill>
              </a:rPr>
              <a:t>Predicates ==&gt; Predicates that have more than one variable</a:t>
            </a:r>
            <a:r>
              <a:rPr lang="en-US" sz="2800" dirty="0"/>
              <a:t>. </a:t>
            </a:r>
          </a:p>
          <a:p>
            <a:pPr marL="274320" indent="-274320">
              <a:spcBef>
                <a:spcPts val="600"/>
              </a:spcBef>
              <a:buFont typeface="Arial" pitchFamily="34" charset="0"/>
              <a:buChar char="•"/>
            </a:pPr>
            <a:r>
              <a:rPr lang="en-US" sz="2800" dirty="0"/>
              <a:t>For example, </a:t>
            </a:r>
            <a:r>
              <a:rPr lang="en-US" sz="2800" i="1" dirty="0">
                <a:solidFill>
                  <a:srgbClr val="0000FF"/>
                </a:solidFill>
              </a:rPr>
              <a:t>Q</a:t>
            </a:r>
            <a:r>
              <a:rPr lang="en-US" sz="2800" dirty="0">
                <a:solidFill>
                  <a:srgbClr val="0000FF"/>
                </a:solidFill>
              </a:rPr>
              <a:t>(x, y):  “x = y + 3” </a:t>
            </a:r>
            <a:r>
              <a:rPr lang="en-US" sz="2800" dirty="0"/>
              <a:t>, </a:t>
            </a:r>
          </a:p>
          <a:p>
            <a:pPr marL="274320" indent="-274320">
              <a:spcBef>
                <a:spcPts val="600"/>
              </a:spcBef>
            </a:pPr>
            <a:r>
              <a:rPr lang="en-US" sz="2800" dirty="0"/>
              <a:t>	where x and y are variables and </a:t>
            </a:r>
            <a:r>
              <a:rPr lang="en-US" sz="2800" i="1" dirty="0"/>
              <a:t>Q</a:t>
            </a:r>
            <a:r>
              <a:rPr lang="en-US" sz="2800" dirty="0"/>
              <a:t> is the predicate.</a:t>
            </a:r>
          </a:p>
          <a:p>
            <a:pPr marL="274320" indent="-274320">
              <a:spcBef>
                <a:spcPts val="600"/>
              </a:spcBef>
              <a:buFont typeface="Arial" pitchFamily="34" charset="0"/>
              <a:buChar char="•"/>
            </a:pPr>
            <a:endParaRPr lang="en-US" sz="2800" dirty="0"/>
          </a:p>
          <a:p>
            <a:pPr marL="274320" indent="-274320">
              <a:spcBef>
                <a:spcPts val="600"/>
              </a:spcBef>
              <a:buFont typeface="Wingdings" pitchFamily="2" charset="2"/>
              <a:buChar char="§"/>
            </a:pPr>
            <a:r>
              <a:rPr lang="en-US" sz="2800" u="sng" dirty="0">
                <a:solidFill>
                  <a:srgbClr val="FF0000"/>
                </a:solidFill>
              </a:rPr>
              <a:t>Note</a:t>
            </a:r>
            <a:r>
              <a:rPr lang="en-US" sz="2800" dirty="0"/>
              <a:t>: </a:t>
            </a:r>
            <a:r>
              <a:rPr lang="en-US" sz="2800" dirty="0">
                <a:solidFill>
                  <a:srgbClr val="FF0000"/>
                </a:solidFill>
              </a:rPr>
              <a:t>When values are assigned to the variables x and y, the statement </a:t>
            </a:r>
            <a:r>
              <a:rPr lang="en-US" sz="2800" i="1" dirty="0">
                <a:solidFill>
                  <a:srgbClr val="FF0000"/>
                </a:solidFill>
              </a:rPr>
              <a:t>Q</a:t>
            </a:r>
            <a:r>
              <a:rPr lang="en-US" sz="2800" dirty="0">
                <a:solidFill>
                  <a:srgbClr val="FF0000"/>
                </a:solidFill>
              </a:rPr>
              <a:t>(x, y) has a truth value.</a:t>
            </a:r>
          </a:p>
          <a:p>
            <a:pPr marL="274320" indent="-274320">
              <a:spcBef>
                <a:spcPts val="600"/>
              </a:spcBef>
            </a:pPr>
            <a:endParaRPr lang="en-US" sz="2800" dirty="0">
              <a:solidFill>
                <a:srgbClr val="FF0000"/>
              </a:solidFill>
            </a:endParaRPr>
          </a:p>
        </p:txBody>
      </p:sp>
      <p:sp>
        <p:nvSpPr>
          <p:cNvPr id="5" name="Slide Number Placeholder 4"/>
          <p:cNvSpPr>
            <a:spLocks noGrp="1"/>
          </p:cNvSpPr>
          <p:nvPr>
            <p:ph type="sldNum" sz="quarter" idx="12"/>
          </p:nvPr>
        </p:nvSpPr>
        <p:spPr/>
        <p:txBody>
          <a:bodyPr/>
          <a:lstStyle/>
          <a:p>
            <a:fld id="{5FD889E0-CAB2-4699-909D-B9A88D47ACBE}" type="slidenum">
              <a:rPr lang="en-US" smtClean="0"/>
              <a:pPr/>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000" b="1" dirty="0">
                <a:latin typeface="+mn-lt"/>
              </a:rPr>
              <a:t>Example 3</a:t>
            </a:r>
            <a:endParaRPr lang="en-US" sz="4000" dirty="0">
              <a:latin typeface="+mn-lt"/>
            </a:endParaRPr>
          </a:p>
        </p:txBody>
      </p:sp>
      <p:sp>
        <p:nvSpPr>
          <p:cNvPr id="4" name="Rectangle 3"/>
          <p:cNvSpPr/>
          <p:nvPr/>
        </p:nvSpPr>
        <p:spPr>
          <a:xfrm>
            <a:off x="421341" y="2136339"/>
            <a:ext cx="8299577" cy="4001095"/>
          </a:xfrm>
          <a:prstGeom prst="rect">
            <a:avLst/>
          </a:prstGeom>
        </p:spPr>
        <p:txBody>
          <a:bodyPr wrap="square">
            <a:spAutoFit/>
          </a:bodyPr>
          <a:lstStyle/>
          <a:p>
            <a:pPr marL="274320" indent="-274320">
              <a:spcBef>
                <a:spcPts val="600"/>
              </a:spcBef>
            </a:pPr>
            <a:r>
              <a:rPr lang="en-US" sz="2800" dirty="0">
                <a:solidFill>
                  <a:srgbClr val="FF0000"/>
                </a:solidFill>
              </a:rPr>
              <a:t>Let </a:t>
            </a:r>
            <a:r>
              <a:rPr lang="en-US" sz="2800" i="1" dirty="0">
                <a:solidFill>
                  <a:srgbClr val="FF0000"/>
                </a:solidFill>
              </a:rPr>
              <a:t>Q</a:t>
            </a:r>
            <a:r>
              <a:rPr lang="en-US" sz="2800" dirty="0">
                <a:solidFill>
                  <a:srgbClr val="FF0000"/>
                </a:solidFill>
              </a:rPr>
              <a:t>(x, y) denote the statement “x = y + 3”.</a:t>
            </a:r>
          </a:p>
          <a:p>
            <a:pPr marL="274320" indent="-274320">
              <a:spcBef>
                <a:spcPts val="600"/>
              </a:spcBef>
            </a:pPr>
            <a:r>
              <a:rPr lang="en-US" sz="2800" dirty="0">
                <a:solidFill>
                  <a:srgbClr val="FF0000"/>
                </a:solidFill>
              </a:rPr>
              <a:t>What are the truth values of the propositions </a:t>
            </a:r>
            <a:r>
              <a:rPr lang="en-US" sz="2800" i="1" dirty="0">
                <a:solidFill>
                  <a:srgbClr val="FF0000"/>
                </a:solidFill>
              </a:rPr>
              <a:t>Q</a:t>
            </a:r>
            <a:r>
              <a:rPr lang="en-US" sz="2800" dirty="0">
                <a:solidFill>
                  <a:srgbClr val="FF0000"/>
                </a:solidFill>
              </a:rPr>
              <a:t>(1,2)</a:t>
            </a:r>
          </a:p>
          <a:p>
            <a:pPr marL="274320" indent="-274320">
              <a:spcBef>
                <a:spcPts val="600"/>
              </a:spcBef>
            </a:pPr>
            <a:r>
              <a:rPr lang="en-US" sz="2800" dirty="0">
                <a:solidFill>
                  <a:srgbClr val="FF0000"/>
                </a:solidFill>
              </a:rPr>
              <a:t>and </a:t>
            </a:r>
            <a:r>
              <a:rPr lang="en-US" sz="2800" i="1" dirty="0">
                <a:solidFill>
                  <a:srgbClr val="FF0000"/>
                </a:solidFill>
              </a:rPr>
              <a:t>Q</a:t>
            </a:r>
            <a:r>
              <a:rPr lang="en-US" sz="2800" dirty="0">
                <a:solidFill>
                  <a:srgbClr val="FF0000"/>
                </a:solidFill>
              </a:rPr>
              <a:t>(3,0)?</a:t>
            </a:r>
          </a:p>
          <a:p>
            <a:pPr marL="274320" indent="-274320">
              <a:spcBef>
                <a:spcPts val="600"/>
              </a:spcBef>
              <a:buFont typeface="Wingdings" panose="05000000000000000000" pitchFamily="2" charset="2"/>
              <a:buChar char="§"/>
            </a:pPr>
            <a:r>
              <a:rPr lang="en-US" sz="2800" b="1" u="sng" dirty="0">
                <a:solidFill>
                  <a:srgbClr val="0000FF"/>
                </a:solidFill>
              </a:rPr>
              <a:t>Solution</a:t>
            </a:r>
            <a:r>
              <a:rPr lang="en-US" sz="2800" dirty="0"/>
              <a:t>:  </a:t>
            </a:r>
          </a:p>
          <a:p>
            <a:pPr marL="274320" indent="-274320">
              <a:spcBef>
                <a:spcPts val="600"/>
              </a:spcBef>
              <a:buFont typeface="Arial" pitchFamily="34" charset="0"/>
              <a:buChar char="•"/>
            </a:pPr>
            <a:r>
              <a:rPr lang="en-US" sz="2800" dirty="0"/>
              <a:t>To obtain </a:t>
            </a:r>
            <a:r>
              <a:rPr lang="en-US" sz="2800" i="1" dirty="0"/>
              <a:t>Q</a:t>
            </a:r>
            <a:r>
              <a:rPr lang="en-US" sz="2800" dirty="0"/>
              <a:t>(1,2), set x=1 and y=2 in the statement Q(</a:t>
            </a:r>
            <a:r>
              <a:rPr lang="en-US" sz="2800" dirty="0" err="1"/>
              <a:t>x,y</a:t>
            </a:r>
            <a:r>
              <a:rPr lang="en-US" sz="2800" dirty="0"/>
              <a:t>). </a:t>
            </a:r>
          </a:p>
          <a:p>
            <a:pPr marL="274320" indent="-274320">
              <a:spcBef>
                <a:spcPts val="600"/>
              </a:spcBef>
            </a:pPr>
            <a:r>
              <a:rPr lang="en-US" sz="2800" dirty="0"/>
              <a:t>	Therefore, </a:t>
            </a:r>
            <a:r>
              <a:rPr lang="en-US" sz="2800" i="1" dirty="0"/>
              <a:t>Q</a:t>
            </a:r>
            <a:r>
              <a:rPr lang="en-US" sz="2800" dirty="0"/>
              <a:t>(1,2): “</a:t>
            </a:r>
            <a:r>
              <a:rPr lang="en-US" sz="2800" b="1" dirty="0">
                <a:solidFill>
                  <a:srgbClr val="FF0000"/>
                </a:solidFill>
              </a:rPr>
              <a:t>1 = 2 + 3</a:t>
            </a:r>
            <a:r>
              <a:rPr lang="en-US" sz="2800" dirty="0"/>
              <a:t>” is </a:t>
            </a:r>
            <a:r>
              <a:rPr lang="en-US" sz="2800" b="1" dirty="0">
                <a:solidFill>
                  <a:srgbClr val="FF0000"/>
                </a:solidFill>
              </a:rPr>
              <a:t>false</a:t>
            </a:r>
          </a:p>
          <a:p>
            <a:pPr marL="274320" indent="-274320">
              <a:spcBef>
                <a:spcPts val="600"/>
              </a:spcBef>
            </a:pPr>
            <a:r>
              <a:rPr lang="en-US" sz="2800" dirty="0"/>
              <a:t> 	Similarly, </a:t>
            </a:r>
            <a:r>
              <a:rPr lang="en-US" sz="2800" i="1" dirty="0"/>
              <a:t>Q</a:t>
            </a:r>
            <a:r>
              <a:rPr lang="en-US" sz="2800" dirty="0"/>
              <a:t>(3,0): “</a:t>
            </a:r>
            <a:r>
              <a:rPr lang="en-US" sz="2800" b="1" dirty="0">
                <a:solidFill>
                  <a:srgbClr val="FF0000"/>
                </a:solidFill>
              </a:rPr>
              <a:t>3 = 0 + 3</a:t>
            </a:r>
            <a:r>
              <a:rPr lang="en-US" sz="2800" dirty="0"/>
              <a:t>” is </a:t>
            </a:r>
            <a:r>
              <a:rPr lang="en-US" sz="2800" b="1" dirty="0">
                <a:solidFill>
                  <a:srgbClr val="0000FF"/>
                </a:solidFill>
              </a:rPr>
              <a:t>true</a:t>
            </a:r>
            <a:r>
              <a:rPr lang="en-US" sz="2800" dirty="0"/>
              <a:t> </a:t>
            </a:r>
          </a:p>
        </p:txBody>
      </p:sp>
      <p:sp>
        <p:nvSpPr>
          <p:cNvPr id="5" name="Slide Number Placeholder 4"/>
          <p:cNvSpPr>
            <a:spLocks noGrp="1"/>
          </p:cNvSpPr>
          <p:nvPr>
            <p:ph type="sldNum" sz="quarter" idx="12"/>
          </p:nvPr>
        </p:nvSpPr>
        <p:spPr/>
        <p:txBody>
          <a:bodyPr/>
          <a:lstStyle/>
          <a:p>
            <a:fld id="{5FD889E0-CAB2-4699-909D-B9A88D47ACBE}" type="slidenum">
              <a:rPr lang="en-US" smtClean="0"/>
              <a:pPr/>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altLang="zh-TW" sz="4000" dirty="0">
                <a:latin typeface="+mn-lt"/>
              </a:rPr>
              <a:t>Quantifiers</a:t>
            </a:r>
            <a:endParaRPr lang="en-US" sz="4000" dirty="0">
              <a:latin typeface="+mn-lt"/>
            </a:endParaRPr>
          </a:p>
        </p:txBody>
      </p:sp>
      <p:sp>
        <p:nvSpPr>
          <p:cNvPr id="4" name="Rectangle 3"/>
          <p:cNvSpPr/>
          <p:nvPr/>
        </p:nvSpPr>
        <p:spPr>
          <a:xfrm>
            <a:off x="354835" y="2130907"/>
            <a:ext cx="8502562" cy="3431709"/>
          </a:xfrm>
          <a:prstGeom prst="rect">
            <a:avLst/>
          </a:prstGeom>
        </p:spPr>
        <p:txBody>
          <a:bodyPr wrap="square">
            <a:spAutoFit/>
          </a:bodyPr>
          <a:lstStyle/>
          <a:p>
            <a:pPr marL="274320" indent="-274320">
              <a:spcBef>
                <a:spcPts val="600"/>
              </a:spcBef>
              <a:buFont typeface="Arial" pitchFamily="34" charset="0"/>
              <a:buChar char="•"/>
            </a:pPr>
            <a:r>
              <a:rPr lang="en-US" altLang="zh-TW" sz="2400" b="1" dirty="0">
                <a:solidFill>
                  <a:srgbClr val="0000FF"/>
                </a:solidFill>
              </a:rPr>
              <a:t>Quantification: Two Categories –</a:t>
            </a:r>
          </a:p>
          <a:p>
            <a:pPr marL="274320" lvl="1" indent="-274320">
              <a:spcBef>
                <a:spcPts val="600"/>
              </a:spcBef>
              <a:buFont typeface="Arial" pitchFamily="34" charset="0"/>
              <a:buChar char="•"/>
            </a:pPr>
            <a:r>
              <a:rPr lang="en-US" altLang="zh-TW" sz="2400" dirty="0">
                <a:solidFill>
                  <a:srgbClr val="0000FF"/>
                </a:solidFill>
              </a:rPr>
              <a:t>Universal quantification</a:t>
            </a:r>
            <a:r>
              <a:rPr lang="en-US" altLang="zh-TW" sz="2400" dirty="0"/>
              <a:t>: A predicate is true for </a:t>
            </a:r>
            <a:r>
              <a:rPr lang="en-US" altLang="zh-TW" sz="2400" b="1" dirty="0"/>
              <a:t>every element </a:t>
            </a:r>
            <a:r>
              <a:rPr lang="en-US" altLang="zh-TW" sz="2400" dirty="0"/>
              <a:t>in the domain</a:t>
            </a:r>
          </a:p>
          <a:p>
            <a:pPr marL="274320" lvl="1" indent="-274320">
              <a:spcBef>
                <a:spcPts val="600"/>
              </a:spcBef>
              <a:buFont typeface="Arial" pitchFamily="34" charset="0"/>
              <a:buChar char="•"/>
            </a:pPr>
            <a:r>
              <a:rPr lang="en-US" altLang="zh-TW" sz="2400" dirty="0">
                <a:solidFill>
                  <a:srgbClr val="0000FF"/>
                </a:solidFill>
              </a:rPr>
              <a:t>Existential quantification</a:t>
            </a:r>
            <a:r>
              <a:rPr lang="en-US" altLang="zh-TW" sz="2400" dirty="0"/>
              <a:t>: There is </a:t>
            </a:r>
            <a:r>
              <a:rPr lang="en-US" altLang="zh-TW" sz="2400" b="1" dirty="0"/>
              <a:t>one or more elements</a:t>
            </a:r>
            <a:r>
              <a:rPr lang="en-US" altLang="zh-TW" sz="2400" dirty="0"/>
              <a:t> in the domain for which a predicate is true </a:t>
            </a:r>
          </a:p>
          <a:p>
            <a:pPr marL="274320" lvl="1" indent="-274320">
              <a:spcBef>
                <a:spcPts val="600"/>
              </a:spcBef>
              <a:buFont typeface="Arial" pitchFamily="34" charset="0"/>
              <a:buChar char="•"/>
            </a:pPr>
            <a:endParaRPr lang="en-US" altLang="zh-TW" sz="2400" dirty="0"/>
          </a:p>
          <a:p>
            <a:pPr marL="274320" indent="-274320">
              <a:spcBef>
                <a:spcPts val="600"/>
              </a:spcBef>
              <a:buFont typeface="Wingdings" panose="05000000000000000000" pitchFamily="2" charset="2"/>
              <a:buChar char="§"/>
            </a:pPr>
            <a:r>
              <a:rPr lang="en-US" altLang="zh-TW" sz="2400" dirty="0">
                <a:solidFill>
                  <a:srgbClr val="FF0000"/>
                </a:solidFill>
              </a:rPr>
              <a:t>Domain  </a:t>
            </a:r>
            <a:r>
              <a:rPr lang="en-US" altLang="zh-TW" sz="2400" dirty="0"/>
              <a:t>/</a:t>
            </a:r>
            <a:r>
              <a:rPr lang="en-US" altLang="zh-TW" sz="2400" dirty="0">
                <a:solidFill>
                  <a:srgbClr val="FF0000"/>
                </a:solidFill>
              </a:rPr>
              <a:t>domain of discourse</a:t>
            </a:r>
            <a:r>
              <a:rPr lang="en-US" altLang="zh-TW" sz="2400" dirty="0"/>
              <a:t>/</a:t>
            </a:r>
            <a:r>
              <a:rPr lang="en-US" altLang="zh-TW" sz="2400" dirty="0">
                <a:solidFill>
                  <a:srgbClr val="FF0000"/>
                </a:solidFill>
              </a:rPr>
              <a:t>universe of discourse:</a:t>
            </a:r>
            <a:endParaRPr lang="en-US" sz="2400" dirty="0"/>
          </a:p>
          <a:p>
            <a:pPr marL="274320" indent="-274320">
              <a:spcBef>
                <a:spcPts val="600"/>
              </a:spcBef>
            </a:pPr>
            <a:r>
              <a:rPr lang="en-US" sz="2400" dirty="0">
                <a:sym typeface="Wingdings" pitchFamily="2" charset="2"/>
              </a:rPr>
              <a:t></a:t>
            </a:r>
            <a:r>
              <a:rPr lang="en-US" sz="2400" dirty="0"/>
              <a:t>The values a variable in a </a:t>
            </a:r>
            <a:r>
              <a:rPr lang="en-US" sz="2400" i="1" dirty="0"/>
              <a:t>propositional function </a:t>
            </a:r>
            <a:r>
              <a:rPr lang="en-US" sz="2400" dirty="0"/>
              <a:t>may take. </a:t>
            </a:r>
          </a:p>
        </p:txBody>
      </p:sp>
      <p:sp>
        <p:nvSpPr>
          <p:cNvPr id="5" name="Slide Number Placeholder 4"/>
          <p:cNvSpPr>
            <a:spLocks noGrp="1"/>
          </p:cNvSpPr>
          <p:nvPr>
            <p:ph type="sldNum" sz="quarter" idx="12"/>
          </p:nvPr>
        </p:nvSpPr>
        <p:spPr/>
        <p:txBody>
          <a:bodyPr/>
          <a:lstStyle/>
          <a:p>
            <a:fld id="{5FD889E0-CAB2-4699-909D-B9A88D47ACBE}" type="slidenum">
              <a:rPr lang="en-US" smtClean="0"/>
              <a:pPr/>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altLang="zh-TW" sz="4000" dirty="0">
                <a:latin typeface="+mn-lt"/>
              </a:rPr>
              <a:t>Quantifiers</a:t>
            </a:r>
            <a:endParaRPr lang="en-US" sz="4000" dirty="0">
              <a:latin typeface="+mn-lt"/>
            </a:endParaRPr>
          </a:p>
        </p:txBody>
      </p:sp>
      <p:sp>
        <p:nvSpPr>
          <p:cNvPr id="4" name="Rectangle 3"/>
          <p:cNvSpPr/>
          <p:nvPr/>
        </p:nvSpPr>
        <p:spPr>
          <a:xfrm>
            <a:off x="0" y="2350243"/>
            <a:ext cx="9089408" cy="2926955"/>
          </a:xfrm>
          <a:prstGeom prst="rect">
            <a:avLst/>
          </a:prstGeom>
        </p:spPr>
        <p:txBody>
          <a:bodyPr wrap="square">
            <a:spAutoFit/>
          </a:bodyPr>
          <a:lstStyle/>
          <a:p>
            <a:pPr marL="365760" indent="-274320">
              <a:lnSpc>
                <a:spcPct val="90000"/>
              </a:lnSpc>
              <a:defRPr/>
            </a:pPr>
            <a:r>
              <a:rPr lang="en-US" sz="2800" b="1" dirty="0">
                <a:solidFill>
                  <a:srgbClr val="0000FF"/>
                </a:solidFill>
              </a:rPr>
              <a:t>1. Universal Quantifier: </a:t>
            </a:r>
            <a:r>
              <a:rPr lang="en-US" altLang="zh-TW" sz="2800" b="1" i="1" dirty="0">
                <a:solidFill>
                  <a:srgbClr val="0000FF"/>
                </a:solidFill>
                <a:sym typeface="Symbol" pitchFamily="18" charset="2"/>
              </a:rPr>
              <a:t></a:t>
            </a:r>
            <a:r>
              <a:rPr lang="en-US" altLang="zh-TW" sz="2800" i="1" dirty="0">
                <a:sym typeface="Symbol" pitchFamily="18" charset="2"/>
              </a:rPr>
              <a:t> </a:t>
            </a:r>
            <a:r>
              <a:rPr lang="en-US" altLang="zh-TW" sz="2800" dirty="0">
                <a:sym typeface="Symbol" pitchFamily="18" charset="2"/>
              </a:rPr>
              <a:t>is called the </a:t>
            </a:r>
            <a:r>
              <a:rPr lang="en-US" altLang="zh-TW" sz="2800" dirty="0">
                <a:solidFill>
                  <a:srgbClr val="0000FF"/>
                </a:solidFill>
                <a:sym typeface="Symbol" pitchFamily="18" charset="2"/>
              </a:rPr>
              <a:t>universal quantifier.</a:t>
            </a:r>
          </a:p>
          <a:p>
            <a:pPr marL="1154430" lvl="1" indent="-514350">
              <a:lnSpc>
                <a:spcPct val="90000"/>
              </a:lnSpc>
              <a:defRPr/>
            </a:pPr>
            <a:r>
              <a:rPr lang="en-US" sz="2800" dirty="0">
                <a:solidFill>
                  <a:srgbClr val="FF0000"/>
                </a:solidFill>
                <a:sym typeface="Symbol" pitchFamily="18" charset="2"/>
              </a:rPr>
              <a:t> “</a:t>
            </a:r>
            <a:r>
              <a:rPr lang="en-US" sz="2800" b="1" dirty="0">
                <a:solidFill>
                  <a:srgbClr val="FF0000"/>
                </a:solidFill>
                <a:sym typeface="Symbol" pitchFamily="18" charset="2"/>
              </a:rPr>
              <a:t></a:t>
            </a:r>
            <a:r>
              <a:rPr lang="en-US" sz="2800" dirty="0">
                <a:solidFill>
                  <a:srgbClr val="FF0000"/>
                </a:solidFill>
              </a:rPr>
              <a:t>” </a:t>
            </a:r>
            <a:r>
              <a:rPr lang="en-US" sz="2800" dirty="0"/>
              <a:t>reads “for </a:t>
            </a:r>
            <a:r>
              <a:rPr lang="en-US" sz="2800" b="1" dirty="0">
                <a:solidFill>
                  <a:srgbClr val="FF0000"/>
                </a:solidFill>
              </a:rPr>
              <a:t>A</a:t>
            </a:r>
            <a:r>
              <a:rPr lang="en-US" sz="2800" dirty="0"/>
              <a:t>ll” </a:t>
            </a:r>
            <a:endParaRPr lang="en-US" sz="2800" b="1" dirty="0">
              <a:solidFill>
                <a:schemeClr val="hlink"/>
              </a:solidFill>
            </a:endParaRPr>
          </a:p>
          <a:p>
            <a:pPr marL="514350" indent="-514350">
              <a:lnSpc>
                <a:spcPct val="90000"/>
              </a:lnSpc>
              <a:buFont typeface="+mj-lt"/>
              <a:buAutoNum type="arabicPeriod"/>
              <a:defRPr/>
            </a:pPr>
            <a:endParaRPr lang="en-US" sz="2800" b="1" dirty="0">
              <a:solidFill>
                <a:schemeClr val="hlink"/>
              </a:solidFill>
            </a:endParaRPr>
          </a:p>
          <a:p>
            <a:pPr marL="274320" indent="-274320">
              <a:lnSpc>
                <a:spcPct val="90000"/>
              </a:lnSpc>
              <a:spcBef>
                <a:spcPts val="600"/>
              </a:spcBef>
              <a:defRPr/>
            </a:pPr>
            <a:r>
              <a:rPr lang="en-US" sz="2800" b="1" dirty="0">
                <a:solidFill>
                  <a:srgbClr val="0000FF"/>
                </a:solidFill>
              </a:rPr>
              <a:t>  2. Existential Quantifier: </a:t>
            </a:r>
            <a:r>
              <a:rPr lang="en-US" altLang="zh-TW" sz="2800" b="1" dirty="0">
                <a:solidFill>
                  <a:srgbClr val="0000FF"/>
                </a:solidFill>
                <a:sym typeface="Symbol" pitchFamily="18" charset="2"/>
              </a:rPr>
              <a:t></a:t>
            </a:r>
            <a:r>
              <a:rPr lang="en-US" altLang="zh-TW" sz="2800" dirty="0">
                <a:sym typeface="Symbol" pitchFamily="18" charset="2"/>
              </a:rPr>
              <a:t> is called the </a:t>
            </a:r>
            <a:r>
              <a:rPr lang="en-US" altLang="zh-TW" sz="2800" dirty="0">
                <a:solidFill>
                  <a:srgbClr val="0000FF"/>
                </a:solidFill>
                <a:sym typeface="Symbol" pitchFamily="18" charset="2"/>
              </a:rPr>
              <a:t>existential quantifier</a:t>
            </a:r>
            <a:r>
              <a:rPr lang="en-US" altLang="zh-TW" sz="2800" dirty="0">
                <a:sym typeface="Symbol" pitchFamily="18" charset="2"/>
              </a:rPr>
              <a:t>.</a:t>
            </a:r>
          </a:p>
          <a:p>
            <a:pPr marL="514350" indent="-514350">
              <a:lnSpc>
                <a:spcPct val="90000"/>
              </a:lnSpc>
              <a:defRPr/>
            </a:pPr>
            <a:r>
              <a:rPr lang="en-US" sz="2800" dirty="0">
                <a:solidFill>
                  <a:srgbClr val="CC3EBE"/>
                </a:solidFill>
                <a:sym typeface="Symbol" pitchFamily="18" charset="2"/>
              </a:rPr>
              <a:t>		</a:t>
            </a:r>
            <a:r>
              <a:rPr lang="en-US" sz="2800" dirty="0">
                <a:solidFill>
                  <a:srgbClr val="FF0000"/>
                </a:solidFill>
                <a:sym typeface="Symbol" pitchFamily="18" charset="2"/>
              </a:rPr>
              <a:t>“</a:t>
            </a:r>
            <a:r>
              <a:rPr lang="en-US" sz="2800" b="1" dirty="0">
                <a:solidFill>
                  <a:srgbClr val="FF0000"/>
                </a:solidFill>
                <a:sym typeface="Symbol" pitchFamily="18" charset="2"/>
              </a:rPr>
              <a:t></a:t>
            </a:r>
            <a:r>
              <a:rPr lang="en-US" sz="2800" dirty="0">
                <a:solidFill>
                  <a:srgbClr val="FF0000"/>
                </a:solidFill>
                <a:sym typeface="Symbol" pitchFamily="18" charset="2"/>
              </a:rPr>
              <a:t>” </a:t>
            </a:r>
            <a:r>
              <a:rPr lang="en-US" sz="2800" dirty="0">
                <a:sym typeface="Symbol" pitchFamily="18" charset="2"/>
              </a:rPr>
              <a:t>reads “there </a:t>
            </a:r>
            <a:r>
              <a:rPr lang="en-US" sz="2800" b="1" dirty="0">
                <a:solidFill>
                  <a:srgbClr val="FF0000"/>
                </a:solidFill>
                <a:sym typeface="Symbol" pitchFamily="18" charset="2"/>
              </a:rPr>
              <a:t>E</a:t>
            </a:r>
            <a:r>
              <a:rPr lang="en-US" sz="2800" dirty="0">
                <a:sym typeface="Symbol" pitchFamily="18" charset="2"/>
              </a:rPr>
              <a:t>xists”</a:t>
            </a:r>
            <a:endParaRPr lang="en-US" sz="2800" dirty="0">
              <a:solidFill>
                <a:srgbClr val="CC3EBE"/>
              </a:solidFill>
              <a:sym typeface="Symbol" pitchFamily="18" charset="2"/>
            </a:endParaRPr>
          </a:p>
          <a:p>
            <a:pPr marL="697230" indent="-514350">
              <a:lnSpc>
                <a:spcPct val="90000"/>
              </a:lnSpc>
              <a:buFont typeface="+mj-lt"/>
              <a:buAutoNum type="arabicPeriod"/>
              <a:defRPr/>
            </a:pPr>
            <a:endParaRPr lang="en-US" sz="2800" dirty="0"/>
          </a:p>
          <a:p>
            <a:pPr marL="514350" indent="-514350">
              <a:buFont typeface="+mj-lt"/>
              <a:buAutoNum type="arabicPeriod"/>
              <a:defRPr/>
            </a:pPr>
            <a:endParaRPr lang="en-US" sz="2800" dirty="0"/>
          </a:p>
        </p:txBody>
      </p:sp>
      <p:sp>
        <p:nvSpPr>
          <p:cNvPr id="5" name="Slide Number Placeholder 4"/>
          <p:cNvSpPr>
            <a:spLocks noGrp="1"/>
          </p:cNvSpPr>
          <p:nvPr>
            <p:ph type="sldNum" sz="quarter" idx="12"/>
          </p:nvPr>
        </p:nvSpPr>
        <p:spPr/>
        <p:txBody>
          <a:bodyPr/>
          <a:lstStyle/>
          <a:p>
            <a:fld id="{5FD889E0-CAB2-4699-909D-B9A88D47ACBE}" type="slidenum">
              <a:rPr lang="en-US" smtClean="0"/>
              <a:pPr/>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altLang="zh-TW" sz="4000" dirty="0">
                <a:latin typeface="+mn-lt"/>
              </a:rPr>
              <a:t>The Universal Quantifier</a:t>
            </a:r>
            <a:endParaRPr lang="en-US" sz="4000" dirty="0">
              <a:latin typeface="+mn-lt"/>
            </a:endParaRPr>
          </a:p>
        </p:txBody>
      </p:sp>
      <p:sp>
        <p:nvSpPr>
          <p:cNvPr id="4" name="Rectangle 3"/>
          <p:cNvSpPr/>
          <p:nvPr/>
        </p:nvSpPr>
        <p:spPr>
          <a:xfrm>
            <a:off x="191069" y="2202559"/>
            <a:ext cx="8625385" cy="3339376"/>
          </a:xfrm>
          <a:prstGeom prst="rect">
            <a:avLst/>
          </a:prstGeom>
        </p:spPr>
        <p:txBody>
          <a:bodyPr wrap="square">
            <a:spAutoFit/>
          </a:bodyPr>
          <a:lstStyle/>
          <a:p>
            <a:r>
              <a:rPr lang="en-US" altLang="zh-TW" sz="2800" b="1" u="sng" dirty="0">
                <a:solidFill>
                  <a:srgbClr val="FF0000"/>
                </a:solidFill>
              </a:rPr>
              <a:t>Definition</a:t>
            </a:r>
            <a:r>
              <a:rPr lang="en-US" altLang="zh-TW" sz="2800" dirty="0">
                <a:solidFill>
                  <a:srgbClr val="FF0000"/>
                </a:solidFill>
              </a:rPr>
              <a:t>: </a:t>
            </a:r>
            <a:r>
              <a:rPr lang="en-US" altLang="zh-TW" sz="2800" dirty="0"/>
              <a:t>The </a:t>
            </a:r>
            <a:r>
              <a:rPr lang="en-US" altLang="zh-TW" sz="2800" i="1" dirty="0">
                <a:solidFill>
                  <a:srgbClr val="0000FF"/>
                </a:solidFill>
              </a:rPr>
              <a:t>universal quantification</a:t>
            </a:r>
            <a:r>
              <a:rPr lang="en-US" altLang="zh-TW" sz="2800" dirty="0">
                <a:solidFill>
                  <a:srgbClr val="0000FF"/>
                </a:solidFill>
              </a:rPr>
              <a:t> of </a:t>
            </a:r>
            <a:r>
              <a:rPr lang="en-US" altLang="zh-TW" sz="2800" i="1" dirty="0">
                <a:solidFill>
                  <a:srgbClr val="0000FF"/>
                </a:solidFill>
              </a:rPr>
              <a:t>P(x)</a:t>
            </a:r>
            <a:r>
              <a:rPr lang="en-US" altLang="zh-TW" sz="2800" dirty="0">
                <a:solidFill>
                  <a:srgbClr val="0000FF"/>
                </a:solidFill>
              </a:rPr>
              <a:t> </a:t>
            </a:r>
            <a:r>
              <a:rPr lang="en-US" altLang="zh-TW" sz="2800" dirty="0"/>
              <a:t>is the statement </a:t>
            </a:r>
            <a:r>
              <a:rPr lang="en-US" altLang="zh-TW" sz="2800" dirty="0">
                <a:solidFill>
                  <a:srgbClr val="0000FF"/>
                </a:solidFill>
              </a:rPr>
              <a:t>“</a:t>
            </a:r>
            <a:r>
              <a:rPr lang="en-US" altLang="zh-TW" sz="2800" i="1" dirty="0">
                <a:solidFill>
                  <a:srgbClr val="0000FF"/>
                </a:solidFill>
              </a:rPr>
              <a:t>P(x)</a:t>
            </a:r>
            <a:r>
              <a:rPr lang="en-US" altLang="zh-TW" sz="2800" dirty="0">
                <a:solidFill>
                  <a:srgbClr val="0000FF"/>
                </a:solidFill>
              </a:rPr>
              <a:t> for all values of x in the domain”.</a:t>
            </a:r>
          </a:p>
          <a:p>
            <a:pPr marL="274320" indent="-274320">
              <a:spcBef>
                <a:spcPts val="600"/>
              </a:spcBef>
              <a:buFont typeface="Arial" pitchFamily="34" charset="0"/>
              <a:buChar char="•"/>
            </a:pPr>
            <a:r>
              <a:rPr lang="en-US" altLang="zh-TW" sz="2800" dirty="0"/>
              <a:t>The notation </a:t>
            </a:r>
            <a:r>
              <a:rPr lang="en-US" altLang="zh-TW" sz="2800" i="1" dirty="0">
                <a:sym typeface="Symbol" pitchFamily="18" charset="2"/>
              </a:rPr>
              <a:t></a:t>
            </a:r>
            <a:r>
              <a:rPr lang="en-US" altLang="zh-TW" sz="2800" i="1" dirty="0"/>
              <a:t>x P(x) </a:t>
            </a:r>
            <a:r>
              <a:rPr lang="en-US" altLang="zh-TW" sz="2800" dirty="0"/>
              <a:t>denotes the universal quantification of </a:t>
            </a:r>
            <a:r>
              <a:rPr lang="en-US" altLang="zh-TW" sz="2800" i="1" dirty="0"/>
              <a:t>P(x).</a:t>
            </a:r>
          </a:p>
          <a:p>
            <a:pPr marL="274320" indent="-274320">
              <a:spcBef>
                <a:spcPts val="600"/>
              </a:spcBef>
              <a:buFont typeface="Arial" pitchFamily="34" charset="0"/>
              <a:buChar char="•"/>
            </a:pPr>
            <a:r>
              <a:rPr lang="en-US" altLang="zh-TW" sz="2800" dirty="0">
                <a:sym typeface="Symbol" pitchFamily="18" charset="2"/>
              </a:rPr>
              <a:t>We read </a:t>
            </a:r>
            <a:r>
              <a:rPr lang="en-US" altLang="zh-TW" sz="2800" b="1" i="1" dirty="0">
                <a:solidFill>
                  <a:srgbClr val="0000FF"/>
                </a:solidFill>
                <a:sym typeface="Symbol" pitchFamily="18" charset="2"/>
              </a:rPr>
              <a:t></a:t>
            </a:r>
            <a:r>
              <a:rPr lang="en-US" altLang="zh-TW" sz="2800" b="1" i="1" dirty="0">
                <a:solidFill>
                  <a:srgbClr val="0000FF"/>
                </a:solidFill>
              </a:rPr>
              <a:t>x P(x)  </a:t>
            </a:r>
            <a:r>
              <a:rPr lang="en-US" altLang="zh-TW" sz="2800" b="1" dirty="0"/>
              <a:t>as</a:t>
            </a:r>
            <a:r>
              <a:rPr lang="en-US" altLang="zh-TW" sz="2800" i="1" dirty="0"/>
              <a:t> </a:t>
            </a:r>
            <a:r>
              <a:rPr lang="en-US" altLang="zh-TW" sz="2800" dirty="0">
                <a:solidFill>
                  <a:srgbClr val="0000FF"/>
                </a:solidFill>
                <a:sym typeface="Symbol" pitchFamily="18" charset="2"/>
              </a:rPr>
              <a:t>“for all </a:t>
            </a:r>
            <a:r>
              <a:rPr lang="en-US" altLang="zh-TW" sz="2800" i="1" dirty="0">
                <a:solidFill>
                  <a:srgbClr val="0000FF"/>
                </a:solidFill>
                <a:sym typeface="Symbol" pitchFamily="18" charset="2"/>
              </a:rPr>
              <a:t>x</a:t>
            </a:r>
            <a:r>
              <a:rPr lang="en-US" altLang="zh-TW" sz="2800" dirty="0">
                <a:solidFill>
                  <a:srgbClr val="0000FF"/>
                </a:solidFill>
                <a:sym typeface="Symbol" pitchFamily="18" charset="2"/>
              </a:rPr>
              <a:t> </a:t>
            </a:r>
            <a:r>
              <a:rPr lang="en-US" altLang="zh-TW" sz="2800" i="1" dirty="0">
                <a:solidFill>
                  <a:srgbClr val="0000FF"/>
                </a:solidFill>
                <a:sym typeface="Symbol" pitchFamily="18" charset="2"/>
              </a:rPr>
              <a:t>P(x)</a:t>
            </a:r>
            <a:r>
              <a:rPr lang="en-US" altLang="zh-TW" sz="2800" dirty="0">
                <a:solidFill>
                  <a:srgbClr val="0000FF"/>
                </a:solidFill>
                <a:sym typeface="Symbol" pitchFamily="18" charset="2"/>
              </a:rPr>
              <a:t>” </a:t>
            </a:r>
            <a:r>
              <a:rPr lang="en-US" altLang="zh-TW" sz="2800" dirty="0">
                <a:solidFill>
                  <a:srgbClr val="FF0000"/>
                </a:solidFill>
                <a:sym typeface="Symbol" pitchFamily="18" charset="2"/>
              </a:rPr>
              <a:t>or</a:t>
            </a:r>
            <a:r>
              <a:rPr lang="en-US" altLang="zh-TW" sz="2800" dirty="0">
                <a:sym typeface="Symbol" pitchFamily="18" charset="2"/>
              </a:rPr>
              <a:t> </a:t>
            </a:r>
            <a:r>
              <a:rPr lang="en-US" altLang="zh-TW" sz="2800" dirty="0">
                <a:solidFill>
                  <a:srgbClr val="0000FF"/>
                </a:solidFill>
                <a:sym typeface="Symbol" pitchFamily="18" charset="2"/>
              </a:rPr>
              <a:t>“for every </a:t>
            </a:r>
            <a:r>
              <a:rPr lang="en-US" altLang="zh-TW" sz="2800" i="1" dirty="0">
                <a:solidFill>
                  <a:srgbClr val="0000FF"/>
                </a:solidFill>
                <a:sym typeface="Symbol" pitchFamily="18" charset="2"/>
              </a:rPr>
              <a:t>x</a:t>
            </a:r>
            <a:r>
              <a:rPr lang="en-US" altLang="zh-TW" sz="2800" dirty="0">
                <a:solidFill>
                  <a:srgbClr val="0000FF"/>
                </a:solidFill>
                <a:sym typeface="Symbol" pitchFamily="18" charset="2"/>
              </a:rPr>
              <a:t> </a:t>
            </a:r>
            <a:r>
              <a:rPr lang="en-US" altLang="zh-TW" sz="2800" i="1" dirty="0">
                <a:solidFill>
                  <a:srgbClr val="0000FF"/>
                </a:solidFill>
                <a:sym typeface="Symbol" pitchFamily="18" charset="2"/>
              </a:rPr>
              <a:t>P(x)</a:t>
            </a:r>
            <a:r>
              <a:rPr lang="en-US" altLang="zh-TW" sz="2800" dirty="0">
                <a:solidFill>
                  <a:srgbClr val="0000FF"/>
                </a:solidFill>
                <a:sym typeface="Symbol" pitchFamily="18" charset="2"/>
              </a:rPr>
              <a:t>”</a:t>
            </a:r>
          </a:p>
          <a:p>
            <a:pPr marL="274320" indent="-274320">
              <a:spcBef>
                <a:spcPts val="600"/>
              </a:spcBef>
              <a:buFont typeface="Arial" pitchFamily="34" charset="0"/>
              <a:buChar char="•"/>
            </a:pPr>
            <a:r>
              <a:rPr lang="en-US" altLang="zh-TW" sz="2800" dirty="0">
                <a:solidFill>
                  <a:srgbClr val="0000FF"/>
                </a:solidFill>
                <a:sym typeface="Symbol" pitchFamily="18" charset="2"/>
              </a:rPr>
              <a:t>An element for which </a:t>
            </a:r>
            <a:r>
              <a:rPr lang="en-US" altLang="zh-TW" sz="2800" i="1" dirty="0">
                <a:solidFill>
                  <a:srgbClr val="0000FF"/>
                </a:solidFill>
                <a:sym typeface="Symbol" pitchFamily="18" charset="2"/>
              </a:rPr>
              <a:t>P</a:t>
            </a:r>
            <a:r>
              <a:rPr lang="en-US" altLang="zh-TW" sz="2800" dirty="0">
                <a:solidFill>
                  <a:srgbClr val="0000FF"/>
                </a:solidFill>
                <a:sym typeface="Symbol" pitchFamily="18" charset="2"/>
              </a:rPr>
              <a:t>(x) is false is called a </a:t>
            </a:r>
            <a:r>
              <a:rPr lang="en-US" altLang="zh-TW" sz="2800" b="1" dirty="0">
                <a:solidFill>
                  <a:srgbClr val="0000FF"/>
                </a:solidFill>
                <a:sym typeface="Symbol" pitchFamily="18" charset="2"/>
              </a:rPr>
              <a:t>counter example</a:t>
            </a:r>
            <a:r>
              <a:rPr lang="en-US" altLang="zh-TW" sz="2800" dirty="0">
                <a:solidFill>
                  <a:srgbClr val="0000FF"/>
                </a:solidFill>
                <a:sym typeface="Symbol" pitchFamily="18" charset="2"/>
              </a:rPr>
              <a:t> of </a:t>
            </a:r>
            <a:r>
              <a:rPr lang="en-US" altLang="zh-TW" sz="2800" b="1" i="1" dirty="0">
                <a:solidFill>
                  <a:srgbClr val="0000FF"/>
                </a:solidFill>
                <a:sym typeface="Symbol" pitchFamily="18" charset="2"/>
              </a:rPr>
              <a:t></a:t>
            </a:r>
            <a:r>
              <a:rPr lang="en-US" altLang="zh-TW" sz="2800" b="1" i="1" dirty="0">
                <a:solidFill>
                  <a:srgbClr val="0000FF"/>
                </a:solidFill>
              </a:rPr>
              <a:t>x P(x)   </a:t>
            </a:r>
            <a:endParaRPr lang="en-US" sz="2800" dirty="0">
              <a:solidFill>
                <a:srgbClr val="0000FF"/>
              </a:solidFill>
            </a:endParaRPr>
          </a:p>
        </p:txBody>
      </p:sp>
      <p:sp>
        <p:nvSpPr>
          <p:cNvPr id="5" name="Slide Number Placeholder 4"/>
          <p:cNvSpPr>
            <a:spLocks noGrp="1"/>
          </p:cNvSpPr>
          <p:nvPr>
            <p:ph type="sldNum" sz="quarter" idx="12"/>
          </p:nvPr>
        </p:nvSpPr>
        <p:spPr/>
        <p:txBody>
          <a:bodyPr/>
          <a:lstStyle/>
          <a:p>
            <a:fld id="{5FD889E0-CAB2-4699-909D-B9A88D47ACBE}" type="slidenum">
              <a:rPr lang="en-US" smtClean="0"/>
              <a:pPr/>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altLang="zh-TW" sz="4000" dirty="0">
                <a:latin typeface="+mn-lt"/>
              </a:rPr>
              <a:t>The Universal Quantifier</a:t>
            </a:r>
            <a:endParaRPr lang="en-US" sz="4000" dirty="0">
              <a:latin typeface="+mn-lt"/>
            </a:endParaRPr>
          </a:p>
        </p:txBody>
      </p:sp>
      <p:sp>
        <p:nvSpPr>
          <p:cNvPr id="4" name="Rectangle 3"/>
          <p:cNvSpPr/>
          <p:nvPr/>
        </p:nvSpPr>
        <p:spPr>
          <a:xfrm>
            <a:off x="409421" y="2339666"/>
            <a:ext cx="8379733" cy="2985433"/>
          </a:xfrm>
          <a:prstGeom prst="rect">
            <a:avLst/>
          </a:prstGeom>
        </p:spPr>
        <p:txBody>
          <a:bodyPr wrap="square">
            <a:spAutoFit/>
          </a:bodyPr>
          <a:lstStyle/>
          <a:p>
            <a:pPr marL="274320" indent="-274320">
              <a:spcBef>
                <a:spcPts val="600"/>
              </a:spcBef>
              <a:buClr>
                <a:srgbClr val="FF0000"/>
              </a:buClr>
              <a:buFont typeface="Arial" pitchFamily="34" charset="0"/>
              <a:buChar char="•"/>
            </a:pPr>
            <a:r>
              <a:rPr lang="en-US" sz="2800" dirty="0">
                <a:sym typeface="Symbol" pitchFamily="18" charset="2"/>
              </a:rPr>
              <a:t>“</a:t>
            </a:r>
            <a:r>
              <a:rPr lang="en-US" sz="2800" b="1" dirty="0">
                <a:sym typeface="Symbol" pitchFamily="18" charset="2"/>
              </a:rPr>
              <a:t></a:t>
            </a:r>
            <a:r>
              <a:rPr lang="en-US" sz="2800" i="1" dirty="0">
                <a:sym typeface="Symbol" pitchFamily="18" charset="2"/>
              </a:rPr>
              <a:t>x P </a:t>
            </a:r>
            <a:r>
              <a:rPr lang="en-US" sz="2800" dirty="0">
                <a:sym typeface="Symbol" pitchFamily="18" charset="2"/>
              </a:rPr>
              <a:t>(</a:t>
            </a:r>
            <a:r>
              <a:rPr lang="en-US" sz="2800" i="1" dirty="0">
                <a:sym typeface="Symbol" pitchFamily="18" charset="2"/>
              </a:rPr>
              <a:t>x</a:t>
            </a:r>
            <a:r>
              <a:rPr lang="en-US" sz="2800" dirty="0">
                <a:sym typeface="Symbol" pitchFamily="18" charset="2"/>
              </a:rPr>
              <a:t>)” is true when </a:t>
            </a:r>
            <a:r>
              <a:rPr lang="en-US" sz="2800" b="1" i="1" dirty="0">
                <a:sym typeface="Symbol" pitchFamily="18" charset="2"/>
              </a:rPr>
              <a:t>every</a:t>
            </a:r>
            <a:r>
              <a:rPr lang="en-US" sz="2800" dirty="0">
                <a:sym typeface="Symbol" pitchFamily="18" charset="2"/>
              </a:rPr>
              <a:t> </a:t>
            </a:r>
            <a:r>
              <a:rPr lang="en-US" sz="2800" b="1" i="1" dirty="0">
                <a:sym typeface="Symbol" pitchFamily="18" charset="2"/>
              </a:rPr>
              <a:t>instance</a:t>
            </a:r>
            <a:r>
              <a:rPr lang="en-US" sz="2800" dirty="0">
                <a:sym typeface="Symbol" pitchFamily="18" charset="2"/>
              </a:rPr>
              <a:t> of </a:t>
            </a:r>
            <a:r>
              <a:rPr lang="en-US" sz="2800" i="1" dirty="0">
                <a:sym typeface="Symbol" pitchFamily="18" charset="2"/>
              </a:rPr>
              <a:t>x</a:t>
            </a:r>
            <a:r>
              <a:rPr lang="en-US" sz="2800" dirty="0">
                <a:sym typeface="Symbol" pitchFamily="18" charset="2"/>
              </a:rPr>
              <a:t> makes </a:t>
            </a:r>
            <a:r>
              <a:rPr lang="en-US" sz="2800" i="1" dirty="0">
                <a:sym typeface="Symbol" pitchFamily="18" charset="2"/>
              </a:rPr>
              <a:t>P </a:t>
            </a:r>
            <a:r>
              <a:rPr lang="en-US" sz="2800" dirty="0">
                <a:sym typeface="Symbol" pitchFamily="18" charset="2"/>
              </a:rPr>
              <a:t>(</a:t>
            </a:r>
            <a:r>
              <a:rPr lang="en-US" sz="2800" i="1" dirty="0">
                <a:sym typeface="Symbol" pitchFamily="18" charset="2"/>
              </a:rPr>
              <a:t>x</a:t>
            </a:r>
            <a:r>
              <a:rPr lang="en-US" sz="2800" dirty="0">
                <a:sym typeface="Symbol" pitchFamily="18" charset="2"/>
              </a:rPr>
              <a:t>) true when plugged in</a:t>
            </a:r>
          </a:p>
          <a:p>
            <a:pPr marL="274320" lvl="1" indent="-274320">
              <a:spcBef>
                <a:spcPts val="600"/>
              </a:spcBef>
              <a:buClr>
                <a:srgbClr val="FF0000"/>
              </a:buClr>
              <a:buFont typeface="Arial" pitchFamily="34" charset="0"/>
              <a:buChar char="•"/>
            </a:pPr>
            <a:endParaRPr lang="en-US" sz="2800" dirty="0">
              <a:sym typeface="Symbol" pitchFamily="18" charset="2"/>
            </a:endParaRPr>
          </a:p>
          <a:p>
            <a:pPr marL="274320" indent="-274320">
              <a:spcBef>
                <a:spcPts val="600"/>
              </a:spcBef>
              <a:buClr>
                <a:srgbClr val="FF0000"/>
              </a:buClr>
              <a:buFont typeface="Arial" pitchFamily="34" charset="0"/>
              <a:buChar char="•"/>
            </a:pPr>
            <a:r>
              <a:rPr lang="en-US" sz="2800" dirty="0">
                <a:sym typeface="Symbol" pitchFamily="18" charset="2"/>
              </a:rPr>
              <a:t>Like taking </a:t>
            </a:r>
            <a:r>
              <a:rPr lang="en-US" sz="2800" b="1" dirty="0">
                <a:solidFill>
                  <a:srgbClr val="0000FF"/>
                </a:solidFill>
                <a:sym typeface="Symbol" pitchFamily="18" charset="2"/>
              </a:rPr>
              <a:t>conjunction</a:t>
            </a:r>
            <a:r>
              <a:rPr lang="en-US" sz="2800" dirty="0">
                <a:sym typeface="Symbol" pitchFamily="18" charset="2"/>
              </a:rPr>
              <a:t> over the entire universe:</a:t>
            </a:r>
          </a:p>
          <a:p>
            <a:pPr marL="274320" indent="-274320">
              <a:spcBef>
                <a:spcPts val="600"/>
              </a:spcBef>
              <a:buClr>
                <a:srgbClr val="FF0000"/>
              </a:buClr>
            </a:pPr>
            <a:r>
              <a:rPr lang="en-US" sz="2800" b="1" dirty="0">
                <a:sym typeface="Symbol" pitchFamily="18" charset="2"/>
              </a:rPr>
              <a:t>	</a:t>
            </a:r>
            <a:r>
              <a:rPr lang="en-US" sz="2800" b="1" dirty="0">
                <a:solidFill>
                  <a:srgbClr val="0000FF"/>
                </a:solidFill>
                <a:sym typeface="Symbol" pitchFamily="18" charset="2"/>
              </a:rPr>
              <a:t></a:t>
            </a:r>
            <a:r>
              <a:rPr lang="en-US" sz="2800" b="1" i="1" dirty="0">
                <a:solidFill>
                  <a:srgbClr val="0000FF"/>
                </a:solidFill>
                <a:sym typeface="Symbol" pitchFamily="18" charset="2"/>
              </a:rPr>
              <a:t>x P </a:t>
            </a:r>
            <a:r>
              <a:rPr lang="en-US" sz="2800" b="1" dirty="0">
                <a:solidFill>
                  <a:srgbClr val="0000FF"/>
                </a:solidFill>
                <a:sym typeface="Symbol" pitchFamily="18" charset="2"/>
              </a:rPr>
              <a:t>(</a:t>
            </a:r>
            <a:r>
              <a:rPr lang="en-US" sz="2800" b="1" i="1" dirty="0">
                <a:solidFill>
                  <a:srgbClr val="0000FF"/>
                </a:solidFill>
                <a:sym typeface="Symbol" pitchFamily="18" charset="2"/>
              </a:rPr>
              <a:t>x</a:t>
            </a:r>
            <a:r>
              <a:rPr lang="en-US" sz="2800" b="1" dirty="0">
                <a:solidFill>
                  <a:srgbClr val="0000FF"/>
                </a:solidFill>
                <a:sym typeface="Symbol" pitchFamily="18" charset="2"/>
              </a:rPr>
              <a:t> ) </a:t>
            </a:r>
            <a:r>
              <a:rPr lang="en-US" altLang="zh-TW" sz="2800" dirty="0">
                <a:solidFill>
                  <a:srgbClr val="0000FF"/>
                </a:solidFill>
                <a:sym typeface="Symbol" pitchFamily="18" charset="2"/>
              </a:rPr>
              <a:t> </a:t>
            </a:r>
            <a:r>
              <a:rPr lang="en-US" sz="2800" b="1" i="1" dirty="0">
                <a:solidFill>
                  <a:srgbClr val="0000FF"/>
                </a:solidFill>
                <a:sym typeface="Symbol" pitchFamily="18" charset="2"/>
              </a:rPr>
              <a:t>P </a:t>
            </a:r>
            <a:r>
              <a:rPr lang="en-US" sz="2800" b="1" dirty="0">
                <a:solidFill>
                  <a:srgbClr val="0000FF"/>
                </a:solidFill>
                <a:sym typeface="Symbol" pitchFamily="18" charset="2"/>
              </a:rPr>
              <a:t>(</a:t>
            </a:r>
            <a:r>
              <a:rPr lang="en-US" sz="2800" b="1" i="1" dirty="0">
                <a:solidFill>
                  <a:srgbClr val="0000FF"/>
                </a:solidFill>
                <a:sym typeface="Symbol" pitchFamily="18" charset="2"/>
              </a:rPr>
              <a:t>x</a:t>
            </a:r>
            <a:r>
              <a:rPr lang="en-US" sz="2800" b="1" baseline="-25000" dirty="0">
                <a:solidFill>
                  <a:srgbClr val="0000FF"/>
                </a:solidFill>
                <a:sym typeface="Symbol" pitchFamily="18" charset="2"/>
              </a:rPr>
              <a:t>1</a:t>
            </a:r>
            <a:r>
              <a:rPr lang="en-US" sz="2800" b="1" dirty="0">
                <a:solidFill>
                  <a:srgbClr val="0000FF"/>
                </a:solidFill>
                <a:sym typeface="Symbol" pitchFamily="18" charset="2"/>
              </a:rPr>
              <a:t>) </a:t>
            </a:r>
            <a:r>
              <a:rPr lang="en-US" sz="2800" b="1" i="1" dirty="0">
                <a:solidFill>
                  <a:srgbClr val="0000FF"/>
                </a:solidFill>
                <a:sym typeface="Symbol" pitchFamily="18" charset="2"/>
              </a:rPr>
              <a:t>P </a:t>
            </a:r>
            <a:r>
              <a:rPr lang="en-US" sz="2800" b="1" dirty="0">
                <a:solidFill>
                  <a:srgbClr val="0000FF"/>
                </a:solidFill>
                <a:sym typeface="Symbol" pitchFamily="18" charset="2"/>
              </a:rPr>
              <a:t>(</a:t>
            </a:r>
            <a:r>
              <a:rPr lang="en-US" sz="2800" b="1" i="1" dirty="0">
                <a:solidFill>
                  <a:srgbClr val="0000FF"/>
                </a:solidFill>
                <a:sym typeface="Symbol" pitchFamily="18" charset="2"/>
              </a:rPr>
              <a:t>x</a:t>
            </a:r>
            <a:r>
              <a:rPr lang="en-US" sz="2800" b="1" baseline="-25000" dirty="0">
                <a:solidFill>
                  <a:srgbClr val="0000FF"/>
                </a:solidFill>
                <a:sym typeface="Symbol" pitchFamily="18" charset="2"/>
              </a:rPr>
              <a:t>2</a:t>
            </a:r>
            <a:r>
              <a:rPr lang="en-US" sz="2800" b="1" dirty="0">
                <a:solidFill>
                  <a:srgbClr val="0000FF"/>
                </a:solidFill>
                <a:sym typeface="Symbol" pitchFamily="18" charset="2"/>
              </a:rPr>
              <a:t>)  </a:t>
            </a:r>
            <a:r>
              <a:rPr lang="en-US" sz="2800" b="1" i="1" dirty="0">
                <a:solidFill>
                  <a:srgbClr val="0000FF"/>
                </a:solidFill>
                <a:sym typeface="Symbol" pitchFamily="18" charset="2"/>
              </a:rPr>
              <a:t>P </a:t>
            </a:r>
            <a:r>
              <a:rPr lang="en-US" sz="2800" b="1" dirty="0">
                <a:solidFill>
                  <a:srgbClr val="0000FF"/>
                </a:solidFill>
                <a:sym typeface="Symbol" pitchFamily="18" charset="2"/>
              </a:rPr>
              <a:t>(</a:t>
            </a:r>
            <a:r>
              <a:rPr lang="en-US" sz="2800" b="1" i="1" dirty="0">
                <a:solidFill>
                  <a:srgbClr val="0000FF"/>
                </a:solidFill>
                <a:sym typeface="Symbol" pitchFamily="18" charset="2"/>
              </a:rPr>
              <a:t>x</a:t>
            </a:r>
            <a:r>
              <a:rPr lang="en-US" sz="2800" b="1" baseline="-25000" dirty="0">
                <a:solidFill>
                  <a:srgbClr val="0000FF"/>
                </a:solidFill>
                <a:sym typeface="Symbol" pitchFamily="18" charset="2"/>
              </a:rPr>
              <a:t>3</a:t>
            </a:r>
            <a:r>
              <a:rPr lang="en-US" sz="2800" b="1" dirty="0">
                <a:solidFill>
                  <a:srgbClr val="0000FF"/>
                </a:solidFill>
                <a:sym typeface="Symbol" pitchFamily="18" charset="2"/>
              </a:rPr>
              <a:t>)  …</a:t>
            </a:r>
            <a:r>
              <a:rPr lang="en-US" altLang="zh-TW" sz="2800" b="1" i="1" dirty="0">
                <a:solidFill>
                  <a:srgbClr val="0000FF"/>
                </a:solidFill>
                <a:sym typeface="Symbol" pitchFamily="18" charset="2"/>
              </a:rPr>
              <a:t>  P(</a:t>
            </a:r>
            <a:r>
              <a:rPr lang="en-US" altLang="zh-TW" sz="2800" b="1" i="1" dirty="0" err="1">
                <a:solidFill>
                  <a:srgbClr val="0000FF"/>
                </a:solidFill>
                <a:sym typeface="Symbol" pitchFamily="18" charset="2"/>
              </a:rPr>
              <a:t>x</a:t>
            </a:r>
            <a:r>
              <a:rPr lang="en-US" altLang="zh-TW" sz="2800" b="1" i="1" baseline="-25000" dirty="0" err="1">
                <a:solidFill>
                  <a:srgbClr val="0000FF"/>
                </a:solidFill>
                <a:sym typeface="Symbol" pitchFamily="18" charset="2"/>
              </a:rPr>
              <a:t>n</a:t>
            </a:r>
            <a:r>
              <a:rPr lang="en-US" altLang="zh-TW" sz="2800" b="1" i="1" dirty="0">
                <a:solidFill>
                  <a:srgbClr val="0000FF"/>
                </a:solidFill>
                <a:sym typeface="Symbol" pitchFamily="18" charset="2"/>
              </a:rPr>
              <a:t>) </a:t>
            </a:r>
            <a:endParaRPr lang="en-US" sz="2800" b="1" dirty="0">
              <a:solidFill>
                <a:srgbClr val="0000FF"/>
              </a:solidFill>
              <a:sym typeface="Symbol" pitchFamily="18" charset="2"/>
            </a:endParaRPr>
          </a:p>
          <a:p>
            <a:pPr marL="274320" indent="-274320">
              <a:spcBef>
                <a:spcPts val="600"/>
              </a:spcBef>
              <a:buClr>
                <a:srgbClr val="FF0000"/>
              </a:buClr>
            </a:pPr>
            <a:endParaRPr lang="en-US" sz="2800" dirty="0"/>
          </a:p>
        </p:txBody>
      </p:sp>
      <p:sp>
        <p:nvSpPr>
          <p:cNvPr id="5" name="Slide Number Placeholder 4"/>
          <p:cNvSpPr>
            <a:spLocks noGrp="1"/>
          </p:cNvSpPr>
          <p:nvPr>
            <p:ph type="sldNum" sz="quarter" idx="12"/>
          </p:nvPr>
        </p:nvSpPr>
        <p:spPr/>
        <p:txBody>
          <a:bodyPr/>
          <a:lstStyle/>
          <a:p>
            <a:fld id="{5FD889E0-CAB2-4699-909D-B9A88D47ACBE}" type="slidenum">
              <a:rPr lang="en-US" smtClean="0"/>
              <a:pPr/>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000" b="1" dirty="0">
                <a:latin typeface="+mn-lt"/>
              </a:rPr>
              <a:t>Example 8</a:t>
            </a:r>
            <a:endParaRPr lang="en-US" sz="4000" dirty="0">
              <a:latin typeface="+mn-lt"/>
            </a:endParaRPr>
          </a:p>
        </p:txBody>
      </p:sp>
      <p:sp>
        <p:nvSpPr>
          <p:cNvPr id="4" name="Rectangle 3"/>
          <p:cNvSpPr/>
          <p:nvPr/>
        </p:nvSpPr>
        <p:spPr>
          <a:xfrm>
            <a:off x="421341" y="2074460"/>
            <a:ext cx="8463352" cy="3970318"/>
          </a:xfrm>
          <a:prstGeom prst="rect">
            <a:avLst/>
          </a:prstGeom>
        </p:spPr>
        <p:txBody>
          <a:bodyPr wrap="square">
            <a:spAutoFit/>
          </a:bodyPr>
          <a:lstStyle/>
          <a:p>
            <a:r>
              <a:rPr lang="en-US" sz="2800" dirty="0">
                <a:solidFill>
                  <a:srgbClr val="FF0000"/>
                </a:solidFill>
              </a:rPr>
              <a:t>Let </a:t>
            </a:r>
            <a:r>
              <a:rPr lang="en-US" sz="2800" i="1" dirty="0">
                <a:solidFill>
                  <a:srgbClr val="FF0000"/>
                </a:solidFill>
              </a:rPr>
              <a:t>P</a:t>
            </a:r>
            <a:r>
              <a:rPr lang="en-US" sz="2800" dirty="0">
                <a:solidFill>
                  <a:srgbClr val="FF0000"/>
                </a:solidFill>
              </a:rPr>
              <a:t>(x) be the statement “</a:t>
            </a:r>
            <a:r>
              <a:rPr lang="en-US" sz="2800" i="1" dirty="0">
                <a:solidFill>
                  <a:srgbClr val="FF0000"/>
                </a:solidFill>
              </a:rPr>
              <a:t>x </a:t>
            </a:r>
            <a:r>
              <a:rPr lang="en-US" sz="2800" dirty="0">
                <a:solidFill>
                  <a:srgbClr val="FF0000"/>
                </a:solidFill>
              </a:rPr>
              <a:t>+ 1 &gt; </a:t>
            </a:r>
            <a:r>
              <a:rPr lang="en-US" sz="2800" i="1" dirty="0">
                <a:solidFill>
                  <a:srgbClr val="FF0000"/>
                </a:solidFill>
              </a:rPr>
              <a:t>x</a:t>
            </a:r>
            <a:r>
              <a:rPr lang="en-US" sz="2800" dirty="0">
                <a:solidFill>
                  <a:srgbClr val="FF0000"/>
                </a:solidFill>
              </a:rPr>
              <a:t>” </a:t>
            </a:r>
          </a:p>
          <a:p>
            <a:pPr>
              <a:buFont typeface="Arial" charset="0"/>
              <a:buNone/>
            </a:pPr>
            <a:r>
              <a:rPr lang="en-US" sz="2800" dirty="0">
                <a:solidFill>
                  <a:srgbClr val="FF0000"/>
                </a:solidFill>
              </a:rPr>
              <a:t>What is the </a:t>
            </a:r>
            <a:r>
              <a:rPr lang="en-US" sz="2800" b="1" dirty="0">
                <a:solidFill>
                  <a:srgbClr val="FF0000"/>
                </a:solidFill>
              </a:rPr>
              <a:t>truth value </a:t>
            </a:r>
            <a:r>
              <a:rPr lang="en-US" sz="2800" dirty="0">
                <a:solidFill>
                  <a:srgbClr val="FF0000"/>
                </a:solidFill>
              </a:rPr>
              <a:t>of the quantification </a:t>
            </a:r>
            <a:r>
              <a:rPr lang="en-US" sz="2800" b="1" dirty="0">
                <a:solidFill>
                  <a:srgbClr val="FF0000"/>
                </a:solidFill>
                <a:sym typeface="Symbol" pitchFamily="18" charset="2"/>
              </a:rPr>
              <a:t></a:t>
            </a:r>
            <a:r>
              <a:rPr lang="en-US" sz="2800" dirty="0">
                <a:solidFill>
                  <a:srgbClr val="FF0000"/>
                </a:solidFill>
                <a:sym typeface="Symbol" pitchFamily="18" charset="2"/>
              </a:rPr>
              <a:t>x P(x ), if the domain consists of all real numbers?</a:t>
            </a:r>
          </a:p>
          <a:p>
            <a:pPr>
              <a:buFont typeface="Arial" charset="0"/>
              <a:buNone/>
            </a:pPr>
            <a:endParaRPr lang="en-US" sz="2800" dirty="0">
              <a:sym typeface="Symbol" pitchFamily="18" charset="2"/>
            </a:endParaRPr>
          </a:p>
          <a:p>
            <a:r>
              <a:rPr lang="en-US" sz="2800" b="1" u="sng" dirty="0">
                <a:solidFill>
                  <a:srgbClr val="0000FF"/>
                </a:solidFill>
                <a:sym typeface="Symbol" pitchFamily="18" charset="2"/>
              </a:rPr>
              <a:t>Solution</a:t>
            </a:r>
            <a:r>
              <a:rPr lang="en-US" sz="2800" dirty="0">
                <a:sym typeface="Symbol" pitchFamily="18" charset="2"/>
              </a:rPr>
              <a:t>:  Because </a:t>
            </a:r>
            <a:r>
              <a:rPr lang="en-US" sz="2800" i="1" dirty="0"/>
              <a:t>P</a:t>
            </a:r>
            <a:r>
              <a:rPr lang="en-US" sz="2800" dirty="0">
                <a:sym typeface="Symbol" pitchFamily="18" charset="2"/>
              </a:rPr>
              <a:t>(x) is true for all real numbers x, the truth value of the quantification </a:t>
            </a:r>
            <a:r>
              <a:rPr lang="en-US" sz="2800" b="1" dirty="0">
                <a:sym typeface="Symbol" pitchFamily="18" charset="2"/>
              </a:rPr>
              <a:t></a:t>
            </a:r>
            <a:r>
              <a:rPr lang="en-US" sz="2800" i="1" dirty="0">
                <a:sym typeface="Symbol" pitchFamily="18" charset="2"/>
              </a:rPr>
              <a:t>x P </a:t>
            </a:r>
            <a:r>
              <a:rPr lang="en-US" sz="2800" dirty="0">
                <a:sym typeface="Symbol" pitchFamily="18" charset="2"/>
              </a:rPr>
              <a:t>(</a:t>
            </a:r>
            <a:r>
              <a:rPr lang="en-US" sz="2800" i="1" dirty="0">
                <a:sym typeface="Symbol" pitchFamily="18" charset="2"/>
              </a:rPr>
              <a:t>x</a:t>
            </a:r>
            <a:r>
              <a:rPr lang="en-US" sz="2800" dirty="0">
                <a:sym typeface="Symbol" pitchFamily="18" charset="2"/>
              </a:rPr>
              <a:t> ) is </a:t>
            </a:r>
            <a:r>
              <a:rPr lang="en-US" sz="2800" b="1" dirty="0">
                <a:solidFill>
                  <a:srgbClr val="0000FF"/>
                </a:solidFill>
                <a:sym typeface="Symbol" pitchFamily="18" charset="2"/>
              </a:rPr>
              <a:t>true</a:t>
            </a:r>
            <a:r>
              <a:rPr lang="en-US" sz="2800" dirty="0">
                <a:sym typeface="Symbol" pitchFamily="18" charset="2"/>
              </a:rPr>
              <a:t>. </a:t>
            </a:r>
          </a:p>
          <a:p>
            <a:endParaRPr lang="en-US" sz="2800" dirty="0">
              <a:sym typeface="Symbol" pitchFamily="18" charset="2"/>
            </a:endParaRPr>
          </a:p>
          <a:p>
            <a:r>
              <a:rPr lang="en-US" sz="2800" dirty="0">
                <a:solidFill>
                  <a:srgbClr val="FF0000"/>
                </a:solidFill>
                <a:sym typeface="Symbol" pitchFamily="18" charset="2"/>
              </a:rPr>
              <a:t>Note: </a:t>
            </a:r>
            <a:r>
              <a:rPr lang="en-US" sz="2800" dirty="0">
                <a:sym typeface="Symbol" pitchFamily="18" charset="2"/>
              </a:rPr>
              <a:t>If we add 1 to any real number x, that number is always bigger than x</a:t>
            </a:r>
          </a:p>
        </p:txBody>
      </p:sp>
      <p:sp>
        <p:nvSpPr>
          <p:cNvPr id="5" name="Slide Number Placeholder 4"/>
          <p:cNvSpPr>
            <a:spLocks noGrp="1"/>
          </p:cNvSpPr>
          <p:nvPr>
            <p:ph type="sldNum" sz="quarter" idx="12"/>
          </p:nvPr>
        </p:nvSpPr>
        <p:spPr/>
        <p:txBody>
          <a:bodyPr/>
          <a:lstStyle/>
          <a:p>
            <a:fld id="{5FD889E0-CAB2-4699-909D-B9A88D47ACBE}" type="slidenum">
              <a:rPr lang="en-US" smtClean="0"/>
              <a:pPr/>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000" b="1" dirty="0">
                <a:latin typeface="+mn-lt"/>
              </a:rPr>
              <a:t>Example 9</a:t>
            </a:r>
            <a:endParaRPr lang="en-US" sz="4000" dirty="0">
              <a:latin typeface="+mn-lt"/>
            </a:endParaRPr>
          </a:p>
        </p:txBody>
      </p:sp>
      <p:sp>
        <p:nvSpPr>
          <p:cNvPr id="4" name="Rectangle 3"/>
          <p:cNvSpPr/>
          <p:nvPr/>
        </p:nvSpPr>
        <p:spPr>
          <a:xfrm>
            <a:off x="421341" y="2136339"/>
            <a:ext cx="8545238" cy="3770263"/>
          </a:xfrm>
          <a:prstGeom prst="rect">
            <a:avLst/>
          </a:prstGeom>
        </p:spPr>
        <p:txBody>
          <a:bodyPr wrap="square">
            <a:spAutoFit/>
          </a:bodyPr>
          <a:lstStyle/>
          <a:p>
            <a:pPr marL="274320" indent="-274320">
              <a:spcBef>
                <a:spcPts val="600"/>
              </a:spcBef>
              <a:buFont typeface="Arial" pitchFamily="34" charset="0"/>
              <a:buChar char="•"/>
            </a:pPr>
            <a:r>
              <a:rPr lang="en-US" sz="2800" dirty="0">
                <a:solidFill>
                  <a:srgbClr val="FF0000"/>
                </a:solidFill>
              </a:rPr>
              <a:t>Let </a:t>
            </a:r>
            <a:r>
              <a:rPr lang="en-US" sz="2800" i="1" dirty="0">
                <a:solidFill>
                  <a:srgbClr val="FF0000"/>
                </a:solidFill>
              </a:rPr>
              <a:t>Q</a:t>
            </a:r>
            <a:r>
              <a:rPr lang="en-US" sz="2800" dirty="0">
                <a:solidFill>
                  <a:srgbClr val="FF0000"/>
                </a:solidFill>
              </a:rPr>
              <a:t>(x) be the statement “x&lt;2”. What is the truth value of the quantification </a:t>
            </a:r>
            <a:r>
              <a:rPr lang="en-US" sz="2800" b="1" dirty="0">
                <a:solidFill>
                  <a:srgbClr val="FF0000"/>
                </a:solidFill>
                <a:sym typeface="Symbol" pitchFamily="18" charset="2"/>
              </a:rPr>
              <a:t></a:t>
            </a:r>
            <a:r>
              <a:rPr lang="en-US" sz="2800" i="1" dirty="0">
                <a:solidFill>
                  <a:srgbClr val="FF0000"/>
                </a:solidFill>
                <a:sym typeface="Symbol" pitchFamily="18" charset="2"/>
              </a:rPr>
              <a:t>x Q</a:t>
            </a:r>
            <a:r>
              <a:rPr lang="en-US" sz="2800" dirty="0">
                <a:solidFill>
                  <a:srgbClr val="FF0000"/>
                </a:solidFill>
                <a:sym typeface="Symbol" pitchFamily="18" charset="2"/>
              </a:rPr>
              <a:t>(</a:t>
            </a:r>
            <a:r>
              <a:rPr lang="en-US" sz="2800" i="1" dirty="0">
                <a:solidFill>
                  <a:srgbClr val="FF0000"/>
                </a:solidFill>
                <a:sym typeface="Symbol" pitchFamily="18" charset="2"/>
              </a:rPr>
              <a:t>x</a:t>
            </a:r>
            <a:r>
              <a:rPr lang="en-US" sz="2800" dirty="0">
                <a:solidFill>
                  <a:srgbClr val="FF0000"/>
                </a:solidFill>
                <a:sym typeface="Symbol" pitchFamily="18" charset="2"/>
              </a:rPr>
              <a:t> ), if the domain consists of all real numbers?</a:t>
            </a:r>
          </a:p>
          <a:p>
            <a:pPr marL="274320" indent="-274320">
              <a:spcBef>
                <a:spcPts val="600"/>
              </a:spcBef>
              <a:buFont typeface="Arial" pitchFamily="34" charset="0"/>
              <a:buChar char="•"/>
            </a:pPr>
            <a:endParaRPr lang="en-US" sz="2800" dirty="0">
              <a:sym typeface="Symbol" pitchFamily="18" charset="2"/>
            </a:endParaRPr>
          </a:p>
          <a:p>
            <a:pPr marL="274320" indent="-274320">
              <a:spcBef>
                <a:spcPts val="600"/>
              </a:spcBef>
              <a:buFont typeface="Arial" pitchFamily="34" charset="0"/>
              <a:buChar char="•"/>
            </a:pPr>
            <a:r>
              <a:rPr lang="en-US" sz="2800" b="1" dirty="0">
                <a:solidFill>
                  <a:srgbClr val="0000FF"/>
                </a:solidFill>
              </a:rPr>
              <a:t>Solution</a:t>
            </a:r>
            <a:r>
              <a:rPr lang="en-US" sz="2800" dirty="0"/>
              <a:t>: </a:t>
            </a:r>
            <a:r>
              <a:rPr lang="en-US" sz="2800" i="1" dirty="0"/>
              <a:t>Q</a:t>
            </a:r>
            <a:r>
              <a:rPr lang="en-US" sz="2800" dirty="0"/>
              <a:t>(x) is not true for every real number x, because, for instance, </a:t>
            </a:r>
            <a:r>
              <a:rPr lang="en-US" sz="2800" i="1" dirty="0"/>
              <a:t>Q</a:t>
            </a:r>
            <a:r>
              <a:rPr lang="en-US" sz="2800" dirty="0"/>
              <a:t>(3) is false. That is, </a:t>
            </a:r>
            <a:r>
              <a:rPr lang="en-US" sz="2800" dirty="0">
                <a:solidFill>
                  <a:srgbClr val="0000FF"/>
                </a:solidFill>
              </a:rPr>
              <a:t>x = 3 is a counterexample for the statement </a:t>
            </a:r>
            <a:r>
              <a:rPr lang="en-US" sz="2800" b="1" dirty="0">
                <a:solidFill>
                  <a:srgbClr val="0000FF"/>
                </a:solidFill>
                <a:sym typeface="Symbol" pitchFamily="18" charset="2"/>
              </a:rPr>
              <a:t></a:t>
            </a:r>
            <a:r>
              <a:rPr lang="en-US" sz="2800" i="1" dirty="0">
                <a:solidFill>
                  <a:srgbClr val="0000FF"/>
                </a:solidFill>
                <a:sym typeface="Symbol" pitchFamily="18" charset="2"/>
              </a:rPr>
              <a:t>x Q</a:t>
            </a:r>
            <a:r>
              <a:rPr lang="en-US" sz="2800" dirty="0">
                <a:solidFill>
                  <a:srgbClr val="0000FF"/>
                </a:solidFill>
                <a:sym typeface="Symbol" pitchFamily="18" charset="2"/>
              </a:rPr>
              <a:t>(</a:t>
            </a:r>
            <a:r>
              <a:rPr lang="en-US" sz="2800" i="1" dirty="0">
                <a:solidFill>
                  <a:srgbClr val="0000FF"/>
                </a:solidFill>
                <a:sym typeface="Symbol" pitchFamily="18" charset="2"/>
              </a:rPr>
              <a:t>x</a:t>
            </a:r>
            <a:r>
              <a:rPr lang="en-US" sz="2800" dirty="0">
                <a:solidFill>
                  <a:srgbClr val="0000FF"/>
                </a:solidFill>
                <a:sym typeface="Symbol" pitchFamily="18" charset="2"/>
              </a:rPr>
              <a:t> ). </a:t>
            </a:r>
          </a:p>
          <a:p>
            <a:pPr marL="274320" indent="-274320">
              <a:spcBef>
                <a:spcPts val="600"/>
              </a:spcBef>
            </a:pPr>
            <a:r>
              <a:rPr lang="en-US" sz="2800" dirty="0">
                <a:sym typeface="Symbol" pitchFamily="18" charset="2"/>
              </a:rPr>
              <a:t>	Thus, the truth value of </a:t>
            </a:r>
            <a:r>
              <a:rPr lang="en-US" sz="2800" b="1" dirty="0">
                <a:solidFill>
                  <a:srgbClr val="0000FF"/>
                </a:solidFill>
                <a:sym typeface="Symbol" pitchFamily="18" charset="2"/>
              </a:rPr>
              <a:t></a:t>
            </a:r>
            <a:r>
              <a:rPr lang="en-US" sz="2800" i="1" dirty="0">
                <a:solidFill>
                  <a:srgbClr val="0000FF"/>
                </a:solidFill>
                <a:sym typeface="Symbol" pitchFamily="18" charset="2"/>
              </a:rPr>
              <a:t>x Q</a:t>
            </a:r>
            <a:r>
              <a:rPr lang="en-US" sz="2800" dirty="0">
                <a:solidFill>
                  <a:srgbClr val="0000FF"/>
                </a:solidFill>
                <a:sym typeface="Symbol" pitchFamily="18" charset="2"/>
              </a:rPr>
              <a:t>(</a:t>
            </a:r>
            <a:r>
              <a:rPr lang="en-US" sz="2800" i="1" dirty="0">
                <a:solidFill>
                  <a:srgbClr val="0000FF"/>
                </a:solidFill>
                <a:sym typeface="Symbol" pitchFamily="18" charset="2"/>
              </a:rPr>
              <a:t>x</a:t>
            </a:r>
            <a:r>
              <a:rPr lang="en-US" sz="2800" dirty="0">
                <a:solidFill>
                  <a:srgbClr val="0000FF"/>
                </a:solidFill>
                <a:sym typeface="Symbol" pitchFamily="18" charset="2"/>
              </a:rPr>
              <a:t> ) is false.</a:t>
            </a:r>
          </a:p>
        </p:txBody>
      </p:sp>
      <p:sp>
        <p:nvSpPr>
          <p:cNvPr id="5" name="Slide Number Placeholder 4"/>
          <p:cNvSpPr>
            <a:spLocks noGrp="1"/>
          </p:cNvSpPr>
          <p:nvPr>
            <p:ph type="sldNum" sz="quarter" idx="12"/>
          </p:nvPr>
        </p:nvSpPr>
        <p:spPr/>
        <p:txBody>
          <a:bodyPr/>
          <a:lstStyle/>
          <a:p>
            <a:fld id="{5FD889E0-CAB2-4699-909D-B9A88D47ACBE}" type="slidenum">
              <a:rPr lang="en-US" smtClean="0"/>
              <a:pPr/>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000" b="1" dirty="0">
                <a:latin typeface="+mn-lt"/>
              </a:rPr>
              <a:t>(Modified) Example 10</a:t>
            </a:r>
            <a:endParaRPr lang="en-US" sz="4000" dirty="0">
              <a:latin typeface="+mn-lt"/>
            </a:endParaRPr>
          </a:p>
        </p:txBody>
      </p:sp>
      <p:sp>
        <p:nvSpPr>
          <p:cNvPr id="4" name="Rectangle 3"/>
          <p:cNvSpPr/>
          <p:nvPr/>
        </p:nvSpPr>
        <p:spPr>
          <a:xfrm>
            <a:off x="313887" y="2268780"/>
            <a:ext cx="8611748" cy="3970318"/>
          </a:xfrm>
          <a:prstGeom prst="rect">
            <a:avLst/>
          </a:prstGeom>
        </p:spPr>
        <p:txBody>
          <a:bodyPr wrap="square">
            <a:spAutoFit/>
          </a:bodyPr>
          <a:lstStyle/>
          <a:p>
            <a:r>
              <a:rPr lang="en-US" sz="2800" dirty="0">
                <a:solidFill>
                  <a:srgbClr val="FF0000"/>
                </a:solidFill>
              </a:rPr>
              <a:t>Let P(x) be the statement “x</a:t>
            </a:r>
            <a:r>
              <a:rPr lang="en-US" sz="2800" baseline="30000" dirty="0">
                <a:solidFill>
                  <a:srgbClr val="FF0000"/>
                </a:solidFill>
              </a:rPr>
              <a:t>2</a:t>
            </a:r>
            <a:r>
              <a:rPr lang="en-US" sz="2800" dirty="0">
                <a:solidFill>
                  <a:srgbClr val="FF0000"/>
                </a:solidFill>
              </a:rPr>
              <a:t>&gt;0”. What is the truth value of the quantification </a:t>
            </a:r>
            <a:r>
              <a:rPr lang="en-US" sz="2800" b="1" dirty="0">
                <a:solidFill>
                  <a:srgbClr val="FF0000"/>
                </a:solidFill>
                <a:sym typeface="Symbol" pitchFamily="18" charset="2"/>
              </a:rPr>
              <a:t></a:t>
            </a:r>
            <a:r>
              <a:rPr lang="en-US" sz="2800" i="1" dirty="0">
                <a:solidFill>
                  <a:srgbClr val="FF0000"/>
                </a:solidFill>
                <a:sym typeface="Symbol" pitchFamily="18" charset="2"/>
              </a:rPr>
              <a:t>x P</a:t>
            </a:r>
            <a:r>
              <a:rPr lang="en-US" sz="2800" dirty="0">
                <a:solidFill>
                  <a:srgbClr val="FF0000"/>
                </a:solidFill>
                <a:sym typeface="Symbol" pitchFamily="18" charset="2"/>
              </a:rPr>
              <a:t>(</a:t>
            </a:r>
            <a:r>
              <a:rPr lang="en-US" sz="2800" i="1" dirty="0">
                <a:solidFill>
                  <a:srgbClr val="FF0000"/>
                </a:solidFill>
                <a:sym typeface="Symbol" pitchFamily="18" charset="2"/>
              </a:rPr>
              <a:t>x</a:t>
            </a:r>
            <a:r>
              <a:rPr lang="en-US" sz="2800" dirty="0">
                <a:solidFill>
                  <a:srgbClr val="FF0000"/>
                </a:solidFill>
                <a:sym typeface="Symbol" pitchFamily="18" charset="2"/>
              </a:rPr>
              <a:t> ), if the universe of discourse consists of all integers?</a:t>
            </a:r>
          </a:p>
          <a:p>
            <a:endParaRPr lang="en-US" sz="2800" dirty="0">
              <a:solidFill>
                <a:srgbClr val="C00000"/>
              </a:solidFill>
              <a:sym typeface="Symbol" pitchFamily="18" charset="2"/>
            </a:endParaRPr>
          </a:p>
          <a:p>
            <a:r>
              <a:rPr lang="en-US" sz="2800" b="1" u="sng" dirty="0">
                <a:solidFill>
                  <a:srgbClr val="0000FF"/>
                </a:solidFill>
              </a:rPr>
              <a:t>Solution</a:t>
            </a:r>
            <a:r>
              <a:rPr lang="en-US" sz="2800" dirty="0"/>
              <a:t>: P(x) is not true for all integers. </a:t>
            </a:r>
          </a:p>
          <a:p>
            <a:pPr>
              <a:buFont typeface="Arial" charset="0"/>
              <a:buNone/>
            </a:pPr>
            <a:r>
              <a:rPr lang="en-US" sz="2800" dirty="0">
                <a:solidFill>
                  <a:srgbClr val="0000FF"/>
                </a:solidFill>
              </a:rPr>
              <a:t>We can give a counter example</a:t>
            </a:r>
            <a:r>
              <a:rPr lang="en-US" sz="2800" dirty="0"/>
              <a:t>. We see that x = 0 is a counterexample, because x</a:t>
            </a:r>
            <a:r>
              <a:rPr lang="en-US" sz="2800" baseline="30000" dirty="0"/>
              <a:t>2 </a:t>
            </a:r>
            <a:r>
              <a:rPr lang="en-US" sz="2800" dirty="0"/>
              <a:t>= 0 when x = 0, so that x</a:t>
            </a:r>
            <a:r>
              <a:rPr lang="en-US" sz="2800" baseline="30000" dirty="0"/>
              <a:t>2 </a:t>
            </a:r>
            <a:r>
              <a:rPr lang="en-US" sz="2800" dirty="0"/>
              <a:t>is not greater than 0 when x = 0.</a:t>
            </a:r>
          </a:p>
          <a:p>
            <a:pPr>
              <a:buFont typeface="Arial" charset="0"/>
              <a:buNone/>
            </a:pPr>
            <a:r>
              <a:rPr lang="en-US" sz="2800" dirty="0"/>
              <a:t>Therefore, </a:t>
            </a:r>
            <a:r>
              <a:rPr lang="en-US" sz="2800" b="1" dirty="0">
                <a:solidFill>
                  <a:srgbClr val="0000FF"/>
                </a:solidFill>
              </a:rPr>
              <a:t>truth value of </a:t>
            </a:r>
            <a:r>
              <a:rPr lang="en-US" sz="2800" b="1" dirty="0">
                <a:solidFill>
                  <a:srgbClr val="0000FF"/>
                </a:solidFill>
                <a:sym typeface="Symbol" pitchFamily="18" charset="2"/>
              </a:rPr>
              <a:t></a:t>
            </a:r>
            <a:r>
              <a:rPr lang="en-US" sz="2800" b="1" i="1" dirty="0">
                <a:solidFill>
                  <a:srgbClr val="0000FF"/>
                </a:solidFill>
                <a:sym typeface="Symbol" pitchFamily="18" charset="2"/>
              </a:rPr>
              <a:t>x P</a:t>
            </a:r>
            <a:r>
              <a:rPr lang="en-US" sz="2800" b="1" dirty="0">
                <a:solidFill>
                  <a:srgbClr val="0000FF"/>
                </a:solidFill>
                <a:sym typeface="Symbol" pitchFamily="18" charset="2"/>
              </a:rPr>
              <a:t>(</a:t>
            </a:r>
            <a:r>
              <a:rPr lang="en-US" sz="2800" b="1" i="1" dirty="0">
                <a:solidFill>
                  <a:srgbClr val="0000FF"/>
                </a:solidFill>
                <a:sym typeface="Symbol" pitchFamily="18" charset="2"/>
              </a:rPr>
              <a:t>x</a:t>
            </a:r>
            <a:r>
              <a:rPr lang="en-US" sz="2800" b="1" dirty="0">
                <a:solidFill>
                  <a:srgbClr val="0000FF"/>
                </a:solidFill>
                <a:sym typeface="Symbol" pitchFamily="18" charset="2"/>
              </a:rPr>
              <a:t> ) is false</a:t>
            </a:r>
            <a:r>
              <a:rPr lang="en-US" sz="2800" dirty="0">
                <a:solidFill>
                  <a:srgbClr val="0000FF"/>
                </a:solidFill>
                <a:sym typeface="Symbol" pitchFamily="18" charset="2"/>
              </a:rPr>
              <a:t>. </a:t>
            </a:r>
            <a:endParaRPr lang="en-US" sz="2800" dirty="0">
              <a:solidFill>
                <a:srgbClr val="0000FF"/>
              </a:solidFill>
            </a:endParaRPr>
          </a:p>
        </p:txBody>
      </p:sp>
      <p:sp>
        <p:nvSpPr>
          <p:cNvPr id="5" name="Slide Number Placeholder 4"/>
          <p:cNvSpPr>
            <a:spLocks noGrp="1"/>
          </p:cNvSpPr>
          <p:nvPr>
            <p:ph type="sldNum" sz="quarter" idx="12"/>
          </p:nvPr>
        </p:nvSpPr>
        <p:spPr/>
        <p:txBody>
          <a:bodyPr/>
          <a:lstStyle/>
          <a:p>
            <a:fld id="{5FD889E0-CAB2-4699-909D-B9A88D47ACBE}" type="slidenum">
              <a:rPr lang="en-US" smtClean="0"/>
              <a:pPr/>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000" b="1" dirty="0">
                <a:latin typeface="+mn-lt"/>
              </a:rPr>
              <a:t>Example 11</a:t>
            </a:r>
            <a:endParaRPr lang="en-US" sz="4000" dirty="0">
              <a:latin typeface="+mn-lt"/>
            </a:endParaRPr>
          </a:p>
        </p:txBody>
      </p:sp>
      <p:sp>
        <p:nvSpPr>
          <p:cNvPr id="4" name="Rectangle 3"/>
          <p:cNvSpPr/>
          <p:nvPr/>
        </p:nvSpPr>
        <p:spPr>
          <a:xfrm>
            <a:off x="421341" y="2023116"/>
            <a:ext cx="8326873" cy="3970318"/>
          </a:xfrm>
          <a:prstGeom prst="rect">
            <a:avLst/>
          </a:prstGeom>
        </p:spPr>
        <p:txBody>
          <a:bodyPr wrap="square">
            <a:spAutoFit/>
          </a:bodyPr>
          <a:lstStyle/>
          <a:p>
            <a:r>
              <a:rPr lang="en-US" sz="2800" dirty="0"/>
              <a:t>What is the truth value of </a:t>
            </a:r>
            <a:r>
              <a:rPr lang="en-US" sz="2800" b="1" dirty="0">
                <a:sym typeface="Symbol" pitchFamily="18" charset="2"/>
              </a:rPr>
              <a:t></a:t>
            </a:r>
            <a:r>
              <a:rPr lang="en-US" sz="2800" i="1" dirty="0">
                <a:sym typeface="Symbol" pitchFamily="18" charset="2"/>
              </a:rPr>
              <a:t>x P</a:t>
            </a:r>
            <a:r>
              <a:rPr lang="en-US" sz="2800" dirty="0">
                <a:sym typeface="Symbol" pitchFamily="18" charset="2"/>
              </a:rPr>
              <a:t>(</a:t>
            </a:r>
            <a:r>
              <a:rPr lang="en-US" sz="2800" i="1" dirty="0">
                <a:sym typeface="Symbol" pitchFamily="18" charset="2"/>
              </a:rPr>
              <a:t>x</a:t>
            </a:r>
            <a:r>
              <a:rPr lang="en-US" sz="2800" dirty="0">
                <a:sym typeface="Symbol" pitchFamily="18" charset="2"/>
              </a:rPr>
              <a:t> ), if </a:t>
            </a:r>
            <a:r>
              <a:rPr lang="en-US" sz="2800" i="1" dirty="0">
                <a:sym typeface="Symbol" pitchFamily="18" charset="2"/>
              </a:rPr>
              <a:t>P</a:t>
            </a:r>
            <a:r>
              <a:rPr lang="en-US" sz="2800" dirty="0">
                <a:sym typeface="Symbol" pitchFamily="18" charset="2"/>
              </a:rPr>
              <a:t>(x) is the statement </a:t>
            </a:r>
            <a:r>
              <a:rPr lang="en-US" sz="2800" dirty="0"/>
              <a:t>“x</a:t>
            </a:r>
            <a:r>
              <a:rPr lang="en-US" sz="2800" baseline="30000" dirty="0"/>
              <a:t>2</a:t>
            </a:r>
            <a:r>
              <a:rPr lang="en-US" sz="2800" dirty="0"/>
              <a:t>&lt;10” and the </a:t>
            </a:r>
            <a:r>
              <a:rPr lang="en-US" sz="2800" dirty="0">
                <a:solidFill>
                  <a:srgbClr val="C00000"/>
                </a:solidFill>
              </a:rPr>
              <a:t>domain</a:t>
            </a:r>
            <a:r>
              <a:rPr lang="en-US" sz="2800" dirty="0"/>
              <a:t> consists of the </a:t>
            </a:r>
            <a:r>
              <a:rPr lang="en-US" sz="2800" dirty="0">
                <a:solidFill>
                  <a:srgbClr val="C00000"/>
                </a:solidFill>
              </a:rPr>
              <a:t>positive integers not exceeding 4?</a:t>
            </a:r>
          </a:p>
          <a:p>
            <a:pPr>
              <a:buFont typeface="Arial" charset="0"/>
              <a:buNone/>
            </a:pPr>
            <a:endParaRPr lang="en-US" sz="2800" dirty="0">
              <a:solidFill>
                <a:srgbClr val="C00000"/>
              </a:solidFill>
            </a:endParaRPr>
          </a:p>
          <a:p>
            <a:r>
              <a:rPr lang="en-US" sz="2800" b="1" u="sng" dirty="0">
                <a:solidFill>
                  <a:srgbClr val="0000FF"/>
                </a:solidFill>
              </a:rPr>
              <a:t>Solution</a:t>
            </a:r>
            <a:r>
              <a:rPr lang="en-US" sz="2800" dirty="0"/>
              <a:t>: The statement </a:t>
            </a:r>
            <a:r>
              <a:rPr lang="en-US" sz="2800" b="1" dirty="0">
                <a:sym typeface="Symbol" pitchFamily="18" charset="2"/>
              </a:rPr>
              <a:t></a:t>
            </a:r>
            <a:r>
              <a:rPr lang="en-US" sz="2800" i="1" dirty="0">
                <a:sym typeface="Symbol" pitchFamily="18" charset="2"/>
              </a:rPr>
              <a:t>x P</a:t>
            </a:r>
            <a:r>
              <a:rPr lang="en-US" sz="2800" dirty="0">
                <a:sym typeface="Symbol" pitchFamily="18" charset="2"/>
              </a:rPr>
              <a:t>(</a:t>
            </a:r>
            <a:r>
              <a:rPr lang="en-US" sz="2800" i="1" dirty="0">
                <a:sym typeface="Symbol" pitchFamily="18" charset="2"/>
              </a:rPr>
              <a:t>x</a:t>
            </a:r>
            <a:r>
              <a:rPr lang="en-US" sz="2800" dirty="0">
                <a:sym typeface="Symbol" pitchFamily="18" charset="2"/>
              </a:rPr>
              <a:t> ) is the same as the conjunction </a:t>
            </a:r>
            <a:r>
              <a:rPr lang="en-US" sz="2800" b="1" dirty="0">
                <a:solidFill>
                  <a:srgbClr val="0000FF"/>
                </a:solidFill>
                <a:sym typeface="Symbol" pitchFamily="18" charset="2"/>
              </a:rPr>
              <a:t>P(1)  P(2)  P(3)  P(4), </a:t>
            </a:r>
            <a:r>
              <a:rPr lang="en-US" sz="2800" dirty="0">
                <a:solidFill>
                  <a:srgbClr val="0000FF"/>
                </a:solidFill>
                <a:sym typeface="Symbol" pitchFamily="18" charset="2"/>
              </a:rPr>
              <a:t>because the </a:t>
            </a:r>
            <a:r>
              <a:rPr lang="en-US" sz="2800" dirty="0">
                <a:solidFill>
                  <a:srgbClr val="C00000"/>
                </a:solidFill>
                <a:sym typeface="Symbol" pitchFamily="18" charset="2"/>
              </a:rPr>
              <a:t>domain consists of the integers 1, 2, 3, and 4</a:t>
            </a:r>
            <a:r>
              <a:rPr lang="en-US" sz="2800" dirty="0">
                <a:solidFill>
                  <a:srgbClr val="0000FF"/>
                </a:solidFill>
                <a:sym typeface="Symbol" pitchFamily="18" charset="2"/>
              </a:rPr>
              <a:t>.</a:t>
            </a:r>
          </a:p>
          <a:p>
            <a:pPr>
              <a:buFont typeface="Arial" charset="0"/>
              <a:buNone/>
            </a:pPr>
            <a:r>
              <a:rPr lang="en-US" sz="2800" dirty="0">
                <a:solidFill>
                  <a:srgbClr val="0000FF"/>
                </a:solidFill>
                <a:sym typeface="Symbol" pitchFamily="18" charset="2"/>
              </a:rPr>
              <a:t>Because P(4), which is the statement </a:t>
            </a:r>
            <a:r>
              <a:rPr lang="en-US" sz="2800" dirty="0">
                <a:solidFill>
                  <a:srgbClr val="FF0000"/>
                </a:solidFill>
              </a:rPr>
              <a:t>“4</a:t>
            </a:r>
            <a:r>
              <a:rPr lang="en-US" sz="2800" baseline="30000" dirty="0">
                <a:solidFill>
                  <a:srgbClr val="FF0000"/>
                </a:solidFill>
              </a:rPr>
              <a:t>2</a:t>
            </a:r>
            <a:r>
              <a:rPr lang="en-US" sz="2800" dirty="0">
                <a:solidFill>
                  <a:srgbClr val="FF0000"/>
                </a:solidFill>
              </a:rPr>
              <a:t>&lt;10”, is false</a:t>
            </a:r>
            <a:r>
              <a:rPr lang="en-US" sz="2800" dirty="0"/>
              <a:t>, it follows that </a:t>
            </a:r>
            <a:r>
              <a:rPr lang="en-US" sz="2800" b="1" dirty="0">
                <a:solidFill>
                  <a:srgbClr val="FF0000"/>
                </a:solidFill>
                <a:sym typeface="Symbol" pitchFamily="18" charset="2"/>
              </a:rPr>
              <a:t></a:t>
            </a:r>
            <a:r>
              <a:rPr lang="en-US" sz="2800" b="1" i="1" dirty="0">
                <a:solidFill>
                  <a:srgbClr val="FF0000"/>
                </a:solidFill>
                <a:sym typeface="Symbol" pitchFamily="18" charset="2"/>
              </a:rPr>
              <a:t>x P</a:t>
            </a:r>
            <a:r>
              <a:rPr lang="en-US" sz="2800" b="1" dirty="0">
                <a:solidFill>
                  <a:srgbClr val="FF0000"/>
                </a:solidFill>
                <a:sym typeface="Symbol" pitchFamily="18" charset="2"/>
              </a:rPr>
              <a:t>(</a:t>
            </a:r>
            <a:r>
              <a:rPr lang="en-US" sz="2800" b="1" i="1" dirty="0">
                <a:solidFill>
                  <a:srgbClr val="FF0000"/>
                </a:solidFill>
                <a:sym typeface="Symbol" pitchFamily="18" charset="2"/>
              </a:rPr>
              <a:t>x</a:t>
            </a:r>
            <a:r>
              <a:rPr lang="en-US" sz="2800" b="1" dirty="0">
                <a:solidFill>
                  <a:srgbClr val="FF0000"/>
                </a:solidFill>
                <a:sym typeface="Symbol" pitchFamily="18" charset="2"/>
              </a:rPr>
              <a:t> ) is false. </a:t>
            </a:r>
            <a:endParaRPr lang="en-US" sz="2800" b="1" dirty="0">
              <a:solidFill>
                <a:srgbClr val="FF0000"/>
              </a:solidFill>
            </a:endParaRPr>
          </a:p>
        </p:txBody>
      </p:sp>
      <p:sp>
        <p:nvSpPr>
          <p:cNvPr id="5" name="Slide Number Placeholder 4"/>
          <p:cNvSpPr>
            <a:spLocks noGrp="1"/>
          </p:cNvSpPr>
          <p:nvPr>
            <p:ph type="sldNum" sz="quarter" idx="12"/>
          </p:nvPr>
        </p:nvSpPr>
        <p:spPr/>
        <p:txBody>
          <a:bodyPr/>
          <a:lstStyle/>
          <a:p>
            <a:fld id="{5FD889E0-CAB2-4699-909D-B9A88D47ACBE}" type="slidenum">
              <a:rPr lang="en-US" smtClean="0"/>
              <a:pPr/>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000" dirty="0">
                <a:latin typeface="+mn-lt"/>
              </a:rPr>
              <a:t>Another Example</a:t>
            </a:r>
          </a:p>
        </p:txBody>
      </p:sp>
      <p:sp>
        <p:nvSpPr>
          <p:cNvPr id="4" name="Rectangle 3"/>
          <p:cNvSpPr/>
          <p:nvPr/>
        </p:nvSpPr>
        <p:spPr>
          <a:xfrm>
            <a:off x="421341" y="2249771"/>
            <a:ext cx="8367817" cy="4093428"/>
          </a:xfrm>
          <a:prstGeom prst="rect">
            <a:avLst/>
          </a:prstGeom>
        </p:spPr>
        <p:txBody>
          <a:bodyPr wrap="square">
            <a:spAutoFit/>
          </a:bodyPr>
          <a:lstStyle/>
          <a:p>
            <a:r>
              <a:rPr lang="en-US" sz="2000" dirty="0">
                <a:solidFill>
                  <a:srgbClr val="FF0000"/>
                </a:solidFill>
              </a:rPr>
              <a:t>What is the truth value of </a:t>
            </a:r>
            <a:r>
              <a:rPr lang="en-US" sz="2000" b="1" dirty="0">
                <a:solidFill>
                  <a:srgbClr val="FF0000"/>
                </a:solidFill>
                <a:sym typeface="Symbol" pitchFamily="18" charset="2"/>
              </a:rPr>
              <a:t></a:t>
            </a:r>
            <a:r>
              <a:rPr lang="en-US" sz="2000" i="1" dirty="0">
                <a:solidFill>
                  <a:srgbClr val="FF0000"/>
                </a:solidFill>
                <a:sym typeface="Symbol" pitchFamily="18" charset="2"/>
              </a:rPr>
              <a:t>x P</a:t>
            </a:r>
            <a:r>
              <a:rPr lang="en-US" sz="2000" dirty="0">
                <a:solidFill>
                  <a:srgbClr val="FF0000"/>
                </a:solidFill>
                <a:sym typeface="Symbol" pitchFamily="18" charset="2"/>
              </a:rPr>
              <a:t>(</a:t>
            </a:r>
            <a:r>
              <a:rPr lang="en-US" sz="2000" i="1" dirty="0">
                <a:solidFill>
                  <a:srgbClr val="FF0000"/>
                </a:solidFill>
                <a:sym typeface="Symbol" pitchFamily="18" charset="2"/>
              </a:rPr>
              <a:t>x</a:t>
            </a:r>
            <a:r>
              <a:rPr lang="en-US" sz="2000" dirty="0">
                <a:solidFill>
                  <a:srgbClr val="FF0000"/>
                </a:solidFill>
                <a:sym typeface="Symbol" pitchFamily="18" charset="2"/>
              </a:rPr>
              <a:t> ), where P(x) is the statement </a:t>
            </a:r>
            <a:r>
              <a:rPr lang="en-US" sz="2000" dirty="0">
                <a:solidFill>
                  <a:srgbClr val="FF0000"/>
                </a:solidFill>
              </a:rPr>
              <a:t>“x</a:t>
            </a:r>
            <a:r>
              <a:rPr lang="en-US" sz="2000" baseline="30000" dirty="0">
                <a:solidFill>
                  <a:srgbClr val="FF0000"/>
                </a:solidFill>
              </a:rPr>
              <a:t>2</a:t>
            </a:r>
            <a:r>
              <a:rPr lang="en-US" sz="2000" dirty="0">
                <a:solidFill>
                  <a:srgbClr val="FF0000"/>
                </a:solidFill>
              </a:rPr>
              <a:t>&lt;10” and the domain consists of the positive integers less than 4?</a:t>
            </a:r>
          </a:p>
          <a:p>
            <a:endParaRPr lang="en-US" sz="2000" dirty="0">
              <a:solidFill>
                <a:srgbClr val="C00000"/>
              </a:solidFill>
            </a:endParaRPr>
          </a:p>
          <a:p>
            <a:r>
              <a:rPr lang="en-US" sz="2000" b="1" u="sng" dirty="0">
                <a:solidFill>
                  <a:srgbClr val="0000FF"/>
                </a:solidFill>
              </a:rPr>
              <a:t>Solution</a:t>
            </a:r>
            <a:r>
              <a:rPr lang="en-US" sz="2000" dirty="0"/>
              <a:t>: The statement </a:t>
            </a:r>
            <a:r>
              <a:rPr lang="en-US" sz="2000" b="1" dirty="0">
                <a:sym typeface="Symbol" pitchFamily="18" charset="2"/>
              </a:rPr>
              <a:t></a:t>
            </a:r>
            <a:r>
              <a:rPr lang="en-US" sz="2000" i="1" dirty="0">
                <a:sym typeface="Symbol" pitchFamily="18" charset="2"/>
              </a:rPr>
              <a:t>x P</a:t>
            </a:r>
            <a:r>
              <a:rPr lang="en-US" sz="2000" dirty="0">
                <a:sym typeface="Symbol" pitchFamily="18" charset="2"/>
              </a:rPr>
              <a:t>(</a:t>
            </a:r>
            <a:r>
              <a:rPr lang="en-US" sz="2000" i="1" dirty="0">
                <a:sym typeface="Symbol" pitchFamily="18" charset="2"/>
              </a:rPr>
              <a:t>x</a:t>
            </a:r>
            <a:r>
              <a:rPr lang="en-US" sz="2000" dirty="0">
                <a:sym typeface="Symbol" pitchFamily="18" charset="2"/>
              </a:rPr>
              <a:t> ) is the same as the conjunction </a:t>
            </a:r>
            <a:r>
              <a:rPr lang="en-US" sz="2000" b="1" dirty="0">
                <a:solidFill>
                  <a:srgbClr val="0000FF"/>
                </a:solidFill>
                <a:sym typeface="Symbol" pitchFamily="18" charset="2"/>
              </a:rPr>
              <a:t>P(1)  P(2)  P(3) , </a:t>
            </a:r>
            <a:r>
              <a:rPr lang="en-US" sz="2000" dirty="0">
                <a:solidFill>
                  <a:srgbClr val="0000FF"/>
                </a:solidFill>
                <a:sym typeface="Symbol" pitchFamily="18" charset="2"/>
              </a:rPr>
              <a:t>because the domain consists of the integers 1, 2, 3.</a:t>
            </a:r>
          </a:p>
          <a:p>
            <a:pPr>
              <a:buFont typeface="Arial" charset="0"/>
              <a:buNone/>
            </a:pPr>
            <a:r>
              <a:rPr lang="en-US" sz="2000" dirty="0">
                <a:solidFill>
                  <a:srgbClr val="0000FF"/>
                </a:solidFill>
                <a:sym typeface="Symbol" pitchFamily="18" charset="2"/>
              </a:rPr>
              <a:t>So, the truth value of </a:t>
            </a:r>
            <a:r>
              <a:rPr lang="en-US" sz="2000" b="1" dirty="0">
                <a:solidFill>
                  <a:srgbClr val="0000FF"/>
                </a:solidFill>
                <a:sym typeface="Symbol" pitchFamily="18" charset="2"/>
              </a:rPr>
              <a:t></a:t>
            </a:r>
            <a:r>
              <a:rPr lang="en-US" sz="2000" b="1" i="1" dirty="0">
                <a:solidFill>
                  <a:srgbClr val="0000FF"/>
                </a:solidFill>
                <a:sym typeface="Symbol" pitchFamily="18" charset="2"/>
              </a:rPr>
              <a:t>x P</a:t>
            </a:r>
            <a:r>
              <a:rPr lang="en-US" sz="2000" b="1" dirty="0">
                <a:solidFill>
                  <a:srgbClr val="0000FF"/>
                </a:solidFill>
                <a:sym typeface="Symbol" pitchFamily="18" charset="2"/>
              </a:rPr>
              <a:t>(</a:t>
            </a:r>
            <a:r>
              <a:rPr lang="en-US" sz="2000" b="1" i="1" dirty="0">
                <a:solidFill>
                  <a:srgbClr val="0000FF"/>
                </a:solidFill>
                <a:sym typeface="Symbol" pitchFamily="18" charset="2"/>
              </a:rPr>
              <a:t>x</a:t>
            </a:r>
            <a:r>
              <a:rPr lang="en-US" sz="2000" b="1" dirty="0">
                <a:solidFill>
                  <a:srgbClr val="0000FF"/>
                </a:solidFill>
                <a:sym typeface="Symbol" pitchFamily="18" charset="2"/>
              </a:rPr>
              <a:t> ) is true.</a:t>
            </a:r>
          </a:p>
          <a:p>
            <a:pPr>
              <a:buFont typeface="Arial" charset="0"/>
              <a:buNone/>
            </a:pPr>
            <a:endParaRPr lang="en-US" sz="2000" b="1" dirty="0">
              <a:solidFill>
                <a:srgbClr val="0000FF"/>
              </a:solidFill>
              <a:sym typeface="Symbol" pitchFamily="18" charset="2"/>
            </a:endParaRPr>
          </a:p>
          <a:p>
            <a:pPr>
              <a:buFont typeface="Arial" charset="0"/>
              <a:buNone/>
            </a:pPr>
            <a:r>
              <a:rPr lang="en-US" sz="2000" b="1" dirty="0">
                <a:solidFill>
                  <a:srgbClr val="FF0000"/>
                </a:solidFill>
                <a:sym typeface="Symbol" pitchFamily="18" charset="2"/>
              </a:rPr>
              <a:t>How?</a:t>
            </a:r>
            <a:r>
              <a:rPr lang="en-US" sz="2000" dirty="0">
                <a:sym typeface="Symbol" pitchFamily="18" charset="2"/>
              </a:rPr>
              <a:t>----------</a:t>
            </a:r>
            <a:r>
              <a:rPr lang="en-US" sz="2000" b="1" dirty="0">
                <a:solidFill>
                  <a:srgbClr val="FF0000"/>
                </a:solidFill>
                <a:sym typeface="Symbol" pitchFamily="18" charset="2"/>
              </a:rPr>
              <a:t>See Below</a:t>
            </a:r>
            <a:r>
              <a:rPr lang="en-US" sz="2000" dirty="0">
                <a:sym typeface="Symbol" pitchFamily="18" charset="2"/>
              </a:rPr>
              <a:t>-------------------------------------</a:t>
            </a:r>
            <a:endParaRPr lang="en-US" sz="2000" dirty="0">
              <a:solidFill>
                <a:srgbClr val="FF0000"/>
              </a:solidFill>
              <a:sym typeface="Symbol" pitchFamily="18" charset="2"/>
            </a:endParaRPr>
          </a:p>
          <a:p>
            <a:pPr lvl="1">
              <a:buFont typeface="Arial" charset="0"/>
              <a:buNone/>
            </a:pPr>
            <a:r>
              <a:rPr lang="en-US" sz="2000" dirty="0">
                <a:solidFill>
                  <a:srgbClr val="FF0000"/>
                </a:solidFill>
                <a:sym typeface="Symbol" pitchFamily="18" charset="2"/>
              </a:rPr>
              <a:t>	P(1): </a:t>
            </a:r>
            <a:r>
              <a:rPr lang="en-US" sz="2000" dirty="0"/>
              <a:t>“1</a:t>
            </a:r>
            <a:r>
              <a:rPr lang="en-US" sz="2000" baseline="30000" dirty="0"/>
              <a:t>2</a:t>
            </a:r>
            <a:r>
              <a:rPr lang="en-US" sz="2000" dirty="0"/>
              <a:t>&lt;10”, is true</a:t>
            </a:r>
          </a:p>
          <a:p>
            <a:pPr lvl="1">
              <a:buFont typeface="Arial" charset="0"/>
              <a:buNone/>
            </a:pPr>
            <a:r>
              <a:rPr lang="en-US" sz="2000" dirty="0">
                <a:solidFill>
                  <a:srgbClr val="FF0000"/>
                </a:solidFill>
                <a:sym typeface="Symbol" pitchFamily="18" charset="2"/>
              </a:rPr>
              <a:t>	P(2): </a:t>
            </a:r>
            <a:r>
              <a:rPr lang="en-US" sz="2000" dirty="0"/>
              <a:t>“2</a:t>
            </a:r>
            <a:r>
              <a:rPr lang="en-US" sz="2000" baseline="30000" dirty="0"/>
              <a:t>2</a:t>
            </a:r>
            <a:r>
              <a:rPr lang="en-US" sz="2000" dirty="0"/>
              <a:t>&lt;10” is true</a:t>
            </a:r>
          </a:p>
          <a:p>
            <a:pPr lvl="1">
              <a:buFont typeface="Arial" charset="0"/>
              <a:buNone/>
            </a:pPr>
            <a:r>
              <a:rPr lang="en-US" sz="2000" dirty="0">
                <a:solidFill>
                  <a:srgbClr val="FF0000"/>
                </a:solidFill>
                <a:sym typeface="Symbol" pitchFamily="18" charset="2"/>
              </a:rPr>
              <a:t>	P(3): </a:t>
            </a:r>
            <a:r>
              <a:rPr lang="en-US" sz="2000" dirty="0"/>
              <a:t>“3</a:t>
            </a:r>
            <a:r>
              <a:rPr lang="en-US" sz="2000" baseline="30000" dirty="0"/>
              <a:t>2</a:t>
            </a:r>
            <a:r>
              <a:rPr lang="en-US" sz="2000" dirty="0"/>
              <a:t>&lt;10” is true</a:t>
            </a:r>
          </a:p>
          <a:p>
            <a:pPr lvl="1">
              <a:buNone/>
            </a:pPr>
            <a:r>
              <a:rPr lang="en-US" sz="2000" b="1" dirty="0">
                <a:solidFill>
                  <a:srgbClr val="0000FF"/>
                </a:solidFill>
                <a:sym typeface="Symbol" pitchFamily="18" charset="2"/>
              </a:rPr>
              <a:t>   </a:t>
            </a:r>
            <a:r>
              <a:rPr lang="en-US" sz="2000" b="1" dirty="0">
                <a:solidFill>
                  <a:srgbClr val="FF0000"/>
                </a:solidFill>
                <a:sym typeface="Symbol" pitchFamily="18" charset="2"/>
              </a:rPr>
              <a:t>P(1)  P(2)  P(3) </a:t>
            </a:r>
            <a:r>
              <a:rPr lang="en-US" altLang="zh-TW" sz="2000" dirty="0">
                <a:solidFill>
                  <a:srgbClr val="0000FF"/>
                </a:solidFill>
                <a:sym typeface="Symbol" pitchFamily="18" charset="2"/>
              </a:rPr>
              <a:t></a:t>
            </a:r>
            <a:r>
              <a:rPr lang="en-US" sz="2000" b="1" dirty="0">
                <a:solidFill>
                  <a:srgbClr val="FF0000"/>
                </a:solidFill>
                <a:sym typeface="Wingdings" panose="05000000000000000000" pitchFamily="2" charset="2"/>
              </a:rPr>
              <a:t> T</a:t>
            </a:r>
            <a:r>
              <a:rPr lang="en-US" sz="2000" b="1" dirty="0">
                <a:solidFill>
                  <a:srgbClr val="FF0000"/>
                </a:solidFill>
                <a:sym typeface="Symbol" pitchFamily="18" charset="2"/>
              </a:rPr>
              <a:t>  T  T </a:t>
            </a:r>
            <a:r>
              <a:rPr lang="en-US" altLang="zh-TW" sz="2000" dirty="0">
                <a:solidFill>
                  <a:srgbClr val="0000FF"/>
                </a:solidFill>
                <a:sym typeface="Symbol" pitchFamily="18" charset="2"/>
              </a:rPr>
              <a:t> </a:t>
            </a:r>
            <a:r>
              <a:rPr lang="en-US" sz="2000" b="1" dirty="0">
                <a:solidFill>
                  <a:srgbClr val="FF0000"/>
                </a:solidFill>
                <a:sym typeface="Wingdings" panose="05000000000000000000" pitchFamily="2" charset="2"/>
              </a:rPr>
              <a:t> T</a:t>
            </a:r>
            <a:endParaRPr lang="en-US" sz="2000" dirty="0">
              <a:solidFill>
                <a:srgbClr val="FF0000"/>
              </a:solidFill>
              <a:sym typeface="Symbol" pitchFamily="18" charset="2"/>
            </a:endParaRPr>
          </a:p>
          <a:p>
            <a:pPr>
              <a:buFont typeface="Arial" charset="0"/>
              <a:buNone/>
            </a:pPr>
            <a:r>
              <a:rPr lang="en-US" sz="2000" dirty="0">
                <a:solidFill>
                  <a:srgbClr val="0000FF"/>
                </a:solidFill>
              </a:rPr>
              <a:t> </a:t>
            </a:r>
          </a:p>
        </p:txBody>
      </p:sp>
      <p:sp>
        <p:nvSpPr>
          <p:cNvPr id="5" name="Slide Number Placeholder 4"/>
          <p:cNvSpPr>
            <a:spLocks noGrp="1"/>
          </p:cNvSpPr>
          <p:nvPr>
            <p:ph type="sldNum" sz="quarter" idx="12"/>
          </p:nvPr>
        </p:nvSpPr>
        <p:spPr/>
        <p:txBody>
          <a:bodyPr/>
          <a:lstStyle/>
          <a:p>
            <a:fld id="{5FD889E0-CAB2-4699-909D-B9A88D47ACBE}" type="slidenum">
              <a:rPr lang="en-US" smtClean="0"/>
              <a:pPr/>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000" dirty="0">
                <a:latin typeface="+mn-lt"/>
              </a:rPr>
              <a:t>Practice </a:t>
            </a:r>
          </a:p>
        </p:txBody>
      </p:sp>
      <p:sp>
        <p:nvSpPr>
          <p:cNvPr id="4" name="Rectangle 3"/>
          <p:cNvSpPr/>
          <p:nvPr/>
        </p:nvSpPr>
        <p:spPr>
          <a:xfrm>
            <a:off x="421341" y="2249771"/>
            <a:ext cx="8367817" cy="4216539"/>
          </a:xfrm>
          <a:prstGeom prst="rect">
            <a:avLst/>
          </a:prstGeom>
        </p:spPr>
        <p:txBody>
          <a:bodyPr wrap="square">
            <a:spAutoFit/>
          </a:bodyPr>
          <a:lstStyle/>
          <a:p>
            <a:r>
              <a:rPr lang="en-US" sz="2000" dirty="0">
                <a:solidFill>
                  <a:srgbClr val="FF0000"/>
                </a:solidFill>
              </a:rPr>
              <a:t>What is the truth value of </a:t>
            </a:r>
            <a:r>
              <a:rPr lang="en-US" sz="2000" b="1" dirty="0">
                <a:solidFill>
                  <a:srgbClr val="FF0000"/>
                </a:solidFill>
                <a:sym typeface="Symbol" pitchFamily="18" charset="2"/>
              </a:rPr>
              <a:t></a:t>
            </a:r>
            <a:r>
              <a:rPr lang="en-US" sz="2000" i="1" dirty="0">
                <a:solidFill>
                  <a:srgbClr val="FF0000"/>
                </a:solidFill>
                <a:sym typeface="Symbol" pitchFamily="18" charset="2"/>
              </a:rPr>
              <a:t>x P</a:t>
            </a:r>
            <a:r>
              <a:rPr lang="en-US" sz="2000" dirty="0">
                <a:solidFill>
                  <a:srgbClr val="FF0000"/>
                </a:solidFill>
                <a:sym typeface="Symbol" pitchFamily="18" charset="2"/>
              </a:rPr>
              <a:t>(</a:t>
            </a:r>
            <a:r>
              <a:rPr lang="en-US" sz="2000" i="1" dirty="0">
                <a:solidFill>
                  <a:srgbClr val="FF0000"/>
                </a:solidFill>
                <a:sym typeface="Symbol" pitchFamily="18" charset="2"/>
              </a:rPr>
              <a:t>x</a:t>
            </a:r>
            <a:r>
              <a:rPr lang="en-US" sz="2000" dirty="0">
                <a:solidFill>
                  <a:srgbClr val="FF0000"/>
                </a:solidFill>
                <a:sym typeface="Symbol" pitchFamily="18" charset="2"/>
              </a:rPr>
              <a:t> ), where P(x) is the statement </a:t>
            </a:r>
            <a:r>
              <a:rPr lang="en-US" sz="2000" dirty="0">
                <a:solidFill>
                  <a:srgbClr val="FF0000"/>
                </a:solidFill>
              </a:rPr>
              <a:t>“x</a:t>
            </a:r>
            <a:r>
              <a:rPr lang="en-US" sz="2000" baseline="30000" dirty="0">
                <a:solidFill>
                  <a:srgbClr val="FF0000"/>
                </a:solidFill>
              </a:rPr>
              <a:t>3</a:t>
            </a:r>
            <a:r>
              <a:rPr lang="en-US" sz="2000" dirty="0">
                <a:solidFill>
                  <a:srgbClr val="FF0000"/>
                </a:solidFill>
              </a:rPr>
              <a:t>&lt;10” and the domain consists of the positive integers not exceeding 3?</a:t>
            </a:r>
          </a:p>
          <a:p>
            <a:endParaRPr lang="en-US" sz="2000" dirty="0">
              <a:solidFill>
                <a:srgbClr val="C00000"/>
              </a:solidFill>
            </a:endParaRPr>
          </a:p>
          <a:p>
            <a:r>
              <a:rPr lang="en-US" sz="2000" b="1" u="sng" dirty="0">
                <a:solidFill>
                  <a:srgbClr val="0000FF"/>
                </a:solidFill>
              </a:rPr>
              <a:t>Solution</a:t>
            </a:r>
            <a:r>
              <a:rPr lang="en-US" sz="2000" dirty="0"/>
              <a:t>: The statement </a:t>
            </a:r>
            <a:r>
              <a:rPr lang="en-US" sz="2000" b="1" dirty="0">
                <a:sym typeface="Symbol" pitchFamily="18" charset="2"/>
              </a:rPr>
              <a:t></a:t>
            </a:r>
            <a:r>
              <a:rPr lang="en-US" sz="2000" i="1" dirty="0">
                <a:sym typeface="Symbol" pitchFamily="18" charset="2"/>
              </a:rPr>
              <a:t>x P</a:t>
            </a:r>
            <a:r>
              <a:rPr lang="en-US" sz="2000" dirty="0">
                <a:sym typeface="Symbol" pitchFamily="18" charset="2"/>
              </a:rPr>
              <a:t>(</a:t>
            </a:r>
            <a:r>
              <a:rPr lang="en-US" sz="2000" i="1" dirty="0">
                <a:sym typeface="Symbol" pitchFamily="18" charset="2"/>
              </a:rPr>
              <a:t>x</a:t>
            </a:r>
            <a:r>
              <a:rPr lang="en-US" sz="2000" dirty="0">
                <a:sym typeface="Symbol" pitchFamily="18" charset="2"/>
              </a:rPr>
              <a:t> ) is the same as the conjunction </a:t>
            </a:r>
            <a:r>
              <a:rPr lang="en-US" sz="2000" b="1" dirty="0">
                <a:solidFill>
                  <a:srgbClr val="0000FF"/>
                </a:solidFill>
                <a:sym typeface="Symbol" pitchFamily="18" charset="2"/>
              </a:rPr>
              <a:t>P(1)  P(2)  P(3) , </a:t>
            </a:r>
            <a:r>
              <a:rPr lang="en-US" sz="2000" dirty="0">
                <a:solidFill>
                  <a:srgbClr val="0000FF"/>
                </a:solidFill>
                <a:sym typeface="Symbol" pitchFamily="18" charset="2"/>
              </a:rPr>
              <a:t>because the domain consists of the integers 1, 2, 3.</a:t>
            </a:r>
          </a:p>
          <a:p>
            <a:pPr>
              <a:buFont typeface="Arial" charset="0"/>
              <a:buNone/>
            </a:pPr>
            <a:r>
              <a:rPr lang="en-US" sz="2000" dirty="0">
                <a:solidFill>
                  <a:srgbClr val="0000FF"/>
                </a:solidFill>
                <a:sym typeface="Symbol" pitchFamily="18" charset="2"/>
              </a:rPr>
              <a:t>So, the truth value of </a:t>
            </a:r>
            <a:r>
              <a:rPr lang="en-US" sz="2000" b="1" dirty="0">
                <a:solidFill>
                  <a:srgbClr val="0000FF"/>
                </a:solidFill>
                <a:sym typeface="Symbol" pitchFamily="18" charset="2"/>
              </a:rPr>
              <a:t></a:t>
            </a:r>
            <a:r>
              <a:rPr lang="en-US" sz="2000" b="1" i="1" dirty="0">
                <a:solidFill>
                  <a:srgbClr val="0000FF"/>
                </a:solidFill>
                <a:sym typeface="Symbol" pitchFamily="18" charset="2"/>
              </a:rPr>
              <a:t>x P</a:t>
            </a:r>
            <a:r>
              <a:rPr lang="en-US" sz="2000" b="1" dirty="0">
                <a:solidFill>
                  <a:srgbClr val="0000FF"/>
                </a:solidFill>
                <a:sym typeface="Symbol" pitchFamily="18" charset="2"/>
              </a:rPr>
              <a:t>(</a:t>
            </a:r>
            <a:r>
              <a:rPr lang="en-US" sz="2000" b="1" i="1" dirty="0">
                <a:solidFill>
                  <a:srgbClr val="0000FF"/>
                </a:solidFill>
                <a:sym typeface="Symbol" pitchFamily="18" charset="2"/>
              </a:rPr>
              <a:t>x</a:t>
            </a:r>
            <a:r>
              <a:rPr lang="en-US" sz="2000" b="1" dirty="0">
                <a:solidFill>
                  <a:srgbClr val="0000FF"/>
                </a:solidFill>
                <a:sym typeface="Symbol" pitchFamily="18" charset="2"/>
              </a:rPr>
              <a:t> ) is false for x=3 as 3x3x3 =27.</a:t>
            </a:r>
          </a:p>
          <a:p>
            <a:pPr>
              <a:buFont typeface="Arial" charset="0"/>
              <a:buNone/>
            </a:pPr>
            <a:endParaRPr lang="en-US" sz="2000" b="1" dirty="0">
              <a:solidFill>
                <a:srgbClr val="0000FF"/>
              </a:solidFill>
              <a:sym typeface="Symbol" pitchFamily="18" charset="2"/>
            </a:endParaRPr>
          </a:p>
          <a:p>
            <a:r>
              <a:rPr lang="en-US" sz="2000" dirty="0">
                <a:solidFill>
                  <a:srgbClr val="FF0000"/>
                </a:solidFill>
              </a:rPr>
              <a:t>What is the truth value of </a:t>
            </a:r>
            <a:r>
              <a:rPr lang="en-US" sz="2000" b="1" dirty="0">
                <a:solidFill>
                  <a:srgbClr val="FF0000"/>
                </a:solidFill>
                <a:sym typeface="Symbol" pitchFamily="18" charset="2"/>
              </a:rPr>
              <a:t> </a:t>
            </a:r>
            <a:r>
              <a:rPr lang="en-US" sz="2000" i="1" dirty="0">
                <a:solidFill>
                  <a:srgbClr val="FF0000"/>
                </a:solidFill>
                <a:sym typeface="Symbol" pitchFamily="18" charset="2"/>
              </a:rPr>
              <a:t>x P</a:t>
            </a:r>
            <a:r>
              <a:rPr lang="en-US" sz="2000" dirty="0">
                <a:solidFill>
                  <a:srgbClr val="FF0000"/>
                </a:solidFill>
                <a:sym typeface="Symbol" pitchFamily="18" charset="2"/>
              </a:rPr>
              <a:t>(</a:t>
            </a:r>
            <a:r>
              <a:rPr lang="en-US" sz="2000" i="1" dirty="0">
                <a:solidFill>
                  <a:srgbClr val="FF0000"/>
                </a:solidFill>
                <a:sym typeface="Symbol" pitchFamily="18" charset="2"/>
              </a:rPr>
              <a:t>x</a:t>
            </a:r>
            <a:r>
              <a:rPr lang="en-US" sz="2000" dirty="0">
                <a:solidFill>
                  <a:srgbClr val="FF0000"/>
                </a:solidFill>
                <a:sym typeface="Symbol" pitchFamily="18" charset="2"/>
              </a:rPr>
              <a:t> ), where P(x) is the statement </a:t>
            </a:r>
            <a:r>
              <a:rPr lang="en-US" sz="2000" dirty="0">
                <a:solidFill>
                  <a:srgbClr val="FF0000"/>
                </a:solidFill>
              </a:rPr>
              <a:t>“x</a:t>
            </a:r>
            <a:r>
              <a:rPr lang="en-US" sz="2000" baseline="30000" dirty="0">
                <a:solidFill>
                  <a:srgbClr val="FF0000"/>
                </a:solidFill>
              </a:rPr>
              <a:t>3</a:t>
            </a:r>
            <a:r>
              <a:rPr lang="en-US" sz="2000" dirty="0">
                <a:solidFill>
                  <a:srgbClr val="FF0000"/>
                </a:solidFill>
              </a:rPr>
              <a:t>&lt;10” and the domain consists of the positive integers not exceeding 3?</a:t>
            </a:r>
          </a:p>
          <a:p>
            <a:pPr>
              <a:buFont typeface="Arial" charset="0"/>
              <a:buNone/>
            </a:pPr>
            <a:endParaRPr lang="en-US" sz="2000" b="1" dirty="0">
              <a:solidFill>
                <a:srgbClr val="0000FF"/>
              </a:solidFill>
              <a:sym typeface="Symbol" pitchFamily="18" charset="2"/>
            </a:endParaRPr>
          </a:p>
          <a:p>
            <a:pPr>
              <a:buFont typeface="Arial" charset="0"/>
              <a:buNone/>
            </a:pPr>
            <a:r>
              <a:rPr lang="en-US" sz="2000" b="1" dirty="0">
                <a:solidFill>
                  <a:srgbClr val="0000FF"/>
                </a:solidFill>
                <a:sym typeface="Symbol" pitchFamily="18" charset="2"/>
              </a:rPr>
              <a:t>Solution: True as it is true for x=1 and x=2</a:t>
            </a:r>
          </a:p>
          <a:p>
            <a:pPr>
              <a:buFont typeface="Arial" charset="0"/>
              <a:buNone/>
            </a:pPr>
            <a:endParaRPr lang="en-US" sz="2000" dirty="0">
              <a:solidFill>
                <a:srgbClr val="FF0000"/>
              </a:solidFill>
              <a:sym typeface="Symbol" pitchFamily="18" charset="2"/>
            </a:endParaRPr>
          </a:p>
          <a:p>
            <a:pPr>
              <a:buFont typeface="Arial" charset="0"/>
              <a:buNone/>
            </a:pPr>
            <a:r>
              <a:rPr lang="en-US" sz="2000" dirty="0">
                <a:solidFill>
                  <a:srgbClr val="0000FF"/>
                </a:solidFill>
              </a:rPr>
              <a:t> </a:t>
            </a:r>
          </a:p>
        </p:txBody>
      </p:sp>
      <p:sp>
        <p:nvSpPr>
          <p:cNvPr id="5" name="Slide Number Placeholder 4"/>
          <p:cNvSpPr>
            <a:spLocks noGrp="1"/>
          </p:cNvSpPr>
          <p:nvPr>
            <p:ph type="sldNum" sz="quarter" idx="12"/>
          </p:nvPr>
        </p:nvSpPr>
        <p:spPr/>
        <p:txBody>
          <a:bodyPr/>
          <a:lstStyle/>
          <a:p>
            <a:fld id="{5FD889E0-CAB2-4699-909D-B9A88D47ACBE}" type="slidenum">
              <a:rPr lang="en-US" smtClean="0"/>
              <a:pPr/>
              <a:t>20</a:t>
            </a:fld>
            <a:endParaRPr lang="en-US"/>
          </a:p>
        </p:txBody>
      </p:sp>
    </p:spTree>
    <p:extLst>
      <p:ext uri="{BB962C8B-B14F-4D97-AF65-F5344CB8AC3E}">
        <p14:creationId xmlns:p14="http://schemas.microsoft.com/office/powerpoint/2010/main" val="42816179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altLang="zh-TW" sz="4000" dirty="0">
                <a:latin typeface="+mn-lt"/>
              </a:rPr>
              <a:t>The Existential Quantifier</a:t>
            </a:r>
            <a:endParaRPr lang="en-US" sz="4000" dirty="0">
              <a:latin typeface="+mn-lt"/>
            </a:endParaRPr>
          </a:p>
        </p:txBody>
      </p:sp>
      <p:sp>
        <p:nvSpPr>
          <p:cNvPr id="4" name="Rectangle 3"/>
          <p:cNvSpPr/>
          <p:nvPr/>
        </p:nvSpPr>
        <p:spPr>
          <a:xfrm>
            <a:off x="122816" y="2086765"/>
            <a:ext cx="8939296" cy="3924151"/>
          </a:xfrm>
          <a:prstGeom prst="rect">
            <a:avLst/>
          </a:prstGeom>
        </p:spPr>
        <p:txBody>
          <a:bodyPr wrap="square">
            <a:spAutoFit/>
          </a:bodyPr>
          <a:lstStyle/>
          <a:p>
            <a:pPr marL="274320" indent="-274320">
              <a:spcBef>
                <a:spcPts val="600"/>
              </a:spcBef>
              <a:buFont typeface="Wingdings" pitchFamily="2" charset="2"/>
              <a:buChar char="§"/>
            </a:pPr>
            <a:r>
              <a:rPr lang="en-US" altLang="zh-TW" sz="2800" b="1" u="sng" dirty="0">
                <a:solidFill>
                  <a:srgbClr val="C00000"/>
                </a:solidFill>
              </a:rPr>
              <a:t>Definition</a:t>
            </a:r>
            <a:r>
              <a:rPr lang="en-US" altLang="zh-TW" sz="2800" dirty="0"/>
              <a:t>: The </a:t>
            </a:r>
            <a:r>
              <a:rPr lang="en-US" altLang="zh-TW" sz="2800" i="1" dirty="0">
                <a:solidFill>
                  <a:srgbClr val="0000FF"/>
                </a:solidFill>
              </a:rPr>
              <a:t>existential quantification</a:t>
            </a:r>
            <a:r>
              <a:rPr lang="en-US" altLang="zh-TW" sz="2800" dirty="0">
                <a:solidFill>
                  <a:srgbClr val="0000FF"/>
                </a:solidFill>
              </a:rPr>
              <a:t> of </a:t>
            </a:r>
            <a:r>
              <a:rPr lang="en-US" altLang="zh-TW" sz="2800" i="1" dirty="0">
                <a:solidFill>
                  <a:srgbClr val="0000FF"/>
                </a:solidFill>
              </a:rPr>
              <a:t>P(x)</a:t>
            </a:r>
            <a:r>
              <a:rPr lang="en-US" altLang="zh-TW" sz="2800" dirty="0">
                <a:solidFill>
                  <a:srgbClr val="0000FF"/>
                </a:solidFill>
              </a:rPr>
              <a:t> </a:t>
            </a:r>
            <a:r>
              <a:rPr lang="en-US" altLang="zh-TW" sz="2800" dirty="0"/>
              <a:t>is the proposition </a:t>
            </a:r>
            <a:r>
              <a:rPr lang="en-US" altLang="zh-TW" sz="2800" dirty="0">
                <a:solidFill>
                  <a:srgbClr val="0000FF"/>
                </a:solidFill>
              </a:rPr>
              <a:t>“There exists an element </a:t>
            </a:r>
            <a:r>
              <a:rPr lang="en-US" altLang="zh-TW" sz="2800" i="1" dirty="0">
                <a:solidFill>
                  <a:srgbClr val="0000FF"/>
                </a:solidFill>
              </a:rPr>
              <a:t>x</a:t>
            </a:r>
            <a:r>
              <a:rPr lang="en-US" altLang="zh-TW" sz="2800" dirty="0">
                <a:solidFill>
                  <a:srgbClr val="0000FF"/>
                </a:solidFill>
              </a:rPr>
              <a:t> in the domain such that </a:t>
            </a:r>
            <a:r>
              <a:rPr lang="en-US" altLang="zh-TW" sz="2800" i="1" dirty="0">
                <a:solidFill>
                  <a:srgbClr val="0000FF"/>
                </a:solidFill>
              </a:rPr>
              <a:t>P(x)</a:t>
            </a:r>
            <a:r>
              <a:rPr lang="en-US" altLang="zh-TW" sz="2800" dirty="0">
                <a:solidFill>
                  <a:srgbClr val="0000FF"/>
                </a:solidFill>
              </a:rPr>
              <a:t>”.</a:t>
            </a:r>
          </a:p>
          <a:p>
            <a:pPr marL="274320" indent="-274320">
              <a:spcBef>
                <a:spcPts val="600"/>
              </a:spcBef>
              <a:buFont typeface="Wingdings" pitchFamily="2" charset="2"/>
              <a:buChar char="§"/>
            </a:pPr>
            <a:r>
              <a:rPr lang="en-US" altLang="zh-TW" sz="2800" dirty="0"/>
              <a:t>We denote the existential quantification of </a:t>
            </a:r>
            <a:r>
              <a:rPr lang="en-US" altLang="zh-TW" sz="2800" i="1" dirty="0"/>
              <a:t>P(x)</a:t>
            </a:r>
            <a:r>
              <a:rPr lang="en-US" altLang="zh-TW" sz="2800" dirty="0"/>
              <a:t> by </a:t>
            </a:r>
            <a:r>
              <a:rPr lang="en-US" altLang="zh-TW" sz="2800" b="1" dirty="0">
                <a:solidFill>
                  <a:srgbClr val="0000FF"/>
                </a:solidFill>
                <a:sym typeface="Symbol" pitchFamily="18" charset="2"/>
              </a:rPr>
              <a:t></a:t>
            </a:r>
            <a:r>
              <a:rPr lang="en-US" altLang="zh-TW" sz="2800" b="1" i="1" dirty="0">
                <a:solidFill>
                  <a:srgbClr val="0000FF"/>
                </a:solidFill>
              </a:rPr>
              <a:t>x P(x)</a:t>
            </a:r>
            <a:endParaRPr lang="en-US" altLang="zh-TW" sz="2800" dirty="0">
              <a:sym typeface="Symbol" pitchFamily="18" charset="2"/>
            </a:endParaRPr>
          </a:p>
          <a:p>
            <a:pPr marL="274320" indent="-274320">
              <a:spcBef>
                <a:spcPts val="600"/>
              </a:spcBef>
              <a:buFont typeface="Wingdings" pitchFamily="2" charset="2"/>
              <a:buChar char="§"/>
            </a:pPr>
            <a:r>
              <a:rPr lang="en-US" altLang="zh-TW" sz="2800" dirty="0"/>
              <a:t>Existential quantification </a:t>
            </a:r>
            <a:r>
              <a:rPr lang="en-US" altLang="zh-TW" sz="2800" b="1" dirty="0">
                <a:solidFill>
                  <a:srgbClr val="0000FF"/>
                </a:solidFill>
                <a:sym typeface="Symbol" pitchFamily="18" charset="2"/>
              </a:rPr>
              <a:t></a:t>
            </a:r>
            <a:r>
              <a:rPr lang="en-US" altLang="zh-TW" sz="2800" b="1" i="1" dirty="0">
                <a:solidFill>
                  <a:srgbClr val="0000FF"/>
                </a:solidFill>
              </a:rPr>
              <a:t>x P(x) </a:t>
            </a:r>
            <a:r>
              <a:rPr lang="en-US" altLang="zh-TW" sz="2800" dirty="0">
                <a:solidFill>
                  <a:srgbClr val="0000FF"/>
                </a:solidFill>
              </a:rPr>
              <a:t>is read as:</a:t>
            </a:r>
          </a:p>
          <a:p>
            <a:pPr marL="731520" lvl="2" indent="-274320">
              <a:spcBef>
                <a:spcPts val="600"/>
              </a:spcBef>
              <a:buFont typeface="Arial" pitchFamily="34" charset="0"/>
              <a:buChar char="•"/>
            </a:pPr>
            <a:r>
              <a:rPr lang="en-US" altLang="zh-TW" sz="2800" dirty="0">
                <a:solidFill>
                  <a:srgbClr val="0000FF"/>
                </a:solidFill>
                <a:sym typeface="Symbol" pitchFamily="18" charset="2"/>
              </a:rPr>
              <a:t> “There is an </a:t>
            </a:r>
            <a:r>
              <a:rPr lang="en-US" altLang="zh-TW" sz="2800" i="1" dirty="0">
                <a:solidFill>
                  <a:srgbClr val="0000FF"/>
                </a:solidFill>
                <a:sym typeface="Symbol" pitchFamily="18" charset="2"/>
              </a:rPr>
              <a:t>x</a:t>
            </a:r>
            <a:r>
              <a:rPr lang="en-US" altLang="zh-TW" sz="2800" dirty="0">
                <a:solidFill>
                  <a:srgbClr val="0000FF"/>
                </a:solidFill>
                <a:sym typeface="Symbol" pitchFamily="18" charset="2"/>
              </a:rPr>
              <a:t> such that </a:t>
            </a:r>
            <a:r>
              <a:rPr lang="en-US" altLang="zh-TW" sz="2800" i="1" dirty="0">
                <a:solidFill>
                  <a:srgbClr val="0000FF"/>
                </a:solidFill>
                <a:sym typeface="Symbol" pitchFamily="18" charset="2"/>
              </a:rPr>
              <a:t>P(x)</a:t>
            </a:r>
            <a:r>
              <a:rPr lang="en-US" altLang="zh-TW" sz="2800" dirty="0">
                <a:solidFill>
                  <a:srgbClr val="0000FF"/>
                </a:solidFill>
                <a:sym typeface="Symbol" pitchFamily="18" charset="2"/>
              </a:rPr>
              <a:t>”, or</a:t>
            </a:r>
          </a:p>
          <a:p>
            <a:pPr marL="731520" lvl="2" indent="-274320">
              <a:spcBef>
                <a:spcPts val="600"/>
              </a:spcBef>
              <a:buFont typeface="Arial" pitchFamily="34" charset="0"/>
              <a:buChar char="•"/>
            </a:pPr>
            <a:r>
              <a:rPr lang="en-US" altLang="zh-TW" sz="2800" dirty="0">
                <a:solidFill>
                  <a:srgbClr val="0000FF"/>
                </a:solidFill>
                <a:sym typeface="Symbol" pitchFamily="18" charset="2"/>
              </a:rPr>
              <a:t>“There is at least one x such that P(x)”, or</a:t>
            </a:r>
          </a:p>
          <a:p>
            <a:pPr marL="731520" lvl="2" indent="-274320">
              <a:spcBef>
                <a:spcPts val="600"/>
              </a:spcBef>
              <a:buFont typeface="Arial" pitchFamily="34" charset="0"/>
              <a:buChar char="•"/>
            </a:pPr>
            <a:r>
              <a:rPr lang="en-US" altLang="zh-TW" sz="2800" dirty="0">
                <a:solidFill>
                  <a:srgbClr val="0000FF"/>
                </a:solidFill>
                <a:sym typeface="Symbol" pitchFamily="18" charset="2"/>
              </a:rPr>
              <a:t>“for some </a:t>
            </a:r>
            <a:r>
              <a:rPr lang="en-US" altLang="zh-TW" sz="2800" i="1" dirty="0">
                <a:solidFill>
                  <a:srgbClr val="0000FF"/>
                </a:solidFill>
                <a:sym typeface="Symbol" pitchFamily="18" charset="2"/>
              </a:rPr>
              <a:t>x </a:t>
            </a:r>
            <a:r>
              <a:rPr lang="en-US" altLang="zh-TW" sz="2800" dirty="0">
                <a:solidFill>
                  <a:srgbClr val="0000FF"/>
                </a:solidFill>
                <a:sym typeface="Symbol" pitchFamily="18" charset="2"/>
              </a:rPr>
              <a:t> </a:t>
            </a:r>
            <a:r>
              <a:rPr lang="en-US" altLang="zh-TW" sz="2800" i="1" dirty="0">
                <a:solidFill>
                  <a:srgbClr val="0000FF"/>
                </a:solidFill>
                <a:sym typeface="Symbol" pitchFamily="18" charset="2"/>
              </a:rPr>
              <a:t>P(x)</a:t>
            </a:r>
            <a:r>
              <a:rPr lang="en-US" altLang="zh-TW" sz="2800" dirty="0">
                <a:solidFill>
                  <a:srgbClr val="0000FF"/>
                </a:solidFill>
                <a:sym typeface="Symbol" pitchFamily="18" charset="2"/>
              </a:rPr>
              <a:t>”</a:t>
            </a:r>
            <a:r>
              <a:rPr lang="en-US" sz="2800" dirty="0"/>
              <a:t> </a:t>
            </a:r>
          </a:p>
        </p:txBody>
      </p:sp>
      <p:sp>
        <p:nvSpPr>
          <p:cNvPr id="5" name="Slide Number Placeholder 4"/>
          <p:cNvSpPr>
            <a:spLocks noGrp="1"/>
          </p:cNvSpPr>
          <p:nvPr>
            <p:ph type="sldNum" sz="quarter" idx="12"/>
          </p:nvPr>
        </p:nvSpPr>
        <p:spPr/>
        <p:txBody>
          <a:bodyPr/>
          <a:lstStyle/>
          <a:p>
            <a:fld id="{5FD889E0-CAB2-4699-909D-B9A88D47ACBE}" type="slidenum">
              <a:rPr lang="en-US" smtClean="0"/>
              <a:pPr/>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altLang="zh-TW" sz="4000" dirty="0">
                <a:latin typeface="+mn-lt"/>
              </a:rPr>
              <a:t>The Existential Quantifier</a:t>
            </a:r>
            <a:endParaRPr lang="en-US" sz="4000" dirty="0">
              <a:latin typeface="+mn-lt"/>
            </a:endParaRPr>
          </a:p>
        </p:txBody>
      </p:sp>
      <p:sp>
        <p:nvSpPr>
          <p:cNvPr id="4" name="Rectangle 3"/>
          <p:cNvSpPr/>
          <p:nvPr/>
        </p:nvSpPr>
        <p:spPr>
          <a:xfrm>
            <a:off x="421341" y="2413338"/>
            <a:ext cx="8190395" cy="2477601"/>
          </a:xfrm>
          <a:prstGeom prst="rect">
            <a:avLst/>
          </a:prstGeom>
        </p:spPr>
        <p:txBody>
          <a:bodyPr wrap="square">
            <a:spAutoFit/>
          </a:bodyPr>
          <a:lstStyle/>
          <a:p>
            <a:pPr marL="274320" indent="-274320">
              <a:spcBef>
                <a:spcPts val="600"/>
              </a:spcBef>
              <a:buFont typeface="Arial" pitchFamily="34" charset="0"/>
              <a:buChar char="•"/>
            </a:pPr>
            <a:r>
              <a:rPr lang="en-US" sz="2800" dirty="0">
                <a:solidFill>
                  <a:srgbClr val="FF0000"/>
                </a:solidFill>
                <a:sym typeface="Symbol" pitchFamily="18" charset="2"/>
              </a:rPr>
              <a:t>“</a:t>
            </a:r>
            <a:r>
              <a:rPr lang="en-US" sz="2800" i="1" dirty="0">
                <a:solidFill>
                  <a:srgbClr val="FF0000"/>
                </a:solidFill>
                <a:sym typeface="Symbol" pitchFamily="18" charset="2"/>
              </a:rPr>
              <a:t>x P </a:t>
            </a:r>
            <a:r>
              <a:rPr lang="en-US" sz="2800" dirty="0">
                <a:solidFill>
                  <a:srgbClr val="FF0000"/>
                </a:solidFill>
                <a:sym typeface="Symbol" pitchFamily="18" charset="2"/>
              </a:rPr>
              <a:t>(</a:t>
            </a:r>
            <a:r>
              <a:rPr lang="en-US" sz="2800" i="1" dirty="0">
                <a:solidFill>
                  <a:srgbClr val="FF0000"/>
                </a:solidFill>
                <a:sym typeface="Symbol" pitchFamily="18" charset="2"/>
              </a:rPr>
              <a:t>x</a:t>
            </a:r>
            <a:r>
              <a:rPr lang="en-US" sz="2800" dirty="0">
                <a:solidFill>
                  <a:srgbClr val="FF0000"/>
                </a:solidFill>
                <a:sym typeface="Symbol" pitchFamily="18" charset="2"/>
              </a:rPr>
              <a:t>)” is true when </a:t>
            </a:r>
            <a:r>
              <a:rPr lang="en-US" sz="2800" i="1" dirty="0">
                <a:solidFill>
                  <a:srgbClr val="FF0000"/>
                </a:solidFill>
                <a:sym typeface="Symbol" pitchFamily="18" charset="2"/>
              </a:rPr>
              <a:t>an instance </a:t>
            </a:r>
            <a:r>
              <a:rPr lang="en-US" sz="2800" dirty="0">
                <a:solidFill>
                  <a:srgbClr val="FF0000"/>
                </a:solidFill>
                <a:sym typeface="Symbol" pitchFamily="18" charset="2"/>
              </a:rPr>
              <a:t>can be found which when plugged in for </a:t>
            </a:r>
            <a:r>
              <a:rPr lang="en-US" sz="2800" i="1" dirty="0">
                <a:solidFill>
                  <a:srgbClr val="FF0000"/>
                </a:solidFill>
                <a:sym typeface="Symbol" pitchFamily="18" charset="2"/>
              </a:rPr>
              <a:t>x, </a:t>
            </a:r>
            <a:r>
              <a:rPr lang="en-US" sz="2800" dirty="0">
                <a:solidFill>
                  <a:srgbClr val="FF0000"/>
                </a:solidFill>
                <a:sym typeface="Symbol" pitchFamily="18" charset="2"/>
              </a:rPr>
              <a:t>makes </a:t>
            </a:r>
            <a:r>
              <a:rPr lang="en-US" sz="2800" i="1" dirty="0">
                <a:solidFill>
                  <a:srgbClr val="FF0000"/>
                </a:solidFill>
                <a:sym typeface="Symbol" pitchFamily="18" charset="2"/>
              </a:rPr>
              <a:t>P </a:t>
            </a:r>
            <a:r>
              <a:rPr lang="en-US" sz="2800" dirty="0">
                <a:solidFill>
                  <a:srgbClr val="FF0000"/>
                </a:solidFill>
                <a:sym typeface="Symbol" pitchFamily="18" charset="2"/>
              </a:rPr>
              <a:t>(</a:t>
            </a:r>
            <a:r>
              <a:rPr lang="en-US" sz="2800" i="1" dirty="0">
                <a:solidFill>
                  <a:srgbClr val="FF0000"/>
                </a:solidFill>
                <a:sym typeface="Symbol" pitchFamily="18" charset="2"/>
              </a:rPr>
              <a:t>x</a:t>
            </a:r>
            <a:r>
              <a:rPr lang="en-US" sz="2800" dirty="0">
                <a:solidFill>
                  <a:srgbClr val="FF0000"/>
                </a:solidFill>
                <a:sym typeface="Symbol" pitchFamily="18" charset="2"/>
              </a:rPr>
              <a:t>) true.</a:t>
            </a:r>
          </a:p>
          <a:p>
            <a:pPr marL="274320" indent="-274320">
              <a:spcBef>
                <a:spcPts val="600"/>
              </a:spcBef>
              <a:buFont typeface="Arial" pitchFamily="34" charset="0"/>
              <a:buChar char="•"/>
            </a:pPr>
            <a:endParaRPr lang="en-US" sz="2800" dirty="0">
              <a:sym typeface="Symbol" pitchFamily="18" charset="2"/>
            </a:endParaRPr>
          </a:p>
          <a:p>
            <a:pPr marL="274320" indent="-274320">
              <a:spcBef>
                <a:spcPts val="600"/>
              </a:spcBef>
              <a:buFont typeface="Arial" pitchFamily="34" charset="0"/>
              <a:buChar char="•"/>
            </a:pPr>
            <a:r>
              <a:rPr lang="en-US" sz="2800" dirty="0">
                <a:sym typeface="Symbol" pitchFamily="18" charset="2"/>
              </a:rPr>
              <a:t>Like taking </a:t>
            </a:r>
            <a:r>
              <a:rPr lang="en-US" sz="2800" b="1" dirty="0">
                <a:solidFill>
                  <a:srgbClr val="0000FF"/>
                </a:solidFill>
                <a:sym typeface="Symbol" pitchFamily="18" charset="2"/>
              </a:rPr>
              <a:t>disjunction</a:t>
            </a:r>
            <a:r>
              <a:rPr lang="en-US" sz="2800" dirty="0">
                <a:sym typeface="Symbol" pitchFamily="18" charset="2"/>
              </a:rPr>
              <a:t> over the entire domain</a:t>
            </a:r>
          </a:p>
          <a:p>
            <a:pPr marL="274320" indent="-274320">
              <a:spcBef>
                <a:spcPts val="600"/>
              </a:spcBef>
            </a:pPr>
            <a:r>
              <a:rPr lang="en-US" sz="2800" dirty="0">
                <a:sym typeface="Symbol" pitchFamily="18" charset="2"/>
              </a:rPr>
              <a:t>  	</a:t>
            </a:r>
            <a:r>
              <a:rPr lang="en-US" sz="2800" b="1" dirty="0">
                <a:solidFill>
                  <a:srgbClr val="0000FF"/>
                </a:solidFill>
                <a:sym typeface="Symbol" pitchFamily="18" charset="2"/>
              </a:rPr>
              <a:t></a:t>
            </a:r>
            <a:r>
              <a:rPr lang="en-US" sz="2800" b="1" i="1" dirty="0">
                <a:solidFill>
                  <a:srgbClr val="0000FF"/>
                </a:solidFill>
                <a:sym typeface="Symbol" pitchFamily="18" charset="2"/>
              </a:rPr>
              <a:t>x P </a:t>
            </a:r>
            <a:r>
              <a:rPr lang="en-US" sz="2800" b="1" dirty="0">
                <a:solidFill>
                  <a:srgbClr val="0000FF"/>
                </a:solidFill>
                <a:sym typeface="Symbol" pitchFamily="18" charset="2"/>
              </a:rPr>
              <a:t>(</a:t>
            </a:r>
            <a:r>
              <a:rPr lang="en-US" sz="2800" b="1" i="1" dirty="0">
                <a:solidFill>
                  <a:srgbClr val="0000FF"/>
                </a:solidFill>
                <a:sym typeface="Symbol" pitchFamily="18" charset="2"/>
              </a:rPr>
              <a:t>x</a:t>
            </a:r>
            <a:r>
              <a:rPr lang="en-US" sz="2800" b="1" dirty="0">
                <a:solidFill>
                  <a:srgbClr val="0000FF"/>
                </a:solidFill>
                <a:sym typeface="Symbol" pitchFamily="18" charset="2"/>
              </a:rPr>
              <a:t> ) </a:t>
            </a:r>
            <a:r>
              <a:rPr lang="en-US" altLang="zh-TW" sz="2800" dirty="0">
                <a:solidFill>
                  <a:srgbClr val="0000FF"/>
                </a:solidFill>
                <a:sym typeface="Symbol" pitchFamily="18" charset="2"/>
              </a:rPr>
              <a:t></a:t>
            </a:r>
            <a:r>
              <a:rPr lang="en-US" sz="2800" b="1" dirty="0">
                <a:solidFill>
                  <a:srgbClr val="0000FF"/>
                </a:solidFill>
                <a:sym typeface="Symbol" pitchFamily="18" charset="2"/>
              </a:rPr>
              <a:t>  </a:t>
            </a:r>
            <a:r>
              <a:rPr lang="en-US" sz="2800" b="1" i="1" dirty="0">
                <a:solidFill>
                  <a:srgbClr val="0000FF"/>
                </a:solidFill>
                <a:sym typeface="Symbol" pitchFamily="18" charset="2"/>
              </a:rPr>
              <a:t>P </a:t>
            </a:r>
            <a:r>
              <a:rPr lang="en-US" sz="2800" b="1" dirty="0">
                <a:solidFill>
                  <a:srgbClr val="0000FF"/>
                </a:solidFill>
                <a:sym typeface="Symbol" pitchFamily="18" charset="2"/>
              </a:rPr>
              <a:t>(</a:t>
            </a:r>
            <a:r>
              <a:rPr lang="en-US" sz="2800" b="1" i="1" dirty="0">
                <a:solidFill>
                  <a:srgbClr val="0000FF"/>
                </a:solidFill>
                <a:sym typeface="Symbol" pitchFamily="18" charset="2"/>
              </a:rPr>
              <a:t>x</a:t>
            </a:r>
            <a:r>
              <a:rPr lang="en-US" sz="2800" b="1" baseline="-25000" dirty="0">
                <a:solidFill>
                  <a:srgbClr val="0000FF"/>
                </a:solidFill>
                <a:sym typeface="Symbol" pitchFamily="18" charset="2"/>
              </a:rPr>
              <a:t>1</a:t>
            </a:r>
            <a:r>
              <a:rPr lang="en-US" sz="2800" b="1" dirty="0">
                <a:solidFill>
                  <a:srgbClr val="0000FF"/>
                </a:solidFill>
                <a:sym typeface="Symbol" pitchFamily="18" charset="2"/>
              </a:rPr>
              <a:t>)  </a:t>
            </a:r>
            <a:r>
              <a:rPr lang="en-US" sz="2800" b="1" i="1" dirty="0">
                <a:solidFill>
                  <a:srgbClr val="0000FF"/>
                </a:solidFill>
                <a:sym typeface="Symbol" pitchFamily="18" charset="2"/>
              </a:rPr>
              <a:t>P </a:t>
            </a:r>
            <a:r>
              <a:rPr lang="en-US" sz="2800" b="1" dirty="0">
                <a:solidFill>
                  <a:srgbClr val="0000FF"/>
                </a:solidFill>
                <a:sym typeface="Symbol" pitchFamily="18" charset="2"/>
              </a:rPr>
              <a:t>(</a:t>
            </a:r>
            <a:r>
              <a:rPr lang="en-US" sz="2800" b="1" i="1" dirty="0">
                <a:solidFill>
                  <a:srgbClr val="0000FF"/>
                </a:solidFill>
                <a:sym typeface="Symbol" pitchFamily="18" charset="2"/>
              </a:rPr>
              <a:t>x</a:t>
            </a:r>
            <a:r>
              <a:rPr lang="en-US" sz="2800" b="1" baseline="-25000" dirty="0">
                <a:solidFill>
                  <a:srgbClr val="0000FF"/>
                </a:solidFill>
                <a:sym typeface="Symbol" pitchFamily="18" charset="2"/>
              </a:rPr>
              <a:t>2</a:t>
            </a:r>
            <a:r>
              <a:rPr lang="en-US" sz="2800" b="1" dirty="0">
                <a:solidFill>
                  <a:srgbClr val="0000FF"/>
                </a:solidFill>
                <a:sym typeface="Symbol" pitchFamily="18" charset="2"/>
              </a:rPr>
              <a:t>)  </a:t>
            </a:r>
            <a:r>
              <a:rPr lang="en-US" sz="2800" b="1" i="1" dirty="0">
                <a:solidFill>
                  <a:srgbClr val="0000FF"/>
                </a:solidFill>
                <a:sym typeface="Symbol" pitchFamily="18" charset="2"/>
              </a:rPr>
              <a:t>P </a:t>
            </a:r>
            <a:r>
              <a:rPr lang="en-US" sz="2800" b="1" dirty="0">
                <a:solidFill>
                  <a:srgbClr val="0000FF"/>
                </a:solidFill>
                <a:sym typeface="Symbol" pitchFamily="18" charset="2"/>
              </a:rPr>
              <a:t>(</a:t>
            </a:r>
            <a:r>
              <a:rPr lang="en-US" sz="2800" b="1" i="1" dirty="0">
                <a:solidFill>
                  <a:srgbClr val="0000FF"/>
                </a:solidFill>
                <a:sym typeface="Symbol" pitchFamily="18" charset="2"/>
              </a:rPr>
              <a:t>x</a:t>
            </a:r>
            <a:r>
              <a:rPr lang="en-US" sz="2800" b="1" baseline="-25000" dirty="0">
                <a:solidFill>
                  <a:srgbClr val="0000FF"/>
                </a:solidFill>
                <a:sym typeface="Symbol" pitchFamily="18" charset="2"/>
              </a:rPr>
              <a:t>3</a:t>
            </a:r>
            <a:r>
              <a:rPr lang="en-US" sz="2800" b="1" dirty="0">
                <a:solidFill>
                  <a:srgbClr val="0000FF"/>
                </a:solidFill>
                <a:sym typeface="Symbol" pitchFamily="18" charset="2"/>
              </a:rPr>
              <a:t>)  …</a:t>
            </a:r>
            <a:r>
              <a:rPr lang="en-US" altLang="zh-TW" sz="2800" b="1" i="1" dirty="0">
                <a:solidFill>
                  <a:srgbClr val="0000FF"/>
                </a:solidFill>
                <a:sym typeface="Symbol" pitchFamily="18" charset="2"/>
              </a:rPr>
              <a:t> P(</a:t>
            </a:r>
            <a:r>
              <a:rPr lang="en-US" altLang="zh-TW" sz="2800" b="1" i="1" dirty="0" err="1">
                <a:solidFill>
                  <a:srgbClr val="0000FF"/>
                </a:solidFill>
                <a:sym typeface="Symbol" pitchFamily="18" charset="2"/>
              </a:rPr>
              <a:t>x</a:t>
            </a:r>
            <a:r>
              <a:rPr lang="en-US" altLang="zh-TW" sz="2800" b="1" i="1" baseline="-25000" dirty="0" err="1">
                <a:solidFill>
                  <a:srgbClr val="0000FF"/>
                </a:solidFill>
                <a:sym typeface="Symbol" pitchFamily="18" charset="2"/>
              </a:rPr>
              <a:t>n</a:t>
            </a:r>
            <a:r>
              <a:rPr lang="en-US" altLang="zh-TW" sz="2800" b="1" i="1" dirty="0">
                <a:solidFill>
                  <a:srgbClr val="0000FF"/>
                </a:solidFill>
                <a:sym typeface="Symbol" pitchFamily="18" charset="2"/>
              </a:rPr>
              <a:t>)  </a:t>
            </a:r>
            <a:endParaRPr lang="en-US" sz="2800" b="1" dirty="0">
              <a:solidFill>
                <a:srgbClr val="0000FF"/>
              </a:solidFill>
            </a:endParaRPr>
          </a:p>
        </p:txBody>
      </p:sp>
      <p:sp>
        <p:nvSpPr>
          <p:cNvPr id="5" name="Slide Number Placeholder 4"/>
          <p:cNvSpPr>
            <a:spLocks noGrp="1"/>
          </p:cNvSpPr>
          <p:nvPr>
            <p:ph type="sldNum" sz="quarter" idx="12"/>
          </p:nvPr>
        </p:nvSpPr>
        <p:spPr/>
        <p:txBody>
          <a:bodyPr/>
          <a:lstStyle/>
          <a:p>
            <a:fld id="{5FD889E0-CAB2-4699-909D-B9A88D47ACBE}" type="slidenum">
              <a:rPr lang="en-US" smtClean="0"/>
              <a:pPr/>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000" dirty="0">
                <a:latin typeface="+mn-lt"/>
              </a:rPr>
              <a:t>Example 14</a:t>
            </a:r>
          </a:p>
        </p:txBody>
      </p:sp>
      <p:sp>
        <p:nvSpPr>
          <p:cNvPr id="4" name="Rectangle 3"/>
          <p:cNvSpPr/>
          <p:nvPr/>
        </p:nvSpPr>
        <p:spPr>
          <a:xfrm>
            <a:off x="614149" y="2136339"/>
            <a:ext cx="7970293" cy="3262432"/>
          </a:xfrm>
          <a:prstGeom prst="rect">
            <a:avLst/>
          </a:prstGeom>
        </p:spPr>
        <p:txBody>
          <a:bodyPr wrap="square">
            <a:spAutoFit/>
          </a:bodyPr>
          <a:lstStyle/>
          <a:p>
            <a:pPr marL="274320" indent="-274320">
              <a:spcBef>
                <a:spcPts val="600"/>
              </a:spcBef>
              <a:buFont typeface="Arial" pitchFamily="34" charset="0"/>
              <a:buChar char="•"/>
            </a:pPr>
            <a:r>
              <a:rPr lang="en-US" sz="2800" dirty="0">
                <a:solidFill>
                  <a:srgbClr val="FF0000"/>
                </a:solidFill>
              </a:rPr>
              <a:t>Let </a:t>
            </a:r>
            <a:r>
              <a:rPr lang="en-US" sz="2800" i="1" dirty="0">
                <a:solidFill>
                  <a:srgbClr val="FF0000"/>
                </a:solidFill>
              </a:rPr>
              <a:t>P</a:t>
            </a:r>
            <a:r>
              <a:rPr lang="en-US" sz="2800" dirty="0">
                <a:solidFill>
                  <a:srgbClr val="FF0000"/>
                </a:solidFill>
              </a:rPr>
              <a:t>(x) denote the statement “x&gt;3”. What is the </a:t>
            </a:r>
            <a:r>
              <a:rPr lang="en-US" sz="2800" b="1" dirty="0">
                <a:solidFill>
                  <a:srgbClr val="FF0000"/>
                </a:solidFill>
              </a:rPr>
              <a:t>truth</a:t>
            </a:r>
            <a:r>
              <a:rPr lang="en-US" sz="2800" dirty="0">
                <a:solidFill>
                  <a:srgbClr val="FF0000"/>
                </a:solidFill>
              </a:rPr>
              <a:t> </a:t>
            </a:r>
            <a:r>
              <a:rPr lang="en-US" sz="2800" b="1" dirty="0">
                <a:solidFill>
                  <a:srgbClr val="FF0000"/>
                </a:solidFill>
              </a:rPr>
              <a:t>value</a:t>
            </a:r>
            <a:r>
              <a:rPr lang="en-US" sz="2800" dirty="0">
                <a:solidFill>
                  <a:srgbClr val="FF0000"/>
                </a:solidFill>
              </a:rPr>
              <a:t> of the quantification </a:t>
            </a:r>
            <a:r>
              <a:rPr lang="en-US" sz="2800" dirty="0">
                <a:solidFill>
                  <a:srgbClr val="FF0000"/>
                </a:solidFill>
                <a:sym typeface="Symbol" pitchFamily="18" charset="2"/>
              </a:rPr>
              <a:t></a:t>
            </a:r>
            <a:r>
              <a:rPr lang="en-US" sz="2800" i="1" dirty="0">
                <a:solidFill>
                  <a:srgbClr val="FF0000"/>
                </a:solidFill>
                <a:sym typeface="Symbol" pitchFamily="18" charset="2"/>
              </a:rPr>
              <a:t>x P </a:t>
            </a:r>
            <a:r>
              <a:rPr lang="en-US" sz="2800" dirty="0">
                <a:solidFill>
                  <a:srgbClr val="FF0000"/>
                </a:solidFill>
                <a:sym typeface="Symbol" pitchFamily="18" charset="2"/>
              </a:rPr>
              <a:t>(</a:t>
            </a:r>
            <a:r>
              <a:rPr lang="en-US" sz="2800" i="1" dirty="0">
                <a:solidFill>
                  <a:srgbClr val="FF0000"/>
                </a:solidFill>
                <a:sym typeface="Symbol" pitchFamily="18" charset="2"/>
              </a:rPr>
              <a:t>x</a:t>
            </a:r>
            <a:r>
              <a:rPr lang="en-US" sz="2800" dirty="0">
                <a:solidFill>
                  <a:srgbClr val="FF0000"/>
                </a:solidFill>
                <a:sym typeface="Symbol" pitchFamily="18" charset="2"/>
              </a:rPr>
              <a:t>), where the domain consists of all real numbers?</a:t>
            </a:r>
          </a:p>
          <a:p>
            <a:pPr marL="274320" indent="-274320">
              <a:spcBef>
                <a:spcPts val="600"/>
              </a:spcBef>
              <a:buFont typeface="Arial" pitchFamily="34" charset="0"/>
              <a:buChar char="•"/>
            </a:pPr>
            <a:endParaRPr lang="en-US" sz="2800" dirty="0">
              <a:sym typeface="Symbol" pitchFamily="18" charset="2"/>
            </a:endParaRPr>
          </a:p>
          <a:p>
            <a:pPr marL="274320" indent="-274320">
              <a:spcBef>
                <a:spcPts val="600"/>
              </a:spcBef>
              <a:buFont typeface="Arial" pitchFamily="34" charset="0"/>
              <a:buChar char="•"/>
            </a:pPr>
            <a:r>
              <a:rPr lang="en-US" sz="2800" b="1" u="sng" dirty="0">
                <a:solidFill>
                  <a:srgbClr val="0000FF"/>
                </a:solidFill>
                <a:sym typeface="Symbol" pitchFamily="18" charset="2"/>
              </a:rPr>
              <a:t>Solution</a:t>
            </a:r>
            <a:r>
              <a:rPr lang="en-US" sz="2800" dirty="0">
                <a:sym typeface="Symbol" pitchFamily="18" charset="2"/>
              </a:rPr>
              <a:t>: Because </a:t>
            </a:r>
            <a:r>
              <a:rPr lang="en-US" sz="2800" dirty="0">
                <a:solidFill>
                  <a:srgbClr val="0000FF"/>
                </a:solidFill>
              </a:rPr>
              <a:t>“x&gt;3” is sometimes true</a:t>
            </a:r>
            <a:r>
              <a:rPr lang="en-US" sz="2800" dirty="0"/>
              <a:t> –for instance, when </a:t>
            </a:r>
            <a:r>
              <a:rPr lang="en-US" sz="2800" i="1" dirty="0"/>
              <a:t>x </a:t>
            </a:r>
            <a:r>
              <a:rPr lang="en-US" sz="2800" dirty="0"/>
              <a:t>= 4, the existential quantification of </a:t>
            </a:r>
            <a:r>
              <a:rPr lang="en-US" sz="2800" i="1" dirty="0"/>
              <a:t>P</a:t>
            </a:r>
            <a:r>
              <a:rPr lang="en-US" sz="2800" dirty="0"/>
              <a:t>(x) , which is </a:t>
            </a:r>
            <a:r>
              <a:rPr lang="en-US" sz="2800" b="1" dirty="0">
                <a:solidFill>
                  <a:srgbClr val="0000FF"/>
                </a:solidFill>
                <a:sym typeface="Symbol" pitchFamily="18" charset="2"/>
              </a:rPr>
              <a:t></a:t>
            </a:r>
            <a:r>
              <a:rPr lang="en-US" sz="2800" b="1" i="1" dirty="0">
                <a:solidFill>
                  <a:srgbClr val="0000FF"/>
                </a:solidFill>
                <a:sym typeface="Symbol" pitchFamily="18" charset="2"/>
              </a:rPr>
              <a:t>x  P </a:t>
            </a:r>
            <a:r>
              <a:rPr lang="en-US" sz="2800" b="1" dirty="0">
                <a:solidFill>
                  <a:srgbClr val="0000FF"/>
                </a:solidFill>
                <a:sym typeface="Symbol" pitchFamily="18" charset="2"/>
              </a:rPr>
              <a:t>(</a:t>
            </a:r>
            <a:r>
              <a:rPr lang="en-US" sz="2800" b="1" i="1" dirty="0">
                <a:solidFill>
                  <a:srgbClr val="0000FF"/>
                </a:solidFill>
                <a:sym typeface="Symbol" pitchFamily="18" charset="2"/>
              </a:rPr>
              <a:t>x</a:t>
            </a:r>
            <a:r>
              <a:rPr lang="en-US" sz="2800" b="1" dirty="0">
                <a:solidFill>
                  <a:srgbClr val="0000FF"/>
                </a:solidFill>
                <a:sym typeface="Symbol" pitchFamily="18" charset="2"/>
              </a:rPr>
              <a:t>), is true</a:t>
            </a:r>
            <a:r>
              <a:rPr lang="en-US" sz="2800" dirty="0">
                <a:sym typeface="Symbol" pitchFamily="18" charset="2"/>
              </a:rPr>
              <a:t>. </a:t>
            </a:r>
            <a:endParaRPr lang="en-US" sz="2800" dirty="0"/>
          </a:p>
        </p:txBody>
      </p:sp>
      <p:sp>
        <p:nvSpPr>
          <p:cNvPr id="5" name="Slide Number Placeholder 4"/>
          <p:cNvSpPr>
            <a:spLocks noGrp="1"/>
          </p:cNvSpPr>
          <p:nvPr>
            <p:ph type="sldNum" sz="quarter" idx="12"/>
          </p:nvPr>
        </p:nvSpPr>
        <p:spPr/>
        <p:txBody>
          <a:bodyPr/>
          <a:lstStyle/>
          <a:p>
            <a:fld id="{5FD889E0-CAB2-4699-909D-B9A88D47ACBE}" type="slidenum">
              <a:rPr lang="en-US" smtClean="0"/>
              <a:pPr/>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000" dirty="0">
                <a:latin typeface="+mn-lt"/>
              </a:rPr>
              <a:t>Example 15</a:t>
            </a:r>
          </a:p>
        </p:txBody>
      </p:sp>
      <p:sp>
        <p:nvSpPr>
          <p:cNvPr id="4" name="Rectangle 3"/>
          <p:cNvSpPr/>
          <p:nvPr/>
        </p:nvSpPr>
        <p:spPr>
          <a:xfrm>
            <a:off x="421341" y="2060812"/>
            <a:ext cx="8340522" cy="4124206"/>
          </a:xfrm>
          <a:prstGeom prst="rect">
            <a:avLst/>
          </a:prstGeom>
        </p:spPr>
        <p:txBody>
          <a:bodyPr wrap="square">
            <a:spAutoFit/>
          </a:bodyPr>
          <a:lstStyle/>
          <a:p>
            <a:pPr marL="274320" indent="-274320">
              <a:spcBef>
                <a:spcPts val="600"/>
              </a:spcBef>
              <a:buFont typeface="Wingdings" pitchFamily="2" charset="2"/>
              <a:buChar char="§"/>
            </a:pPr>
            <a:r>
              <a:rPr lang="en-US" sz="2800" dirty="0">
                <a:solidFill>
                  <a:srgbClr val="FF0000"/>
                </a:solidFill>
              </a:rPr>
              <a:t>Let </a:t>
            </a:r>
            <a:r>
              <a:rPr lang="en-US" sz="2800" i="1" dirty="0">
                <a:solidFill>
                  <a:srgbClr val="FF0000"/>
                </a:solidFill>
              </a:rPr>
              <a:t>Q</a:t>
            </a:r>
            <a:r>
              <a:rPr lang="en-US" sz="2800" dirty="0">
                <a:solidFill>
                  <a:srgbClr val="FF0000"/>
                </a:solidFill>
              </a:rPr>
              <a:t>(x) denote the statement “x = x+1”. What is the truth value of the quantification </a:t>
            </a:r>
            <a:r>
              <a:rPr lang="en-US" sz="2800" dirty="0">
                <a:solidFill>
                  <a:srgbClr val="FF0000"/>
                </a:solidFill>
                <a:sym typeface="Symbol" pitchFamily="18" charset="2"/>
              </a:rPr>
              <a:t></a:t>
            </a:r>
            <a:r>
              <a:rPr lang="en-US" sz="2800" i="1" dirty="0">
                <a:solidFill>
                  <a:srgbClr val="FF0000"/>
                </a:solidFill>
                <a:sym typeface="Symbol" pitchFamily="18" charset="2"/>
              </a:rPr>
              <a:t>x Q</a:t>
            </a:r>
            <a:r>
              <a:rPr lang="en-US" sz="2800" dirty="0">
                <a:solidFill>
                  <a:srgbClr val="FF0000"/>
                </a:solidFill>
                <a:sym typeface="Symbol" pitchFamily="18" charset="2"/>
              </a:rPr>
              <a:t>(</a:t>
            </a:r>
            <a:r>
              <a:rPr lang="en-US" sz="2800" i="1" dirty="0">
                <a:solidFill>
                  <a:srgbClr val="FF0000"/>
                </a:solidFill>
                <a:sym typeface="Symbol" pitchFamily="18" charset="2"/>
              </a:rPr>
              <a:t>x</a:t>
            </a:r>
            <a:r>
              <a:rPr lang="en-US" sz="2800" dirty="0">
                <a:solidFill>
                  <a:srgbClr val="FF0000"/>
                </a:solidFill>
                <a:sym typeface="Symbol" pitchFamily="18" charset="2"/>
              </a:rPr>
              <a:t>), where the domain consists of all real numbers?</a:t>
            </a:r>
            <a:endParaRPr lang="en-US" sz="2800" dirty="0">
              <a:sym typeface="Symbol" pitchFamily="18" charset="2"/>
            </a:endParaRPr>
          </a:p>
          <a:p>
            <a:pPr marL="274320" indent="-274320">
              <a:spcBef>
                <a:spcPts val="600"/>
              </a:spcBef>
              <a:buFont typeface="Arial" pitchFamily="34" charset="0"/>
              <a:buChar char="•"/>
            </a:pPr>
            <a:r>
              <a:rPr lang="en-US" sz="2800" b="1" u="sng" dirty="0">
                <a:solidFill>
                  <a:srgbClr val="0000FF"/>
                </a:solidFill>
                <a:sym typeface="Symbol" pitchFamily="18" charset="2"/>
              </a:rPr>
              <a:t>Solution</a:t>
            </a:r>
            <a:r>
              <a:rPr lang="en-US" sz="2800" dirty="0">
                <a:sym typeface="Symbol" pitchFamily="18" charset="2"/>
              </a:rPr>
              <a:t>: Because </a:t>
            </a:r>
            <a:r>
              <a:rPr lang="en-US" sz="2800" i="1" dirty="0">
                <a:solidFill>
                  <a:srgbClr val="0000FF"/>
                </a:solidFill>
                <a:sym typeface="Symbol" pitchFamily="18" charset="2"/>
              </a:rPr>
              <a:t>Q</a:t>
            </a:r>
            <a:r>
              <a:rPr lang="en-US" sz="2800" dirty="0">
                <a:solidFill>
                  <a:srgbClr val="0000FF"/>
                </a:solidFill>
                <a:sym typeface="Symbol" pitchFamily="18" charset="2"/>
              </a:rPr>
              <a:t>(x) is false for every real number x</a:t>
            </a:r>
            <a:r>
              <a:rPr lang="en-US" sz="2800" dirty="0">
                <a:sym typeface="Symbol" pitchFamily="18" charset="2"/>
              </a:rPr>
              <a:t>, the existential </a:t>
            </a:r>
            <a:r>
              <a:rPr lang="en-US" sz="2800" dirty="0"/>
              <a:t>quantification of </a:t>
            </a:r>
            <a:r>
              <a:rPr lang="en-US" sz="2800" i="1" dirty="0"/>
              <a:t>Q</a:t>
            </a:r>
            <a:r>
              <a:rPr lang="en-US" sz="2800" dirty="0"/>
              <a:t>(x), which is </a:t>
            </a:r>
            <a:r>
              <a:rPr lang="en-US" sz="2800" dirty="0">
                <a:solidFill>
                  <a:srgbClr val="0000FF"/>
                </a:solidFill>
                <a:sym typeface="Symbol" pitchFamily="18" charset="2"/>
              </a:rPr>
              <a:t></a:t>
            </a:r>
            <a:r>
              <a:rPr lang="en-US" sz="2800" i="1" dirty="0">
                <a:solidFill>
                  <a:srgbClr val="0000FF"/>
                </a:solidFill>
                <a:sym typeface="Symbol" pitchFamily="18" charset="2"/>
              </a:rPr>
              <a:t>x Q</a:t>
            </a:r>
            <a:r>
              <a:rPr lang="en-US" sz="2800" dirty="0">
                <a:solidFill>
                  <a:srgbClr val="0000FF"/>
                </a:solidFill>
                <a:sym typeface="Symbol" pitchFamily="18" charset="2"/>
              </a:rPr>
              <a:t>(</a:t>
            </a:r>
            <a:r>
              <a:rPr lang="en-US" sz="2800" i="1" dirty="0">
                <a:solidFill>
                  <a:srgbClr val="0000FF"/>
                </a:solidFill>
                <a:sym typeface="Symbol" pitchFamily="18" charset="2"/>
              </a:rPr>
              <a:t>x</a:t>
            </a:r>
            <a:r>
              <a:rPr lang="en-US" sz="2800" dirty="0">
                <a:solidFill>
                  <a:srgbClr val="0000FF"/>
                </a:solidFill>
                <a:sym typeface="Symbol" pitchFamily="18" charset="2"/>
              </a:rPr>
              <a:t>), is </a:t>
            </a:r>
            <a:r>
              <a:rPr lang="en-US" sz="2800" b="1" dirty="0">
                <a:solidFill>
                  <a:srgbClr val="0000FF"/>
                </a:solidFill>
                <a:sym typeface="Symbol" pitchFamily="18" charset="2"/>
              </a:rPr>
              <a:t>false</a:t>
            </a:r>
            <a:r>
              <a:rPr lang="en-US" sz="2800" dirty="0">
                <a:sym typeface="Symbol" pitchFamily="18" charset="2"/>
              </a:rPr>
              <a:t>. </a:t>
            </a:r>
          </a:p>
          <a:p>
            <a:pPr marL="274320" indent="-274320">
              <a:spcBef>
                <a:spcPts val="600"/>
              </a:spcBef>
              <a:buFont typeface="Arial" pitchFamily="34" charset="0"/>
              <a:buChar char="•"/>
            </a:pPr>
            <a:r>
              <a:rPr lang="en-US" sz="2800" u="sng" dirty="0">
                <a:solidFill>
                  <a:srgbClr val="FF0000"/>
                </a:solidFill>
                <a:sym typeface="Symbol" pitchFamily="18" charset="2"/>
              </a:rPr>
              <a:t>Note</a:t>
            </a:r>
            <a:r>
              <a:rPr lang="en-US" sz="2800" dirty="0">
                <a:solidFill>
                  <a:srgbClr val="FF0000"/>
                </a:solidFill>
                <a:sym typeface="Symbol" pitchFamily="18" charset="2"/>
              </a:rPr>
              <a:t>: </a:t>
            </a:r>
            <a:r>
              <a:rPr lang="en-US" sz="2800" dirty="0">
                <a:sym typeface="Symbol" pitchFamily="18" charset="2"/>
              </a:rPr>
              <a:t>If we add 1 to any real number x, that number will NEVER be equal to x, it will be always 1 bigger than x</a:t>
            </a:r>
          </a:p>
        </p:txBody>
      </p:sp>
      <p:sp>
        <p:nvSpPr>
          <p:cNvPr id="5" name="Slide Number Placeholder 4"/>
          <p:cNvSpPr>
            <a:spLocks noGrp="1"/>
          </p:cNvSpPr>
          <p:nvPr>
            <p:ph type="sldNum" sz="quarter" idx="12"/>
          </p:nvPr>
        </p:nvSpPr>
        <p:spPr/>
        <p:txBody>
          <a:bodyPr/>
          <a:lstStyle/>
          <a:p>
            <a:fld id="{5FD889E0-CAB2-4699-909D-B9A88D47ACBE}" type="slidenum">
              <a:rPr lang="en-US" smtClean="0"/>
              <a:pPr/>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000" dirty="0">
                <a:latin typeface="+mn-lt"/>
              </a:rPr>
              <a:t>Example 16</a:t>
            </a:r>
          </a:p>
        </p:txBody>
      </p:sp>
      <p:sp>
        <p:nvSpPr>
          <p:cNvPr id="4" name="Rectangle 3"/>
          <p:cNvSpPr/>
          <p:nvPr/>
        </p:nvSpPr>
        <p:spPr>
          <a:xfrm>
            <a:off x="421341" y="2023116"/>
            <a:ext cx="8449704" cy="3724096"/>
          </a:xfrm>
          <a:prstGeom prst="rect">
            <a:avLst/>
          </a:prstGeom>
        </p:spPr>
        <p:txBody>
          <a:bodyPr wrap="square">
            <a:spAutoFit/>
          </a:bodyPr>
          <a:lstStyle/>
          <a:p>
            <a:pPr marL="274320" indent="-274320">
              <a:spcBef>
                <a:spcPts val="600"/>
              </a:spcBef>
              <a:buFont typeface="Arial" pitchFamily="34" charset="0"/>
              <a:buChar char="•"/>
            </a:pPr>
            <a:r>
              <a:rPr lang="en-US" sz="2400" dirty="0"/>
              <a:t>What is the truth value of </a:t>
            </a:r>
            <a:r>
              <a:rPr lang="en-US" sz="2400" dirty="0">
                <a:sym typeface="Symbol" pitchFamily="18" charset="2"/>
              </a:rPr>
              <a:t></a:t>
            </a:r>
            <a:r>
              <a:rPr lang="en-US" sz="2400" i="1" dirty="0">
                <a:sym typeface="Symbol" pitchFamily="18" charset="2"/>
              </a:rPr>
              <a:t>x P</a:t>
            </a:r>
            <a:r>
              <a:rPr lang="en-US" sz="2400" dirty="0">
                <a:sym typeface="Symbol" pitchFamily="18" charset="2"/>
              </a:rPr>
              <a:t>(</a:t>
            </a:r>
            <a:r>
              <a:rPr lang="en-US" sz="2400" i="1" dirty="0">
                <a:sym typeface="Symbol" pitchFamily="18" charset="2"/>
              </a:rPr>
              <a:t>x</a:t>
            </a:r>
            <a:r>
              <a:rPr lang="en-US" sz="2400" dirty="0">
                <a:sym typeface="Symbol" pitchFamily="18" charset="2"/>
              </a:rPr>
              <a:t>), where P(x) is the statement </a:t>
            </a:r>
            <a:r>
              <a:rPr lang="en-US" sz="2400" dirty="0">
                <a:solidFill>
                  <a:srgbClr val="0000FF"/>
                </a:solidFill>
                <a:sym typeface="Symbol" pitchFamily="18" charset="2"/>
              </a:rPr>
              <a:t>“x</a:t>
            </a:r>
            <a:r>
              <a:rPr lang="en-US" sz="2400" baseline="30000" dirty="0">
                <a:solidFill>
                  <a:srgbClr val="0000FF"/>
                </a:solidFill>
                <a:sym typeface="Symbol" pitchFamily="18" charset="2"/>
              </a:rPr>
              <a:t>2</a:t>
            </a:r>
            <a:r>
              <a:rPr lang="en-US" sz="2400" dirty="0">
                <a:solidFill>
                  <a:srgbClr val="0000FF"/>
                </a:solidFill>
                <a:sym typeface="Symbol" pitchFamily="18" charset="2"/>
              </a:rPr>
              <a:t>&gt;10” </a:t>
            </a:r>
            <a:r>
              <a:rPr lang="en-US" sz="2400" dirty="0">
                <a:sym typeface="Symbol" pitchFamily="18" charset="2"/>
              </a:rPr>
              <a:t>and the universe of discourse consists of the positive integers not exceeding 4?</a:t>
            </a:r>
          </a:p>
          <a:p>
            <a:pPr marL="274320" indent="-274320">
              <a:spcBef>
                <a:spcPts val="600"/>
              </a:spcBef>
              <a:buFont typeface="Arial" pitchFamily="34" charset="0"/>
              <a:buChar char="•"/>
            </a:pPr>
            <a:endParaRPr lang="en-US" sz="2400" dirty="0"/>
          </a:p>
          <a:p>
            <a:pPr marL="274320" indent="-274320">
              <a:spcBef>
                <a:spcPts val="600"/>
              </a:spcBef>
              <a:buFont typeface="Arial" pitchFamily="34" charset="0"/>
              <a:buChar char="•"/>
            </a:pPr>
            <a:r>
              <a:rPr lang="en-US" sz="2400" b="1" u="sng" dirty="0">
                <a:solidFill>
                  <a:srgbClr val="0000FF"/>
                </a:solidFill>
              </a:rPr>
              <a:t>Solution</a:t>
            </a:r>
            <a:r>
              <a:rPr lang="en-US" sz="2400" dirty="0"/>
              <a:t>: Because the domain is { 1, 2, 3, 4}, the proposition </a:t>
            </a:r>
            <a:r>
              <a:rPr lang="en-US" sz="2400" dirty="0">
                <a:sym typeface="Symbol" pitchFamily="18" charset="2"/>
              </a:rPr>
              <a:t></a:t>
            </a:r>
            <a:r>
              <a:rPr lang="en-US" sz="2400" i="1" dirty="0">
                <a:sym typeface="Symbol" pitchFamily="18" charset="2"/>
              </a:rPr>
              <a:t>x P</a:t>
            </a:r>
            <a:r>
              <a:rPr lang="en-US" sz="2400" dirty="0">
                <a:sym typeface="Symbol" pitchFamily="18" charset="2"/>
              </a:rPr>
              <a:t>(</a:t>
            </a:r>
            <a:r>
              <a:rPr lang="en-US" sz="2400" i="1" dirty="0">
                <a:sym typeface="Symbol" pitchFamily="18" charset="2"/>
              </a:rPr>
              <a:t>x</a:t>
            </a:r>
            <a:r>
              <a:rPr lang="en-US" sz="2400" dirty="0">
                <a:sym typeface="Symbol" pitchFamily="18" charset="2"/>
              </a:rPr>
              <a:t>) is the same as the </a:t>
            </a:r>
            <a:r>
              <a:rPr lang="en-US" sz="2400" b="1" dirty="0">
                <a:solidFill>
                  <a:srgbClr val="0000FF"/>
                </a:solidFill>
                <a:sym typeface="Symbol" pitchFamily="18" charset="2"/>
              </a:rPr>
              <a:t>disjunction </a:t>
            </a:r>
          </a:p>
          <a:p>
            <a:pPr marL="274320" indent="-274320">
              <a:spcBef>
                <a:spcPts val="600"/>
              </a:spcBef>
            </a:pPr>
            <a:r>
              <a:rPr lang="en-US" altLang="zh-TW" sz="2400" b="1" i="1" dirty="0">
                <a:solidFill>
                  <a:srgbClr val="0000FF"/>
                </a:solidFill>
                <a:sym typeface="Symbol" pitchFamily="18" charset="2"/>
              </a:rPr>
              <a:t>	P(1) P(2)  P(3) P(4) .</a:t>
            </a:r>
          </a:p>
          <a:p>
            <a:pPr marL="274320" indent="-274320">
              <a:spcBef>
                <a:spcPts val="600"/>
              </a:spcBef>
            </a:pPr>
            <a:r>
              <a:rPr lang="en-US" altLang="zh-TW" sz="2400" b="1" i="1" dirty="0">
                <a:solidFill>
                  <a:srgbClr val="0000FF"/>
                </a:solidFill>
                <a:sym typeface="Symbol" pitchFamily="18" charset="2"/>
              </a:rPr>
              <a:t>	</a:t>
            </a:r>
            <a:r>
              <a:rPr lang="en-US" altLang="zh-TW" sz="2400" dirty="0">
                <a:sym typeface="Symbol" pitchFamily="18" charset="2"/>
              </a:rPr>
              <a:t>Because</a:t>
            </a:r>
            <a:r>
              <a:rPr lang="en-US" altLang="zh-TW" sz="2400" b="1" i="1" dirty="0">
                <a:sym typeface="Symbol" pitchFamily="18" charset="2"/>
              </a:rPr>
              <a:t> </a:t>
            </a:r>
            <a:r>
              <a:rPr lang="en-US" altLang="zh-TW" sz="2400" i="1" dirty="0">
                <a:sym typeface="Symbol" pitchFamily="18" charset="2"/>
              </a:rPr>
              <a:t>P</a:t>
            </a:r>
            <a:r>
              <a:rPr lang="en-US" altLang="zh-TW" sz="2400" dirty="0">
                <a:sym typeface="Symbol" pitchFamily="18" charset="2"/>
              </a:rPr>
              <a:t>(4), which is the statement </a:t>
            </a:r>
            <a:r>
              <a:rPr lang="en-US" sz="2400" dirty="0">
                <a:sym typeface="Symbol" pitchFamily="18" charset="2"/>
              </a:rPr>
              <a:t>“</a:t>
            </a:r>
            <a:r>
              <a:rPr lang="en-US" sz="2400" dirty="0">
                <a:solidFill>
                  <a:srgbClr val="0000FF"/>
                </a:solidFill>
                <a:sym typeface="Symbol" pitchFamily="18" charset="2"/>
              </a:rPr>
              <a:t>4</a:t>
            </a:r>
            <a:r>
              <a:rPr lang="en-US" sz="2400" baseline="30000" dirty="0">
                <a:solidFill>
                  <a:srgbClr val="0000FF"/>
                </a:solidFill>
                <a:sym typeface="Symbol" pitchFamily="18" charset="2"/>
              </a:rPr>
              <a:t>2</a:t>
            </a:r>
            <a:r>
              <a:rPr lang="en-US" sz="2400" dirty="0">
                <a:solidFill>
                  <a:srgbClr val="0000FF"/>
                </a:solidFill>
                <a:sym typeface="Symbol" pitchFamily="18" charset="2"/>
              </a:rPr>
              <a:t>&gt;10” , is true</a:t>
            </a:r>
            <a:r>
              <a:rPr lang="en-US" sz="2400" dirty="0">
                <a:sym typeface="Symbol" pitchFamily="18" charset="2"/>
              </a:rPr>
              <a:t>, it follows that truth value of </a:t>
            </a:r>
            <a:r>
              <a:rPr lang="en-US" sz="2400" b="1" dirty="0">
                <a:solidFill>
                  <a:srgbClr val="FF0000"/>
                </a:solidFill>
                <a:sym typeface="Symbol" pitchFamily="18" charset="2"/>
              </a:rPr>
              <a:t>x P(x) is true</a:t>
            </a:r>
            <a:r>
              <a:rPr lang="en-US" sz="2400" dirty="0">
                <a:sym typeface="Symbol" pitchFamily="18" charset="2"/>
              </a:rPr>
              <a:t>. </a:t>
            </a:r>
          </a:p>
        </p:txBody>
      </p:sp>
      <p:sp>
        <p:nvSpPr>
          <p:cNvPr id="5" name="Slide Number Placeholder 4"/>
          <p:cNvSpPr>
            <a:spLocks noGrp="1"/>
          </p:cNvSpPr>
          <p:nvPr>
            <p:ph type="sldNum" sz="quarter" idx="12"/>
          </p:nvPr>
        </p:nvSpPr>
        <p:spPr/>
        <p:txBody>
          <a:bodyPr/>
          <a:lstStyle/>
          <a:p>
            <a:fld id="{5FD889E0-CAB2-4699-909D-B9A88D47ACBE}" type="slidenum">
              <a:rPr lang="en-US" smtClean="0"/>
              <a:pPr/>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000" dirty="0">
                <a:latin typeface="+mn-lt"/>
              </a:rPr>
              <a:t>Class Work</a:t>
            </a:r>
          </a:p>
        </p:txBody>
      </p:sp>
      <p:sp>
        <p:nvSpPr>
          <p:cNvPr id="4" name="Rectangle 3"/>
          <p:cNvSpPr/>
          <p:nvPr/>
        </p:nvSpPr>
        <p:spPr>
          <a:xfrm>
            <a:off x="109185" y="2264253"/>
            <a:ext cx="8843748" cy="3477875"/>
          </a:xfrm>
          <a:prstGeom prst="rect">
            <a:avLst/>
          </a:prstGeom>
        </p:spPr>
        <p:txBody>
          <a:bodyPr wrap="square">
            <a:spAutoFit/>
          </a:bodyPr>
          <a:lstStyle/>
          <a:p>
            <a:pPr marL="274320" indent="-274320">
              <a:spcBef>
                <a:spcPts val="600"/>
              </a:spcBef>
              <a:buFont typeface="Calibri" pitchFamily="34" charset="0"/>
              <a:buAutoNum type="arabicPeriod"/>
            </a:pPr>
            <a:r>
              <a:rPr lang="en-US" sz="2000" dirty="0"/>
              <a:t>Let </a:t>
            </a:r>
            <a:r>
              <a:rPr lang="en-US" sz="2000" i="1" dirty="0"/>
              <a:t>P</a:t>
            </a:r>
            <a:r>
              <a:rPr lang="en-US" sz="2000" dirty="0"/>
              <a:t>(x) denote the statement “x&gt;0”. What is the truth value of the quantification </a:t>
            </a:r>
            <a:r>
              <a:rPr lang="en-US" sz="2000" dirty="0">
                <a:sym typeface="Symbol" pitchFamily="18" charset="2"/>
              </a:rPr>
              <a:t></a:t>
            </a:r>
            <a:r>
              <a:rPr lang="en-US" sz="2000" i="1" dirty="0">
                <a:sym typeface="Symbol" pitchFamily="18" charset="2"/>
              </a:rPr>
              <a:t>x P </a:t>
            </a:r>
            <a:r>
              <a:rPr lang="en-US" sz="2000" dirty="0">
                <a:sym typeface="Symbol" pitchFamily="18" charset="2"/>
              </a:rPr>
              <a:t>(</a:t>
            </a:r>
            <a:r>
              <a:rPr lang="en-US" sz="2000" i="1" dirty="0">
                <a:sym typeface="Symbol" pitchFamily="18" charset="2"/>
              </a:rPr>
              <a:t>x</a:t>
            </a:r>
            <a:r>
              <a:rPr lang="en-US" sz="2000" dirty="0">
                <a:sym typeface="Symbol" pitchFamily="18" charset="2"/>
              </a:rPr>
              <a:t>)” , where the domain consists of integers?</a:t>
            </a:r>
          </a:p>
          <a:p>
            <a:pPr marL="274320" indent="-274320">
              <a:spcBef>
                <a:spcPts val="600"/>
              </a:spcBef>
              <a:buFont typeface="Calibri" pitchFamily="34" charset="0"/>
              <a:buAutoNum type="arabicPeriod"/>
            </a:pPr>
            <a:r>
              <a:rPr lang="en-US" sz="2000" dirty="0"/>
              <a:t>Let </a:t>
            </a:r>
            <a:r>
              <a:rPr lang="en-US" sz="2000" i="1" dirty="0"/>
              <a:t>P</a:t>
            </a:r>
            <a:r>
              <a:rPr lang="en-US" sz="2000" dirty="0"/>
              <a:t>(x) denote the statement “x&gt;0”. What is the truth value of the quantification </a:t>
            </a:r>
            <a:r>
              <a:rPr lang="en-US" sz="2000" b="1" dirty="0">
                <a:sym typeface="Symbol" pitchFamily="18" charset="2"/>
              </a:rPr>
              <a:t></a:t>
            </a:r>
            <a:r>
              <a:rPr lang="en-US" sz="2000" i="1" dirty="0">
                <a:sym typeface="Symbol" pitchFamily="18" charset="2"/>
              </a:rPr>
              <a:t>x P </a:t>
            </a:r>
            <a:r>
              <a:rPr lang="en-US" sz="2000" dirty="0">
                <a:sym typeface="Symbol" pitchFamily="18" charset="2"/>
              </a:rPr>
              <a:t>(</a:t>
            </a:r>
            <a:r>
              <a:rPr lang="en-US" sz="2000" i="1" dirty="0">
                <a:sym typeface="Symbol" pitchFamily="18" charset="2"/>
              </a:rPr>
              <a:t>x</a:t>
            </a:r>
            <a:r>
              <a:rPr lang="en-US" sz="2000" dirty="0">
                <a:sym typeface="Symbol" pitchFamily="18" charset="2"/>
              </a:rPr>
              <a:t>)” , where the domain consists of non-negative integers?</a:t>
            </a:r>
          </a:p>
          <a:p>
            <a:pPr marL="274320" indent="-274320">
              <a:spcBef>
                <a:spcPts val="600"/>
              </a:spcBef>
              <a:buFont typeface="Calibri" pitchFamily="34" charset="0"/>
              <a:buAutoNum type="arabicPeriod"/>
            </a:pPr>
            <a:r>
              <a:rPr lang="en-US" sz="2000" dirty="0"/>
              <a:t>Let </a:t>
            </a:r>
            <a:r>
              <a:rPr lang="en-US" sz="2000" i="1" dirty="0"/>
              <a:t>P</a:t>
            </a:r>
            <a:r>
              <a:rPr lang="en-US" sz="2000" dirty="0"/>
              <a:t>(x) denote the statement “x&gt;0”. What is the truth value of the quantification </a:t>
            </a:r>
            <a:r>
              <a:rPr lang="en-US" sz="2000" dirty="0">
                <a:sym typeface="Symbol" pitchFamily="18" charset="2"/>
              </a:rPr>
              <a:t></a:t>
            </a:r>
            <a:r>
              <a:rPr lang="en-US" sz="2000" i="1" dirty="0">
                <a:sym typeface="Symbol" pitchFamily="18" charset="2"/>
              </a:rPr>
              <a:t>x P </a:t>
            </a:r>
            <a:r>
              <a:rPr lang="en-US" sz="2000" dirty="0">
                <a:sym typeface="Symbol" pitchFamily="18" charset="2"/>
              </a:rPr>
              <a:t>(</a:t>
            </a:r>
            <a:r>
              <a:rPr lang="en-US" sz="2000" i="1" dirty="0">
                <a:sym typeface="Symbol" pitchFamily="18" charset="2"/>
              </a:rPr>
              <a:t>x</a:t>
            </a:r>
            <a:r>
              <a:rPr lang="en-US" sz="2000" dirty="0">
                <a:sym typeface="Symbol" pitchFamily="18" charset="2"/>
              </a:rPr>
              <a:t>)” , where the domain consists of negative integers?</a:t>
            </a:r>
          </a:p>
          <a:p>
            <a:pPr marL="274320" indent="-274320">
              <a:spcBef>
                <a:spcPts val="600"/>
              </a:spcBef>
              <a:buFont typeface="Calibri" pitchFamily="34" charset="0"/>
              <a:buAutoNum type="arabicPeriod"/>
            </a:pPr>
            <a:r>
              <a:rPr lang="en-US" sz="2000" dirty="0"/>
              <a:t>Let </a:t>
            </a:r>
            <a:r>
              <a:rPr lang="en-US" sz="2000" i="1" dirty="0"/>
              <a:t>P</a:t>
            </a:r>
            <a:r>
              <a:rPr lang="en-US" sz="2000" dirty="0"/>
              <a:t>(x) denote the statement “x&lt;2”. What is the truth value of the quantification </a:t>
            </a:r>
            <a:r>
              <a:rPr lang="en-US" sz="2000" dirty="0">
                <a:sym typeface="Symbol" pitchFamily="18" charset="2"/>
              </a:rPr>
              <a:t></a:t>
            </a:r>
            <a:r>
              <a:rPr lang="en-US" sz="2000" i="1" dirty="0">
                <a:sym typeface="Symbol" pitchFamily="18" charset="2"/>
              </a:rPr>
              <a:t>x P </a:t>
            </a:r>
            <a:r>
              <a:rPr lang="en-US" sz="2000" dirty="0">
                <a:sym typeface="Symbol" pitchFamily="18" charset="2"/>
              </a:rPr>
              <a:t>(</a:t>
            </a:r>
            <a:r>
              <a:rPr lang="en-US" sz="2000" i="1" dirty="0">
                <a:sym typeface="Symbol" pitchFamily="18" charset="2"/>
              </a:rPr>
              <a:t>x</a:t>
            </a:r>
            <a:r>
              <a:rPr lang="en-US" sz="2000" dirty="0">
                <a:sym typeface="Symbol" pitchFamily="18" charset="2"/>
              </a:rPr>
              <a:t>)” , where the domain consists of all prime numbers?</a:t>
            </a:r>
          </a:p>
          <a:p>
            <a:pPr marL="274320" indent="-274320">
              <a:spcBef>
                <a:spcPts val="600"/>
              </a:spcBef>
              <a:buFont typeface="Calibri" pitchFamily="34" charset="0"/>
              <a:buAutoNum type="arabicPeriod"/>
            </a:pPr>
            <a:r>
              <a:rPr lang="en-US" sz="2000" dirty="0"/>
              <a:t>Let </a:t>
            </a:r>
            <a:r>
              <a:rPr lang="en-US" sz="2000" i="1" dirty="0"/>
              <a:t>P</a:t>
            </a:r>
            <a:r>
              <a:rPr lang="en-US" sz="2000" dirty="0"/>
              <a:t>(x) denote the statement “x ≤ 2”. What is the truth value of the quantification </a:t>
            </a:r>
            <a:r>
              <a:rPr lang="en-US" sz="2000" dirty="0">
                <a:sym typeface="Symbol" pitchFamily="18" charset="2"/>
              </a:rPr>
              <a:t></a:t>
            </a:r>
            <a:r>
              <a:rPr lang="en-US" sz="2000" i="1" dirty="0">
                <a:sym typeface="Symbol" pitchFamily="18" charset="2"/>
              </a:rPr>
              <a:t>x P </a:t>
            </a:r>
            <a:r>
              <a:rPr lang="en-US" sz="2000" dirty="0">
                <a:sym typeface="Symbol" pitchFamily="18" charset="2"/>
              </a:rPr>
              <a:t>(</a:t>
            </a:r>
            <a:r>
              <a:rPr lang="en-US" sz="2000" i="1" dirty="0">
                <a:sym typeface="Symbol" pitchFamily="18" charset="2"/>
              </a:rPr>
              <a:t>x</a:t>
            </a:r>
            <a:r>
              <a:rPr lang="en-US" sz="2000" dirty="0">
                <a:sym typeface="Symbol" pitchFamily="18" charset="2"/>
              </a:rPr>
              <a:t>)” , where the domain consists of all prime numbers?</a:t>
            </a:r>
            <a:endParaRPr lang="en-US" sz="2000" dirty="0"/>
          </a:p>
        </p:txBody>
      </p:sp>
      <p:sp>
        <p:nvSpPr>
          <p:cNvPr id="5" name="Slide Number Placeholder 4"/>
          <p:cNvSpPr>
            <a:spLocks noGrp="1"/>
          </p:cNvSpPr>
          <p:nvPr>
            <p:ph type="sldNum" sz="quarter" idx="12"/>
          </p:nvPr>
        </p:nvSpPr>
        <p:spPr/>
        <p:txBody>
          <a:bodyPr/>
          <a:lstStyle/>
          <a:p>
            <a:fld id="{5FD889E0-CAB2-4699-909D-B9A88D47ACBE}" type="slidenum">
              <a:rPr lang="en-US" smtClean="0"/>
              <a:pPr/>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000" dirty="0">
                <a:latin typeface="+mn-lt"/>
              </a:rPr>
              <a:t>Answers </a:t>
            </a:r>
          </a:p>
        </p:txBody>
      </p:sp>
      <p:sp>
        <p:nvSpPr>
          <p:cNvPr id="4" name="Rectangle 3"/>
          <p:cNvSpPr/>
          <p:nvPr/>
        </p:nvSpPr>
        <p:spPr>
          <a:xfrm>
            <a:off x="416224" y="2551837"/>
            <a:ext cx="4572000" cy="2554545"/>
          </a:xfrm>
          <a:prstGeom prst="rect">
            <a:avLst/>
          </a:prstGeom>
        </p:spPr>
        <p:txBody>
          <a:bodyPr>
            <a:spAutoFit/>
          </a:bodyPr>
          <a:lstStyle/>
          <a:p>
            <a:pPr marL="514350" indent="-514350">
              <a:buFont typeface="+mj-lt"/>
              <a:buAutoNum type="arabicPeriod"/>
            </a:pPr>
            <a:r>
              <a:rPr lang="en-US" sz="3200" dirty="0">
                <a:solidFill>
                  <a:srgbClr val="0000FF"/>
                </a:solidFill>
              </a:rPr>
              <a:t>True</a:t>
            </a:r>
          </a:p>
          <a:p>
            <a:pPr marL="514350" indent="-514350">
              <a:buFont typeface="+mj-lt"/>
              <a:buAutoNum type="arabicPeriod"/>
            </a:pPr>
            <a:r>
              <a:rPr lang="en-US" sz="3200" dirty="0">
                <a:solidFill>
                  <a:srgbClr val="0000FF"/>
                </a:solidFill>
              </a:rPr>
              <a:t>False</a:t>
            </a:r>
          </a:p>
          <a:p>
            <a:pPr marL="514350" indent="-514350">
              <a:buFont typeface="+mj-lt"/>
              <a:buAutoNum type="arabicPeriod"/>
            </a:pPr>
            <a:r>
              <a:rPr lang="en-US" sz="3200" dirty="0">
                <a:solidFill>
                  <a:srgbClr val="0000FF"/>
                </a:solidFill>
              </a:rPr>
              <a:t>False</a:t>
            </a:r>
          </a:p>
          <a:p>
            <a:pPr marL="514350" indent="-514350">
              <a:buFont typeface="+mj-lt"/>
              <a:buAutoNum type="arabicPeriod"/>
            </a:pPr>
            <a:r>
              <a:rPr lang="en-US" sz="3200" dirty="0">
                <a:solidFill>
                  <a:srgbClr val="0000FF"/>
                </a:solidFill>
              </a:rPr>
              <a:t>False</a:t>
            </a:r>
          </a:p>
          <a:p>
            <a:pPr marL="514350" indent="-514350">
              <a:buFont typeface="+mj-lt"/>
              <a:buAutoNum type="arabicPeriod"/>
            </a:pPr>
            <a:r>
              <a:rPr lang="en-US" sz="3200" dirty="0">
                <a:solidFill>
                  <a:srgbClr val="0000FF"/>
                </a:solidFill>
              </a:rPr>
              <a:t>True</a:t>
            </a:r>
            <a:r>
              <a:rPr lang="en-US" sz="3200" dirty="0"/>
              <a:t> </a:t>
            </a:r>
          </a:p>
        </p:txBody>
      </p:sp>
      <p:sp>
        <p:nvSpPr>
          <p:cNvPr id="5" name="Slide Number Placeholder 4"/>
          <p:cNvSpPr>
            <a:spLocks noGrp="1"/>
          </p:cNvSpPr>
          <p:nvPr>
            <p:ph type="sldNum" sz="quarter" idx="12"/>
          </p:nvPr>
        </p:nvSpPr>
        <p:spPr/>
        <p:txBody>
          <a:bodyPr/>
          <a:lstStyle/>
          <a:p>
            <a:fld id="{5FD889E0-CAB2-4699-909D-B9A88D47ACBE}" type="slidenum">
              <a:rPr lang="en-US" smtClean="0"/>
              <a:pPr/>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1341" y="721965"/>
            <a:ext cx="7808976" cy="1088136"/>
          </a:xfrm>
        </p:spPr>
        <p:txBody>
          <a:bodyPr>
            <a:noAutofit/>
          </a:bodyPr>
          <a:lstStyle/>
          <a:p>
            <a:r>
              <a:rPr lang="en-US" altLang="zh-TW" sz="3200" b="1" dirty="0">
                <a:latin typeface="+mn-lt"/>
              </a:rPr>
              <a:t>Universal &amp; Existential Quantifiers: </a:t>
            </a:r>
            <a:br>
              <a:rPr lang="en-US" altLang="zh-TW" sz="3200" b="1" dirty="0">
                <a:latin typeface="+mn-lt"/>
              </a:rPr>
            </a:br>
            <a:r>
              <a:rPr lang="en-US" altLang="zh-TW" sz="3200" b="1" dirty="0">
                <a:latin typeface="+mn-lt"/>
              </a:rPr>
              <a:t>When True? When False?</a:t>
            </a:r>
            <a:endParaRPr lang="en-US" sz="3200" dirty="0">
              <a:latin typeface="+mn-lt"/>
            </a:endParaRPr>
          </a:p>
        </p:txBody>
      </p:sp>
      <p:sp>
        <p:nvSpPr>
          <p:cNvPr id="5" name="Slide Number Placeholder 4"/>
          <p:cNvSpPr>
            <a:spLocks noGrp="1"/>
          </p:cNvSpPr>
          <p:nvPr>
            <p:ph type="sldNum" sz="quarter" idx="12"/>
          </p:nvPr>
        </p:nvSpPr>
        <p:spPr/>
        <p:txBody>
          <a:bodyPr/>
          <a:lstStyle/>
          <a:p>
            <a:fld id="{5FD889E0-CAB2-4699-909D-B9A88D47ACBE}" type="slidenum">
              <a:rPr lang="en-US" smtClean="0"/>
              <a:pPr/>
              <a:t>28</a:t>
            </a:fld>
            <a:endParaRPr lang="en-US"/>
          </a:p>
        </p:txBody>
      </p:sp>
      <p:pic>
        <p:nvPicPr>
          <p:cNvPr id="3" name="Picture 2">
            <a:extLst>
              <a:ext uri="{FF2B5EF4-FFF2-40B4-BE49-F238E27FC236}">
                <a16:creationId xmlns:a16="http://schemas.microsoft.com/office/drawing/2014/main" id="{6B7958BD-73A0-F245-A9F2-0795D0A389C1}"/>
              </a:ext>
            </a:extLst>
          </p:cNvPr>
          <p:cNvPicPr>
            <a:picLocks noChangeAspect="1"/>
          </p:cNvPicPr>
          <p:nvPr/>
        </p:nvPicPr>
        <p:blipFill>
          <a:blip r:embed="rId2"/>
          <a:stretch>
            <a:fillRect/>
          </a:stretch>
        </p:blipFill>
        <p:spPr>
          <a:xfrm>
            <a:off x="46419" y="2476246"/>
            <a:ext cx="9051163" cy="1905508"/>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000" dirty="0">
                <a:latin typeface="+mn-lt"/>
              </a:rPr>
              <a:t>Precedence of Quantifiers</a:t>
            </a:r>
          </a:p>
        </p:txBody>
      </p:sp>
      <p:sp>
        <p:nvSpPr>
          <p:cNvPr id="4" name="Rectangle 3"/>
          <p:cNvSpPr/>
          <p:nvPr/>
        </p:nvSpPr>
        <p:spPr>
          <a:xfrm>
            <a:off x="421341" y="2136339"/>
            <a:ext cx="8108510" cy="3579441"/>
          </a:xfrm>
          <a:prstGeom prst="rect">
            <a:avLst/>
          </a:prstGeom>
        </p:spPr>
        <p:txBody>
          <a:bodyPr wrap="square">
            <a:spAutoFit/>
          </a:bodyPr>
          <a:lstStyle/>
          <a:p>
            <a:pPr marL="274320" indent="-274320">
              <a:lnSpc>
                <a:spcPct val="90000"/>
              </a:lnSpc>
              <a:spcBef>
                <a:spcPts val="600"/>
              </a:spcBef>
              <a:buFont typeface="Arial" pitchFamily="34" charset="0"/>
              <a:buChar char="•"/>
            </a:pPr>
            <a:r>
              <a:rPr lang="en-US" sz="2800" dirty="0"/>
              <a:t>The </a:t>
            </a:r>
            <a:r>
              <a:rPr lang="en-US" sz="2800" b="1" dirty="0">
                <a:solidFill>
                  <a:srgbClr val="FF0000"/>
                </a:solidFill>
              </a:rPr>
              <a:t>quantifiers </a:t>
            </a:r>
            <a:r>
              <a:rPr lang="en-US" altLang="en-US" sz="2800" b="1" dirty="0">
                <a:solidFill>
                  <a:srgbClr val="FF0000"/>
                </a:solidFill>
                <a:sym typeface="Symbol" pitchFamily="18" charset="2"/>
              </a:rPr>
              <a:t></a:t>
            </a:r>
            <a:r>
              <a:rPr lang="en-US" altLang="en-US" sz="2800" b="1" i="1" dirty="0">
                <a:solidFill>
                  <a:srgbClr val="FF0000"/>
                </a:solidFill>
                <a:sym typeface="Symbol" pitchFamily="18" charset="2"/>
              </a:rPr>
              <a:t> </a:t>
            </a:r>
            <a:r>
              <a:rPr lang="en-US" altLang="en-US" sz="2800" b="1" i="1" dirty="0">
                <a:solidFill>
                  <a:srgbClr val="FF0000"/>
                </a:solidFill>
              </a:rPr>
              <a:t> </a:t>
            </a:r>
            <a:r>
              <a:rPr lang="en-US" altLang="en-US" sz="2800" b="1" dirty="0">
                <a:solidFill>
                  <a:srgbClr val="FF0000"/>
                </a:solidFill>
              </a:rPr>
              <a:t>and</a:t>
            </a:r>
            <a:r>
              <a:rPr lang="en-US" altLang="en-US" sz="2800" b="1" i="1" dirty="0">
                <a:solidFill>
                  <a:srgbClr val="FF0000"/>
                </a:solidFill>
              </a:rPr>
              <a:t> </a:t>
            </a:r>
            <a:r>
              <a:rPr lang="en-US" altLang="en-US" sz="2800" b="1" dirty="0">
                <a:solidFill>
                  <a:srgbClr val="FF0000"/>
                </a:solidFill>
                <a:sym typeface="Symbol" pitchFamily="18" charset="2"/>
              </a:rPr>
              <a:t> have higher precedence than all logical operators </a:t>
            </a:r>
            <a:r>
              <a:rPr lang="en-US" altLang="en-US" sz="2800" dirty="0">
                <a:sym typeface="Symbol" pitchFamily="18" charset="2"/>
              </a:rPr>
              <a:t>from propositional calculus.</a:t>
            </a:r>
          </a:p>
          <a:p>
            <a:pPr marL="274320" indent="-274320">
              <a:lnSpc>
                <a:spcPct val="90000"/>
              </a:lnSpc>
              <a:spcBef>
                <a:spcPts val="600"/>
              </a:spcBef>
              <a:buFont typeface="Arial" pitchFamily="34" charset="0"/>
              <a:buChar char="•"/>
            </a:pPr>
            <a:r>
              <a:rPr lang="en-US" altLang="en-US" sz="2800" dirty="0">
                <a:sym typeface="Symbol" pitchFamily="18" charset="2"/>
              </a:rPr>
              <a:t>For example, </a:t>
            </a:r>
            <a:r>
              <a:rPr lang="en-US" altLang="en-US" sz="2800" b="1" dirty="0">
                <a:solidFill>
                  <a:srgbClr val="0000FF"/>
                </a:solidFill>
                <a:sym typeface="Symbol" pitchFamily="18" charset="2"/>
              </a:rPr>
              <a:t></a:t>
            </a:r>
            <a:r>
              <a:rPr lang="en-US" altLang="en-US" sz="2800" b="1" i="1" dirty="0">
                <a:solidFill>
                  <a:srgbClr val="0000FF"/>
                </a:solidFill>
              </a:rPr>
              <a:t>x </a:t>
            </a:r>
            <a:r>
              <a:rPr lang="en-US" altLang="en-US" sz="2800" b="1" i="1" dirty="0">
                <a:solidFill>
                  <a:srgbClr val="0000FF"/>
                </a:solidFill>
                <a:sym typeface="Symbol" pitchFamily="18" charset="2"/>
              </a:rPr>
              <a:t>P(x)</a:t>
            </a:r>
            <a:r>
              <a:rPr lang="en-US" altLang="zh-TW" sz="2800" b="1" dirty="0">
                <a:solidFill>
                  <a:srgbClr val="0000FF"/>
                </a:solidFill>
                <a:sym typeface="Symbol" pitchFamily="18" charset="2"/>
              </a:rPr>
              <a:t></a:t>
            </a:r>
            <a:r>
              <a:rPr lang="en-US" altLang="zh-TW" sz="2800" b="1" i="1" dirty="0">
                <a:solidFill>
                  <a:srgbClr val="0000FF"/>
                </a:solidFill>
                <a:sym typeface="Symbol" pitchFamily="18" charset="2"/>
              </a:rPr>
              <a:t>Q(x)</a:t>
            </a:r>
            <a:r>
              <a:rPr lang="en-US" altLang="en-US" sz="2800" dirty="0">
                <a:sym typeface="Symbol" pitchFamily="18" charset="2"/>
              </a:rPr>
              <a:t> is the disjunction of </a:t>
            </a:r>
          </a:p>
          <a:p>
            <a:pPr marL="274320" indent="-274320">
              <a:lnSpc>
                <a:spcPct val="90000"/>
              </a:lnSpc>
              <a:spcBef>
                <a:spcPts val="600"/>
              </a:spcBef>
            </a:pPr>
            <a:r>
              <a:rPr lang="en-US" altLang="en-US" sz="2800" dirty="0">
                <a:sym typeface="Symbol" pitchFamily="18" charset="2"/>
              </a:rPr>
              <a:t>	</a:t>
            </a:r>
            <a:r>
              <a:rPr lang="en-US" altLang="en-US" sz="2800" b="1" dirty="0">
                <a:solidFill>
                  <a:srgbClr val="0000FF"/>
                </a:solidFill>
                <a:sym typeface="Symbol" pitchFamily="18" charset="2"/>
              </a:rPr>
              <a:t></a:t>
            </a:r>
            <a:r>
              <a:rPr lang="en-US" altLang="en-US" sz="2800" b="1" i="1" dirty="0">
                <a:solidFill>
                  <a:srgbClr val="0000FF"/>
                </a:solidFill>
              </a:rPr>
              <a:t>x </a:t>
            </a:r>
            <a:r>
              <a:rPr lang="en-US" altLang="en-US" sz="2800" b="1" i="1" dirty="0">
                <a:solidFill>
                  <a:srgbClr val="0000FF"/>
                </a:solidFill>
                <a:sym typeface="Symbol" pitchFamily="18" charset="2"/>
              </a:rPr>
              <a:t>P(x)</a:t>
            </a:r>
            <a:r>
              <a:rPr lang="en-US" altLang="en-US" sz="2800" i="1" dirty="0">
                <a:sym typeface="Symbol" pitchFamily="18" charset="2"/>
              </a:rPr>
              <a:t> </a:t>
            </a:r>
            <a:r>
              <a:rPr lang="en-US" altLang="en-US" sz="2800" dirty="0">
                <a:sym typeface="Symbol" pitchFamily="18" charset="2"/>
              </a:rPr>
              <a:t>and </a:t>
            </a:r>
            <a:r>
              <a:rPr lang="en-US" altLang="zh-TW" sz="2800" b="1" i="1" dirty="0">
                <a:solidFill>
                  <a:srgbClr val="0000FF"/>
                </a:solidFill>
                <a:sym typeface="Symbol" pitchFamily="18" charset="2"/>
              </a:rPr>
              <a:t>Q(x)</a:t>
            </a:r>
            <a:r>
              <a:rPr lang="en-US" altLang="zh-TW" sz="2800" i="1" dirty="0">
                <a:solidFill>
                  <a:srgbClr val="0000FF"/>
                </a:solidFill>
                <a:sym typeface="Symbol" pitchFamily="18" charset="2"/>
              </a:rPr>
              <a:t>.</a:t>
            </a:r>
            <a:r>
              <a:rPr lang="en-US" altLang="zh-TW" sz="2800" dirty="0">
                <a:solidFill>
                  <a:srgbClr val="0000FF"/>
                </a:solidFill>
                <a:sym typeface="Symbol" pitchFamily="18" charset="2"/>
              </a:rPr>
              <a:t> </a:t>
            </a:r>
          </a:p>
          <a:p>
            <a:pPr marL="274320" indent="-274320">
              <a:lnSpc>
                <a:spcPct val="90000"/>
              </a:lnSpc>
              <a:spcBef>
                <a:spcPts val="600"/>
              </a:spcBef>
            </a:pPr>
            <a:r>
              <a:rPr lang="en-US" sz="2800" dirty="0">
                <a:sym typeface="Symbol" pitchFamily="18" charset="2"/>
              </a:rPr>
              <a:t>	In other words, </a:t>
            </a:r>
            <a:r>
              <a:rPr lang="en-US" sz="2800" dirty="0">
                <a:highlight>
                  <a:srgbClr val="00FFFF"/>
                </a:highlight>
                <a:sym typeface="Symbol" pitchFamily="18" charset="2"/>
              </a:rPr>
              <a:t>it means </a:t>
            </a:r>
            <a:r>
              <a:rPr lang="en-US" sz="2800" b="1" dirty="0">
                <a:solidFill>
                  <a:srgbClr val="0000FF"/>
                </a:solidFill>
                <a:highlight>
                  <a:srgbClr val="00FFFF"/>
                </a:highlight>
                <a:sym typeface="Symbol" pitchFamily="18" charset="2"/>
              </a:rPr>
              <a:t>(</a:t>
            </a:r>
            <a:r>
              <a:rPr lang="en-US" altLang="en-US" sz="2800" b="1" dirty="0">
                <a:solidFill>
                  <a:srgbClr val="0000FF"/>
                </a:solidFill>
                <a:highlight>
                  <a:srgbClr val="00FFFF"/>
                </a:highlight>
                <a:sym typeface="Symbol" pitchFamily="18" charset="2"/>
              </a:rPr>
              <a:t></a:t>
            </a:r>
            <a:r>
              <a:rPr lang="en-US" altLang="en-US" sz="2800" b="1" i="1" dirty="0">
                <a:solidFill>
                  <a:srgbClr val="0000FF"/>
                </a:solidFill>
                <a:highlight>
                  <a:srgbClr val="00FFFF"/>
                </a:highlight>
              </a:rPr>
              <a:t>x </a:t>
            </a:r>
            <a:r>
              <a:rPr lang="en-US" altLang="en-US" sz="2800" b="1" i="1" dirty="0">
                <a:solidFill>
                  <a:srgbClr val="0000FF"/>
                </a:solidFill>
                <a:highlight>
                  <a:srgbClr val="00FFFF"/>
                </a:highlight>
                <a:sym typeface="Symbol" pitchFamily="18" charset="2"/>
              </a:rPr>
              <a:t>P(x)</a:t>
            </a:r>
            <a:r>
              <a:rPr lang="en-US" altLang="en-US" sz="2800" b="1" dirty="0">
                <a:solidFill>
                  <a:srgbClr val="0000FF"/>
                </a:solidFill>
                <a:highlight>
                  <a:srgbClr val="00FFFF"/>
                </a:highlight>
                <a:sym typeface="Symbol" pitchFamily="18" charset="2"/>
              </a:rPr>
              <a:t>)</a:t>
            </a:r>
            <a:r>
              <a:rPr lang="en-US" altLang="zh-TW" sz="2800" b="1" dirty="0">
                <a:solidFill>
                  <a:srgbClr val="0000FF"/>
                </a:solidFill>
                <a:highlight>
                  <a:srgbClr val="00FFFF"/>
                </a:highlight>
                <a:sym typeface="Symbol" pitchFamily="18" charset="2"/>
              </a:rPr>
              <a:t>  </a:t>
            </a:r>
            <a:r>
              <a:rPr lang="en-US" altLang="zh-TW" sz="2800" b="1" i="1" dirty="0">
                <a:solidFill>
                  <a:srgbClr val="0000FF"/>
                </a:solidFill>
                <a:highlight>
                  <a:srgbClr val="00FFFF"/>
                </a:highlight>
                <a:sym typeface="Symbol" pitchFamily="18" charset="2"/>
              </a:rPr>
              <a:t>Q(x)</a:t>
            </a:r>
            <a:r>
              <a:rPr lang="en-US" altLang="zh-TW" sz="2800" i="1" dirty="0">
                <a:solidFill>
                  <a:srgbClr val="0000FF"/>
                </a:solidFill>
                <a:highlight>
                  <a:srgbClr val="00FFFF"/>
                </a:highlight>
                <a:sym typeface="Symbol" pitchFamily="18" charset="2"/>
              </a:rPr>
              <a:t> </a:t>
            </a:r>
            <a:r>
              <a:rPr lang="en-US" altLang="zh-TW" sz="2800" dirty="0">
                <a:solidFill>
                  <a:srgbClr val="FF0000"/>
                </a:solidFill>
                <a:highlight>
                  <a:srgbClr val="00FFFF"/>
                </a:highlight>
                <a:sym typeface="Symbol" pitchFamily="18" charset="2"/>
              </a:rPr>
              <a:t>rather than</a:t>
            </a:r>
          </a:p>
          <a:p>
            <a:pPr marL="274320" indent="-274320">
              <a:lnSpc>
                <a:spcPct val="90000"/>
              </a:lnSpc>
              <a:spcBef>
                <a:spcPts val="600"/>
              </a:spcBef>
            </a:pPr>
            <a:r>
              <a:rPr lang="en-US" altLang="en-US" sz="2800" dirty="0">
                <a:highlight>
                  <a:srgbClr val="00FFFF"/>
                </a:highlight>
                <a:sym typeface="Symbol" pitchFamily="18" charset="2"/>
              </a:rPr>
              <a:t>	</a:t>
            </a:r>
            <a:r>
              <a:rPr lang="en-US" altLang="en-US" sz="2800" b="1" dirty="0">
                <a:solidFill>
                  <a:srgbClr val="FF0000"/>
                </a:solidFill>
                <a:highlight>
                  <a:srgbClr val="00FFFF"/>
                </a:highlight>
                <a:sym typeface="Symbol" pitchFamily="18" charset="2"/>
              </a:rPr>
              <a:t></a:t>
            </a:r>
            <a:r>
              <a:rPr lang="en-US" altLang="en-US" sz="2800" b="1" i="1" dirty="0">
                <a:solidFill>
                  <a:srgbClr val="FF0000"/>
                </a:solidFill>
                <a:highlight>
                  <a:srgbClr val="00FFFF"/>
                </a:highlight>
              </a:rPr>
              <a:t>x </a:t>
            </a:r>
            <a:r>
              <a:rPr lang="en-US" altLang="en-US" sz="2800" b="1" dirty="0">
                <a:solidFill>
                  <a:srgbClr val="FF0000"/>
                </a:solidFill>
                <a:highlight>
                  <a:srgbClr val="00FFFF"/>
                </a:highlight>
              </a:rPr>
              <a:t>( </a:t>
            </a:r>
            <a:r>
              <a:rPr lang="en-US" altLang="en-US" sz="2800" b="1" i="1" dirty="0">
                <a:solidFill>
                  <a:srgbClr val="FF0000"/>
                </a:solidFill>
                <a:highlight>
                  <a:srgbClr val="00FFFF"/>
                </a:highlight>
                <a:sym typeface="Symbol" pitchFamily="18" charset="2"/>
              </a:rPr>
              <a:t>P(x)</a:t>
            </a:r>
            <a:r>
              <a:rPr lang="en-US" altLang="zh-TW" sz="2800" b="1" dirty="0">
                <a:solidFill>
                  <a:srgbClr val="FF0000"/>
                </a:solidFill>
                <a:highlight>
                  <a:srgbClr val="00FFFF"/>
                </a:highlight>
                <a:sym typeface="Symbol" pitchFamily="18" charset="2"/>
              </a:rPr>
              <a:t>  </a:t>
            </a:r>
            <a:r>
              <a:rPr lang="en-US" altLang="zh-TW" sz="2800" b="1" i="1" dirty="0">
                <a:solidFill>
                  <a:srgbClr val="FF0000"/>
                </a:solidFill>
                <a:highlight>
                  <a:srgbClr val="00FFFF"/>
                </a:highlight>
                <a:sym typeface="Symbol" pitchFamily="18" charset="2"/>
              </a:rPr>
              <a:t>Q(x) </a:t>
            </a:r>
            <a:r>
              <a:rPr lang="en-US" altLang="zh-TW" sz="2800" b="1" dirty="0">
                <a:solidFill>
                  <a:srgbClr val="FF0000"/>
                </a:solidFill>
                <a:highlight>
                  <a:srgbClr val="00FFFF"/>
                </a:highlight>
                <a:sym typeface="Symbol" pitchFamily="18" charset="2"/>
              </a:rPr>
              <a:t>)</a:t>
            </a:r>
          </a:p>
          <a:p>
            <a:pPr marL="274320" indent="-274320">
              <a:lnSpc>
                <a:spcPct val="90000"/>
              </a:lnSpc>
              <a:spcBef>
                <a:spcPts val="600"/>
              </a:spcBef>
            </a:pPr>
            <a:r>
              <a:rPr lang="en-US" altLang="en-US" sz="2800" dirty="0">
                <a:sym typeface="Symbol" pitchFamily="18" charset="2"/>
              </a:rPr>
              <a:t> </a:t>
            </a:r>
            <a:endParaRPr lang="en-US" sz="2800" dirty="0"/>
          </a:p>
        </p:txBody>
      </p:sp>
      <p:sp>
        <p:nvSpPr>
          <p:cNvPr id="5" name="Slide Number Placeholder 4"/>
          <p:cNvSpPr>
            <a:spLocks noGrp="1"/>
          </p:cNvSpPr>
          <p:nvPr>
            <p:ph type="sldNum" sz="quarter" idx="12"/>
          </p:nvPr>
        </p:nvSpPr>
        <p:spPr/>
        <p:txBody>
          <a:bodyPr/>
          <a:lstStyle/>
          <a:p>
            <a:fld id="{5FD889E0-CAB2-4699-909D-B9A88D47ACBE}" type="slidenum">
              <a:rPr lang="en-US" smtClean="0"/>
              <a:pPr/>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53101" y="585485"/>
            <a:ext cx="7808976" cy="1088136"/>
          </a:xfrm>
        </p:spPr>
        <p:txBody>
          <a:bodyPr>
            <a:normAutofit fontScale="90000"/>
          </a:bodyPr>
          <a:lstStyle/>
          <a:p>
            <a:r>
              <a:rPr lang="en-US" sz="4000" dirty="0"/>
              <a:t>Negating Quantified Expressions:</a:t>
            </a:r>
            <a:br>
              <a:rPr lang="en-US" sz="4000" dirty="0"/>
            </a:br>
            <a:r>
              <a:rPr lang="en-US" altLang="en-US" sz="4000" dirty="0">
                <a:latin typeface="+mn-lt"/>
              </a:rPr>
              <a:t>De Morgan’s Laws for Quantifiers</a:t>
            </a:r>
            <a:endParaRPr lang="en-US" sz="4000" dirty="0">
              <a:latin typeface="+mn-lt"/>
            </a:endParaRPr>
          </a:p>
        </p:txBody>
      </p:sp>
      <p:sp>
        <p:nvSpPr>
          <p:cNvPr id="4" name="Rectangle 3"/>
          <p:cNvSpPr/>
          <p:nvPr/>
        </p:nvSpPr>
        <p:spPr>
          <a:xfrm>
            <a:off x="353101" y="2126993"/>
            <a:ext cx="8627126" cy="4093428"/>
          </a:xfrm>
          <a:prstGeom prst="rect">
            <a:avLst/>
          </a:prstGeom>
        </p:spPr>
        <p:txBody>
          <a:bodyPr wrap="square">
            <a:spAutoFit/>
          </a:bodyPr>
          <a:lstStyle/>
          <a:p>
            <a:pPr marL="274320" indent="-274320">
              <a:spcBef>
                <a:spcPts val="600"/>
              </a:spcBef>
              <a:buFont typeface="Arial" pitchFamily="34" charset="0"/>
              <a:buChar char="•"/>
            </a:pPr>
            <a:r>
              <a:rPr lang="en-US" altLang="en-US" sz="2000" dirty="0">
                <a:solidFill>
                  <a:srgbClr val="FF0000"/>
                </a:solidFill>
              </a:rPr>
              <a:t>The rules for negations for quantifiers are called De Morgan’s laws for quantifiers</a:t>
            </a:r>
          </a:p>
          <a:p>
            <a:pPr marL="274320" indent="-274320">
              <a:spcBef>
                <a:spcPts val="600"/>
              </a:spcBef>
              <a:buFont typeface="Arial" pitchFamily="34" charset="0"/>
              <a:buChar char="•"/>
            </a:pPr>
            <a:r>
              <a:rPr lang="en-US" altLang="en-US" sz="2000" dirty="0">
                <a:solidFill>
                  <a:srgbClr val="0000FF"/>
                </a:solidFill>
              </a:rPr>
              <a:t>Recall De Morgan’s identities/Laws:</a:t>
            </a:r>
            <a:endParaRPr lang="en-US" altLang="en-US" sz="2000" dirty="0">
              <a:solidFill>
                <a:srgbClr val="428C46"/>
              </a:solidFill>
            </a:endParaRPr>
          </a:p>
          <a:p>
            <a:pPr marL="731520" lvl="1" indent="-274320">
              <a:spcBef>
                <a:spcPts val="600"/>
              </a:spcBef>
              <a:buFont typeface="Arial" pitchFamily="34" charset="0"/>
              <a:buChar char="•"/>
            </a:pPr>
            <a:r>
              <a:rPr lang="en-US" altLang="en-US" sz="2000" dirty="0">
                <a:solidFill>
                  <a:srgbClr val="0000FF"/>
                </a:solidFill>
              </a:rPr>
              <a:t>Negation of Conjunction:</a:t>
            </a:r>
            <a:r>
              <a:rPr lang="en-US" altLang="en-US" sz="2000" dirty="0">
                <a:solidFill>
                  <a:srgbClr val="DF3BDB"/>
                </a:solidFill>
              </a:rPr>
              <a:t> </a:t>
            </a:r>
            <a:r>
              <a:rPr lang="en-US" altLang="en-US" sz="2000" b="1" dirty="0">
                <a:sym typeface="Symbol" pitchFamily="18" charset="2"/>
              </a:rPr>
              <a:t>(</a:t>
            </a:r>
            <a:r>
              <a:rPr lang="en-US" altLang="en-US" sz="2000" b="1" i="1" dirty="0"/>
              <a:t>p</a:t>
            </a:r>
            <a:r>
              <a:rPr lang="en-US" altLang="en-US" sz="2000" b="1" baseline="-25000" dirty="0"/>
              <a:t>1</a:t>
            </a:r>
            <a:r>
              <a:rPr lang="en-US" altLang="en-US" sz="2000" b="1" dirty="0">
                <a:sym typeface="Symbol" pitchFamily="18" charset="2"/>
              </a:rPr>
              <a:t></a:t>
            </a:r>
            <a:r>
              <a:rPr lang="en-US" altLang="en-US" sz="2000" b="1" i="1" dirty="0"/>
              <a:t>p</a:t>
            </a:r>
            <a:r>
              <a:rPr lang="en-US" altLang="en-US" sz="2000" b="1" baseline="-25000" dirty="0"/>
              <a:t>2</a:t>
            </a:r>
            <a:r>
              <a:rPr lang="en-US" altLang="en-US" sz="2000" b="1" dirty="0">
                <a:sym typeface="Symbol" pitchFamily="18" charset="2"/>
              </a:rPr>
              <a:t>…</a:t>
            </a:r>
            <a:r>
              <a:rPr lang="en-US" altLang="en-US" sz="2000" b="1" i="1" dirty="0" err="1"/>
              <a:t>p</a:t>
            </a:r>
            <a:r>
              <a:rPr lang="en-US" altLang="en-US" sz="2000" b="1" i="1" baseline="-25000" dirty="0" err="1"/>
              <a:t>n</a:t>
            </a:r>
            <a:r>
              <a:rPr lang="en-US" altLang="en-US" sz="2000" b="1" dirty="0">
                <a:sym typeface="Symbol" pitchFamily="18" charset="2"/>
              </a:rPr>
              <a:t>) </a:t>
            </a:r>
            <a:r>
              <a:rPr lang="en-US" altLang="zh-TW" sz="2000" b="1" dirty="0">
                <a:sym typeface="Symbol" pitchFamily="18" charset="2"/>
              </a:rPr>
              <a:t> </a:t>
            </a:r>
            <a:r>
              <a:rPr lang="en-US" altLang="en-US" sz="2000" b="1" dirty="0">
                <a:sym typeface="Symbol" pitchFamily="18" charset="2"/>
              </a:rPr>
              <a:t> (</a:t>
            </a:r>
            <a:r>
              <a:rPr lang="en-US" altLang="en-US" sz="2000" b="1" i="1" dirty="0"/>
              <a:t>p</a:t>
            </a:r>
            <a:r>
              <a:rPr lang="en-US" altLang="en-US" sz="2000" b="1" baseline="-25000" dirty="0"/>
              <a:t>1</a:t>
            </a:r>
            <a:r>
              <a:rPr lang="en-US" altLang="en-US" sz="2000" b="1" dirty="0">
                <a:sym typeface="Symbol" pitchFamily="18" charset="2"/>
              </a:rPr>
              <a:t></a:t>
            </a:r>
            <a:r>
              <a:rPr lang="en-US" altLang="en-US" sz="2000" b="1" i="1" dirty="0"/>
              <a:t>p</a:t>
            </a:r>
            <a:r>
              <a:rPr lang="en-US" altLang="en-US" sz="2000" b="1" baseline="-25000" dirty="0"/>
              <a:t>2</a:t>
            </a:r>
            <a:r>
              <a:rPr lang="en-US" altLang="en-US" sz="2000" b="1" dirty="0">
                <a:sym typeface="Symbol" pitchFamily="18" charset="2"/>
              </a:rPr>
              <a:t>…</a:t>
            </a:r>
            <a:r>
              <a:rPr lang="en-US" altLang="en-US" sz="2000" b="1" i="1" dirty="0" err="1"/>
              <a:t>p</a:t>
            </a:r>
            <a:r>
              <a:rPr lang="en-US" altLang="en-US" sz="2000" b="1" i="1" baseline="-25000" dirty="0" err="1"/>
              <a:t>n</a:t>
            </a:r>
            <a:r>
              <a:rPr lang="en-US" altLang="en-US" sz="2000" b="1" dirty="0">
                <a:sym typeface="Symbol" pitchFamily="18" charset="2"/>
              </a:rPr>
              <a:t>)</a:t>
            </a:r>
          </a:p>
          <a:p>
            <a:pPr marL="731520" lvl="1" indent="-274320">
              <a:spcBef>
                <a:spcPts val="600"/>
              </a:spcBef>
              <a:buFont typeface="Arial" pitchFamily="34" charset="0"/>
              <a:buChar char="•"/>
            </a:pPr>
            <a:r>
              <a:rPr lang="en-US" altLang="en-US" sz="2000" dirty="0">
                <a:solidFill>
                  <a:srgbClr val="0000FF"/>
                </a:solidFill>
              </a:rPr>
              <a:t>Negation of Disjunction:</a:t>
            </a:r>
            <a:r>
              <a:rPr lang="en-US" altLang="en-US" sz="2000" dirty="0">
                <a:solidFill>
                  <a:srgbClr val="DF3BDB"/>
                </a:solidFill>
              </a:rPr>
              <a:t>  </a:t>
            </a:r>
            <a:r>
              <a:rPr lang="en-US" altLang="en-US" sz="2000" b="1" dirty="0">
                <a:sym typeface="Symbol" pitchFamily="18" charset="2"/>
              </a:rPr>
              <a:t>(</a:t>
            </a:r>
            <a:r>
              <a:rPr lang="en-US" altLang="en-US" sz="2000" b="1" i="1" dirty="0"/>
              <a:t>p</a:t>
            </a:r>
            <a:r>
              <a:rPr lang="en-US" altLang="en-US" sz="2000" b="1" baseline="-25000" dirty="0"/>
              <a:t>1</a:t>
            </a:r>
            <a:r>
              <a:rPr lang="en-US" altLang="en-US" sz="2000" b="1" dirty="0">
                <a:sym typeface="Symbol" pitchFamily="18" charset="2"/>
              </a:rPr>
              <a:t></a:t>
            </a:r>
            <a:r>
              <a:rPr lang="en-US" altLang="en-US" sz="2000" b="1" i="1" dirty="0"/>
              <a:t>p</a:t>
            </a:r>
            <a:r>
              <a:rPr lang="en-US" altLang="en-US" sz="2000" b="1" baseline="-25000" dirty="0"/>
              <a:t>2</a:t>
            </a:r>
            <a:r>
              <a:rPr lang="en-US" altLang="en-US" sz="2000" b="1" dirty="0">
                <a:sym typeface="Symbol" pitchFamily="18" charset="2"/>
              </a:rPr>
              <a:t>…</a:t>
            </a:r>
            <a:r>
              <a:rPr lang="en-US" altLang="en-US" sz="2000" b="1" i="1" dirty="0" err="1"/>
              <a:t>p</a:t>
            </a:r>
            <a:r>
              <a:rPr lang="en-US" altLang="en-US" sz="2000" b="1" i="1" baseline="-25000" dirty="0" err="1"/>
              <a:t>n</a:t>
            </a:r>
            <a:r>
              <a:rPr lang="en-US" altLang="en-US" sz="2000" b="1" dirty="0">
                <a:sym typeface="Symbol" pitchFamily="18" charset="2"/>
              </a:rPr>
              <a:t>) </a:t>
            </a:r>
            <a:r>
              <a:rPr lang="en-US" altLang="zh-TW" sz="2000" b="1" dirty="0">
                <a:sym typeface="Symbol" pitchFamily="18" charset="2"/>
              </a:rPr>
              <a:t> </a:t>
            </a:r>
            <a:r>
              <a:rPr lang="en-US" altLang="en-US" sz="2000" b="1" dirty="0">
                <a:sym typeface="Symbol" pitchFamily="18" charset="2"/>
              </a:rPr>
              <a:t> (</a:t>
            </a:r>
            <a:r>
              <a:rPr lang="en-US" altLang="en-US" sz="2000" b="1" i="1" dirty="0"/>
              <a:t>p</a:t>
            </a:r>
            <a:r>
              <a:rPr lang="en-US" altLang="en-US" sz="2000" b="1" baseline="-25000" dirty="0"/>
              <a:t>1</a:t>
            </a:r>
            <a:r>
              <a:rPr lang="en-US" altLang="en-US" sz="2000" b="1" dirty="0">
                <a:sym typeface="Symbol" pitchFamily="18" charset="2"/>
              </a:rPr>
              <a:t></a:t>
            </a:r>
            <a:r>
              <a:rPr lang="en-US" altLang="en-US" sz="2000" b="1" i="1" dirty="0"/>
              <a:t>p</a:t>
            </a:r>
            <a:r>
              <a:rPr lang="en-US" altLang="en-US" sz="2000" b="1" baseline="-25000" dirty="0"/>
              <a:t>2</a:t>
            </a:r>
            <a:r>
              <a:rPr lang="en-US" altLang="en-US" sz="2000" b="1" dirty="0">
                <a:sym typeface="Symbol" pitchFamily="18" charset="2"/>
              </a:rPr>
              <a:t>…</a:t>
            </a:r>
            <a:r>
              <a:rPr lang="en-US" altLang="en-US" sz="2000" b="1" i="1" dirty="0" err="1"/>
              <a:t>p</a:t>
            </a:r>
            <a:r>
              <a:rPr lang="en-US" altLang="en-US" sz="2000" b="1" i="1" baseline="-25000" dirty="0" err="1"/>
              <a:t>n</a:t>
            </a:r>
            <a:r>
              <a:rPr lang="en-US" altLang="en-US" sz="2000" b="1" dirty="0">
                <a:sym typeface="Symbol" pitchFamily="18" charset="2"/>
              </a:rPr>
              <a:t>)</a:t>
            </a:r>
          </a:p>
          <a:p>
            <a:pPr marL="274320" lvl="1" indent="-274320">
              <a:spcBef>
                <a:spcPts val="600"/>
              </a:spcBef>
              <a:buFont typeface="Arial" pitchFamily="34" charset="0"/>
              <a:buChar char="•"/>
            </a:pPr>
            <a:endParaRPr lang="en-US" altLang="en-US" sz="2000" b="1" dirty="0">
              <a:solidFill>
                <a:srgbClr val="A4AB21"/>
              </a:solidFill>
              <a:sym typeface="Symbol" pitchFamily="18" charset="2"/>
            </a:endParaRPr>
          </a:p>
          <a:p>
            <a:pPr marL="274320" indent="-274320">
              <a:spcBef>
                <a:spcPts val="600"/>
              </a:spcBef>
              <a:buFont typeface="Wingdings" pitchFamily="2" charset="2"/>
              <a:buChar char="§"/>
            </a:pPr>
            <a:r>
              <a:rPr lang="en-US" altLang="en-US" sz="2000" dirty="0">
                <a:solidFill>
                  <a:srgbClr val="FF0000"/>
                </a:solidFill>
              </a:rPr>
              <a:t>Since the quantifiers are the same as taking a bunch of </a:t>
            </a:r>
            <a:r>
              <a:rPr lang="en-US" altLang="en-US" sz="2000" b="1" dirty="0">
                <a:solidFill>
                  <a:srgbClr val="FF0000"/>
                </a:solidFill>
              </a:rPr>
              <a:t>AND</a:t>
            </a:r>
            <a:r>
              <a:rPr lang="en-US" altLang="en-US" sz="2000" dirty="0">
                <a:solidFill>
                  <a:srgbClr val="FF0000"/>
                </a:solidFill>
              </a:rPr>
              <a:t>’s (</a:t>
            </a:r>
            <a:r>
              <a:rPr lang="en-US" altLang="en-US" sz="2000" b="1" dirty="0">
                <a:solidFill>
                  <a:srgbClr val="FF0000"/>
                </a:solidFill>
                <a:sym typeface="Symbol" pitchFamily="18" charset="2"/>
              </a:rPr>
              <a:t></a:t>
            </a:r>
            <a:r>
              <a:rPr lang="en-US" altLang="en-US" sz="2000" dirty="0">
                <a:solidFill>
                  <a:srgbClr val="FF0000"/>
                </a:solidFill>
                <a:sym typeface="Symbol" pitchFamily="18" charset="2"/>
              </a:rPr>
              <a:t>) or </a:t>
            </a:r>
            <a:r>
              <a:rPr lang="en-US" altLang="en-US" sz="2000" b="1" dirty="0">
                <a:solidFill>
                  <a:srgbClr val="FF0000"/>
                </a:solidFill>
                <a:sym typeface="Symbol" pitchFamily="18" charset="2"/>
              </a:rPr>
              <a:t>OR</a:t>
            </a:r>
            <a:r>
              <a:rPr lang="en-US" altLang="en-US" sz="2000" dirty="0">
                <a:solidFill>
                  <a:srgbClr val="FF0000"/>
                </a:solidFill>
                <a:sym typeface="Symbol" pitchFamily="18" charset="2"/>
              </a:rPr>
              <a:t>’s (</a:t>
            </a:r>
            <a:r>
              <a:rPr lang="en-US" altLang="en-US" sz="2000" b="1" dirty="0">
                <a:solidFill>
                  <a:srgbClr val="FF0000"/>
                </a:solidFill>
                <a:sym typeface="Symbol" pitchFamily="18" charset="2"/>
              </a:rPr>
              <a:t></a:t>
            </a:r>
            <a:r>
              <a:rPr lang="en-US" altLang="en-US" sz="2000" dirty="0">
                <a:solidFill>
                  <a:srgbClr val="FF0000"/>
                </a:solidFill>
                <a:sym typeface="Symbol" pitchFamily="18" charset="2"/>
              </a:rPr>
              <a:t>), we have:</a:t>
            </a:r>
            <a:endParaRPr lang="en-US" altLang="en-US" sz="2000" dirty="0">
              <a:solidFill>
                <a:srgbClr val="428C46"/>
              </a:solidFill>
              <a:sym typeface="Symbol" pitchFamily="18" charset="2"/>
            </a:endParaRPr>
          </a:p>
          <a:p>
            <a:pPr marL="274320" indent="-274320">
              <a:spcBef>
                <a:spcPts val="600"/>
              </a:spcBef>
              <a:buFont typeface="Arial" pitchFamily="34" charset="0"/>
              <a:buChar char="•"/>
            </a:pPr>
            <a:r>
              <a:rPr lang="en-US" altLang="en-US" sz="2000" dirty="0">
                <a:solidFill>
                  <a:srgbClr val="0000FF"/>
                </a:solidFill>
              </a:rPr>
              <a:t>Universal Negation:  </a:t>
            </a:r>
            <a:r>
              <a:rPr lang="en-US" altLang="en-US" sz="2000" b="1" dirty="0">
                <a:sym typeface="Symbol" pitchFamily="18" charset="2"/>
              </a:rPr>
              <a:t> </a:t>
            </a:r>
            <a:r>
              <a:rPr lang="en-US" altLang="en-US" sz="2000" b="1" i="1" dirty="0">
                <a:sym typeface="Symbol" pitchFamily="18" charset="2"/>
              </a:rPr>
              <a:t>x</a:t>
            </a:r>
            <a:r>
              <a:rPr lang="en-US" altLang="en-US" sz="2000" b="1" dirty="0">
                <a:sym typeface="Symbol" pitchFamily="18" charset="2"/>
              </a:rPr>
              <a:t> </a:t>
            </a:r>
            <a:r>
              <a:rPr lang="en-US" altLang="en-US" sz="2000" b="1" dirty="0"/>
              <a:t>P(</a:t>
            </a:r>
            <a:r>
              <a:rPr lang="en-US" altLang="en-US" sz="2000" b="1" i="1" dirty="0"/>
              <a:t>x</a:t>
            </a:r>
            <a:r>
              <a:rPr lang="en-US" altLang="en-US" sz="2000" b="1" dirty="0"/>
              <a:t> ) </a:t>
            </a:r>
            <a:r>
              <a:rPr lang="en-US" altLang="zh-TW" sz="2000" b="1" dirty="0">
                <a:sym typeface="Symbol" pitchFamily="18" charset="2"/>
              </a:rPr>
              <a:t> </a:t>
            </a:r>
            <a:r>
              <a:rPr lang="en-US" altLang="en-US" sz="2000" b="1" dirty="0">
                <a:sym typeface="Symbol" pitchFamily="18" charset="2"/>
              </a:rPr>
              <a:t> </a:t>
            </a:r>
            <a:r>
              <a:rPr lang="en-US" altLang="en-US" sz="2000" b="1" i="1" dirty="0">
                <a:sym typeface="Symbol" pitchFamily="18" charset="2"/>
              </a:rPr>
              <a:t>x</a:t>
            </a:r>
            <a:r>
              <a:rPr lang="en-US" altLang="en-US" sz="2000" b="1" dirty="0">
                <a:sym typeface="Symbol" pitchFamily="18" charset="2"/>
              </a:rPr>
              <a:t>  </a:t>
            </a:r>
            <a:r>
              <a:rPr lang="en-US" altLang="en-US" sz="2000" b="1" dirty="0"/>
              <a:t>P(</a:t>
            </a:r>
            <a:r>
              <a:rPr lang="en-US" altLang="en-US" sz="2000" b="1" i="1" dirty="0"/>
              <a:t>x</a:t>
            </a:r>
            <a:r>
              <a:rPr lang="en-US" altLang="en-US" sz="2000" b="1" dirty="0"/>
              <a:t> )</a:t>
            </a:r>
          </a:p>
          <a:p>
            <a:pPr marL="274320" lvl="1" indent="-274320" algn="ctr">
              <a:spcBef>
                <a:spcPts val="600"/>
              </a:spcBef>
              <a:buFont typeface="Symbol" pitchFamily="18" charset="2"/>
              <a:buChar char="Ø"/>
            </a:pPr>
            <a:endParaRPr lang="en-US" altLang="en-US" sz="2000" b="1" dirty="0">
              <a:sym typeface="Symbol" pitchFamily="18" charset="2"/>
            </a:endParaRPr>
          </a:p>
          <a:p>
            <a:pPr marL="274320" indent="-274320">
              <a:spcBef>
                <a:spcPts val="600"/>
              </a:spcBef>
              <a:buFont typeface="Arial" pitchFamily="34" charset="0"/>
              <a:buChar char="•"/>
            </a:pPr>
            <a:r>
              <a:rPr lang="en-US" altLang="en-US" sz="2000" dirty="0">
                <a:solidFill>
                  <a:srgbClr val="0000FF"/>
                </a:solidFill>
              </a:rPr>
              <a:t>Existential Negation:  </a:t>
            </a:r>
            <a:r>
              <a:rPr lang="en-US" altLang="en-US" sz="2000" b="1" dirty="0">
                <a:sym typeface="Symbol" pitchFamily="18" charset="2"/>
              </a:rPr>
              <a:t> </a:t>
            </a:r>
            <a:r>
              <a:rPr lang="en-US" altLang="en-US" sz="2000" b="1" i="1" dirty="0">
                <a:sym typeface="Symbol" pitchFamily="18" charset="2"/>
              </a:rPr>
              <a:t>x</a:t>
            </a:r>
            <a:r>
              <a:rPr lang="en-US" altLang="en-US" sz="2000" b="1" dirty="0">
                <a:sym typeface="Symbol" pitchFamily="18" charset="2"/>
              </a:rPr>
              <a:t> </a:t>
            </a:r>
            <a:r>
              <a:rPr lang="en-US" altLang="en-US" sz="2000" b="1" dirty="0"/>
              <a:t>P(</a:t>
            </a:r>
            <a:r>
              <a:rPr lang="en-US" altLang="en-US" sz="2000" b="1" i="1" dirty="0"/>
              <a:t>x</a:t>
            </a:r>
            <a:r>
              <a:rPr lang="en-US" altLang="en-US" sz="2000" b="1" dirty="0"/>
              <a:t> ) </a:t>
            </a:r>
            <a:r>
              <a:rPr lang="en-US" altLang="zh-TW" sz="2000" b="1" dirty="0">
                <a:sym typeface="Symbol" pitchFamily="18" charset="2"/>
              </a:rPr>
              <a:t> </a:t>
            </a:r>
            <a:r>
              <a:rPr lang="en-US" altLang="en-US" sz="2000" b="1" dirty="0">
                <a:sym typeface="Symbol" pitchFamily="18" charset="2"/>
              </a:rPr>
              <a:t> </a:t>
            </a:r>
            <a:r>
              <a:rPr lang="en-US" altLang="en-US" sz="2000" b="1" i="1" dirty="0">
                <a:sym typeface="Symbol" pitchFamily="18" charset="2"/>
              </a:rPr>
              <a:t>x</a:t>
            </a:r>
            <a:r>
              <a:rPr lang="en-US" altLang="en-US" sz="2000" b="1" dirty="0">
                <a:sym typeface="Symbol" pitchFamily="18" charset="2"/>
              </a:rPr>
              <a:t>  </a:t>
            </a:r>
            <a:r>
              <a:rPr lang="en-US" altLang="en-US" sz="2000" b="1" dirty="0"/>
              <a:t>P(</a:t>
            </a:r>
            <a:r>
              <a:rPr lang="en-US" altLang="en-US" sz="2000" b="1" i="1" dirty="0"/>
              <a:t>x</a:t>
            </a:r>
            <a:r>
              <a:rPr lang="en-US" altLang="en-US" sz="2000" b="1" dirty="0"/>
              <a:t> ) </a:t>
            </a:r>
            <a:endParaRPr lang="en-US" sz="2000" b="1" dirty="0"/>
          </a:p>
        </p:txBody>
      </p:sp>
      <p:sp>
        <p:nvSpPr>
          <p:cNvPr id="5" name="Slide Number Placeholder 4"/>
          <p:cNvSpPr>
            <a:spLocks noGrp="1"/>
          </p:cNvSpPr>
          <p:nvPr>
            <p:ph type="sldNum" sz="quarter" idx="12"/>
          </p:nvPr>
        </p:nvSpPr>
        <p:spPr/>
        <p:txBody>
          <a:bodyPr/>
          <a:lstStyle/>
          <a:p>
            <a:fld id="{5FD889E0-CAB2-4699-909D-B9A88D47ACBE}" type="slidenum">
              <a:rPr lang="en-US" smtClean="0"/>
              <a:pPr/>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2157" y="449004"/>
            <a:ext cx="7808976" cy="1366147"/>
          </a:xfrm>
        </p:spPr>
        <p:txBody>
          <a:bodyPr>
            <a:noAutofit/>
          </a:bodyPr>
          <a:lstStyle/>
          <a:p>
            <a:r>
              <a:rPr lang="en-US" altLang="en-US" sz="3600" dirty="0">
                <a:latin typeface="+mn-lt"/>
              </a:rPr>
              <a:t>Translating </a:t>
            </a:r>
            <a:r>
              <a:rPr lang="en-US" altLang="en-US" sz="3600" i="1" dirty="0">
                <a:latin typeface="+mn-lt"/>
              </a:rPr>
              <a:t>from</a:t>
            </a:r>
            <a:r>
              <a:rPr lang="en-US" altLang="en-US" sz="3600" dirty="0">
                <a:latin typeface="+mn-lt"/>
              </a:rPr>
              <a:t> </a:t>
            </a:r>
            <a:r>
              <a:rPr lang="en-US" altLang="en-US" sz="3600" b="1" dirty="0">
                <a:latin typeface="+mn-lt"/>
              </a:rPr>
              <a:t>English</a:t>
            </a:r>
            <a:r>
              <a:rPr lang="en-US" altLang="en-US" sz="3600" dirty="0">
                <a:latin typeface="+mn-lt"/>
              </a:rPr>
              <a:t> </a:t>
            </a:r>
            <a:r>
              <a:rPr lang="en-US" altLang="en-US" sz="3600" i="1" dirty="0">
                <a:latin typeface="+mn-lt"/>
              </a:rPr>
              <a:t>into</a:t>
            </a:r>
            <a:r>
              <a:rPr lang="en-US" altLang="en-US" sz="3600" dirty="0">
                <a:latin typeface="+mn-lt"/>
              </a:rPr>
              <a:t> </a:t>
            </a:r>
            <a:r>
              <a:rPr lang="en-US" altLang="en-US" sz="3600" b="1" dirty="0">
                <a:latin typeface="+mn-lt"/>
              </a:rPr>
              <a:t>Logical</a:t>
            </a:r>
            <a:r>
              <a:rPr lang="en-US" altLang="en-US" sz="3600" dirty="0">
                <a:latin typeface="+mn-lt"/>
              </a:rPr>
              <a:t> </a:t>
            </a:r>
            <a:r>
              <a:rPr lang="en-US" altLang="en-US" sz="3600" b="1" dirty="0">
                <a:latin typeface="+mn-lt"/>
              </a:rPr>
              <a:t>Expressions</a:t>
            </a:r>
            <a:endParaRPr lang="en-US" sz="3600" dirty="0">
              <a:latin typeface="+mn-lt"/>
            </a:endParaRPr>
          </a:p>
        </p:txBody>
      </p:sp>
      <p:sp>
        <p:nvSpPr>
          <p:cNvPr id="4" name="Rectangle 3"/>
          <p:cNvSpPr/>
          <p:nvPr/>
        </p:nvSpPr>
        <p:spPr>
          <a:xfrm>
            <a:off x="177428" y="2131812"/>
            <a:ext cx="8693624" cy="4093428"/>
          </a:xfrm>
          <a:prstGeom prst="rect">
            <a:avLst/>
          </a:prstGeom>
        </p:spPr>
        <p:txBody>
          <a:bodyPr wrap="square">
            <a:spAutoFit/>
          </a:bodyPr>
          <a:lstStyle/>
          <a:p>
            <a:r>
              <a:rPr lang="en-US" altLang="en-US" sz="2000" b="1" dirty="0">
                <a:solidFill>
                  <a:srgbClr val="FF0000"/>
                </a:solidFill>
              </a:rPr>
              <a:t>Example 23 (p.40)</a:t>
            </a:r>
            <a:r>
              <a:rPr lang="en-US" altLang="en-US" sz="2000" dirty="0">
                <a:solidFill>
                  <a:srgbClr val="FF0000"/>
                </a:solidFill>
              </a:rPr>
              <a:t>: Express the statement </a:t>
            </a:r>
            <a:r>
              <a:rPr lang="en-US" altLang="en-US" sz="2000" b="1" dirty="0">
                <a:solidFill>
                  <a:srgbClr val="FF0000"/>
                </a:solidFill>
              </a:rPr>
              <a:t>“Every student in the class has studied calculus” </a:t>
            </a:r>
            <a:r>
              <a:rPr lang="en-US" altLang="en-US" sz="2000" dirty="0">
                <a:solidFill>
                  <a:srgbClr val="FF0000"/>
                </a:solidFill>
              </a:rPr>
              <a:t>using predicates and quantifiers.</a:t>
            </a:r>
          </a:p>
          <a:p>
            <a:endParaRPr lang="en-US" altLang="en-US" sz="2000" dirty="0">
              <a:solidFill>
                <a:srgbClr val="FF0000"/>
              </a:solidFill>
            </a:endParaRPr>
          </a:p>
          <a:p>
            <a:r>
              <a:rPr lang="en-US" altLang="en-US" sz="2000" b="1" u="sng" dirty="0">
                <a:solidFill>
                  <a:srgbClr val="0000FF"/>
                </a:solidFill>
              </a:rPr>
              <a:t>Solution</a:t>
            </a:r>
            <a:r>
              <a:rPr lang="en-US" altLang="en-US" sz="2000" dirty="0"/>
              <a:t>: First, we rewrite the statement so that we can clearly identify the appropriate quantifiers to use. Doing so, we obtain:</a:t>
            </a:r>
          </a:p>
          <a:p>
            <a:r>
              <a:rPr lang="en-US" altLang="en-US" sz="2000" dirty="0">
                <a:solidFill>
                  <a:srgbClr val="0000FF"/>
                </a:solidFill>
              </a:rPr>
              <a:t>“For every student in the class, that student has studied calculus”.</a:t>
            </a:r>
          </a:p>
          <a:p>
            <a:r>
              <a:rPr lang="en-US" altLang="en-US" sz="2000" dirty="0"/>
              <a:t>Next, we introduce a variable </a:t>
            </a:r>
            <a:r>
              <a:rPr lang="en-US" altLang="en-US" sz="2000" i="1" dirty="0"/>
              <a:t>x</a:t>
            </a:r>
            <a:r>
              <a:rPr lang="en-US" altLang="en-US" sz="2000" dirty="0"/>
              <a:t> so that our statement becomes –</a:t>
            </a:r>
            <a:endParaRPr lang="en-US" altLang="en-US" sz="2000" dirty="0">
              <a:solidFill>
                <a:srgbClr val="656BB9"/>
              </a:solidFill>
            </a:endParaRPr>
          </a:p>
          <a:p>
            <a:r>
              <a:rPr lang="en-US" altLang="en-US" sz="2000" dirty="0">
                <a:solidFill>
                  <a:srgbClr val="0000FF"/>
                </a:solidFill>
              </a:rPr>
              <a:t>“For every student </a:t>
            </a:r>
            <a:r>
              <a:rPr lang="en-US" altLang="en-US" sz="2000" i="1" dirty="0">
                <a:solidFill>
                  <a:srgbClr val="0000FF"/>
                </a:solidFill>
              </a:rPr>
              <a:t>x</a:t>
            </a:r>
            <a:r>
              <a:rPr lang="en-US" altLang="en-US" sz="2000" dirty="0">
                <a:solidFill>
                  <a:srgbClr val="0000FF"/>
                </a:solidFill>
              </a:rPr>
              <a:t> in the class, </a:t>
            </a:r>
            <a:r>
              <a:rPr lang="en-US" altLang="en-US" sz="2000" i="1" dirty="0">
                <a:solidFill>
                  <a:srgbClr val="0000FF"/>
                </a:solidFill>
              </a:rPr>
              <a:t>x</a:t>
            </a:r>
            <a:r>
              <a:rPr lang="en-US" altLang="en-US" sz="2000" dirty="0">
                <a:solidFill>
                  <a:srgbClr val="0000FF"/>
                </a:solidFill>
              </a:rPr>
              <a:t> has studied calculus”</a:t>
            </a:r>
          </a:p>
          <a:p>
            <a:r>
              <a:rPr lang="en-US" altLang="en-US" sz="2000" dirty="0"/>
              <a:t>Continuing, we introduce the predicate </a:t>
            </a:r>
            <a:r>
              <a:rPr lang="en-US" altLang="en-US" sz="2000" i="1" dirty="0">
                <a:solidFill>
                  <a:srgbClr val="0000FF"/>
                </a:solidFill>
              </a:rPr>
              <a:t>C</a:t>
            </a:r>
            <a:r>
              <a:rPr lang="en-US" altLang="en-US" sz="2000" dirty="0">
                <a:solidFill>
                  <a:srgbClr val="0000FF"/>
                </a:solidFill>
              </a:rPr>
              <a:t>(</a:t>
            </a:r>
            <a:r>
              <a:rPr lang="en-US" altLang="en-US" sz="2000" i="1" dirty="0">
                <a:solidFill>
                  <a:srgbClr val="0000FF"/>
                </a:solidFill>
              </a:rPr>
              <a:t>x</a:t>
            </a:r>
            <a:r>
              <a:rPr lang="en-US" altLang="en-US" sz="2000" dirty="0">
                <a:solidFill>
                  <a:srgbClr val="0000FF"/>
                </a:solidFill>
              </a:rPr>
              <a:t>)</a:t>
            </a:r>
            <a:r>
              <a:rPr lang="en-US" altLang="en-US" sz="2000" i="1" dirty="0"/>
              <a:t>,</a:t>
            </a:r>
            <a:r>
              <a:rPr lang="en-US" altLang="en-US" sz="2000" dirty="0"/>
              <a:t> which is the statement </a:t>
            </a:r>
            <a:r>
              <a:rPr lang="en-US" altLang="en-US" sz="2000" dirty="0">
                <a:solidFill>
                  <a:srgbClr val="0000FF"/>
                </a:solidFill>
              </a:rPr>
              <a:t>“</a:t>
            </a:r>
            <a:r>
              <a:rPr lang="en-US" altLang="en-US" sz="2000" i="1" dirty="0">
                <a:solidFill>
                  <a:srgbClr val="0000FF"/>
                </a:solidFill>
              </a:rPr>
              <a:t>x</a:t>
            </a:r>
            <a:r>
              <a:rPr lang="en-US" altLang="en-US" sz="2000" dirty="0">
                <a:solidFill>
                  <a:srgbClr val="0000FF"/>
                </a:solidFill>
              </a:rPr>
              <a:t> has studied calculus”</a:t>
            </a:r>
          </a:p>
          <a:p>
            <a:r>
              <a:rPr lang="en-US" altLang="en-US" sz="2000" dirty="0"/>
              <a:t>Consequently, </a:t>
            </a:r>
            <a:r>
              <a:rPr lang="en-US" altLang="en-US" sz="2000" dirty="0">
                <a:solidFill>
                  <a:srgbClr val="FF0000"/>
                </a:solidFill>
              </a:rPr>
              <a:t>if the </a:t>
            </a:r>
            <a:r>
              <a:rPr lang="en-US" altLang="en-US" sz="2000" b="1" dirty="0">
                <a:solidFill>
                  <a:srgbClr val="FF0000"/>
                </a:solidFill>
              </a:rPr>
              <a:t>universe of discourse </a:t>
            </a:r>
            <a:r>
              <a:rPr lang="en-US" altLang="en-US" sz="2000" dirty="0">
                <a:solidFill>
                  <a:srgbClr val="FF0000"/>
                </a:solidFill>
              </a:rPr>
              <a:t>for </a:t>
            </a:r>
            <a:r>
              <a:rPr lang="en-US" altLang="en-US" sz="2000" i="1" dirty="0">
                <a:solidFill>
                  <a:srgbClr val="FF0000"/>
                </a:solidFill>
              </a:rPr>
              <a:t>x</a:t>
            </a:r>
            <a:r>
              <a:rPr lang="en-US" altLang="en-US" sz="2000" dirty="0">
                <a:solidFill>
                  <a:srgbClr val="FF0000"/>
                </a:solidFill>
              </a:rPr>
              <a:t> consists of the </a:t>
            </a:r>
            <a:r>
              <a:rPr lang="en-US" altLang="en-US" sz="2000" b="1" dirty="0">
                <a:solidFill>
                  <a:srgbClr val="FF0000"/>
                </a:solidFill>
              </a:rPr>
              <a:t>students in the class</a:t>
            </a:r>
            <a:r>
              <a:rPr lang="en-US" altLang="en-US" sz="2000" dirty="0">
                <a:solidFill>
                  <a:srgbClr val="FF0000"/>
                </a:solidFill>
              </a:rPr>
              <a:t>, </a:t>
            </a:r>
            <a:r>
              <a:rPr lang="en-US" altLang="en-US" sz="2000" dirty="0">
                <a:solidFill>
                  <a:srgbClr val="0000FF"/>
                </a:solidFill>
              </a:rPr>
              <a:t>we can translate our statement as </a:t>
            </a:r>
            <a:r>
              <a:rPr lang="en-US" altLang="en-US" sz="2000" b="1" dirty="0">
                <a:solidFill>
                  <a:srgbClr val="0000FF"/>
                </a:solidFill>
                <a:sym typeface="Symbol" pitchFamily="18" charset="2"/>
              </a:rPr>
              <a:t></a:t>
            </a:r>
            <a:r>
              <a:rPr lang="en-US" altLang="en-US" sz="2000" b="1" i="1" dirty="0">
                <a:solidFill>
                  <a:srgbClr val="0000FF"/>
                </a:solidFill>
              </a:rPr>
              <a:t>x C</a:t>
            </a:r>
            <a:r>
              <a:rPr lang="en-US" altLang="en-US" sz="2000" b="1" dirty="0">
                <a:solidFill>
                  <a:srgbClr val="0000FF"/>
                </a:solidFill>
              </a:rPr>
              <a:t>(</a:t>
            </a:r>
            <a:r>
              <a:rPr lang="en-US" altLang="en-US" sz="2000" b="1" i="1" dirty="0">
                <a:solidFill>
                  <a:srgbClr val="0000FF"/>
                </a:solidFill>
              </a:rPr>
              <a:t>x</a:t>
            </a:r>
            <a:r>
              <a:rPr lang="en-US" altLang="en-US" sz="2000" b="1" dirty="0">
                <a:solidFill>
                  <a:srgbClr val="0000FF"/>
                </a:solidFill>
              </a:rPr>
              <a:t>)</a:t>
            </a:r>
            <a:r>
              <a:rPr lang="en-US" altLang="en-US" sz="2000" b="1" i="1" dirty="0">
                <a:solidFill>
                  <a:srgbClr val="0000FF"/>
                </a:solidFill>
              </a:rPr>
              <a:t>.</a:t>
            </a:r>
          </a:p>
          <a:p>
            <a:endParaRPr lang="en-US" altLang="en-US" sz="2000" i="1" dirty="0">
              <a:solidFill>
                <a:srgbClr val="0000FF"/>
              </a:solidFill>
            </a:endParaRPr>
          </a:p>
        </p:txBody>
      </p:sp>
      <p:sp>
        <p:nvSpPr>
          <p:cNvPr id="5" name="Slide Number Placeholder 4"/>
          <p:cNvSpPr>
            <a:spLocks noGrp="1"/>
          </p:cNvSpPr>
          <p:nvPr>
            <p:ph type="sldNum" sz="quarter" idx="12"/>
          </p:nvPr>
        </p:nvSpPr>
        <p:spPr/>
        <p:txBody>
          <a:bodyPr/>
          <a:lstStyle/>
          <a:p>
            <a:fld id="{5FD889E0-CAB2-4699-909D-B9A88D47ACBE}" type="slidenum">
              <a:rPr lang="en-US" smtClean="0"/>
              <a:pPr/>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altLang="en-US" sz="4000" b="1" dirty="0">
                <a:latin typeface="+mn-lt"/>
              </a:rPr>
              <a:t>Example 23 (p.40)</a:t>
            </a:r>
            <a:endParaRPr lang="en-US" sz="4000" dirty="0">
              <a:latin typeface="+mn-lt"/>
            </a:endParaRPr>
          </a:p>
        </p:txBody>
      </p:sp>
      <p:sp>
        <p:nvSpPr>
          <p:cNvPr id="4" name="Rectangle 3"/>
          <p:cNvSpPr/>
          <p:nvPr/>
        </p:nvSpPr>
        <p:spPr>
          <a:xfrm>
            <a:off x="298509" y="2065995"/>
            <a:ext cx="8722659" cy="4632037"/>
          </a:xfrm>
          <a:prstGeom prst="rect">
            <a:avLst/>
          </a:prstGeom>
        </p:spPr>
        <p:txBody>
          <a:bodyPr wrap="square">
            <a:spAutoFit/>
          </a:bodyPr>
          <a:lstStyle/>
          <a:p>
            <a:pPr marL="274320" indent="-274320">
              <a:spcBef>
                <a:spcPts val="600"/>
              </a:spcBef>
            </a:pPr>
            <a:r>
              <a:rPr lang="en-US" altLang="en-US" sz="2000" b="1" u="sng" dirty="0">
                <a:solidFill>
                  <a:srgbClr val="FF0000"/>
                </a:solidFill>
              </a:rPr>
              <a:t>Note</a:t>
            </a:r>
            <a:r>
              <a:rPr lang="en-US" altLang="en-US" sz="2000" dirty="0">
                <a:solidFill>
                  <a:srgbClr val="FF0000"/>
                </a:solidFill>
              </a:rPr>
              <a:t>: There are other correct approaches; different domains of discourse and </a:t>
            </a:r>
          </a:p>
          <a:p>
            <a:pPr marL="274320" indent="-274320">
              <a:spcBef>
                <a:spcPts val="600"/>
              </a:spcBef>
            </a:pPr>
            <a:r>
              <a:rPr lang="en-US" altLang="en-US" sz="2000" dirty="0">
                <a:solidFill>
                  <a:srgbClr val="FF0000"/>
                </a:solidFill>
              </a:rPr>
              <a:t>other predicates can be used. </a:t>
            </a:r>
            <a:r>
              <a:rPr lang="en-US" altLang="en-US" sz="2000" b="1" u="sng" dirty="0"/>
              <a:t>For example</a:t>
            </a:r>
            <a:r>
              <a:rPr lang="en-US" altLang="en-US" sz="2000" dirty="0"/>
              <a:t>, If we </a:t>
            </a:r>
            <a:r>
              <a:rPr lang="en-US" altLang="en-US" sz="2000" b="1" dirty="0"/>
              <a:t>change</a:t>
            </a:r>
            <a:r>
              <a:rPr lang="en-US" altLang="en-US" sz="2000" dirty="0"/>
              <a:t> the </a:t>
            </a:r>
            <a:r>
              <a:rPr lang="en-US" altLang="en-US" sz="2000" b="1" dirty="0"/>
              <a:t>domain</a:t>
            </a:r>
            <a:r>
              <a:rPr lang="en-US" altLang="en-US" sz="2000" dirty="0"/>
              <a:t> to </a:t>
            </a:r>
          </a:p>
          <a:p>
            <a:pPr marL="274320" indent="-274320">
              <a:spcBef>
                <a:spcPts val="600"/>
              </a:spcBef>
            </a:pPr>
            <a:r>
              <a:rPr lang="en-US" altLang="en-US" sz="2000" dirty="0"/>
              <a:t>consists of </a:t>
            </a:r>
            <a:r>
              <a:rPr lang="en-US" altLang="en-US" sz="2000" b="1" dirty="0"/>
              <a:t>all</a:t>
            </a:r>
            <a:r>
              <a:rPr lang="en-US" altLang="en-US" sz="2000" dirty="0"/>
              <a:t> </a:t>
            </a:r>
            <a:r>
              <a:rPr lang="en-US" altLang="en-US" sz="2000" b="1" dirty="0"/>
              <a:t>people</a:t>
            </a:r>
            <a:r>
              <a:rPr lang="en-US" altLang="en-US" sz="2000" dirty="0"/>
              <a:t>, we need to express our statement as </a:t>
            </a:r>
          </a:p>
          <a:p>
            <a:pPr marL="274320" indent="-274320">
              <a:spcBef>
                <a:spcPts val="600"/>
              </a:spcBef>
            </a:pPr>
            <a:r>
              <a:rPr lang="en-US" altLang="en-US" sz="2000" dirty="0">
                <a:solidFill>
                  <a:srgbClr val="0000FF"/>
                </a:solidFill>
              </a:rPr>
              <a:t>“For every person x, if person x is a student in this class, then x has studied </a:t>
            </a:r>
          </a:p>
          <a:p>
            <a:pPr marL="274320" indent="-274320">
              <a:spcBef>
                <a:spcPts val="600"/>
              </a:spcBef>
            </a:pPr>
            <a:r>
              <a:rPr lang="en-US" altLang="en-US" sz="2000" dirty="0">
                <a:solidFill>
                  <a:srgbClr val="0000FF"/>
                </a:solidFill>
              </a:rPr>
              <a:t>calculus.”</a:t>
            </a:r>
          </a:p>
          <a:p>
            <a:pPr marL="274320" indent="-274320">
              <a:spcBef>
                <a:spcPts val="600"/>
              </a:spcBef>
            </a:pPr>
            <a:r>
              <a:rPr lang="en-US" altLang="en-US" sz="2000" dirty="0">
                <a:solidFill>
                  <a:srgbClr val="0000FF"/>
                </a:solidFill>
              </a:rPr>
              <a:t>If </a:t>
            </a:r>
            <a:r>
              <a:rPr lang="en-US" altLang="en-US" sz="2000" b="1" dirty="0">
                <a:solidFill>
                  <a:srgbClr val="0000FF"/>
                </a:solidFill>
              </a:rPr>
              <a:t>S(</a:t>
            </a:r>
            <a:r>
              <a:rPr lang="en-US" altLang="en-US" sz="2000" b="1" i="1" dirty="0">
                <a:solidFill>
                  <a:srgbClr val="0000FF"/>
                </a:solidFill>
              </a:rPr>
              <a:t>x</a:t>
            </a:r>
            <a:r>
              <a:rPr lang="en-US" altLang="en-US" sz="2000" b="1" dirty="0">
                <a:solidFill>
                  <a:srgbClr val="0000FF"/>
                </a:solidFill>
              </a:rPr>
              <a:t>)</a:t>
            </a:r>
            <a:r>
              <a:rPr lang="en-US" altLang="en-US" sz="2000" dirty="0">
                <a:solidFill>
                  <a:srgbClr val="0000FF"/>
                </a:solidFill>
              </a:rPr>
              <a:t> represents the statement that </a:t>
            </a:r>
            <a:r>
              <a:rPr lang="en-US" altLang="en-US" sz="2000" b="1" dirty="0">
                <a:solidFill>
                  <a:srgbClr val="0000FF"/>
                </a:solidFill>
              </a:rPr>
              <a:t>person </a:t>
            </a:r>
            <a:r>
              <a:rPr lang="en-US" altLang="en-US" sz="2000" b="1" i="1" dirty="0">
                <a:solidFill>
                  <a:srgbClr val="0000FF"/>
                </a:solidFill>
              </a:rPr>
              <a:t>x</a:t>
            </a:r>
            <a:r>
              <a:rPr lang="en-US" altLang="en-US" sz="2000" b="1" dirty="0">
                <a:solidFill>
                  <a:srgbClr val="0000FF"/>
                </a:solidFill>
              </a:rPr>
              <a:t> is in this class</a:t>
            </a:r>
            <a:r>
              <a:rPr lang="en-US" altLang="en-US" sz="2000" dirty="0">
                <a:solidFill>
                  <a:srgbClr val="0000FF"/>
                </a:solidFill>
              </a:rPr>
              <a:t>, our statement can be </a:t>
            </a:r>
          </a:p>
          <a:p>
            <a:pPr marL="274320" indent="-274320">
              <a:spcBef>
                <a:spcPts val="600"/>
              </a:spcBef>
            </a:pPr>
            <a:r>
              <a:rPr lang="en-US" altLang="en-US" sz="2000" dirty="0">
                <a:solidFill>
                  <a:srgbClr val="0000FF"/>
                </a:solidFill>
              </a:rPr>
              <a:t>expressed as </a:t>
            </a:r>
            <a:r>
              <a:rPr lang="en-US" altLang="en-US" sz="2000" b="1" dirty="0">
                <a:solidFill>
                  <a:srgbClr val="0000FF"/>
                </a:solidFill>
                <a:sym typeface="Symbol" pitchFamily="18" charset="2"/>
              </a:rPr>
              <a:t></a:t>
            </a:r>
            <a:r>
              <a:rPr lang="en-US" altLang="en-US" sz="2000" b="1" dirty="0">
                <a:solidFill>
                  <a:srgbClr val="0000FF"/>
                </a:solidFill>
              </a:rPr>
              <a:t> </a:t>
            </a:r>
            <a:r>
              <a:rPr lang="en-US" altLang="en-US" sz="2000" b="1" i="1" dirty="0">
                <a:solidFill>
                  <a:srgbClr val="0000FF"/>
                </a:solidFill>
              </a:rPr>
              <a:t>x S(x)</a:t>
            </a:r>
            <a:r>
              <a:rPr lang="en-US" sz="2000" b="1" dirty="0">
                <a:solidFill>
                  <a:srgbClr val="0000FF"/>
                </a:solidFill>
                <a:ea typeface="Cambria Math"/>
              </a:rPr>
              <a:t> → </a:t>
            </a:r>
            <a:r>
              <a:rPr lang="en-US" altLang="en-US" sz="2000" b="1" i="1" dirty="0">
                <a:solidFill>
                  <a:srgbClr val="0000FF"/>
                </a:solidFill>
              </a:rPr>
              <a:t>C</a:t>
            </a:r>
            <a:r>
              <a:rPr lang="en-US" altLang="en-US" sz="2000" b="1" dirty="0">
                <a:solidFill>
                  <a:srgbClr val="0000FF"/>
                </a:solidFill>
              </a:rPr>
              <a:t>(</a:t>
            </a:r>
            <a:r>
              <a:rPr lang="en-US" altLang="en-US" sz="2000" b="1" i="1" dirty="0">
                <a:solidFill>
                  <a:srgbClr val="0000FF"/>
                </a:solidFill>
              </a:rPr>
              <a:t>x</a:t>
            </a:r>
            <a:r>
              <a:rPr lang="en-US" altLang="en-US" sz="2000" b="1" dirty="0">
                <a:solidFill>
                  <a:srgbClr val="0000FF"/>
                </a:solidFill>
              </a:rPr>
              <a:t>)</a:t>
            </a:r>
            <a:r>
              <a:rPr lang="en-US" altLang="en-US" sz="2000" b="1" i="1" dirty="0">
                <a:solidFill>
                  <a:srgbClr val="0000FF"/>
                </a:solidFill>
              </a:rPr>
              <a:t>.</a:t>
            </a:r>
          </a:p>
          <a:p>
            <a:pPr marL="274320" indent="-274320">
              <a:spcBef>
                <a:spcPts val="600"/>
              </a:spcBef>
            </a:pPr>
            <a:endParaRPr lang="en-US" altLang="en-US" sz="2000" b="1" i="1" dirty="0">
              <a:solidFill>
                <a:srgbClr val="FF0000"/>
              </a:solidFill>
            </a:endParaRPr>
          </a:p>
          <a:p>
            <a:pPr marL="274320" indent="-274320">
              <a:spcBef>
                <a:spcPts val="600"/>
              </a:spcBef>
            </a:pPr>
            <a:r>
              <a:rPr lang="en-US" altLang="en-US" sz="2000" b="1" i="1" u="sng" dirty="0">
                <a:solidFill>
                  <a:srgbClr val="FF0000"/>
                </a:solidFill>
              </a:rPr>
              <a:t>Note</a:t>
            </a:r>
            <a:r>
              <a:rPr lang="en-US" altLang="en-US" sz="2000" i="1" dirty="0">
                <a:solidFill>
                  <a:srgbClr val="FF0000"/>
                </a:solidFill>
              </a:rPr>
              <a:t>: </a:t>
            </a:r>
            <a:r>
              <a:rPr lang="en-US" altLang="en-US" sz="2000" i="1" dirty="0"/>
              <a:t>For the second way (when the </a:t>
            </a:r>
            <a:r>
              <a:rPr lang="en-US" altLang="en-US" sz="2000" b="1" i="1" dirty="0"/>
              <a:t>domain is all people</a:t>
            </a:r>
            <a:r>
              <a:rPr lang="en-US" altLang="en-US" sz="2000" i="1" dirty="0"/>
              <a:t>), we always want to use </a:t>
            </a:r>
          </a:p>
          <a:p>
            <a:pPr marL="274320" indent="-274320">
              <a:spcBef>
                <a:spcPts val="600"/>
              </a:spcBef>
            </a:pPr>
            <a:r>
              <a:rPr lang="en-US" altLang="en-US" sz="2000" b="1" i="1" dirty="0">
                <a:solidFill>
                  <a:srgbClr val="FF0000"/>
                </a:solidFill>
              </a:rPr>
              <a:t>conditional</a:t>
            </a:r>
            <a:r>
              <a:rPr lang="en-US" altLang="en-US" sz="2000" i="1" dirty="0">
                <a:solidFill>
                  <a:srgbClr val="FF0000"/>
                </a:solidFill>
              </a:rPr>
              <a:t>  </a:t>
            </a:r>
            <a:r>
              <a:rPr lang="en-US" altLang="en-US" sz="2000" b="1" i="1" dirty="0">
                <a:solidFill>
                  <a:srgbClr val="FF0000"/>
                </a:solidFill>
              </a:rPr>
              <a:t>statements</a:t>
            </a:r>
            <a:r>
              <a:rPr lang="en-US" altLang="en-US" sz="2000" i="1" dirty="0">
                <a:solidFill>
                  <a:srgbClr val="FF0000"/>
                </a:solidFill>
              </a:rPr>
              <a:t> with </a:t>
            </a:r>
            <a:r>
              <a:rPr lang="en-US" altLang="en-US" sz="2000" b="1" i="1" dirty="0">
                <a:solidFill>
                  <a:srgbClr val="FF0000"/>
                </a:solidFill>
              </a:rPr>
              <a:t>universal</a:t>
            </a:r>
            <a:r>
              <a:rPr lang="en-US" altLang="en-US" sz="2000" i="1" dirty="0">
                <a:solidFill>
                  <a:srgbClr val="FF0000"/>
                </a:solidFill>
              </a:rPr>
              <a:t> </a:t>
            </a:r>
            <a:r>
              <a:rPr lang="en-US" altLang="en-US" sz="2000" b="1" i="1" dirty="0">
                <a:solidFill>
                  <a:srgbClr val="FF0000"/>
                </a:solidFill>
              </a:rPr>
              <a:t>quantifiers</a:t>
            </a:r>
            <a:r>
              <a:rPr lang="en-US" altLang="en-US" sz="2000" i="1" dirty="0">
                <a:solidFill>
                  <a:srgbClr val="FF0000"/>
                </a:solidFill>
              </a:rPr>
              <a:t> </a:t>
            </a:r>
            <a:r>
              <a:rPr lang="en-US" altLang="en-US" sz="2000" i="1" dirty="0"/>
              <a:t>and </a:t>
            </a:r>
            <a:r>
              <a:rPr lang="en-US" altLang="en-US" sz="2000" b="1" i="1" dirty="0">
                <a:solidFill>
                  <a:srgbClr val="0000FF"/>
                </a:solidFill>
              </a:rPr>
              <a:t>conjunctions</a:t>
            </a:r>
            <a:r>
              <a:rPr lang="en-US" altLang="en-US" sz="2000" i="1" dirty="0">
                <a:solidFill>
                  <a:srgbClr val="0000FF"/>
                </a:solidFill>
              </a:rPr>
              <a:t> with </a:t>
            </a:r>
          </a:p>
          <a:p>
            <a:pPr marL="274320" indent="-274320">
              <a:spcBef>
                <a:spcPts val="600"/>
              </a:spcBef>
            </a:pPr>
            <a:r>
              <a:rPr lang="en-US" altLang="en-US" sz="2000" b="1" i="1" dirty="0">
                <a:solidFill>
                  <a:srgbClr val="0000FF"/>
                </a:solidFill>
              </a:rPr>
              <a:t>existential</a:t>
            </a:r>
            <a:r>
              <a:rPr lang="en-US" altLang="en-US" sz="2000" i="1" dirty="0">
                <a:solidFill>
                  <a:srgbClr val="0000FF"/>
                </a:solidFill>
              </a:rPr>
              <a:t> </a:t>
            </a:r>
            <a:r>
              <a:rPr lang="en-US" altLang="en-US" sz="2000" b="1" i="1" dirty="0">
                <a:solidFill>
                  <a:srgbClr val="0000FF"/>
                </a:solidFill>
              </a:rPr>
              <a:t>quantifiers</a:t>
            </a:r>
            <a:r>
              <a:rPr lang="en-US" altLang="en-US" sz="2000" i="1" dirty="0">
                <a:solidFill>
                  <a:srgbClr val="0000FF"/>
                </a:solidFill>
              </a:rPr>
              <a:t>.</a:t>
            </a:r>
            <a:r>
              <a:rPr lang="en-US" altLang="en-US" sz="2000" dirty="0">
                <a:solidFill>
                  <a:srgbClr val="0000FF"/>
                </a:solidFill>
              </a:rPr>
              <a:t> </a:t>
            </a:r>
          </a:p>
          <a:p>
            <a:pPr marL="274320" indent="-274320">
              <a:spcBef>
                <a:spcPts val="600"/>
              </a:spcBef>
            </a:pPr>
            <a:r>
              <a:rPr lang="en-US" sz="2000" dirty="0"/>
              <a:t>  </a:t>
            </a:r>
          </a:p>
        </p:txBody>
      </p:sp>
      <p:sp>
        <p:nvSpPr>
          <p:cNvPr id="5" name="Slide Number Placeholder 4"/>
          <p:cNvSpPr>
            <a:spLocks noGrp="1"/>
          </p:cNvSpPr>
          <p:nvPr>
            <p:ph type="sldNum" sz="quarter" idx="12"/>
          </p:nvPr>
        </p:nvSpPr>
        <p:spPr/>
        <p:txBody>
          <a:bodyPr/>
          <a:lstStyle/>
          <a:p>
            <a:fld id="{5FD889E0-CAB2-4699-909D-B9A88D47ACBE}" type="slidenum">
              <a:rPr lang="en-US" smtClean="0"/>
              <a:pPr/>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000" b="1" dirty="0">
                <a:latin typeface="+mn-lt"/>
              </a:rPr>
              <a:t>Extra Example</a:t>
            </a:r>
            <a:endParaRPr lang="en-US" sz="4000" dirty="0">
              <a:latin typeface="+mn-lt"/>
            </a:endParaRPr>
          </a:p>
        </p:txBody>
      </p:sp>
      <p:sp>
        <p:nvSpPr>
          <p:cNvPr id="4" name="Rectangle 3"/>
          <p:cNvSpPr/>
          <p:nvPr/>
        </p:nvSpPr>
        <p:spPr>
          <a:xfrm>
            <a:off x="191069" y="2096925"/>
            <a:ext cx="8720919" cy="4247317"/>
          </a:xfrm>
          <a:prstGeom prst="rect">
            <a:avLst/>
          </a:prstGeom>
        </p:spPr>
        <p:txBody>
          <a:bodyPr wrap="square">
            <a:spAutoFit/>
          </a:bodyPr>
          <a:lstStyle/>
          <a:p>
            <a:pPr marL="274320" indent="-274320">
              <a:spcBef>
                <a:spcPts val="600"/>
              </a:spcBef>
              <a:buFont typeface="Arial" pitchFamily="34" charset="0"/>
              <a:buChar char="•"/>
            </a:pPr>
            <a:r>
              <a:rPr lang="en-US" altLang="en-US" sz="2400" dirty="0">
                <a:solidFill>
                  <a:srgbClr val="FF0000"/>
                </a:solidFill>
              </a:rPr>
              <a:t>Express the statement “Someone in your school has studied calculus” using predicates and quantifiers. Let the </a:t>
            </a:r>
            <a:r>
              <a:rPr lang="en-US" altLang="en-US" sz="2400" b="1" dirty="0">
                <a:solidFill>
                  <a:srgbClr val="FF0000"/>
                </a:solidFill>
              </a:rPr>
              <a:t>domain</a:t>
            </a:r>
            <a:r>
              <a:rPr lang="en-US" altLang="en-US" sz="2400" dirty="0">
                <a:solidFill>
                  <a:srgbClr val="FF0000"/>
                </a:solidFill>
              </a:rPr>
              <a:t> consists of </a:t>
            </a:r>
            <a:r>
              <a:rPr lang="en-US" altLang="en-US" sz="2400" b="1" dirty="0">
                <a:solidFill>
                  <a:srgbClr val="FF0000"/>
                </a:solidFill>
              </a:rPr>
              <a:t>all people.</a:t>
            </a:r>
          </a:p>
          <a:p>
            <a:pPr marL="274320" indent="-274320">
              <a:spcBef>
                <a:spcPts val="600"/>
              </a:spcBef>
              <a:buFont typeface="Arial" pitchFamily="34" charset="0"/>
              <a:buChar char="•"/>
            </a:pPr>
            <a:r>
              <a:rPr lang="en-US" altLang="en-US" sz="2400" b="1" u="sng" dirty="0">
                <a:solidFill>
                  <a:srgbClr val="0000FF"/>
                </a:solidFill>
              </a:rPr>
              <a:t>Solution</a:t>
            </a:r>
            <a:r>
              <a:rPr lang="en-US" altLang="en-US" sz="2400" b="1" dirty="0">
                <a:solidFill>
                  <a:srgbClr val="0000FF"/>
                </a:solidFill>
              </a:rPr>
              <a:t>:</a:t>
            </a:r>
          </a:p>
          <a:p>
            <a:pPr marL="274320" indent="-274320">
              <a:spcBef>
                <a:spcPts val="600"/>
              </a:spcBef>
            </a:pPr>
            <a:r>
              <a:rPr lang="en-US" altLang="en-US" sz="2400" dirty="0"/>
              <a:t>	Let, </a:t>
            </a:r>
            <a:r>
              <a:rPr lang="en-US" altLang="en-US" sz="2400" b="1" dirty="0">
                <a:solidFill>
                  <a:srgbClr val="0000FF"/>
                </a:solidFill>
              </a:rPr>
              <a:t>S(x) </a:t>
            </a:r>
            <a:r>
              <a:rPr lang="en-US" altLang="en-US" sz="2400" dirty="0"/>
              <a:t>be the propositional  functions </a:t>
            </a:r>
            <a:r>
              <a:rPr lang="en-US" altLang="en-US" sz="2400" dirty="0">
                <a:solidFill>
                  <a:srgbClr val="0000FF"/>
                </a:solidFill>
              </a:rPr>
              <a:t>“ </a:t>
            </a:r>
            <a:r>
              <a:rPr lang="en-US" altLang="en-US" sz="2400" i="1" dirty="0">
                <a:solidFill>
                  <a:srgbClr val="0000FF"/>
                </a:solidFill>
              </a:rPr>
              <a:t>x</a:t>
            </a:r>
            <a:r>
              <a:rPr lang="en-US" altLang="en-US" sz="2400" dirty="0">
                <a:solidFill>
                  <a:srgbClr val="0000FF"/>
                </a:solidFill>
              </a:rPr>
              <a:t> is in your school” </a:t>
            </a:r>
            <a:r>
              <a:rPr lang="en-US" altLang="en-US" sz="2400" dirty="0"/>
              <a:t>and </a:t>
            </a:r>
          </a:p>
          <a:p>
            <a:pPr marL="274320" indent="-274320">
              <a:spcBef>
                <a:spcPts val="600"/>
              </a:spcBef>
            </a:pPr>
            <a:r>
              <a:rPr lang="en-US" altLang="en-US" sz="2400" b="1" dirty="0">
                <a:solidFill>
                  <a:srgbClr val="0000FF"/>
                </a:solidFill>
              </a:rPr>
              <a:t>	C(</a:t>
            </a:r>
            <a:r>
              <a:rPr lang="en-US" altLang="en-US" sz="2400" b="1" i="1" dirty="0">
                <a:solidFill>
                  <a:srgbClr val="0000FF"/>
                </a:solidFill>
              </a:rPr>
              <a:t>x</a:t>
            </a:r>
            <a:r>
              <a:rPr lang="en-US" altLang="en-US" sz="2400" b="1" dirty="0">
                <a:solidFill>
                  <a:srgbClr val="0000FF"/>
                </a:solidFill>
              </a:rPr>
              <a:t>)</a:t>
            </a:r>
            <a:r>
              <a:rPr lang="en-US" altLang="en-US" sz="2400" dirty="0">
                <a:solidFill>
                  <a:srgbClr val="0000FF"/>
                </a:solidFill>
              </a:rPr>
              <a:t> </a:t>
            </a:r>
            <a:r>
              <a:rPr lang="en-US" altLang="en-US" sz="2400" dirty="0"/>
              <a:t>be the propositional function </a:t>
            </a:r>
            <a:r>
              <a:rPr lang="en-US" altLang="en-US" sz="2400" dirty="0">
                <a:solidFill>
                  <a:srgbClr val="0000FF"/>
                </a:solidFill>
              </a:rPr>
              <a:t>“</a:t>
            </a:r>
            <a:r>
              <a:rPr lang="en-US" altLang="en-US" sz="2400" i="1" dirty="0">
                <a:solidFill>
                  <a:srgbClr val="0000FF"/>
                </a:solidFill>
              </a:rPr>
              <a:t>x</a:t>
            </a:r>
            <a:r>
              <a:rPr lang="en-US" altLang="en-US" sz="2400" dirty="0">
                <a:solidFill>
                  <a:srgbClr val="0000FF"/>
                </a:solidFill>
              </a:rPr>
              <a:t> has studied calculus”.</a:t>
            </a:r>
          </a:p>
          <a:p>
            <a:pPr marL="274320" indent="-274320">
              <a:spcBef>
                <a:spcPts val="600"/>
              </a:spcBef>
            </a:pPr>
            <a:r>
              <a:rPr lang="en-US" altLang="en-US" sz="2400" b="1" dirty="0">
                <a:solidFill>
                  <a:srgbClr val="0000FF"/>
                </a:solidFill>
                <a:sym typeface="Symbol" pitchFamily="18" charset="2"/>
              </a:rPr>
              <a:t>	x ( S</a:t>
            </a:r>
            <a:r>
              <a:rPr lang="en-US" altLang="en-US" sz="2400" b="1" dirty="0">
                <a:solidFill>
                  <a:srgbClr val="0000FF"/>
                </a:solidFill>
              </a:rPr>
              <a:t>(x) </a:t>
            </a:r>
            <a:r>
              <a:rPr lang="en-US" altLang="en-US" sz="2400" b="1" dirty="0">
                <a:solidFill>
                  <a:srgbClr val="0000FF"/>
                </a:solidFill>
                <a:sym typeface="Symbol" pitchFamily="18" charset="2"/>
              </a:rPr>
              <a:t> C(x) )</a:t>
            </a:r>
          </a:p>
          <a:p>
            <a:pPr marL="274320" indent="-274320">
              <a:spcBef>
                <a:spcPts val="600"/>
              </a:spcBef>
            </a:pPr>
            <a:endParaRPr lang="en-US" altLang="en-US" sz="2400" b="1" dirty="0">
              <a:sym typeface="Symbol" pitchFamily="18" charset="2"/>
            </a:endParaRPr>
          </a:p>
          <a:p>
            <a:pPr marL="274320" indent="-274320">
              <a:spcBef>
                <a:spcPts val="600"/>
              </a:spcBef>
              <a:buFont typeface="Wingdings" pitchFamily="2" charset="2"/>
              <a:buChar char="§"/>
            </a:pPr>
            <a:r>
              <a:rPr lang="en-US" altLang="en-US" sz="2400" b="1" dirty="0">
                <a:solidFill>
                  <a:srgbClr val="FF0000"/>
                </a:solidFill>
                <a:sym typeface="Symbol" pitchFamily="18" charset="2"/>
              </a:rPr>
              <a:t>Note</a:t>
            </a:r>
            <a:r>
              <a:rPr lang="en-US" altLang="en-US" sz="2400" b="1" dirty="0">
                <a:sym typeface="Symbol" pitchFamily="18" charset="2"/>
              </a:rPr>
              <a:t> </a:t>
            </a:r>
            <a:r>
              <a:rPr lang="en-US" altLang="en-US" sz="2400" b="1" dirty="0">
                <a:solidFill>
                  <a:srgbClr val="FF0000"/>
                </a:solidFill>
                <a:sym typeface="Symbol" pitchFamily="18" charset="2"/>
              </a:rPr>
              <a:t>that</a:t>
            </a:r>
            <a:r>
              <a:rPr lang="en-US" altLang="en-US" sz="2400" dirty="0">
                <a:sym typeface="Symbol" pitchFamily="18" charset="2"/>
              </a:rPr>
              <a:t> if the </a:t>
            </a:r>
            <a:r>
              <a:rPr lang="en-US" altLang="en-US" sz="2400" b="1" dirty="0">
                <a:sym typeface="Symbol" pitchFamily="18" charset="2"/>
              </a:rPr>
              <a:t>domain</a:t>
            </a:r>
            <a:r>
              <a:rPr lang="en-US" altLang="en-US" sz="2400" dirty="0">
                <a:sym typeface="Symbol" pitchFamily="18" charset="2"/>
              </a:rPr>
              <a:t> consists of the </a:t>
            </a:r>
            <a:r>
              <a:rPr lang="en-US" altLang="en-US" sz="2400" b="1" dirty="0">
                <a:sym typeface="Symbol" pitchFamily="18" charset="2"/>
              </a:rPr>
              <a:t>students in your school</a:t>
            </a:r>
            <a:r>
              <a:rPr lang="en-US" altLang="en-US" sz="2400" dirty="0">
                <a:sym typeface="Symbol" pitchFamily="18" charset="2"/>
              </a:rPr>
              <a:t>, then we can write </a:t>
            </a:r>
            <a:r>
              <a:rPr lang="en-US" altLang="en-US" sz="2400" b="1" dirty="0">
                <a:solidFill>
                  <a:srgbClr val="0000FF"/>
                </a:solidFill>
                <a:sym typeface="Symbol" pitchFamily="18" charset="2"/>
              </a:rPr>
              <a:t>x C(</a:t>
            </a:r>
            <a:r>
              <a:rPr lang="en-US" altLang="en-US" sz="2400" b="1" i="1" dirty="0">
                <a:solidFill>
                  <a:srgbClr val="0000FF"/>
                </a:solidFill>
                <a:sym typeface="Symbol" pitchFamily="18" charset="2"/>
              </a:rPr>
              <a:t>x</a:t>
            </a:r>
            <a:r>
              <a:rPr lang="en-US" altLang="en-US" sz="2400" b="1" dirty="0">
                <a:solidFill>
                  <a:srgbClr val="0000FF"/>
                </a:solidFill>
                <a:sym typeface="Symbol" pitchFamily="18" charset="2"/>
              </a:rPr>
              <a:t>)  </a:t>
            </a:r>
          </a:p>
        </p:txBody>
      </p:sp>
      <p:sp>
        <p:nvSpPr>
          <p:cNvPr id="5" name="Slide Number Placeholder 4"/>
          <p:cNvSpPr>
            <a:spLocks noGrp="1"/>
          </p:cNvSpPr>
          <p:nvPr>
            <p:ph type="sldNum" sz="quarter" idx="12"/>
          </p:nvPr>
        </p:nvSpPr>
        <p:spPr/>
        <p:txBody>
          <a:bodyPr/>
          <a:lstStyle/>
          <a:p>
            <a:fld id="{5FD889E0-CAB2-4699-909D-B9A88D47ACBE}" type="slidenum">
              <a:rPr lang="en-US" smtClean="0"/>
              <a:pPr/>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000" b="1" dirty="0">
                <a:latin typeface="+mn-lt"/>
              </a:rPr>
              <a:t>Exercise 9 (p.43) </a:t>
            </a:r>
            <a:endParaRPr lang="en-US" sz="4000" dirty="0">
              <a:latin typeface="+mn-lt"/>
            </a:endParaRPr>
          </a:p>
        </p:txBody>
      </p:sp>
      <p:sp>
        <p:nvSpPr>
          <p:cNvPr id="4" name="Rectangle 3"/>
          <p:cNvSpPr/>
          <p:nvPr/>
        </p:nvSpPr>
        <p:spPr>
          <a:xfrm>
            <a:off x="298509" y="2309514"/>
            <a:ext cx="8476999" cy="3477875"/>
          </a:xfrm>
          <a:prstGeom prst="rect">
            <a:avLst/>
          </a:prstGeom>
        </p:spPr>
        <p:txBody>
          <a:bodyPr wrap="square">
            <a:spAutoFit/>
          </a:bodyPr>
          <a:lstStyle/>
          <a:p>
            <a:pPr marL="457200" indent="-274320">
              <a:spcBef>
                <a:spcPts val="600"/>
              </a:spcBef>
              <a:buFont typeface="Arial" pitchFamily="34" charset="0"/>
              <a:buChar char="•"/>
            </a:pPr>
            <a:r>
              <a:rPr lang="en-US" altLang="en-US" sz="2000" dirty="0"/>
              <a:t>Let </a:t>
            </a:r>
            <a:r>
              <a:rPr lang="en-US" altLang="en-US" sz="2000" i="1" dirty="0">
                <a:solidFill>
                  <a:srgbClr val="0000FF"/>
                </a:solidFill>
              </a:rPr>
              <a:t>P(x)</a:t>
            </a:r>
            <a:r>
              <a:rPr lang="en-US" altLang="en-US" sz="2000" dirty="0"/>
              <a:t> be the statement </a:t>
            </a:r>
            <a:r>
              <a:rPr lang="en-US" altLang="en-US" sz="2000" dirty="0">
                <a:solidFill>
                  <a:srgbClr val="0000FF"/>
                </a:solidFill>
              </a:rPr>
              <a:t>“</a:t>
            </a:r>
            <a:r>
              <a:rPr lang="en-US" altLang="en-US" sz="2000" i="1" dirty="0">
                <a:solidFill>
                  <a:srgbClr val="0000FF"/>
                </a:solidFill>
              </a:rPr>
              <a:t>x</a:t>
            </a:r>
            <a:r>
              <a:rPr lang="en-US" altLang="en-US" sz="2000" dirty="0">
                <a:solidFill>
                  <a:srgbClr val="0000FF"/>
                </a:solidFill>
              </a:rPr>
              <a:t> can speak Russian”</a:t>
            </a:r>
            <a:r>
              <a:rPr lang="en-US" altLang="en-US" sz="2000" dirty="0"/>
              <a:t> and let </a:t>
            </a:r>
            <a:r>
              <a:rPr lang="en-US" altLang="en-US" sz="2000" dirty="0">
                <a:solidFill>
                  <a:srgbClr val="FF0000"/>
                </a:solidFill>
              </a:rPr>
              <a:t>Q</a:t>
            </a:r>
            <a:r>
              <a:rPr lang="en-US" altLang="en-US" sz="2000" i="1" dirty="0">
                <a:solidFill>
                  <a:srgbClr val="FF0000"/>
                </a:solidFill>
              </a:rPr>
              <a:t>(x)</a:t>
            </a:r>
            <a:r>
              <a:rPr lang="en-US" altLang="en-US" sz="2000" dirty="0">
                <a:solidFill>
                  <a:srgbClr val="FF0000"/>
                </a:solidFill>
              </a:rPr>
              <a:t> </a:t>
            </a:r>
            <a:r>
              <a:rPr lang="en-US" altLang="en-US" sz="2000" dirty="0"/>
              <a:t>be the statement </a:t>
            </a:r>
            <a:r>
              <a:rPr lang="en-US" altLang="en-US" sz="2000" dirty="0">
                <a:solidFill>
                  <a:srgbClr val="FF0000"/>
                </a:solidFill>
              </a:rPr>
              <a:t>“</a:t>
            </a:r>
            <a:r>
              <a:rPr lang="en-US" altLang="en-US" sz="2000" i="1" dirty="0">
                <a:solidFill>
                  <a:srgbClr val="FF0000"/>
                </a:solidFill>
              </a:rPr>
              <a:t>x</a:t>
            </a:r>
            <a:r>
              <a:rPr lang="en-US" altLang="en-US" sz="2000" dirty="0">
                <a:solidFill>
                  <a:srgbClr val="FF0000"/>
                </a:solidFill>
              </a:rPr>
              <a:t> knows the computer language C++”</a:t>
            </a:r>
            <a:r>
              <a:rPr lang="en-US" altLang="en-US" sz="2000" dirty="0"/>
              <a:t>, Express each of these sentences in terms of </a:t>
            </a:r>
            <a:r>
              <a:rPr lang="en-US" altLang="en-US" sz="2000" i="1" dirty="0"/>
              <a:t>P(x), Q (x),</a:t>
            </a:r>
            <a:r>
              <a:rPr lang="en-US" altLang="en-US" sz="2000" dirty="0"/>
              <a:t> quantifiers, and logical connectives. The </a:t>
            </a:r>
            <a:r>
              <a:rPr lang="en-US" altLang="en-US" sz="2000" dirty="0">
                <a:solidFill>
                  <a:srgbClr val="FF0000"/>
                </a:solidFill>
              </a:rPr>
              <a:t>domain</a:t>
            </a:r>
            <a:r>
              <a:rPr lang="en-US" altLang="en-US" sz="2000" dirty="0"/>
              <a:t> for quantifiers consists of </a:t>
            </a:r>
            <a:r>
              <a:rPr lang="en-US" altLang="en-US" sz="2000" dirty="0">
                <a:solidFill>
                  <a:srgbClr val="FF0000"/>
                </a:solidFill>
              </a:rPr>
              <a:t>all students at your school.</a:t>
            </a:r>
          </a:p>
          <a:p>
            <a:pPr marL="640080" indent="-457200">
              <a:spcBef>
                <a:spcPts val="600"/>
              </a:spcBef>
              <a:buFont typeface="+mj-lt"/>
              <a:buAutoNum type="alphaLcParenR"/>
            </a:pPr>
            <a:r>
              <a:rPr lang="en-US" altLang="en-US" sz="2000" dirty="0"/>
              <a:t>There is a student at your school who can speak Russian and who knows C++.</a:t>
            </a:r>
          </a:p>
          <a:p>
            <a:pPr marL="640080" indent="-457200">
              <a:spcBef>
                <a:spcPts val="600"/>
              </a:spcBef>
              <a:buFont typeface="+mj-lt"/>
              <a:buAutoNum type="alphaLcParenR"/>
            </a:pPr>
            <a:r>
              <a:rPr lang="en-US" altLang="en-US" sz="2000" dirty="0"/>
              <a:t>There is a student at your school who can speak Russian but who doesn’t know C++.</a:t>
            </a:r>
          </a:p>
          <a:p>
            <a:pPr marL="640080" indent="-457200">
              <a:spcBef>
                <a:spcPts val="600"/>
              </a:spcBef>
              <a:buFont typeface="+mj-lt"/>
              <a:buAutoNum type="alphaLcParenR"/>
            </a:pPr>
            <a:r>
              <a:rPr lang="en-US" altLang="en-US" sz="2000" dirty="0"/>
              <a:t>Every student at your school either can speak Russian or knows C++.</a:t>
            </a:r>
          </a:p>
          <a:p>
            <a:pPr marL="640080" indent="-457200">
              <a:spcBef>
                <a:spcPts val="600"/>
              </a:spcBef>
              <a:buFont typeface="+mj-lt"/>
              <a:buAutoNum type="alphaLcParenR"/>
            </a:pPr>
            <a:r>
              <a:rPr lang="en-US" altLang="en-US" sz="2000" dirty="0"/>
              <a:t>No student at your school can speak Russian or knows C++ </a:t>
            </a:r>
            <a:endParaRPr lang="en-US" sz="2000" dirty="0"/>
          </a:p>
        </p:txBody>
      </p:sp>
      <p:sp>
        <p:nvSpPr>
          <p:cNvPr id="5" name="Slide Number Placeholder 4"/>
          <p:cNvSpPr>
            <a:spLocks noGrp="1"/>
          </p:cNvSpPr>
          <p:nvPr>
            <p:ph type="sldNum" sz="quarter" idx="12"/>
          </p:nvPr>
        </p:nvSpPr>
        <p:spPr/>
        <p:txBody>
          <a:bodyPr/>
          <a:lstStyle/>
          <a:p>
            <a:fld id="{5FD889E0-CAB2-4699-909D-B9A88D47ACBE}" type="slidenum">
              <a:rPr lang="en-US" smtClean="0"/>
              <a:pPr/>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000" b="1" dirty="0">
                <a:latin typeface="+mn-lt"/>
              </a:rPr>
              <a:t>Answers </a:t>
            </a:r>
          </a:p>
        </p:txBody>
      </p:sp>
      <p:sp>
        <p:nvSpPr>
          <p:cNvPr id="4" name="Rectangle 3"/>
          <p:cNvSpPr/>
          <p:nvPr/>
        </p:nvSpPr>
        <p:spPr>
          <a:xfrm>
            <a:off x="626061" y="2413338"/>
            <a:ext cx="6436659" cy="3108543"/>
          </a:xfrm>
          <a:prstGeom prst="rect">
            <a:avLst/>
          </a:prstGeom>
        </p:spPr>
        <p:txBody>
          <a:bodyPr wrap="square">
            <a:spAutoFit/>
          </a:bodyPr>
          <a:lstStyle/>
          <a:p>
            <a:pPr marL="514350" indent="-514350">
              <a:buFont typeface="+mj-lt"/>
              <a:buAutoNum type="alphaLcParenR"/>
            </a:pPr>
            <a:r>
              <a:rPr lang="en-US" altLang="en-US" sz="2800" b="1" dirty="0">
                <a:sym typeface="Symbol" pitchFamily="18" charset="2"/>
              </a:rPr>
              <a:t> x (</a:t>
            </a:r>
            <a:r>
              <a:rPr lang="en-US" altLang="en-US" sz="2800" b="1" dirty="0"/>
              <a:t>p(x) </a:t>
            </a:r>
            <a:r>
              <a:rPr lang="en-US" altLang="en-US" sz="2800" b="1" dirty="0">
                <a:sym typeface="Symbol" pitchFamily="18" charset="2"/>
              </a:rPr>
              <a:t> Q(x))</a:t>
            </a:r>
          </a:p>
          <a:p>
            <a:pPr marL="609600" indent="-609600">
              <a:buFont typeface="+mj-lt"/>
              <a:buAutoNum type="alphaLcParenR"/>
            </a:pPr>
            <a:endParaRPr lang="en-US" altLang="en-US" sz="2800" b="1" dirty="0">
              <a:sym typeface="Symbol" pitchFamily="18" charset="2"/>
            </a:endParaRPr>
          </a:p>
          <a:p>
            <a:pPr marL="609600" indent="-609600">
              <a:buFont typeface="+mj-lt"/>
              <a:buAutoNum type="alphaLcParenR"/>
            </a:pPr>
            <a:r>
              <a:rPr lang="en-US" altLang="en-US" sz="2800" b="1" dirty="0">
                <a:sym typeface="Symbol" pitchFamily="18" charset="2"/>
              </a:rPr>
              <a:t> x (</a:t>
            </a:r>
            <a:r>
              <a:rPr lang="en-US" altLang="en-US" sz="2800" b="1" dirty="0"/>
              <a:t>p(x) </a:t>
            </a:r>
            <a:r>
              <a:rPr lang="en-US" altLang="en-US" sz="2800" b="1" dirty="0">
                <a:sym typeface="Symbol" pitchFamily="18" charset="2"/>
              </a:rPr>
              <a:t>  Q(x))</a:t>
            </a:r>
          </a:p>
          <a:p>
            <a:pPr marL="609600" indent="-609600">
              <a:buFont typeface="+mj-lt"/>
              <a:buAutoNum type="alphaLcParenR"/>
            </a:pPr>
            <a:endParaRPr lang="en-US" altLang="en-US" sz="2800" b="1" dirty="0">
              <a:sym typeface="Symbol" pitchFamily="18" charset="2"/>
            </a:endParaRPr>
          </a:p>
          <a:p>
            <a:pPr marL="609600" indent="-609600">
              <a:buFont typeface="+mj-lt"/>
              <a:buAutoNum type="alphaLcParenR"/>
            </a:pPr>
            <a:r>
              <a:rPr lang="en-US" altLang="en-US" sz="2800" b="1" dirty="0">
                <a:sym typeface="Symbol" pitchFamily="18" charset="2"/>
              </a:rPr>
              <a:t> x (</a:t>
            </a:r>
            <a:r>
              <a:rPr lang="en-US" altLang="en-US" sz="2800" b="1" dirty="0"/>
              <a:t>P(x )</a:t>
            </a:r>
            <a:r>
              <a:rPr lang="en-US" altLang="en-US" sz="2800" b="1" dirty="0">
                <a:sym typeface="Symbol" pitchFamily="18" charset="2"/>
              </a:rPr>
              <a:t>  Q(x))</a:t>
            </a:r>
          </a:p>
          <a:p>
            <a:pPr marL="609600" indent="-609600">
              <a:buFont typeface="+mj-lt"/>
              <a:buAutoNum type="alphaLcParenR"/>
            </a:pPr>
            <a:endParaRPr lang="en-US" altLang="en-US" sz="2800" b="1" dirty="0">
              <a:sym typeface="Symbol" pitchFamily="18" charset="2"/>
            </a:endParaRPr>
          </a:p>
          <a:p>
            <a:pPr marL="609600" indent="-609600">
              <a:buFont typeface="+mj-lt"/>
              <a:buAutoNum type="alphaLcParenR"/>
            </a:pPr>
            <a:r>
              <a:rPr lang="en-US" altLang="en-US" sz="2800" b="1" dirty="0">
                <a:sym typeface="Symbol" pitchFamily="18" charset="2"/>
              </a:rPr>
              <a:t> x  (</a:t>
            </a:r>
            <a:r>
              <a:rPr lang="en-US" altLang="en-US" sz="2800" b="1" dirty="0"/>
              <a:t>P(x )</a:t>
            </a:r>
            <a:r>
              <a:rPr lang="en-US" altLang="en-US" sz="2800" b="1" dirty="0">
                <a:sym typeface="Symbol" pitchFamily="18" charset="2"/>
              </a:rPr>
              <a:t>  Q(x)) </a:t>
            </a:r>
            <a:endParaRPr lang="en-US" sz="2800" dirty="0"/>
          </a:p>
        </p:txBody>
      </p:sp>
      <p:sp>
        <p:nvSpPr>
          <p:cNvPr id="5" name="Slide Number Placeholder 4"/>
          <p:cNvSpPr>
            <a:spLocks noGrp="1"/>
          </p:cNvSpPr>
          <p:nvPr>
            <p:ph type="sldNum" sz="quarter" idx="12"/>
          </p:nvPr>
        </p:nvSpPr>
        <p:spPr/>
        <p:txBody>
          <a:bodyPr/>
          <a:lstStyle/>
          <a:p>
            <a:fld id="{5FD889E0-CAB2-4699-909D-B9A88D47ACBE}" type="slidenum">
              <a:rPr lang="en-US" smtClean="0"/>
              <a:pPr/>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000" b="1" dirty="0">
                <a:latin typeface="+mn-lt"/>
              </a:rPr>
              <a:t>Exercise 25 (p. 44)</a:t>
            </a:r>
          </a:p>
        </p:txBody>
      </p:sp>
      <p:sp>
        <p:nvSpPr>
          <p:cNvPr id="4" name="Rectangle 3"/>
          <p:cNvSpPr/>
          <p:nvPr/>
        </p:nvSpPr>
        <p:spPr>
          <a:xfrm>
            <a:off x="272948" y="2134319"/>
            <a:ext cx="8461612" cy="3600986"/>
          </a:xfrm>
          <a:prstGeom prst="rect">
            <a:avLst/>
          </a:prstGeom>
        </p:spPr>
        <p:txBody>
          <a:bodyPr wrap="square">
            <a:spAutoFit/>
          </a:bodyPr>
          <a:lstStyle/>
          <a:p>
            <a:r>
              <a:rPr lang="en-US" altLang="en-US" sz="2800" dirty="0">
                <a:solidFill>
                  <a:srgbClr val="FC0000"/>
                </a:solidFill>
              </a:rPr>
              <a:t>Translate each of the statements into logical expressions using predicates, quantifiers, and logical connectives.</a:t>
            </a:r>
            <a:r>
              <a:rPr lang="en-US" altLang="en-US" sz="2800" dirty="0"/>
              <a:t> </a:t>
            </a:r>
          </a:p>
          <a:p>
            <a:r>
              <a:rPr lang="en-US" altLang="en-US" sz="2800" dirty="0">
                <a:solidFill>
                  <a:srgbClr val="FF0000"/>
                </a:solidFill>
              </a:rPr>
              <a:t>Let the </a:t>
            </a:r>
            <a:r>
              <a:rPr lang="en-US" altLang="en-US" sz="2800" b="1" dirty="0">
                <a:solidFill>
                  <a:srgbClr val="FF0000"/>
                </a:solidFill>
              </a:rPr>
              <a:t>domain</a:t>
            </a:r>
            <a:r>
              <a:rPr lang="en-US" altLang="en-US" sz="2800" dirty="0">
                <a:solidFill>
                  <a:srgbClr val="FF0000"/>
                </a:solidFill>
              </a:rPr>
              <a:t> be </a:t>
            </a:r>
            <a:r>
              <a:rPr lang="en-US" altLang="en-US" sz="2800" b="1" dirty="0">
                <a:solidFill>
                  <a:srgbClr val="FF0000"/>
                </a:solidFill>
              </a:rPr>
              <a:t>all</a:t>
            </a:r>
            <a:r>
              <a:rPr lang="en-US" altLang="en-US" sz="2800" dirty="0">
                <a:solidFill>
                  <a:srgbClr val="FF0000"/>
                </a:solidFill>
              </a:rPr>
              <a:t> </a:t>
            </a:r>
            <a:r>
              <a:rPr lang="en-US" altLang="en-US" sz="2800" b="1" dirty="0">
                <a:solidFill>
                  <a:srgbClr val="FF0000"/>
                </a:solidFill>
              </a:rPr>
              <a:t>people </a:t>
            </a:r>
            <a:endParaRPr lang="en-US" altLang="en-US" sz="2800" dirty="0">
              <a:solidFill>
                <a:srgbClr val="FF0000"/>
              </a:solidFill>
            </a:endParaRPr>
          </a:p>
          <a:p>
            <a:pPr marL="1005840" lvl="1" indent="-457200">
              <a:buFont typeface="+mj-lt"/>
              <a:buAutoNum type="alphaLcParenR"/>
            </a:pPr>
            <a:r>
              <a:rPr lang="en-US" altLang="en-US" sz="2400" dirty="0"/>
              <a:t>No one is perfect.</a:t>
            </a:r>
          </a:p>
          <a:p>
            <a:pPr marL="1005840" lvl="1" indent="-457200">
              <a:buFont typeface="+mj-lt"/>
              <a:buAutoNum type="alphaLcParenR"/>
            </a:pPr>
            <a:r>
              <a:rPr lang="en-US" altLang="en-US" sz="2400" dirty="0"/>
              <a:t>Not everyone is perfect.</a:t>
            </a:r>
          </a:p>
          <a:p>
            <a:pPr marL="1005840" lvl="1" indent="-457200">
              <a:buFont typeface="+mj-lt"/>
              <a:buAutoNum type="alphaLcParenR"/>
            </a:pPr>
            <a:r>
              <a:rPr lang="en-US" altLang="en-US" sz="2400" dirty="0"/>
              <a:t>All your friends are perfect.</a:t>
            </a:r>
          </a:p>
          <a:p>
            <a:pPr marL="1005840" lvl="1" indent="-457200">
              <a:buFont typeface="+mj-lt"/>
              <a:buAutoNum type="alphaLcParenR"/>
            </a:pPr>
            <a:r>
              <a:rPr lang="en-US" altLang="en-US" sz="2400" dirty="0"/>
              <a:t>At least one of your friends is perfect.</a:t>
            </a:r>
          </a:p>
          <a:p>
            <a:pPr marL="1005840" lvl="1" indent="-457200">
              <a:buFont typeface="+mj-lt"/>
              <a:buAutoNum type="alphaLcParenR"/>
            </a:pPr>
            <a:r>
              <a:rPr lang="en-US" altLang="en-US" sz="2400" dirty="0"/>
              <a:t>Everyone is your friend and is perfect. </a:t>
            </a:r>
          </a:p>
          <a:p>
            <a:pPr marL="1005840" lvl="1" indent="-457200">
              <a:buFont typeface="+mj-lt"/>
              <a:buAutoNum type="alphaLcParenR"/>
            </a:pPr>
            <a:r>
              <a:rPr lang="en-US" sz="2400" dirty="0"/>
              <a:t>Not everybody is your friend or someone is not perfect. </a:t>
            </a:r>
          </a:p>
        </p:txBody>
      </p:sp>
      <p:sp>
        <p:nvSpPr>
          <p:cNvPr id="5" name="Slide Number Placeholder 4"/>
          <p:cNvSpPr>
            <a:spLocks noGrp="1"/>
          </p:cNvSpPr>
          <p:nvPr>
            <p:ph type="sldNum" sz="quarter" idx="12"/>
          </p:nvPr>
        </p:nvSpPr>
        <p:spPr/>
        <p:txBody>
          <a:bodyPr/>
          <a:lstStyle/>
          <a:p>
            <a:fld id="{5FD889E0-CAB2-4699-909D-B9A88D47ACBE}" type="slidenum">
              <a:rPr lang="en-US" smtClean="0"/>
              <a:pPr/>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000" b="1" dirty="0">
                <a:latin typeface="+mn-lt"/>
              </a:rPr>
              <a:t>Solution </a:t>
            </a:r>
          </a:p>
        </p:txBody>
      </p:sp>
      <p:sp>
        <p:nvSpPr>
          <p:cNvPr id="4" name="Rectangle 3"/>
          <p:cNvSpPr/>
          <p:nvPr/>
        </p:nvSpPr>
        <p:spPr>
          <a:xfrm>
            <a:off x="245653" y="2255132"/>
            <a:ext cx="8147714" cy="3539430"/>
          </a:xfrm>
          <a:prstGeom prst="rect">
            <a:avLst/>
          </a:prstGeom>
        </p:spPr>
        <p:txBody>
          <a:bodyPr wrap="square">
            <a:spAutoFit/>
          </a:bodyPr>
          <a:lstStyle/>
          <a:p>
            <a:r>
              <a:rPr lang="en-US" altLang="en-US" sz="2800" dirty="0"/>
              <a:t>Let </a:t>
            </a:r>
            <a:r>
              <a:rPr lang="en-US" altLang="en-US" sz="2800" i="1" dirty="0">
                <a:solidFill>
                  <a:srgbClr val="0000FF"/>
                </a:solidFill>
              </a:rPr>
              <a:t>P(x)</a:t>
            </a:r>
            <a:r>
              <a:rPr lang="en-US" altLang="en-US" sz="2800" dirty="0"/>
              <a:t> be </a:t>
            </a:r>
            <a:r>
              <a:rPr lang="en-US" altLang="en-US" sz="2800" dirty="0">
                <a:solidFill>
                  <a:srgbClr val="0000FF"/>
                </a:solidFill>
              </a:rPr>
              <a:t>“</a:t>
            </a:r>
            <a:r>
              <a:rPr lang="en-US" altLang="en-US" sz="2800" i="1" dirty="0">
                <a:solidFill>
                  <a:srgbClr val="0000FF"/>
                </a:solidFill>
              </a:rPr>
              <a:t>x</a:t>
            </a:r>
            <a:r>
              <a:rPr lang="en-US" altLang="en-US" sz="2800" dirty="0">
                <a:solidFill>
                  <a:srgbClr val="0000FF"/>
                </a:solidFill>
              </a:rPr>
              <a:t> is perfect”</a:t>
            </a:r>
            <a:r>
              <a:rPr lang="en-US" altLang="en-US" sz="2800" dirty="0"/>
              <a:t>; let </a:t>
            </a:r>
            <a:r>
              <a:rPr lang="en-US" altLang="en-US" sz="2800" i="1" dirty="0">
                <a:solidFill>
                  <a:srgbClr val="FF0000"/>
                </a:solidFill>
              </a:rPr>
              <a:t>F(x)</a:t>
            </a:r>
            <a:r>
              <a:rPr lang="en-US" altLang="en-US" sz="2800" i="1" dirty="0"/>
              <a:t> </a:t>
            </a:r>
            <a:r>
              <a:rPr lang="en-US" altLang="en-US" sz="2800" dirty="0"/>
              <a:t>be</a:t>
            </a:r>
            <a:r>
              <a:rPr lang="en-US" altLang="en-US" sz="2800" i="1" dirty="0"/>
              <a:t> </a:t>
            </a:r>
            <a:r>
              <a:rPr lang="en-US" altLang="en-US" sz="2800" dirty="0">
                <a:solidFill>
                  <a:srgbClr val="FF0000"/>
                </a:solidFill>
              </a:rPr>
              <a:t>“</a:t>
            </a:r>
            <a:r>
              <a:rPr lang="en-US" altLang="en-US" sz="2800" i="1" dirty="0">
                <a:solidFill>
                  <a:srgbClr val="FF0000"/>
                </a:solidFill>
              </a:rPr>
              <a:t>x</a:t>
            </a:r>
            <a:r>
              <a:rPr lang="en-US" altLang="en-US" sz="2800" dirty="0">
                <a:solidFill>
                  <a:srgbClr val="FF0000"/>
                </a:solidFill>
              </a:rPr>
              <a:t> is your friend”</a:t>
            </a:r>
            <a:r>
              <a:rPr lang="en-US" altLang="en-US" sz="2800" dirty="0"/>
              <a:t>.</a:t>
            </a:r>
          </a:p>
          <a:p>
            <a:endParaRPr lang="en-US" altLang="en-US" sz="2800" dirty="0"/>
          </a:p>
          <a:p>
            <a:pPr marL="1005840" lvl="1" indent="-548640">
              <a:buFont typeface="+mj-lt"/>
              <a:buAutoNum type="alphaLcParenR"/>
            </a:pPr>
            <a:r>
              <a:rPr lang="en-US" altLang="en-US" sz="2800" dirty="0">
                <a:sym typeface="Symbol" pitchFamily="18" charset="2"/>
              </a:rPr>
              <a:t>x  </a:t>
            </a:r>
            <a:r>
              <a:rPr lang="en-US" altLang="en-US" sz="2800" dirty="0"/>
              <a:t>P(x )</a:t>
            </a:r>
            <a:endParaRPr lang="en-US" altLang="en-US" sz="2800" dirty="0">
              <a:sym typeface="Symbol" pitchFamily="18" charset="2"/>
            </a:endParaRPr>
          </a:p>
          <a:p>
            <a:pPr marL="1005840" lvl="1" indent="-548640">
              <a:buFont typeface="+mj-lt"/>
              <a:buAutoNum type="alphaLcParenR"/>
            </a:pPr>
            <a:r>
              <a:rPr lang="en-US" altLang="en-US" sz="2800" dirty="0">
                <a:sym typeface="Symbol" pitchFamily="18" charset="2"/>
              </a:rPr>
              <a:t> x </a:t>
            </a:r>
            <a:r>
              <a:rPr lang="en-US" altLang="en-US" sz="2800" dirty="0"/>
              <a:t>P(x )</a:t>
            </a:r>
          </a:p>
          <a:p>
            <a:pPr marL="1005840" lvl="1" indent="-548640">
              <a:buFont typeface="+mj-lt"/>
              <a:buAutoNum type="alphaLcParenR"/>
            </a:pPr>
            <a:r>
              <a:rPr lang="en-US" altLang="en-US" sz="2800" dirty="0">
                <a:sym typeface="Symbol" pitchFamily="18" charset="2"/>
              </a:rPr>
              <a:t>x ( F(x) </a:t>
            </a:r>
            <a:r>
              <a:rPr lang="en-US" altLang="en-US" sz="2800" dirty="0">
                <a:sym typeface="Wingdings" pitchFamily="2" charset="2"/>
              </a:rPr>
              <a:t></a:t>
            </a:r>
            <a:r>
              <a:rPr lang="en-US" altLang="en-US" sz="2800" dirty="0"/>
              <a:t>P (x) )</a:t>
            </a:r>
            <a:endParaRPr lang="en-US" altLang="en-US" sz="2800" dirty="0">
              <a:sym typeface="Symbol" pitchFamily="18" charset="2"/>
            </a:endParaRPr>
          </a:p>
          <a:p>
            <a:pPr marL="1005840" lvl="1" indent="-548640">
              <a:buFont typeface="+mj-lt"/>
              <a:buAutoNum type="alphaLcParenR"/>
            </a:pPr>
            <a:r>
              <a:rPr lang="en-US" altLang="en-US" sz="2800" dirty="0">
                <a:sym typeface="Symbol" pitchFamily="18" charset="2"/>
              </a:rPr>
              <a:t> x (</a:t>
            </a:r>
            <a:r>
              <a:rPr lang="en-US" altLang="en-US" sz="2800" dirty="0"/>
              <a:t>F(x) </a:t>
            </a:r>
            <a:r>
              <a:rPr lang="en-US" altLang="en-US" sz="2800" dirty="0">
                <a:sym typeface="Symbol" pitchFamily="18" charset="2"/>
              </a:rPr>
              <a:t>  P(x))</a:t>
            </a:r>
          </a:p>
          <a:p>
            <a:pPr marL="1005840" lvl="1" indent="-548640">
              <a:buFont typeface="+mj-lt"/>
              <a:buAutoNum type="alphaLcParenR"/>
            </a:pPr>
            <a:r>
              <a:rPr lang="en-US" altLang="en-US" sz="2800" dirty="0">
                <a:sym typeface="Symbol" pitchFamily="18" charset="2"/>
              </a:rPr>
              <a:t> x (</a:t>
            </a:r>
            <a:r>
              <a:rPr lang="en-US" altLang="en-US" sz="2800" dirty="0"/>
              <a:t>F(x )</a:t>
            </a:r>
            <a:r>
              <a:rPr lang="en-US" altLang="en-US" sz="2800" dirty="0">
                <a:sym typeface="Symbol" pitchFamily="18" charset="2"/>
              </a:rPr>
              <a:t>  P(x))   </a:t>
            </a:r>
            <a:r>
              <a:rPr lang="en-US" altLang="en-US" sz="2800" i="1" dirty="0">
                <a:solidFill>
                  <a:srgbClr val="FF0000"/>
                </a:solidFill>
                <a:sym typeface="Symbol" pitchFamily="18" charset="2"/>
              </a:rPr>
              <a:t>or</a:t>
            </a:r>
            <a:r>
              <a:rPr lang="en-US" altLang="en-US" sz="2800" dirty="0">
                <a:sym typeface="Symbol" pitchFamily="18" charset="2"/>
              </a:rPr>
              <a:t>  (x (</a:t>
            </a:r>
            <a:r>
              <a:rPr lang="en-US" altLang="en-US" sz="2800" dirty="0"/>
              <a:t>F(x ))</a:t>
            </a:r>
            <a:r>
              <a:rPr lang="en-US" altLang="en-US" sz="2800" dirty="0">
                <a:sym typeface="Symbol" pitchFamily="18" charset="2"/>
              </a:rPr>
              <a:t>  (x P(x)) </a:t>
            </a:r>
          </a:p>
          <a:p>
            <a:pPr marL="1005840" lvl="1" indent="-548640">
              <a:buFont typeface="+mj-lt"/>
              <a:buAutoNum type="alphaLcParenR"/>
            </a:pPr>
            <a:r>
              <a:rPr lang="en-US" altLang="en-US" sz="2800" dirty="0">
                <a:sym typeface="Symbol" pitchFamily="18" charset="2"/>
              </a:rPr>
              <a:t>(</a:t>
            </a:r>
            <a:r>
              <a:rPr lang="en-US" sz="2800" dirty="0">
                <a:latin typeface="Cambria Math"/>
                <a:ea typeface="Cambria Math"/>
              </a:rPr>
              <a:t>¬</a:t>
            </a:r>
            <a:r>
              <a:rPr lang="en-US" altLang="en-US" sz="2800" dirty="0">
                <a:sym typeface="Symbol" pitchFamily="18" charset="2"/>
              </a:rPr>
              <a:t>x (</a:t>
            </a:r>
            <a:r>
              <a:rPr lang="en-US" altLang="en-US" sz="2800" dirty="0"/>
              <a:t>F(x )) </a:t>
            </a:r>
            <a:r>
              <a:rPr lang="en-US" sz="2800" dirty="0">
                <a:latin typeface="Cambria Math"/>
                <a:ea typeface="Cambria Math"/>
              </a:rPr>
              <a:t>∨ (</a:t>
            </a:r>
            <a:r>
              <a:rPr lang="en-US" altLang="en-US" sz="2800" dirty="0">
                <a:sym typeface="Symbol" pitchFamily="18" charset="2"/>
              </a:rPr>
              <a:t> x</a:t>
            </a:r>
            <a:r>
              <a:rPr lang="en-US" sz="2800" dirty="0">
                <a:latin typeface="Cambria Math"/>
                <a:ea typeface="Cambria Math"/>
              </a:rPr>
              <a:t>¬</a:t>
            </a:r>
            <a:r>
              <a:rPr lang="en-US" altLang="en-US" sz="2800" dirty="0"/>
              <a:t> P(x ))</a:t>
            </a:r>
            <a:r>
              <a:rPr lang="en-US" sz="2800" dirty="0"/>
              <a:t> </a:t>
            </a:r>
          </a:p>
        </p:txBody>
      </p:sp>
      <p:sp>
        <p:nvSpPr>
          <p:cNvPr id="5" name="Slide Number Placeholder 4"/>
          <p:cNvSpPr>
            <a:spLocks noGrp="1"/>
          </p:cNvSpPr>
          <p:nvPr>
            <p:ph type="sldNum" sz="quarter" idx="12"/>
          </p:nvPr>
        </p:nvSpPr>
        <p:spPr/>
        <p:txBody>
          <a:bodyPr/>
          <a:lstStyle/>
          <a:p>
            <a:fld id="{5FD889E0-CAB2-4699-909D-B9A88D47ACBE}" type="slidenum">
              <a:rPr lang="en-US" smtClean="0"/>
              <a:pPr/>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1340" y="449005"/>
            <a:ext cx="7476663" cy="1088136"/>
          </a:xfrm>
        </p:spPr>
        <p:txBody>
          <a:bodyPr>
            <a:noAutofit/>
          </a:bodyPr>
          <a:lstStyle/>
          <a:p>
            <a:pPr>
              <a:lnSpc>
                <a:spcPct val="100000"/>
              </a:lnSpc>
            </a:pPr>
            <a:r>
              <a:rPr lang="en-US" sz="2000" b="1" dirty="0">
                <a:latin typeface="+mn-lt"/>
              </a:rPr>
              <a:t>Practice: </a:t>
            </a:r>
            <a:r>
              <a:rPr lang="en-US" altLang="en-US" sz="2000" b="1" dirty="0"/>
              <a:t>Translate each of the statements into logical expressions using predicates, quantifiers, and logical connectives. </a:t>
            </a:r>
            <a:endParaRPr lang="en-US" sz="2000" b="1" dirty="0">
              <a:latin typeface="+mn-lt"/>
            </a:endParaRPr>
          </a:p>
        </p:txBody>
      </p:sp>
      <p:sp>
        <p:nvSpPr>
          <p:cNvPr id="4" name="Rectangle 3"/>
          <p:cNvSpPr/>
          <p:nvPr/>
        </p:nvSpPr>
        <p:spPr>
          <a:xfrm>
            <a:off x="272948" y="2134319"/>
            <a:ext cx="8461612" cy="4431983"/>
          </a:xfrm>
          <a:prstGeom prst="rect">
            <a:avLst/>
          </a:prstGeom>
        </p:spPr>
        <p:txBody>
          <a:bodyPr wrap="square">
            <a:spAutoFit/>
          </a:bodyPr>
          <a:lstStyle/>
          <a:p>
            <a:r>
              <a:rPr lang="en-US" altLang="en-US" sz="2000" dirty="0">
                <a:solidFill>
                  <a:srgbClr val="FF0000"/>
                </a:solidFill>
              </a:rPr>
              <a:t>Let the </a:t>
            </a:r>
            <a:r>
              <a:rPr lang="en-US" altLang="en-US" sz="2000" b="1" dirty="0">
                <a:solidFill>
                  <a:srgbClr val="FF0000"/>
                </a:solidFill>
              </a:rPr>
              <a:t>domain</a:t>
            </a:r>
            <a:r>
              <a:rPr lang="en-US" altLang="en-US" sz="2000" dirty="0">
                <a:solidFill>
                  <a:srgbClr val="FF0000"/>
                </a:solidFill>
              </a:rPr>
              <a:t> be </a:t>
            </a:r>
            <a:r>
              <a:rPr lang="en-US" altLang="en-US" sz="2000" b="1" dirty="0">
                <a:solidFill>
                  <a:srgbClr val="FF0000"/>
                </a:solidFill>
              </a:rPr>
              <a:t>all</a:t>
            </a:r>
            <a:r>
              <a:rPr lang="en-US" altLang="en-US" sz="2000" dirty="0">
                <a:solidFill>
                  <a:srgbClr val="FF0000"/>
                </a:solidFill>
              </a:rPr>
              <a:t> </a:t>
            </a:r>
            <a:r>
              <a:rPr lang="en-US" altLang="en-US" sz="2000" b="1" dirty="0">
                <a:solidFill>
                  <a:srgbClr val="FF0000"/>
                </a:solidFill>
              </a:rPr>
              <a:t>students in your university </a:t>
            </a:r>
            <a:endParaRPr lang="en-US" altLang="en-US" sz="2000" dirty="0">
              <a:solidFill>
                <a:srgbClr val="FF0000"/>
              </a:solidFill>
            </a:endParaRPr>
          </a:p>
          <a:p>
            <a:pPr marL="285750" indent="-285750">
              <a:buFont typeface="Arial" panose="020B0604020202020204" pitchFamily="34" charset="0"/>
              <a:buChar char="•"/>
            </a:pPr>
            <a:r>
              <a:rPr lang="en-US" sz="2200" dirty="0"/>
              <a:t>There is a person in your university who is Bangladeshi.</a:t>
            </a:r>
          </a:p>
          <a:p>
            <a:r>
              <a:rPr lang="en-US" altLang="en-US" sz="2200" dirty="0">
                <a:sym typeface="Symbol" pitchFamily="18" charset="2"/>
              </a:rPr>
              <a:t>       x B(x) where B(x) be “x is Bangladeshi”</a:t>
            </a:r>
          </a:p>
          <a:p>
            <a:endParaRPr lang="en-US" sz="2200" dirty="0"/>
          </a:p>
          <a:p>
            <a:pPr marL="285750" indent="-285750">
              <a:buFont typeface="Arial" panose="020B0604020202020204" pitchFamily="34" charset="0"/>
              <a:buChar char="•"/>
            </a:pPr>
            <a:r>
              <a:rPr lang="en-US" sz="2200" dirty="0"/>
              <a:t>No student in your university has studied DM. </a:t>
            </a:r>
          </a:p>
          <a:p>
            <a:pPr marL="285750" indent="-285750">
              <a:buFont typeface="Arial" panose="020B0604020202020204" pitchFamily="34" charset="0"/>
              <a:buChar char="•"/>
            </a:pPr>
            <a:r>
              <a:rPr lang="en-US" sz="2200" dirty="0"/>
              <a:t>(here no is for the students who has studied DM)</a:t>
            </a:r>
          </a:p>
          <a:p>
            <a:r>
              <a:rPr lang="en-US" sz="2200" dirty="0"/>
              <a:t>      </a:t>
            </a:r>
            <a:r>
              <a:rPr lang="en-US" altLang="en-US" sz="2200" dirty="0">
                <a:sym typeface="Symbol" pitchFamily="18" charset="2"/>
              </a:rPr>
              <a:t>x </a:t>
            </a:r>
            <a:r>
              <a:rPr lang="en-US" altLang="en-US" sz="2200" dirty="0">
                <a:highlight>
                  <a:srgbClr val="FFFF00"/>
                </a:highlight>
                <a:sym typeface="Symbol" pitchFamily="18" charset="2"/>
              </a:rPr>
              <a:t> D</a:t>
            </a:r>
            <a:r>
              <a:rPr lang="en-US" altLang="en-US" sz="2200" dirty="0">
                <a:highlight>
                  <a:srgbClr val="FFFF00"/>
                </a:highlight>
              </a:rPr>
              <a:t>(x ) </a:t>
            </a:r>
            <a:r>
              <a:rPr lang="en-US" altLang="en-US" sz="2200" dirty="0"/>
              <a:t>where D(x) be “x has studied DM”</a:t>
            </a:r>
          </a:p>
          <a:p>
            <a:r>
              <a:rPr lang="en-US" altLang="en-US" sz="2200" dirty="0"/>
              <a:t>     = </a:t>
            </a:r>
            <a:r>
              <a:rPr lang="en-US" altLang="en-US" sz="2200" dirty="0">
                <a:highlight>
                  <a:srgbClr val="FFFF00"/>
                </a:highlight>
                <a:sym typeface="Symbol" pitchFamily="18" charset="2"/>
              </a:rPr>
              <a:t> </a:t>
            </a:r>
            <a:r>
              <a:rPr lang="en-US" altLang="en-US" sz="2200" dirty="0">
                <a:sym typeface="Symbol" pitchFamily="18" charset="2"/>
              </a:rPr>
              <a:t> x D(x)</a:t>
            </a:r>
            <a:endParaRPr lang="en-US" altLang="en-US" sz="2200" dirty="0"/>
          </a:p>
          <a:p>
            <a:endParaRPr lang="en-US" sz="2200" dirty="0"/>
          </a:p>
          <a:p>
            <a:pPr marL="285750" indent="-285750">
              <a:buFont typeface="Arial" panose="020B0604020202020204" pitchFamily="34" charset="0"/>
              <a:buChar char="•"/>
            </a:pPr>
            <a:r>
              <a:rPr lang="en-US" sz="2200" dirty="0"/>
              <a:t>Everyone in your class is perfect.</a:t>
            </a:r>
          </a:p>
          <a:p>
            <a:r>
              <a:rPr lang="en-US" sz="2200" dirty="0"/>
              <a:t>     </a:t>
            </a:r>
            <a:r>
              <a:rPr lang="en-US" altLang="en-US" sz="2200" dirty="0">
                <a:sym typeface="Symbol" pitchFamily="18" charset="2"/>
              </a:rPr>
              <a:t>x  P </a:t>
            </a:r>
            <a:r>
              <a:rPr lang="en-US" altLang="en-US" sz="2200" dirty="0"/>
              <a:t>(x ) where P(x) be “x is perfect”</a:t>
            </a:r>
            <a:br>
              <a:rPr lang="en-US" altLang="en-US" sz="2200" dirty="0"/>
            </a:br>
            <a:endParaRPr lang="en-US" altLang="en-US" sz="2200" dirty="0"/>
          </a:p>
          <a:p>
            <a:pPr marL="1200150" lvl="2" indent="-285750">
              <a:buFont typeface="Arial" panose="020B0604020202020204" pitchFamily="34" charset="0"/>
              <a:buChar char="•"/>
            </a:pPr>
            <a:endParaRPr lang="en-US" sz="2000" dirty="0"/>
          </a:p>
        </p:txBody>
      </p:sp>
      <p:sp>
        <p:nvSpPr>
          <p:cNvPr id="5" name="Slide Number Placeholder 4"/>
          <p:cNvSpPr>
            <a:spLocks noGrp="1"/>
          </p:cNvSpPr>
          <p:nvPr>
            <p:ph type="sldNum" sz="quarter" idx="12"/>
          </p:nvPr>
        </p:nvSpPr>
        <p:spPr/>
        <p:txBody>
          <a:bodyPr/>
          <a:lstStyle/>
          <a:p>
            <a:fld id="{5FD889E0-CAB2-4699-909D-B9A88D47ACBE}" type="slidenum">
              <a:rPr lang="en-US" smtClean="0"/>
              <a:pPr/>
              <a:t>38</a:t>
            </a:fld>
            <a:endParaRPr lang="en-US"/>
          </a:p>
        </p:txBody>
      </p:sp>
    </p:spTree>
    <p:extLst>
      <p:ext uri="{BB962C8B-B14F-4D97-AF65-F5344CB8AC3E}">
        <p14:creationId xmlns:p14="http://schemas.microsoft.com/office/powerpoint/2010/main" val="348606693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1340" y="449005"/>
            <a:ext cx="7476663" cy="1088136"/>
          </a:xfrm>
        </p:spPr>
        <p:txBody>
          <a:bodyPr>
            <a:noAutofit/>
          </a:bodyPr>
          <a:lstStyle/>
          <a:p>
            <a:pPr>
              <a:lnSpc>
                <a:spcPct val="100000"/>
              </a:lnSpc>
            </a:pPr>
            <a:r>
              <a:rPr lang="en-US" sz="2000" b="1" dirty="0">
                <a:latin typeface="+mn-lt"/>
              </a:rPr>
              <a:t>Practice: </a:t>
            </a:r>
            <a:r>
              <a:rPr lang="en-US" altLang="en-US" sz="2000" b="1" dirty="0"/>
              <a:t>Translate each of the statements into logical expressions using predicates, quantifiers, and logical connectives. </a:t>
            </a:r>
            <a:endParaRPr lang="en-US" sz="2000" b="1" dirty="0">
              <a:latin typeface="+mn-lt"/>
            </a:endParaRPr>
          </a:p>
        </p:txBody>
      </p:sp>
      <p:sp>
        <p:nvSpPr>
          <p:cNvPr id="4" name="Rectangle 3"/>
          <p:cNvSpPr/>
          <p:nvPr/>
        </p:nvSpPr>
        <p:spPr>
          <a:xfrm>
            <a:off x="272948" y="2134319"/>
            <a:ext cx="8461612" cy="3077766"/>
          </a:xfrm>
          <a:prstGeom prst="rect">
            <a:avLst/>
          </a:prstGeom>
        </p:spPr>
        <p:txBody>
          <a:bodyPr wrap="square">
            <a:spAutoFit/>
          </a:bodyPr>
          <a:lstStyle/>
          <a:p>
            <a:r>
              <a:rPr lang="en-US" altLang="en-US" sz="2000" dirty="0">
                <a:solidFill>
                  <a:srgbClr val="FF0000"/>
                </a:solidFill>
              </a:rPr>
              <a:t>Let the </a:t>
            </a:r>
            <a:r>
              <a:rPr lang="en-US" altLang="en-US" sz="2000" b="1" dirty="0">
                <a:solidFill>
                  <a:srgbClr val="FF0000"/>
                </a:solidFill>
              </a:rPr>
              <a:t>domain</a:t>
            </a:r>
            <a:r>
              <a:rPr lang="en-US" altLang="en-US" sz="2000" dirty="0">
                <a:solidFill>
                  <a:srgbClr val="FF0000"/>
                </a:solidFill>
              </a:rPr>
              <a:t> be </a:t>
            </a:r>
            <a:r>
              <a:rPr lang="en-US" altLang="en-US" sz="2000" b="1" dirty="0">
                <a:solidFill>
                  <a:srgbClr val="FF0000"/>
                </a:solidFill>
              </a:rPr>
              <a:t>all</a:t>
            </a:r>
            <a:r>
              <a:rPr lang="en-US" altLang="en-US" sz="2000" dirty="0">
                <a:solidFill>
                  <a:srgbClr val="FF0000"/>
                </a:solidFill>
              </a:rPr>
              <a:t> </a:t>
            </a:r>
            <a:r>
              <a:rPr lang="en-US" altLang="en-US" sz="2000" b="1" dirty="0">
                <a:solidFill>
                  <a:srgbClr val="FF0000"/>
                </a:solidFill>
              </a:rPr>
              <a:t>students in your university </a:t>
            </a:r>
            <a:endParaRPr lang="en-US" altLang="en-US" sz="2000" dirty="0">
              <a:solidFill>
                <a:srgbClr val="FF0000"/>
              </a:solidFill>
            </a:endParaRPr>
          </a:p>
          <a:p>
            <a:endParaRPr lang="en-US" altLang="en-US" sz="2200" dirty="0"/>
          </a:p>
          <a:p>
            <a:pPr marL="285750" indent="-285750">
              <a:buFont typeface="Arial" panose="020B0604020202020204" pitchFamily="34" charset="0"/>
              <a:buChar char="•"/>
            </a:pPr>
            <a:r>
              <a:rPr lang="en-US" sz="2200" dirty="0"/>
              <a:t>Not Everyone in your class is perfect.</a:t>
            </a:r>
          </a:p>
          <a:p>
            <a:r>
              <a:rPr lang="en-US" sz="2200" dirty="0"/>
              <a:t>(here not is for the quantifier which is everyone )</a:t>
            </a:r>
          </a:p>
          <a:p>
            <a:r>
              <a:rPr lang="en-US" sz="2200" dirty="0"/>
              <a:t>     </a:t>
            </a:r>
            <a:r>
              <a:rPr lang="en-US" altLang="en-US" sz="2200" dirty="0">
                <a:highlight>
                  <a:srgbClr val="FFFF00"/>
                </a:highlight>
                <a:sym typeface="Symbol" pitchFamily="18" charset="2"/>
              </a:rPr>
              <a:t> </a:t>
            </a:r>
            <a:r>
              <a:rPr lang="en-US" altLang="en-US" sz="2200" dirty="0">
                <a:sym typeface="Symbol" pitchFamily="18" charset="2"/>
              </a:rPr>
              <a:t>x P </a:t>
            </a:r>
            <a:r>
              <a:rPr lang="en-US" altLang="en-US" sz="2200" dirty="0"/>
              <a:t>(x ) where P(x) be “x is perfect”</a:t>
            </a:r>
            <a:br>
              <a:rPr lang="en-US" altLang="en-US" sz="2200" dirty="0"/>
            </a:br>
            <a:endParaRPr lang="en-US" sz="2200" dirty="0"/>
          </a:p>
          <a:p>
            <a:pPr marL="285750" indent="-285750">
              <a:buFont typeface="Arial" panose="020B0604020202020204" pitchFamily="34" charset="0"/>
              <a:buChar char="•"/>
            </a:pPr>
            <a:r>
              <a:rPr lang="en-US" sz="2200" dirty="0"/>
              <a:t>Someone in your class can speak </a:t>
            </a:r>
            <a:r>
              <a:rPr lang="en-US" sz="2200" dirty="0" err="1"/>
              <a:t>russian</a:t>
            </a:r>
            <a:r>
              <a:rPr lang="en-US" sz="2200" dirty="0"/>
              <a:t>. </a:t>
            </a:r>
          </a:p>
          <a:p>
            <a:r>
              <a:rPr lang="en-US" altLang="en-US" sz="2200" dirty="0">
                <a:sym typeface="Symbol" pitchFamily="18" charset="2"/>
              </a:rPr>
              <a:t>     x H(x) where H(x) be “ x can speak Russian”  </a:t>
            </a:r>
            <a:endParaRPr lang="en-US" sz="2200" dirty="0"/>
          </a:p>
          <a:p>
            <a:pPr marL="1200150" lvl="2" indent="-285750">
              <a:buFont typeface="Arial" panose="020B0604020202020204" pitchFamily="34" charset="0"/>
              <a:buChar char="•"/>
            </a:pPr>
            <a:endParaRPr lang="en-US" sz="2000" dirty="0"/>
          </a:p>
        </p:txBody>
      </p:sp>
      <p:sp>
        <p:nvSpPr>
          <p:cNvPr id="5" name="Slide Number Placeholder 4"/>
          <p:cNvSpPr>
            <a:spLocks noGrp="1"/>
          </p:cNvSpPr>
          <p:nvPr>
            <p:ph type="sldNum" sz="quarter" idx="12"/>
          </p:nvPr>
        </p:nvSpPr>
        <p:spPr/>
        <p:txBody>
          <a:bodyPr/>
          <a:lstStyle/>
          <a:p>
            <a:fld id="{5FD889E0-CAB2-4699-909D-B9A88D47ACBE}" type="slidenum">
              <a:rPr lang="en-US" smtClean="0"/>
              <a:pPr/>
              <a:t>39</a:t>
            </a:fld>
            <a:endParaRPr lang="en-US"/>
          </a:p>
        </p:txBody>
      </p:sp>
    </p:spTree>
    <p:extLst>
      <p:ext uri="{BB962C8B-B14F-4D97-AF65-F5344CB8AC3E}">
        <p14:creationId xmlns:p14="http://schemas.microsoft.com/office/powerpoint/2010/main" val="263652783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pPr algn="ctr"/>
            <a:r>
              <a:rPr lang="en-US" sz="3200" b="1" dirty="0">
                <a:solidFill>
                  <a:schemeClr val="tx1"/>
                </a:solidFill>
                <a:latin typeface="+mn-lt"/>
              </a:rPr>
              <a:t>Difference between Propositional logic and Predicate logic</a:t>
            </a:r>
          </a:p>
        </p:txBody>
      </p:sp>
      <p:sp>
        <p:nvSpPr>
          <p:cNvPr id="4" name="Slide Number Placeholder 3"/>
          <p:cNvSpPr>
            <a:spLocks noGrp="1"/>
          </p:cNvSpPr>
          <p:nvPr>
            <p:ph type="sldNum" sz="quarter" idx="12"/>
          </p:nvPr>
        </p:nvSpPr>
        <p:spPr/>
        <p:txBody>
          <a:bodyPr/>
          <a:lstStyle/>
          <a:p>
            <a:fld id="{5FD889E0-CAB2-4699-909D-B9A88D47ACBE}" type="slidenum">
              <a:rPr lang="en-US" smtClean="0"/>
              <a:pPr/>
              <a:t>40</a:t>
            </a:fld>
            <a:endParaRPr lang="en-US"/>
          </a:p>
        </p:txBody>
      </p:sp>
      <p:graphicFrame>
        <p:nvGraphicFramePr>
          <p:cNvPr id="3" name="Table 2">
            <a:extLst>
              <a:ext uri="{FF2B5EF4-FFF2-40B4-BE49-F238E27FC236}">
                <a16:creationId xmlns:a16="http://schemas.microsoft.com/office/drawing/2014/main" id="{D2F699E7-0C74-DF42-86B5-66B207B0B958}"/>
              </a:ext>
            </a:extLst>
          </p:cNvPr>
          <p:cNvGraphicFramePr>
            <a:graphicFrameLocks noGrp="1"/>
          </p:cNvGraphicFramePr>
          <p:nvPr/>
        </p:nvGraphicFramePr>
        <p:xfrm>
          <a:off x="246184" y="1770478"/>
          <a:ext cx="8690896" cy="4442460"/>
        </p:xfrm>
        <a:graphic>
          <a:graphicData uri="http://schemas.openxmlformats.org/drawingml/2006/table">
            <a:tbl>
              <a:tblPr>
                <a:tableStyleId>{616DA210-FB5B-4158-B5E0-FEB733F419BA}</a:tableStyleId>
              </a:tblPr>
              <a:tblGrid>
                <a:gridCol w="4345448">
                  <a:extLst>
                    <a:ext uri="{9D8B030D-6E8A-4147-A177-3AD203B41FA5}">
                      <a16:colId xmlns:a16="http://schemas.microsoft.com/office/drawing/2014/main" val="2691175449"/>
                    </a:ext>
                  </a:extLst>
                </a:gridCol>
                <a:gridCol w="4345448">
                  <a:extLst>
                    <a:ext uri="{9D8B030D-6E8A-4147-A177-3AD203B41FA5}">
                      <a16:colId xmlns:a16="http://schemas.microsoft.com/office/drawing/2014/main" val="296402350"/>
                    </a:ext>
                  </a:extLst>
                </a:gridCol>
              </a:tblGrid>
              <a:tr h="0">
                <a:tc>
                  <a:txBody>
                    <a:bodyPr/>
                    <a:lstStyle/>
                    <a:p>
                      <a:pPr algn="ctr" fontAlgn="base"/>
                      <a:r>
                        <a:rPr lang="en-US" sz="1300" b="1">
                          <a:effectLst/>
                        </a:rPr>
                        <a:t>Propositional Logic</a:t>
                      </a:r>
                      <a:endParaRPr lang="en-US" sz="1300" b="0">
                        <a:effectLst/>
                      </a:endParaRPr>
                    </a:p>
                  </a:txBody>
                  <a:tcPr marL="95250" marR="95250" marT="133350" marB="133350" anchor="ctr"/>
                </a:tc>
                <a:tc>
                  <a:txBody>
                    <a:bodyPr/>
                    <a:lstStyle/>
                    <a:p>
                      <a:pPr algn="ctr" fontAlgn="base"/>
                      <a:r>
                        <a:rPr lang="en-US" sz="1300" b="1">
                          <a:effectLst/>
                        </a:rPr>
                        <a:t>Predicate Logic</a:t>
                      </a:r>
                      <a:endParaRPr lang="en-US" sz="1300" b="0">
                        <a:effectLst/>
                      </a:endParaRPr>
                    </a:p>
                  </a:txBody>
                  <a:tcPr marL="95250" marR="95250" marT="133350" marB="133350" anchor="ctr"/>
                </a:tc>
                <a:extLst>
                  <a:ext uri="{0D108BD9-81ED-4DB2-BD59-A6C34878D82A}">
                    <a16:rowId xmlns:a16="http://schemas.microsoft.com/office/drawing/2014/main" val="2280255756"/>
                  </a:ext>
                </a:extLst>
              </a:tr>
              <a:tr h="0">
                <a:tc>
                  <a:txBody>
                    <a:bodyPr/>
                    <a:lstStyle/>
                    <a:p>
                      <a:pPr algn="l" fontAlgn="base"/>
                      <a:r>
                        <a:rPr lang="en-US" sz="1300" b="0" dirty="0">
                          <a:effectLst/>
                        </a:rPr>
                        <a:t>Propositional logic is the logic that deals with a collection of declarative statements which have a truth value, true or false.</a:t>
                      </a:r>
                    </a:p>
                  </a:txBody>
                  <a:tcPr marL="95250" marR="95250" marT="133350" marB="133350" anchor="ctr"/>
                </a:tc>
                <a:tc>
                  <a:txBody>
                    <a:bodyPr/>
                    <a:lstStyle/>
                    <a:p>
                      <a:pPr algn="l" fontAlgn="base"/>
                      <a:r>
                        <a:rPr lang="en-US" sz="1300" b="0" dirty="0">
                          <a:effectLst/>
                        </a:rPr>
                        <a:t>Predicate logic is an expression consisting of variables with a specified domain. It consists of objects, relations and functions between the objects.</a:t>
                      </a:r>
                    </a:p>
                  </a:txBody>
                  <a:tcPr marL="95250" marR="95250" marT="133350" marB="133350" anchor="ctr"/>
                </a:tc>
                <a:extLst>
                  <a:ext uri="{0D108BD9-81ED-4DB2-BD59-A6C34878D82A}">
                    <a16:rowId xmlns:a16="http://schemas.microsoft.com/office/drawing/2014/main" val="3032298140"/>
                  </a:ext>
                </a:extLst>
              </a:tr>
              <a:tr h="0">
                <a:tc>
                  <a:txBody>
                    <a:bodyPr/>
                    <a:lstStyle/>
                    <a:p>
                      <a:pPr algn="l" fontAlgn="base"/>
                      <a:r>
                        <a:rPr lang="en-US" sz="1300" b="0" dirty="0">
                          <a:effectLst/>
                        </a:rPr>
                        <a:t>It is the basic and most widely used logic. Also known as Boolean logic.</a:t>
                      </a:r>
                    </a:p>
                  </a:txBody>
                  <a:tcPr marL="95250" marR="95250" marT="133350" marB="133350" anchor="ctr"/>
                </a:tc>
                <a:tc>
                  <a:txBody>
                    <a:bodyPr/>
                    <a:lstStyle/>
                    <a:p>
                      <a:pPr algn="l" fontAlgn="base"/>
                      <a:r>
                        <a:rPr lang="en-US" sz="1300" b="0" dirty="0">
                          <a:effectLst/>
                        </a:rPr>
                        <a:t>It is an extension of propositional logic covering predicates and quantification.</a:t>
                      </a:r>
                    </a:p>
                  </a:txBody>
                  <a:tcPr marL="95250" marR="95250" marT="133350" marB="133350" anchor="ctr"/>
                </a:tc>
                <a:extLst>
                  <a:ext uri="{0D108BD9-81ED-4DB2-BD59-A6C34878D82A}">
                    <a16:rowId xmlns:a16="http://schemas.microsoft.com/office/drawing/2014/main" val="2924113829"/>
                  </a:ext>
                </a:extLst>
              </a:tr>
              <a:tr h="0">
                <a:tc>
                  <a:txBody>
                    <a:bodyPr/>
                    <a:lstStyle/>
                    <a:p>
                      <a:pPr algn="l" fontAlgn="base"/>
                      <a:r>
                        <a:rPr lang="en-US" sz="1300" b="0" dirty="0">
                          <a:effectLst/>
                        </a:rPr>
                        <a:t>A proposition has a specific truth value, either true or false.</a:t>
                      </a:r>
                    </a:p>
                  </a:txBody>
                  <a:tcPr marL="95250" marR="95250" marT="133350" marB="133350" anchor="ctr"/>
                </a:tc>
                <a:tc>
                  <a:txBody>
                    <a:bodyPr/>
                    <a:lstStyle/>
                    <a:p>
                      <a:pPr algn="l" fontAlgn="base"/>
                      <a:r>
                        <a:rPr lang="en-US" sz="1300" b="0" dirty="0">
                          <a:effectLst/>
                        </a:rPr>
                        <a:t>A predicate’s truth value depends on the variables’ value.</a:t>
                      </a:r>
                    </a:p>
                  </a:txBody>
                  <a:tcPr marL="95250" marR="95250" marT="133350" marB="133350" anchor="ctr"/>
                </a:tc>
                <a:extLst>
                  <a:ext uri="{0D108BD9-81ED-4DB2-BD59-A6C34878D82A}">
                    <a16:rowId xmlns:a16="http://schemas.microsoft.com/office/drawing/2014/main" val="2910061979"/>
                  </a:ext>
                </a:extLst>
              </a:tr>
              <a:tr h="0">
                <a:tc>
                  <a:txBody>
                    <a:bodyPr/>
                    <a:lstStyle/>
                    <a:p>
                      <a:pPr algn="l" fontAlgn="base"/>
                      <a:r>
                        <a:rPr lang="en-US" sz="1300" b="0" u="none" strike="noStrike" kern="1200" dirty="0">
                          <a:solidFill>
                            <a:schemeClr val="tx1"/>
                          </a:solidFill>
                          <a:effectLst/>
                        </a:rPr>
                        <a:t>It is a more generalized representation.</a:t>
                      </a:r>
                      <a:endParaRPr lang="en-US" sz="1300" b="0" dirty="0">
                        <a:effectLst/>
                      </a:endParaRPr>
                    </a:p>
                  </a:txBody>
                  <a:tcPr marL="95250" marR="95250" marT="133350" marB="133350" anchor="ctr"/>
                </a:tc>
                <a:tc>
                  <a:txBody>
                    <a:bodyPr/>
                    <a:lstStyle/>
                    <a:p>
                      <a:pPr algn="l" fontAlgn="base"/>
                      <a:r>
                        <a:rPr lang="en-US" sz="1300" b="0" u="none" strike="noStrike" kern="1200" dirty="0">
                          <a:solidFill>
                            <a:schemeClr val="tx1"/>
                          </a:solidFill>
                          <a:effectLst/>
                        </a:rPr>
                        <a:t>more specialized representation.</a:t>
                      </a:r>
                      <a:endParaRPr lang="en-US" sz="1300" b="0" dirty="0">
                        <a:effectLst/>
                      </a:endParaRPr>
                    </a:p>
                  </a:txBody>
                  <a:tcPr marL="95250" marR="95250" marT="133350" marB="133350" anchor="ctr"/>
                </a:tc>
                <a:extLst>
                  <a:ext uri="{0D108BD9-81ED-4DB2-BD59-A6C34878D82A}">
                    <a16:rowId xmlns:a16="http://schemas.microsoft.com/office/drawing/2014/main" val="1341207793"/>
                  </a:ext>
                </a:extLst>
              </a:tr>
              <a:tr h="0">
                <a:tc>
                  <a:txBody>
                    <a:bodyPr/>
                    <a:lstStyle/>
                    <a:p>
                      <a:pPr algn="l" fontAlgn="base"/>
                      <a:r>
                        <a:rPr lang="en-US" sz="1300" b="0" u="none" strike="noStrike" kern="1200" dirty="0">
                          <a:solidFill>
                            <a:schemeClr val="tx1"/>
                          </a:solidFill>
                          <a:effectLst/>
                        </a:rPr>
                        <a:t>It cannot deal with sets of entities. </a:t>
                      </a:r>
                      <a:endParaRPr lang="en-US" sz="1300" b="0" dirty="0">
                        <a:effectLst/>
                      </a:endParaRPr>
                    </a:p>
                  </a:txBody>
                  <a:tcPr marL="95250" marR="95250" marT="133350" marB="133350" anchor="ctr"/>
                </a:tc>
                <a:tc>
                  <a:txBody>
                    <a:bodyPr/>
                    <a:lstStyle/>
                    <a:p>
                      <a:pPr algn="l" fontAlgn="base"/>
                      <a:r>
                        <a:rPr lang="en-US" sz="1300" b="0" u="none" strike="noStrike" kern="1200" dirty="0">
                          <a:solidFill>
                            <a:schemeClr val="tx1"/>
                          </a:solidFill>
                          <a:effectLst/>
                        </a:rPr>
                        <a:t>It can deal with set of entities with the help of quantifiers</a:t>
                      </a:r>
                      <a:endParaRPr lang="en-US" sz="1300" b="0" dirty="0">
                        <a:effectLst/>
                      </a:endParaRPr>
                    </a:p>
                  </a:txBody>
                  <a:tcPr marL="95250" marR="95250" marT="133350" marB="133350" anchor="ctr"/>
                </a:tc>
                <a:extLst>
                  <a:ext uri="{0D108BD9-81ED-4DB2-BD59-A6C34878D82A}">
                    <a16:rowId xmlns:a16="http://schemas.microsoft.com/office/drawing/2014/main" val="2844932381"/>
                  </a:ext>
                </a:extLst>
              </a:tr>
              <a:tr h="0">
                <a:tc>
                  <a:txBody>
                    <a:bodyPr/>
                    <a:lstStyle/>
                    <a:p>
                      <a:pPr algn="l" fontAlgn="base"/>
                      <a:r>
                        <a:rPr lang="en-US" sz="1300" b="0" i="0" u="none" strike="noStrike" kern="1200" dirty="0">
                          <a:solidFill>
                            <a:schemeClr val="tx1"/>
                          </a:solidFill>
                          <a:effectLst/>
                          <a:latin typeface="+mn-lt"/>
                          <a:ea typeface="+mn-ea"/>
                          <a:cs typeface="+mn-cs"/>
                        </a:rPr>
                        <a:t>Propositions are combined with Logical Operators or Logical Connectives like Negation(¬), Disjunction(∧), Conjunction(∨), Exclusive OR(⊕), Implication(⇒), Bi-Conditional or Double Implication(⇔). </a:t>
                      </a:r>
                      <a:endParaRPr lang="en-US" sz="1300" b="0" dirty="0">
                        <a:effectLst/>
                      </a:endParaRPr>
                    </a:p>
                  </a:txBody>
                  <a:tcPr marL="95250" marR="95250" marT="133350" marB="133350" anchor="ctr"/>
                </a:tc>
                <a:tc>
                  <a:txBody>
                    <a:bodyPr/>
                    <a:lstStyle/>
                    <a:p>
                      <a:pPr algn="l" fontAlgn="base"/>
                      <a:r>
                        <a:rPr lang="en-US" sz="1300" b="0" i="0" u="none" strike="noStrike" kern="1200" dirty="0">
                          <a:solidFill>
                            <a:schemeClr val="tx1"/>
                          </a:solidFill>
                          <a:effectLst/>
                          <a:latin typeface="+mn-lt"/>
                          <a:ea typeface="+mn-ea"/>
                          <a:cs typeface="+mn-cs"/>
                        </a:rPr>
                        <a:t>Predicate Logic adds by introducing  quantifiers to the existing proposition.</a:t>
                      </a:r>
                      <a:endParaRPr lang="en-US" sz="1300" b="0" dirty="0">
                        <a:effectLst/>
                      </a:endParaRPr>
                    </a:p>
                  </a:txBody>
                  <a:tcPr marL="95250" marR="95250" marT="133350" marB="133350" anchor="ctr"/>
                </a:tc>
                <a:extLst>
                  <a:ext uri="{0D108BD9-81ED-4DB2-BD59-A6C34878D82A}">
                    <a16:rowId xmlns:a16="http://schemas.microsoft.com/office/drawing/2014/main" val="3500864775"/>
                  </a:ext>
                </a:extLst>
              </a:tr>
            </a:tbl>
          </a:graphicData>
        </a:graphic>
      </p:graphicFrame>
    </p:spTree>
    <p:extLst>
      <p:ext uri="{BB962C8B-B14F-4D97-AF65-F5344CB8AC3E}">
        <p14:creationId xmlns:p14="http://schemas.microsoft.com/office/powerpoint/2010/main" val="170661183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000" b="1" dirty="0">
                <a:latin typeface="+mn-lt"/>
              </a:rPr>
              <a:t>Practice @ Home</a:t>
            </a:r>
          </a:p>
        </p:txBody>
      </p:sp>
      <p:sp>
        <p:nvSpPr>
          <p:cNvPr id="4" name="TextBox 3"/>
          <p:cNvSpPr txBox="1"/>
          <p:nvPr/>
        </p:nvSpPr>
        <p:spPr>
          <a:xfrm>
            <a:off x="245649" y="2729551"/>
            <a:ext cx="6949018" cy="1154162"/>
          </a:xfrm>
          <a:prstGeom prst="rect">
            <a:avLst/>
          </a:prstGeom>
          <a:noFill/>
        </p:spPr>
        <p:txBody>
          <a:bodyPr wrap="none" rtlCol="0">
            <a:spAutoFit/>
          </a:bodyPr>
          <a:lstStyle/>
          <a:p>
            <a:pPr marL="274320" indent="-274320">
              <a:spcBef>
                <a:spcPts val="600"/>
              </a:spcBef>
              <a:buFont typeface="Arial" pitchFamily="34" charset="0"/>
              <a:buChar char="•"/>
            </a:pPr>
            <a:r>
              <a:rPr lang="en-US" sz="3200" dirty="0">
                <a:solidFill>
                  <a:srgbClr val="FF0000"/>
                </a:solidFill>
              </a:rPr>
              <a:t>Relevant Odd-Numbered Exercises first</a:t>
            </a:r>
          </a:p>
          <a:p>
            <a:pPr marL="274320" indent="-274320">
              <a:spcBef>
                <a:spcPts val="600"/>
              </a:spcBef>
              <a:buFont typeface="Arial" pitchFamily="34" charset="0"/>
              <a:buChar char="•"/>
            </a:pPr>
            <a:r>
              <a:rPr lang="en-US" sz="3200" dirty="0">
                <a:solidFill>
                  <a:srgbClr val="FF0000"/>
                </a:solidFill>
              </a:rPr>
              <a:t>Then Even-Numbered Exercises</a:t>
            </a:r>
          </a:p>
        </p:txBody>
      </p:sp>
      <p:sp>
        <p:nvSpPr>
          <p:cNvPr id="5" name="Slide Number Placeholder 4"/>
          <p:cNvSpPr>
            <a:spLocks noGrp="1"/>
          </p:cNvSpPr>
          <p:nvPr>
            <p:ph type="sldNum" sz="quarter" idx="12"/>
          </p:nvPr>
        </p:nvSpPr>
        <p:spPr/>
        <p:txBody>
          <a:bodyPr/>
          <a:lstStyle/>
          <a:p>
            <a:fld id="{5FD889E0-CAB2-4699-909D-B9A88D47ACBE}" type="slidenum">
              <a:rPr lang="en-US" smtClean="0"/>
              <a:pPr/>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3600" b="1" dirty="0">
                <a:solidFill>
                  <a:schemeClr val="tx1"/>
                </a:solidFill>
              </a:rPr>
              <a:t>Books</a:t>
            </a:r>
          </a:p>
        </p:txBody>
      </p:sp>
      <p:sp>
        <p:nvSpPr>
          <p:cNvPr id="5" name="TextBox 4">
            <a:extLst>
              <a:ext uri="{FF2B5EF4-FFF2-40B4-BE49-F238E27FC236}">
                <a16:creationId xmlns:a16="http://schemas.microsoft.com/office/drawing/2014/main" id="{F2944A7F-5AE5-EC49-82AF-722C8C8F62C6}"/>
              </a:ext>
            </a:extLst>
          </p:cNvPr>
          <p:cNvSpPr txBox="1"/>
          <p:nvPr/>
        </p:nvSpPr>
        <p:spPr>
          <a:xfrm>
            <a:off x="361732" y="1802837"/>
            <a:ext cx="8064806" cy="2308324"/>
          </a:xfrm>
          <a:prstGeom prst="rect">
            <a:avLst/>
          </a:prstGeom>
          <a:noFill/>
        </p:spPr>
        <p:txBody>
          <a:bodyPr wrap="square" rtlCol="0">
            <a:spAutoFit/>
          </a:bodyPr>
          <a:lstStyle/>
          <a:p>
            <a:pPr marL="457200" lvl="0" indent="-457200">
              <a:buAutoNum type="arabicPeriod"/>
            </a:pPr>
            <a:r>
              <a:rPr lang="en-US" sz="2400" i="1" dirty="0"/>
              <a:t>Discrete Mathematics and its applications with </a:t>
            </a:r>
            <a:r>
              <a:rPr lang="en-US" sz="2400" i="1" dirty="0" err="1"/>
              <a:t>combinatorics</a:t>
            </a:r>
            <a:r>
              <a:rPr lang="en-US" sz="2400" i="1" dirty="0"/>
              <a:t> and graph theory (7</a:t>
            </a:r>
            <a:r>
              <a:rPr lang="en-US" sz="2400" i="1" baseline="30000" dirty="0"/>
              <a:t>th</a:t>
            </a:r>
            <a:r>
              <a:rPr lang="en-US" sz="2400" i="1" dirty="0"/>
              <a:t> edition) </a:t>
            </a:r>
            <a:r>
              <a:rPr lang="en-US" sz="2400" dirty="0"/>
              <a:t>by Kenneth H. Rosen [Indian Adaptation by KAMALA KRITHIVASAN], published by McGraw-Hill </a:t>
            </a:r>
          </a:p>
          <a:p>
            <a:pPr marL="457200" lvl="0" indent="-457200">
              <a:buAutoNum type="arabicPeriod"/>
            </a:pPr>
            <a:r>
              <a:rPr lang="en-US" sz="2400" dirty="0"/>
              <a:t>A textbook of Discrete Mathematics by </a:t>
            </a:r>
            <a:r>
              <a:rPr lang="en-US" sz="2400" dirty="0" err="1"/>
              <a:t>Swapan</a:t>
            </a:r>
            <a:r>
              <a:rPr lang="en-US" sz="2400" dirty="0"/>
              <a:t> Kumar </a:t>
            </a:r>
            <a:r>
              <a:rPr lang="en-US" sz="2400" dirty="0" err="1"/>
              <a:t>Sarkar</a:t>
            </a:r>
            <a:endParaRPr lang="en-US" sz="2400" dirty="0"/>
          </a:p>
        </p:txBody>
      </p:sp>
    </p:spTree>
    <p:extLst>
      <p:ext uri="{BB962C8B-B14F-4D97-AF65-F5344CB8AC3E}">
        <p14:creationId xmlns:p14="http://schemas.microsoft.com/office/powerpoint/2010/main" val="192338237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References</a:t>
            </a:r>
          </a:p>
        </p:txBody>
      </p:sp>
      <p:sp>
        <p:nvSpPr>
          <p:cNvPr id="3" name="TextBox 2">
            <a:extLst>
              <a:ext uri="{FF2B5EF4-FFF2-40B4-BE49-F238E27FC236}">
                <a16:creationId xmlns:a16="http://schemas.microsoft.com/office/drawing/2014/main" id="{56CD2EA8-B54C-CE4F-A943-BFB367453E0E}"/>
              </a:ext>
            </a:extLst>
          </p:cNvPr>
          <p:cNvSpPr txBox="1"/>
          <p:nvPr/>
        </p:nvSpPr>
        <p:spPr>
          <a:xfrm>
            <a:off x="432072" y="1800664"/>
            <a:ext cx="8177348" cy="1631216"/>
          </a:xfrm>
          <a:prstGeom prst="rect">
            <a:avLst/>
          </a:prstGeom>
          <a:noFill/>
        </p:spPr>
        <p:txBody>
          <a:bodyPr wrap="square" rtlCol="0">
            <a:spAutoFit/>
          </a:bodyPr>
          <a:lstStyle/>
          <a:p>
            <a:pPr marL="457200" lvl="0" indent="-457200">
              <a:buFont typeface="+mj-lt"/>
              <a:buAutoNum type="arabicPeriod"/>
            </a:pPr>
            <a:r>
              <a:rPr lang="en-US" sz="2000" dirty="0"/>
              <a:t>Discrete Mathematics, </a:t>
            </a:r>
            <a:r>
              <a:rPr lang="en-US" sz="2000" i="1" dirty="0"/>
              <a:t>Richard</a:t>
            </a:r>
            <a:r>
              <a:rPr lang="en-US" sz="2000" dirty="0"/>
              <a:t> </a:t>
            </a:r>
            <a:r>
              <a:rPr lang="en-US" sz="2000" i="1" dirty="0" err="1"/>
              <a:t>Johnsonbaugh</a:t>
            </a:r>
            <a:r>
              <a:rPr lang="en-US" sz="2000" dirty="0"/>
              <a:t>, Pearson education, Inc.</a:t>
            </a:r>
          </a:p>
          <a:p>
            <a:pPr marL="457200" lvl="0" indent="-457200">
              <a:buFont typeface="+mj-lt"/>
              <a:buAutoNum type="arabicPeriod"/>
            </a:pPr>
            <a:r>
              <a:rPr lang="en-US" sz="2000" dirty="0"/>
              <a:t>Discrete Mathematical Structures, </a:t>
            </a:r>
            <a:r>
              <a:rPr lang="en-US" sz="2000" i="1" dirty="0"/>
              <a:t>Bernard</a:t>
            </a:r>
            <a:r>
              <a:rPr lang="en-US" sz="2000" dirty="0"/>
              <a:t> </a:t>
            </a:r>
            <a:r>
              <a:rPr lang="en-US" sz="2000" i="1" dirty="0" err="1"/>
              <a:t>Kolman</a:t>
            </a:r>
            <a:r>
              <a:rPr lang="en-US" sz="2000" dirty="0"/>
              <a:t>, </a:t>
            </a:r>
            <a:r>
              <a:rPr lang="en-US" sz="2000" i="1" dirty="0"/>
              <a:t>Robert C. Busby</a:t>
            </a:r>
            <a:r>
              <a:rPr lang="en-US" sz="2000" dirty="0"/>
              <a:t>, </a:t>
            </a:r>
            <a:r>
              <a:rPr lang="en-US" sz="2000" i="1" dirty="0"/>
              <a:t>Sharon</a:t>
            </a:r>
            <a:r>
              <a:rPr lang="en-US" sz="2000" dirty="0"/>
              <a:t> </a:t>
            </a:r>
            <a:r>
              <a:rPr lang="en-US" sz="2000" i="1" dirty="0"/>
              <a:t>Ross, </a:t>
            </a:r>
            <a:r>
              <a:rPr lang="en-US" sz="2000" dirty="0"/>
              <a:t>Prentice-Hall, Inc.</a:t>
            </a:r>
          </a:p>
          <a:p>
            <a:pPr marL="457200" lvl="0" indent="-457200">
              <a:buFont typeface="+mj-lt"/>
              <a:buAutoNum type="arabicPeriod"/>
            </a:pPr>
            <a:r>
              <a:rPr lang="en-US" sz="2000" i="1" dirty="0"/>
              <a:t>SCHAUM’S  outlines Discrete Mathematics(2</a:t>
            </a:r>
            <a:r>
              <a:rPr lang="en-US" sz="2000" i="1" baseline="30000" dirty="0"/>
              <a:t>nd</a:t>
            </a:r>
            <a:r>
              <a:rPr lang="en-US" sz="2000" i="1" dirty="0"/>
              <a:t> edition)</a:t>
            </a:r>
            <a:r>
              <a:rPr lang="en-US" sz="2000" dirty="0"/>
              <a:t>, by </a:t>
            </a:r>
            <a:r>
              <a:rPr lang="en-US" sz="2000" i="1" dirty="0"/>
              <a:t>Seymour</a:t>
            </a:r>
            <a:r>
              <a:rPr lang="en-US" sz="2000" dirty="0"/>
              <a:t> </a:t>
            </a:r>
            <a:r>
              <a:rPr lang="en-US" sz="2000" i="1" dirty="0" err="1"/>
              <a:t>Lipschutz</a:t>
            </a:r>
            <a:r>
              <a:rPr lang="en-US" sz="2000" dirty="0"/>
              <a:t>, </a:t>
            </a:r>
            <a:r>
              <a:rPr lang="en-US" sz="2000" i="1" dirty="0"/>
              <a:t>Marc</a:t>
            </a:r>
            <a:r>
              <a:rPr lang="en-US" sz="2000" dirty="0"/>
              <a:t> </a:t>
            </a:r>
            <a:r>
              <a:rPr lang="en-US" sz="2000" i="1" dirty="0"/>
              <a:t>Lipson</a:t>
            </a:r>
            <a:endParaRPr lang="en-US" sz="2000" dirty="0"/>
          </a:p>
        </p:txBody>
      </p:sp>
    </p:spTree>
    <p:extLst>
      <p:ext uri="{BB962C8B-B14F-4D97-AF65-F5344CB8AC3E}">
        <p14:creationId xmlns:p14="http://schemas.microsoft.com/office/powerpoint/2010/main" val="3224969828"/>
      </p:ext>
    </p:extLst>
  </p:cSld>
  <p:clrMapOvr>
    <a:masterClrMapping/>
  </p:clrMapOvr>
</p:sld>
</file>

<file path=ppt/theme/theme1.xml><?xml version="1.0" encoding="utf-8"?>
<a:theme xmlns:a="http://schemas.openxmlformats.org/drawingml/2006/main" name="Spectrum">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Spectrum.thmx</Template>
  <TotalTime>1734</TotalTime>
  <Words>4083</Words>
  <Application>Microsoft Office PowerPoint</Application>
  <PresentationFormat>On-screen Show (4:3)</PresentationFormat>
  <Paragraphs>346</Paragraphs>
  <Slides>43</Slides>
  <Notes>0</Notes>
  <HiddenSlides>1</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43</vt:i4>
      </vt:variant>
    </vt:vector>
  </HeadingPairs>
  <TitlesOfParts>
    <vt:vector size="50" baseType="lpstr">
      <vt:lpstr>Arial</vt:lpstr>
      <vt:lpstr>Calibri</vt:lpstr>
      <vt:lpstr>Cambria Math</vt:lpstr>
      <vt:lpstr>Corbel</vt:lpstr>
      <vt:lpstr>Symbol</vt:lpstr>
      <vt:lpstr>Wingdings</vt:lpstr>
      <vt:lpstr>Spectrum</vt:lpstr>
      <vt:lpstr>1.4 Predicates and Quantifiers</vt:lpstr>
      <vt:lpstr>Lecture Outline</vt:lpstr>
      <vt:lpstr>Objectives and Outcomes</vt:lpstr>
      <vt:lpstr>Why do we need predicates?</vt:lpstr>
      <vt:lpstr>Predicates</vt:lpstr>
      <vt:lpstr>Predicates</vt:lpstr>
      <vt:lpstr>Example 1</vt:lpstr>
      <vt:lpstr>Example 2 </vt:lpstr>
      <vt:lpstr>Multivariable Predicates</vt:lpstr>
      <vt:lpstr>Example 3</vt:lpstr>
      <vt:lpstr>Quantifiers</vt:lpstr>
      <vt:lpstr>Quantifiers</vt:lpstr>
      <vt:lpstr>The Universal Quantifier</vt:lpstr>
      <vt:lpstr>The Universal Quantifier</vt:lpstr>
      <vt:lpstr>Example 8</vt:lpstr>
      <vt:lpstr>Example 9</vt:lpstr>
      <vt:lpstr>(Modified) Example 10</vt:lpstr>
      <vt:lpstr>Example 11</vt:lpstr>
      <vt:lpstr>Another Example</vt:lpstr>
      <vt:lpstr>Practice </vt:lpstr>
      <vt:lpstr>The Existential Quantifier</vt:lpstr>
      <vt:lpstr>The Existential Quantifier</vt:lpstr>
      <vt:lpstr>Example 14</vt:lpstr>
      <vt:lpstr>Example 15</vt:lpstr>
      <vt:lpstr>Example 16</vt:lpstr>
      <vt:lpstr>Class Work</vt:lpstr>
      <vt:lpstr>Answers </vt:lpstr>
      <vt:lpstr>Universal &amp; Existential Quantifiers:  When True? When False?</vt:lpstr>
      <vt:lpstr>Precedence of Quantifiers</vt:lpstr>
      <vt:lpstr>Negating Quantified Expressions: De Morgan’s Laws for Quantifiers</vt:lpstr>
      <vt:lpstr>Translating from English into Logical Expressions</vt:lpstr>
      <vt:lpstr>Example 23 (p.40)</vt:lpstr>
      <vt:lpstr>Extra Example</vt:lpstr>
      <vt:lpstr>Exercise 9 (p.43) </vt:lpstr>
      <vt:lpstr>Answers </vt:lpstr>
      <vt:lpstr>Exercise 25 (p. 44)</vt:lpstr>
      <vt:lpstr>Solution </vt:lpstr>
      <vt:lpstr>Practice: Translate each of the statements into logical expressions using predicates, quantifiers, and logical connectives. </vt:lpstr>
      <vt:lpstr>Practice: Translate each of the statements into logical expressions using predicates, quantifiers, and logical connectives. </vt:lpstr>
      <vt:lpstr>Difference between Propositional logic and Predicate logic</vt:lpstr>
      <vt:lpstr>Practice @ Home</vt:lpstr>
      <vt:lpstr>PowerPoint Presentation</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Title</dc:title>
  <dc:creator>Mahbubul Syeed</dc:creator>
  <cp:lastModifiedBy>Dr. Ashraf Uddin</cp:lastModifiedBy>
  <cp:revision>63</cp:revision>
  <dcterms:created xsi:type="dcterms:W3CDTF">2018-12-10T17:20:29Z</dcterms:created>
  <dcterms:modified xsi:type="dcterms:W3CDTF">2023-01-28T08:33:06Z</dcterms:modified>
</cp:coreProperties>
</file>