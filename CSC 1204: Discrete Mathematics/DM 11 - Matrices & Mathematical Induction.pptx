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56" r:id="rId2"/>
    <p:sldId id="257" r:id="rId3"/>
    <p:sldId id="308" r:id="rId4"/>
    <p:sldId id="357" r:id="rId5"/>
    <p:sldId id="358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66" r:id="rId14"/>
    <p:sldId id="367" r:id="rId15"/>
    <p:sldId id="368" r:id="rId16"/>
    <p:sldId id="369" r:id="rId17"/>
    <p:sldId id="370" r:id="rId18"/>
    <p:sldId id="371" r:id="rId19"/>
    <p:sldId id="372" r:id="rId20"/>
    <p:sldId id="373" r:id="rId21"/>
    <p:sldId id="374" r:id="rId22"/>
    <p:sldId id="375" r:id="rId23"/>
    <p:sldId id="376" r:id="rId24"/>
    <p:sldId id="377" r:id="rId25"/>
    <p:sldId id="378" r:id="rId26"/>
    <p:sldId id="379" r:id="rId27"/>
    <p:sldId id="380" r:id="rId28"/>
    <p:sldId id="381" r:id="rId29"/>
    <p:sldId id="382" r:id="rId30"/>
    <p:sldId id="383" r:id="rId31"/>
    <p:sldId id="384" r:id="rId32"/>
    <p:sldId id="385" r:id="rId33"/>
    <p:sldId id="356" r:id="rId34"/>
    <p:sldId id="277" r:id="rId35"/>
    <p:sldId id="265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80"/>
    <p:restoredTop sz="95820" autoAdjust="0"/>
  </p:normalViewPr>
  <p:slideViewPr>
    <p:cSldViewPr snapToGrid="0" snapToObjects="1">
      <p:cViewPr varScale="1">
        <p:scale>
          <a:sx n="63" d="100"/>
          <a:sy n="63" d="100"/>
        </p:scale>
        <p:origin x="155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13DDF-8C9F-41ED-BCA0-DFAC852E1B28}" type="datetimeFigureOut">
              <a:rPr lang="en-US" smtClean="0"/>
              <a:pPr/>
              <a:t>8/13/2023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1CEC4-8705-463B-9A79-B2018D538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4630E-50CB-41D4-B880-9F9D7FA7BA29}" type="datetime1">
              <a:rPr lang="en-US" smtClean="0"/>
              <a:pPr/>
              <a:t>8/13/2023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E53B5-49FB-46D3-8DDC-FF194BFECA44}" type="datetime1">
              <a:rPr lang="en-US" smtClean="0"/>
              <a:pPr/>
              <a:t>8/13/2023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B3357-3270-44AD-8313-0626A2642B80}" type="datetime1">
              <a:rPr lang="en-US" smtClean="0"/>
              <a:pPr/>
              <a:t>8/13/2023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85F5-738C-480D-8B46-1B1B3DA4FF26}" type="datetime1">
              <a:rPr lang="en-US" smtClean="0"/>
              <a:pPr/>
              <a:t>8/13/2023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20414-9D97-4B74-A477-A764E0D269A0}" type="datetime1">
              <a:rPr lang="en-US" smtClean="0"/>
              <a:pPr/>
              <a:t>8/13/2023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F015-530B-454C-ADA2-7F2157207175}" type="datetime1">
              <a:rPr lang="en-US" smtClean="0"/>
              <a:pPr/>
              <a:t>8/13/2023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8430-5DBF-4BDF-AAA2-FD9FC4A2D81F}" type="datetime1">
              <a:rPr lang="en-US" smtClean="0"/>
              <a:pPr/>
              <a:t>8/13/2023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C2E2-3F23-42C1-AFF2-4509F057067A}" type="datetime1">
              <a:rPr lang="en-US" smtClean="0"/>
              <a:pPr/>
              <a:t>8/13/2023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D1CE5-8CD7-468E-85A4-78CEAD3625E5}" type="datetime1">
              <a:rPr lang="en-US" smtClean="0"/>
              <a:pPr/>
              <a:t>8/13/2023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DB23-474F-49A8-A23D-7A0E84AD2BE6}" type="datetime1">
              <a:rPr lang="en-US" smtClean="0"/>
              <a:pPr/>
              <a:t>8/13/2023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55E30-D25B-4216-A7A0-BE8AD9B7E327}" type="datetime1">
              <a:rPr lang="en-US" smtClean="0"/>
              <a:pPr/>
              <a:t>8/13/2023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8EFD5-F0AF-4965-A66C-E35F81ABEC91}" type="datetime1">
              <a:rPr lang="en-US" smtClean="0"/>
              <a:pPr/>
              <a:t>8/13/2023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A2D2-B87B-4847-9811-8BF83A23C0A4}" type="datetime1">
              <a:rPr lang="en-US" smtClean="0"/>
              <a:pPr/>
              <a:t>8/13/2023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62871-21BD-4EDE-AE57-59E17BF237ED}" type="datetime1">
              <a:rPr lang="en-US" smtClean="0"/>
              <a:pPr/>
              <a:t>8/13/2023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F78AD-1CB0-4608-B3A1-669F93264AC6}" type="datetime1">
              <a:rPr lang="en-US" smtClean="0"/>
              <a:pPr/>
              <a:t>8/13/2023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542CD-9A58-4A2A-A626-496AF398B07A}" type="datetime1">
              <a:rPr lang="en-US" smtClean="0"/>
              <a:pPr/>
              <a:t>8/13/2023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54EAB5B0-AB84-48D4-BAFB-665F1E7B35E0}" type="datetime1">
              <a:rPr lang="en-US" smtClean="0"/>
              <a:pPr/>
              <a:t>8/13/2023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7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10.xml"/><Relationship Id="rId7" Type="http://schemas.openxmlformats.org/officeDocument/2006/relationships/image" Target="../media/image16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5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.xml"/><Relationship Id="rId9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tags" Target="../tags/tag16.xml"/><Relationship Id="rId7" Type="http://schemas.openxmlformats.org/officeDocument/2006/relationships/image" Target="../media/image21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20.png"/><Relationship Id="rId5" Type="http://schemas.openxmlformats.org/officeDocument/2006/relationships/tags" Target="../tags/tag18.xml"/><Relationship Id="rId10" Type="http://schemas.openxmlformats.org/officeDocument/2006/relationships/image" Target="../media/image19.png"/><Relationship Id="rId4" Type="http://schemas.openxmlformats.org/officeDocument/2006/relationships/tags" Target="../tags/tag17.xml"/><Relationship Id="rId9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6749" y="503597"/>
            <a:ext cx="7808976" cy="1088136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+mn-lt"/>
              </a:rPr>
              <a:t>Matrices</a:t>
            </a:r>
            <a:br>
              <a:rPr lang="en-US" altLang="zh-TW" sz="3200" b="1" dirty="0">
                <a:latin typeface="+mn-lt"/>
              </a:rPr>
            </a:br>
            <a:r>
              <a:rPr lang="en-US" altLang="zh-TW" sz="3200" b="1" dirty="0">
                <a:latin typeface="+mn-lt"/>
              </a:rPr>
              <a:t>Mathematical Induction </a:t>
            </a:r>
            <a:endParaRPr lang="en-US" sz="3200" b="1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1204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936963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Discrete Mathematics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2920" y="2320124"/>
            <a:ext cx="8234223" cy="3889612"/>
          </a:xfrm>
        </p:spPr>
        <p:txBody>
          <a:bodyPr>
            <a:noAutofit/>
          </a:bodyPr>
          <a:lstStyle/>
          <a:p>
            <a:r>
              <a:rPr lang="en-US" altLang="zh-TW" sz="2800" b="1" dirty="0">
                <a:solidFill>
                  <a:srgbClr val="0000FF"/>
                </a:solidFill>
              </a:rPr>
              <a:t>3.8  Matrices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altLang="zh-TW" sz="2400" b="1" dirty="0">
                <a:solidFill>
                  <a:schemeClr val="tx1"/>
                </a:solidFill>
              </a:rPr>
              <a:t>Definition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altLang="zh-TW" sz="2400" b="1" dirty="0">
                <a:solidFill>
                  <a:schemeClr val="tx1"/>
                </a:solidFill>
              </a:rPr>
              <a:t>Notation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altLang="zh-TW" sz="2400" b="1" dirty="0">
                <a:solidFill>
                  <a:schemeClr val="tx1"/>
                </a:solidFill>
              </a:rPr>
              <a:t>Arithmetic Operations of Matrices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altLang="zh-TW" sz="2400" b="1" dirty="0">
                <a:solidFill>
                  <a:schemeClr val="tx1"/>
                </a:solidFill>
              </a:rPr>
              <a:t>Boolean Operations of Matrices</a:t>
            </a:r>
            <a:endParaRPr lang="en-US" sz="2800" b="1" dirty="0">
              <a:solidFill>
                <a:srgbClr val="0000FF"/>
              </a:solidFill>
            </a:endParaRPr>
          </a:p>
          <a:p>
            <a:r>
              <a:rPr lang="en-US" sz="2800" b="1" dirty="0">
                <a:solidFill>
                  <a:srgbClr val="0000FF"/>
                </a:solidFill>
              </a:rPr>
              <a:t>4.1 Mathematical Induction</a:t>
            </a:r>
          </a:p>
          <a:p>
            <a:pPr marL="64008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Proof by Mathematical Induction </a:t>
            </a:r>
          </a:p>
          <a:p>
            <a:endParaRPr lang="en-US" sz="2800" b="1" dirty="0">
              <a:solidFill>
                <a:srgbClr val="0000FF"/>
              </a:solidFill>
            </a:endParaRPr>
          </a:p>
          <a:p>
            <a:endParaRPr lang="en-US" sz="2800" b="1" dirty="0">
              <a:solidFill>
                <a:srgbClr val="0000FF"/>
              </a:solidFill>
            </a:endParaRPr>
          </a:p>
          <a:p>
            <a:endParaRPr lang="en-US" altLang="zh-TW" sz="2800" b="1" dirty="0">
              <a:solidFill>
                <a:srgbClr val="0000FF"/>
              </a:solidFill>
            </a:endParaRPr>
          </a:p>
          <a:p>
            <a:pPr marL="274320" indent="-274320">
              <a:spcBef>
                <a:spcPts val="600"/>
              </a:spcBef>
              <a:buClrTx/>
            </a:pPr>
            <a:endParaRPr lang="en-US" altLang="zh-TW" sz="28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Objectives and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213" y="2156348"/>
            <a:ext cx="8665867" cy="361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Bef>
                <a:spcPts val="6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Objectives</a:t>
            </a:r>
            <a:r>
              <a:rPr lang="en-US" sz="2800" dirty="0"/>
              <a:t>: To understand matrix and matrix notation, to perform arithmetic and Boolean operations of matrices, to prove by mathematical induction.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Outcomes</a:t>
            </a:r>
            <a:r>
              <a:rPr lang="en-US" sz="2800" dirty="0"/>
              <a:t>: Students are expected to be able explain matrix and matrix notations; be able to perform arithmetic and Boolean operations of matrices; be able to prove a formula or inequality using mathematical induction.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12157" y="530893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b="1" dirty="0"/>
              <a:t>Matrices </a:t>
            </a:r>
            <a:endParaRPr lang="en-US" sz="4000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4861" y="2120531"/>
            <a:ext cx="862492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000" b="1" u="sng" dirty="0">
                <a:solidFill>
                  <a:srgbClr val="FF0000"/>
                </a:solidFill>
              </a:rPr>
              <a:t>Definition 1</a:t>
            </a:r>
            <a:r>
              <a:rPr lang="en-US" altLang="zh-TW" sz="2000" dirty="0">
                <a:solidFill>
                  <a:srgbClr val="FF0000"/>
                </a:solidFill>
              </a:rPr>
              <a:t>:</a:t>
            </a:r>
            <a:r>
              <a:rPr lang="en-US" altLang="zh-TW" sz="2000" dirty="0">
                <a:solidFill>
                  <a:srgbClr val="C00000"/>
                </a:solidFill>
              </a:rPr>
              <a:t> </a:t>
            </a:r>
            <a:r>
              <a:rPr lang="en-US" altLang="zh-TW" sz="2000" dirty="0">
                <a:solidFill>
                  <a:srgbClr val="0000FF"/>
                </a:solidFill>
              </a:rPr>
              <a:t>A matrix is a rectangular array of numbers. A matrix with </a:t>
            </a:r>
            <a:r>
              <a:rPr lang="en-US" altLang="zh-TW" sz="2000" i="1" dirty="0">
                <a:solidFill>
                  <a:srgbClr val="0000FF"/>
                </a:solidFill>
              </a:rPr>
              <a:t>m</a:t>
            </a:r>
            <a:r>
              <a:rPr lang="en-US" altLang="zh-TW" sz="2000" dirty="0">
                <a:solidFill>
                  <a:srgbClr val="0000FF"/>
                </a:solidFill>
              </a:rPr>
              <a:t> rows and </a:t>
            </a:r>
            <a:r>
              <a:rPr lang="en-US" altLang="zh-TW" sz="2000" i="1" dirty="0">
                <a:solidFill>
                  <a:srgbClr val="0000FF"/>
                </a:solidFill>
              </a:rPr>
              <a:t>n</a:t>
            </a:r>
            <a:r>
              <a:rPr lang="en-US" altLang="zh-TW" sz="2000" dirty="0">
                <a:solidFill>
                  <a:srgbClr val="0000FF"/>
                </a:solidFill>
              </a:rPr>
              <a:t> columns is called an </a:t>
            </a:r>
            <a:r>
              <a:rPr lang="en-US" altLang="zh-TW" sz="2000" i="1" dirty="0">
                <a:solidFill>
                  <a:srgbClr val="0000FF"/>
                </a:solidFill>
              </a:rPr>
              <a:t>m</a:t>
            </a:r>
            <a:r>
              <a:rPr lang="en-US" altLang="zh-TW" sz="2000" i="1" dirty="0">
                <a:solidFill>
                  <a:srgbClr val="0000FF"/>
                </a:solidFill>
                <a:sym typeface="Symbol" pitchFamily="18" charset="2"/>
              </a:rPr>
              <a:t> </a:t>
            </a:r>
            <a:r>
              <a:rPr lang="en-US" altLang="zh-TW" sz="2000" i="1" dirty="0">
                <a:solidFill>
                  <a:srgbClr val="0000FF"/>
                </a:solidFill>
              </a:rPr>
              <a:t>n</a:t>
            </a:r>
            <a:r>
              <a:rPr lang="en-US" altLang="zh-TW" sz="2000" dirty="0">
                <a:solidFill>
                  <a:srgbClr val="0000FF"/>
                </a:solidFill>
              </a:rPr>
              <a:t> matrix</a:t>
            </a:r>
            <a:r>
              <a:rPr lang="en-US" altLang="zh-TW" sz="2000" dirty="0"/>
              <a:t>.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000" dirty="0"/>
              <a:t>The </a:t>
            </a:r>
            <a:r>
              <a:rPr lang="en-US" altLang="zh-TW" sz="2000" dirty="0">
                <a:solidFill>
                  <a:srgbClr val="FF0000"/>
                </a:solidFill>
              </a:rPr>
              <a:t>plural</a:t>
            </a:r>
            <a:r>
              <a:rPr lang="en-US" altLang="zh-TW" sz="2000" dirty="0"/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of</a:t>
            </a:r>
            <a:r>
              <a:rPr lang="en-US" altLang="zh-TW" sz="2000" dirty="0"/>
              <a:t> </a:t>
            </a:r>
            <a:r>
              <a:rPr lang="en-US" altLang="zh-TW" sz="2000" b="1" dirty="0">
                <a:solidFill>
                  <a:srgbClr val="FF0000"/>
                </a:solidFill>
              </a:rPr>
              <a:t>matrix</a:t>
            </a:r>
            <a:r>
              <a:rPr lang="en-US" altLang="zh-TW" sz="2000" dirty="0"/>
              <a:t> is </a:t>
            </a:r>
            <a:r>
              <a:rPr lang="en-US" altLang="zh-TW" sz="2000" b="1" dirty="0">
                <a:solidFill>
                  <a:srgbClr val="FF0000"/>
                </a:solidFill>
              </a:rPr>
              <a:t>matrices</a:t>
            </a:r>
          </a:p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000" dirty="0"/>
              <a:t>A matrix with the same number of rows as columns is called a </a:t>
            </a:r>
            <a:r>
              <a:rPr lang="en-US" altLang="zh-TW" sz="2000" b="1" i="1" dirty="0"/>
              <a:t>square</a:t>
            </a:r>
            <a:r>
              <a:rPr lang="en-US" altLang="zh-TW" sz="2000" dirty="0"/>
              <a:t> (or </a:t>
            </a:r>
            <a:r>
              <a:rPr lang="en-US" altLang="zh-TW" sz="2000" b="1" i="1" dirty="0"/>
              <a:t>square matrix</a:t>
            </a:r>
            <a:r>
              <a:rPr lang="en-US" altLang="zh-TW" sz="2000" dirty="0"/>
              <a:t>)</a:t>
            </a:r>
          </a:p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000" dirty="0"/>
              <a:t>Two matrices are </a:t>
            </a:r>
            <a:r>
              <a:rPr lang="en-US" altLang="zh-TW" sz="2000" b="1" i="1" dirty="0"/>
              <a:t>equal</a:t>
            </a:r>
            <a:r>
              <a:rPr lang="en-US" altLang="zh-TW" sz="2000" dirty="0"/>
              <a:t> if they have the same number of rows and the same number of columns and the corresponding entries in every position are equal.</a:t>
            </a:r>
          </a:p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000" dirty="0"/>
          </a:p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000" dirty="0"/>
          </a:p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000" b="1" u="sng" dirty="0">
                <a:solidFill>
                  <a:srgbClr val="FF0000"/>
                </a:solidFill>
              </a:rPr>
              <a:t>Example 1:  </a:t>
            </a:r>
            <a:r>
              <a:rPr lang="en-US" altLang="zh-TW" sz="2000" dirty="0"/>
              <a:t>The matrix</a:t>
            </a:r>
          </a:p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000" dirty="0"/>
          </a:p>
          <a:p>
            <a:pPr marL="274320" lvl="1" indent="-274320">
              <a:spcBef>
                <a:spcPts val="600"/>
              </a:spcBef>
            </a:pPr>
            <a:endParaRPr lang="en-US" altLang="zh-TW" sz="2000" dirty="0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193610" y="4756240"/>
            <a:ext cx="1007653" cy="11918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45704" y="5287368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</a:rPr>
              <a:t> is a </a:t>
            </a:r>
            <a:r>
              <a:rPr lang="en-US" sz="2400" dirty="0">
                <a:latin typeface="+mn-lt"/>
                <a:ea typeface="Cambria Math" pitchFamily="18" charset="0"/>
              </a:rPr>
              <a:t>3</a:t>
            </a:r>
            <a:r>
              <a:rPr lang="en-US" altLang="zh-TW" sz="2400" i="1" dirty="0">
                <a:latin typeface="+mn-lt"/>
                <a:sym typeface="Symbol" pitchFamily="18" charset="2"/>
              </a:rPr>
              <a:t></a:t>
            </a:r>
            <a:r>
              <a:rPr lang="en-US" altLang="zh-TW" sz="2400" i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 </a:t>
            </a:r>
            <a:r>
              <a:rPr lang="en-US" sz="2400" dirty="0">
                <a:latin typeface="+mn-lt"/>
                <a:ea typeface="Cambria Math" pitchFamily="18" charset="0"/>
                <a:sym typeface="Symbol"/>
              </a:rPr>
              <a:t>2</a:t>
            </a:r>
            <a:r>
              <a:rPr lang="en-US" sz="2400" i="1" dirty="0">
                <a:latin typeface="+mn-lt"/>
                <a:ea typeface="Cambria Math" pitchFamily="18" charset="0"/>
                <a:sym typeface="Symbol"/>
              </a:rPr>
              <a:t> </a:t>
            </a:r>
            <a:r>
              <a:rPr lang="en-US" sz="2400" dirty="0">
                <a:latin typeface="+mn-lt"/>
                <a:ea typeface="Cambria Math" pitchFamily="18" charset="0"/>
                <a:sym typeface="Symbol"/>
              </a:rPr>
              <a:t>matrix. </a:t>
            </a:r>
            <a:endParaRPr lang="en-US" sz="2400" dirty="0">
              <a:latin typeface="+mn-lt"/>
              <a:ea typeface="Cambria Math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Notation</a:t>
            </a:r>
            <a:endParaRPr lang="en-US" sz="4000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2157" y="2126241"/>
            <a:ext cx="851573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/>
              <a:t>Let </a:t>
            </a:r>
            <a:r>
              <a:rPr lang="en-US" sz="2000" i="1" dirty="0"/>
              <a:t>m</a:t>
            </a:r>
            <a:r>
              <a:rPr lang="en-US" sz="2000" dirty="0"/>
              <a:t> and </a:t>
            </a:r>
            <a:r>
              <a:rPr lang="en-US" sz="2000" i="1" dirty="0"/>
              <a:t>n</a:t>
            </a:r>
            <a:r>
              <a:rPr lang="en-US" sz="2000" dirty="0"/>
              <a:t> be positive integers and let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0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0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0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/>
              <a:t>The </a:t>
            </a:r>
            <a:r>
              <a:rPr lang="en-US" sz="2000" i="1" dirty="0" err="1"/>
              <a:t>i</a:t>
            </a:r>
            <a:r>
              <a:rPr lang="en-US" sz="2000" i="1" dirty="0"/>
              <a:t> </a:t>
            </a:r>
            <a:r>
              <a:rPr lang="en-US" sz="2000" dirty="0"/>
              <a:t>th row of </a:t>
            </a:r>
            <a:r>
              <a:rPr lang="en-US" sz="2000" b="1" dirty="0"/>
              <a:t>A</a:t>
            </a:r>
            <a:r>
              <a:rPr lang="en-US" sz="2000" dirty="0"/>
              <a:t> is the </a:t>
            </a:r>
            <a:r>
              <a:rPr lang="en-US" sz="2000" dirty="0">
                <a:ea typeface="Cambria Math" pitchFamily="18" charset="0"/>
              </a:rPr>
              <a:t>1</a:t>
            </a:r>
            <a:r>
              <a:rPr lang="en-US" altLang="zh-TW" sz="2000" i="1" dirty="0">
                <a:sym typeface="Symbol" pitchFamily="18" charset="2"/>
              </a:rPr>
              <a:t> </a:t>
            </a:r>
            <a:r>
              <a:rPr lang="en-US" sz="2000" i="1" dirty="0">
                <a:ea typeface="Cambria Math" pitchFamily="18" charset="0"/>
                <a:sym typeface="Symbol"/>
              </a:rPr>
              <a:t>n </a:t>
            </a:r>
            <a:r>
              <a:rPr lang="en-US" sz="2000" dirty="0">
                <a:ea typeface="Cambria Math" pitchFamily="18" charset="0"/>
                <a:sym typeface="Symbol"/>
              </a:rPr>
              <a:t>matrix</a:t>
            </a:r>
            <a:r>
              <a:rPr lang="en-US" sz="2000" i="1" dirty="0">
                <a:ea typeface="Cambria Math" pitchFamily="18" charset="0"/>
                <a:sym typeface="Symbol"/>
              </a:rPr>
              <a:t> </a:t>
            </a:r>
            <a:r>
              <a:rPr lang="en-US" sz="2000" dirty="0">
                <a:ea typeface="Cambria Math" pitchFamily="18" charset="0"/>
                <a:sym typeface="Symbol"/>
              </a:rPr>
              <a:t>[</a:t>
            </a:r>
            <a:r>
              <a:rPr lang="en-US" sz="2000" i="1" dirty="0">
                <a:ea typeface="Cambria Math" pitchFamily="18" charset="0"/>
                <a:sym typeface="Symbol"/>
              </a:rPr>
              <a:t>a</a:t>
            </a:r>
            <a:r>
              <a:rPr lang="en-US" sz="2000" i="1" baseline="-25000" dirty="0">
                <a:ea typeface="Cambria Math" pitchFamily="18" charset="0"/>
                <a:sym typeface="Symbol"/>
              </a:rPr>
              <a:t>i</a:t>
            </a:r>
            <a:r>
              <a:rPr lang="en-US" sz="2000" baseline="-25000" dirty="0">
                <a:ea typeface="Cambria Math" pitchFamily="18" charset="0"/>
                <a:sym typeface="Symbol"/>
              </a:rPr>
              <a:t>1</a:t>
            </a:r>
            <a:r>
              <a:rPr lang="en-US" sz="2000" i="1" dirty="0">
                <a:ea typeface="Cambria Math" pitchFamily="18" charset="0"/>
                <a:sym typeface="Symbol"/>
              </a:rPr>
              <a:t>, a</a:t>
            </a:r>
            <a:r>
              <a:rPr lang="en-US" sz="2000" i="1" baseline="-25000" dirty="0">
                <a:ea typeface="Cambria Math" pitchFamily="18" charset="0"/>
                <a:sym typeface="Symbol"/>
              </a:rPr>
              <a:t>i</a:t>
            </a:r>
            <a:r>
              <a:rPr lang="en-US" sz="2000" baseline="-25000" dirty="0">
                <a:ea typeface="Cambria Math" pitchFamily="18" charset="0"/>
                <a:sym typeface="Symbol"/>
              </a:rPr>
              <a:t>2</a:t>
            </a:r>
            <a:r>
              <a:rPr lang="en-US" sz="2000" i="1" dirty="0">
                <a:ea typeface="Cambria Math" pitchFamily="18" charset="0"/>
                <a:sym typeface="Symbol"/>
              </a:rPr>
              <a:t>,…,</a:t>
            </a:r>
            <a:r>
              <a:rPr lang="en-US" sz="2000" i="1" dirty="0" err="1">
                <a:ea typeface="Cambria Math" pitchFamily="18" charset="0"/>
                <a:sym typeface="Symbol"/>
              </a:rPr>
              <a:t>a</a:t>
            </a:r>
            <a:r>
              <a:rPr lang="en-US" sz="2000" i="1" baseline="-25000" dirty="0" err="1">
                <a:ea typeface="Cambria Math" pitchFamily="18" charset="0"/>
                <a:sym typeface="Symbol"/>
              </a:rPr>
              <a:t>in</a:t>
            </a:r>
            <a:r>
              <a:rPr lang="en-US" sz="2000" dirty="0">
                <a:ea typeface="Cambria Math" pitchFamily="18" charset="0"/>
                <a:sym typeface="Symbol"/>
              </a:rPr>
              <a:t>].</a:t>
            </a:r>
            <a:r>
              <a:rPr lang="en-US" sz="2000" i="1" dirty="0">
                <a:ea typeface="Cambria Math" pitchFamily="18" charset="0"/>
                <a:sym typeface="Symbol"/>
              </a:rPr>
              <a:t>   </a:t>
            </a:r>
            <a:r>
              <a:rPr lang="en-US" sz="2000" dirty="0">
                <a:ea typeface="Cambria Math" pitchFamily="18" charset="0"/>
                <a:sym typeface="Symbol"/>
              </a:rPr>
              <a:t>The </a:t>
            </a:r>
            <a:r>
              <a:rPr lang="en-US" sz="2000" i="1" dirty="0">
                <a:ea typeface="Cambria Math" pitchFamily="18" charset="0"/>
                <a:sym typeface="Symbol"/>
              </a:rPr>
              <a:t>j </a:t>
            </a:r>
            <a:r>
              <a:rPr lang="en-US" sz="2000" dirty="0">
                <a:ea typeface="Cambria Math" pitchFamily="18" charset="0"/>
                <a:sym typeface="Symbol"/>
              </a:rPr>
              <a:t>th column of </a:t>
            </a:r>
            <a:r>
              <a:rPr lang="en-US" sz="2000" b="1" dirty="0">
                <a:ea typeface="Cambria Math" pitchFamily="18" charset="0"/>
                <a:sym typeface="Symbol"/>
              </a:rPr>
              <a:t>A</a:t>
            </a:r>
            <a:r>
              <a:rPr lang="en-US" sz="2000" dirty="0">
                <a:ea typeface="Cambria Math" pitchFamily="18" charset="0"/>
                <a:sym typeface="Symbol"/>
              </a:rPr>
              <a:t> is the </a:t>
            </a:r>
            <a:r>
              <a:rPr lang="en-US" sz="2000" i="1" dirty="0">
                <a:ea typeface="Cambria Math" pitchFamily="18" charset="0"/>
                <a:sym typeface="Symbol"/>
              </a:rPr>
              <a:t>m</a:t>
            </a:r>
            <a:r>
              <a:rPr lang="en-US" altLang="zh-TW" sz="2000" i="1" dirty="0">
                <a:sym typeface="Symbol" pitchFamily="18" charset="2"/>
              </a:rPr>
              <a:t> </a:t>
            </a:r>
            <a:r>
              <a:rPr lang="en-US" sz="2000" dirty="0">
                <a:ea typeface="Cambria Math" pitchFamily="18" charset="0"/>
                <a:sym typeface="Symbol"/>
              </a:rPr>
              <a:t>1</a:t>
            </a:r>
            <a:r>
              <a:rPr lang="en-US" sz="2000" i="1" dirty="0">
                <a:ea typeface="Cambria Math" pitchFamily="18" charset="0"/>
                <a:sym typeface="Symbol"/>
              </a:rPr>
              <a:t> matrix: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000" i="1" dirty="0">
              <a:ea typeface="Cambria Math" pitchFamily="18" charset="0"/>
              <a:sym typeface="Symbol"/>
            </a:endParaRPr>
          </a:p>
          <a:p>
            <a:pPr marL="274320" indent="-274320">
              <a:spcBef>
                <a:spcPts val="600"/>
              </a:spcBef>
            </a:pPr>
            <a:endParaRPr lang="en-US" sz="20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/>
              <a:t>The (</a:t>
            </a:r>
            <a:r>
              <a:rPr lang="en-US" sz="2000" i="1" dirty="0" err="1"/>
              <a:t>i</a:t>
            </a:r>
            <a:r>
              <a:rPr lang="en-US" sz="2000" i="1" dirty="0"/>
              <a:t>, j</a:t>
            </a:r>
            <a:r>
              <a:rPr lang="en-US" sz="2000" dirty="0"/>
              <a:t>)th</a:t>
            </a:r>
            <a:r>
              <a:rPr lang="en-US" sz="2000" i="1" dirty="0"/>
              <a:t>  element </a:t>
            </a:r>
            <a:r>
              <a:rPr lang="en-US" sz="2000" dirty="0"/>
              <a:t>or</a:t>
            </a:r>
            <a:r>
              <a:rPr lang="en-US" sz="2000" i="1" dirty="0"/>
              <a:t> entry </a:t>
            </a:r>
            <a:r>
              <a:rPr lang="en-US" sz="2000" dirty="0"/>
              <a:t>of </a:t>
            </a:r>
            <a:r>
              <a:rPr lang="en-US" sz="2000" b="1" dirty="0"/>
              <a:t>A </a:t>
            </a:r>
            <a:r>
              <a:rPr lang="en-US" sz="2000" dirty="0"/>
              <a:t>is the element </a:t>
            </a:r>
            <a:r>
              <a:rPr lang="en-US" sz="2000" i="1" dirty="0" err="1"/>
              <a:t>a</a:t>
            </a:r>
            <a:r>
              <a:rPr lang="en-US" sz="2000" i="1" baseline="-25000" dirty="0" err="1"/>
              <a:t>ij</a:t>
            </a:r>
            <a:r>
              <a:rPr lang="en-US" sz="2000" dirty="0"/>
              <a:t>.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/>
              <a:t>We can use </a:t>
            </a:r>
            <a:r>
              <a:rPr lang="en-US" sz="2000" b="1" dirty="0"/>
              <a:t>A</a:t>
            </a:r>
            <a:r>
              <a:rPr lang="en-US" sz="2000" dirty="0"/>
              <a:t> = [</a:t>
            </a:r>
            <a:r>
              <a:rPr lang="en-US" sz="2000" i="1" dirty="0" err="1"/>
              <a:t>a</a:t>
            </a:r>
            <a:r>
              <a:rPr lang="en-US" sz="2000" i="1" baseline="-25000" dirty="0" err="1"/>
              <a:t>ij</a:t>
            </a:r>
            <a:r>
              <a:rPr lang="en-US" sz="2000" i="1" baseline="-25000" dirty="0"/>
              <a:t> </a:t>
            </a:r>
            <a:r>
              <a:rPr lang="en-US" sz="2000" dirty="0"/>
              <a:t>] to denote the matrix  with its (</a:t>
            </a:r>
            <a:r>
              <a:rPr lang="en-US" sz="2000" i="1" dirty="0" err="1"/>
              <a:t>i,j</a:t>
            </a:r>
            <a:r>
              <a:rPr lang="en-US" sz="2000" dirty="0"/>
              <a:t>)</a:t>
            </a:r>
            <a:r>
              <a:rPr lang="en-US" sz="2000" dirty="0" err="1"/>
              <a:t>th</a:t>
            </a:r>
            <a:r>
              <a:rPr lang="en-US" sz="2000" i="1" dirty="0"/>
              <a:t> </a:t>
            </a:r>
            <a:r>
              <a:rPr lang="en-US" sz="2000" dirty="0"/>
              <a:t>element equal to </a:t>
            </a:r>
            <a:r>
              <a:rPr lang="en-US" sz="2000" i="1" dirty="0" err="1"/>
              <a:t>a</a:t>
            </a:r>
            <a:r>
              <a:rPr lang="en-US" sz="2000" i="1" baseline="-25000" dirty="0" err="1"/>
              <a:t>ij</a:t>
            </a:r>
            <a:r>
              <a:rPr lang="en-US" sz="2000" dirty="0"/>
              <a:t>. </a:t>
            </a:r>
            <a:endParaRPr lang="en-US" sz="2000" b="1" dirty="0"/>
          </a:p>
        </p:txBody>
      </p:sp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1719616" y="2516888"/>
            <a:ext cx="2101758" cy="1017882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2444040" y="4064768"/>
            <a:ext cx="635794" cy="9166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21341" y="653725"/>
            <a:ext cx="7808976" cy="1088136"/>
          </a:xfrm>
        </p:spPr>
        <p:txBody>
          <a:bodyPr>
            <a:noAutofit/>
          </a:bodyPr>
          <a:lstStyle/>
          <a:p>
            <a:br>
              <a:rPr lang="en-US" altLang="zh-TW" sz="4000" b="1" dirty="0">
                <a:latin typeface="+mn-lt"/>
              </a:rPr>
            </a:br>
            <a:br>
              <a:rPr lang="en-US" altLang="zh-TW" sz="4000" b="1" dirty="0">
                <a:latin typeface="+mn-lt"/>
              </a:rPr>
            </a:br>
            <a:br>
              <a:rPr lang="en-US" altLang="zh-TW" sz="4000" b="1" dirty="0">
                <a:latin typeface="+mn-lt"/>
              </a:rPr>
            </a:br>
            <a:br>
              <a:rPr lang="en-US" altLang="zh-TW" sz="4000" b="1" dirty="0">
                <a:latin typeface="+mn-lt"/>
              </a:rPr>
            </a:br>
            <a:br>
              <a:rPr lang="en-US" altLang="zh-TW" sz="4000" b="1" dirty="0">
                <a:latin typeface="+mn-lt"/>
              </a:rPr>
            </a:br>
            <a:br>
              <a:rPr lang="en-US" altLang="zh-TW" sz="4000" b="1" dirty="0">
                <a:latin typeface="+mn-lt"/>
              </a:rPr>
            </a:br>
            <a:br>
              <a:rPr lang="en-US" altLang="zh-TW" sz="4000" b="1" dirty="0">
                <a:latin typeface="+mn-lt"/>
              </a:rPr>
            </a:br>
            <a:r>
              <a:rPr lang="en-US" altLang="zh-TW" sz="4000" b="1" dirty="0">
                <a:latin typeface="+mn-lt"/>
              </a:rPr>
              <a:t>Matrix Arithmetic : </a:t>
            </a:r>
            <a:br>
              <a:rPr lang="en-US" altLang="zh-TW" sz="4000" b="1" dirty="0">
                <a:latin typeface="+mn-lt"/>
              </a:rPr>
            </a:br>
            <a:r>
              <a:rPr lang="en-US" altLang="zh-TW" sz="4000" b="1" dirty="0">
                <a:latin typeface="+mn-lt"/>
              </a:rPr>
              <a:t>Addition and Subtraction</a:t>
            </a:r>
            <a:endParaRPr lang="en-US" sz="4000" b="1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7421" y="2178395"/>
            <a:ext cx="8759659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The </a:t>
            </a:r>
            <a:r>
              <a:rPr lang="en-US" altLang="zh-TW" sz="2800" b="1" dirty="0"/>
              <a:t>sum of two matrices </a:t>
            </a:r>
            <a:r>
              <a:rPr lang="en-US" altLang="zh-TW" sz="2800" dirty="0"/>
              <a:t>of the </a:t>
            </a:r>
            <a:r>
              <a:rPr lang="en-US" altLang="zh-TW" sz="2800" b="1" dirty="0"/>
              <a:t>same size </a:t>
            </a:r>
            <a:r>
              <a:rPr lang="en-US" altLang="zh-TW" sz="2800" dirty="0"/>
              <a:t>is obtained by adding elements in the corresponding positions.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dirty="0">
                <a:solidFill>
                  <a:srgbClr val="0000FF"/>
                </a:solidFill>
              </a:rPr>
              <a:t>The </a:t>
            </a:r>
            <a:r>
              <a:rPr lang="en-US" altLang="zh-TW" sz="2400" b="1" dirty="0">
                <a:solidFill>
                  <a:srgbClr val="0000FF"/>
                </a:solidFill>
              </a:rPr>
              <a:t>subtraction</a:t>
            </a:r>
            <a:r>
              <a:rPr lang="en-US" altLang="zh-TW" sz="2400" dirty="0">
                <a:solidFill>
                  <a:srgbClr val="0000FF"/>
                </a:solidFill>
              </a:rPr>
              <a:t> </a:t>
            </a:r>
            <a:r>
              <a:rPr lang="en-US" altLang="zh-TW" sz="2400" b="1" dirty="0">
                <a:solidFill>
                  <a:srgbClr val="0000FF"/>
                </a:solidFill>
              </a:rPr>
              <a:t>of two matrices </a:t>
            </a:r>
            <a:r>
              <a:rPr lang="en-US" altLang="zh-TW" sz="2400" dirty="0">
                <a:solidFill>
                  <a:srgbClr val="0000FF"/>
                </a:solidFill>
              </a:rPr>
              <a:t>of the </a:t>
            </a:r>
            <a:r>
              <a:rPr lang="en-US" altLang="zh-TW" sz="2400" b="1" dirty="0">
                <a:solidFill>
                  <a:srgbClr val="0000FF"/>
                </a:solidFill>
              </a:rPr>
              <a:t>same size </a:t>
            </a:r>
            <a:r>
              <a:rPr lang="en-US" altLang="zh-TW" sz="2400" dirty="0">
                <a:solidFill>
                  <a:srgbClr val="0000FF"/>
                </a:solidFill>
              </a:rPr>
              <a:t>is obtained by subtracting elements in the corresponding positions</a:t>
            </a:r>
          </a:p>
          <a:p>
            <a:pPr marL="274320" indent="-274320">
              <a:spcBef>
                <a:spcPts val="600"/>
              </a:spcBef>
              <a:buFontTx/>
              <a:buChar char="•"/>
            </a:pPr>
            <a:r>
              <a:rPr lang="en-US" sz="2800" dirty="0">
                <a:highlight>
                  <a:srgbClr val="FFFF00"/>
                </a:highlight>
              </a:rPr>
              <a:t>Only matrices with the same dimensions can be added and subtracted</a:t>
            </a:r>
            <a:r>
              <a:rPr lang="en-US" sz="2800" dirty="0"/>
              <a:t>. The resulting matrix has the same dimension of the two matrices being added or subtracted.</a:t>
            </a:r>
            <a:endParaRPr lang="en-US" altLang="zh-TW" sz="28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b="1" i="1" u="sng" dirty="0">
                <a:solidFill>
                  <a:srgbClr val="FF0000"/>
                </a:solidFill>
              </a:rPr>
              <a:t>Note</a:t>
            </a:r>
            <a:r>
              <a:rPr lang="en-US" altLang="zh-TW" sz="2400" dirty="0">
                <a:solidFill>
                  <a:srgbClr val="FF0000"/>
                </a:solidFill>
              </a:rPr>
              <a:t>: Matrices of different sizes cannot be added/subtracted 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21341" y="612781"/>
            <a:ext cx="7808976" cy="1088136"/>
          </a:xfrm>
        </p:spPr>
        <p:txBody>
          <a:bodyPr>
            <a:normAutofit/>
          </a:bodyPr>
          <a:lstStyle/>
          <a:p>
            <a:r>
              <a:rPr lang="en-US" altLang="zh-TW" sz="4000" b="1" dirty="0"/>
              <a:t>Addition of two Matrices</a:t>
            </a:r>
            <a:endParaRPr lang="en-US" sz="4000" dirty="0"/>
          </a:p>
        </p:txBody>
      </p:sp>
      <p:sp>
        <p:nvSpPr>
          <p:cNvPr id="5" name="Rectangle 4"/>
          <p:cNvSpPr/>
          <p:nvPr/>
        </p:nvSpPr>
        <p:spPr>
          <a:xfrm>
            <a:off x="243917" y="2551837"/>
            <a:ext cx="8515739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b="1" u="sng" dirty="0">
                <a:solidFill>
                  <a:srgbClr val="FF0000"/>
                </a:solidFill>
              </a:rPr>
              <a:t>Definition 3</a:t>
            </a:r>
            <a:r>
              <a:rPr lang="en-US" altLang="zh-TW" sz="2800" dirty="0"/>
              <a:t>: Let </a:t>
            </a:r>
            <a:r>
              <a:rPr lang="en-US" altLang="zh-TW" sz="2800" b="1" dirty="0"/>
              <a:t>A</a:t>
            </a:r>
            <a:r>
              <a:rPr lang="en-US" altLang="zh-TW" sz="2800" dirty="0"/>
              <a:t> = [</a:t>
            </a:r>
            <a:r>
              <a:rPr lang="en-US" altLang="zh-TW" sz="2800" i="1" dirty="0" err="1"/>
              <a:t>a</a:t>
            </a:r>
            <a:r>
              <a:rPr lang="en-US" altLang="zh-TW" sz="2800" i="1" baseline="-25000" dirty="0" err="1"/>
              <a:t>ij</a:t>
            </a:r>
            <a:r>
              <a:rPr lang="en-US" altLang="zh-TW" sz="2800" dirty="0"/>
              <a:t>] and </a:t>
            </a:r>
            <a:r>
              <a:rPr lang="en-US" altLang="zh-TW" sz="2800" b="1" dirty="0"/>
              <a:t>B</a:t>
            </a:r>
            <a:r>
              <a:rPr lang="en-US" altLang="zh-TW" sz="2800" dirty="0"/>
              <a:t> = [</a:t>
            </a:r>
            <a:r>
              <a:rPr lang="en-US" altLang="zh-TW" sz="2800" i="1" dirty="0" err="1"/>
              <a:t>b</a:t>
            </a:r>
            <a:r>
              <a:rPr lang="en-US" altLang="zh-TW" sz="2800" i="1" baseline="-25000" dirty="0" err="1"/>
              <a:t>ij</a:t>
            </a:r>
            <a:r>
              <a:rPr lang="en-US" altLang="zh-TW" sz="2800" dirty="0"/>
              <a:t>] be </a:t>
            </a:r>
            <a:r>
              <a:rPr lang="en-US" altLang="zh-TW" sz="2800" i="1" dirty="0"/>
              <a:t>m</a:t>
            </a:r>
            <a:r>
              <a:rPr lang="en-US" altLang="zh-TW" sz="2800" i="1" dirty="0">
                <a:sym typeface="Symbol" pitchFamily="18" charset="2"/>
              </a:rPr>
              <a:t> </a:t>
            </a:r>
            <a:r>
              <a:rPr lang="en-US" altLang="zh-TW" sz="2800" i="1" dirty="0"/>
              <a:t>n</a:t>
            </a:r>
            <a:r>
              <a:rPr lang="en-US" altLang="zh-TW" sz="2800" dirty="0"/>
              <a:t> matrices. The sum of </a:t>
            </a:r>
            <a:r>
              <a:rPr lang="en-US" altLang="zh-TW" sz="2800" b="1" dirty="0"/>
              <a:t>A</a:t>
            </a:r>
            <a:r>
              <a:rPr lang="en-US" altLang="zh-TW" sz="2800" dirty="0"/>
              <a:t> and </a:t>
            </a:r>
            <a:r>
              <a:rPr lang="en-US" altLang="zh-TW" sz="2800" b="1" dirty="0"/>
              <a:t>B</a:t>
            </a:r>
            <a:r>
              <a:rPr lang="en-US" altLang="zh-TW" sz="2800" dirty="0"/>
              <a:t>, denoted by </a:t>
            </a:r>
            <a:r>
              <a:rPr lang="en-US" altLang="zh-TW" sz="2800" b="1" dirty="0"/>
              <a:t>A + B</a:t>
            </a:r>
            <a:r>
              <a:rPr lang="en-US" altLang="zh-TW" sz="2800" dirty="0"/>
              <a:t>, is the </a:t>
            </a:r>
            <a:r>
              <a:rPr lang="en-US" altLang="zh-TW" sz="2800" i="1" dirty="0"/>
              <a:t>m</a:t>
            </a:r>
            <a:r>
              <a:rPr lang="en-US" altLang="zh-TW" sz="2800" i="1" dirty="0">
                <a:sym typeface="Symbol" pitchFamily="18" charset="2"/>
              </a:rPr>
              <a:t> </a:t>
            </a:r>
            <a:r>
              <a:rPr lang="en-US" altLang="zh-TW" sz="2800" i="1" dirty="0"/>
              <a:t>n</a:t>
            </a:r>
            <a:r>
              <a:rPr lang="en-US" altLang="zh-TW" sz="2800" dirty="0"/>
              <a:t> matrix that has </a:t>
            </a:r>
            <a:r>
              <a:rPr lang="en-US" altLang="zh-TW" sz="2800" i="1" dirty="0" err="1"/>
              <a:t>a</a:t>
            </a:r>
            <a:r>
              <a:rPr lang="en-US" altLang="zh-TW" sz="2800" i="1" baseline="-25000" dirty="0" err="1"/>
              <a:t>ij</a:t>
            </a:r>
            <a:r>
              <a:rPr lang="en-US" altLang="zh-TW" sz="2800" i="1" baseline="-25000" dirty="0"/>
              <a:t> </a:t>
            </a:r>
            <a:r>
              <a:rPr lang="en-US" altLang="zh-TW" sz="2800" i="1" dirty="0"/>
              <a:t>+ </a:t>
            </a:r>
            <a:r>
              <a:rPr lang="en-US" altLang="zh-TW" sz="2800" i="1" dirty="0" err="1"/>
              <a:t>b</a:t>
            </a:r>
            <a:r>
              <a:rPr lang="en-US" altLang="zh-TW" sz="2800" i="1" baseline="-25000" dirty="0" err="1"/>
              <a:t>ij</a:t>
            </a:r>
            <a:r>
              <a:rPr lang="en-US" altLang="zh-TW" sz="2800" i="1" dirty="0"/>
              <a:t> </a:t>
            </a:r>
            <a:r>
              <a:rPr lang="en-US" altLang="zh-TW" sz="2800" dirty="0"/>
              <a:t>as its</a:t>
            </a:r>
            <a:r>
              <a:rPr lang="en-US" altLang="zh-TW" sz="2800" i="1" dirty="0"/>
              <a:t> (</a:t>
            </a:r>
            <a:r>
              <a:rPr lang="en-US" altLang="zh-TW" sz="2800" i="1" dirty="0" err="1"/>
              <a:t>i,j</a:t>
            </a:r>
            <a:r>
              <a:rPr lang="en-US" altLang="zh-TW" sz="2800" i="1" dirty="0"/>
              <a:t>)</a:t>
            </a:r>
            <a:r>
              <a:rPr lang="en-US" altLang="zh-TW" sz="2800" dirty="0"/>
              <a:t>th element</a:t>
            </a:r>
            <a:r>
              <a:rPr lang="en-US" altLang="zh-TW" sz="2800" i="1" dirty="0"/>
              <a:t>. 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zh-TW" sz="2800" i="1" dirty="0"/>
              <a:t>	</a:t>
            </a:r>
            <a:r>
              <a:rPr lang="en-US" altLang="zh-TW" sz="2800" dirty="0"/>
              <a:t>In other words , </a:t>
            </a:r>
            <a:r>
              <a:rPr lang="en-US" altLang="zh-TW" sz="2800" b="1" dirty="0"/>
              <a:t>A</a:t>
            </a:r>
            <a:r>
              <a:rPr lang="en-US" altLang="zh-TW" sz="2800" b="1" i="1" dirty="0"/>
              <a:t> </a:t>
            </a:r>
            <a:r>
              <a:rPr lang="en-US" altLang="zh-TW" sz="2800" b="1" dirty="0"/>
              <a:t>+</a:t>
            </a:r>
            <a:r>
              <a:rPr lang="en-US" altLang="zh-TW" sz="2800" b="1" i="1" dirty="0"/>
              <a:t> </a:t>
            </a:r>
            <a:r>
              <a:rPr lang="en-US" altLang="zh-TW" sz="2800" b="1" dirty="0"/>
              <a:t>B</a:t>
            </a:r>
            <a:r>
              <a:rPr lang="en-US" altLang="zh-TW" sz="2800" b="1" i="1" dirty="0"/>
              <a:t> </a:t>
            </a:r>
            <a:r>
              <a:rPr lang="en-US" altLang="zh-TW" sz="2800" dirty="0"/>
              <a:t>= [</a:t>
            </a:r>
            <a:r>
              <a:rPr lang="en-US" altLang="zh-TW" sz="2800" i="1" dirty="0" err="1"/>
              <a:t>a</a:t>
            </a:r>
            <a:r>
              <a:rPr lang="en-US" altLang="zh-TW" sz="2800" i="1" baseline="-25000" dirty="0" err="1"/>
              <a:t>ij</a:t>
            </a:r>
            <a:r>
              <a:rPr lang="en-US" altLang="zh-TW" sz="2800" i="1" baseline="-25000" dirty="0"/>
              <a:t> </a:t>
            </a:r>
            <a:r>
              <a:rPr lang="en-US" altLang="zh-TW" sz="2800" dirty="0"/>
              <a:t>+</a:t>
            </a:r>
            <a:r>
              <a:rPr lang="en-US" altLang="zh-TW" sz="2800" i="1" dirty="0"/>
              <a:t> </a:t>
            </a:r>
            <a:r>
              <a:rPr lang="en-US" altLang="zh-TW" sz="2800" i="1" dirty="0" err="1"/>
              <a:t>b</a:t>
            </a:r>
            <a:r>
              <a:rPr lang="en-US" altLang="zh-TW" sz="2800" i="1" baseline="-25000" dirty="0" err="1"/>
              <a:t>ij</a:t>
            </a:r>
            <a:r>
              <a:rPr lang="en-US" altLang="zh-TW" sz="2800" dirty="0"/>
              <a:t>]</a:t>
            </a:r>
          </a:p>
          <a:p>
            <a:pPr marL="274320" indent="-274320">
              <a:spcBef>
                <a:spcPts val="600"/>
              </a:spcBef>
            </a:pP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Example 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261584" y="2231424"/>
          <a:ext cx="3982877" cy="119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97100" imgH="660400" progId="">
                  <p:embed/>
                </p:oleObj>
              </mc:Choice>
              <mc:Fallback>
                <p:oleObj name="Equation" r:id="rId2" imgW="2197100" imgH="6604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584" y="2231424"/>
                        <a:ext cx="3982877" cy="119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503229" y="3622928"/>
            <a:ext cx="3823120" cy="2491273"/>
            <a:chOff x="288" y="1872"/>
            <a:chExt cx="2496" cy="2046"/>
          </a:xfrm>
        </p:grpSpPr>
        <p:graphicFrame>
          <p:nvGraphicFramePr>
            <p:cNvPr id="7" name="Object 3"/>
            <p:cNvGraphicFramePr>
              <a:graphicFrameLocks noChangeAspect="1"/>
            </p:cNvGraphicFramePr>
            <p:nvPr/>
          </p:nvGraphicFramePr>
          <p:xfrm>
            <a:off x="288" y="2928"/>
            <a:ext cx="2496" cy="9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63700" imgH="660400" progId="">
                    <p:embed/>
                  </p:oleObj>
                </mc:Choice>
                <mc:Fallback>
                  <p:oleObj name="Equation" r:id="rId4" imgW="1663700" imgH="660400" progId="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2928"/>
                          <a:ext cx="2496" cy="9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AutoShape 10"/>
            <p:cNvSpPr>
              <a:spLocks noChangeArrowheads="1"/>
            </p:cNvSpPr>
            <p:nvPr/>
          </p:nvSpPr>
          <p:spPr bwMode="auto">
            <a:xfrm>
              <a:off x="1344" y="1872"/>
              <a:ext cx="624" cy="816"/>
            </a:xfrm>
            <a:prstGeom prst="downArrow">
              <a:avLst>
                <a:gd name="adj1" fmla="val 50000"/>
                <a:gd name="adj2" fmla="val 3269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" name="Group 14"/>
          <p:cNvGrpSpPr>
            <a:grpSpLocks/>
          </p:cNvGrpSpPr>
          <p:nvPr/>
        </p:nvGrpSpPr>
        <p:grpSpPr bwMode="auto">
          <a:xfrm>
            <a:off x="4736904" y="4263498"/>
            <a:ext cx="3563938" cy="1598613"/>
            <a:chOff x="3216" y="2892"/>
            <a:chExt cx="2245" cy="1007"/>
          </a:xfrm>
        </p:grpSpPr>
        <p:sp>
          <p:nvSpPr>
            <p:cNvPr id="10" name="AutoShape 8"/>
            <p:cNvSpPr>
              <a:spLocks noChangeArrowheads="1"/>
            </p:cNvSpPr>
            <p:nvPr/>
          </p:nvSpPr>
          <p:spPr bwMode="auto">
            <a:xfrm>
              <a:off x="3216" y="3168"/>
              <a:ext cx="672" cy="480"/>
            </a:xfrm>
            <a:prstGeom prst="rightArrow">
              <a:avLst>
                <a:gd name="adj1" fmla="val 50000"/>
                <a:gd name="adj2" fmla="val 3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1" name="Object 4"/>
            <p:cNvGraphicFramePr>
              <a:graphicFrameLocks noChangeAspect="1"/>
            </p:cNvGraphicFramePr>
            <p:nvPr/>
          </p:nvGraphicFramePr>
          <p:xfrm>
            <a:off x="4023" y="2892"/>
            <a:ext cx="1438" cy="10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15920" imgH="711000" progId="">
                    <p:embed/>
                  </p:oleObj>
                </mc:Choice>
                <mc:Fallback>
                  <p:oleObj name="Equation" r:id="rId6" imgW="1015920" imgH="711000" progId="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3" y="2892"/>
                          <a:ext cx="1438" cy="100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ectangle 11"/>
          <p:cNvSpPr/>
          <p:nvPr/>
        </p:nvSpPr>
        <p:spPr>
          <a:xfrm>
            <a:off x="5111136" y="2764635"/>
            <a:ext cx="31867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</a:rPr>
              <a:t>Add the corresponding elements in each matrix </a:t>
            </a:r>
          </a:p>
        </p:txBody>
      </p:sp>
      <p:sp>
        <p:nvSpPr>
          <p:cNvPr id="13" name="AutoShape 12"/>
          <p:cNvSpPr>
            <a:spLocks noChangeArrowheads="1"/>
          </p:cNvSpPr>
          <p:nvPr/>
        </p:nvSpPr>
        <p:spPr bwMode="auto">
          <a:xfrm>
            <a:off x="4590192" y="2231424"/>
            <a:ext cx="4038600" cy="1502375"/>
          </a:xfrm>
          <a:prstGeom prst="wedgeRoundRectCallout">
            <a:avLst>
              <a:gd name="adj1" fmla="val -47681"/>
              <a:gd name="adj2" fmla="val 85157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Example 2 (p. 258)</a:t>
            </a:r>
            <a:endParaRPr lang="en-US" sz="4000" dirty="0">
              <a:latin typeface="+mn-lt"/>
            </a:endParaRPr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550734" y="2156908"/>
          <a:ext cx="6987193" cy="1896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55800" imgH="711000" progId="">
                  <p:embed/>
                </p:oleObj>
              </mc:Choice>
              <mc:Fallback>
                <p:oleObj name="Equation" r:id="rId2" imgW="2755800" imgH="7110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34" y="2156908"/>
                        <a:ext cx="6987193" cy="18964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2"/>
          <p:cNvGraphicFramePr>
            <a:graphicFrameLocks noChangeAspect="1"/>
          </p:cNvGraphicFramePr>
          <p:nvPr/>
        </p:nvGraphicFramePr>
        <p:xfrm>
          <a:off x="695512" y="4217158"/>
          <a:ext cx="3917243" cy="1717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711000" progId="">
                  <p:embed/>
                </p:oleObj>
              </mc:Choice>
              <mc:Fallback>
                <p:oleObj name="Equation" r:id="rId4" imgW="1371600" imgH="7110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512" y="4217158"/>
                        <a:ext cx="3917243" cy="17173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400" b="1" dirty="0"/>
              <a:t>Product of two Matrices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25805" y="2123595"/>
            <a:ext cx="8515739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b="1" u="sng" dirty="0">
                <a:solidFill>
                  <a:srgbClr val="FF0000"/>
                </a:solidFill>
              </a:rPr>
              <a:t>Definition 4</a:t>
            </a:r>
            <a:r>
              <a:rPr lang="en-US" altLang="zh-TW" sz="2400" dirty="0"/>
              <a:t>: Let </a:t>
            </a:r>
            <a:r>
              <a:rPr lang="en-US" altLang="zh-TW" sz="2400" b="1" dirty="0"/>
              <a:t>A</a:t>
            </a:r>
            <a:r>
              <a:rPr lang="en-US" altLang="zh-TW" sz="2400" dirty="0"/>
              <a:t> be </a:t>
            </a:r>
            <a:r>
              <a:rPr lang="en-US" altLang="zh-TW" sz="2400" i="1" dirty="0"/>
              <a:t>m</a:t>
            </a:r>
            <a:r>
              <a:rPr lang="en-US" altLang="zh-TW" sz="2400" b="1" i="1" dirty="0">
                <a:sym typeface="Symbol" pitchFamily="18" charset="2"/>
              </a:rPr>
              <a:t></a:t>
            </a:r>
            <a:r>
              <a:rPr lang="en-US" altLang="zh-TW" sz="2400" i="1" dirty="0">
                <a:sym typeface="Symbol" pitchFamily="18" charset="2"/>
              </a:rPr>
              <a:t> </a:t>
            </a:r>
            <a:r>
              <a:rPr lang="en-US" altLang="zh-TW" sz="2400" i="1" dirty="0"/>
              <a:t>k</a:t>
            </a:r>
            <a:r>
              <a:rPr lang="en-US" altLang="zh-TW" sz="2400" dirty="0"/>
              <a:t> matrix and </a:t>
            </a:r>
            <a:r>
              <a:rPr lang="en-US" altLang="zh-TW" sz="2400" b="1" dirty="0"/>
              <a:t>B</a:t>
            </a:r>
            <a:r>
              <a:rPr lang="en-US" altLang="zh-TW" sz="2400" dirty="0"/>
              <a:t> be </a:t>
            </a:r>
            <a:r>
              <a:rPr lang="en-US" altLang="zh-TW" sz="2400" i="1" dirty="0"/>
              <a:t>k</a:t>
            </a:r>
            <a:r>
              <a:rPr lang="en-US" altLang="zh-TW" sz="2400" b="1" i="1" dirty="0">
                <a:sym typeface="Symbol" pitchFamily="18" charset="2"/>
              </a:rPr>
              <a:t></a:t>
            </a:r>
            <a:r>
              <a:rPr lang="en-US" altLang="zh-TW" sz="2400" i="1" dirty="0">
                <a:sym typeface="Symbol" pitchFamily="18" charset="2"/>
              </a:rPr>
              <a:t> </a:t>
            </a:r>
            <a:r>
              <a:rPr lang="en-US" altLang="zh-TW" sz="2400" i="1" dirty="0"/>
              <a:t>n</a:t>
            </a:r>
            <a:r>
              <a:rPr lang="en-US" altLang="zh-TW" sz="2400" dirty="0"/>
              <a:t> matrix. The product of </a:t>
            </a:r>
            <a:r>
              <a:rPr lang="en-US" altLang="zh-TW" sz="2400" b="1" dirty="0"/>
              <a:t>A</a:t>
            </a:r>
            <a:r>
              <a:rPr lang="en-US" altLang="zh-TW" sz="2400" dirty="0"/>
              <a:t> and </a:t>
            </a:r>
            <a:r>
              <a:rPr lang="en-US" altLang="zh-TW" sz="2400" b="1" dirty="0"/>
              <a:t>B</a:t>
            </a:r>
            <a:r>
              <a:rPr lang="en-US" altLang="zh-TW" sz="2400" dirty="0"/>
              <a:t>, denoted by </a:t>
            </a:r>
            <a:r>
              <a:rPr lang="en-US" altLang="zh-TW" sz="2400" b="1" dirty="0"/>
              <a:t>AB</a:t>
            </a:r>
            <a:r>
              <a:rPr lang="en-US" altLang="zh-TW" sz="2400" dirty="0"/>
              <a:t>, is the </a:t>
            </a:r>
            <a:r>
              <a:rPr lang="en-US" altLang="zh-TW" sz="2400" i="1" dirty="0"/>
              <a:t>m</a:t>
            </a:r>
            <a:r>
              <a:rPr lang="en-US" altLang="zh-TW" sz="2400" b="1" i="1" dirty="0">
                <a:sym typeface="Symbol" pitchFamily="18" charset="2"/>
              </a:rPr>
              <a:t> </a:t>
            </a:r>
            <a:r>
              <a:rPr lang="en-US" altLang="zh-TW" sz="2400" i="1" dirty="0"/>
              <a:t>n</a:t>
            </a:r>
            <a:r>
              <a:rPr lang="en-US" altLang="zh-TW" sz="2400" dirty="0"/>
              <a:t> matrix with its (</a:t>
            </a:r>
            <a:r>
              <a:rPr lang="en-US" altLang="zh-TW" sz="2400" i="1" dirty="0" err="1"/>
              <a:t>i,j</a:t>
            </a:r>
            <a:r>
              <a:rPr lang="en-US" altLang="zh-TW" sz="2400" dirty="0"/>
              <a:t>)th element equal to the sum of the products of the corresponding entries from the </a:t>
            </a:r>
            <a:r>
              <a:rPr lang="en-US" altLang="zh-TW" sz="2400" i="1" dirty="0" err="1"/>
              <a:t>i</a:t>
            </a:r>
            <a:r>
              <a:rPr lang="en-US" altLang="zh-TW" sz="2400" dirty="0" err="1"/>
              <a:t>th</a:t>
            </a:r>
            <a:r>
              <a:rPr lang="en-US" altLang="zh-TW" sz="2400" dirty="0"/>
              <a:t> row of </a:t>
            </a:r>
            <a:r>
              <a:rPr lang="en-US" altLang="zh-TW" sz="2400" b="1" dirty="0"/>
              <a:t>A</a:t>
            </a:r>
            <a:r>
              <a:rPr lang="en-US" altLang="zh-TW" sz="2400" dirty="0"/>
              <a:t> and the </a:t>
            </a:r>
            <a:r>
              <a:rPr lang="en-US" altLang="zh-TW" sz="2400" i="1" dirty="0" err="1"/>
              <a:t>j</a:t>
            </a:r>
            <a:r>
              <a:rPr lang="en-US" altLang="zh-TW" sz="2400" dirty="0" err="1"/>
              <a:t>th</a:t>
            </a:r>
            <a:r>
              <a:rPr lang="en-US" altLang="zh-TW" sz="2400" dirty="0"/>
              <a:t> column of </a:t>
            </a:r>
            <a:r>
              <a:rPr lang="en-US" altLang="zh-TW" sz="2400" b="1" dirty="0"/>
              <a:t>B</a:t>
            </a:r>
            <a:r>
              <a:rPr lang="en-US" altLang="zh-TW" sz="2400" dirty="0"/>
              <a:t>.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dirty="0"/>
              <a:t>In other words, If </a:t>
            </a:r>
            <a:r>
              <a:rPr lang="en-US" altLang="zh-TW" sz="2400" b="1" dirty="0"/>
              <a:t>AB</a:t>
            </a:r>
            <a:r>
              <a:rPr lang="en-US" altLang="zh-TW" sz="2400" dirty="0"/>
              <a:t> = [</a:t>
            </a:r>
            <a:r>
              <a:rPr lang="en-US" altLang="zh-TW" sz="2400" i="1" dirty="0" err="1"/>
              <a:t>c</a:t>
            </a:r>
            <a:r>
              <a:rPr lang="en-US" altLang="zh-TW" sz="2400" i="1" baseline="-25000" dirty="0" err="1"/>
              <a:t>ij</a:t>
            </a:r>
            <a:r>
              <a:rPr lang="en-US" altLang="zh-TW" sz="2400" dirty="0"/>
              <a:t>], then </a:t>
            </a:r>
            <a:r>
              <a:rPr lang="en-US" altLang="zh-TW" sz="2400" i="1" dirty="0" err="1"/>
              <a:t>c</a:t>
            </a:r>
            <a:r>
              <a:rPr lang="en-US" altLang="zh-TW" sz="2400" i="1" baseline="-25000" dirty="0" err="1"/>
              <a:t>ij</a:t>
            </a:r>
            <a:r>
              <a:rPr lang="en-US" altLang="zh-TW" sz="2400" dirty="0"/>
              <a:t> = </a:t>
            </a:r>
            <a:r>
              <a:rPr lang="en-US" altLang="zh-TW" sz="2400" i="1" dirty="0"/>
              <a:t>a</a:t>
            </a:r>
            <a:r>
              <a:rPr lang="en-US" altLang="zh-TW" sz="2400" i="1" baseline="-25000" dirty="0"/>
              <a:t>i1</a:t>
            </a:r>
            <a:r>
              <a:rPr lang="en-US" altLang="zh-TW" sz="2400" i="1" dirty="0"/>
              <a:t>b</a:t>
            </a:r>
            <a:r>
              <a:rPr lang="en-US" altLang="zh-TW" sz="2400" i="1" baseline="-25000" dirty="0"/>
              <a:t>1j</a:t>
            </a:r>
            <a:r>
              <a:rPr lang="en-US" altLang="zh-TW" sz="2400" i="1" dirty="0"/>
              <a:t> </a:t>
            </a:r>
            <a:r>
              <a:rPr lang="en-US" altLang="zh-TW" sz="2400" dirty="0"/>
              <a:t>+ </a:t>
            </a:r>
            <a:r>
              <a:rPr lang="en-US" altLang="zh-TW" sz="2400" i="1" dirty="0"/>
              <a:t>a</a:t>
            </a:r>
            <a:r>
              <a:rPr lang="en-US" altLang="zh-TW" sz="2400" i="1" baseline="-25000" dirty="0"/>
              <a:t>i2</a:t>
            </a:r>
            <a:r>
              <a:rPr lang="en-US" altLang="zh-TW" sz="2400" i="1" dirty="0"/>
              <a:t>b</a:t>
            </a:r>
            <a:r>
              <a:rPr lang="en-US" altLang="zh-TW" sz="2400" i="1" baseline="-25000" dirty="0"/>
              <a:t>2j</a:t>
            </a:r>
            <a:r>
              <a:rPr lang="en-US" altLang="zh-TW" sz="2400" i="1" dirty="0"/>
              <a:t> </a:t>
            </a:r>
            <a:r>
              <a:rPr lang="en-US" altLang="zh-TW" sz="2400" dirty="0"/>
              <a:t>+</a:t>
            </a:r>
            <a:r>
              <a:rPr lang="en-US" altLang="zh-TW" sz="2400" i="1" dirty="0"/>
              <a:t>…</a:t>
            </a:r>
            <a:r>
              <a:rPr lang="en-US" altLang="zh-TW" sz="2400" dirty="0"/>
              <a:t>+ </a:t>
            </a:r>
            <a:r>
              <a:rPr lang="en-US" altLang="zh-TW" sz="2400" i="1" dirty="0" err="1"/>
              <a:t>a</a:t>
            </a:r>
            <a:r>
              <a:rPr lang="en-US" altLang="zh-TW" sz="2400" i="1" baseline="-25000" dirty="0" err="1"/>
              <a:t>ik</a:t>
            </a:r>
            <a:r>
              <a:rPr lang="en-US" altLang="zh-TW" sz="2400" i="1" dirty="0" err="1"/>
              <a:t>b</a:t>
            </a:r>
            <a:r>
              <a:rPr lang="en-US" altLang="zh-TW" sz="2400" i="1" baseline="-25000" dirty="0" err="1"/>
              <a:t>kj</a:t>
            </a:r>
            <a:r>
              <a:rPr lang="en-US" altLang="zh-TW" sz="2400" dirty="0"/>
              <a:t>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4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b="1" i="1" u="sng" dirty="0">
                <a:solidFill>
                  <a:srgbClr val="FF0000"/>
                </a:solidFill>
              </a:rPr>
              <a:t>Note</a:t>
            </a:r>
            <a:r>
              <a:rPr lang="en-US" altLang="zh-TW" sz="2400" dirty="0"/>
              <a:t>: </a:t>
            </a:r>
            <a:r>
              <a:rPr lang="en-US" altLang="zh-TW" sz="2400" dirty="0">
                <a:solidFill>
                  <a:srgbClr val="0000FF"/>
                </a:solidFill>
              </a:rPr>
              <a:t>A product of two matrices is defined only when the number of </a:t>
            </a:r>
            <a:r>
              <a:rPr lang="en-US" altLang="zh-TW" sz="2400" b="1" dirty="0">
                <a:solidFill>
                  <a:srgbClr val="0000FF"/>
                </a:solidFill>
              </a:rPr>
              <a:t>columns</a:t>
            </a:r>
            <a:r>
              <a:rPr lang="en-US" altLang="zh-TW" sz="2400" dirty="0">
                <a:solidFill>
                  <a:srgbClr val="0000FF"/>
                </a:solidFill>
              </a:rPr>
              <a:t> </a:t>
            </a:r>
            <a:r>
              <a:rPr lang="en-US" altLang="zh-TW" sz="2400" b="1" dirty="0">
                <a:solidFill>
                  <a:srgbClr val="0000FF"/>
                </a:solidFill>
              </a:rPr>
              <a:t>in the first matrix </a:t>
            </a:r>
            <a:r>
              <a:rPr lang="en-US" altLang="zh-TW" sz="2400" b="1" i="1" dirty="0">
                <a:solidFill>
                  <a:srgbClr val="FF0000"/>
                </a:solidFill>
              </a:rPr>
              <a:t>equals</a:t>
            </a:r>
            <a:r>
              <a:rPr lang="en-US" altLang="zh-TW" sz="2400" dirty="0">
                <a:solidFill>
                  <a:srgbClr val="0000FF"/>
                </a:solidFill>
              </a:rPr>
              <a:t> the </a:t>
            </a:r>
            <a:r>
              <a:rPr lang="en-US" altLang="zh-TW" sz="2400" b="1" dirty="0">
                <a:solidFill>
                  <a:srgbClr val="0000FF"/>
                </a:solidFill>
              </a:rPr>
              <a:t>number of rows of the second matrix. </a:t>
            </a:r>
            <a:endParaRPr lang="en-US" sz="24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Example </a:t>
            </a:r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70014" y="2197267"/>
            <a:ext cx="6099026" cy="1310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2157" y="3916905"/>
            <a:ext cx="85157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u="sng" dirty="0">
                <a:solidFill>
                  <a:srgbClr val="FF0000"/>
                </a:solidFill>
              </a:rPr>
              <a:t>Note</a:t>
            </a:r>
            <a:r>
              <a:rPr lang="en-US" sz="2000" b="1" i="1" dirty="0">
                <a:solidFill>
                  <a:srgbClr val="FF0000"/>
                </a:solidFill>
              </a:rPr>
              <a:t>:  </a:t>
            </a:r>
            <a:r>
              <a:rPr lang="en-US" sz="2000" dirty="0"/>
              <a:t>Here, we always multiply the row of first matrix by the column of the second matrix.</a:t>
            </a:r>
          </a:p>
          <a:p>
            <a:r>
              <a:rPr lang="en-US" sz="2000" i="1" dirty="0">
                <a:solidFill>
                  <a:srgbClr val="FF0000"/>
                </a:solidFill>
              </a:rPr>
              <a:t>e.g. </a:t>
            </a:r>
            <a:r>
              <a:rPr lang="en-US" sz="2000" dirty="0"/>
              <a:t>to find the element </a:t>
            </a:r>
            <a:r>
              <a:rPr lang="en-US" sz="2000" b="1" i="1" dirty="0"/>
              <a:t>a</a:t>
            </a:r>
            <a:r>
              <a:rPr lang="en-US" sz="2000" b="1" baseline="-25000" dirty="0">
                <a:solidFill>
                  <a:srgbClr val="FF0000"/>
                </a:solidFill>
              </a:rPr>
              <a:t>3</a:t>
            </a:r>
            <a:r>
              <a:rPr lang="en-US" sz="2000" b="1" baseline="-25000" dirty="0"/>
              <a:t>, </a:t>
            </a:r>
            <a:r>
              <a:rPr lang="en-US" sz="2000" b="1" baseline="-25000" dirty="0">
                <a:solidFill>
                  <a:srgbClr val="0000FF"/>
                </a:solidFill>
              </a:rPr>
              <a:t>2</a:t>
            </a:r>
            <a:r>
              <a:rPr lang="en-US" sz="2000" dirty="0"/>
              <a:t>, multiply the </a:t>
            </a:r>
            <a:r>
              <a:rPr lang="en-US" sz="2000" dirty="0">
                <a:solidFill>
                  <a:srgbClr val="FF0000"/>
                </a:solidFill>
              </a:rPr>
              <a:t>third row of First matrix</a:t>
            </a:r>
            <a:r>
              <a:rPr lang="en-US" sz="2000" dirty="0"/>
              <a:t> by the </a:t>
            </a:r>
            <a:r>
              <a:rPr lang="en-US" sz="2000" dirty="0">
                <a:solidFill>
                  <a:srgbClr val="0000FF"/>
                </a:solidFill>
              </a:rPr>
              <a:t>second  column of Second matrix</a:t>
            </a:r>
          </a:p>
          <a:p>
            <a:r>
              <a:rPr lang="en-US" sz="2000" dirty="0"/>
              <a:t> </a:t>
            </a:r>
            <a:r>
              <a:rPr lang="en-US" sz="2400" b="1" i="1" dirty="0"/>
              <a:t>a</a:t>
            </a:r>
            <a:r>
              <a:rPr lang="en-US" sz="2400" b="1" baseline="-25000" dirty="0">
                <a:solidFill>
                  <a:srgbClr val="FF0000"/>
                </a:solidFill>
              </a:rPr>
              <a:t>3</a:t>
            </a:r>
            <a:r>
              <a:rPr lang="en-US" sz="2400" b="1" baseline="-25000" dirty="0"/>
              <a:t>, </a:t>
            </a:r>
            <a:r>
              <a:rPr lang="en-US" sz="2400" b="1" baseline="-25000" dirty="0">
                <a:solidFill>
                  <a:srgbClr val="0000FF"/>
                </a:solidFill>
              </a:rPr>
              <a:t>2  </a:t>
            </a:r>
            <a:r>
              <a:rPr lang="en-US" sz="2000" dirty="0"/>
              <a:t>= 3    1    0 *   4 	= 3*4  + 1*1  + 0*0 = 13</a:t>
            </a:r>
          </a:p>
          <a:p>
            <a:r>
              <a:rPr lang="en-US" sz="2000" dirty="0"/>
              <a:t>		   1</a:t>
            </a:r>
          </a:p>
          <a:p>
            <a:r>
              <a:rPr lang="en-US" sz="2000" dirty="0"/>
              <a:t>		    0	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84861" y="503597"/>
            <a:ext cx="7808976" cy="1088136"/>
          </a:xfrm>
        </p:spPr>
        <p:txBody>
          <a:bodyPr/>
          <a:lstStyle/>
          <a:p>
            <a:r>
              <a:rPr lang="en-US" sz="4400" b="1" dirty="0"/>
              <a:t>Transpose of a Matrix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189325" y="2074460"/>
            <a:ext cx="8652219" cy="253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u="sng" dirty="0">
                <a:solidFill>
                  <a:srgbClr val="FF0000"/>
                </a:solidFill>
              </a:rPr>
              <a:t>Definition</a:t>
            </a:r>
            <a:r>
              <a:rPr lang="en-US" sz="2400" dirty="0"/>
              <a:t>: Let </a:t>
            </a:r>
            <a:r>
              <a:rPr lang="en-US" sz="2400" b="1" dirty="0"/>
              <a:t>A</a:t>
            </a:r>
            <a:r>
              <a:rPr lang="en-US" sz="2400" dirty="0"/>
              <a:t> = [</a:t>
            </a:r>
            <a:r>
              <a:rPr lang="en-US" sz="2400" i="1" dirty="0" err="1">
                <a:ea typeface="Cambria Math" pitchFamily="18" charset="0"/>
              </a:rPr>
              <a:t>a</a:t>
            </a:r>
            <a:r>
              <a:rPr lang="en-US" sz="2400" i="1" baseline="-25000" dirty="0" err="1">
                <a:ea typeface="Cambria Math" pitchFamily="18" charset="0"/>
              </a:rPr>
              <a:t>ij</a:t>
            </a:r>
            <a:r>
              <a:rPr lang="en-US" sz="2400" dirty="0">
                <a:ea typeface="Cambria Math" pitchFamily="18" charset="0"/>
              </a:rPr>
              <a:t>] be an </a:t>
            </a:r>
            <a:r>
              <a:rPr lang="en-US" sz="2400" i="1" dirty="0">
                <a:ea typeface="Cambria Math" pitchFamily="18" charset="0"/>
              </a:rPr>
              <a:t>m</a:t>
            </a:r>
            <a:r>
              <a:rPr lang="en-US" sz="2400" dirty="0">
                <a:ea typeface="Cambria Math" pitchFamily="18" charset="0"/>
                <a:sym typeface="Symbol"/>
              </a:rPr>
              <a:t> x </a:t>
            </a:r>
            <a:r>
              <a:rPr lang="en-US" sz="2400" i="1" dirty="0">
                <a:ea typeface="Cambria Math" pitchFamily="18" charset="0"/>
                <a:sym typeface="Symbol"/>
              </a:rPr>
              <a:t>n</a:t>
            </a:r>
            <a:r>
              <a:rPr lang="en-US" sz="2400" dirty="0">
                <a:ea typeface="Cambria Math"/>
                <a:sym typeface="Symbol"/>
              </a:rPr>
              <a:t> matrix. The </a:t>
            </a:r>
            <a:r>
              <a:rPr lang="en-US" sz="2400" i="1" dirty="0">
                <a:ea typeface="Cambria Math"/>
                <a:sym typeface="Symbol"/>
              </a:rPr>
              <a:t>transpose</a:t>
            </a:r>
            <a:r>
              <a:rPr lang="en-US" sz="2400" dirty="0">
                <a:ea typeface="Cambria Math"/>
                <a:sym typeface="Symbol"/>
              </a:rPr>
              <a:t> of </a:t>
            </a:r>
            <a:r>
              <a:rPr lang="en-US" sz="2400" b="1" dirty="0">
                <a:ea typeface="Cambria Math"/>
                <a:sym typeface="Symbol"/>
              </a:rPr>
              <a:t>A</a:t>
            </a:r>
            <a:r>
              <a:rPr lang="en-US" sz="2400" dirty="0">
                <a:ea typeface="Cambria Math"/>
                <a:sym typeface="Symbol"/>
              </a:rPr>
              <a:t>, denoted by </a:t>
            </a:r>
            <a:r>
              <a:rPr lang="en-US" sz="2400" b="1" dirty="0"/>
              <a:t>A</a:t>
            </a:r>
            <a:r>
              <a:rPr lang="en-US" sz="2400" b="1" i="1" baseline="30000" dirty="0">
                <a:ea typeface="Cambria Math"/>
                <a:sym typeface="Symbol"/>
              </a:rPr>
              <a:t>t</a:t>
            </a:r>
            <a:r>
              <a:rPr lang="en-US" sz="2400" dirty="0">
                <a:sym typeface="Symbol"/>
              </a:rPr>
              <a:t>, </a:t>
            </a:r>
            <a:r>
              <a:rPr lang="en-US" sz="2400" dirty="0"/>
              <a:t>is the </a:t>
            </a:r>
            <a:r>
              <a:rPr lang="en-US" sz="2400" i="1" dirty="0">
                <a:ea typeface="Cambria Math" pitchFamily="18" charset="0"/>
              </a:rPr>
              <a:t>n x </a:t>
            </a:r>
            <a:r>
              <a:rPr lang="en-US" sz="2400" i="1" dirty="0">
                <a:ea typeface="Cambria Math" pitchFamily="18" charset="0"/>
                <a:sym typeface="Symbol"/>
              </a:rPr>
              <a:t>m</a:t>
            </a:r>
            <a:r>
              <a:rPr lang="en-US" sz="2400" dirty="0"/>
              <a:t> matrix obtained by interchanging the rows and columns of </a:t>
            </a:r>
            <a:r>
              <a:rPr lang="en-US" sz="2400" b="1" dirty="0"/>
              <a:t>A</a:t>
            </a:r>
            <a:r>
              <a:rPr lang="en-US" sz="2400" dirty="0"/>
              <a:t>. 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4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/>
              <a:t>If </a:t>
            </a:r>
            <a:r>
              <a:rPr lang="en-US" sz="2400" b="1" dirty="0"/>
              <a:t>A</a:t>
            </a:r>
            <a:r>
              <a:rPr lang="en-US" sz="2400" b="1" i="1" baseline="30000" dirty="0">
                <a:ea typeface="Cambria Math"/>
                <a:sym typeface="Symbol"/>
              </a:rPr>
              <a:t>t</a:t>
            </a:r>
            <a:r>
              <a:rPr lang="en-US" sz="2400" dirty="0">
                <a:sym typeface="Symbol"/>
              </a:rPr>
              <a:t> =</a:t>
            </a:r>
            <a:r>
              <a:rPr lang="en-US" sz="2400" dirty="0"/>
              <a:t> [ </a:t>
            </a:r>
            <a:r>
              <a:rPr lang="en-US" sz="2400" i="1" dirty="0" err="1">
                <a:ea typeface="Cambria Math" pitchFamily="18" charset="0"/>
                <a:sym typeface="Symbol"/>
              </a:rPr>
              <a:t>b</a:t>
            </a:r>
            <a:r>
              <a:rPr lang="en-US" sz="2400" i="1" baseline="-25000" dirty="0" err="1">
                <a:ea typeface="Cambria Math" pitchFamily="18" charset="0"/>
                <a:sym typeface="Symbol"/>
              </a:rPr>
              <a:t>ij</a:t>
            </a:r>
            <a:r>
              <a:rPr lang="en-US" sz="2400" i="1" baseline="-25000" dirty="0">
                <a:ea typeface="Cambria Math" pitchFamily="18" charset="0"/>
                <a:sym typeface="Symbol"/>
              </a:rPr>
              <a:t> </a:t>
            </a:r>
            <a:r>
              <a:rPr lang="en-US" sz="2400" dirty="0"/>
              <a:t>], then  </a:t>
            </a:r>
            <a:r>
              <a:rPr lang="en-US" sz="2400" i="1" dirty="0" err="1">
                <a:ea typeface="Cambria Math" pitchFamily="18" charset="0"/>
                <a:sym typeface="Symbol"/>
              </a:rPr>
              <a:t>b</a:t>
            </a:r>
            <a:r>
              <a:rPr lang="en-US" sz="2400" baseline="-25000" dirty="0" err="1">
                <a:ea typeface="Cambria Math" pitchFamily="18" charset="0"/>
                <a:sym typeface="Symbol"/>
              </a:rPr>
              <a:t>ij</a:t>
            </a:r>
            <a:r>
              <a:rPr lang="en-US" sz="2400" baseline="-25000" dirty="0">
                <a:ea typeface="Cambria Math" pitchFamily="18" charset="0"/>
                <a:sym typeface="Symbol"/>
              </a:rPr>
              <a:t> </a:t>
            </a:r>
            <a:r>
              <a:rPr lang="en-US" sz="2400" dirty="0">
                <a:ea typeface="Cambria Math" pitchFamily="18" charset="0"/>
                <a:sym typeface="Symbol"/>
              </a:rPr>
              <a:t> = </a:t>
            </a:r>
            <a:r>
              <a:rPr lang="en-US" sz="2400" i="1" dirty="0" err="1">
                <a:ea typeface="Cambria Math" pitchFamily="18" charset="0"/>
                <a:sym typeface="Symbol"/>
              </a:rPr>
              <a:t>a</a:t>
            </a:r>
            <a:r>
              <a:rPr lang="en-US" sz="2400" baseline="-25000" dirty="0" err="1">
                <a:ea typeface="Cambria Math" pitchFamily="18" charset="0"/>
                <a:sym typeface="Symbol"/>
              </a:rPr>
              <a:t>ji</a:t>
            </a:r>
            <a:r>
              <a:rPr lang="en-US" sz="2400" dirty="0">
                <a:ea typeface="Cambria Math" pitchFamily="18" charset="0"/>
                <a:sym typeface="Symbol"/>
              </a:rPr>
              <a:t> for </a:t>
            </a:r>
            <a:r>
              <a:rPr lang="en-US" sz="2400" i="1" dirty="0" err="1">
                <a:ea typeface="Cambria Math" pitchFamily="18" charset="0"/>
                <a:sym typeface="Symbol"/>
              </a:rPr>
              <a:t>i</a:t>
            </a:r>
            <a:r>
              <a:rPr lang="en-US" sz="2400" dirty="0">
                <a:ea typeface="Cambria Math" pitchFamily="18" charset="0"/>
                <a:sym typeface="Symbol"/>
              </a:rPr>
              <a:t> = 1, 2,…,</a:t>
            </a:r>
            <a:r>
              <a:rPr lang="en-US" sz="2400" i="1" dirty="0">
                <a:ea typeface="Cambria Math" pitchFamily="18" charset="0"/>
                <a:sym typeface="Symbol"/>
              </a:rPr>
              <a:t>n</a:t>
            </a:r>
            <a:r>
              <a:rPr lang="en-US" sz="2400" dirty="0">
                <a:ea typeface="Cambria Math" pitchFamily="18" charset="0"/>
                <a:sym typeface="Symbol"/>
              </a:rPr>
              <a:t>   and </a:t>
            </a:r>
            <a:r>
              <a:rPr lang="en-US" sz="2400" i="1" dirty="0">
                <a:ea typeface="Cambria Math" pitchFamily="18" charset="0"/>
                <a:sym typeface="Symbol"/>
              </a:rPr>
              <a:t>j</a:t>
            </a:r>
            <a:r>
              <a:rPr lang="en-US" sz="2400" dirty="0">
                <a:ea typeface="Cambria Math" pitchFamily="18" charset="0"/>
                <a:sym typeface="Symbol"/>
              </a:rPr>
              <a:t> = 1, 2, ...,</a:t>
            </a:r>
            <a:r>
              <a:rPr lang="en-US" sz="2400" i="1" dirty="0">
                <a:ea typeface="Cambria Math" pitchFamily="18" charset="0"/>
                <a:sym typeface="Symbol"/>
              </a:rPr>
              <a:t>m</a:t>
            </a:r>
            <a:r>
              <a:rPr lang="en-US" sz="2400" dirty="0">
                <a:ea typeface="Cambria Math" pitchFamily="18" charset="0"/>
                <a:sym typeface="Symbol"/>
              </a:rPr>
              <a:t>. </a:t>
            </a:r>
            <a:endParaRPr lang="en-US" sz="2400" dirty="0">
              <a:ea typeface="Cambria Math"/>
              <a:sym typeface="Symbol"/>
            </a:endParaRPr>
          </a:p>
          <a:p>
            <a:pPr marL="274320" indent="-274320">
              <a:spcBef>
                <a:spcPts val="600"/>
              </a:spcBef>
            </a:pPr>
            <a:endParaRPr lang="en-US" sz="2400" dirty="0">
              <a:ea typeface="Cambria Math"/>
              <a:sym typeface="Symbol"/>
            </a:endParaRPr>
          </a:p>
        </p:txBody>
      </p:sp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569784" y="4964376"/>
            <a:ext cx="7473315" cy="9124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3176" y="4718712"/>
            <a:ext cx="1466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Example 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Zero-One Matrices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84861" y="2413338"/>
            <a:ext cx="8515739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u="sng" dirty="0">
                <a:solidFill>
                  <a:srgbClr val="FF0000"/>
                </a:solidFill>
              </a:rPr>
              <a:t>Definition</a:t>
            </a:r>
            <a:r>
              <a:rPr lang="en-US" sz="2400" dirty="0"/>
              <a:t>: </a:t>
            </a:r>
            <a:r>
              <a:rPr lang="en-US" sz="2400" dirty="0">
                <a:solidFill>
                  <a:srgbClr val="0000FF"/>
                </a:solidFill>
              </a:rPr>
              <a:t>A matrix with entries that are either 0 or 1 is called </a:t>
            </a:r>
            <a:r>
              <a:rPr lang="en-US" sz="2400" i="1" dirty="0">
                <a:solidFill>
                  <a:srgbClr val="0000FF"/>
                </a:solidFill>
              </a:rPr>
              <a:t>zero-one matrix.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/>
              <a:t>Algorithms operating on discrete structures represented by zero-one matrices are based on </a:t>
            </a:r>
            <a:r>
              <a:rPr lang="en-US" sz="2400" b="1" dirty="0"/>
              <a:t>Boolean arithmetic </a:t>
            </a:r>
            <a:r>
              <a:rPr lang="en-US" sz="2400" dirty="0"/>
              <a:t>defined by the following </a:t>
            </a:r>
            <a:r>
              <a:rPr lang="en-US" sz="2400" b="1" dirty="0"/>
              <a:t>Boolean operations</a:t>
            </a:r>
            <a:r>
              <a:rPr lang="en-US" sz="2400" dirty="0"/>
              <a:t>:</a:t>
            </a:r>
          </a:p>
          <a:p>
            <a:pPr marL="274320" indent="-274320">
              <a:spcBef>
                <a:spcPts val="600"/>
              </a:spcBef>
            </a:pPr>
            <a:endParaRPr lang="en-US" sz="2400" dirty="0"/>
          </a:p>
        </p:txBody>
      </p:sp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627808" y="4648199"/>
            <a:ext cx="3152622" cy="675133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4698097" y="4648200"/>
            <a:ext cx="3686175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434386"/>
          </a:xfrm>
        </p:spPr>
        <p:txBody>
          <a:bodyPr>
            <a:normAutofit/>
          </a:bodyPr>
          <a:lstStyle/>
          <a:p>
            <a:r>
              <a:rPr lang="en-US" sz="4400" b="1" dirty="0"/>
              <a:t>Join</a:t>
            </a:r>
            <a:r>
              <a:rPr lang="en-US" sz="4400" dirty="0"/>
              <a:t> and </a:t>
            </a:r>
            <a:r>
              <a:rPr lang="en-US" sz="4400" b="1" dirty="0"/>
              <a:t>Meet</a:t>
            </a:r>
            <a:r>
              <a:rPr lang="en-US" sz="4400" dirty="0"/>
              <a:t> of </a:t>
            </a:r>
            <a:br>
              <a:rPr lang="en-US" sz="4400" dirty="0"/>
            </a:br>
            <a:r>
              <a:rPr lang="en-US" sz="4400" dirty="0"/>
              <a:t>Zero-One Matrices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18365" y="2101313"/>
            <a:ext cx="8598090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b="1" u="sng" dirty="0">
                <a:solidFill>
                  <a:srgbClr val="FF3300"/>
                </a:solidFill>
              </a:rPr>
              <a:t>Definition</a:t>
            </a:r>
            <a:r>
              <a:rPr lang="en-US" sz="2000" b="1" dirty="0">
                <a:solidFill>
                  <a:srgbClr val="FF3300"/>
                </a:solidFill>
              </a:rPr>
              <a:t>:</a:t>
            </a:r>
            <a:r>
              <a:rPr lang="en-US" sz="2000" dirty="0"/>
              <a:t> Let </a:t>
            </a:r>
            <a:r>
              <a:rPr lang="en-US" sz="2000" b="1" dirty="0"/>
              <a:t>A</a:t>
            </a:r>
            <a:r>
              <a:rPr lang="en-US" sz="2000" dirty="0"/>
              <a:t> = [</a:t>
            </a:r>
            <a:r>
              <a:rPr lang="en-US" sz="2000" i="1" dirty="0" err="1">
                <a:ea typeface="Cambria Math" pitchFamily="18" charset="0"/>
              </a:rPr>
              <a:t>a</a:t>
            </a:r>
            <a:r>
              <a:rPr lang="en-US" sz="2000" i="1" baseline="-25000" dirty="0" err="1">
                <a:ea typeface="Cambria Math" pitchFamily="18" charset="0"/>
              </a:rPr>
              <a:t>ij</a:t>
            </a:r>
            <a:r>
              <a:rPr lang="en-US" sz="2000" dirty="0">
                <a:ea typeface="Cambria Math" pitchFamily="18" charset="0"/>
              </a:rPr>
              <a:t>]  and </a:t>
            </a:r>
            <a:r>
              <a:rPr lang="en-US" sz="2000" b="1" dirty="0"/>
              <a:t>B</a:t>
            </a:r>
            <a:r>
              <a:rPr lang="en-US" sz="2000" dirty="0"/>
              <a:t> = [</a:t>
            </a:r>
            <a:r>
              <a:rPr lang="en-US" sz="2000" i="1" dirty="0" err="1">
                <a:ea typeface="Cambria Math" pitchFamily="18" charset="0"/>
              </a:rPr>
              <a:t>b</a:t>
            </a:r>
            <a:r>
              <a:rPr lang="en-US" sz="2000" i="1" baseline="-25000" dirty="0" err="1">
                <a:ea typeface="Cambria Math" pitchFamily="18" charset="0"/>
              </a:rPr>
              <a:t>ij</a:t>
            </a:r>
            <a:r>
              <a:rPr lang="en-US" sz="2000" dirty="0">
                <a:ea typeface="Cambria Math" pitchFamily="18" charset="0"/>
              </a:rPr>
              <a:t>] be an </a:t>
            </a:r>
            <a:r>
              <a:rPr lang="en-US" sz="2000" i="1" dirty="0">
                <a:ea typeface="Cambria Math" pitchFamily="18" charset="0"/>
              </a:rPr>
              <a:t>m </a:t>
            </a:r>
            <a:r>
              <a:rPr lang="en-US" sz="2000" dirty="0">
                <a:ea typeface="Cambria Math" pitchFamily="18" charset="0"/>
                <a:sym typeface="Symbol"/>
              </a:rPr>
              <a:t></a:t>
            </a:r>
            <a:r>
              <a:rPr lang="en-US" sz="2000" i="1" dirty="0">
                <a:ea typeface="Cambria Math" pitchFamily="18" charset="0"/>
                <a:sym typeface="Symbol"/>
              </a:rPr>
              <a:t> n</a:t>
            </a:r>
            <a:r>
              <a:rPr lang="en-US" sz="2000" dirty="0">
                <a:ea typeface="Cambria Math"/>
                <a:sym typeface="Symbol"/>
              </a:rPr>
              <a:t> zero-one matrices. </a:t>
            </a:r>
          </a:p>
          <a:p>
            <a:pPr marL="274320" lvl="1" indent="-274320">
              <a:spcBef>
                <a:spcPts val="600"/>
              </a:spcBef>
            </a:pPr>
            <a:r>
              <a:rPr lang="en-US" sz="2000" dirty="0">
                <a:ea typeface="Cambria Math"/>
                <a:sym typeface="Symbol"/>
              </a:rPr>
              <a:t>	The </a:t>
            </a:r>
            <a:r>
              <a:rPr lang="en-US" sz="2000" b="1" i="1" dirty="0">
                <a:solidFill>
                  <a:srgbClr val="0000FF"/>
                </a:solidFill>
                <a:ea typeface="Cambria Math"/>
                <a:sym typeface="Symbol"/>
              </a:rPr>
              <a:t>join</a:t>
            </a:r>
            <a:r>
              <a:rPr lang="en-US" sz="2000" dirty="0">
                <a:ea typeface="Cambria Math"/>
                <a:sym typeface="Symbol"/>
              </a:rPr>
              <a:t> of </a:t>
            </a:r>
            <a:r>
              <a:rPr lang="en-US" sz="2000" b="1" dirty="0">
                <a:ea typeface="Cambria Math"/>
                <a:sym typeface="Symbol"/>
              </a:rPr>
              <a:t>A </a:t>
            </a:r>
            <a:r>
              <a:rPr lang="en-US" sz="2000" dirty="0">
                <a:ea typeface="Cambria Math"/>
                <a:sym typeface="Symbol"/>
              </a:rPr>
              <a:t>and </a:t>
            </a:r>
            <a:r>
              <a:rPr lang="en-US" sz="2000" b="1" dirty="0">
                <a:ea typeface="Cambria Math"/>
                <a:sym typeface="Symbol"/>
              </a:rPr>
              <a:t>B </a:t>
            </a:r>
            <a:r>
              <a:rPr lang="en-US" sz="2000" dirty="0">
                <a:ea typeface="Cambria Math"/>
                <a:sym typeface="Symbol"/>
              </a:rPr>
              <a:t>is the zero-one matrix with (</a:t>
            </a:r>
            <a:r>
              <a:rPr lang="en-US" sz="2000" i="1" dirty="0" err="1">
                <a:ea typeface="Cambria Math"/>
                <a:sym typeface="Symbol"/>
              </a:rPr>
              <a:t>i,j</a:t>
            </a:r>
            <a:r>
              <a:rPr lang="en-US" sz="2000" dirty="0">
                <a:ea typeface="Cambria Math"/>
                <a:sym typeface="Symbol"/>
              </a:rPr>
              <a:t>)th  entry  </a:t>
            </a:r>
            <a:r>
              <a:rPr lang="en-US" sz="2000" i="1" dirty="0" err="1">
                <a:ea typeface="Cambria Math"/>
                <a:sym typeface="Symbol"/>
              </a:rPr>
              <a:t>a</a:t>
            </a:r>
            <a:r>
              <a:rPr lang="en-US" sz="2000" baseline="-25000" dirty="0" err="1">
                <a:ea typeface="Cambria Math"/>
                <a:sym typeface="Symbol"/>
              </a:rPr>
              <a:t>ij</a:t>
            </a:r>
            <a:r>
              <a:rPr lang="en-US" sz="2000" dirty="0">
                <a:ea typeface="Cambria Math"/>
                <a:sym typeface="Symbol"/>
              </a:rPr>
              <a:t> ∨ </a:t>
            </a:r>
            <a:r>
              <a:rPr lang="en-US" sz="2000" i="1" dirty="0" err="1">
                <a:ea typeface="Cambria Math"/>
                <a:sym typeface="Symbol"/>
              </a:rPr>
              <a:t>b</a:t>
            </a:r>
            <a:r>
              <a:rPr lang="en-US" sz="2000" baseline="-25000" dirty="0" err="1">
                <a:ea typeface="Cambria Math"/>
                <a:sym typeface="Symbol"/>
              </a:rPr>
              <a:t>ij</a:t>
            </a:r>
            <a:r>
              <a:rPr lang="en-US" sz="2000" dirty="0">
                <a:ea typeface="Cambria Math"/>
                <a:sym typeface="Symbol"/>
              </a:rPr>
              <a:t>. The </a:t>
            </a:r>
            <a:r>
              <a:rPr lang="en-US" sz="2000" i="1" dirty="0">
                <a:ea typeface="Cambria Math"/>
                <a:sym typeface="Symbol"/>
              </a:rPr>
              <a:t>join</a:t>
            </a:r>
            <a:r>
              <a:rPr lang="en-US" sz="2000" dirty="0">
                <a:ea typeface="Cambria Math"/>
                <a:sym typeface="Symbol"/>
              </a:rPr>
              <a:t> of </a:t>
            </a:r>
            <a:r>
              <a:rPr lang="en-US" sz="2000" b="1" dirty="0">
                <a:ea typeface="Cambria Math"/>
                <a:sym typeface="Symbol"/>
              </a:rPr>
              <a:t>A </a:t>
            </a:r>
            <a:r>
              <a:rPr lang="en-US" sz="2000" dirty="0">
                <a:ea typeface="Cambria Math"/>
                <a:sym typeface="Symbol"/>
              </a:rPr>
              <a:t>and </a:t>
            </a:r>
            <a:r>
              <a:rPr lang="en-US" sz="2000" b="1" dirty="0">
                <a:ea typeface="Cambria Math"/>
                <a:sym typeface="Symbol"/>
              </a:rPr>
              <a:t>B </a:t>
            </a:r>
            <a:r>
              <a:rPr lang="en-US" sz="2000" dirty="0"/>
              <a:t>is denoted by </a:t>
            </a:r>
            <a:r>
              <a:rPr lang="en-US" sz="2000" b="1" dirty="0">
                <a:ea typeface="Cambria Math"/>
                <a:sym typeface="Symbol"/>
              </a:rPr>
              <a:t>A </a:t>
            </a:r>
            <a:r>
              <a:rPr lang="en-US" sz="2000" dirty="0">
                <a:ea typeface="Cambria Math"/>
                <a:sym typeface="Symbol"/>
              </a:rPr>
              <a:t>∨ </a:t>
            </a:r>
            <a:r>
              <a:rPr lang="en-US" sz="2000" b="1" dirty="0">
                <a:ea typeface="Cambria Math"/>
                <a:sym typeface="Symbol"/>
              </a:rPr>
              <a:t>B</a:t>
            </a:r>
            <a:r>
              <a:rPr lang="en-US" sz="2000" dirty="0">
                <a:ea typeface="Cambria Math"/>
                <a:sym typeface="Symbol"/>
              </a:rPr>
              <a:t>. </a:t>
            </a:r>
          </a:p>
          <a:p>
            <a:pPr marL="274320" lvl="1" indent="-274320">
              <a:spcBef>
                <a:spcPts val="600"/>
              </a:spcBef>
            </a:pPr>
            <a:r>
              <a:rPr lang="en-US" sz="2000" dirty="0">
                <a:ea typeface="Cambria Math"/>
                <a:sym typeface="Symbol"/>
              </a:rPr>
              <a:t>	</a:t>
            </a:r>
            <a:r>
              <a:rPr lang="en-US" sz="2000" dirty="0">
                <a:sym typeface="Symbol"/>
              </a:rPr>
              <a:t>T</a:t>
            </a:r>
            <a:r>
              <a:rPr lang="en-US" sz="2000" dirty="0"/>
              <a:t>he </a:t>
            </a:r>
            <a:r>
              <a:rPr lang="en-US" sz="2000" b="1" dirty="0">
                <a:solidFill>
                  <a:srgbClr val="0000FF"/>
                </a:solidFill>
              </a:rPr>
              <a:t>meet</a:t>
            </a:r>
            <a:r>
              <a:rPr lang="en-US" sz="2000" dirty="0"/>
              <a:t> of </a:t>
            </a:r>
            <a:r>
              <a:rPr lang="en-US" sz="2000" dirty="0" err="1">
                <a:ea typeface="Cambria Math"/>
                <a:sym typeface="Symbol"/>
              </a:rPr>
              <a:t>of</a:t>
            </a:r>
            <a:r>
              <a:rPr lang="en-US" sz="2000" dirty="0">
                <a:ea typeface="Cambria Math"/>
                <a:sym typeface="Symbol"/>
              </a:rPr>
              <a:t> </a:t>
            </a:r>
            <a:r>
              <a:rPr lang="en-US" sz="2000" b="1" dirty="0">
                <a:ea typeface="Cambria Math"/>
                <a:sym typeface="Symbol"/>
              </a:rPr>
              <a:t>A </a:t>
            </a:r>
            <a:r>
              <a:rPr lang="en-US" sz="2000" dirty="0">
                <a:ea typeface="Cambria Math"/>
                <a:sym typeface="Symbol"/>
              </a:rPr>
              <a:t>and </a:t>
            </a:r>
            <a:r>
              <a:rPr lang="en-US" sz="2000" b="1" dirty="0">
                <a:ea typeface="Cambria Math"/>
                <a:sym typeface="Symbol"/>
              </a:rPr>
              <a:t>B </a:t>
            </a:r>
            <a:r>
              <a:rPr lang="en-US" sz="2000" dirty="0"/>
              <a:t>is the zero-one matrix with </a:t>
            </a:r>
            <a:r>
              <a:rPr lang="en-US" sz="2000" dirty="0">
                <a:ea typeface="Cambria Math"/>
                <a:sym typeface="Symbol"/>
              </a:rPr>
              <a:t>(</a:t>
            </a:r>
            <a:r>
              <a:rPr lang="en-US" sz="2000" i="1" dirty="0" err="1">
                <a:ea typeface="Cambria Math"/>
                <a:sym typeface="Symbol"/>
              </a:rPr>
              <a:t>i,j</a:t>
            </a:r>
            <a:r>
              <a:rPr lang="en-US" sz="2000" dirty="0">
                <a:ea typeface="Cambria Math"/>
                <a:sym typeface="Symbol"/>
              </a:rPr>
              <a:t>)th</a:t>
            </a:r>
            <a:r>
              <a:rPr lang="en-US" sz="2000" dirty="0"/>
              <a:t> </a:t>
            </a:r>
            <a:r>
              <a:rPr lang="en-US" sz="2000" dirty="0">
                <a:ea typeface="Cambria Math" pitchFamily="18" charset="0"/>
              </a:rPr>
              <a:t>entry</a:t>
            </a:r>
            <a:r>
              <a:rPr lang="en-US" sz="2000" i="1" dirty="0">
                <a:ea typeface="Cambria Math" pitchFamily="18" charset="0"/>
              </a:rPr>
              <a:t> </a:t>
            </a:r>
            <a:r>
              <a:rPr lang="en-US" sz="2000" i="1" dirty="0" err="1">
                <a:ea typeface="Cambria Math"/>
                <a:sym typeface="Symbol"/>
              </a:rPr>
              <a:t>a</a:t>
            </a:r>
            <a:r>
              <a:rPr lang="en-US" sz="2000" baseline="-25000" dirty="0" err="1">
                <a:ea typeface="Cambria Math"/>
                <a:sym typeface="Symbol"/>
              </a:rPr>
              <a:t>ij</a:t>
            </a:r>
            <a:r>
              <a:rPr lang="en-US" sz="2000" dirty="0">
                <a:ea typeface="Cambria Math"/>
                <a:sym typeface="Symbol"/>
              </a:rPr>
              <a:t> ∧ </a:t>
            </a:r>
            <a:r>
              <a:rPr lang="en-US" sz="2000" i="1" dirty="0" err="1">
                <a:ea typeface="Cambria Math"/>
                <a:sym typeface="Symbol"/>
              </a:rPr>
              <a:t>b</a:t>
            </a:r>
            <a:r>
              <a:rPr lang="en-US" sz="2000" baseline="-25000" dirty="0" err="1">
                <a:ea typeface="Cambria Math"/>
                <a:sym typeface="Symbol"/>
              </a:rPr>
              <a:t>ij</a:t>
            </a:r>
            <a:r>
              <a:rPr lang="en-US" sz="2000" dirty="0">
                <a:sym typeface="Symbol"/>
              </a:rPr>
              <a:t>.</a:t>
            </a:r>
            <a:r>
              <a:rPr lang="en-US" sz="2000" dirty="0"/>
              <a:t> </a:t>
            </a:r>
            <a:r>
              <a:rPr lang="en-US" sz="2000" dirty="0">
                <a:ea typeface="Cambria Math"/>
                <a:sym typeface="Symbol"/>
              </a:rPr>
              <a:t> The </a:t>
            </a:r>
            <a:r>
              <a:rPr lang="en-US" sz="2000" i="1" dirty="0">
                <a:ea typeface="Cambria Math"/>
                <a:sym typeface="Symbol"/>
              </a:rPr>
              <a:t>meet</a:t>
            </a:r>
            <a:r>
              <a:rPr lang="en-US" sz="2000" dirty="0">
                <a:ea typeface="Cambria Math"/>
                <a:sym typeface="Symbol"/>
              </a:rPr>
              <a:t> of </a:t>
            </a:r>
            <a:r>
              <a:rPr lang="en-US" sz="2000" b="1" dirty="0">
                <a:ea typeface="Cambria Math"/>
                <a:sym typeface="Symbol"/>
              </a:rPr>
              <a:t>A </a:t>
            </a:r>
            <a:r>
              <a:rPr lang="en-US" sz="2000" dirty="0">
                <a:ea typeface="Cambria Math"/>
                <a:sym typeface="Symbol"/>
              </a:rPr>
              <a:t>and </a:t>
            </a:r>
            <a:r>
              <a:rPr lang="en-US" sz="2000" b="1" dirty="0">
                <a:ea typeface="Cambria Math"/>
                <a:sym typeface="Symbol"/>
              </a:rPr>
              <a:t>B </a:t>
            </a:r>
            <a:r>
              <a:rPr lang="en-US" sz="2000" dirty="0"/>
              <a:t>is denoted by </a:t>
            </a:r>
            <a:r>
              <a:rPr lang="en-US" sz="2000" b="1" dirty="0">
                <a:ea typeface="Cambria Math"/>
                <a:sym typeface="Symbol"/>
              </a:rPr>
              <a:t>A </a:t>
            </a:r>
            <a:r>
              <a:rPr lang="en-US" sz="2000" dirty="0">
                <a:ea typeface="Cambria Math"/>
                <a:sym typeface="Symbol"/>
              </a:rPr>
              <a:t>∧ </a:t>
            </a:r>
            <a:r>
              <a:rPr lang="en-US" sz="2000" b="1" dirty="0">
                <a:ea typeface="Cambria Math"/>
                <a:sym typeface="Symbol"/>
              </a:rPr>
              <a:t>B</a:t>
            </a:r>
            <a:r>
              <a:rPr lang="en-US" sz="2000" dirty="0">
                <a:ea typeface="Cambria Math"/>
                <a:sym typeface="Symbol"/>
              </a:rPr>
              <a:t>. </a:t>
            </a:r>
            <a:endParaRPr lang="en-US" sz="2000" dirty="0">
              <a:sym typeface="Symbol"/>
            </a:endParaRPr>
          </a:p>
          <a:p>
            <a:pPr marL="274320" lvl="1" indent="-274320">
              <a:spcBef>
                <a:spcPts val="600"/>
              </a:spcBef>
              <a:buFont typeface="Arial" charset="0"/>
              <a:buChar char="•"/>
            </a:pPr>
            <a:endParaRPr lang="en-US" sz="2000" b="1" u="sng" dirty="0">
              <a:solidFill>
                <a:srgbClr val="FF3300"/>
              </a:solidFill>
              <a:ea typeface="Cambria Math"/>
              <a:sym typeface="Symbol"/>
            </a:endParaRPr>
          </a:p>
          <a:p>
            <a:pPr marL="274320" lvl="1" indent="-274320">
              <a:spcBef>
                <a:spcPts val="600"/>
              </a:spcBef>
              <a:buFont typeface="Arial" charset="0"/>
              <a:buChar char="•"/>
            </a:pPr>
            <a:endParaRPr lang="en-US" sz="2000" b="1" u="sng" dirty="0">
              <a:solidFill>
                <a:srgbClr val="FF3300"/>
              </a:solidFill>
              <a:ea typeface="Cambria Math"/>
              <a:sym typeface="Symbol"/>
            </a:endParaRPr>
          </a:p>
          <a:p>
            <a:pPr marL="274320" lvl="1" indent="-274320">
              <a:spcBef>
                <a:spcPts val="600"/>
              </a:spcBef>
              <a:buFont typeface="Arial" charset="0"/>
              <a:buChar char="•"/>
            </a:pPr>
            <a:endParaRPr lang="en-US" sz="2000" b="1" u="sng" dirty="0">
              <a:solidFill>
                <a:srgbClr val="FF3300"/>
              </a:solidFill>
              <a:ea typeface="Cambria Math"/>
              <a:sym typeface="Symbol"/>
            </a:endParaRPr>
          </a:p>
          <a:p>
            <a:pPr marL="274320" lvl="1" indent="-274320">
              <a:spcBef>
                <a:spcPts val="600"/>
              </a:spcBef>
              <a:buFont typeface="Arial" charset="0"/>
              <a:buChar char="•"/>
            </a:pPr>
            <a:r>
              <a:rPr lang="en-US" sz="2000" b="1" u="sng" dirty="0">
                <a:solidFill>
                  <a:srgbClr val="FF3300"/>
                </a:solidFill>
                <a:ea typeface="Cambria Math"/>
                <a:sym typeface="Symbol"/>
              </a:rPr>
              <a:t>Note</a:t>
            </a:r>
            <a:r>
              <a:rPr lang="en-US" sz="2000" b="1" u="sng" dirty="0">
                <a:solidFill>
                  <a:srgbClr val="FF3300"/>
                </a:solidFill>
                <a:highlight>
                  <a:srgbClr val="FFFF00"/>
                </a:highlight>
                <a:ea typeface="Cambria Math"/>
                <a:sym typeface="Symbol"/>
              </a:rPr>
              <a:t>:</a:t>
            </a:r>
            <a:r>
              <a:rPr lang="en-US" sz="2000" dirty="0">
                <a:highlight>
                  <a:srgbClr val="FFFF00"/>
                </a:highlight>
                <a:ea typeface="Cambria Math"/>
                <a:sym typeface="Symbol"/>
              </a:rPr>
              <a:t> </a:t>
            </a:r>
            <a:r>
              <a:rPr lang="en-US" sz="2000" dirty="0">
                <a:solidFill>
                  <a:srgbClr val="FF3300"/>
                </a:solidFill>
                <a:highlight>
                  <a:srgbClr val="FFFF00"/>
                </a:highlight>
                <a:ea typeface="Cambria Math"/>
                <a:sym typeface="Symbol"/>
              </a:rPr>
              <a:t>These operations(join and meet) are only possible when </a:t>
            </a:r>
            <a:r>
              <a:rPr lang="en-US" sz="2000" b="1" dirty="0">
                <a:solidFill>
                  <a:srgbClr val="FF3300"/>
                </a:solidFill>
                <a:highlight>
                  <a:srgbClr val="FFFF00"/>
                </a:highlight>
                <a:ea typeface="Cambria Math"/>
                <a:sym typeface="Symbol"/>
              </a:rPr>
              <a:t>A </a:t>
            </a:r>
            <a:r>
              <a:rPr lang="en-US" sz="2000" dirty="0">
                <a:solidFill>
                  <a:srgbClr val="FF3300"/>
                </a:solidFill>
                <a:highlight>
                  <a:srgbClr val="FFFF00"/>
                </a:highlight>
                <a:ea typeface="Cambria Math"/>
                <a:sym typeface="Symbol"/>
              </a:rPr>
              <a:t>and </a:t>
            </a:r>
            <a:r>
              <a:rPr lang="en-US" sz="2000" b="1" dirty="0">
                <a:solidFill>
                  <a:srgbClr val="FF3300"/>
                </a:solidFill>
                <a:highlight>
                  <a:srgbClr val="FFFF00"/>
                </a:highlight>
                <a:ea typeface="Cambria Math"/>
                <a:sym typeface="Symbol"/>
              </a:rPr>
              <a:t>B</a:t>
            </a:r>
            <a:r>
              <a:rPr lang="en-US" sz="2000" dirty="0">
                <a:solidFill>
                  <a:srgbClr val="FF3300"/>
                </a:solidFill>
                <a:highlight>
                  <a:srgbClr val="FFFF00"/>
                </a:highlight>
                <a:ea typeface="Cambria Math"/>
                <a:sym typeface="Symbol"/>
              </a:rPr>
              <a:t> have the same size,</a:t>
            </a:r>
            <a:r>
              <a:rPr lang="en-US" sz="2000" dirty="0">
                <a:solidFill>
                  <a:srgbClr val="FF3300"/>
                </a:solidFill>
                <a:ea typeface="Cambria Math"/>
                <a:sym typeface="Symbol"/>
              </a:rPr>
              <a:t> just as in the case of matrix addition. 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>
                <a:latin typeface="+mn-lt"/>
              </a:rPr>
              <a:t>Example 9 (p. 262)</a:t>
            </a:r>
            <a:endParaRPr lang="en-US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1341" y="2138358"/>
            <a:ext cx="8515739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Find the join and meet of the zero-one matrices</a:t>
            </a:r>
          </a:p>
          <a:p>
            <a:pPr marL="274320" indent="-274320">
              <a:spcBef>
                <a:spcPts val="600"/>
              </a:spcBef>
            </a:pPr>
            <a:endParaRPr lang="en-US" sz="2400" dirty="0"/>
          </a:p>
          <a:p>
            <a:pPr marL="274320" indent="-274320">
              <a:spcBef>
                <a:spcPts val="600"/>
              </a:spcBef>
            </a:pPr>
            <a:endParaRPr lang="en-US" sz="24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u="sng" dirty="0">
                <a:solidFill>
                  <a:srgbClr val="0000FF"/>
                </a:solidFill>
              </a:rPr>
              <a:t>Solution</a:t>
            </a:r>
            <a:r>
              <a:rPr lang="en-US" sz="2400" dirty="0"/>
              <a:t>: The join of  </a:t>
            </a:r>
            <a:r>
              <a:rPr lang="en-US" sz="2400" b="1" dirty="0"/>
              <a:t>A</a:t>
            </a:r>
            <a:r>
              <a:rPr lang="en-US" sz="2400" dirty="0"/>
              <a:t> and </a:t>
            </a:r>
            <a:r>
              <a:rPr lang="en-US" sz="2400" b="1" dirty="0"/>
              <a:t>B</a:t>
            </a:r>
            <a:r>
              <a:rPr lang="en-US" sz="2400" dirty="0"/>
              <a:t> is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400" dirty="0"/>
          </a:p>
          <a:p>
            <a:pPr marL="274320" indent="-274320">
              <a:spcBef>
                <a:spcPts val="600"/>
              </a:spcBef>
            </a:pPr>
            <a:r>
              <a:rPr lang="en-US" sz="2400" dirty="0"/>
              <a:t>                </a:t>
            </a:r>
          </a:p>
          <a:p>
            <a:pPr marL="274320" indent="-274320">
              <a:spcBef>
                <a:spcPts val="600"/>
              </a:spcBef>
            </a:pPr>
            <a:r>
              <a:rPr lang="en-US" sz="2400" dirty="0"/>
              <a:t>	The meet of </a:t>
            </a:r>
            <a:r>
              <a:rPr lang="en-US" sz="2400" b="1" dirty="0"/>
              <a:t>A</a:t>
            </a:r>
            <a:r>
              <a:rPr lang="en-US" sz="2400" dirty="0"/>
              <a:t> and </a:t>
            </a:r>
            <a:r>
              <a:rPr lang="en-US" sz="2400" b="1" dirty="0"/>
              <a:t>B</a:t>
            </a:r>
            <a:r>
              <a:rPr lang="en-US" sz="2400" dirty="0"/>
              <a:t> is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400" dirty="0"/>
          </a:p>
          <a:p>
            <a:pPr marL="274320" indent="-274320">
              <a:spcBef>
                <a:spcPts val="600"/>
              </a:spcBef>
            </a:pPr>
            <a:endParaRPr lang="en-US" sz="2400" dirty="0"/>
          </a:p>
        </p:txBody>
      </p:sp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1066800" y="2795520"/>
            <a:ext cx="2047875" cy="609600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3657600" y="2795520"/>
            <a:ext cx="2034540" cy="609600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1143000" y="4191000"/>
            <a:ext cx="5501640" cy="609600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1066800" y="5434080"/>
            <a:ext cx="550164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21341" y="612781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Boolean</a:t>
            </a:r>
            <a:r>
              <a:rPr lang="en-US" sz="4400" dirty="0"/>
              <a:t> </a:t>
            </a:r>
            <a:r>
              <a:rPr lang="en-US" sz="4400" b="1" dirty="0"/>
              <a:t>Product</a:t>
            </a:r>
            <a:r>
              <a:rPr lang="en-US" sz="4400" dirty="0"/>
              <a:t> of Zero-One Matrices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30269" y="2089336"/>
            <a:ext cx="851573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rgbClr val="FF3300"/>
                </a:solidFill>
              </a:rPr>
              <a:t>Definition</a:t>
            </a:r>
            <a:r>
              <a:rPr lang="en-US" sz="2400" u="sng" dirty="0">
                <a:solidFill>
                  <a:srgbClr val="FF3300"/>
                </a:solidFill>
              </a:rPr>
              <a:t>:</a:t>
            </a:r>
            <a:r>
              <a:rPr lang="en-US" sz="2400" dirty="0"/>
              <a:t> Let </a:t>
            </a:r>
            <a:r>
              <a:rPr lang="en-US" sz="2400" b="1" dirty="0"/>
              <a:t>A</a:t>
            </a:r>
            <a:r>
              <a:rPr lang="en-US" sz="2400" dirty="0"/>
              <a:t> = [</a:t>
            </a:r>
            <a:r>
              <a:rPr lang="en-US" sz="2400" i="1" dirty="0" err="1">
                <a:ea typeface="Cambria Math" pitchFamily="18" charset="0"/>
              </a:rPr>
              <a:t>a</a:t>
            </a:r>
            <a:r>
              <a:rPr lang="en-US" sz="2400" i="1" baseline="-25000" dirty="0" err="1">
                <a:ea typeface="Cambria Math" pitchFamily="18" charset="0"/>
              </a:rPr>
              <a:t>ij</a:t>
            </a:r>
            <a:r>
              <a:rPr lang="en-US" sz="2400" dirty="0">
                <a:ea typeface="Cambria Math" pitchFamily="18" charset="0"/>
              </a:rPr>
              <a:t>]  be an </a:t>
            </a:r>
            <a:r>
              <a:rPr lang="en-US" sz="2400" i="1" dirty="0">
                <a:ea typeface="Cambria Math" pitchFamily="18" charset="0"/>
              </a:rPr>
              <a:t>m</a:t>
            </a:r>
            <a:r>
              <a:rPr lang="en-US" altLang="zh-TW" sz="2400" b="1" i="1" dirty="0">
                <a:sym typeface="Symbol" pitchFamily="18" charset="2"/>
              </a:rPr>
              <a:t></a:t>
            </a:r>
            <a:r>
              <a:rPr lang="en-US" sz="2400" dirty="0">
                <a:ea typeface="Cambria Math" pitchFamily="18" charset="0"/>
                <a:sym typeface="Symbol"/>
              </a:rPr>
              <a:t> </a:t>
            </a:r>
            <a:r>
              <a:rPr lang="en-US" sz="2400" i="1" dirty="0">
                <a:ea typeface="Cambria Math" pitchFamily="18" charset="0"/>
                <a:sym typeface="Symbol"/>
              </a:rPr>
              <a:t>k</a:t>
            </a:r>
            <a:r>
              <a:rPr lang="en-US" sz="2400" dirty="0">
                <a:ea typeface="Cambria Math"/>
                <a:sym typeface="Symbol"/>
              </a:rPr>
              <a:t> zero-one matrix </a:t>
            </a:r>
            <a:r>
              <a:rPr lang="en-US" sz="2400" dirty="0">
                <a:ea typeface="Cambria Math" pitchFamily="18" charset="0"/>
              </a:rPr>
              <a:t>and </a:t>
            </a:r>
            <a:r>
              <a:rPr lang="en-US" sz="2400" b="1" dirty="0"/>
              <a:t>B</a:t>
            </a:r>
            <a:r>
              <a:rPr lang="en-US" sz="2400" dirty="0"/>
              <a:t> = [</a:t>
            </a:r>
            <a:r>
              <a:rPr lang="en-US" sz="2400" i="1" dirty="0" err="1">
                <a:ea typeface="Cambria Math" pitchFamily="18" charset="0"/>
              </a:rPr>
              <a:t>b</a:t>
            </a:r>
            <a:r>
              <a:rPr lang="en-US" sz="2400" i="1" baseline="-25000" dirty="0" err="1">
                <a:ea typeface="Cambria Math" pitchFamily="18" charset="0"/>
              </a:rPr>
              <a:t>ij</a:t>
            </a:r>
            <a:r>
              <a:rPr lang="en-US" sz="2400" dirty="0">
                <a:ea typeface="Cambria Math" pitchFamily="18" charset="0"/>
              </a:rPr>
              <a:t>] be a </a:t>
            </a:r>
            <a:r>
              <a:rPr lang="en-US" sz="2400" i="1" dirty="0">
                <a:ea typeface="Cambria Math" pitchFamily="18" charset="0"/>
              </a:rPr>
              <a:t>k</a:t>
            </a:r>
            <a:r>
              <a:rPr lang="en-US" altLang="zh-TW" sz="2400" b="1" i="1" dirty="0">
                <a:sym typeface="Symbol" pitchFamily="18" charset="2"/>
              </a:rPr>
              <a:t></a:t>
            </a:r>
            <a:r>
              <a:rPr lang="en-US" sz="2400" i="1" dirty="0">
                <a:ea typeface="Cambria Math" pitchFamily="18" charset="0"/>
                <a:sym typeface="Symbol"/>
              </a:rPr>
              <a:t> n</a:t>
            </a:r>
            <a:r>
              <a:rPr lang="en-US" sz="2400" dirty="0">
                <a:ea typeface="Cambria Math"/>
                <a:sym typeface="Symbol"/>
              </a:rPr>
              <a:t> zero-one matrix. The </a:t>
            </a:r>
            <a:r>
              <a:rPr lang="en-US" sz="2400" i="1" dirty="0">
                <a:ea typeface="Cambria Math"/>
                <a:sym typeface="Symbol"/>
              </a:rPr>
              <a:t>Boolean product</a:t>
            </a:r>
            <a:r>
              <a:rPr lang="en-US" sz="2400" dirty="0">
                <a:ea typeface="Cambria Math"/>
                <a:sym typeface="Symbol"/>
              </a:rPr>
              <a:t> of </a:t>
            </a:r>
            <a:r>
              <a:rPr lang="en-US" sz="2400" b="1" dirty="0">
                <a:ea typeface="Cambria Math"/>
                <a:sym typeface="Symbol"/>
              </a:rPr>
              <a:t>A </a:t>
            </a:r>
            <a:r>
              <a:rPr lang="en-US" sz="2400" dirty="0">
                <a:ea typeface="Cambria Math"/>
                <a:sym typeface="Symbol"/>
              </a:rPr>
              <a:t>and </a:t>
            </a:r>
            <a:r>
              <a:rPr lang="en-US" sz="2400" b="1" dirty="0">
                <a:ea typeface="Cambria Math"/>
                <a:sym typeface="Symbol"/>
              </a:rPr>
              <a:t>B</a:t>
            </a:r>
            <a:r>
              <a:rPr lang="en-US" sz="2400" dirty="0">
                <a:ea typeface="Cambria Math"/>
                <a:sym typeface="Symbol"/>
              </a:rPr>
              <a:t>,</a:t>
            </a:r>
            <a:r>
              <a:rPr lang="en-US" sz="2400" b="1" dirty="0">
                <a:ea typeface="Cambria Math"/>
                <a:sym typeface="Symbol"/>
              </a:rPr>
              <a:t> </a:t>
            </a:r>
            <a:r>
              <a:rPr lang="en-US" sz="2400" dirty="0"/>
              <a:t>denoted by </a:t>
            </a:r>
            <a:r>
              <a:rPr lang="en-US" sz="2400" b="1" dirty="0">
                <a:ea typeface="Cambria Math"/>
                <a:sym typeface="Symbol"/>
              </a:rPr>
              <a:t>A </a:t>
            </a:r>
            <a:r>
              <a:rPr lang="en-US" sz="2400" dirty="0">
                <a:ea typeface="Cambria Math"/>
                <a:sym typeface="Symbol"/>
              </a:rPr>
              <a:t>⊙ </a:t>
            </a:r>
            <a:r>
              <a:rPr lang="en-US" sz="2400" b="1" dirty="0">
                <a:ea typeface="Cambria Math"/>
                <a:sym typeface="Symbol"/>
              </a:rPr>
              <a:t>B</a:t>
            </a:r>
            <a:r>
              <a:rPr lang="en-US" sz="2400" dirty="0">
                <a:ea typeface="Cambria Math"/>
                <a:sym typeface="Symbol"/>
              </a:rPr>
              <a:t>, is the </a:t>
            </a:r>
            <a:r>
              <a:rPr lang="en-US" sz="2400" i="1" dirty="0">
                <a:ea typeface="Cambria Math" pitchFamily="18" charset="0"/>
              </a:rPr>
              <a:t>m</a:t>
            </a:r>
            <a:r>
              <a:rPr lang="en-US" altLang="zh-TW" sz="2400" b="1" i="1" dirty="0">
                <a:sym typeface="Symbol" pitchFamily="18" charset="2"/>
              </a:rPr>
              <a:t></a:t>
            </a:r>
            <a:r>
              <a:rPr lang="en-US" sz="2400" i="1" dirty="0">
                <a:ea typeface="Cambria Math" pitchFamily="18" charset="0"/>
                <a:sym typeface="Symbol"/>
              </a:rPr>
              <a:t> n</a:t>
            </a:r>
            <a:r>
              <a:rPr lang="en-US" sz="2400" dirty="0">
                <a:ea typeface="Cambria Math"/>
                <a:sym typeface="Symbol"/>
              </a:rPr>
              <a:t> zero-one matrix with(</a:t>
            </a:r>
            <a:r>
              <a:rPr lang="en-US" sz="2400" i="1" dirty="0" err="1">
                <a:ea typeface="Cambria Math"/>
                <a:sym typeface="Symbol"/>
              </a:rPr>
              <a:t>i,j</a:t>
            </a:r>
            <a:r>
              <a:rPr lang="en-US" sz="2400" dirty="0">
                <a:ea typeface="Cambria Math"/>
                <a:sym typeface="Symbol"/>
              </a:rPr>
              <a:t>)th entry</a:t>
            </a:r>
            <a:r>
              <a:rPr lang="en-US" sz="2400" i="1" dirty="0">
                <a:ea typeface="Cambria Math"/>
                <a:sym typeface="Symbol"/>
              </a:rPr>
              <a:t> </a:t>
            </a:r>
            <a:r>
              <a:rPr lang="en-US" sz="2400" i="1" dirty="0" err="1">
                <a:ea typeface="Cambria Math"/>
                <a:sym typeface="Symbol"/>
              </a:rPr>
              <a:t>c</a:t>
            </a:r>
            <a:r>
              <a:rPr lang="en-US" sz="2400" i="1" baseline="-25000" dirty="0" err="1">
                <a:ea typeface="Cambria Math"/>
                <a:sym typeface="Symbol"/>
              </a:rPr>
              <a:t>ij</a:t>
            </a:r>
            <a:r>
              <a:rPr lang="en-US" sz="2400" i="1" baseline="-25000" dirty="0">
                <a:ea typeface="Cambria Math"/>
                <a:sym typeface="Symbol"/>
              </a:rPr>
              <a:t>  </a:t>
            </a:r>
            <a:r>
              <a:rPr lang="en-US" sz="2400" dirty="0">
                <a:ea typeface="Cambria Math"/>
                <a:sym typeface="Symbol"/>
              </a:rPr>
              <a:t>where           </a:t>
            </a:r>
            <a:r>
              <a:rPr lang="en-US" sz="2400" i="1" dirty="0" err="1">
                <a:ea typeface="Cambria Math"/>
                <a:sym typeface="Symbol"/>
              </a:rPr>
              <a:t>c</a:t>
            </a:r>
            <a:r>
              <a:rPr lang="en-US" sz="2400" i="1" baseline="-25000" dirty="0" err="1">
                <a:ea typeface="Cambria Math"/>
                <a:sym typeface="Symbol"/>
              </a:rPr>
              <a:t>ij</a:t>
            </a:r>
            <a:r>
              <a:rPr lang="en-US" sz="2400" baseline="-25000" dirty="0">
                <a:ea typeface="Cambria Math"/>
                <a:sym typeface="Symbol"/>
              </a:rPr>
              <a:t> </a:t>
            </a:r>
            <a:r>
              <a:rPr lang="en-US" sz="2400" dirty="0">
                <a:ea typeface="Cambria Math"/>
                <a:sym typeface="Symbol"/>
              </a:rPr>
              <a:t>= (</a:t>
            </a:r>
            <a:r>
              <a:rPr lang="en-US" sz="2400" i="1" dirty="0">
                <a:ea typeface="Cambria Math"/>
                <a:sym typeface="Symbol"/>
              </a:rPr>
              <a:t>a</a:t>
            </a:r>
            <a:r>
              <a:rPr lang="en-US" sz="2400" i="1" baseline="-25000" dirty="0">
                <a:ea typeface="Cambria Math"/>
                <a:sym typeface="Symbol"/>
              </a:rPr>
              <a:t>i</a:t>
            </a:r>
            <a:r>
              <a:rPr lang="en-US" sz="2400" baseline="-25000" dirty="0">
                <a:ea typeface="Cambria Math"/>
                <a:sym typeface="Symbol"/>
              </a:rPr>
              <a:t>1</a:t>
            </a:r>
            <a:r>
              <a:rPr lang="en-US" sz="2400" dirty="0">
                <a:ea typeface="Cambria Math"/>
                <a:sym typeface="Symbol"/>
              </a:rPr>
              <a:t> ∧ </a:t>
            </a:r>
            <a:r>
              <a:rPr lang="en-US" sz="2400" i="1" dirty="0">
                <a:ea typeface="Cambria Math"/>
                <a:sym typeface="Symbol"/>
              </a:rPr>
              <a:t>b</a:t>
            </a:r>
            <a:r>
              <a:rPr lang="en-US" sz="2400" baseline="-25000" dirty="0">
                <a:ea typeface="Cambria Math"/>
                <a:sym typeface="Symbol"/>
              </a:rPr>
              <a:t>1</a:t>
            </a:r>
            <a:r>
              <a:rPr lang="en-US" sz="2400" i="1" baseline="-25000" dirty="0">
                <a:ea typeface="Cambria Math"/>
                <a:sym typeface="Symbol"/>
              </a:rPr>
              <a:t>j</a:t>
            </a:r>
            <a:r>
              <a:rPr lang="en-US" sz="2400" dirty="0">
                <a:ea typeface="Cambria Math"/>
                <a:sym typeface="Symbol"/>
              </a:rPr>
              <a:t>)∨ (</a:t>
            </a:r>
            <a:r>
              <a:rPr lang="en-US" sz="2400" i="1" dirty="0">
                <a:ea typeface="Cambria Math"/>
                <a:sym typeface="Symbol"/>
              </a:rPr>
              <a:t>a</a:t>
            </a:r>
            <a:r>
              <a:rPr lang="en-US" sz="2400" baseline="-25000" dirty="0">
                <a:ea typeface="Cambria Math"/>
                <a:sym typeface="Symbol"/>
              </a:rPr>
              <a:t>i2</a:t>
            </a:r>
            <a:r>
              <a:rPr lang="en-US" sz="2400" dirty="0">
                <a:ea typeface="Cambria Math"/>
                <a:sym typeface="Symbol"/>
              </a:rPr>
              <a:t> ∧ </a:t>
            </a:r>
            <a:r>
              <a:rPr lang="en-US" sz="2400" i="1" dirty="0">
                <a:ea typeface="Cambria Math"/>
                <a:sym typeface="Symbol"/>
              </a:rPr>
              <a:t>b</a:t>
            </a:r>
            <a:r>
              <a:rPr lang="en-US" sz="2400" baseline="-25000" dirty="0">
                <a:ea typeface="Cambria Math"/>
                <a:sym typeface="Symbol"/>
              </a:rPr>
              <a:t>2j</a:t>
            </a:r>
            <a:r>
              <a:rPr lang="en-US" sz="2400" dirty="0">
                <a:ea typeface="Cambria Math"/>
                <a:sym typeface="Symbol"/>
              </a:rPr>
              <a:t>) ∨ … ∨ (</a:t>
            </a:r>
            <a:r>
              <a:rPr lang="en-US" sz="2400" i="1" dirty="0" err="1">
                <a:ea typeface="Cambria Math"/>
                <a:sym typeface="Symbol"/>
              </a:rPr>
              <a:t>a</a:t>
            </a:r>
            <a:r>
              <a:rPr lang="en-US" sz="2400" i="1" baseline="-25000" dirty="0" err="1">
                <a:ea typeface="Cambria Math"/>
                <a:sym typeface="Symbol"/>
              </a:rPr>
              <a:t>ik</a:t>
            </a:r>
            <a:r>
              <a:rPr lang="en-US" sz="2400" dirty="0">
                <a:ea typeface="Cambria Math"/>
                <a:sym typeface="Symbol"/>
              </a:rPr>
              <a:t> ∧ </a:t>
            </a:r>
            <a:r>
              <a:rPr lang="en-US" sz="2400" i="1" dirty="0" err="1">
                <a:ea typeface="Cambria Math"/>
                <a:sym typeface="Symbol"/>
              </a:rPr>
              <a:t>b</a:t>
            </a:r>
            <a:r>
              <a:rPr lang="en-US" sz="2400" i="1" baseline="-25000" dirty="0" err="1">
                <a:ea typeface="Cambria Math"/>
                <a:sym typeface="Symbol"/>
              </a:rPr>
              <a:t>kj</a:t>
            </a:r>
            <a:r>
              <a:rPr lang="en-US" sz="2400" dirty="0">
                <a:ea typeface="Cambria Math"/>
                <a:sym typeface="Symbol"/>
              </a:rPr>
              <a:t>)</a:t>
            </a:r>
          </a:p>
          <a:p>
            <a:pPr>
              <a:buNone/>
            </a:pPr>
            <a:endParaRPr lang="en-US" sz="2400" b="1" u="sng" dirty="0">
              <a:solidFill>
                <a:srgbClr val="FF3300"/>
              </a:solidFill>
              <a:ea typeface="Cambria Math"/>
              <a:sym typeface="Symbol"/>
            </a:endParaRPr>
          </a:p>
          <a:p>
            <a:pPr>
              <a:buNone/>
            </a:pPr>
            <a:r>
              <a:rPr lang="en-US" sz="2400" b="1" u="sng" dirty="0">
                <a:solidFill>
                  <a:srgbClr val="FF3300"/>
                </a:solidFill>
                <a:ea typeface="Cambria Math"/>
                <a:sym typeface="Symbol"/>
              </a:rPr>
              <a:t>Example 9 (p.262):</a:t>
            </a:r>
            <a:r>
              <a:rPr lang="en-US" sz="2400" dirty="0">
                <a:ea typeface="Cambria Math"/>
                <a:sym typeface="Symbol"/>
              </a:rPr>
              <a:t> </a:t>
            </a:r>
            <a:r>
              <a:rPr lang="en-US" sz="2400" dirty="0">
                <a:solidFill>
                  <a:srgbClr val="FF3300"/>
                </a:solidFill>
                <a:ea typeface="Cambria Math"/>
                <a:sym typeface="Symbol"/>
              </a:rPr>
              <a:t>Find the Boolean product of </a:t>
            </a:r>
            <a:r>
              <a:rPr lang="en-US" sz="2400" b="1" dirty="0">
                <a:solidFill>
                  <a:srgbClr val="FF3300"/>
                </a:solidFill>
                <a:ea typeface="Cambria Math"/>
                <a:sym typeface="Symbol"/>
              </a:rPr>
              <a:t>A</a:t>
            </a:r>
            <a:r>
              <a:rPr lang="en-US" sz="2400" dirty="0">
                <a:solidFill>
                  <a:srgbClr val="FF3300"/>
                </a:solidFill>
                <a:ea typeface="Cambria Math"/>
                <a:sym typeface="Symbol"/>
              </a:rPr>
              <a:t> and</a:t>
            </a:r>
          </a:p>
          <a:p>
            <a:pPr>
              <a:buNone/>
            </a:pPr>
            <a:r>
              <a:rPr lang="en-US" sz="2400" b="1" dirty="0">
                <a:solidFill>
                  <a:srgbClr val="FF3300"/>
                </a:solidFill>
                <a:ea typeface="Cambria Math"/>
                <a:sym typeface="Symbol"/>
              </a:rPr>
              <a:t>B</a:t>
            </a:r>
            <a:r>
              <a:rPr lang="en-US" sz="2400" dirty="0">
                <a:solidFill>
                  <a:srgbClr val="FF3300"/>
                </a:solidFill>
                <a:ea typeface="Cambria Math"/>
                <a:sym typeface="Symbol"/>
              </a:rPr>
              <a:t>, where </a:t>
            </a:r>
            <a:endParaRPr lang="en-US" sz="2400" dirty="0">
              <a:solidFill>
                <a:srgbClr val="FF3300"/>
              </a:solidFill>
            </a:endParaRPr>
          </a:p>
        </p:txBody>
      </p:sp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1792087" y="4656921"/>
            <a:ext cx="1739265" cy="912495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4302456" y="4780120"/>
            <a:ext cx="203454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Solution of Example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325804" y="2207086"/>
            <a:ext cx="85157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The Boolean product </a:t>
            </a:r>
            <a:r>
              <a:rPr lang="en-US" sz="2800" b="1" dirty="0"/>
              <a:t>A</a:t>
            </a:r>
            <a:r>
              <a:rPr lang="en-US" sz="2800" dirty="0"/>
              <a:t> </a:t>
            </a:r>
            <a:r>
              <a:rPr lang="en-US" sz="2800" dirty="0">
                <a:ea typeface="Cambria Math"/>
              </a:rPr>
              <a:t>⊙</a:t>
            </a:r>
            <a:r>
              <a:rPr lang="en-US" sz="2800" dirty="0"/>
              <a:t> </a:t>
            </a:r>
            <a:r>
              <a:rPr lang="en-US" sz="2800" b="1" dirty="0"/>
              <a:t>B</a:t>
            </a:r>
            <a:r>
              <a:rPr lang="en-US" sz="2800" dirty="0"/>
              <a:t> is given by </a:t>
            </a:r>
          </a:p>
        </p:txBody>
      </p:sp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845016" y="2918352"/>
            <a:ext cx="7311390" cy="912495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1655920" y="4090920"/>
            <a:ext cx="2872740" cy="912495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1683216" y="5138384"/>
            <a:ext cx="1821180" cy="912495"/>
          </a:xfrm>
          <a:prstGeom prst="rect">
            <a:avLst/>
          </a:prstGeom>
        </p:spPr>
      </p:pic>
      <p:pic>
        <p:nvPicPr>
          <p:cNvPr id="9" name="Picture 8" descr="addin_tmp.png">
            <a:extLst>
              <a:ext uri="{FF2B5EF4-FFF2-40B4-BE49-F238E27FC236}">
                <a16:creationId xmlns:a16="http://schemas.microsoft.com/office/drawing/2014/main" id="{77F49203-4AD2-5D47-AD20-04AC8D18178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5037707" y="5138383"/>
            <a:ext cx="1739265" cy="912495"/>
          </a:xfrm>
          <a:prstGeom prst="rect">
            <a:avLst/>
          </a:prstGeom>
        </p:spPr>
      </p:pic>
      <p:pic>
        <p:nvPicPr>
          <p:cNvPr id="10" name="Picture 9" descr="addin_tmp.png">
            <a:extLst>
              <a:ext uri="{FF2B5EF4-FFF2-40B4-BE49-F238E27FC236}">
                <a16:creationId xmlns:a16="http://schemas.microsoft.com/office/drawing/2014/main" id="{72A806F0-A6BA-9946-BD81-23F67EB09D1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6874837" y="5322729"/>
            <a:ext cx="203454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+mn-lt"/>
              </a:rPr>
              <a:t>4.1 Mathematical Induction </a:t>
            </a:r>
            <a:endParaRPr lang="en-US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8363" y="2087107"/>
            <a:ext cx="8502555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Suppose that we have an infinite ladder, and we want to know whether we can reach every step on this ladder.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>
                <a:solidFill>
                  <a:srgbClr val="0000FF"/>
                </a:solidFill>
              </a:rPr>
              <a:t>We know two things –</a:t>
            </a:r>
          </a:p>
          <a:p>
            <a:pPr lvl="2" indent="-457200">
              <a:spcBef>
                <a:spcPts val="600"/>
              </a:spcBef>
              <a:buFont typeface="+mj-lt"/>
              <a:buAutoNum type="arabicParenR"/>
            </a:pPr>
            <a:r>
              <a:rPr lang="en-US" sz="2400" dirty="0">
                <a:solidFill>
                  <a:srgbClr val="0000FF"/>
                </a:solidFill>
              </a:rPr>
              <a:t>We can reach the first rung of the ladder</a:t>
            </a:r>
          </a:p>
          <a:p>
            <a:pPr lvl="2" indent="-457200">
              <a:spcBef>
                <a:spcPts val="600"/>
              </a:spcBef>
              <a:buFont typeface="+mj-lt"/>
              <a:buAutoNum type="arabicParenR"/>
            </a:pPr>
            <a:r>
              <a:rPr lang="en-US" sz="2400" dirty="0">
                <a:solidFill>
                  <a:srgbClr val="0000FF"/>
                </a:solidFill>
              </a:rPr>
              <a:t>If we can reach a particular rung of the ladder, then we can reach the next rung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Can we conclude that we can reach every rung?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dirty="0">
                <a:latin typeface="+mn-lt"/>
              </a:rPr>
              <a:t>4.1 Mathematical Induction </a:t>
            </a:r>
            <a:endParaRPr lang="en-US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2157" y="2108414"/>
            <a:ext cx="8515739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/>
              <a:t>By (1), we know that we can reach the first rung of the ladder. Moreover, because we can reach the first rung, by (2), we can also reach the second rung; it is the next rung after the first rung.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/>
              <a:t>Applying (2) again, because we can reach the second rung, we can also reach the third rung.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/>
              <a:t>Continuing in this way, we can show that we can reach the fourth rung, the fifth rung, and so on.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>
                <a:solidFill>
                  <a:srgbClr val="0000FF"/>
                </a:solidFill>
              </a:rPr>
              <a:t>For example, after 100 uses of (2), we know that we can reach the 101st rung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dirty="0">
                <a:latin typeface="+mn-lt"/>
              </a:rPr>
              <a:t>4.1 Mathematical Induction </a:t>
            </a:r>
            <a:endParaRPr lang="en-US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7565" y="2078960"/>
            <a:ext cx="8515739" cy="346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Can we conclude that we are able to reach every rung of this infinite ladder?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b="1" u="sng" dirty="0">
                <a:solidFill>
                  <a:srgbClr val="0000FF"/>
                </a:solidFill>
              </a:rPr>
              <a:t>Answer</a:t>
            </a:r>
            <a:r>
              <a:rPr lang="en-US" sz="2800" b="1" dirty="0">
                <a:solidFill>
                  <a:srgbClr val="0000FF"/>
                </a:solidFill>
              </a:rPr>
              <a:t>: Yes. </a:t>
            </a:r>
          </a:p>
          <a:p>
            <a:pPr marL="274320" lvl="1" indent="-274320">
              <a:spcBef>
                <a:spcPts val="600"/>
              </a:spcBef>
            </a:pPr>
            <a:r>
              <a:rPr lang="en-US" sz="2400" dirty="0"/>
              <a:t>	We can verify using an important </a:t>
            </a:r>
            <a:r>
              <a:rPr lang="en-US" sz="2400" dirty="0">
                <a:solidFill>
                  <a:srgbClr val="0000FF"/>
                </a:solidFill>
              </a:rPr>
              <a:t>proof technique </a:t>
            </a:r>
            <a:r>
              <a:rPr lang="en-US" sz="2400" dirty="0"/>
              <a:t>called </a:t>
            </a:r>
            <a:r>
              <a:rPr lang="en-US" sz="2400" b="1" dirty="0">
                <a:solidFill>
                  <a:srgbClr val="0000FF"/>
                </a:solidFill>
              </a:rPr>
              <a:t>mathematical induction</a:t>
            </a:r>
          </a:p>
          <a:p>
            <a:pPr marL="274320" lvl="1" indent="-274320">
              <a:spcBef>
                <a:spcPts val="600"/>
              </a:spcBef>
            </a:pPr>
            <a:r>
              <a:rPr lang="en-US" sz="2400" dirty="0"/>
              <a:t>	We can show that </a:t>
            </a:r>
            <a:r>
              <a:rPr lang="en-US" sz="2400" i="1" dirty="0"/>
              <a:t>P(n</a:t>
            </a:r>
            <a:r>
              <a:rPr lang="en-US" sz="2400" dirty="0"/>
              <a:t>) is true for every positive integer </a:t>
            </a:r>
            <a:r>
              <a:rPr lang="en-US" sz="2400" i="1" dirty="0"/>
              <a:t>n</a:t>
            </a:r>
            <a:r>
              <a:rPr lang="en-US" sz="2400" dirty="0"/>
              <a:t>, where </a:t>
            </a:r>
            <a:r>
              <a:rPr lang="en-US" sz="2400" i="1" dirty="0"/>
              <a:t>P(n</a:t>
            </a:r>
            <a:r>
              <a:rPr lang="en-US" sz="2400" dirty="0"/>
              <a:t>) is the statement that we can reach the </a:t>
            </a:r>
            <a:r>
              <a:rPr lang="en-US" sz="2400" i="1" dirty="0"/>
              <a:t>n</a:t>
            </a:r>
            <a:r>
              <a:rPr lang="en-US" sz="2400" dirty="0"/>
              <a:t>th rung of the ladder.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21341" y="681021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altLang="zh-TW" sz="4400" b="1" dirty="0">
                <a:latin typeface="+mn-lt"/>
              </a:rPr>
              <a:t>FIGURE 1 : </a:t>
            </a:r>
            <a:r>
              <a:rPr lang="en-US" altLang="zh-TW" sz="4400" b="1" dirty="0">
                <a:latin typeface="+mn-lt"/>
                <a:cs typeface="Times New Roman" pitchFamily="18" charset="0"/>
              </a:rPr>
              <a:t>Climbing an Infinite Ladder</a:t>
            </a:r>
            <a:endParaRPr lang="en-US" dirty="0">
              <a:latin typeface="+mn-lt"/>
            </a:endParaRPr>
          </a:p>
        </p:txBody>
      </p:sp>
      <p:pic>
        <p:nvPicPr>
          <p:cNvPr id="5" name="Picture 3" descr="04_1_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057400" y="2111347"/>
            <a:ext cx="4534469" cy="39892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25805" y="735613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altLang="zh-TW" sz="4400" dirty="0">
                <a:latin typeface="+mn-lt"/>
              </a:rPr>
              <a:t>Ways to Remember How Mathematical Induction Works</a:t>
            </a:r>
            <a:endParaRPr lang="en-US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5805" y="2321005"/>
            <a:ext cx="839511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E.g.</a:t>
            </a:r>
          </a:p>
          <a:p>
            <a:pPr lvl="1"/>
            <a:r>
              <a:rPr lang="en-US" altLang="zh-TW" sz="2800" b="1" dirty="0">
                <a:sym typeface="Symbol"/>
              </a:rPr>
              <a:t></a:t>
            </a:r>
            <a:r>
              <a:rPr lang="en-US" altLang="zh-TW" sz="2800" dirty="0">
                <a:sym typeface="Symbol"/>
              </a:rPr>
              <a:t>  </a:t>
            </a:r>
            <a:r>
              <a:rPr lang="en-US" altLang="zh-TW" sz="2800" dirty="0"/>
              <a:t>Climbing an infinite ladder</a:t>
            </a:r>
          </a:p>
          <a:p>
            <a:pPr lvl="1"/>
            <a:r>
              <a:rPr lang="en-US" altLang="zh-TW" sz="2800" b="1" dirty="0">
                <a:sym typeface="Symbol"/>
              </a:rPr>
              <a:t>  </a:t>
            </a:r>
            <a:r>
              <a:rPr lang="en-US" altLang="zh-TW" sz="2800" dirty="0"/>
              <a:t>People telling secrets</a:t>
            </a:r>
          </a:p>
          <a:p>
            <a:pPr lvl="1"/>
            <a:r>
              <a:rPr lang="en-US" altLang="zh-TW" sz="2800" b="1" dirty="0">
                <a:sym typeface="Symbol"/>
              </a:rPr>
              <a:t>  </a:t>
            </a:r>
            <a:r>
              <a:rPr lang="en-US" altLang="zh-TW" sz="2800" dirty="0"/>
              <a:t>Infinite row of dominoes</a:t>
            </a:r>
          </a:p>
          <a:p>
            <a:endParaRPr lang="en-US" altLang="zh-TW" sz="2800" dirty="0"/>
          </a:p>
          <a:p>
            <a:pPr>
              <a:buFont typeface="Arial" charset="0"/>
              <a:buNone/>
            </a:pPr>
            <a:r>
              <a:rPr lang="en-US" sz="2800" dirty="0"/>
              <a:t>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latin typeface="+mn-lt"/>
              </a:rPr>
              <a:t>Mathematical Induction</a:t>
            </a:r>
            <a:endParaRPr lang="en-US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8509" y="2106326"/>
            <a:ext cx="8340522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>
                <a:solidFill>
                  <a:srgbClr val="0000FF"/>
                </a:solidFill>
              </a:rPr>
              <a:t>Mathematical induction </a:t>
            </a:r>
            <a:r>
              <a:rPr lang="en-US" sz="2800" dirty="0"/>
              <a:t>is an </a:t>
            </a:r>
            <a:r>
              <a:rPr lang="en-US" sz="2800" dirty="0">
                <a:solidFill>
                  <a:srgbClr val="0000FF"/>
                </a:solidFill>
              </a:rPr>
              <a:t>extremely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00FF"/>
                </a:solidFill>
              </a:rPr>
              <a:t>important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00FF"/>
                </a:solidFill>
              </a:rPr>
              <a:t>proof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00FF"/>
                </a:solidFill>
              </a:rPr>
              <a:t>technique</a:t>
            </a:r>
            <a:r>
              <a:rPr lang="en-US" sz="2800" dirty="0"/>
              <a:t> that can be used to prove assertions of this type.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Mathematical induction is used extensively to prove results about a large variety of discrete objects. 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/>
              <a:t>For example, it is used to prove results about the complexity of algorithms, the correctness of certain types of computer programs, theorems about graphs and trees, as well as a wide range of identities and inequalities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+mn-lt"/>
              </a:rPr>
              <a:t>Mathematical Induction</a:t>
            </a:r>
            <a:endParaRPr lang="en-US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8509" y="2025830"/>
            <a:ext cx="8515739" cy="3893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Mathematical induction can be used only to prove results obtained in some other way. It is </a:t>
            </a:r>
            <a:r>
              <a:rPr lang="en-US" sz="2800" b="1" i="1" dirty="0">
                <a:solidFill>
                  <a:srgbClr val="FF0000"/>
                </a:solidFill>
              </a:rPr>
              <a:t>not</a:t>
            </a:r>
            <a:r>
              <a:rPr lang="en-US" sz="2800" dirty="0">
                <a:solidFill>
                  <a:srgbClr val="FF0000"/>
                </a:solidFill>
              </a:rPr>
              <a:t> a tool for discovering formulae or theorems.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>
                <a:sym typeface="Symbol" pitchFamily="18" charset="2"/>
              </a:rPr>
              <a:t>The </a:t>
            </a:r>
            <a:r>
              <a:rPr lang="en-US" sz="2400" dirty="0">
                <a:solidFill>
                  <a:srgbClr val="0000FF"/>
                </a:solidFill>
                <a:sym typeface="Symbol" pitchFamily="18" charset="2"/>
              </a:rPr>
              <a:t>principle of mathematical induction</a:t>
            </a:r>
            <a:r>
              <a:rPr lang="en-US" sz="2400" dirty="0">
                <a:sym typeface="Symbol" pitchFamily="18" charset="2"/>
              </a:rPr>
              <a:t> is a useful tool for proving that a certain predicate is true for </a:t>
            </a:r>
            <a:r>
              <a:rPr lang="en-US" sz="2400" dirty="0">
                <a:solidFill>
                  <a:srgbClr val="0000FF"/>
                </a:solidFill>
                <a:sym typeface="Symbol" pitchFamily="18" charset="2"/>
              </a:rPr>
              <a:t>all natural numbers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sym typeface="Symbol" pitchFamily="18" charset="2"/>
              </a:rPr>
              <a:t>It cannot be used to discover theorems, but only to prove them</a:t>
            </a:r>
          </a:p>
          <a:p>
            <a:pPr marL="274320" indent="-274320">
              <a:spcBef>
                <a:spcPts val="600"/>
              </a:spcBef>
            </a:pP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latin typeface="+mn-lt"/>
              </a:rPr>
              <a:t>Mathematical Induction</a:t>
            </a:r>
            <a:endParaRPr lang="en-US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1068" y="2117328"/>
            <a:ext cx="8691420" cy="3708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b="1" dirty="0">
                <a:solidFill>
                  <a:srgbClr val="FF0000"/>
                </a:solidFill>
              </a:rPr>
              <a:t>Principle of Mathematical Induction:</a:t>
            </a: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altLang="zh-TW" sz="2400" dirty="0"/>
              <a:t>To prove that P(</a:t>
            </a:r>
            <a:r>
              <a:rPr lang="en-US" altLang="zh-TW" sz="2400" i="1" dirty="0"/>
              <a:t>n</a:t>
            </a:r>
            <a:r>
              <a:rPr lang="en-US" altLang="zh-TW" sz="2400" dirty="0"/>
              <a:t>) is true for all positive integers </a:t>
            </a:r>
            <a:r>
              <a:rPr lang="en-US" altLang="zh-TW" sz="2400" i="1" dirty="0"/>
              <a:t>n</a:t>
            </a:r>
            <a:r>
              <a:rPr lang="en-US" altLang="zh-TW" sz="2400" dirty="0"/>
              <a:t>, where P(</a:t>
            </a:r>
            <a:r>
              <a:rPr lang="en-US" altLang="zh-TW" sz="2400" i="1" dirty="0"/>
              <a:t>n</a:t>
            </a:r>
            <a:r>
              <a:rPr lang="en-US" altLang="zh-TW" sz="2400" dirty="0"/>
              <a:t>) is a propositional function, we complete </a:t>
            </a:r>
            <a:r>
              <a:rPr lang="en-US" altLang="zh-TW" sz="2400" dirty="0">
                <a:solidFill>
                  <a:srgbClr val="0000FF"/>
                </a:solidFill>
              </a:rPr>
              <a:t>two steps</a:t>
            </a:r>
            <a:r>
              <a:rPr lang="en-US" altLang="zh-TW" sz="2400" dirty="0"/>
              <a:t>:</a:t>
            </a:r>
          </a:p>
          <a:p>
            <a:pPr lvl="2" indent="-457200">
              <a:spcBef>
                <a:spcPts val="600"/>
              </a:spcBef>
              <a:buFont typeface="+mj-lt"/>
              <a:buAutoNum type="arabicParenR"/>
            </a:pPr>
            <a:r>
              <a:rPr lang="en-US" altLang="zh-TW" sz="2400" b="1" dirty="0">
                <a:solidFill>
                  <a:srgbClr val="0000FF"/>
                </a:solidFill>
              </a:rPr>
              <a:t>BASIS STEP</a:t>
            </a:r>
            <a:r>
              <a:rPr lang="en-US" altLang="zh-TW" sz="2400" dirty="0"/>
              <a:t>: We verify that P(1) is true.</a:t>
            </a:r>
          </a:p>
          <a:p>
            <a:pPr lvl="2" indent="-457200">
              <a:spcBef>
                <a:spcPts val="600"/>
              </a:spcBef>
              <a:buFont typeface="+mj-lt"/>
              <a:buAutoNum type="arabicParenR"/>
            </a:pPr>
            <a:r>
              <a:rPr lang="en-US" altLang="zh-TW" sz="2400" b="1" dirty="0">
                <a:solidFill>
                  <a:srgbClr val="0000FF"/>
                </a:solidFill>
              </a:rPr>
              <a:t>INDUCTIVE STEP </a:t>
            </a:r>
            <a:r>
              <a:rPr lang="en-US" altLang="zh-TW" sz="2400" dirty="0"/>
              <a:t>: We show that the conditional statement P(</a:t>
            </a:r>
            <a:r>
              <a:rPr lang="en-US" altLang="zh-TW" sz="2400" i="1" dirty="0"/>
              <a:t>k</a:t>
            </a:r>
            <a:r>
              <a:rPr lang="en-US" altLang="zh-TW" sz="2400" dirty="0"/>
              <a:t>) </a:t>
            </a:r>
            <a:r>
              <a:rPr lang="en-US" altLang="zh-TW" sz="2400" dirty="0">
                <a:sym typeface="Symbol" pitchFamily="18" charset="2"/>
              </a:rPr>
              <a:t></a:t>
            </a:r>
            <a:r>
              <a:rPr lang="en-US" altLang="zh-TW" sz="2400" dirty="0"/>
              <a:t> P(</a:t>
            </a:r>
            <a:r>
              <a:rPr lang="en-US" altLang="zh-TW" sz="2400" i="1" dirty="0"/>
              <a:t>k</a:t>
            </a:r>
            <a:r>
              <a:rPr lang="en-US" altLang="zh-TW" sz="2400" dirty="0"/>
              <a:t>+1) is true for all positive integers k</a:t>
            </a:r>
          </a:p>
          <a:p>
            <a:pPr marL="1188720" lvl="4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b="1" dirty="0">
                <a:solidFill>
                  <a:srgbClr val="0000FF"/>
                </a:solidFill>
              </a:rPr>
              <a:t>Inductive hypothesis</a:t>
            </a:r>
            <a:r>
              <a:rPr lang="en-US" altLang="zh-TW" sz="2400" dirty="0"/>
              <a:t>: P(k) is true</a:t>
            </a:r>
          </a:p>
          <a:p>
            <a:pPr marL="274320" lvl="2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b="1" dirty="0"/>
              <a:t>[ </a:t>
            </a:r>
            <a:r>
              <a:rPr lang="en-US" altLang="zh-TW" sz="2400" b="1" i="1" dirty="0"/>
              <a:t>P</a:t>
            </a:r>
            <a:r>
              <a:rPr lang="en-US" altLang="zh-TW" sz="2400" b="1" dirty="0"/>
              <a:t>(1) </a:t>
            </a:r>
            <a:r>
              <a:rPr lang="en-US" altLang="zh-TW" sz="2400" b="1" dirty="0">
                <a:sym typeface="Symbol" pitchFamily="18" charset="2"/>
              </a:rPr>
              <a:t> </a:t>
            </a:r>
            <a:r>
              <a:rPr lang="en-US" altLang="zh-TW" sz="2400" b="1" i="1" dirty="0">
                <a:sym typeface="Symbol" pitchFamily="18" charset="2"/>
              </a:rPr>
              <a:t>k</a:t>
            </a:r>
            <a:r>
              <a:rPr lang="en-US" altLang="zh-TW" sz="2400" b="1" dirty="0">
                <a:sym typeface="Symbol" pitchFamily="18" charset="2"/>
              </a:rPr>
              <a:t>(</a:t>
            </a:r>
            <a:r>
              <a:rPr lang="en-US" altLang="zh-TW" sz="2400" b="1" i="1" dirty="0">
                <a:sym typeface="Symbol" pitchFamily="18" charset="2"/>
              </a:rPr>
              <a:t>P</a:t>
            </a:r>
            <a:r>
              <a:rPr lang="en-US" altLang="zh-TW" sz="2400" b="1" dirty="0">
                <a:sym typeface="Symbol" pitchFamily="18" charset="2"/>
              </a:rPr>
              <a:t>(</a:t>
            </a:r>
            <a:r>
              <a:rPr lang="en-US" altLang="zh-TW" sz="2400" b="1" i="1" dirty="0">
                <a:sym typeface="Symbol" pitchFamily="18" charset="2"/>
              </a:rPr>
              <a:t>k</a:t>
            </a:r>
            <a:r>
              <a:rPr lang="en-US" altLang="zh-TW" sz="2400" b="1" dirty="0">
                <a:sym typeface="Symbol" pitchFamily="18" charset="2"/>
              </a:rPr>
              <a:t>)   </a:t>
            </a:r>
            <a:r>
              <a:rPr lang="en-US" altLang="zh-TW" sz="2400" b="1" i="1" dirty="0">
                <a:sym typeface="Symbol" pitchFamily="18" charset="2"/>
              </a:rPr>
              <a:t>P</a:t>
            </a:r>
            <a:r>
              <a:rPr lang="en-US" altLang="zh-TW" sz="2400" b="1" dirty="0">
                <a:sym typeface="Symbol" pitchFamily="18" charset="2"/>
              </a:rPr>
              <a:t>(</a:t>
            </a:r>
            <a:r>
              <a:rPr lang="en-US" altLang="zh-TW" sz="2400" b="1" i="1" dirty="0">
                <a:sym typeface="Symbol" pitchFamily="18" charset="2"/>
              </a:rPr>
              <a:t>k</a:t>
            </a:r>
            <a:r>
              <a:rPr lang="en-US" altLang="zh-TW" sz="2400" b="1" dirty="0">
                <a:sym typeface="Symbol" pitchFamily="18" charset="2"/>
              </a:rPr>
              <a:t>+1))]        </a:t>
            </a:r>
            <a:r>
              <a:rPr lang="en-US" altLang="zh-TW" sz="2400" b="1" i="1" dirty="0">
                <a:sym typeface="Symbol" pitchFamily="18" charset="2"/>
              </a:rPr>
              <a:t>n</a:t>
            </a:r>
            <a:r>
              <a:rPr lang="en-US" altLang="zh-TW" sz="2400" b="1" dirty="0">
                <a:sym typeface="Symbol" pitchFamily="18" charset="2"/>
              </a:rPr>
              <a:t> </a:t>
            </a:r>
            <a:r>
              <a:rPr lang="en-US" altLang="zh-TW" sz="2400" b="1" i="1" dirty="0">
                <a:sym typeface="Symbol" pitchFamily="18" charset="2"/>
              </a:rPr>
              <a:t>P</a:t>
            </a:r>
            <a:r>
              <a:rPr lang="en-US" altLang="zh-TW" sz="2400" b="1" dirty="0">
                <a:sym typeface="Symbol" pitchFamily="18" charset="2"/>
              </a:rPr>
              <a:t>(</a:t>
            </a:r>
            <a:r>
              <a:rPr lang="en-US" altLang="zh-TW" sz="2400" b="1" i="1" dirty="0">
                <a:sym typeface="Symbol" pitchFamily="18" charset="2"/>
              </a:rPr>
              <a:t>n</a:t>
            </a:r>
            <a:r>
              <a:rPr lang="en-US" altLang="zh-TW" sz="2400" b="1" dirty="0">
                <a:sym typeface="Symbol" pitchFamily="18" charset="2"/>
              </a:rPr>
              <a:t>) </a:t>
            </a:r>
            <a:endParaRPr lang="en-US" sz="2400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>
                <a:latin typeface="+mn-lt"/>
              </a:rPr>
              <a:t>Example 1</a:t>
            </a:r>
            <a:endParaRPr lang="en-US" b="1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4861" y="2186404"/>
            <a:ext cx="8515739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Show that if n is a positive integer, then  1 + 2 + ………. + n = n(n+1)/2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000" b="1" u="sng" dirty="0">
                <a:solidFill>
                  <a:srgbClr val="0000FF"/>
                </a:solidFill>
              </a:rPr>
              <a:t>Solution</a:t>
            </a:r>
            <a:r>
              <a:rPr lang="en-US" sz="2000" dirty="0"/>
              <a:t>: Let </a:t>
            </a:r>
            <a:r>
              <a:rPr lang="en-US" sz="2000" i="1" dirty="0"/>
              <a:t>P(n</a:t>
            </a:r>
            <a:r>
              <a:rPr lang="en-US" sz="2000" dirty="0"/>
              <a:t>) be the proposition that the sum of the first n positive integers is n(n+1)/2.</a:t>
            </a:r>
          </a:p>
          <a:p>
            <a:pPr marL="274320" indent="-274320">
              <a:spcBef>
                <a:spcPts val="600"/>
              </a:spcBef>
            </a:pPr>
            <a:r>
              <a:rPr lang="en-US" sz="2000" dirty="0"/>
              <a:t>	We must </a:t>
            </a:r>
            <a:r>
              <a:rPr lang="en-US" sz="2000" dirty="0">
                <a:solidFill>
                  <a:srgbClr val="0000FF"/>
                </a:solidFill>
              </a:rPr>
              <a:t>do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00FF"/>
                </a:solidFill>
              </a:rPr>
              <a:t>two things to prove that </a:t>
            </a:r>
            <a:r>
              <a:rPr lang="en-US" sz="2000" i="1" dirty="0">
                <a:solidFill>
                  <a:srgbClr val="0000FF"/>
                </a:solidFill>
              </a:rPr>
              <a:t>P(n</a:t>
            </a:r>
            <a:r>
              <a:rPr lang="en-US" sz="2000" dirty="0">
                <a:solidFill>
                  <a:srgbClr val="0000FF"/>
                </a:solidFill>
              </a:rPr>
              <a:t>) is true for n = 1, 2, 3, ….. </a:t>
            </a:r>
            <a:r>
              <a:rPr lang="en-US" sz="2000" dirty="0"/>
              <a:t>Namely, we must show that P(1) is true and that the conditional statement P(</a:t>
            </a:r>
            <a:r>
              <a:rPr lang="en-US" sz="2000" i="1" dirty="0"/>
              <a:t>k</a:t>
            </a:r>
            <a:r>
              <a:rPr lang="en-US" sz="2000" dirty="0"/>
              <a:t>) implies P(k+1) is true for </a:t>
            </a:r>
            <a:r>
              <a:rPr lang="en-US" sz="2000" i="1" dirty="0"/>
              <a:t>k</a:t>
            </a:r>
            <a:r>
              <a:rPr lang="en-US" sz="2000" dirty="0"/>
              <a:t> = 1, 2, 3, </a:t>
            </a:r>
          </a:p>
          <a:p>
            <a:pPr marL="274320" indent="-274320">
              <a:spcBef>
                <a:spcPts val="600"/>
              </a:spcBef>
            </a:pPr>
            <a:r>
              <a:rPr lang="en-US" sz="2000" dirty="0"/>
              <a:t>	</a:t>
            </a:r>
            <a:r>
              <a:rPr lang="en-US" sz="2000" u="sng" dirty="0">
                <a:solidFill>
                  <a:srgbClr val="0000FF"/>
                </a:solidFill>
              </a:rPr>
              <a:t>BASIS STEP</a:t>
            </a:r>
            <a:r>
              <a:rPr lang="en-US" sz="2000" dirty="0"/>
              <a:t>: P(1) is true, because 1 = 1(1+1)/2</a:t>
            </a:r>
          </a:p>
          <a:p>
            <a:pPr marL="274320" indent="-274320">
              <a:spcBef>
                <a:spcPts val="600"/>
              </a:spcBef>
            </a:pPr>
            <a:r>
              <a:rPr lang="en-US" sz="2000" dirty="0"/>
              <a:t>	</a:t>
            </a:r>
            <a:r>
              <a:rPr lang="en-US" sz="2000" u="sng" dirty="0">
                <a:solidFill>
                  <a:srgbClr val="0000FF"/>
                </a:solidFill>
              </a:rPr>
              <a:t>INDUCTIVE STEP</a:t>
            </a:r>
            <a:r>
              <a:rPr lang="en-US" sz="2000" dirty="0"/>
              <a:t>: For the inductive hypothesis, we assume that P(k) holds for an arbitrary positive integer k. That is we assume that </a:t>
            </a:r>
          </a:p>
          <a:p>
            <a:pPr marL="274320" indent="-274320">
              <a:spcBef>
                <a:spcPts val="600"/>
              </a:spcBef>
            </a:pPr>
            <a:r>
              <a:rPr lang="en-US" sz="2000" dirty="0"/>
              <a:t>	</a:t>
            </a:r>
            <a:r>
              <a:rPr lang="en-US" sz="2000" dirty="0">
                <a:solidFill>
                  <a:srgbClr val="0000FF"/>
                </a:solidFill>
              </a:rPr>
              <a:t>1 + 2 + …..+ </a:t>
            </a:r>
            <a:r>
              <a:rPr lang="en-US" sz="2000" i="1" dirty="0">
                <a:solidFill>
                  <a:srgbClr val="0000FF"/>
                </a:solidFill>
              </a:rPr>
              <a:t>k</a:t>
            </a:r>
            <a:r>
              <a:rPr lang="en-US" sz="2000" dirty="0">
                <a:solidFill>
                  <a:srgbClr val="0000FF"/>
                </a:solidFill>
              </a:rPr>
              <a:t> = </a:t>
            </a:r>
            <a:r>
              <a:rPr lang="en-US" sz="2000" i="1" dirty="0">
                <a:solidFill>
                  <a:srgbClr val="0000FF"/>
                </a:solidFill>
              </a:rPr>
              <a:t>k</a:t>
            </a:r>
            <a:r>
              <a:rPr lang="en-US" sz="2000" dirty="0">
                <a:solidFill>
                  <a:srgbClr val="0000FF"/>
                </a:solidFill>
              </a:rPr>
              <a:t>(</a:t>
            </a:r>
            <a:r>
              <a:rPr lang="en-US" sz="2000" i="1" dirty="0">
                <a:solidFill>
                  <a:srgbClr val="0000FF"/>
                </a:solidFill>
              </a:rPr>
              <a:t>k</a:t>
            </a:r>
            <a:r>
              <a:rPr lang="en-US" sz="2000" dirty="0">
                <a:solidFill>
                  <a:srgbClr val="0000FF"/>
                </a:solidFill>
              </a:rPr>
              <a:t>+1)/2   </a:t>
            </a:r>
            <a:r>
              <a:rPr lang="en-US" sz="2000" dirty="0"/>
              <a:t>( </a:t>
            </a:r>
            <a:r>
              <a:rPr lang="en-US" sz="2000" dirty="0">
                <a:solidFill>
                  <a:srgbClr val="0000FF"/>
                </a:solidFill>
              </a:rPr>
              <a:t>INDUCTIVE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00FF"/>
                </a:solidFill>
              </a:rPr>
              <a:t>HYPOTHESIS </a:t>
            </a:r>
            <a:r>
              <a:rPr lang="en-US" sz="2000" dirty="0"/>
              <a:t>)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dirty="0">
                <a:latin typeface="+mn-lt"/>
              </a:rPr>
              <a:t>Example 1</a:t>
            </a:r>
            <a:endParaRPr lang="en-US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2957" y="2083278"/>
            <a:ext cx="852985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Under this assumption, it must be shown that </a:t>
            </a:r>
            <a:r>
              <a:rPr lang="en-US" sz="2000" i="1" dirty="0">
                <a:solidFill>
                  <a:srgbClr val="FF0000"/>
                </a:solidFill>
              </a:rPr>
              <a:t>P(k+1</a:t>
            </a:r>
            <a:r>
              <a:rPr lang="en-US" sz="2000" dirty="0">
                <a:solidFill>
                  <a:srgbClr val="FF0000"/>
                </a:solidFill>
              </a:rPr>
              <a:t>) is true</a:t>
            </a:r>
            <a:r>
              <a:rPr lang="en-US" sz="2000" dirty="0"/>
              <a:t>, namely, that</a:t>
            </a:r>
          </a:p>
          <a:p>
            <a:pPr>
              <a:buFont typeface="Arial" charset="0"/>
              <a:buNone/>
            </a:pPr>
            <a:r>
              <a:rPr lang="en-US" sz="2000" dirty="0"/>
              <a:t>     1 + 2 + ……+ k + (k+1) = (k+1)[(k+1)+1]/2 = </a:t>
            </a:r>
            <a:r>
              <a:rPr lang="en-US" sz="2000" b="1" dirty="0">
                <a:solidFill>
                  <a:srgbClr val="00B050"/>
                </a:solidFill>
              </a:rPr>
              <a:t>(k+1)(k+2)/2  </a:t>
            </a:r>
            <a:r>
              <a:rPr lang="en-US" sz="2000" dirty="0"/>
              <a:t>is also true.</a:t>
            </a:r>
          </a:p>
          <a:p>
            <a:pPr>
              <a:buFont typeface="Arial" charset="0"/>
              <a:buNone/>
            </a:pPr>
            <a:endParaRPr lang="en-US" sz="2000" dirty="0"/>
          </a:p>
          <a:p>
            <a:pPr>
              <a:buFont typeface="Arial" charset="0"/>
              <a:buNone/>
            </a:pPr>
            <a:r>
              <a:rPr lang="en-US" sz="2000" dirty="0"/>
              <a:t>     Adding (</a:t>
            </a:r>
            <a:r>
              <a:rPr lang="en-US" sz="2000" b="1" dirty="0"/>
              <a:t>k+1)</a:t>
            </a:r>
            <a:r>
              <a:rPr lang="en-US" sz="2000" dirty="0"/>
              <a:t> to both sides of the equation in P(k), we obtain</a:t>
            </a:r>
          </a:p>
          <a:p>
            <a:pPr>
              <a:buFont typeface="Arial" charset="0"/>
              <a:buNone/>
            </a:pPr>
            <a:r>
              <a:rPr lang="en-US" sz="2000" dirty="0"/>
              <a:t>     1 + 2 + ……+ k + </a:t>
            </a:r>
            <a:r>
              <a:rPr lang="en-US" sz="2000" dirty="0">
                <a:solidFill>
                  <a:srgbClr val="FF0000"/>
                </a:solidFill>
              </a:rPr>
              <a:t>(k+1) </a:t>
            </a:r>
            <a:r>
              <a:rPr lang="en-US" sz="2000" dirty="0"/>
              <a:t>= k(k+1)/2 + </a:t>
            </a:r>
            <a:r>
              <a:rPr lang="en-US" sz="2000" dirty="0">
                <a:solidFill>
                  <a:srgbClr val="FF0000"/>
                </a:solidFill>
              </a:rPr>
              <a:t>(k+1) </a:t>
            </a:r>
          </a:p>
          <a:p>
            <a:pPr>
              <a:buFont typeface="Arial" charset="0"/>
              <a:buNone/>
            </a:pPr>
            <a:r>
              <a:rPr lang="en-US" sz="2000" dirty="0"/>
              <a:t>		            = [k(k+1) + 2(k+1)] / 2</a:t>
            </a:r>
          </a:p>
          <a:p>
            <a:pPr>
              <a:buFont typeface="Arial" charset="0"/>
              <a:buNone/>
            </a:pPr>
            <a:r>
              <a:rPr lang="en-US" sz="2000" dirty="0"/>
              <a:t>		            = </a:t>
            </a:r>
            <a:r>
              <a:rPr lang="en-US" sz="2000" b="1" dirty="0">
                <a:solidFill>
                  <a:srgbClr val="00B050"/>
                </a:solidFill>
              </a:rPr>
              <a:t>(k+1)(k+2)/2</a:t>
            </a:r>
          </a:p>
          <a:p>
            <a:r>
              <a:rPr lang="en-US" sz="2000" dirty="0"/>
              <a:t>This last equation shows that P(</a:t>
            </a:r>
            <a:r>
              <a:rPr lang="en-US" sz="2000" i="1" dirty="0"/>
              <a:t>k</a:t>
            </a:r>
            <a:r>
              <a:rPr lang="en-US" sz="2000" dirty="0"/>
              <a:t>+1) is true under the assumption that P(</a:t>
            </a:r>
            <a:r>
              <a:rPr lang="en-US" sz="2000" i="1" dirty="0"/>
              <a:t>k</a:t>
            </a:r>
            <a:r>
              <a:rPr lang="en-US" sz="2000" dirty="0"/>
              <a:t>) is true. This completes the inductive step.   </a:t>
            </a:r>
          </a:p>
          <a:p>
            <a:r>
              <a:rPr lang="en-US" sz="2000" dirty="0"/>
              <a:t>We have completed the basis step and inductive step, so by mathematical induction we know that P(n) is true for all positive integers n. That is, </a:t>
            </a:r>
            <a:r>
              <a:rPr lang="en-US" sz="2000" dirty="0">
                <a:solidFill>
                  <a:srgbClr val="FF0000"/>
                </a:solidFill>
              </a:rPr>
              <a:t>we have proven that 1 + 2 + ….+ n = n(n+1)/2 for all positive integers n.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latin typeface="+mn-lt"/>
              </a:rPr>
              <a:t>Example 3</a:t>
            </a:r>
            <a:endParaRPr lang="en-US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6605" y="2049924"/>
            <a:ext cx="8584442" cy="4632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>
                <a:solidFill>
                  <a:srgbClr val="0000FF"/>
                </a:solidFill>
                <a:highlight>
                  <a:srgbClr val="FFFF00"/>
                </a:highlight>
              </a:rPr>
              <a:t>Use mathematical induction to show that 1 + 2 + 2</a:t>
            </a:r>
            <a:r>
              <a:rPr lang="en-US" sz="2000" baseline="30000" dirty="0">
                <a:solidFill>
                  <a:srgbClr val="0000FF"/>
                </a:solidFill>
                <a:highlight>
                  <a:srgbClr val="FFFF00"/>
                </a:highlight>
              </a:rPr>
              <a:t>2</a:t>
            </a:r>
            <a:r>
              <a:rPr lang="en-US" sz="2000" dirty="0">
                <a:solidFill>
                  <a:srgbClr val="0000FF"/>
                </a:solidFill>
                <a:highlight>
                  <a:srgbClr val="FFFF00"/>
                </a:highlight>
              </a:rPr>
              <a:t> + …..+ 2</a:t>
            </a:r>
            <a:r>
              <a:rPr lang="en-US" sz="2000" baseline="30000" dirty="0">
                <a:solidFill>
                  <a:srgbClr val="0000FF"/>
                </a:solidFill>
                <a:highlight>
                  <a:srgbClr val="FFFF00"/>
                </a:highlight>
              </a:rPr>
              <a:t>n</a:t>
            </a:r>
            <a:r>
              <a:rPr lang="en-US" sz="2000" dirty="0">
                <a:solidFill>
                  <a:srgbClr val="0000FF"/>
                </a:solidFill>
                <a:highlight>
                  <a:srgbClr val="FFFF00"/>
                </a:highlight>
              </a:rPr>
              <a:t> = 2</a:t>
            </a:r>
            <a:r>
              <a:rPr lang="en-US" sz="2000" baseline="30000" dirty="0">
                <a:solidFill>
                  <a:srgbClr val="0000FF"/>
                </a:solidFill>
                <a:highlight>
                  <a:srgbClr val="FFFF00"/>
                </a:highlight>
              </a:rPr>
              <a:t>n+1</a:t>
            </a:r>
            <a:r>
              <a:rPr lang="en-US" sz="2000" dirty="0">
                <a:solidFill>
                  <a:srgbClr val="0000FF"/>
                </a:solidFill>
                <a:highlight>
                  <a:srgbClr val="FFFF00"/>
                </a:highlight>
              </a:rPr>
              <a:t> –1 for all </a:t>
            </a:r>
            <a:r>
              <a:rPr lang="en-US" sz="2000" b="1" dirty="0">
                <a:solidFill>
                  <a:srgbClr val="0000FF"/>
                </a:solidFill>
                <a:highlight>
                  <a:srgbClr val="FFFF00"/>
                </a:highlight>
              </a:rPr>
              <a:t>nonnegative</a:t>
            </a:r>
            <a:r>
              <a:rPr lang="en-US" sz="2000" dirty="0">
                <a:solidFill>
                  <a:srgbClr val="0000FF"/>
                </a:solidFill>
                <a:highlight>
                  <a:srgbClr val="FFFF00"/>
                </a:highlight>
              </a:rPr>
              <a:t> </a:t>
            </a:r>
            <a:r>
              <a:rPr lang="en-US" sz="2000" b="1" dirty="0">
                <a:solidFill>
                  <a:srgbClr val="0000FF"/>
                </a:solidFill>
                <a:highlight>
                  <a:srgbClr val="FFFF00"/>
                </a:highlight>
              </a:rPr>
              <a:t>integers</a:t>
            </a:r>
            <a:r>
              <a:rPr lang="en-US" sz="2000" dirty="0">
                <a:solidFill>
                  <a:srgbClr val="0000FF"/>
                </a:solidFill>
                <a:highlight>
                  <a:srgbClr val="FFFF00"/>
                </a:highlight>
              </a:rPr>
              <a:t> </a:t>
            </a:r>
            <a:r>
              <a:rPr lang="en-US" sz="2000" b="1" i="1" dirty="0">
                <a:solidFill>
                  <a:srgbClr val="0000FF"/>
                </a:solidFill>
                <a:highlight>
                  <a:srgbClr val="FFFF00"/>
                </a:highlight>
              </a:rPr>
              <a:t>n</a:t>
            </a:r>
            <a:r>
              <a:rPr lang="en-US" sz="2000" dirty="0">
                <a:solidFill>
                  <a:srgbClr val="0000FF"/>
                </a:solidFill>
                <a:highlight>
                  <a:srgbClr val="FFFF00"/>
                </a:highlight>
              </a:rPr>
              <a:t>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b="1" u="sng" dirty="0">
                <a:solidFill>
                  <a:srgbClr val="0000FF"/>
                </a:solidFill>
              </a:rPr>
              <a:t>Solution</a:t>
            </a:r>
            <a:r>
              <a:rPr lang="en-US" sz="2000" dirty="0"/>
              <a:t>: Let P(n) be the proposition that 1 + 2 + 2</a:t>
            </a:r>
            <a:r>
              <a:rPr lang="en-US" sz="2000" baseline="30000" dirty="0"/>
              <a:t>2</a:t>
            </a:r>
            <a:r>
              <a:rPr lang="en-US" sz="2000" dirty="0"/>
              <a:t> + …..+ 2</a:t>
            </a:r>
            <a:r>
              <a:rPr lang="en-US" sz="2000" baseline="30000" dirty="0"/>
              <a:t>n</a:t>
            </a:r>
            <a:r>
              <a:rPr lang="en-US" sz="2000" dirty="0"/>
              <a:t> = 2</a:t>
            </a:r>
            <a:r>
              <a:rPr lang="en-US" sz="2000" baseline="30000" dirty="0"/>
              <a:t>n+1</a:t>
            </a:r>
            <a:r>
              <a:rPr lang="en-US" sz="2000" dirty="0"/>
              <a:t> –1 for the integer n. </a:t>
            </a:r>
          </a:p>
          <a:p>
            <a:pPr marL="274320" indent="-274320">
              <a:spcBef>
                <a:spcPts val="600"/>
              </a:spcBef>
            </a:pPr>
            <a:r>
              <a:rPr lang="en-US" sz="2000" dirty="0"/>
              <a:t>	</a:t>
            </a:r>
            <a:r>
              <a:rPr lang="en-US" sz="2000" b="1" dirty="0">
                <a:solidFill>
                  <a:srgbClr val="0000FF"/>
                </a:solidFill>
              </a:rPr>
              <a:t>BASIS STEP</a:t>
            </a:r>
            <a:r>
              <a:rPr lang="en-US" sz="2000" dirty="0"/>
              <a:t>: P(0) is true because 2</a:t>
            </a:r>
            <a:r>
              <a:rPr lang="en-US" sz="2000" baseline="30000" dirty="0"/>
              <a:t>0</a:t>
            </a:r>
            <a:r>
              <a:rPr lang="en-US" sz="2000" dirty="0"/>
              <a:t> = 1 = 2</a:t>
            </a:r>
            <a:r>
              <a:rPr lang="en-US" sz="2000" baseline="30000" dirty="0"/>
              <a:t>1</a:t>
            </a:r>
            <a:r>
              <a:rPr lang="en-US" sz="2000" dirty="0"/>
              <a:t> –1</a:t>
            </a:r>
          </a:p>
          <a:p>
            <a:pPr marL="274320" indent="-274320">
              <a:spcBef>
                <a:spcPts val="600"/>
              </a:spcBef>
            </a:pPr>
            <a:r>
              <a:rPr lang="en-US" sz="2000" dirty="0"/>
              <a:t>	</a:t>
            </a:r>
            <a:r>
              <a:rPr lang="en-US" sz="2000" b="1" dirty="0">
                <a:solidFill>
                  <a:srgbClr val="0000FF"/>
                </a:solidFill>
              </a:rPr>
              <a:t>INDUCTIVE STEP</a:t>
            </a:r>
            <a:r>
              <a:rPr lang="en-US" sz="2000" dirty="0"/>
              <a:t>: For the inductive hypothesis, we assume that P(k) is true. </a:t>
            </a:r>
          </a:p>
          <a:p>
            <a:pPr marL="274320" indent="-274320">
              <a:spcBef>
                <a:spcPts val="600"/>
              </a:spcBef>
            </a:pPr>
            <a:r>
              <a:rPr lang="en-US" sz="2000" dirty="0"/>
              <a:t>	That is, we assume that 1 + 2 + 2</a:t>
            </a:r>
            <a:r>
              <a:rPr lang="en-US" sz="2000" baseline="30000" dirty="0"/>
              <a:t>2</a:t>
            </a:r>
            <a:r>
              <a:rPr lang="en-US" sz="2000" dirty="0"/>
              <a:t> + …..+ 2</a:t>
            </a:r>
            <a:r>
              <a:rPr lang="en-US" sz="2000" baseline="30000" dirty="0"/>
              <a:t>k</a:t>
            </a:r>
            <a:r>
              <a:rPr lang="en-US" sz="2000" dirty="0"/>
              <a:t> = 2</a:t>
            </a:r>
            <a:r>
              <a:rPr lang="en-US" sz="2000" baseline="30000" dirty="0"/>
              <a:t>k+1</a:t>
            </a:r>
            <a:r>
              <a:rPr lang="en-US" sz="2000" dirty="0"/>
              <a:t> –1 </a:t>
            </a:r>
          </a:p>
          <a:p>
            <a:pPr marL="274320" indent="-274320">
              <a:spcBef>
                <a:spcPts val="600"/>
              </a:spcBef>
            </a:pPr>
            <a:r>
              <a:rPr lang="en-US" sz="2000" dirty="0"/>
              <a:t>	To carry out the inductive step using this assumption, we must show that when we assume that </a:t>
            </a:r>
            <a:r>
              <a:rPr lang="en-US" sz="2000" i="1" dirty="0"/>
              <a:t>P(k</a:t>
            </a:r>
            <a:r>
              <a:rPr lang="en-US" sz="2000" dirty="0"/>
              <a:t>) is true, then </a:t>
            </a:r>
            <a:r>
              <a:rPr lang="en-US" sz="2000" i="1" dirty="0"/>
              <a:t>P(k+1</a:t>
            </a:r>
            <a:r>
              <a:rPr lang="en-US" sz="2000" dirty="0"/>
              <a:t>) is also true. That is </a:t>
            </a:r>
            <a:r>
              <a:rPr lang="en-US" sz="2000" dirty="0">
                <a:solidFill>
                  <a:srgbClr val="0000FF"/>
                </a:solidFill>
              </a:rPr>
              <a:t>we must show that </a:t>
            </a:r>
          </a:p>
          <a:p>
            <a:pPr marL="274320" indent="-274320">
              <a:spcBef>
                <a:spcPts val="600"/>
              </a:spcBef>
            </a:pPr>
            <a:r>
              <a:rPr lang="en-US" sz="2000" dirty="0"/>
              <a:t>	1 + 2 + 2</a:t>
            </a:r>
            <a:r>
              <a:rPr lang="en-US" sz="2000" baseline="30000" dirty="0"/>
              <a:t>2</a:t>
            </a:r>
            <a:r>
              <a:rPr lang="en-US" sz="2000" dirty="0"/>
              <a:t> + …..+ 2</a:t>
            </a:r>
            <a:r>
              <a:rPr lang="en-US" sz="2000" baseline="30000" dirty="0"/>
              <a:t>k</a:t>
            </a:r>
            <a:r>
              <a:rPr lang="en-US" sz="2000" dirty="0"/>
              <a:t> + 2</a:t>
            </a:r>
            <a:r>
              <a:rPr lang="en-US" sz="2000" baseline="30000" dirty="0"/>
              <a:t>k+1</a:t>
            </a:r>
            <a:r>
              <a:rPr lang="en-US" sz="2000" dirty="0"/>
              <a:t>= 2</a:t>
            </a:r>
            <a:r>
              <a:rPr lang="en-US" sz="2000" baseline="30000" dirty="0"/>
              <a:t>(k+1)+1</a:t>
            </a:r>
            <a:r>
              <a:rPr lang="en-US" sz="2000" dirty="0"/>
              <a:t> –1  = </a:t>
            </a:r>
            <a:r>
              <a:rPr lang="en-US" sz="2000" b="1" dirty="0">
                <a:solidFill>
                  <a:srgbClr val="FF0000"/>
                </a:solidFill>
              </a:rPr>
              <a:t>2</a:t>
            </a:r>
            <a:r>
              <a:rPr lang="en-US" sz="2000" b="1" baseline="30000" dirty="0">
                <a:solidFill>
                  <a:srgbClr val="FF0000"/>
                </a:solidFill>
              </a:rPr>
              <a:t>k+2</a:t>
            </a:r>
            <a:r>
              <a:rPr lang="en-US" sz="2000" b="1" dirty="0">
                <a:solidFill>
                  <a:srgbClr val="FF0000"/>
                </a:solidFill>
              </a:rPr>
              <a:t> –1</a:t>
            </a:r>
            <a:r>
              <a:rPr lang="en-US" sz="2000" dirty="0"/>
              <a:t> , assuming the inductive hypothesis </a:t>
            </a:r>
            <a:r>
              <a:rPr lang="en-US" sz="2000" i="1" dirty="0"/>
              <a:t>P(k</a:t>
            </a:r>
            <a:r>
              <a:rPr lang="en-US" sz="2000" dirty="0"/>
              <a:t>).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+mn-lt"/>
              </a:rPr>
              <a:t>Example 3 (Cont.)</a:t>
            </a:r>
            <a:endParaRPr lang="en-US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7420" y="2384718"/>
            <a:ext cx="8759659" cy="432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/>
              <a:t>Under the assumption of </a:t>
            </a:r>
            <a:r>
              <a:rPr lang="en-US" sz="2400" i="1" dirty="0"/>
              <a:t>P(k</a:t>
            </a:r>
            <a:r>
              <a:rPr lang="en-US" sz="2400" dirty="0"/>
              <a:t>), we see that</a:t>
            </a:r>
          </a:p>
          <a:p>
            <a:pPr marL="274320" indent="-274320">
              <a:spcBef>
                <a:spcPts val="600"/>
              </a:spcBef>
            </a:pPr>
            <a:r>
              <a:rPr lang="en-US" sz="2400" dirty="0"/>
              <a:t>	1 + 2 + 2</a:t>
            </a:r>
            <a:r>
              <a:rPr lang="en-US" sz="2400" baseline="30000" dirty="0"/>
              <a:t>2</a:t>
            </a:r>
            <a:r>
              <a:rPr lang="en-US" sz="2400" dirty="0"/>
              <a:t> + …..+ 2</a:t>
            </a:r>
            <a:r>
              <a:rPr lang="en-US" sz="2400" baseline="30000" dirty="0"/>
              <a:t>k</a:t>
            </a:r>
            <a:r>
              <a:rPr lang="en-US" sz="2400" dirty="0"/>
              <a:t> + 2</a:t>
            </a:r>
            <a:r>
              <a:rPr lang="en-US" sz="2400" baseline="30000" dirty="0"/>
              <a:t>k+1  </a:t>
            </a:r>
            <a:r>
              <a:rPr lang="en-US" sz="2400" dirty="0"/>
              <a:t>= (1 + 2 + 2</a:t>
            </a:r>
            <a:r>
              <a:rPr lang="en-US" sz="2400" baseline="30000" dirty="0"/>
              <a:t>2</a:t>
            </a:r>
            <a:r>
              <a:rPr lang="en-US" sz="2400" dirty="0"/>
              <a:t> + …..+ 2</a:t>
            </a:r>
            <a:r>
              <a:rPr lang="en-US" sz="2400" baseline="30000" dirty="0"/>
              <a:t>k</a:t>
            </a:r>
            <a:r>
              <a:rPr lang="en-US" sz="2400" dirty="0"/>
              <a:t> )+ 2</a:t>
            </a:r>
            <a:r>
              <a:rPr lang="en-US" sz="2400" baseline="30000" dirty="0"/>
              <a:t>k+1</a:t>
            </a:r>
          </a:p>
          <a:p>
            <a:pPr marL="274320" indent="-274320">
              <a:spcBef>
                <a:spcPts val="600"/>
              </a:spcBef>
            </a:pPr>
            <a:r>
              <a:rPr lang="en-US" sz="2400" baseline="30000" dirty="0"/>
              <a:t>				</a:t>
            </a:r>
            <a:r>
              <a:rPr lang="en-US" sz="2400" dirty="0"/>
              <a:t>  = (2</a:t>
            </a:r>
            <a:r>
              <a:rPr lang="en-US" sz="2400" baseline="30000" dirty="0"/>
              <a:t>k+1 </a:t>
            </a:r>
            <a:r>
              <a:rPr lang="en-US" sz="2400" dirty="0"/>
              <a:t>–1 )+ 2</a:t>
            </a:r>
            <a:r>
              <a:rPr lang="en-US" sz="2400" baseline="30000" dirty="0"/>
              <a:t>k+1  </a:t>
            </a:r>
          </a:p>
          <a:p>
            <a:pPr marL="274320" indent="-274320">
              <a:spcBef>
                <a:spcPts val="600"/>
              </a:spcBef>
            </a:pPr>
            <a:r>
              <a:rPr lang="en-US" sz="2400" baseline="30000" dirty="0"/>
              <a:t>                                                                          </a:t>
            </a:r>
            <a:r>
              <a:rPr lang="en-US" sz="2400" dirty="0"/>
              <a:t>= 2. 2</a:t>
            </a:r>
            <a:r>
              <a:rPr lang="en-US" sz="2400" baseline="30000" dirty="0"/>
              <a:t>k+1 </a:t>
            </a:r>
            <a:r>
              <a:rPr lang="en-US" sz="2400" dirty="0"/>
              <a:t>– 1</a:t>
            </a:r>
          </a:p>
          <a:p>
            <a:pPr marL="274320" indent="-274320">
              <a:spcBef>
                <a:spcPts val="600"/>
              </a:spcBef>
            </a:pPr>
            <a:r>
              <a:rPr lang="en-US" sz="2400" dirty="0"/>
              <a:t>		                                  = </a:t>
            </a:r>
            <a:r>
              <a:rPr lang="en-US" sz="2400" b="1" dirty="0">
                <a:solidFill>
                  <a:srgbClr val="FF0000"/>
                </a:solidFill>
              </a:rPr>
              <a:t>2</a:t>
            </a:r>
            <a:r>
              <a:rPr lang="en-US" sz="2400" b="1" baseline="30000" dirty="0">
                <a:solidFill>
                  <a:srgbClr val="FF0000"/>
                </a:solidFill>
              </a:rPr>
              <a:t>k+2 </a:t>
            </a:r>
            <a:r>
              <a:rPr lang="en-US" sz="2400" b="1" dirty="0">
                <a:solidFill>
                  <a:srgbClr val="FF0000"/>
                </a:solidFill>
              </a:rPr>
              <a:t>– 1 </a:t>
            </a:r>
          </a:p>
          <a:p>
            <a:pPr marL="274320" indent="-274320">
              <a:spcBef>
                <a:spcPts val="600"/>
              </a:spcBef>
            </a:pPr>
            <a:r>
              <a:rPr lang="en-US" sz="2400" dirty="0"/>
              <a:t>	Because we have completed the basis step and the inductive step, by mathematical induction we know that </a:t>
            </a:r>
            <a:r>
              <a:rPr lang="en-US" sz="2400" i="1" dirty="0"/>
              <a:t>P(n</a:t>
            </a:r>
            <a:r>
              <a:rPr lang="en-US" sz="2400" dirty="0"/>
              <a:t>) is true for all nonnegative integers </a:t>
            </a:r>
            <a:r>
              <a:rPr lang="en-US" sz="2400" i="1" dirty="0"/>
              <a:t>n</a:t>
            </a:r>
            <a:r>
              <a:rPr lang="en-US" sz="2400" dirty="0"/>
              <a:t>. </a:t>
            </a:r>
          </a:p>
          <a:p>
            <a:pPr marL="274320" indent="-274320">
              <a:spcBef>
                <a:spcPts val="600"/>
              </a:spcBef>
            </a:pPr>
            <a:r>
              <a:rPr lang="en-US" sz="2400" dirty="0"/>
              <a:t>	That is, </a:t>
            </a:r>
            <a:r>
              <a:rPr lang="en-US" sz="2400" dirty="0">
                <a:solidFill>
                  <a:srgbClr val="0000FF"/>
                </a:solidFill>
              </a:rPr>
              <a:t>1 + 2 + 2</a:t>
            </a:r>
            <a:r>
              <a:rPr lang="en-US" sz="2400" baseline="30000" dirty="0">
                <a:solidFill>
                  <a:srgbClr val="0000FF"/>
                </a:solidFill>
              </a:rPr>
              <a:t>2</a:t>
            </a:r>
            <a:r>
              <a:rPr lang="en-US" sz="2400" dirty="0">
                <a:solidFill>
                  <a:srgbClr val="0000FF"/>
                </a:solidFill>
              </a:rPr>
              <a:t> + …..+ 2</a:t>
            </a:r>
            <a:r>
              <a:rPr lang="en-US" sz="2400" baseline="30000" dirty="0">
                <a:solidFill>
                  <a:srgbClr val="0000FF"/>
                </a:solidFill>
              </a:rPr>
              <a:t>n</a:t>
            </a:r>
            <a:r>
              <a:rPr lang="en-US" sz="2400" dirty="0">
                <a:solidFill>
                  <a:srgbClr val="0000FF"/>
                </a:solidFill>
              </a:rPr>
              <a:t> = 2</a:t>
            </a:r>
            <a:r>
              <a:rPr lang="en-US" sz="2400" baseline="30000" dirty="0">
                <a:solidFill>
                  <a:srgbClr val="0000FF"/>
                </a:solidFill>
              </a:rPr>
              <a:t>n+1</a:t>
            </a:r>
            <a:r>
              <a:rPr lang="en-US" sz="2400" dirty="0">
                <a:solidFill>
                  <a:srgbClr val="0000FF"/>
                </a:solidFill>
              </a:rPr>
              <a:t> –1 for all nonnegative integers n. </a:t>
            </a:r>
          </a:p>
          <a:p>
            <a:pPr marL="274320" indent="-274320">
              <a:spcBef>
                <a:spcPts val="600"/>
              </a:spcBef>
            </a:pPr>
            <a:r>
              <a:rPr lang="en-US" sz="2400" baseline="30000" dirty="0"/>
              <a:t>				                   	 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latin typeface="+mn-lt"/>
              </a:rPr>
              <a:t>Example 5</a:t>
            </a:r>
            <a:endParaRPr lang="en-US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6621" y="2041846"/>
            <a:ext cx="8515739" cy="438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b="1" u="sng" dirty="0">
                <a:solidFill>
                  <a:srgbClr val="FF0000"/>
                </a:solidFill>
              </a:rPr>
              <a:t>Example 5</a:t>
            </a:r>
            <a:r>
              <a:rPr lang="en-US" dirty="0">
                <a:solidFill>
                  <a:srgbClr val="FF0000"/>
                </a:solidFill>
              </a:rPr>
              <a:t>: Use mathematical induction to prove the inequality </a:t>
            </a:r>
            <a:r>
              <a:rPr lang="en-US" i="1" dirty="0">
                <a:solidFill>
                  <a:srgbClr val="FF0000"/>
                </a:solidFill>
              </a:rPr>
              <a:t>n </a:t>
            </a:r>
            <a:r>
              <a:rPr lang="en-US" dirty="0">
                <a:solidFill>
                  <a:srgbClr val="FF0000"/>
                </a:solidFill>
              </a:rPr>
              <a:t>&lt; 2</a:t>
            </a:r>
            <a:r>
              <a:rPr lang="en-US" i="1" baseline="30000" dirty="0">
                <a:solidFill>
                  <a:srgbClr val="FF0000"/>
                </a:solidFill>
              </a:rPr>
              <a:t>n</a:t>
            </a:r>
            <a:r>
              <a:rPr lang="en-US" dirty="0">
                <a:solidFill>
                  <a:srgbClr val="FF0000"/>
                </a:solidFill>
              </a:rPr>
              <a:t> for all </a:t>
            </a:r>
            <a:r>
              <a:rPr lang="en-US" b="1" dirty="0">
                <a:solidFill>
                  <a:srgbClr val="FF0000"/>
                </a:solidFill>
              </a:rPr>
              <a:t>positive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integers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i="1" dirty="0">
                <a:solidFill>
                  <a:srgbClr val="FF0000"/>
                </a:solidFill>
              </a:rPr>
              <a:t>n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b="1" u="sng" dirty="0">
                <a:solidFill>
                  <a:srgbClr val="0000FF"/>
                </a:solidFill>
              </a:rPr>
              <a:t>Solution</a:t>
            </a:r>
            <a:r>
              <a:rPr lang="en-US" dirty="0"/>
              <a:t>: Let </a:t>
            </a:r>
            <a:r>
              <a:rPr lang="en-US" i="1" dirty="0"/>
              <a:t>P</a:t>
            </a:r>
            <a:r>
              <a:rPr lang="en-US" dirty="0"/>
              <a:t>(n) be the proposition that n &lt; 2</a:t>
            </a:r>
            <a:r>
              <a:rPr lang="en-US" i="1" baseline="30000" dirty="0"/>
              <a:t>n</a:t>
            </a:r>
            <a:r>
              <a:rPr lang="en-US" dirty="0"/>
              <a:t>  .</a:t>
            </a:r>
          </a:p>
          <a:p>
            <a:pPr marL="274320" indent="-274320">
              <a:spcBef>
                <a:spcPts val="600"/>
              </a:spcBef>
            </a:pPr>
            <a:r>
              <a:rPr lang="en-US" dirty="0"/>
              <a:t>	</a:t>
            </a:r>
            <a:r>
              <a:rPr lang="en-US" u="sng" dirty="0">
                <a:solidFill>
                  <a:srgbClr val="0000FF"/>
                </a:solidFill>
              </a:rPr>
              <a:t>BASIS STEP</a:t>
            </a:r>
            <a:r>
              <a:rPr lang="en-US" dirty="0"/>
              <a:t>: </a:t>
            </a:r>
            <a:r>
              <a:rPr lang="en-US" i="1" dirty="0"/>
              <a:t>P</a:t>
            </a:r>
            <a:r>
              <a:rPr lang="en-US" dirty="0"/>
              <a:t>(1) is true, because 1 &lt; 2</a:t>
            </a:r>
            <a:r>
              <a:rPr lang="en-US" baseline="30000" dirty="0"/>
              <a:t>1</a:t>
            </a:r>
            <a:r>
              <a:rPr lang="en-US" dirty="0"/>
              <a:t> = 2 </a:t>
            </a:r>
          </a:p>
          <a:p>
            <a:pPr marL="274320" indent="-274320">
              <a:spcBef>
                <a:spcPts val="600"/>
              </a:spcBef>
            </a:pPr>
            <a:r>
              <a:rPr lang="en-US" dirty="0"/>
              <a:t>	</a:t>
            </a:r>
            <a:r>
              <a:rPr lang="en-US" u="sng" dirty="0">
                <a:solidFill>
                  <a:srgbClr val="0000FF"/>
                </a:solidFill>
              </a:rPr>
              <a:t>INDUCTIVE STEP</a:t>
            </a:r>
            <a:r>
              <a:rPr lang="en-US" dirty="0"/>
              <a:t>: Assume </a:t>
            </a:r>
            <a:r>
              <a:rPr lang="en-US" i="1" dirty="0"/>
              <a:t>P</a:t>
            </a:r>
            <a:r>
              <a:rPr lang="en-US" dirty="0"/>
              <a:t>(k) is true for all positive integer k, that is, </a:t>
            </a:r>
            <a:r>
              <a:rPr lang="en-US" i="1" dirty="0">
                <a:solidFill>
                  <a:srgbClr val="0000FF"/>
                </a:solidFill>
              </a:rPr>
              <a:t>k </a:t>
            </a:r>
            <a:r>
              <a:rPr lang="en-US" dirty="0">
                <a:solidFill>
                  <a:srgbClr val="0000FF"/>
                </a:solidFill>
              </a:rPr>
              <a:t>&lt; 2</a:t>
            </a:r>
            <a:r>
              <a:rPr lang="en-US" i="1" baseline="30000" dirty="0">
                <a:solidFill>
                  <a:srgbClr val="0000FF"/>
                </a:solidFill>
              </a:rPr>
              <a:t>k</a:t>
            </a:r>
            <a:r>
              <a:rPr lang="en-US" dirty="0">
                <a:solidFill>
                  <a:srgbClr val="0000FF"/>
                </a:solidFill>
              </a:rPr>
              <a:t>  (Inductive Hypothesis</a:t>
            </a:r>
            <a:r>
              <a:rPr lang="en-US" dirty="0"/>
              <a:t>)</a:t>
            </a:r>
          </a:p>
          <a:p>
            <a:pPr marL="274320" indent="-274320">
              <a:spcBef>
                <a:spcPts val="600"/>
              </a:spcBef>
            </a:pPr>
            <a:r>
              <a:rPr lang="en-US" dirty="0"/>
              <a:t>	</a:t>
            </a:r>
            <a:r>
              <a:rPr lang="en-US" dirty="0">
                <a:solidFill>
                  <a:srgbClr val="0000FF"/>
                </a:solidFill>
              </a:rPr>
              <a:t>We need to show that  if </a:t>
            </a:r>
            <a:r>
              <a:rPr lang="en-US" i="1" dirty="0">
                <a:solidFill>
                  <a:srgbClr val="0000FF"/>
                </a:solidFill>
              </a:rPr>
              <a:t>k </a:t>
            </a:r>
            <a:r>
              <a:rPr lang="en-US" dirty="0">
                <a:solidFill>
                  <a:srgbClr val="0000FF"/>
                </a:solidFill>
              </a:rPr>
              <a:t>&lt; 2</a:t>
            </a:r>
            <a:r>
              <a:rPr lang="en-US" i="1" baseline="30000" dirty="0">
                <a:solidFill>
                  <a:srgbClr val="0000FF"/>
                </a:solidFill>
              </a:rPr>
              <a:t>k </a:t>
            </a:r>
            <a:r>
              <a:rPr lang="en-US" dirty="0">
                <a:solidFill>
                  <a:srgbClr val="0000FF"/>
                </a:solidFill>
              </a:rPr>
              <a:t>, then </a:t>
            </a:r>
            <a:r>
              <a:rPr lang="en-US" i="1" dirty="0">
                <a:solidFill>
                  <a:srgbClr val="0000FF"/>
                </a:solidFill>
              </a:rPr>
              <a:t>k</a:t>
            </a:r>
            <a:r>
              <a:rPr lang="en-US" dirty="0">
                <a:solidFill>
                  <a:srgbClr val="0000FF"/>
                </a:solidFill>
              </a:rPr>
              <a:t>+1 &lt; 2</a:t>
            </a:r>
            <a:r>
              <a:rPr lang="en-US" i="1" baseline="30000" dirty="0">
                <a:solidFill>
                  <a:srgbClr val="0000FF"/>
                </a:solidFill>
              </a:rPr>
              <a:t>k</a:t>
            </a:r>
            <a:r>
              <a:rPr lang="en-US" baseline="30000" dirty="0">
                <a:solidFill>
                  <a:srgbClr val="0000FF"/>
                </a:solidFill>
              </a:rPr>
              <a:t>+1 </a:t>
            </a:r>
            <a:r>
              <a:rPr lang="en-US" dirty="0">
                <a:solidFill>
                  <a:srgbClr val="0000FF"/>
                </a:solidFill>
              </a:rPr>
              <a:t> </a:t>
            </a:r>
            <a:endParaRPr lang="en-US" baseline="30000" dirty="0">
              <a:solidFill>
                <a:srgbClr val="0000FF"/>
              </a:solidFill>
            </a:endParaRPr>
          </a:p>
          <a:p>
            <a:pPr marL="274320" indent="-274320">
              <a:spcBef>
                <a:spcPts val="600"/>
              </a:spcBef>
            </a:pPr>
            <a:r>
              <a:rPr lang="en-US" dirty="0"/>
              <a:t>	Now, </a:t>
            </a:r>
            <a:r>
              <a:rPr lang="en-US" i="1" dirty="0"/>
              <a:t>k </a:t>
            </a:r>
            <a:r>
              <a:rPr lang="en-US" dirty="0"/>
              <a:t>+ 1 &lt;  2</a:t>
            </a:r>
            <a:r>
              <a:rPr lang="en-US" i="1" baseline="30000" dirty="0"/>
              <a:t>k</a:t>
            </a:r>
            <a:r>
              <a:rPr lang="en-US" baseline="30000" dirty="0"/>
              <a:t>  </a:t>
            </a:r>
            <a:r>
              <a:rPr lang="en-US" dirty="0"/>
              <a:t>+ 1    </a:t>
            </a:r>
            <a:r>
              <a:rPr lang="en-US" dirty="0">
                <a:solidFill>
                  <a:srgbClr val="FF0000"/>
                </a:solidFill>
              </a:rPr>
              <a:t>[adding 1 to both sides of </a:t>
            </a:r>
            <a:r>
              <a:rPr lang="en-US" i="1" dirty="0">
                <a:solidFill>
                  <a:srgbClr val="FF0000"/>
                </a:solidFill>
              </a:rPr>
              <a:t>k </a:t>
            </a:r>
            <a:r>
              <a:rPr lang="en-US" dirty="0">
                <a:solidFill>
                  <a:srgbClr val="FF0000"/>
                </a:solidFill>
              </a:rPr>
              <a:t>&lt; 2</a:t>
            </a:r>
            <a:r>
              <a:rPr lang="en-US" i="1" baseline="30000" dirty="0">
                <a:solidFill>
                  <a:srgbClr val="FF0000"/>
                </a:solidFill>
              </a:rPr>
              <a:t>k </a:t>
            </a:r>
            <a:r>
              <a:rPr lang="en-US" dirty="0">
                <a:solidFill>
                  <a:srgbClr val="FF0000"/>
                </a:solidFill>
              </a:rPr>
              <a:t>]</a:t>
            </a:r>
            <a:r>
              <a:rPr lang="en-US" dirty="0"/>
              <a:t>	        </a:t>
            </a:r>
          </a:p>
          <a:p>
            <a:pPr marL="274320" indent="-274320">
              <a:spcBef>
                <a:spcPts val="600"/>
              </a:spcBef>
            </a:pPr>
            <a:r>
              <a:rPr lang="en-US" dirty="0"/>
              <a:t>                         ≤ 2</a:t>
            </a:r>
            <a:r>
              <a:rPr lang="en-US" baseline="30000" dirty="0"/>
              <a:t>k </a:t>
            </a:r>
            <a:r>
              <a:rPr lang="en-US" dirty="0"/>
              <a:t>+ 2</a:t>
            </a:r>
            <a:r>
              <a:rPr lang="en-US" baseline="30000" dirty="0"/>
              <a:t>k  </a:t>
            </a:r>
            <a:r>
              <a:rPr lang="en-US" dirty="0"/>
              <a:t>= 2. 2</a:t>
            </a:r>
            <a:r>
              <a:rPr lang="en-US" baseline="30000" dirty="0"/>
              <a:t>k </a:t>
            </a:r>
            <a:r>
              <a:rPr lang="en-US" dirty="0"/>
              <a:t>= 2</a:t>
            </a:r>
            <a:r>
              <a:rPr lang="en-US" baseline="30000" dirty="0"/>
              <a:t>k+1       </a:t>
            </a:r>
            <a:r>
              <a:rPr lang="en-US" dirty="0"/>
              <a:t>  [ </a:t>
            </a:r>
            <a:r>
              <a:rPr lang="en-US" dirty="0">
                <a:solidFill>
                  <a:srgbClr val="FF0000"/>
                </a:solidFill>
              </a:rPr>
              <a:t>note: 1 ≤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 2</a:t>
            </a:r>
            <a:r>
              <a:rPr lang="en-US" baseline="30000" dirty="0">
                <a:solidFill>
                  <a:srgbClr val="FF0000"/>
                </a:solidFill>
              </a:rPr>
              <a:t>k </a:t>
            </a:r>
            <a:r>
              <a:rPr lang="en-US" dirty="0"/>
              <a:t>]</a:t>
            </a:r>
            <a:endParaRPr lang="en-US" baseline="30000" dirty="0"/>
          </a:p>
          <a:p>
            <a:pPr marL="274320" indent="-274320">
              <a:spcBef>
                <a:spcPts val="600"/>
              </a:spcBef>
            </a:pPr>
            <a:r>
              <a:rPr lang="en-US" dirty="0"/>
              <a:t>	This shows that P(k+1) is true, i.e., k+1 &lt; 2</a:t>
            </a:r>
            <a:r>
              <a:rPr lang="en-US" baseline="30000" dirty="0"/>
              <a:t>k+1 </a:t>
            </a:r>
          </a:p>
          <a:p>
            <a:pPr marL="274320" indent="-274320">
              <a:spcBef>
                <a:spcPts val="600"/>
              </a:spcBef>
            </a:pPr>
            <a:r>
              <a:rPr lang="en-US" dirty="0"/>
              <a:t>	Because we have completed both the basis step and the inductive step, by the principle of mathematical induction we have shown that </a:t>
            </a:r>
            <a:r>
              <a:rPr lang="en-US" i="1" dirty="0"/>
              <a:t>n</a:t>
            </a:r>
            <a:r>
              <a:rPr lang="en-US" dirty="0"/>
              <a:t> &lt; 2</a:t>
            </a:r>
            <a:r>
              <a:rPr lang="en-US" i="1" baseline="30000" dirty="0"/>
              <a:t>n</a:t>
            </a:r>
            <a:r>
              <a:rPr lang="en-US" dirty="0"/>
              <a:t>  is true for all positive integers n.</a:t>
            </a:r>
            <a:r>
              <a:rPr lang="en-US" baseline="30000" dirty="0"/>
              <a:t>    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i="1" dirty="0">
                <a:latin typeface="+mn-lt"/>
              </a:rPr>
              <a:t>(Modified</a:t>
            </a:r>
            <a:r>
              <a:rPr lang="en-US" sz="4400" dirty="0">
                <a:latin typeface="+mn-lt"/>
              </a:rPr>
              <a:t> )</a:t>
            </a:r>
            <a:r>
              <a:rPr lang="en-US" sz="4400" b="1" dirty="0">
                <a:latin typeface="+mn-lt"/>
              </a:rPr>
              <a:t>Exercise 3</a:t>
            </a:r>
            <a:endParaRPr lang="en-US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9325" y="1931269"/>
            <a:ext cx="8859139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b="1" i="1" u="sng" dirty="0">
                <a:solidFill>
                  <a:srgbClr val="FF0000"/>
                </a:solidFill>
              </a:rPr>
              <a:t>Modified</a:t>
            </a:r>
            <a:r>
              <a:rPr lang="en-US" u="sng" dirty="0">
                <a:solidFill>
                  <a:srgbClr val="FF0000"/>
                </a:solidFill>
              </a:rPr>
              <a:t> </a:t>
            </a:r>
            <a:r>
              <a:rPr lang="en-US" b="1" u="sng" dirty="0">
                <a:solidFill>
                  <a:srgbClr val="FF0000"/>
                </a:solidFill>
              </a:rPr>
              <a:t>Exercise 3:</a:t>
            </a:r>
            <a:r>
              <a:rPr lang="en-US" dirty="0">
                <a:solidFill>
                  <a:srgbClr val="FF0000"/>
                </a:solidFill>
              </a:rPr>
              <a:t> Use mathematical induction to show that </a:t>
            </a:r>
          </a:p>
          <a:p>
            <a:pPr marL="274320" indent="-274320"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	1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+ 2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+ …..+ </a:t>
            </a:r>
            <a:r>
              <a:rPr lang="en-US" i="1" dirty="0">
                <a:solidFill>
                  <a:srgbClr val="FF0000"/>
                </a:solidFill>
              </a:rPr>
              <a:t>n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 =  </a:t>
            </a:r>
            <a:r>
              <a:rPr lang="en-US" i="1" dirty="0">
                <a:solidFill>
                  <a:srgbClr val="FF0000"/>
                </a:solidFill>
              </a:rPr>
              <a:t>n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i="1" dirty="0">
                <a:solidFill>
                  <a:srgbClr val="FF0000"/>
                </a:solidFill>
              </a:rPr>
              <a:t>n</a:t>
            </a:r>
            <a:r>
              <a:rPr lang="en-US" dirty="0">
                <a:solidFill>
                  <a:srgbClr val="FF0000"/>
                </a:solidFill>
              </a:rPr>
              <a:t>+1)(2</a:t>
            </a:r>
            <a:r>
              <a:rPr lang="en-US" i="1" dirty="0">
                <a:solidFill>
                  <a:srgbClr val="FF0000"/>
                </a:solidFill>
              </a:rPr>
              <a:t>n</a:t>
            </a:r>
            <a:r>
              <a:rPr lang="en-US" dirty="0">
                <a:solidFill>
                  <a:srgbClr val="FF0000"/>
                </a:solidFill>
              </a:rPr>
              <a:t>+1) / 6  for </a:t>
            </a:r>
            <a:r>
              <a:rPr lang="en-US" b="1" dirty="0">
                <a:solidFill>
                  <a:srgbClr val="FF0000"/>
                </a:solidFill>
              </a:rPr>
              <a:t>all positive integers </a:t>
            </a:r>
            <a:r>
              <a:rPr lang="en-US" b="1" i="1" dirty="0">
                <a:solidFill>
                  <a:srgbClr val="FF0000"/>
                </a:solidFill>
              </a:rPr>
              <a:t>n</a:t>
            </a:r>
            <a:r>
              <a:rPr lang="en-US" b="1" dirty="0">
                <a:solidFill>
                  <a:srgbClr val="FF0000"/>
                </a:solidFill>
              </a:rPr>
              <a:t>. 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b="1" u="sng" dirty="0">
                <a:solidFill>
                  <a:srgbClr val="0000FF"/>
                </a:solidFill>
              </a:rPr>
              <a:t>Solution:</a:t>
            </a:r>
            <a:r>
              <a:rPr lang="en-US" dirty="0"/>
              <a:t> Let P(</a:t>
            </a:r>
            <a:r>
              <a:rPr lang="en-US" i="1" dirty="0"/>
              <a:t>n</a:t>
            </a:r>
            <a:r>
              <a:rPr lang="en-US" dirty="0"/>
              <a:t>) be the proposition 1</a:t>
            </a:r>
            <a:r>
              <a:rPr lang="en-US" baseline="30000" dirty="0"/>
              <a:t>2</a:t>
            </a:r>
            <a:r>
              <a:rPr lang="en-US" dirty="0"/>
              <a:t> + 2</a:t>
            </a:r>
            <a:r>
              <a:rPr lang="en-US" baseline="30000" dirty="0"/>
              <a:t>2</a:t>
            </a:r>
            <a:r>
              <a:rPr lang="en-US" dirty="0"/>
              <a:t> + …..+ </a:t>
            </a:r>
            <a:r>
              <a:rPr lang="en-US" i="1" dirty="0"/>
              <a:t>n</a:t>
            </a:r>
            <a:r>
              <a:rPr lang="en-US" baseline="30000" dirty="0"/>
              <a:t>2</a:t>
            </a:r>
            <a:r>
              <a:rPr lang="en-US" dirty="0"/>
              <a:t>  =  </a:t>
            </a:r>
            <a:r>
              <a:rPr lang="en-US" i="1" dirty="0"/>
              <a:t>n 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+1)(2</a:t>
            </a:r>
            <a:r>
              <a:rPr lang="en-US" i="1" dirty="0"/>
              <a:t>n</a:t>
            </a:r>
            <a:r>
              <a:rPr lang="en-US" dirty="0"/>
              <a:t>+1)/6 </a:t>
            </a:r>
          </a:p>
          <a:p>
            <a:pPr marL="274320" indent="-274320">
              <a:spcBef>
                <a:spcPts val="600"/>
              </a:spcBef>
            </a:pPr>
            <a:r>
              <a:rPr lang="en-US" u="sng" dirty="0">
                <a:solidFill>
                  <a:srgbClr val="0000FF"/>
                </a:solidFill>
              </a:rPr>
              <a:t>BASIS STEP</a:t>
            </a:r>
            <a:r>
              <a:rPr lang="en-US" dirty="0"/>
              <a:t>: P(1) is true, because 1</a:t>
            </a:r>
            <a:r>
              <a:rPr lang="en-US" baseline="30000" dirty="0"/>
              <a:t>2 </a:t>
            </a:r>
            <a:r>
              <a:rPr lang="en-US" dirty="0"/>
              <a:t>= 1.2.3/6</a:t>
            </a:r>
          </a:p>
          <a:p>
            <a:pPr marL="274320" indent="-274320">
              <a:spcBef>
                <a:spcPts val="600"/>
              </a:spcBef>
            </a:pPr>
            <a:r>
              <a:rPr lang="en-US" u="sng" dirty="0">
                <a:solidFill>
                  <a:srgbClr val="0000FF"/>
                </a:solidFill>
              </a:rPr>
              <a:t>INDUCTIVE STEP</a:t>
            </a:r>
            <a:r>
              <a:rPr lang="en-US" dirty="0"/>
              <a:t>: We assume that </a:t>
            </a:r>
            <a:r>
              <a:rPr lang="en-US" dirty="0">
                <a:solidFill>
                  <a:srgbClr val="0000FF"/>
                </a:solidFill>
              </a:rPr>
              <a:t>1</a:t>
            </a:r>
            <a:r>
              <a:rPr lang="en-US" baseline="30000" dirty="0">
                <a:solidFill>
                  <a:srgbClr val="0000FF"/>
                </a:solidFill>
              </a:rPr>
              <a:t>2</a:t>
            </a:r>
            <a:r>
              <a:rPr lang="en-US" dirty="0">
                <a:solidFill>
                  <a:srgbClr val="0000FF"/>
                </a:solidFill>
              </a:rPr>
              <a:t> + 2</a:t>
            </a:r>
            <a:r>
              <a:rPr lang="en-US" baseline="30000" dirty="0">
                <a:solidFill>
                  <a:srgbClr val="0000FF"/>
                </a:solidFill>
              </a:rPr>
              <a:t>2</a:t>
            </a:r>
            <a:r>
              <a:rPr lang="en-US" dirty="0">
                <a:solidFill>
                  <a:srgbClr val="0000FF"/>
                </a:solidFill>
              </a:rPr>
              <a:t> + …..+ k</a:t>
            </a:r>
            <a:r>
              <a:rPr lang="en-US" baseline="30000" dirty="0">
                <a:solidFill>
                  <a:srgbClr val="0000FF"/>
                </a:solidFill>
              </a:rPr>
              <a:t>2</a:t>
            </a:r>
            <a:r>
              <a:rPr lang="en-US" dirty="0">
                <a:solidFill>
                  <a:srgbClr val="0000FF"/>
                </a:solidFill>
              </a:rPr>
              <a:t> = k(k+1)(2k+1)/6    (Inductive Hypothesis</a:t>
            </a:r>
            <a:r>
              <a:rPr lang="en-US" dirty="0"/>
              <a:t>)</a:t>
            </a:r>
          </a:p>
          <a:p>
            <a:pPr marL="274320" indent="-274320">
              <a:spcBef>
                <a:spcPts val="600"/>
              </a:spcBef>
            </a:pPr>
            <a:r>
              <a:rPr lang="en-US" dirty="0"/>
              <a:t>We want to show that 1</a:t>
            </a:r>
            <a:r>
              <a:rPr lang="en-US" baseline="30000" dirty="0"/>
              <a:t>2</a:t>
            </a:r>
            <a:r>
              <a:rPr lang="en-US" dirty="0"/>
              <a:t> + 2</a:t>
            </a:r>
            <a:r>
              <a:rPr lang="en-US" baseline="30000" dirty="0"/>
              <a:t>2</a:t>
            </a:r>
            <a:r>
              <a:rPr lang="en-US" dirty="0"/>
              <a:t> + …..+ k</a:t>
            </a:r>
            <a:r>
              <a:rPr lang="en-US" baseline="30000" dirty="0"/>
              <a:t>2 </a:t>
            </a:r>
            <a:r>
              <a:rPr lang="en-US" dirty="0"/>
              <a:t> + (k + 1)</a:t>
            </a:r>
            <a:r>
              <a:rPr lang="en-US" baseline="30000" dirty="0"/>
              <a:t>2</a:t>
            </a:r>
            <a:r>
              <a:rPr lang="en-US" dirty="0"/>
              <a:t>= </a:t>
            </a:r>
            <a:r>
              <a:rPr lang="en-US" b="1" dirty="0">
                <a:solidFill>
                  <a:srgbClr val="FF0000"/>
                </a:solidFill>
              </a:rPr>
              <a:t>(k+1)(k+2)(2k+3)/6 </a:t>
            </a:r>
          </a:p>
          <a:p>
            <a:pPr marL="274320" indent="-274320">
              <a:spcBef>
                <a:spcPts val="600"/>
              </a:spcBef>
            </a:pPr>
            <a:r>
              <a:rPr lang="en-US" sz="1600" dirty="0"/>
              <a:t>Now, 1</a:t>
            </a:r>
            <a:r>
              <a:rPr lang="en-US" sz="1600" baseline="30000" dirty="0"/>
              <a:t>2</a:t>
            </a:r>
            <a:r>
              <a:rPr lang="en-US" sz="1600" dirty="0"/>
              <a:t> + 2</a:t>
            </a:r>
            <a:r>
              <a:rPr lang="en-US" sz="1600" baseline="30000" dirty="0"/>
              <a:t>2</a:t>
            </a:r>
            <a:r>
              <a:rPr lang="en-US" sz="1600" dirty="0"/>
              <a:t> + …..+ k</a:t>
            </a:r>
            <a:r>
              <a:rPr lang="en-US" sz="1600" baseline="30000" dirty="0"/>
              <a:t>2</a:t>
            </a:r>
            <a:r>
              <a:rPr lang="en-US" sz="1600" dirty="0"/>
              <a:t> + </a:t>
            </a:r>
            <a:r>
              <a:rPr lang="en-US" sz="1600" dirty="0">
                <a:solidFill>
                  <a:srgbClr val="0000FF"/>
                </a:solidFill>
              </a:rPr>
              <a:t>(k + 1)</a:t>
            </a:r>
            <a:r>
              <a:rPr lang="en-US" sz="1600" baseline="30000" dirty="0">
                <a:solidFill>
                  <a:srgbClr val="0000FF"/>
                </a:solidFill>
              </a:rPr>
              <a:t>2</a:t>
            </a:r>
            <a:r>
              <a:rPr lang="en-US" sz="1600" baseline="30000" dirty="0"/>
              <a:t> </a:t>
            </a:r>
            <a:r>
              <a:rPr lang="en-US" sz="1600" dirty="0"/>
              <a:t>= k(k+1)(2k+1)/6 + </a:t>
            </a:r>
            <a:r>
              <a:rPr lang="en-US" sz="1600" dirty="0">
                <a:solidFill>
                  <a:srgbClr val="0000FF"/>
                </a:solidFill>
              </a:rPr>
              <a:t>(k + 1)</a:t>
            </a:r>
            <a:r>
              <a:rPr lang="en-US" sz="1600" baseline="30000" dirty="0">
                <a:solidFill>
                  <a:srgbClr val="0000FF"/>
                </a:solidFill>
              </a:rPr>
              <a:t>2 </a:t>
            </a:r>
          </a:p>
          <a:p>
            <a:pPr marL="274320" indent="-274320">
              <a:spcBef>
                <a:spcPts val="600"/>
              </a:spcBef>
            </a:pPr>
            <a:r>
              <a:rPr lang="en-US" sz="1600" baseline="30000" dirty="0">
                <a:solidFill>
                  <a:srgbClr val="0000FF"/>
                </a:solidFill>
              </a:rPr>
              <a:t>			</a:t>
            </a:r>
            <a:r>
              <a:rPr lang="en-US" sz="1600" dirty="0">
                <a:solidFill>
                  <a:srgbClr val="0000FF"/>
                </a:solidFill>
              </a:rPr>
              <a:t>                </a:t>
            </a:r>
            <a:r>
              <a:rPr lang="en-US" sz="1600" dirty="0"/>
              <a:t>= (k+1)/6 [k(2K+1) + 6(K+1)]</a:t>
            </a:r>
          </a:p>
          <a:p>
            <a:pPr marL="274320" indent="-274320">
              <a:spcBef>
                <a:spcPts val="600"/>
              </a:spcBef>
            </a:pPr>
            <a:r>
              <a:rPr lang="en-US" sz="1600" dirty="0"/>
              <a:t>			               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/>
              <a:t>= (k+1)/6 [2k</a:t>
            </a:r>
            <a:r>
              <a:rPr lang="en-US" sz="1600" baseline="30000" dirty="0"/>
              <a:t>2 </a:t>
            </a:r>
            <a:r>
              <a:rPr lang="en-US" sz="1600" dirty="0"/>
              <a:t>+7k + 6]   </a:t>
            </a:r>
          </a:p>
          <a:p>
            <a:pPr marL="274320" indent="-274320">
              <a:spcBef>
                <a:spcPts val="600"/>
              </a:spcBef>
            </a:pPr>
            <a:r>
              <a:rPr lang="en-US" sz="1600" dirty="0"/>
              <a:t>			                = (k+1)/6 [2k</a:t>
            </a:r>
            <a:r>
              <a:rPr lang="en-US" sz="1600" baseline="30000" dirty="0"/>
              <a:t>2 </a:t>
            </a:r>
            <a:r>
              <a:rPr lang="en-US" sz="1600" dirty="0"/>
              <a:t>+ 4k + 3k+ 6]  </a:t>
            </a:r>
          </a:p>
          <a:p>
            <a:pPr marL="274320" indent="-274320">
              <a:spcBef>
                <a:spcPts val="600"/>
              </a:spcBef>
            </a:pPr>
            <a:r>
              <a:rPr lang="en-US" sz="1600" dirty="0"/>
              <a:t> 			               = (k+1)/6 [2k</a:t>
            </a:r>
            <a:r>
              <a:rPr lang="en-US" sz="1600" baseline="30000" dirty="0"/>
              <a:t>2 </a:t>
            </a:r>
            <a:r>
              <a:rPr lang="en-US" sz="1600" dirty="0"/>
              <a:t>+ 4k + 3k+ 6]  </a:t>
            </a:r>
          </a:p>
          <a:p>
            <a:pPr marL="274320" indent="-274320">
              <a:spcBef>
                <a:spcPts val="600"/>
              </a:spcBef>
            </a:pPr>
            <a:r>
              <a:rPr lang="en-US" sz="1600" dirty="0"/>
              <a:t>			              = </a:t>
            </a:r>
            <a:r>
              <a:rPr lang="en-US" sz="1600" b="1" dirty="0">
                <a:solidFill>
                  <a:srgbClr val="FF0000"/>
                </a:solidFill>
              </a:rPr>
              <a:t>(k+1)(k+2)(2k+3)/6  </a:t>
            </a:r>
            <a:r>
              <a:rPr lang="en-US" sz="1600" dirty="0"/>
              <a:t>So, inductive step is true.</a:t>
            </a:r>
          </a:p>
          <a:p>
            <a:pPr marL="274320" indent="-274320">
              <a:spcBef>
                <a:spcPts val="600"/>
              </a:spcBef>
            </a:pPr>
            <a:r>
              <a:rPr lang="en-US" dirty="0"/>
              <a:t>Therefore, </a:t>
            </a:r>
            <a:r>
              <a:rPr lang="en-US" dirty="0">
                <a:solidFill>
                  <a:srgbClr val="0000FF"/>
                </a:solidFill>
              </a:rPr>
              <a:t>1</a:t>
            </a:r>
            <a:r>
              <a:rPr lang="en-US" baseline="30000" dirty="0">
                <a:solidFill>
                  <a:srgbClr val="0000FF"/>
                </a:solidFill>
              </a:rPr>
              <a:t>2</a:t>
            </a:r>
            <a:r>
              <a:rPr lang="en-US" dirty="0">
                <a:solidFill>
                  <a:srgbClr val="0000FF"/>
                </a:solidFill>
              </a:rPr>
              <a:t> + 2</a:t>
            </a:r>
            <a:r>
              <a:rPr lang="en-US" baseline="30000" dirty="0">
                <a:solidFill>
                  <a:srgbClr val="0000FF"/>
                </a:solidFill>
              </a:rPr>
              <a:t>2</a:t>
            </a:r>
            <a:r>
              <a:rPr lang="en-US" dirty="0">
                <a:solidFill>
                  <a:srgbClr val="0000FF"/>
                </a:solidFill>
              </a:rPr>
              <a:t> + …..+ </a:t>
            </a:r>
            <a:r>
              <a:rPr lang="en-US" i="1" dirty="0">
                <a:solidFill>
                  <a:srgbClr val="0000FF"/>
                </a:solidFill>
              </a:rPr>
              <a:t>n</a:t>
            </a:r>
            <a:r>
              <a:rPr lang="en-US" baseline="30000" dirty="0">
                <a:solidFill>
                  <a:srgbClr val="0000FF"/>
                </a:solidFill>
              </a:rPr>
              <a:t>2</a:t>
            </a:r>
            <a:r>
              <a:rPr lang="en-US" dirty="0">
                <a:solidFill>
                  <a:srgbClr val="0000FF"/>
                </a:solidFill>
              </a:rPr>
              <a:t>  =  </a:t>
            </a:r>
            <a:r>
              <a:rPr lang="en-US" i="1" dirty="0">
                <a:solidFill>
                  <a:srgbClr val="0000FF"/>
                </a:solidFill>
              </a:rPr>
              <a:t>n 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n</a:t>
            </a:r>
            <a:r>
              <a:rPr lang="en-US" dirty="0">
                <a:solidFill>
                  <a:srgbClr val="0000FF"/>
                </a:solidFill>
              </a:rPr>
              <a:t>+1)(2</a:t>
            </a:r>
            <a:r>
              <a:rPr lang="en-US" i="1" dirty="0">
                <a:solidFill>
                  <a:srgbClr val="0000FF"/>
                </a:solidFill>
              </a:rPr>
              <a:t>n</a:t>
            </a:r>
            <a:r>
              <a:rPr lang="en-US" dirty="0">
                <a:solidFill>
                  <a:srgbClr val="0000FF"/>
                </a:solidFill>
              </a:rPr>
              <a:t>+1)/6  for all positive integers </a:t>
            </a:r>
            <a:r>
              <a:rPr lang="en-US" i="1" dirty="0">
                <a:solidFill>
                  <a:srgbClr val="0000FF"/>
                </a:solidFill>
              </a:rPr>
              <a:t>n</a:t>
            </a:r>
            <a:r>
              <a:rPr lang="en-US" dirty="0">
                <a:solidFill>
                  <a:srgbClr val="0000FF"/>
                </a:solidFill>
              </a:rPr>
              <a:t>. </a:t>
            </a:r>
            <a:r>
              <a:rPr lang="en-US" dirty="0"/>
              <a:t>  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4002200" y="3998793"/>
            <a:ext cx="1219200" cy="1662759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>
                <a:latin typeface="+mn-lt"/>
              </a:rPr>
              <a:t>Exercise 5</a:t>
            </a:r>
            <a:endParaRPr lang="en-US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4716" y="2113289"/>
            <a:ext cx="8732364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/>
            <a:r>
              <a:rPr lang="en-US" b="1" u="sng" dirty="0">
                <a:solidFill>
                  <a:srgbClr val="FF0000"/>
                </a:solidFill>
              </a:rPr>
              <a:t>Exercise</a:t>
            </a:r>
            <a:r>
              <a:rPr lang="en-US" u="sng" dirty="0">
                <a:solidFill>
                  <a:srgbClr val="FF0000"/>
                </a:solidFill>
              </a:rPr>
              <a:t> </a:t>
            </a:r>
            <a:r>
              <a:rPr lang="en-US" b="1" u="sng" dirty="0">
                <a:solidFill>
                  <a:srgbClr val="FF0000"/>
                </a:solidFill>
              </a:rPr>
              <a:t>5</a:t>
            </a:r>
            <a:r>
              <a:rPr lang="en-US" dirty="0">
                <a:solidFill>
                  <a:srgbClr val="FF0000"/>
                </a:solidFill>
              </a:rPr>
              <a:t>: Prove that 1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+ 3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+ 5</a:t>
            </a:r>
            <a:r>
              <a:rPr lang="en-US" baseline="30000" dirty="0">
                <a:solidFill>
                  <a:srgbClr val="FF0000"/>
                </a:solidFill>
              </a:rPr>
              <a:t>2 </a:t>
            </a:r>
            <a:r>
              <a:rPr lang="en-US" dirty="0">
                <a:solidFill>
                  <a:srgbClr val="FF0000"/>
                </a:solidFill>
              </a:rPr>
              <a:t>+ …..+ (2n+1)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= (n+1)(2n+1)(2n+3)/3</a:t>
            </a:r>
          </a:p>
          <a:p>
            <a:pPr marL="273050" indent="-273050">
              <a:buFont typeface="Arial" charset="0"/>
              <a:buNone/>
            </a:pPr>
            <a:r>
              <a:rPr lang="en-US" dirty="0">
                <a:solidFill>
                  <a:srgbClr val="FF0000"/>
                </a:solidFill>
              </a:rPr>
              <a:t>	whenever </a:t>
            </a:r>
            <a:r>
              <a:rPr lang="en-US" i="1" dirty="0">
                <a:solidFill>
                  <a:srgbClr val="FF0000"/>
                </a:solidFill>
              </a:rPr>
              <a:t>n</a:t>
            </a:r>
            <a:r>
              <a:rPr lang="en-US" dirty="0">
                <a:solidFill>
                  <a:srgbClr val="FF0000"/>
                </a:solidFill>
              </a:rPr>
              <a:t> is a </a:t>
            </a:r>
            <a:r>
              <a:rPr lang="en-US" b="1" dirty="0">
                <a:solidFill>
                  <a:srgbClr val="FF0000"/>
                </a:solidFill>
              </a:rPr>
              <a:t>nonnegative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integer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marL="273050" indent="-273050"/>
            <a:r>
              <a:rPr lang="en-US" b="1" u="sng" dirty="0">
                <a:solidFill>
                  <a:srgbClr val="0000FF"/>
                </a:solidFill>
              </a:rPr>
              <a:t>Solution</a:t>
            </a:r>
            <a:r>
              <a:rPr lang="en-US" dirty="0"/>
              <a:t>: Let P(n) be the proposition 1</a:t>
            </a:r>
            <a:r>
              <a:rPr lang="en-US" baseline="30000" dirty="0"/>
              <a:t>2</a:t>
            </a:r>
            <a:r>
              <a:rPr lang="en-US" dirty="0"/>
              <a:t> + 3</a:t>
            </a:r>
            <a:r>
              <a:rPr lang="en-US" baseline="30000" dirty="0"/>
              <a:t>2</a:t>
            </a:r>
            <a:r>
              <a:rPr lang="en-US" dirty="0"/>
              <a:t> + 5</a:t>
            </a:r>
            <a:r>
              <a:rPr lang="en-US" baseline="30000" dirty="0"/>
              <a:t>2 </a:t>
            </a:r>
            <a:r>
              <a:rPr lang="en-US" dirty="0"/>
              <a:t>+…..+ (2n+1)</a:t>
            </a:r>
            <a:r>
              <a:rPr lang="en-US" baseline="30000" dirty="0"/>
              <a:t>2</a:t>
            </a:r>
            <a:r>
              <a:rPr lang="en-US" dirty="0"/>
              <a:t> = (n+1)(2n+1)(2n+3)/3 </a:t>
            </a:r>
          </a:p>
          <a:p>
            <a:pPr marL="273050" indent="-273050">
              <a:buFont typeface="Arial" charset="0"/>
              <a:buNone/>
            </a:pPr>
            <a:r>
              <a:rPr lang="en-US" u="sng" dirty="0">
                <a:solidFill>
                  <a:srgbClr val="0000FF"/>
                </a:solidFill>
              </a:rPr>
              <a:t>BASIS STEP</a:t>
            </a:r>
            <a:r>
              <a:rPr lang="en-US" dirty="0"/>
              <a:t>: P(0) is true, because 1</a:t>
            </a:r>
            <a:r>
              <a:rPr lang="en-US" baseline="30000" dirty="0"/>
              <a:t>2 </a:t>
            </a:r>
            <a:r>
              <a:rPr lang="en-US" dirty="0"/>
              <a:t>= 1.1.3/3</a:t>
            </a:r>
          </a:p>
          <a:p>
            <a:pPr marL="273050" indent="-273050">
              <a:buFont typeface="Arial" charset="0"/>
              <a:buNone/>
            </a:pPr>
            <a:r>
              <a:rPr lang="en-US" u="sng" dirty="0">
                <a:solidFill>
                  <a:srgbClr val="0000FF"/>
                </a:solidFill>
              </a:rPr>
              <a:t>INDUCTIVE STEP</a:t>
            </a:r>
            <a:r>
              <a:rPr lang="en-US" dirty="0"/>
              <a:t>: We assume that </a:t>
            </a:r>
            <a:r>
              <a:rPr lang="en-US" dirty="0">
                <a:solidFill>
                  <a:srgbClr val="0000FF"/>
                </a:solidFill>
              </a:rPr>
              <a:t>1</a:t>
            </a:r>
            <a:r>
              <a:rPr lang="en-US" baseline="30000" dirty="0">
                <a:solidFill>
                  <a:srgbClr val="0000FF"/>
                </a:solidFill>
              </a:rPr>
              <a:t>2</a:t>
            </a:r>
            <a:r>
              <a:rPr lang="en-US" dirty="0">
                <a:solidFill>
                  <a:srgbClr val="0000FF"/>
                </a:solidFill>
              </a:rPr>
              <a:t> + 3</a:t>
            </a:r>
            <a:r>
              <a:rPr lang="en-US" baseline="30000" dirty="0">
                <a:solidFill>
                  <a:srgbClr val="0000FF"/>
                </a:solidFill>
              </a:rPr>
              <a:t>2</a:t>
            </a:r>
            <a:r>
              <a:rPr lang="en-US" dirty="0">
                <a:solidFill>
                  <a:srgbClr val="0000FF"/>
                </a:solidFill>
              </a:rPr>
              <a:t> + 5</a:t>
            </a:r>
            <a:r>
              <a:rPr lang="en-US" baseline="30000" dirty="0">
                <a:solidFill>
                  <a:srgbClr val="0000FF"/>
                </a:solidFill>
              </a:rPr>
              <a:t>2 </a:t>
            </a:r>
            <a:r>
              <a:rPr lang="en-US" dirty="0">
                <a:solidFill>
                  <a:srgbClr val="0000FF"/>
                </a:solidFill>
              </a:rPr>
              <a:t>+ …..+ (2k+1)</a:t>
            </a:r>
            <a:r>
              <a:rPr lang="en-US" baseline="30000" dirty="0">
                <a:solidFill>
                  <a:srgbClr val="0000FF"/>
                </a:solidFill>
              </a:rPr>
              <a:t>2</a:t>
            </a:r>
            <a:r>
              <a:rPr lang="en-US" dirty="0">
                <a:solidFill>
                  <a:srgbClr val="0000FF"/>
                </a:solidFill>
              </a:rPr>
              <a:t> = (k+1)(2k+1)(2k+3)/3 							(Inductive Hypothesis</a:t>
            </a:r>
            <a:r>
              <a:rPr lang="en-US" dirty="0"/>
              <a:t>)</a:t>
            </a:r>
          </a:p>
          <a:p>
            <a:pPr marL="273050" indent="-273050">
              <a:buFont typeface="Arial" charset="0"/>
              <a:buNone/>
            </a:pPr>
            <a:r>
              <a:rPr lang="en-US" dirty="0"/>
              <a:t>We want to show that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+ 3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+ 5</a:t>
            </a:r>
            <a:r>
              <a:rPr lang="en-US" baseline="30000" dirty="0">
                <a:solidFill>
                  <a:srgbClr val="FF0000"/>
                </a:solidFill>
              </a:rPr>
              <a:t>2 </a:t>
            </a:r>
            <a:r>
              <a:rPr lang="en-US" dirty="0">
                <a:solidFill>
                  <a:srgbClr val="FF0000"/>
                </a:solidFill>
              </a:rPr>
              <a:t>+ …..+ (2k+1)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+ (2k+3)</a:t>
            </a:r>
            <a:r>
              <a:rPr lang="en-US" baseline="30000" dirty="0">
                <a:solidFill>
                  <a:srgbClr val="FF0000"/>
                </a:solidFill>
              </a:rPr>
              <a:t>2 </a:t>
            </a:r>
            <a:r>
              <a:rPr lang="en-US" dirty="0">
                <a:solidFill>
                  <a:srgbClr val="FF0000"/>
                </a:solidFill>
              </a:rPr>
              <a:t> = </a:t>
            </a:r>
            <a:r>
              <a:rPr lang="en-US" b="1" dirty="0">
                <a:solidFill>
                  <a:srgbClr val="00B050"/>
                </a:solidFill>
              </a:rPr>
              <a:t>(k+2)(2k+3)(2k+5)/3 </a:t>
            </a:r>
          </a:p>
          <a:p>
            <a:pPr marL="273050" indent="-273050">
              <a:buFont typeface="Arial" charset="0"/>
              <a:buNone/>
            </a:pPr>
            <a:r>
              <a:rPr lang="en-US" dirty="0"/>
              <a:t>Now, </a:t>
            </a:r>
            <a:r>
              <a:rPr lang="en-US" dirty="0">
                <a:solidFill>
                  <a:srgbClr val="0000FF"/>
                </a:solidFill>
              </a:rPr>
              <a:t>(1</a:t>
            </a:r>
            <a:r>
              <a:rPr lang="en-US" baseline="30000" dirty="0">
                <a:solidFill>
                  <a:srgbClr val="0000FF"/>
                </a:solidFill>
              </a:rPr>
              <a:t>2</a:t>
            </a:r>
            <a:r>
              <a:rPr lang="en-US" dirty="0">
                <a:solidFill>
                  <a:srgbClr val="0000FF"/>
                </a:solidFill>
              </a:rPr>
              <a:t> + 3</a:t>
            </a:r>
            <a:r>
              <a:rPr lang="en-US" baseline="30000" dirty="0">
                <a:solidFill>
                  <a:srgbClr val="0000FF"/>
                </a:solidFill>
              </a:rPr>
              <a:t>2</a:t>
            </a:r>
            <a:r>
              <a:rPr lang="en-US" dirty="0">
                <a:solidFill>
                  <a:srgbClr val="0000FF"/>
                </a:solidFill>
              </a:rPr>
              <a:t> + 5</a:t>
            </a:r>
            <a:r>
              <a:rPr lang="en-US" baseline="30000" dirty="0">
                <a:solidFill>
                  <a:srgbClr val="0000FF"/>
                </a:solidFill>
              </a:rPr>
              <a:t>2 </a:t>
            </a:r>
            <a:r>
              <a:rPr lang="en-US" dirty="0">
                <a:solidFill>
                  <a:srgbClr val="0000FF"/>
                </a:solidFill>
              </a:rPr>
              <a:t>+ …..+ (2k+1)</a:t>
            </a:r>
            <a:r>
              <a:rPr lang="en-US" baseline="30000" dirty="0">
                <a:solidFill>
                  <a:srgbClr val="0000FF"/>
                </a:solidFill>
              </a:rPr>
              <a:t>2</a:t>
            </a:r>
            <a:r>
              <a:rPr lang="en-US" dirty="0">
                <a:solidFill>
                  <a:srgbClr val="0000FF"/>
                </a:solidFill>
              </a:rPr>
              <a:t> ) + </a:t>
            </a:r>
            <a:r>
              <a:rPr lang="en-US" dirty="0">
                <a:solidFill>
                  <a:srgbClr val="FF0000"/>
                </a:solidFill>
              </a:rPr>
              <a:t>(2k+3)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= </a:t>
            </a:r>
            <a:r>
              <a:rPr lang="en-US" dirty="0">
                <a:solidFill>
                  <a:srgbClr val="0000FF"/>
                </a:solidFill>
              </a:rPr>
              <a:t>(k+1)(2k+1)(2k+3)/3  + </a:t>
            </a:r>
            <a:r>
              <a:rPr lang="en-US" dirty="0">
                <a:solidFill>
                  <a:srgbClr val="FF0000"/>
                </a:solidFill>
              </a:rPr>
              <a:t>(2k+3)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  </a:t>
            </a:r>
          </a:p>
          <a:p>
            <a:pPr marL="273050" indent="-273050">
              <a:buFont typeface="Arial" charset="0"/>
              <a:buNone/>
            </a:pPr>
            <a:r>
              <a:rPr lang="en-US" dirty="0"/>
              <a:t>	 = (2k+3)/3 [ (k+1)(2k+1) + 3(2k+3) ]</a:t>
            </a:r>
          </a:p>
          <a:p>
            <a:pPr marL="273050" indent="-273050">
              <a:buFont typeface="Arial" charset="0"/>
              <a:buNone/>
            </a:pPr>
            <a:r>
              <a:rPr lang="en-US" dirty="0"/>
              <a:t>	 = (2k+3)/3 [ (2k</a:t>
            </a:r>
            <a:r>
              <a:rPr lang="en-US" baseline="30000" dirty="0"/>
              <a:t>2</a:t>
            </a:r>
            <a:r>
              <a:rPr lang="en-US" dirty="0"/>
              <a:t> + 3k + 1) + (6k + 9)]</a:t>
            </a:r>
          </a:p>
          <a:p>
            <a:pPr marL="273050" indent="-273050">
              <a:buFont typeface="Arial" charset="0"/>
              <a:buNone/>
            </a:pPr>
            <a:r>
              <a:rPr lang="en-US" dirty="0"/>
              <a:t>	 = (2k+3)/3 [ 2k</a:t>
            </a:r>
            <a:r>
              <a:rPr lang="en-US" baseline="30000" dirty="0"/>
              <a:t>2 </a:t>
            </a:r>
            <a:r>
              <a:rPr lang="en-US" dirty="0"/>
              <a:t>+ 9k + 10 ]</a:t>
            </a:r>
          </a:p>
          <a:p>
            <a:pPr marL="273050" indent="-273050">
              <a:buFont typeface="Arial" charset="0"/>
              <a:buNone/>
            </a:pPr>
            <a:r>
              <a:rPr lang="en-US" dirty="0"/>
              <a:t>	 = (2k+3)/3 [2k</a:t>
            </a:r>
            <a:r>
              <a:rPr lang="en-US" baseline="30000" dirty="0"/>
              <a:t>2</a:t>
            </a:r>
            <a:r>
              <a:rPr lang="en-US" dirty="0"/>
              <a:t> + 4k + 5k + 10 ] = (2k+3)/3 [2k(k+2) + 5(k+2)]</a:t>
            </a:r>
          </a:p>
          <a:p>
            <a:pPr marL="273050" indent="-273050">
              <a:buFont typeface="Arial" charset="0"/>
              <a:buNone/>
            </a:pPr>
            <a:r>
              <a:rPr lang="en-US" dirty="0"/>
              <a:t>	 = </a:t>
            </a:r>
            <a:r>
              <a:rPr lang="en-US" b="1" dirty="0">
                <a:solidFill>
                  <a:srgbClr val="00B050"/>
                </a:solidFill>
              </a:rPr>
              <a:t>(k+2)(2k+3)(2k+5)/3</a:t>
            </a:r>
            <a:r>
              <a:rPr lang="en-US" baseline="30000" dirty="0">
                <a:solidFill>
                  <a:srgbClr val="0000FF"/>
                </a:solidFill>
              </a:rPr>
              <a:t>	</a:t>
            </a:r>
            <a:endParaRPr lang="en-US" baseline="30000" dirty="0"/>
          </a:p>
          <a:p>
            <a:r>
              <a:rPr lang="en-US" sz="1600" dirty="0"/>
              <a:t>      Therefore inductive step is true</a:t>
            </a:r>
          </a:p>
          <a:p>
            <a:pPr marL="273050" indent="-273050"/>
            <a:r>
              <a:rPr lang="en-US" sz="1600" dirty="0"/>
              <a:t>So, 1</a:t>
            </a:r>
            <a:r>
              <a:rPr lang="en-US" sz="1600" baseline="30000" dirty="0"/>
              <a:t>2</a:t>
            </a:r>
            <a:r>
              <a:rPr lang="en-US" sz="1600" dirty="0"/>
              <a:t> + 3</a:t>
            </a:r>
            <a:r>
              <a:rPr lang="en-US" sz="1600" baseline="30000" dirty="0"/>
              <a:t>2</a:t>
            </a:r>
            <a:r>
              <a:rPr lang="en-US" sz="1600" dirty="0"/>
              <a:t> + 5</a:t>
            </a:r>
            <a:r>
              <a:rPr lang="en-US" sz="1600" baseline="30000" dirty="0"/>
              <a:t>2 </a:t>
            </a:r>
            <a:r>
              <a:rPr lang="en-US" sz="1600" dirty="0"/>
              <a:t>+ …..+ (2n+1)</a:t>
            </a:r>
            <a:r>
              <a:rPr lang="en-US" sz="1600" baseline="30000" dirty="0"/>
              <a:t>2</a:t>
            </a:r>
            <a:r>
              <a:rPr lang="en-US" sz="1600" dirty="0"/>
              <a:t> = (n+1)(2n+1)(2n+3)/3, whenever </a:t>
            </a:r>
            <a:r>
              <a:rPr lang="en-US" sz="1600" i="1" dirty="0"/>
              <a:t>n</a:t>
            </a:r>
            <a:r>
              <a:rPr lang="en-US" sz="1600" dirty="0"/>
              <a:t> is a nonnegative integer  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2838734" y="4039738"/>
            <a:ext cx="3029803" cy="1433016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Practice @ Home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93789" y="2828836"/>
            <a:ext cx="88864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Relevant odd-numbered Exercises </a:t>
            </a:r>
            <a:r>
              <a:rPr lang="en-US" sz="2800" dirty="0">
                <a:solidFill>
                  <a:srgbClr val="FF0000"/>
                </a:solidFill>
              </a:rPr>
              <a:t>from your text book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61732" y="1802837"/>
            <a:ext cx="80648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400" i="1" dirty="0"/>
              <a:t>Discrete Mathematics and its applications with </a:t>
            </a:r>
            <a:r>
              <a:rPr lang="en-US" sz="2400" i="1" dirty="0" err="1"/>
              <a:t>combinatorics</a:t>
            </a:r>
            <a:r>
              <a:rPr lang="en-US" sz="2400" i="1" dirty="0"/>
              <a:t> and graph theory (7</a:t>
            </a:r>
            <a:r>
              <a:rPr lang="en-US" sz="2400" i="1" baseline="30000" dirty="0"/>
              <a:t>th</a:t>
            </a:r>
            <a:r>
              <a:rPr lang="en-US" sz="2400" i="1" dirty="0"/>
              <a:t> edition) </a:t>
            </a:r>
            <a:r>
              <a:rPr lang="en-US" sz="2400" dirty="0"/>
              <a:t>by Kenneth H. Rosen [Indian Adaptation by KAMALA KRITHIVASAN], published by McGraw-Hill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32072" y="1800664"/>
            <a:ext cx="81773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Discrete Mathematics, </a:t>
            </a:r>
            <a:r>
              <a:rPr lang="en-US" sz="2000" i="1" dirty="0"/>
              <a:t>Richard</a:t>
            </a:r>
            <a:r>
              <a:rPr lang="en-US" sz="2000" dirty="0"/>
              <a:t> </a:t>
            </a:r>
            <a:r>
              <a:rPr lang="en-US" sz="2000" i="1" dirty="0" err="1"/>
              <a:t>Johnsonbaugh</a:t>
            </a:r>
            <a:r>
              <a:rPr lang="en-US" sz="2000" dirty="0"/>
              <a:t>, Pearson education,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Discrete Mathematical Structures, </a:t>
            </a:r>
            <a:r>
              <a:rPr lang="en-US" sz="2000" i="1" dirty="0"/>
              <a:t>Bernard</a:t>
            </a:r>
            <a:r>
              <a:rPr lang="en-US" sz="2000" dirty="0"/>
              <a:t> </a:t>
            </a:r>
            <a:r>
              <a:rPr lang="en-US" sz="2000" i="1" dirty="0" err="1"/>
              <a:t>Kolman</a:t>
            </a:r>
            <a:r>
              <a:rPr lang="en-US" sz="2000" dirty="0"/>
              <a:t>, </a:t>
            </a:r>
            <a:r>
              <a:rPr lang="en-US" sz="2000" i="1" dirty="0"/>
              <a:t>Robert C. Busby</a:t>
            </a:r>
            <a:r>
              <a:rPr lang="en-US" sz="2000" dirty="0"/>
              <a:t>, </a:t>
            </a:r>
            <a:r>
              <a:rPr lang="en-US" sz="2000" i="1" dirty="0"/>
              <a:t>Sharon</a:t>
            </a:r>
            <a:r>
              <a:rPr lang="en-US" sz="2000" dirty="0"/>
              <a:t> </a:t>
            </a:r>
            <a:r>
              <a:rPr lang="en-US" sz="2000" i="1" dirty="0"/>
              <a:t>Ross, </a:t>
            </a:r>
            <a:r>
              <a:rPr lang="en-US" sz="2000" dirty="0"/>
              <a:t>Prentice-Hall,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i="1" dirty="0"/>
              <a:t>SCHAUM’S  outlines Discrete Mathematics(2</a:t>
            </a:r>
            <a:r>
              <a:rPr lang="en-US" sz="2000" i="1" baseline="30000" dirty="0"/>
              <a:t>nd</a:t>
            </a:r>
            <a:r>
              <a:rPr lang="en-US" sz="2000" i="1" dirty="0"/>
              <a:t> edition)</a:t>
            </a:r>
            <a:r>
              <a:rPr lang="en-US" sz="2000" dirty="0"/>
              <a:t>, by </a:t>
            </a:r>
            <a:r>
              <a:rPr lang="en-US" sz="2000" i="1" dirty="0"/>
              <a:t>Seymour</a:t>
            </a:r>
            <a:r>
              <a:rPr lang="en-US" sz="2000" dirty="0"/>
              <a:t> </a:t>
            </a:r>
            <a:r>
              <a:rPr lang="en-US" sz="2000" i="1" dirty="0" err="1"/>
              <a:t>Lipschutz</a:t>
            </a:r>
            <a:r>
              <a:rPr lang="en-US" sz="2000" dirty="0"/>
              <a:t>, </a:t>
            </a:r>
            <a:r>
              <a:rPr lang="en-US" sz="2000" i="1" dirty="0"/>
              <a:t>Marc</a:t>
            </a:r>
            <a:r>
              <a:rPr lang="en-US" sz="2000" dirty="0"/>
              <a:t> </a:t>
            </a:r>
            <a:r>
              <a:rPr lang="en-US" sz="2000" i="1" dirty="0"/>
              <a:t>Lipson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\left[\begin{array}{ll}&#10;1 &amp; 1\\&#10;0 &amp;2\\&#10;1&amp; 3&#10;\end{array}&#10;\right]&#10;$$&#10;&#10;\end{document}"/>
  <p:tag name="IGUANATEXSIZE" val="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${\bf A}\; = \;\left[\begin{array}{cccc}&#10;a_{11} &amp; a_{12}&amp; \ldots  &amp; a_{1n}\\&#10;a_{21} &amp; a_{22} &amp; \ldots &amp; a_{2n}\\&#10;. &amp; . &amp;  &amp; .\\&#10;. &amp; . &amp;   &amp; .\\&#10;a_{m1} &amp; a_{m2} &amp; \ldots &amp; a_{mn}&#10;\end{array}&#10;\right]&#10;$$&#10;&#10;\end{document}"/>
  <p:tag name="IGUANATEXSIZE" val="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$\left[\begin{array}{c}&#10;a_{1j}\\&#10;a_{2j} \\&#10;. \\&#10;. \\&#10;a_{mj}&#10;\end{array}&#10;\right]&#10;$$&#10;&#10;\end{document}"/>
  <p:tag name="IGUANATEXSIZE" val="1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&#10;\left[&#10;\begin{array}{rrr}&#10;1 &amp;0 &amp; 4\\&#10;2 &amp;1&amp; 1\\&#10;3&amp; 1 &amp; 0\\&#10;0 &amp; 2 &amp;2&#10;\end{array}&#10;\right]&#10;\;&#10;\left[&#10;\begin{array}{rr}&#10;2 &amp; 4\\&#10;1 &amp; 1\\&#10;3 &amp; 0\\&#10;\end{array}&#10;\right]&#10;\;&#10;=&#10;\;&#10;\left[&#10;\begin{array}{rr}&#10;14 &amp; 4 \\8 &amp; 9\\&#10;7 &amp; 13\\ 8 &amp; 2&#10;\end{array}&#10;\right]&#10;$$&#10;&#10;\end{document}"/>
  <p:tag name="IGUANATEXSIZE" val="1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&#10;\mbox{The transpose of the matrix}\;&#10;\left[&#10;\begin{array}{rrr}&#10;1 &amp;2 &amp; 3\\&#10;4 &amp;5&amp; 6\\&#10;\end{array}&#10;\right]&#10;\;&#10;\mbox{is the matrix}&#10;\;&#10;\left[&#10;\begin{array}{rr}&#10;1 &amp; 4 \\2 &amp; 5\\&#10;3 &amp; 6&#10;\end{array}&#10;\right].&#10;$$&#10;&#10;\end{document}"/>
  <p:tag name="IGUANATEXSIZE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\[&#10;b_1 \wedge b_2 =  \left\{&#10;\begin{array}{ll}&#10;1 &amp;\mbox{if}\; b_1 = b_2 = 1\\&#10;0 &amp; \mbox{otherwise}&#10;\end{array}&#10;\right.&#10;\]&#10;\end{document}"/>
  <p:tag name="IGUANATEXSIZE" val="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\[&#10;b_1 \vee b_2 =  \left\{&#10;\begin{array}{ll}&#10;1 &amp;\mbox{if}\; b_1 = 1\; \mbox{or}\;  b_2 = 1\\&#10;0 &amp; \mbox{otherwise}&#10;\end{array}&#10;\right.&#10;\]&#10;\end{document}"/>
  <p:tag name="IGUANATEXSIZE" val="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&#10;{\bf A} = &#10;\left[&#10;\begin{array}{lll}&#10;1 &amp;0 &amp; 1\\&#10;0 &amp;1&amp; 0&#10;\end{array}&#10;\right],&#10;$$&#10;&#10;\end{document}"/>
  <p:tag name="IGUANATEXSIZE" val="2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&#10;{\bf B} = &#10;\left[&#10;\begin{array}{lll}&#10;0 &amp;1 &amp; 0\\&#10;1 &amp;1&amp; 0&#10;\end{array}&#10;\right].&#10;$$&#10;&#10;\end{document}"/>
  <p:tag name="IGUANATEXSIZE" val="2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&#10;{\bf A}\vee {\bf B} = &#10;\left[&#10;\begin{array}{lll}&#10;1\vee 0  &amp;0\vee 1 &amp; 1\vee 0\\&#10;0\vee 1 &amp;1\vee 1&amp; 0\vee 0&#10;\end{array}&#10;\right]&#10;=&#10;\left[&#10;\begin{array}{lll}&#10;1 &amp; 1 &amp; 1\\&#10;1 &amp; 1 &amp; 0&#10;\end{array}&#10;\right].&#10;$$&#10;&#10;\end{document}"/>
  <p:tag name="IGUANATEXSIZE" val="2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&#10;{\bf A}\wedge {\bf B} = &#10;\left[&#10;\begin{array}{lll}&#10;1\wedge 0  &amp;0\wedge 1 &amp; 1\wedge 0\\&#10;0\wedge 1 &amp;1\wedge 1&amp; 0\wedge 0&#10;\end{array}&#10;\right]&#10;=&#10;\left[&#10;\begin{array}{lll}&#10;0 &amp; 0 &amp; 0\\&#10;0 &amp; 1 &amp; 0&#10;\end{array}&#10;\right].&#10;$$&#10;&#10;\end{document}"/>
  <p:tag name="IGUANATEXSIZE" val="2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&#10;{\bf A} = &#10;\left[&#10;\begin{array}{ll}&#10;1 &amp;0\\&#10;0 &amp;1\\&#10;1&amp;0&#10;\end{array}&#10;\right],&#10;$$&#10;&#10;\end{document}"/>
  <p:tag name="IGUANATEXSIZE" val="2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&#10;{\bf B} = &#10;\left[&#10;\begin{array}{lll}&#10;1 &amp;1 &amp; 0\\&#10;0 &amp;1&amp; 1&#10;\end{array}&#10;\right].&#10;$$&#10;&#10;\end{document}"/>
  <p:tag name="IGUANATEXSIZE" val="2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&#10;{\bf A} \odot {\bf B} =&#10;\left[&#10;\begin{array}{lll}&#10;(1\wedge 1)\vee (0\wedge 0) &amp; (1\wedge 1)\vee (0\wedge 1) &amp; (1\wedge0)\vee (0\wedge 1)\\&#10;(0\wedge 1)\vee (1\wedge0) &amp; (0\wedge 1)\vee (1\wedge 1) &amp; (0\wedge 0)\vee (1 \wedge 1)\\&#10;(1\wedge 1)\vee (0\wedge 0)  &amp; (1\wedge 1)\vee (0\wedge 1) &amp; (1 \wedge0) \vee (0\wedge 1)&#10;\end{array}&#10;\right]&#10;$$&#10;&#10;\end{document}"/>
  <p:tag name="IGUANATEXSIZE" val="2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&#10;=&#10;\left[&#10;\begin{array}{lll}&#10;1\vee 0 &amp; 1\vee 0 &amp; 0\vee 0\\&#10;0\vee 0 &amp; 0\vee 1 &amp; 0\vee 1\\&#10;1\vee 0  &amp; 1\vee 0 &amp; 0\vee 0&#10;\end{array}&#10;\right]&#10;$$&#10;&#10;\end{document}"/>
  <p:tag name="IGUANATEXSIZE" val="2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&#10;=&#10;\left[&#10;\begin{array}{lll}&#10;1 &amp; 1 &amp; 0\\&#10;0 &amp; 1 &amp; 1\\&#10;1 &amp; 1 &amp; 0&#10;\end{array}&#10;\right].&#10;$$&#10;&#10;\end{document}"/>
  <p:tag name="IGUANATEXSIZE" val="2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&#10;{\bf A} = &#10;\left[&#10;\begin{array}{ll}&#10;1 &amp;0\\&#10;0 &amp;1\\&#10;1&amp;0&#10;\end{array}&#10;\right],&#10;$$&#10;&#10;\end{document}"/>
  <p:tag name="IGUANATEXSIZE" val="2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&#10;{\bf B} = &#10;\left[&#10;\begin{array}{lll}&#10;1 &amp;1 &amp; 0\\&#10;0 &amp;1&amp; 1&#10;\end{array}&#10;\right].&#10;$$&#10;&#10;\end{document}"/>
  <p:tag name="IGUANATEXSIZE" val="20"/>
</p:tagLst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3097</TotalTime>
  <Words>3362</Words>
  <Application>Microsoft Office PowerPoint</Application>
  <PresentationFormat>On-screen Show (4:3)</PresentationFormat>
  <Paragraphs>250</Paragraphs>
  <Slides>35</Slides>
  <Notes>0</Notes>
  <HiddenSlides>3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Corbel</vt:lpstr>
      <vt:lpstr>Wingdings</vt:lpstr>
      <vt:lpstr>Spectrum</vt:lpstr>
      <vt:lpstr>Equation</vt:lpstr>
      <vt:lpstr>Matrices Mathematical Induction </vt:lpstr>
      <vt:lpstr>Lecture Outline</vt:lpstr>
      <vt:lpstr>Objectives and Outcomes</vt:lpstr>
      <vt:lpstr>Matrices </vt:lpstr>
      <vt:lpstr>Notation</vt:lpstr>
      <vt:lpstr>       Matrix Arithmetic :  Addition and Subtraction</vt:lpstr>
      <vt:lpstr>Addition of two Matrices</vt:lpstr>
      <vt:lpstr>Example </vt:lpstr>
      <vt:lpstr>Example 2 (p. 258)</vt:lpstr>
      <vt:lpstr>Product of two Matrices</vt:lpstr>
      <vt:lpstr>Example </vt:lpstr>
      <vt:lpstr>Transpose of a Matrix</vt:lpstr>
      <vt:lpstr>Zero-One Matrices</vt:lpstr>
      <vt:lpstr>Join and Meet of  Zero-One Matrices</vt:lpstr>
      <vt:lpstr>Example 9 (p. 262)</vt:lpstr>
      <vt:lpstr>Boolean Product of Zero-One Matrices </vt:lpstr>
      <vt:lpstr>Solution of Example 9</vt:lpstr>
      <vt:lpstr>4.1 Mathematical Induction </vt:lpstr>
      <vt:lpstr>4.1 Mathematical Induction </vt:lpstr>
      <vt:lpstr>4.1 Mathematical Induction </vt:lpstr>
      <vt:lpstr>FIGURE 1 : Climbing an Infinite Ladder</vt:lpstr>
      <vt:lpstr>Ways to Remember How Mathematical Induction Works</vt:lpstr>
      <vt:lpstr>Mathematical Induction</vt:lpstr>
      <vt:lpstr>Mathematical Induction</vt:lpstr>
      <vt:lpstr>Mathematical Induction</vt:lpstr>
      <vt:lpstr>Example 1</vt:lpstr>
      <vt:lpstr>Example 1</vt:lpstr>
      <vt:lpstr>Example 3</vt:lpstr>
      <vt:lpstr>Example 3 (Cont.)</vt:lpstr>
      <vt:lpstr>Example 5</vt:lpstr>
      <vt:lpstr>(Modified )Exercise 3</vt:lpstr>
      <vt:lpstr>Exercise 5</vt:lpstr>
      <vt:lpstr>Practice @ Home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Ashraf Uddin</cp:lastModifiedBy>
  <cp:revision>86</cp:revision>
  <dcterms:created xsi:type="dcterms:W3CDTF">2018-12-10T17:20:29Z</dcterms:created>
  <dcterms:modified xsi:type="dcterms:W3CDTF">2023-08-13T08:59:01Z</dcterms:modified>
</cp:coreProperties>
</file>