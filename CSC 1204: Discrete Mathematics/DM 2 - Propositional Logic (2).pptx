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308" r:id="rId4"/>
    <p:sldId id="287" r:id="rId5"/>
    <p:sldId id="288" r:id="rId6"/>
    <p:sldId id="289" r:id="rId7"/>
    <p:sldId id="290" r:id="rId8"/>
    <p:sldId id="309" r:id="rId9"/>
    <p:sldId id="292" r:id="rId10"/>
    <p:sldId id="310" r:id="rId11"/>
    <p:sldId id="311" r:id="rId12"/>
    <p:sldId id="312" r:id="rId13"/>
    <p:sldId id="313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14" r:id="rId22"/>
    <p:sldId id="302" r:id="rId23"/>
    <p:sldId id="303" r:id="rId24"/>
    <p:sldId id="304" r:id="rId25"/>
    <p:sldId id="305" r:id="rId26"/>
    <p:sldId id="306" r:id="rId27"/>
    <p:sldId id="307" r:id="rId28"/>
    <p:sldId id="277" r:id="rId29"/>
    <p:sldId id="265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20" autoAdjust="0"/>
  </p:normalViewPr>
  <p:slideViewPr>
    <p:cSldViewPr snapToGrid="0" snapToObject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Propositional Logic (cont.)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3696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660" y="2088111"/>
            <a:ext cx="8666328" cy="4299042"/>
          </a:xfrm>
        </p:spPr>
        <p:txBody>
          <a:bodyPr>
            <a:norm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1.1 Propositional Logic </a:t>
            </a:r>
          </a:p>
          <a:p>
            <a:pPr marL="64008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zh-TW" b="1" dirty="0">
                <a:solidFill>
                  <a:srgbClr val="FF0000"/>
                </a:solidFill>
              </a:rPr>
              <a:t>Logic</a:t>
            </a:r>
          </a:p>
          <a:p>
            <a:pPr marL="64008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zh-TW" b="1" dirty="0">
                <a:solidFill>
                  <a:srgbClr val="FF0000"/>
                </a:solidFill>
              </a:rPr>
              <a:t>Propositional Logic</a:t>
            </a:r>
          </a:p>
          <a:p>
            <a:pPr marL="64008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Propositions</a:t>
            </a:r>
          </a:p>
          <a:p>
            <a:pPr marL="64008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Propositional Variables                                            * We have already covered </a:t>
            </a:r>
          </a:p>
          <a:p>
            <a:pPr marL="64008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Compound Propositions</a:t>
            </a:r>
          </a:p>
          <a:p>
            <a:pPr marL="64008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Logical Operators</a:t>
            </a:r>
          </a:p>
          <a:p>
            <a:pPr marL="64008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Truth Value</a:t>
            </a:r>
          </a:p>
          <a:p>
            <a:pPr marL="64008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b="1" dirty="0">
                <a:solidFill>
                  <a:srgbClr val="0000FF"/>
                </a:solidFill>
              </a:rPr>
              <a:t>Truth Tables of Compound Propositions</a:t>
            </a:r>
          </a:p>
          <a:p>
            <a:pPr marL="64008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b="1" dirty="0">
                <a:solidFill>
                  <a:srgbClr val="0000FF"/>
                </a:solidFill>
              </a:rPr>
              <a:t>Conditional Statements</a:t>
            </a:r>
          </a:p>
          <a:p>
            <a:pPr marL="64008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b="1" dirty="0">
                <a:solidFill>
                  <a:srgbClr val="0000FF"/>
                </a:solidFill>
              </a:rPr>
              <a:t>Logic and Bit Operations</a:t>
            </a:r>
          </a:p>
          <a:p>
            <a:pPr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endParaRPr lang="en-US" sz="3200" b="1" dirty="0">
              <a:solidFill>
                <a:srgbClr val="0000FF"/>
              </a:solidFill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5177824" y="2784142"/>
            <a:ext cx="155448" cy="223823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Objectives and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341" y="2074460"/>
            <a:ext cx="8395113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Objectives</a:t>
            </a:r>
            <a:r>
              <a:rPr lang="en-US" sz="2400" dirty="0"/>
              <a:t>: To understand how to construct a truth table for a compound proposition, to understand the conditional statement  </a:t>
            </a:r>
            <a:r>
              <a:rPr lang="en-US" altLang="zh-TW" sz="2400" i="1" dirty="0"/>
              <a:t>p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</a:t>
            </a:r>
            <a:r>
              <a:rPr lang="en-US" altLang="zh-TW" sz="2400" dirty="0"/>
              <a:t> </a:t>
            </a:r>
            <a:r>
              <a:rPr lang="en-US" altLang="zh-TW" sz="2400" i="1" dirty="0"/>
              <a:t>q </a:t>
            </a:r>
            <a:r>
              <a:rPr lang="en-US" sz="2400" dirty="0"/>
              <a:t>and different equivalent expressions of </a:t>
            </a:r>
            <a:r>
              <a:rPr lang="en-US" altLang="zh-TW" sz="2400" i="1" dirty="0"/>
              <a:t>p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</a:t>
            </a:r>
            <a:r>
              <a:rPr lang="en-US" altLang="zh-TW" sz="2400" dirty="0"/>
              <a:t> </a:t>
            </a:r>
            <a:r>
              <a:rPr lang="en-US" altLang="zh-TW" sz="2400" i="1" dirty="0"/>
              <a:t>q</a:t>
            </a:r>
            <a:r>
              <a:rPr lang="en-US" altLang="zh-TW" sz="2400" dirty="0"/>
              <a:t> , to understand bit operations.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4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Outcomes</a:t>
            </a:r>
            <a:r>
              <a:rPr lang="en-US" sz="2400" dirty="0"/>
              <a:t>: Students are expected to be able construct  a truth table for a given compound proposition, be able to explain the conditional statement </a:t>
            </a:r>
            <a:r>
              <a:rPr lang="en-US" altLang="zh-TW" sz="2400" i="1" dirty="0"/>
              <a:t>p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</a:t>
            </a:r>
            <a:r>
              <a:rPr lang="en-US" altLang="zh-TW" sz="2400" dirty="0"/>
              <a:t> </a:t>
            </a:r>
            <a:r>
              <a:rPr lang="en-US" altLang="zh-TW" sz="2400" i="1" dirty="0"/>
              <a:t>q</a:t>
            </a:r>
            <a:r>
              <a:rPr lang="en-US" altLang="zh-TW" sz="2400" dirty="0"/>
              <a:t> </a:t>
            </a:r>
            <a:r>
              <a:rPr lang="en-US" sz="2400" dirty="0"/>
              <a:t>and it’s equivalent expressions, be able to perform Bit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latin typeface="+mn-lt"/>
              </a:rPr>
              <a:t>Conditional Statements </a:t>
            </a:r>
            <a:endParaRPr lang="en-US" sz="4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128260"/>
            <a:ext cx="8354169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Let </a:t>
            </a:r>
            <a:r>
              <a:rPr lang="en-US" altLang="zh-TW" sz="2400" i="1" dirty="0"/>
              <a:t>p</a:t>
            </a:r>
            <a:r>
              <a:rPr lang="en-US" altLang="zh-TW" sz="2400" dirty="0"/>
              <a:t> and </a:t>
            </a:r>
            <a:r>
              <a:rPr lang="en-US" altLang="zh-TW" sz="2400" i="1" dirty="0"/>
              <a:t>q</a:t>
            </a:r>
            <a:r>
              <a:rPr lang="en-US" altLang="zh-TW" sz="2400" dirty="0"/>
              <a:t> be propositions.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i="1" dirty="0"/>
              <a:t>conditional statement</a:t>
            </a:r>
            <a:r>
              <a:rPr lang="en-US" altLang="zh-TW" sz="2400" dirty="0"/>
              <a:t> </a:t>
            </a:r>
            <a:r>
              <a:rPr lang="en-US" altLang="zh-TW" sz="2400" i="1" dirty="0"/>
              <a:t>p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</a:t>
            </a:r>
            <a:r>
              <a:rPr lang="en-US" altLang="zh-TW" sz="2400" dirty="0"/>
              <a:t> </a:t>
            </a:r>
            <a:r>
              <a:rPr lang="en-US" altLang="zh-TW" sz="2400" i="1" dirty="0"/>
              <a:t>q</a:t>
            </a:r>
            <a:r>
              <a:rPr lang="en-US" altLang="zh-TW" sz="2400" dirty="0"/>
              <a:t> is the proposition “if </a:t>
            </a:r>
            <a:r>
              <a:rPr lang="en-US" altLang="zh-TW" sz="2400" i="1" dirty="0"/>
              <a:t>p,</a:t>
            </a:r>
            <a:r>
              <a:rPr lang="en-US" altLang="zh-TW" sz="2400" dirty="0"/>
              <a:t> then </a:t>
            </a:r>
            <a:r>
              <a:rPr lang="en-US" altLang="zh-TW" sz="2400" i="1" dirty="0"/>
              <a:t>q</a:t>
            </a:r>
            <a:r>
              <a:rPr lang="en-US" altLang="zh-TW" sz="2400" dirty="0"/>
              <a:t>.”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>
                <a:solidFill>
                  <a:srgbClr val="0000FF"/>
                </a:solidFill>
              </a:rPr>
              <a:t>The conditional statement </a:t>
            </a:r>
            <a:r>
              <a:rPr lang="en-US" altLang="zh-TW" sz="2400" i="1" dirty="0">
                <a:solidFill>
                  <a:srgbClr val="0000FF"/>
                </a:solidFill>
              </a:rPr>
              <a:t>p</a:t>
            </a:r>
            <a:r>
              <a:rPr lang="en-US" altLang="zh-TW" sz="2400" dirty="0">
                <a:solidFill>
                  <a:srgbClr val="0000FF"/>
                </a:solidFill>
              </a:rPr>
              <a:t> </a:t>
            </a:r>
            <a:r>
              <a:rPr lang="en-US" altLang="zh-TW" sz="2400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zh-TW" sz="2400" dirty="0">
                <a:solidFill>
                  <a:srgbClr val="0000FF"/>
                </a:solidFill>
              </a:rPr>
              <a:t> </a:t>
            </a:r>
            <a:r>
              <a:rPr lang="en-US" altLang="zh-TW" sz="2400" i="1" dirty="0">
                <a:solidFill>
                  <a:srgbClr val="0000FF"/>
                </a:solidFill>
              </a:rPr>
              <a:t>q</a:t>
            </a:r>
            <a:r>
              <a:rPr lang="en-US" altLang="zh-TW" sz="2400" dirty="0">
                <a:solidFill>
                  <a:srgbClr val="0000FF"/>
                </a:solidFill>
              </a:rPr>
              <a:t> is false when p is true and q is false, and true otherwise.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i="1" dirty="0"/>
              <a:t> </a:t>
            </a:r>
            <a:r>
              <a:rPr lang="en-US" altLang="zh-TW" sz="2400" dirty="0"/>
              <a:t>In the conditional statement </a:t>
            </a:r>
            <a:r>
              <a:rPr lang="en-US" altLang="zh-TW" sz="2400" i="1" dirty="0"/>
              <a:t>p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</a:t>
            </a:r>
            <a:r>
              <a:rPr lang="en-US" altLang="zh-TW" sz="2400" dirty="0"/>
              <a:t> </a:t>
            </a:r>
            <a:r>
              <a:rPr lang="en-US" altLang="zh-TW" sz="2400" i="1" dirty="0"/>
              <a:t>q, </a:t>
            </a:r>
            <a:r>
              <a:rPr lang="en-US" altLang="zh-TW" sz="2400" b="1" i="1" dirty="0">
                <a:solidFill>
                  <a:srgbClr val="0000FF"/>
                </a:solidFill>
              </a:rPr>
              <a:t>p</a:t>
            </a:r>
            <a:r>
              <a:rPr lang="en-US" altLang="zh-TW" sz="2400" i="1" dirty="0"/>
              <a:t> is called </a:t>
            </a:r>
            <a:r>
              <a:rPr lang="en-US" altLang="zh-TW" sz="2400" b="1" i="1" dirty="0">
                <a:solidFill>
                  <a:srgbClr val="0000FF"/>
                </a:solidFill>
              </a:rPr>
              <a:t>hypothesis</a:t>
            </a:r>
            <a:r>
              <a:rPr lang="en-US" altLang="zh-TW" sz="2400" i="1" dirty="0"/>
              <a:t> and </a:t>
            </a:r>
            <a:r>
              <a:rPr lang="en-US" altLang="zh-TW" sz="2400" b="1" i="1" dirty="0">
                <a:solidFill>
                  <a:srgbClr val="FF0000"/>
                </a:solidFill>
              </a:rPr>
              <a:t>q</a:t>
            </a:r>
            <a:r>
              <a:rPr lang="en-US" altLang="zh-TW" sz="2400" i="1" dirty="0"/>
              <a:t> is called </a:t>
            </a:r>
            <a:r>
              <a:rPr lang="en-US" altLang="zh-TW" sz="2400" b="1" i="1" dirty="0">
                <a:solidFill>
                  <a:srgbClr val="FF0000"/>
                </a:solidFill>
              </a:rPr>
              <a:t>conclusion</a:t>
            </a:r>
            <a:r>
              <a:rPr lang="en-US" altLang="zh-TW" sz="2400" i="1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400" dirty="0"/>
              <a:t>This one is the English usage of </a:t>
            </a:r>
            <a:r>
              <a:rPr lang="en-US" altLang="ja-JP" sz="2400" dirty="0">
                <a:solidFill>
                  <a:srgbClr val="3118EE"/>
                </a:solidFill>
              </a:rPr>
              <a:t>“if, then” </a:t>
            </a:r>
            <a:r>
              <a:rPr lang="en-US" altLang="ja-JP" sz="2400" dirty="0"/>
              <a:t>or</a:t>
            </a:r>
            <a:r>
              <a:rPr lang="en-US" altLang="ja-JP" sz="2400" dirty="0">
                <a:solidFill>
                  <a:srgbClr val="3118EE"/>
                </a:solidFill>
              </a:rPr>
              <a:t> “implies”.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dirty="0"/>
              <a:t> </a:t>
            </a:r>
            <a:r>
              <a:rPr lang="en-US" altLang="ja-JP" sz="2400" dirty="0"/>
              <a:t>The connective </a:t>
            </a:r>
            <a:r>
              <a:rPr lang="en-US" altLang="ja-JP" sz="2400" b="1" dirty="0">
                <a:sym typeface="Symbol" pitchFamily="18" charset="2"/>
              </a:rPr>
              <a:t></a:t>
            </a:r>
            <a:r>
              <a:rPr lang="en-US" altLang="ja-JP" sz="2400" dirty="0"/>
              <a:t> is called the ‘conditional connective’.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ea typeface="ＭＳ Ｐゴシック" pitchFamily="50" charset="-128"/>
              </a:rPr>
              <a:t>A </a:t>
            </a:r>
            <a:r>
              <a:rPr lang="en-US" sz="2400" b="1" dirty="0">
                <a:solidFill>
                  <a:srgbClr val="0000FF"/>
                </a:solidFill>
                <a:ea typeface="ＭＳ Ｐゴシック" pitchFamily="50" charset="-128"/>
              </a:rPr>
              <a:t>conditional statement </a:t>
            </a:r>
            <a:r>
              <a:rPr lang="en-US" sz="2400" dirty="0">
                <a:ea typeface="ＭＳ Ｐゴシック" pitchFamily="50" charset="-128"/>
              </a:rPr>
              <a:t>is </a:t>
            </a:r>
            <a:r>
              <a:rPr lang="en-US" sz="2400" b="1" dirty="0">
                <a:ea typeface="ＭＳ Ｐゴシック" pitchFamily="50" charset="-128"/>
              </a:rPr>
              <a:t>also</a:t>
            </a:r>
            <a:r>
              <a:rPr lang="en-US" sz="2400" dirty="0">
                <a:ea typeface="ＭＳ Ｐゴシック" pitchFamily="50" charset="-128"/>
              </a:rPr>
              <a:t> </a:t>
            </a:r>
            <a:r>
              <a:rPr lang="en-US" sz="2400" b="1" dirty="0">
                <a:ea typeface="ＭＳ Ｐゴシック" pitchFamily="50" charset="-128"/>
              </a:rPr>
              <a:t>called</a:t>
            </a:r>
            <a:r>
              <a:rPr lang="en-US" sz="2400" dirty="0">
                <a:ea typeface="ＭＳ Ｐゴシック" pitchFamily="50" charset="-128"/>
              </a:rPr>
              <a:t> an </a:t>
            </a:r>
            <a:r>
              <a:rPr lang="en-US" sz="2400" b="1" dirty="0">
                <a:solidFill>
                  <a:srgbClr val="0000FF"/>
                </a:solidFill>
                <a:ea typeface="ＭＳ Ｐゴシック" pitchFamily="50" charset="-128"/>
              </a:rPr>
              <a:t>implication</a:t>
            </a:r>
            <a:r>
              <a:rPr lang="en-US" sz="2400" dirty="0">
                <a:ea typeface="ＭＳ Ｐゴシック" pitchFamily="50" charset="-128"/>
              </a:rPr>
              <a:t>. 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71837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</a:rPr>
              <a:t>Truth Table for </a:t>
            </a:r>
            <a:br>
              <a:rPr lang="en-US" sz="4400" dirty="0">
                <a:latin typeface="+mn-lt"/>
              </a:rPr>
            </a:br>
            <a:r>
              <a:rPr lang="en-US" sz="4400" dirty="0">
                <a:latin typeface="+mn-lt"/>
              </a:rPr>
              <a:t>Conditional Statement</a:t>
            </a:r>
            <a:endParaRPr lang="en-US" dirty="0">
              <a:latin typeface="+mn-lt"/>
            </a:endParaRPr>
          </a:p>
        </p:txBody>
      </p:sp>
      <p:pic>
        <p:nvPicPr>
          <p:cNvPr id="4" name="Picture 3" descr="t01_1_0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828800" y="1933440"/>
            <a:ext cx="4694238" cy="43308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>
                <a:latin typeface="+mn-lt"/>
              </a:rPr>
              <a:t>Equivalent Expression of</a:t>
            </a:r>
            <a:r>
              <a:rPr lang="en-US" altLang="ja-JP" sz="4000" b="1" dirty="0">
                <a:latin typeface="+mn-lt"/>
              </a:rPr>
              <a:t> </a:t>
            </a:r>
            <a:r>
              <a:rPr lang="en-US" altLang="ja-JP" sz="4000" b="1" i="1" dirty="0">
                <a:latin typeface="+mn-lt"/>
              </a:rPr>
              <a:t>p </a:t>
            </a:r>
            <a:r>
              <a:rPr lang="en-US" altLang="ja-JP" sz="4000" b="1" i="1" dirty="0">
                <a:latin typeface="+mn-lt"/>
                <a:sym typeface="Symbol" pitchFamily="18" charset="2"/>
              </a:rPr>
              <a:t></a:t>
            </a:r>
            <a:r>
              <a:rPr lang="en-US" altLang="ja-JP" sz="4000" b="1" i="1" dirty="0">
                <a:latin typeface="+mn-lt"/>
              </a:rPr>
              <a:t> q 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129039"/>
            <a:ext cx="84769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In terms of words, the proposition </a:t>
            </a:r>
            <a:r>
              <a:rPr lang="en-US" altLang="ja-JP" sz="2400" b="1" dirty="0">
                <a:solidFill>
                  <a:srgbClr val="0000FF"/>
                </a:solidFill>
              </a:rPr>
              <a:t>p </a:t>
            </a:r>
            <a:r>
              <a:rPr lang="en-US" altLang="ja-JP" sz="24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ja-JP" sz="2400" b="1" dirty="0">
                <a:solidFill>
                  <a:srgbClr val="0000FF"/>
                </a:solidFill>
              </a:rPr>
              <a:t> q</a:t>
            </a:r>
            <a:r>
              <a:rPr lang="en-US" altLang="ja-JP" sz="2400" dirty="0"/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also</a:t>
            </a:r>
            <a:r>
              <a:rPr lang="en-US" altLang="ja-JP" sz="2400" dirty="0"/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reads</a:t>
            </a:r>
            <a:r>
              <a:rPr lang="en-US" altLang="ja-JP" sz="2400" dirty="0"/>
              <a:t>:</a:t>
            </a:r>
          </a:p>
          <a:p>
            <a:pPr marL="971550" lvl="1" indent="-514350"/>
            <a:r>
              <a:rPr lang="en-US" altLang="ja-JP" sz="2400" b="1" dirty="0">
                <a:solidFill>
                  <a:srgbClr val="0000FF"/>
                </a:solidFill>
              </a:rPr>
              <a:t> </a:t>
            </a:r>
            <a:r>
              <a:rPr lang="en-US" altLang="ja-JP" sz="2400" dirty="0"/>
              <a:t>(a) </a:t>
            </a:r>
            <a:r>
              <a:rPr lang="en-US" altLang="ja-JP" sz="2400" b="1" dirty="0">
                <a:solidFill>
                  <a:srgbClr val="0000FF"/>
                </a:solidFill>
              </a:rPr>
              <a:t>if p, then q, </a:t>
            </a:r>
            <a:r>
              <a:rPr lang="en-US" altLang="ja-JP" sz="2400" b="1" i="1" dirty="0"/>
              <a:t>or</a:t>
            </a:r>
          </a:p>
          <a:p>
            <a:pPr marL="971550" lvl="1" indent="-514350"/>
            <a:r>
              <a:rPr lang="en-US" altLang="ja-JP" sz="2400" b="1" dirty="0">
                <a:solidFill>
                  <a:srgbClr val="0000FF"/>
                </a:solidFill>
              </a:rPr>
              <a:t>	 if p, q </a:t>
            </a:r>
          </a:p>
          <a:p>
            <a:pPr marL="971550" lvl="1" indent="-514350"/>
            <a:r>
              <a:rPr lang="en-US" altLang="ja-JP" sz="2400" i="1" dirty="0">
                <a:solidFill>
                  <a:srgbClr val="FF0000"/>
                </a:solidFill>
              </a:rPr>
              <a:t>       (The word “</a:t>
            </a:r>
            <a:r>
              <a:rPr lang="en-US" altLang="ja-JP" sz="2400" b="1" i="1" dirty="0">
                <a:solidFill>
                  <a:srgbClr val="FF0000"/>
                </a:solidFill>
              </a:rPr>
              <a:t>then</a:t>
            </a:r>
            <a:r>
              <a:rPr lang="en-US" altLang="ja-JP" sz="2400" i="1" dirty="0">
                <a:solidFill>
                  <a:srgbClr val="FF0000"/>
                </a:solidFill>
              </a:rPr>
              <a:t>” is sometimes omitted in English sentences) </a:t>
            </a:r>
          </a:p>
          <a:p>
            <a:pPr lvl="1"/>
            <a:r>
              <a:rPr lang="en-US" altLang="ja-JP" sz="2400" dirty="0"/>
              <a:t>(b) </a:t>
            </a:r>
            <a:r>
              <a:rPr lang="en-US" altLang="ja-JP" sz="2400" b="1" dirty="0">
                <a:solidFill>
                  <a:srgbClr val="0000FF"/>
                </a:solidFill>
              </a:rPr>
              <a:t>p implies q</a:t>
            </a:r>
          </a:p>
          <a:p>
            <a:pPr lvl="1"/>
            <a:r>
              <a:rPr lang="en-US" altLang="ja-JP" sz="2400" dirty="0"/>
              <a:t>(c) </a:t>
            </a:r>
            <a:r>
              <a:rPr lang="en-US" altLang="ja-JP" sz="2400" b="1" dirty="0">
                <a:solidFill>
                  <a:srgbClr val="0000FF"/>
                </a:solidFill>
              </a:rPr>
              <a:t>p is a sufficient condition for q , </a:t>
            </a:r>
            <a:r>
              <a:rPr lang="en-US" altLang="ja-JP" sz="2400" b="1" i="1" dirty="0"/>
              <a:t>or</a:t>
            </a:r>
          </a:p>
          <a:p>
            <a:pPr lvl="1"/>
            <a:r>
              <a:rPr lang="en-US" altLang="ja-JP" sz="2400" b="1" dirty="0">
                <a:solidFill>
                  <a:srgbClr val="0000FF"/>
                </a:solidFill>
              </a:rPr>
              <a:t>	</a:t>
            </a:r>
            <a:r>
              <a:rPr lang="en-US" altLang="ja-JP" sz="2400" b="1" dirty="0">
                <a:solidFill>
                  <a:srgbClr val="FF0000"/>
                </a:solidFill>
              </a:rPr>
              <a:t>  </a:t>
            </a:r>
            <a:r>
              <a:rPr lang="en-US" altLang="ja-JP" sz="2400" b="1" dirty="0">
                <a:solidFill>
                  <a:srgbClr val="0000FF"/>
                </a:solidFill>
              </a:rPr>
              <a:t>a sufficient condition for q is p</a:t>
            </a:r>
          </a:p>
          <a:p>
            <a:pPr lvl="1"/>
            <a:r>
              <a:rPr lang="en-US" altLang="ja-JP" sz="2400" dirty="0"/>
              <a:t>(d) </a:t>
            </a:r>
            <a:r>
              <a:rPr lang="en-US" altLang="ja-JP" sz="2400" b="1" dirty="0">
                <a:solidFill>
                  <a:srgbClr val="0000FF"/>
                </a:solidFill>
              </a:rPr>
              <a:t>q is a necessary condition for p, </a:t>
            </a:r>
            <a:r>
              <a:rPr lang="en-US" altLang="ja-JP" sz="2400" b="1" i="1" dirty="0"/>
              <a:t>or</a:t>
            </a:r>
          </a:p>
          <a:p>
            <a:pPr lvl="1"/>
            <a:r>
              <a:rPr lang="en-US" altLang="ja-JP" sz="2400" b="1" dirty="0">
                <a:solidFill>
                  <a:srgbClr val="0000FF"/>
                </a:solidFill>
              </a:rPr>
              <a:t>	   a necessary condition for p is q 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>
                <a:latin typeface="+mn-lt"/>
              </a:rPr>
              <a:t>Equivalent Expression of</a:t>
            </a:r>
            <a:r>
              <a:rPr lang="en-US" altLang="ja-JP" sz="4000" b="1" dirty="0">
                <a:latin typeface="+mn-lt"/>
              </a:rPr>
              <a:t> </a:t>
            </a:r>
            <a:r>
              <a:rPr lang="en-US" altLang="ja-JP" sz="4000" b="1" i="1" dirty="0">
                <a:latin typeface="+mn-lt"/>
              </a:rPr>
              <a:t>p </a:t>
            </a:r>
            <a:r>
              <a:rPr lang="en-US" altLang="ja-JP" sz="4000" b="1" i="1" dirty="0">
                <a:latin typeface="+mn-lt"/>
                <a:sym typeface="Symbol" pitchFamily="18" charset="2"/>
              </a:rPr>
              <a:t></a:t>
            </a:r>
            <a:r>
              <a:rPr lang="en-US" altLang="ja-JP" sz="4000" b="1" i="1" dirty="0">
                <a:latin typeface="+mn-lt"/>
              </a:rPr>
              <a:t> q 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5641" y="2312927"/>
            <a:ext cx="6346209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None/>
            </a:pPr>
            <a:r>
              <a:rPr lang="en-US" altLang="ja-JP" sz="3200" dirty="0"/>
              <a:t>(e) </a:t>
            </a:r>
            <a:r>
              <a:rPr lang="en-US" altLang="ja-JP" sz="3200" b="1" dirty="0">
                <a:solidFill>
                  <a:srgbClr val="0000FF"/>
                </a:solidFill>
              </a:rPr>
              <a:t>p only if q</a:t>
            </a:r>
          </a:p>
          <a:p>
            <a:pPr lvl="1">
              <a:buNone/>
            </a:pPr>
            <a:r>
              <a:rPr lang="en-US" altLang="ja-JP" sz="3200" dirty="0"/>
              <a:t>(f) </a:t>
            </a:r>
            <a:r>
              <a:rPr lang="en-US" altLang="ja-JP" sz="3200" b="1" dirty="0">
                <a:solidFill>
                  <a:srgbClr val="0000FF"/>
                </a:solidFill>
              </a:rPr>
              <a:t>q if p</a:t>
            </a:r>
            <a:r>
              <a:rPr lang="en-US" altLang="ja-JP" sz="3200" dirty="0"/>
              <a:t> , </a:t>
            </a:r>
            <a:r>
              <a:rPr lang="en-US" altLang="ja-JP" sz="3200" b="1" i="1" dirty="0"/>
              <a:t>or</a:t>
            </a:r>
          </a:p>
          <a:p>
            <a:pPr lvl="1">
              <a:buNone/>
            </a:pPr>
            <a:r>
              <a:rPr lang="en-US" altLang="ja-JP" sz="3200" dirty="0"/>
              <a:t>	  </a:t>
            </a:r>
            <a:r>
              <a:rPr lang="en-US" altLang="ja-JP" sz="3200" b="1" dirty="0">
                <a:solidFill>
                  <a:srgbClr val="0000FF"/>
                </a:solidFill>
              </a:rPr>
              <a:t>q, if p</a:t>
            </a:r>
          </a:p>
          <a:p>
            <a:pPr lvl="1">
              <a:buNone/>
            </a:pPr>
            <a:r>
              <a:rPr lang="en-US" altLang="ja-JP" sz="3200" dirty="0"/>
              <a:t>(g) </a:t>
            </a:r>
            <a:r>
              <a:rPr lang="en-US" altLang="ja-JP" sz="3200" b="1" dirty="0">
                <a:solidFill>
                  <a:srgbClr val="0000FF"/>
                </a:solidFill>
              </a:rPr>
              <a:t>q whenever p</a:t>
            </a:r>
          </a:p>
          <a:p>
            <a:pPr lvl="1">
              <a:buNone/>
            </a:pPr>
            <a:r>
              <a:rPr lang="en-US" altLang="ja-JP" sz="3200" dirty="0"/>
              <a:t>(h) </a:t>
            </a:r>
            <a:r>
              <a:rPr lang="en-US" altLang="ja-JP" sz="3200" b="1" dirty="0">
                <a:solidFill>
                  <a:srgbClr val="0000FF"/>
                </a:solidFill>
              </a:rPr>
              <a:t>q when p</a:t>
            </a:r>
          </a:p>
          <a:p>
            <a:pPr lvl="1">
              <a:buNone/>
            </a:pPr>
            <a:r>
              <a:rPr lang="en-US" altLang="ja-JP" sz="3200" dirty="0"/>
              <a:t>(</a:t>
            </a:r>
            <a:r>
              <a:rPr lang="en-US" altLang="ja-JP" sz="3200" dirty="0" err="1"/>
              <a:t>i</a:t>
            </a:r>
            <a:r>
              <a:rPr lang="en-US" altLang="ja-JP" sz="3200" dirty="0"/>
              <a:t>) </a:t>
            </a:r>
            <a:r>
              <a:rPr lang="en-US" altLang="ja-JP" sz="3200" b="1" dirty="0">
                <a:solidFill>
                  <a:srgbClr val="0000FF"/>
                </a:solidFill>
              </a:rPr>
              <a:t>q unless </a:t>
            </a:r>
            <a:r>
              <a:rPr lang="en-US" altLang="ja-JP" sz="3200" b="1" dirty="0">
                <a:solidFill>
                  <a:srgbClr val="0000FF"/>
                </a:solidFill>
                <a:sym typeface="Symbol" pitchFamily="18" charset="2"/>
              </a:rPr>
              <a:t></a:t>
            </a:r>
            <a:r>
              <a:rPr lang="en-US" altLang="ja-JP" sz="3200" b="1" dirty="0">
                <a:solidFill>
                  <a:srgbClr val="0000FF"/>
                </a:solidFill>
              </a:rPr>
              <a:t>p</a:t>
            </a:r>
            <a:endParaRPr lang="ja-JP" altLang="en-US" sz="3200" b="1">
              <a:solidFill>
                <a:srgbClr val="0000FF"/>
              </a:solidFill>
            </a:endParaRPr>
          </a:p>
          <a:p>
            <a:pPr>
              <a:buNone/>
            </a:pP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+mn-lt"/>
              </a:rPr>
              <a:t>Remember!</a:t>
            </a:r>
            <a:endParaRPr lang="en-US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2157" y="2136339"/>
            <a:ext cx="8531590" cy="4078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The hypothesis expresses a sufficient condition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The conclusion expresses a necessary condition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“</a:t>
            </a:r>
            <a:r>
              <a:rPr lang="en-US" sz="2800" b="1" i="1" dirty="0"/>
              <a:t>but</a:t>
            </a:r>
            <a:r>
              <a:rPr lang="en-US" sz="2800" dirty="0"/>
              <a:t>” is a logical synonym for “</a:t>
            </a:r>
            <a:r>
              <a:rPr lang="en-US" sz="2800" b="1" i="1" dirty="0"/>
              <a:t>and</a:t>
            </a:r>
            <a:r>
              <a:rPr lang="en-US" sz="2800" dirty="0"/>
              <a:t>”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“</a:t>
            </a:r>
            <a:r>
              <a:rPr lang="en-US" sz="2800" b="1" i="1" dirty="0"/>
              <a:t>when</a:t>
            </a:r>
            <a:r>
              <a:rPr lang="en-US" sz="2800" dirty="0"/>
              <a:t>” / “</a:t>
            </a:r>
            <a:r>
              <a:rPr lang="en-US" sz="2800" b="1" i="1" dirty="0"/>
              <a:t>whenever</a:t>
            </a:r>
            <a:r>
              <a:rPr lang="en-US" sz="2800" dirty="0"/>
              <a:t>” means the same as “</a:t>
            </a:r>
            <a:r>
              <a:rPr lang="en-US" sz="2800" b="1" i="1" dirty="0"/>
              <a:t>if</a:t>
            </a:r>
            <a:r>
              <a:rPr lang="en-US" sz="2800" dirty="0"/>
              <a:t>”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hypothesis</a:t>
            </a:r>
            <a:r>
              <a:rPr lang="en-US" sz="2800" dirty="0"/>
              <a:t> is the clause following “</a:t>
            </a:r>
            <a:r>
              <a:rPr lang="en-US" sz="2800" b="1" dirty="0"/>
              <a:t>if</a:t>
            </a:r>
            <a:r>
              <a:rPr lang="en-US" sz="2800" dirty="0"/>
              <a:t>”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i="1" dirty="0"/>
              <a:t>conclusion</a:t>
            </a:r>
            <a:r>
              <a:rPr lang="en-US" sz="2800" dirty="0"/>
              <a:t> is the clause following “</a:t>
            </a:r>
            <a:r>
              <a:rPr lang="en-US" sz="2800" b="1" i="1" dirty="0"/>
              <a:t>then</a:t>
            </a:r>
            <a:r>
              <a:rPr lang="en-US" sz="2800" dirty="0"/>
              <a:t>”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“</a:t>
            </a:r>
            <a:r>
              <a:rPr lang="en-US" sz="2800" b="1" i="1" dirty="0"/>
              <a:t>only if</a:t>
            </a:r>
            <a:r>
              <a:rPr lang="en-US" sz="2800" dirty="0"/>
              <a:t>” clause is the </a:t>
            </a:r>
            <a:r>
              <a:rPr lang="en-US" sz="2800" b="1" dirty="0"/>
              <a:t>conclusion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If </a:t>
            </a:r>
            <a:r>
              <a:rPr lang="en-US" sz="2800" b="1" i="1" dirty="0">
                <a:solidFill>
                  <a:srgbClr val="FF0000"/>
                </a:solidFill>
              </a:rPr>
              <a:t>hypothesis</a:t>
            </a:r>
            <a:r>
              <a:rPr lang="en-US" sz="2800" b="1" dirty="0">
                <a:solidFill>
                  <a:srgbClr val="FF0000"/>
                </a:solidFill>
              </a:rPr>
              <a:t>, then </a:t>
            </a:r>
            <a:r>
              <a:rPr lang="en-US" sz="2800" b="1" i="1" dirty="0">
                <a:solidFill>
                  <a:srgbClr val="FF0000"/>
                </a:solidFill>
              </a:rPr>
              <a:t>conclusion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7 (page 7)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092396"/>
            <a:ext cx="8408760" cy="423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200" dirty="0">
                <a:solidFill>
                  <a:srgbClr val="FF0000"/>
                </a:solidFill>
              </a:rPr>
              <a:t>Let p : "Maria learns discrete mathematics" and       </a:t>
            </a:r>
            <a:br>
              <a:rPr lang="en-US" altLang="ja-JP" sz="2200" dirty="0">
                <a:solidFill>
                  <a:srgbClr val="FF0000"/>
                </a:solidFill>
              </a:rPr>
            </a:br>
            <a:r>
              <a:rPr lang="en-US" altLang="ja-JP" sz="2200" dirty="0">
                <a:solidFill>
                  <a:srgbClr val="FF0000"/>
                </a:solidFill>
              </a:rPr>
              <a:t>      q : "Maria will find a good job." </a:t>
            </a:r>
            <a:br>
              <a:rPr lang="en-US" altLang="ja-JP" sz="2200" dirty="0">
                <a:solidFill>
                  <a:srgbClr val="FF0000"/>
                </a:solidFill>
              </a:rPr>
            </a:br>
            <a:r>
              <a:rPr lang="en-US" altLang="ja-JP" sz="2200" dirty="0">
                <a:solidFill>
                  <a:srgbClr val="FF0000"/>
                </a:solidFill>
              </a:rPr>
              <a:t>Express the statement </a:t>
            </a:r>
            <a:r>
              <a:rPr lang="en-US" altLang="ja-JP" sz="2200" b="1" dirty="0">
                <a:solidFill>
                  <a:srgbClr val="FF0000"/>
                </a:solidFill>
              </a:rPr>
              <a:t>p </a:t>
            </a:r>
            <a:r>
              <a:rPr lang="en-US" altLang="ja-JP" sz="22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altLang="ja-JP" sz="2200" b="1" dirty="0">
                <a:solidFill>
                  <a:srgbClr val="FF0000"/>
                </a:solidFill>
              </a:rPr>
              <a:t> q</a:t>
            </a:r>
            <a:r>
              <a:rPr lang="en-US" altLang="ja-JP" sz="2200" dirty="0">
                <a:solidFill>
                  <a:srgbClr val="FF0000"/>
                </a:solidFill>
              </a:rPr>
              <a:t> as a statement in English.</a:t>
            </a:r>
          </a:p>
          <a:p>
            <a:r>
              <a:rPr lang="en-US" altLang="ja-JP" sz="2200" b="1" u="sng" dirty="0">
                <a:solidFill>
                  <a:srgbClr val="0000FF"/>
                </a:solidFill>
              </a:rPr>
              <a:t>Solution</a:t>
            </a:r>
            <a:r>
              <a:rPr lang="en-US" altLang="ja-JP" sz="2200" u="sng" dirty="0"/>
              <a:t>:</a:t>
            </a:r>
            <a:r>
              <a:rPr lang="en-US" altLang="ja-JP" sz="2200" dirty="0"/>
              <a:t>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200" i="1" dirty="0"/>
              <a:t>"</a:t>
            </a:r>
            <a:r>
              <a:rPr lang="en-US" altLang="ja-JP" sz="2200" b="1" i="1" dirty="0">
                <a:solidFill>
                  <a:srgbClr val="FF0000"/>
                </a:solidFill>
              </a:rPr>
              <a:t>If</a:t>
            </a:r>
            <a:r>
              <a:rPr lang="en-US" altLang="ja-JP" sz="2200" i="1" dirty="0">
                <a:solidFill>
                  <a:srgbClr val="FF0000"/>
                </a:solidFill>
              </a:rPr>
              <a:t> </a:t>
            </a:r>
            <a:r>
              <a:rPr lang="en-US" altLang="ja-JP" sz="2200" i="1" dirty="0"/>
              <a:t>Maria learns discrete mathematics</a:t>
            </a:r>
            <a:r>
              <a:rPr lang="en-US" altLang="ja-JP" sz="2200" i="1" dirty="0">
                <a:solidFill>
                  <a:srgbClr val="CC0000"/>
                </a:solidFill>
              </a:rPr>
              <a:t>, </a:t>
            </a:r>
            <a:r>
              <a:rPr lang="en-US" altLang="ja-JP" sz="2200" b="1" i="1" dirty="0">
                <a:solidFill>
                  <a:srgbClr val="FF0000"/>
                </a:solidFill>
              </a:rPr>
              <a:t>then</a:t>
            </a:r>
            <a:r>
              <a:rPr lang="en-US" altLang="ja-JP" sz="2200" i="1" dirty="0">
                <a:solidFill>
                  <a:srgbClr val="CC0000"/>
                </a:solidFill>
              </a:rPr>
              <a:t> </a:t>
            </a:r>
            <a:r>
              <a:rPr lang="en-US" altLang="ja-JP" sz="2200" i="1" dirty="0"/>
              <a:t>she will find a good job.“</a:t>
            </a:r>
            <a:endParaRPr lang="en-US" altLang="ja-JP" sz="2200" dirty="0"/>
          </a:p>
          <a:p>
            <a:r>
              <a:rPr lang="en-US" altLang="ja-JP" sz="2200" dirty="0">
                <a:solidFill>
                  <a:srgbClr val="0000FF"/>
                </a:solidFill>
              </a:rPr>
              <a:t>There are many other ways to express this conditional statement in English.</a:t>
            </a:r>
            <a:endParaRPr lang="en-US" altLang="ja-JP" sz="2200" i="1" dirty="0">
              <a:solidFill>
                <a:srgbClr val="0000FF"/>
              </a:solidFill>
            </a:endParaRPr>
          </a:p>
          <a:p>
            <a:pPr marL="125413" indent="-273050">
              <a:buFont typeface="Arial" pitchFamily="34" charset="0"/>
              <a:buChar char="•"/>
            </a:pPr>
            <a:r>
              <a:rPr lang="en-US" altLang="ja-JP" sz="2200" i="1" dirty="0"/>
              <a:t>"Maria will find a good job</a:t>
            </a:r>
            <a:r>
              <a:rPr lang="en-US" altLang="ja-JP" sz="2200" i="1" dirty="0">
                <a:solidFill>
                  <a:schemeClr val="folHlink"/>
                </a:solidFill>
              </a:rPr>
              <a:t> </a:t>
            </a:r>
            <a:r>
              <a:rPr lang="en-US" altLang="ja-JP" sz="2200" b="1" i="1" dirty="0">
                <a:solidFill>
                  <a:srgbClr val="FF0000"/>
                </a:solidFill>
              </a:rPr>
              <a:t>when</a:t>
            </a:r>
            <a:r>
              <a:rPr lang="en-US" altLang="ja-JP" sz="2200" i="1" dirty="0">
                <a:solidFill>
                  <a:schemeClr val="folHlink"/>
                </a:solidFill>
              </a:rPr>
              <a:t> </a:t>
            </a:r>
            <a:r>
              <a:rPr lang="en-US" altLang="ja-JP" sz="2200" i="1" dirty="0"/>
              <a:t>she learns discrete mathematics”</a:t>
            </a:r>
          </a:p>
          <a:p>
            <a:pPr marL="125413" indent="-273050">
              <a:buFont typeface="Arial" pitchFamily="34" charset="0"/>
              <a:buChar char="•"/>
            </a:pPr>
            <a:r>
              <a:rPr lang="en-US" altLang="ja-JP" sz="2200" i="1" dirty="0"/>
              <a:t>"</a:t>
            </a:r>
            <a:r>
              <a:rPr lang="en-US" altLang="ja-JP" sz="2200" b="1" i="1" dirty="0">
                <a:solidFill>
                  <a:srgbClr val="FF0000"/>
                </a:solidFill>
              </a:rPr>
              <a:t>For</a:t>
            </a:r>
            <a:r>
              <a:rPr lang="en-US" altLang="ja-JP" sz="2200" i="1" dirty="0">
                <a:solidFill>
                  <a:srgbClr val="990033"/>
                </a:solidFill>
              </a:rPr>
              <a:t> </a:t>
            </a:r>
            <a:r>
              <a:rPr lang="en-US" altLang="ja-JP" sz="2200" i="1" dirty="0"/>
              <a:t>Maria to get a good job</a:t>
            </a:r>
            <a:r>
              <a:rPr lang="en-US" altLang="ja-JP" sz="2200" i="1" dirty="0">
                <a:solidFill>
                  <a:srgbClr val="990033"/>
                </a:solidFill>
              </a:rPr>
              <a:t>, </a:t>
            </a:r>
            <a:r>
              <a:rPr lang="en-US" altLang="ja-JP" sz="2200" b="1" i="1" dirty="0">
                <a:solidFill>
                  <a:srgbClr val="FF0000"/>
                </a:solidFill>
              </a:rPr>
              <a:t>it is sufficient for her</a:t>
            </a:r>
            <a:r>
              <a:rPr lang="en-US" altLang="ja-JP" sz="2200" i="1" dirty="0">
                <a:solidFill>
                  <a:srgbClr val="FF0000"/>
                </a:solidFill>
              </a:rPr>
              <a:t> </a:t>
            </a:r>
            <a:r>
              <a:rPr lang="en-US" altLang="ja-JP" sz="2200" i="1" dirty="0"/>
              <a:t>to learn discrete </a:t>
            </a:r>
          </a:p>
          <a:p>
            <a:pPr marL="125413" indent="-273050"/>
            <a:r>
              <a:rPr lang="en-US" altLang="ja-JP" sz="2200" i="1" dirty="0"/>
              <a:t>      mathematics”.</a:t>
            </a:r>
          </a:p>
          <a:p>
            <a:pPr marL="125413" indent="-273050">
              <a:buFont typeface="Arial" pitchFamily="34" charset="0"/>
              <a:buChar char="•"/>
            </a:pPr>
            <a:r>
              <a:rPr lang="en-US" altLang="ja-JP" sz="2200" i="1" dirty="0"/>
              <a:t>"Maria will find a good job</a:t>
            </a:r>
            <a:r>
              <a:rPr lang="en-US" altLang="ja-JP" sz="2200" i="1" dirty="0">
                <a:solidFill>
                  <a:srgbClr val="000066"/>
                </a:solidFill>
              </a:rPr>
              <a:t> </a:t>
            </a:r>
            <a:r>
              <a:rPr lang="en-US" altLang="ja-JP" sz="2200" b="1" i="1" dirty="0">
                <a:solidFill>
                  <a:srgbClr val="FF0000"/>
                </a:solidFill>
              </a:rPr>
              <a:t>unless</a:t>
            </a:r>
            <a:r>
              <a:rPr lang="en-US" altLang="ja-JP" sz="2200" b="1" i="1" dirty="0">
                <a:solidFill>
                  <a:srgbClr val="000066"/>
                </a:solidFill>
              </a:rPr>
              <a:t> </a:t>
            </a:r>
            <a:r>
              <a:rPr lang="en-US" altLang="ja-JP" sz="2200" b="1" i="1" dirty="0"/>
              <a:t>she does not</a:t>
            </a:r>
            <a:r>
              <a:rPr lang="en-US" altLang="ja-JP" sz="2200" i="1" dirty="0"/>
              <a:t> learn discrete </a:t>
            </a:r>
          </a:p>
          <a:p>
            <a:pPr marL="125413" indent="-273050"/>
            <a:r>
              <a:rPr lang="en-US" altLang="ja-JP" sz="2200" i="1" dirty="0"/>
              <a:t>	    mathematics.”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+mn-lt"/>
              </a:rPr>
              <a:t>Practice: </a:t>
            </a:r>
            <a:r>
              <a:rPr lang="en-US" sz="4400" dirty="0">
                <a:latin typeface="+mn-lt"/>
              </a:rPr>
              <a:t>Exercise 19 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61" y="2077708"/>
            <a:ext cx="8545238" cy="4047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Write each of these statements in the form </a:t>
            </a:r>
            <a:r>
              <a:rPr lang="en-US" sz="2800" b="1" dirty="0">
                <a:solidFill>
                  <a:srgbClr val="FF0000"/>
                </a:solidFill>
              </a:rPr>
              <a:t>“if p, then q” </a:t>
            </a:r>
            <a:r>
              <a:rPr lang="en-US" sz="2800" dirty="0">
                <a:solidFill>
                  <a:srgbClr val="FF0000"/>
                </a:solidFill>
              </a:rPr>
              <a:t>in English.</a:t>
            </a:r>
          </a:p>
          <a:p>
            <a:pPr marL="274320" indent="-274320">
              <a:spcBef>
                <a:spcPts val="600"/>
              </a:spcBef>
              <a:buAutoNum type="alphaLcParenR"/>
            </a:pPr>
            <a:r>
              <a:rPr lang="en-US" sz="2800" dirty="0"/>
              <a:t> It snows </a:t>
            </a:r>
            <a:r>
              <a:rPr lang="en-US" sz="2800" b="1" dirty="0"/>
              <a:t>whenever</a:t>
            </a:r>
            <a:r>
              <a:rPr lang="en-US" sz="2800" dirty="0"/>
              <a:t> the wind blows from the northeast.</a:t>
            </a:r>
          </a:p>
          <a:p>
            <a:pPr marL="514350" indent="-514350">
              <a:buNone/>
            </a:pPr>
            <a:r>
              <a:rPr lang="en-US" sz="2800" u="sng" dirty="0">
                <a:solidFill>
                  <a:srgbClr val="FF0000"/>
                </a:solidFill>
              </a:rPr>
              <a:t>Ans</a:t>
            </a:r>
            <a:r>
              <a:rPr lang="en-US" sz="2800" dirty="0">
                <a:solidFill>
                  <a:srgbClr val="FF0000"/>
                </a:solidFill>
              </a:rPr>
              <a:t>. </a:t>
            </a:r>
            <a:r>
              <a:rPr lang="en-US" sz="2800" b="1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srgbClr val="0000FF"/>
                </a:solidFill>
              </a:rPr>
              <a:t> the wind blows from the northeast, </a:t>
            </a:r>
            <a:r>
              <a:rPr lang="en-US" sz="2800" b="1" dirty="0">
                <a:solidFill>
                  <a:srgbClr val="0000FF"/>
                </a:solidFill>
              </a:rPr>
              <a:t>then</a:t>
            </a:r>
            <a:r>
              <a:rPr lang="en-US" sz="2800" dirty="0">
                <a:solidFill>
                  <a:srgbClr val="0000FF"/>
                </a:solidFill>
              </a:rPr>
              <a:t> it snows</a:t>
            </a:r>
          </a:p>
          <a:p>
            <a:pPr marL="514350" indent="-514350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514350" indent="-514350">
              <a:buNone/>
            </a:pPr>
            <a:r>
              <a:rPr lang="en-US" sz="2800" dirty="0"/>
              <a:t>b) The apple trees will bloom </a:t>
            </a:r>
            <a:r>
              <a:rPr lang="en-US" sz="2800" b="1" dirty="0"/>
              <a:t>if</a:t>
            </a:r>
            <a:r>
              <a:rPr lang="en-US" sz="2800" dirty="0"/>
              <a:t> it stays warm for a week.</a:t>
            </a:r>
          </a:p>
          <a:p>
            <a:pPr marL="514350" indent="-514350">
              <a:buNone/>
            </a:pPr>
            <a:r>
              <a:rPr lang="en-US" sz="2800" u="sng" dirty="0">
                <a:solidFill>
                  <a:srgbClr val="FF0000"/>
                </a:solidFill>
              </a:rPr>
              <a:t>Ans</a:t>
            </a:r>
            <a:r>
              <a:rPr lang="en-US" sz="2800" dirty="0">
                <a:solidFill>
                  <a:srgbClr val="FF0000"/>
                </a:solidFill>
              </a:rPr>
              <a:t>. </a:t>
            </a:r>
            <a:r>
              <a:rPr lang="en-US" sz="2800" b="1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srgbClr val="0000FF"/>
                </a:solidFill>
              </a:rPr>
              <a:t> it stays warm for a week, </a:t>
            </a:r>
            <a:r>
              <a:rPr lang="en-US" sz="2800" b="1" dirty="0">
                <a:solidFill>
                  <a:srgbClr val="0000FF"/>
                </a:solidFill>
              </a:rPr>
              <a:t>then</a:t>
            </a:r>
            <a:r>
              <a:rPr lang="en-US" sz="2800" dirty="0">
                <a:solidFill>
                  <a:srgbClr val="0000FF"/>
                </a:solidFill>
              </a:rPr>
              <a:t> the apple trees will bloom</a:t>
            </a:r>
          </a:p>
          <a:p>
            <a:pPr marL="514350" indent="-514350">
              <a:buNone/>
            </a:pPr>
            <a:r>
              <a:rPr lang="en-US" sz="2800" dirty="0"/>
              <a:t>	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+mn-lt"/>
              </a:rPr>
              <a:t>Exercise 19 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274838"/>
            <a:ext cx="849064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c) That the Pistons win the championship </a:t>
            </a:r>
            <a:r>
              <a:rPr lang="en-US" sz="2800" b="1" dirty="0"/>
              <a:t>implies</a:t>
            </a:r>
            <a:r>
              <a:rPr lang="en-US" sz="2800" dirty="0"/>
              <a:t> that   </a:t>
            </a:r>
          </a:p>
          <a:p>
            <a:pPr>
              <a:buNone/>
            </a:pPr>
            <a:r>
              <a:rPr lang="en-US" sz="2800" dirty="0"/>
              <a:t>     they beat the Lakers.</a:t>
            </a:r>
          </a:p>
          <a:p>
            <a:pPr>
              <a:buNone/>
            </a:pPr>
            <a:r>
              <a:rPr lang="en-US" sz="2800" u="sng" dirty="0">
                <a:solidFill>
                  <a:srgbClr val="FF0000"/>
                </a:solidFill>
              </a:rPr>
              <a:t>Ans</a:t>
            </a:r>
            <a:r>
              <a:rPr lang="en-US" sz="2800" dirty="0">
                <a:solidFill>
                  <a:srgbClr val="FF0000"/>
                </a:solidFill>
              </a:rPr>
              <a:t>. </a:t>
            </a:r>
            <a:r>
              <a:rPr lang="en-US" sz="2800" b="1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srgbClr val="0000FF"/>
                </a:solidFill>
              </a:rPr>
              <a:t> the Pistons win the championship, </a:t>
            </a:r>
            <a:r>
              <a:rPr lang="en-US" sz="2800" b="1" dirty="0">
                <a:solidFill>
                  <a:srgbClr val="0000FF"/>
                </a:solidFill>
              </a:rPr>
              <a:t>then</a:t>
            </a:r>
            <a:r>
              <a:rPr lang="en-US" sz="2800" dirty="0">
                <a:solidFill>
                  <a:srgbClr val="0000FF"/>
                </a:solidFill>
              </a:rPr>
              <a:t> they beat </a:t>
            </a:r>
          </a:p>
          <a:p>
            <a:pPr>
              <a:buNone/>
            </a:pPr>
            <a:r>
              <a:rPr lang="en-US" sz="2800" dirty="0">
                <a:solidFill>
                  <a:srgbClr val="0000FF"/>
                </a:solidFill>
              </a:rPr>
              <a:t>         the Lakers.</a:t>
            </a:r>
          </a:p>
          <a:p>
            <a:pPr>
              <a:buNone/>
            </a:pPr>
            <a:r>
              <a:rPr lang="en-US" sz="2800" dirty="0"/>
              <a:t>d) It is </a:t>
            </a:r>
            <a:r>
              <a:rPr lang="en-US" sz="2800" b="1" dirty="0"/>
              <a:t>necessary</a:t>
            </a:r>
            <a:r>
              <a:rPr lang="en-US" sz="2800" dirty="0"/>
              <a:t> to walk 8 miles to get to the top of </a:t>
            </a:r>
          </a:p>
          <a:p>
            <a:pPr>
              <a:buNone/>
            </a:pPr>
            <a:r>
              <a:rPr lang="en-US" sz="2800" dirty="0"/>
              <a:t>     Long’s Peak.</a:t>
            </a:r>
          </a:p>
          <a:p>
            <a:pPr>
              <a:buNone/>
            </a:pPr>
            <a:r>
              <a:rPr lang="en-US" sz="2800" u="sng" dirty="0">
                <a:solidFill>
                  <a:srgbClr val="FF0000"/>
                </a:solidFill>
              </a:rPr>
              <a:t>Ans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srgbClr val="0000FF"/>
                </a:solidFill>
              </a:rPr>
              <a:t> you get to the top of Long’s Peak, </a:t>
            </a:r>
            <a:r>
              <a:rPr lang="en-US" sz="2800" b="1" dirty="0">
                <a:solidFill>
                  <a:srgbClr val="0000FF"/>
                </a:solidFill>
              </a:rPr>
              <a:t>then</a:t>
            </a:r>
            <a:r>
              <a:rPr lang="en-US" sz="2800" dirty="0">
                <a:solidFill>
                  <a:srgbClr val="0000FF"/>
                </a:solidFill>
              </a:rPr>
              <a:t> you must </a:t>
            </a:r>
          </a:p>
          <a:p>
            <a:pPr>
              <a:buNone/>
            </a:pPr>
            <a:r>
              <a:rPr lang="en-US" sz="2800" dirty="0">
                <a:solidFill>
                  <a:srgbClr val="0000FF"/>
                </a:solidFill>
              </a:rPr>
              <a:t>         have walked eight miles.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400" dirty="0">
                <a:latin typeface="+mn-lt"/>
              </a:rPr>
              <a:t>Exercise 19 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9307" y="2083766"/>
            <a:ext cx="865268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e) To get tenure as a professor, it is </a:t>
            </a:r>
            <a:r>
              <a:rPr lang="en-US" sz="2800" b="1" dirty="0"/>
              <a:t>sufficient</a:t>
            </a:r>
            <a:r>
              <a:rPr lang="en-US" sz="2800" dirty="0"/>
              <a:t> to be world-</a:t>
            </a:r>
          </a:p>
          <a:p>
            <a:pPr>
              <a:buNone/>
            </a:pPr>
            <a:r>
              <a:rPr lang="en-US" sz="2800" dirty="0"/>
              <a:t>     famous.</a:t>
            </a:r>
          </a:p>
          <a:p>
            <a:pPr>
              <a:buNone/>
            </a:pPr>
            <a:r>
              <a:rPr lang="en-US" sz="2800" u="sng" dirty="0">
                <a:solidFill>
                  <a:srgbClr val="FF0000"/>
                </a:solidFill>
              </a:rPr>
              <a:t>Ans.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srgbClr val="0000FF"/>
                </a:solidFill>
              </a:rPr>
              <a:t> you are world-famous, </a:t>
            </a:r>
            <a:r>
              <a:rPr lang="en-US" sz="2800" b="1" dirty="0">
                <a:solidFill>
                  <a:srgbClr val="0000FF"/>
                </a:solidFill>
              </a:rPr>
              <a:t>then</a:t>
            </a:r>
            <a:r>
              <a:rPr lang="en-US" sz="2800" dirty="0">
                <a:solidFill>
                  <a:srgbClr val="0000FF"/>
                </a:solidFill>
              </a:rPr>
              <a:t> you will get tenure as a </a:t>
            </a:r>
          </a:p>
          <a:p>
            <a:pPr>
              <a:buNone/>
            </a:pPr>
            <a:r>
              <a:rPr lang="en-US" sz="2800" dirty="0">
                <a:solidFill>
                  <a:srgbClr val="0000FF"/>
                </a:solidFill>
              </a:rPr>
              <a:t>         professor.</a:t>
            </a:r>
          </a:p>
          <a:p>
            <a:pPr>
              <a:buNone/>
            </a:pPr>
            <a:r>
              <a:rPr lang="en-US" sz="2800" dirty="0"/>
              <a:t>f) </a:t>
            </a:r>
            <a:r>
              <a:rPr lang="en-US" sz="2800" b="1" dirty="0"/>
              <a:t>If</a:t>
            </a:r>
            <a:r>
              <a:rPr lang="en-US" sz="2800" dirty="0"/>
              <a:t> you drive more than 400 miles, you will need to buy </a:t>
            </a:r>
          </a:p>
          <a:p>
            <a:pPr>
              <a:buNone/>
            </a:pPr>
            <a:r>
              <a:rPr lang="en-US" sz="2800" dirty="0"/>
              <a:t>    gasoline.</a:t>
            </a:r>
          </a:p>
          <a:p>
            <a:pPr>
              <a:buNone/>
            </a:pPr>
            <a:r>
              <a:rPr lang="en-US" sz="2800" u="sng" dirty="0">
                <a:solidFill>
                  <a:srgbClr val="FF0000"/>
                </a:solidFill>
              </a:rPr>
              <a:t>Ans.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srgbClr val="0000FF"/>
                </a:solidFill>
              </a:rPr>
              <a:t> you drive more than 400 miles, </a:t>
            </a:r>
            <a:r>
              <a:rPr lang="en-US" sz="2800" b="1" dirty="0">
                <a:solidFill>
                  <a:srgbClr val="0000FF"/>
                </a:solidFill>
              </a:rPr>
              <a:t>then</a:t>
            </a:r>
            <a:r>
              <a:rPr lang="en-US" sz="2800" dirty="0">
                <a:solidFill>
                  <a:srgbClr val="0000FF"/>
                </a:solidFill>
              </a:rPr>
              <a:t> you will need to buy gasoline.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+mn-lt"/>
              </a:rPr>
              <a:t>Exercise 19 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4733" y="2107023"/>
            <a:ext cx="8886435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None/>
            </a:pPr>
            <a:r>
              <a:rPr lang="en-US" sz="2800" dirty="0"/>
              <a:t>g) Your guarantee is good </a:t>
            </a:r>
            <a:r>
              <a:rPr lang="en-US" sz="2800" b="1" dirty="0"/>
              <a:t>only if</a:t>
            </a:r>
            <a:r>
              <a:rPr lang="en-US" sz="2800" dirty="0"/>
              <a:t> you bought your CD  </a:t>
            </a:r>
          </a:p>
          <a:p>
            <a:pPr marL="274320" indent="-274320">
              <a:spcBef>
                <a:spcPts val="600"/>
              </a:spcBef>
              <a:buNone/>
            </a:pPr>
            <a:r>
              <a:rPr lang="en-US" sz="2800" dirty="0"/>
              <a:t>     player less than 90 days ago.</a:t>
            </a:r>
          </a:p>
          <a:p>
            <a:pPr>
              <a:buNone/>
            </a:pPr>
            <a:r>
              <a:rPr lang="en-US" sz="2800" u="sng" dirty="0">
                <a:solidFill>
                  <a:srgbClr val="FF0000"/>
                </a:solidFill>
              </a:rPr>
              <a:t>Ans.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srgbClr val="0000FF"/>
                </a:solidFill>
              </a:rPr>
              <a:t> your guarantee is good, </a:t>
            </a:r>
            <a:r>
              <a:rPr lang="en-US" sz="2800" b="1" dirty="0">
                <a:solidFill>
                  <a:srgbClr val="0000FF"/>
                </a:solidFill>
              </a:rPr>
              <a:t>then</a:t>
            </a:r>
            <a:r>
              <a:rPr lang="en-US" sz="2800" dirty="0">
                <a:solidFill>
                  <a:srgbClr val="0000FF"/>
                </a:solidFill>
              </a:rPr>
              <a:t> you must have bought </a:t>
            </a:r>
          </a:p>
          <a:p>
            <a:pPr>
              <a:buNone/>
            </a:pPr>
            <a:r>
              <a:rPr lang="en-US" sz="2800" dirty="0">
                <a:solidFill>
                  <a:srgbClr val="0000FF"/>
                </a:solidFill>
              </a:rPr>
              <a:t>         your CD player less than 90 days ago.</a:t>
            </a:r>
          </a:p>
          <a:p>
            <a:pPr>
              <a:buNone/>
            </a:pPr>
            <a:endParaRPr 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565" y="449005"/>
            <a:ext cx="7808976" cy="108813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+mn-lt"/>
              </a:rPr>
              <a:t>Converse, </a:t>
            </a:r>
            <a:r>
              <a:rPr lang="en-US" altLang="zh-TW" sz="3200" b="1" dirty="0" err="1">
                <a:latin typeface="+mn-lt"/>
              </a:rPr>
              <a:t>Contrapositive</a:t>
            </a:r>
            <a:r>
              <a:rPr lang="en-US" altLang="zh-TW" sz="3200" b="1" dirty="0">
                <a:latin typeface="+mn-lt"/>
              </a:rPr>
              <a:t>, and Inverse</a:t>
            </a:r>
            <a:endParaRPr lang="en-US" sz="32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4835" y="2266760"/>
            <a:ext cx="7738281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We can form some new conditional statements starting with a conditional statement</a:t>
            </a:r>
            <a:r>
              <a:rPr lang="en-US" altLang="zh-TW" sz="2400" dirty="0">
                <a:solidFill>
                  <a:srgbClr val="0000FF"/>
                </a:solidFill>
              </a:rPr>
              <a:t> </a:t>
            </a:r>
            <a:r>
              <a:rPr lang="en-US" altLang="zh-TW" sz="2400" b="1" i="1" dirty="0"/>
              <a:t>p</a:t>
            </a:r>
            <a:r>
              <a:rPr lang="en-US" altLang="zh-TW" sz="2400" b="1" dirty="0"/>
              <a:t> </a:t>
            </a:r>
            <a:r>
              <a:rPr lang="en-US" altLang="zh-TW" sz="2400" b="1" dirty="0">
                <a:sym typeface="Symbol" pitchFamily="18" charset="2"/>
              </a:rPr>
              <a:t></a:t>
            </a:r>
            <a:r>
              <a:rPr lang="en-US" altLang="zh-TW" sz="2400" b="1" dirty="0"/>
              <a:t> </a:t>
            </a:r>
            <a:r>
              <a:rPr lang="en-US" altLang="zh-TW" sz="2400" b="1" i="1" dirty="0"/>
              <a:t>q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400" i="1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b="1" dirty="0">
                <a:solidFill>
                  <a:srgbClr val="0000FF"/>
                </a:solidFill>
              </a:rPr>
              <a:t>Converse of  </a:t>
            </a:r>
            <a:r>
              <a:rPr lang="en-US" altLang="zh-TW" sz="2400" b="1" i="1" dirty="0">
                <a:solidFill>
                  <a:srgbClr val="0000FF"/>
                </a:solidFill>
              </a:rPr>
              <a:t>p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b="1" i="1" dirty="0">
                <a:solidFill>
                  <a:srgbClr val="0000FF"/>
                </a:solidFill>
              </a:rPr>
              <a:t>q</a:t>
            </a:r>
            <a:r>
              <a:rPr lang="en-US" altLang="zh-TW" sz="2400" dirty="0">
                <a:solidFill>
                  <a:srgbClr val="0000FF"/>
                </a:solidFill>
              </a:rPr>
              <a:t> </a:t>
            </a:r>
            <a:r>
              <a:rPr lang="en-US" altLang="zh-TW" sz="2400" dirty="0"/>
              <a:t>is the proposition </a:t>
            </a:r>
            <a:r>
              <a:rPr lang="en-US" altLang="zh-TW" sz="2400" b="1" i="1" dirty="0">
                <a:solidFill>
                  <a:srgbClr val="FF0000"/>
                </a:solidFill>
              </a:rPr>
              <a:t>q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i="1" dirty="0">
                <a:solidFill>
                  <a:srgbClr val="FF0000"/>
                </a:solidFill>
              </a:rPr>
              <a:t>p</a:t>
            </a:r>
            <a:endParaRPr lang="en-US" altLang="zh-TW" sz="2400" b="1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b="1" i="1" dirty="0" err="1">
                <a:solidFill>
                  <a:srgbClr val="0000FF"/>
                </a:solidFill>
              </a:rPr>
              <a:t>Contrapositive</a:t>
            </a:r>
            <a:r>
              <a:rPr lang="en-US" altLang="zh-TW" sz="2400" b="1" dirty="0">
                <a:solidFill>
                  <a:srgbClr val="0000FF"/>
                </a:solidFill>
              </a:rPr>
              <a:t> of </a:t>
            </a:r>
            <a:r>
              <a:rPr lang="en-US" altLang="zh-TW" sz="2400" b="1" i="1" dirty="0">
                <a:solidFill>
                  <a:srgbClr val="0000FF"/>
                </a:solidFill>
              </a:rPr>
              <a:t>p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b="1" i="1" dirty="0">
                <a:solidFill>
                  <a:srgbClr val="0000FF"/>
                </a:solidFill>
              </a:rPr>
              <a:t>q </a:t>
            </a:r>
            <a:r>
              <a:rPr lang="en-US" altLang="zh-TW" sz="2400" dirty="0"/>
              <a:t>is the proposition 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i="1" dirty="0">
                <a:solidFill>
                  <a:srgbClr val="FF0000"/>
                </a:solidFill>
              </a:rPr>
              <a:t>q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i="1" dirty="0">
                <a:solidFill>
                  <a:srgbClr val="FF0000"/>
                </a:solidFill>
              </a:rPr>
              <a:t>p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b="1" i="1" dirty="0">
                <a:solidFill>
                  <a:srgbClr val="0000FF"/>
                </a:solidFill>
              </a:rPr>
              <a:t>Inverse of p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b="1" i="1" dirty="0">
                <a:solidFill>
                  <a:srgbClr val="0000FF"/>
                </a:solidFill>
              </a:rPr>
              <a:t>q </a:t>
            </a:r>
            <a:r>
              <a:rPr lang="en-US" altLang="zh-TW" sz="2400" dirty="0"/>
              <a:t>is the proposition </a:t>
            </a:r>
            <a:r>
              <a:rPr lang="en-US" altLang="zh-TW" sz="2400" b="1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i="1" dirty="0">
                <a:solidFill>
                  <a:srgbClr val="FF0000"/>
                </a:solidFill>
              </a:rPr>
              <a:t>p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i="1" dirty="0">
                <a:solidFill>
                  <a:srgbClr val="FF0000"/>
                </a:solidFill>
              </a:rPr>
              <a:t>q 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400" dirty="0"/>
          </a:p>
          <a:p>
            <a:pPr marL="274320" indent="-274320">
              <a:spcBef>
                <a:spcPts val="600"/>
              </a:spcBef>
            </a:pP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71837"/>
            <a:ext cx="7808976" cy="1088136"/>
          </a:xfrm>
        </p:spPr>
        <p:txBody>
          <a:bodyPr>
            <a:normAutofit fontScale="90000"/>
          </a:bodyPr>
          <a:lstStyle/>
          <a:p>
            <a:br>
              <a:rPr lang="en-US" sz="4400" dirty="0">
                <a:solidFill>
                  <a:srgbClr val="FF0000"/>
                </a:solidFill>
                <a:latin typeface="+mn-lt"/>
              </a:rPr>
            </a:br>
            <a:r>
              <a:rPr lang="en-US" sz="4400" dirty="0">
                <a:solidFill>
                  <a:srgbClr val="FF0000"/>
                </a:solidFill>
                <a:latin typeface="+mn-lt"/>
              </a:rPr>
              <a:t>Practice Examples</a:t>
            </a:r>
            <a:endParaRPr lang="en-US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045049"/>
            <a:ext cx="798567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2400" b="1" i="1" dirty="0">
                <a:solidFill>
                  <a:srgbClr val="0000FF"/>
                </a:solidFill>
              </a:rPr>
              <a:t>Converse</a:t>
            </a:r>
            <a:r>
              <a:rPr lang="en-US" sz="2400" dirty="0"/>
              <a:t>:  </a:t>
            </a:r>
            <a:r>
              <a:rPr lang="en-US" sz="2400" i="1" dirty="0"/>
              <a:t>p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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/>
              <a:t>q  </a:t>
            </a:r>
            <a:r>
              <a:rPr lang="en-US" sz="2400" dirty="0">
                <a:solidFill>
                  <a:srgbClr val="0000FF"/>
                </a:solidFill>
              </a:rPr>
              <a:t>==&gt;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q</a:t>
            </a: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  </a:t>
            </a:r>
            <a:r>
              <a:rPr lang="en-US" sz="2400" b="1" i="1" dirty="0">
                <a:solidFill>
                  <a:srgbClr val="FF0000"/>
                </a:solidFill>
              </a:rPr>
              <a:t>p </a:t>
            </a:r>
            <a:endParaRPr lang="en-US" sz="2400" b="1" i="1" dirty="0">
              <a:solidFill>
                <a:srgbClr val="FF0000"/>
              </a:solidFill>
              <a:sym typeface="Symbol" pitchFamily="18" charset="2"/>
            </a:endParaRPr>
          </a:p>
          <a:p>
            <a:pPr marL="274320" lvl="1" indent="-274320">
              <a:spcBef>
                <a:spcPts val="600"/>
              </a:spcBef>
              <a:buClr>
                <a:schemeClr val="folHlink"/>
              </a:buClr>
            </a:pPr>
            <a:r>
              <a:rPr lang="en-US" sz="2400" u="sng" dirty="0">
                <a:solidFill>
                  <a:srgbClr val="FF0000"/>
                </a:solidFill>
              </a:rPr>
              <a:t>Example</a:t>
            </a:r>
            <a:r>
              <a:rPr lang="en-US" sz="2400" dirty="0"/>
              <a:t>: “If it is noon, then I am hungry.” </a:t>
            </a:r>
          </a:p>
          <a:p>
            <a:pPr marL="274320" lvl="1" indent="-274320">
              <a:spcBef>
                <a:spcPts val="600"/>
              </a:spcBef>
              <a:buClr>
                <a:schemeClr val="folHlink"/>
              </a:buClr>
            </a:pPr>
            <a:r>
              <a:rPr lang="en-US" sz="2400" dirty="0"/>
              <a:t>	</a:t>
            </a:r>
            <a:r>
              <a:rPr lang="en-US" sz="2400" b="1" dirty="0"/>
              <a:t>Converse</a:t>
            </a:r>
            <a:r>
              <a:rPr lang="en-US" sz="2400" dirty="0"/>
              <a:t>:  “If I am hungry, then it is noon.”</a:t>
            </a:r>
          </a:p>
          <a:p>
            <a:pPr marL="274320" indent="-274320">
              <a:spcBef>
                <a:spcPts val="6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2400" b="1" i="1" dirty="0" err="1">
                <a:solidFill>
                  <a:srgbClr val="0000FF"/>
                </a:solidFill>
              </a:rPr>
              <a:t>Contrapositive</a:t>
            </a:r>
            <a:r>
              <a:rPr lang="en-US" sz="2400" dirty="0"/>
              <a:t>:  </a:t>
            </a:r>
            <a:r>
              <a:rPr lang="en-US" sz="2400" i="1" dirty="0"/>
              <a:t>p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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/>
              <a:t>q  </a:t>
            </a:r>
            <a:r>
              <a:rPr lang="en-US" sz="2400" dirty="0">
                <a:solidFill>
                  <a:srgbClr val="0000FF"/>
                </a:solidFill>
              </a:rPr>
              <a:t>==&gt;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sz="2400" b="1" i="1" dirty="0">
                <a:solidFill>
                  <a:srgbClr val="FF0000"/>
                </a:solidFill>
              </a:rPr>
              <a:t>q</a:t>
            </a: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  </a:t>
            </a:r>
            <a:r>
              <a:rPr lang="en-US" sz="2400" b="1" i="1" dirty="0">
                <a:solidFill>
                  <a:srgbClr val="FF0000"/>
                </a:solidFill>
              </a:rPr>
              <a:t>p </a:t>
            </a:r>
            <a:endParaRPr lang="en-US" sz="2400" b="1" i="1" dirty="0">
              <a:solidFill>
                <a:srgbClr val="FF0000"/>
              </a:solidFill>
              <a:sym typeface="Symbol" pitchFamily="18" charset="2"/>
            </a:endParaRPr>
          </a:p>
          <a:p>
            <a:pPr marL="274320" lvl="1" indent="-274320">
              <a:spcBef>
                <a:spcPts val="600"/>
              </a:spcBef>
              <a:buClr>
                <a:schemeClr val="folHlink"/>
              </a:buClr>
            </a:pPr>
            <a:r>
              <a:rPr lang="en-US" sz="2400" u="sng" dirty="0">
                <a:solidFill>
                  <a:srgbClr val="FF0000"/>
                </a:solidFill>
              </a:rPr>
              <a:t>Example</a:t>
            </a:r>
            <a:r>
              <a:rPr lang="en-US" sz="2400" dirty="0"/>
              <a:t>: “If it is noon, then I am hungry.” </a:t>
            </a:r>
          </a:p>
          <a:p>
            <a:pPr marL="274320" lvl="1" indent="-274320">
              <a:spcBef>
                <a:spcPts val="600"/>
              </a:spcBef>
              <a:buClr>
                <a:schemeClr val="folHlink"/>
              </a:buClr>
            </a:pPr>
            <a:r>
              <a:rPr lang="en-US" sz="2400" b="1" dirty="0"/>
              <a:t>    </a:t>
            </a:r>
            <a:r>
              <a:rPr lang="en-US" sz="2400" b="1" dirty="0" err="1"/>
              <a:t>Contrapositive</a:t>
            </a:r>
            <a:r>
              <a:rPr lang="en-US" sz="2400" dirty="0"/>
              <a:t>: “If I am not hungry, then it is not noon.”</a:t>
            </a:r>
          </a:p>
          <a:p>
            <a:pPr marL="274320" indent="-274320">
              <a:spcBef>
                <a:spcPts val="600"/>
              </a:spcBef>
              <a:buClr>
                <a:schemeClr val="bg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2400" b="1" i="1" dirty="0">
                <a:solidFill>
                  <a:srgbClr val="0000FF"/>
                </a:solidFill>
              </a:rPr>
              <a:t>Inverse</a:t>
            </a:r>
            <a:r>
              <a:rPr lang="en-US" sz="2400" dirty="0"/>
              <a:t>:   </a:t>
            </a:r>
            <a:r>
              <a:rPr lang="en-US" sz="2400" i="1" dirty="0"/>
              <a:t>p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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/>
              <a:t>q   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==&gt;</a:t>
            </a:r>
            <a:r>
              <a:rPr lang="en-US" sz="2400" i="1" dirty="0">
                <a:sym typeface="Wingdings" pitchFamily="2" charset="2"/>
              </a:rPr>
              <a:t> 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sz="2400" b="1" i="1" dirty="0">
                <a:solidFill>
                  <a:srgbClr val="FF0000"/>
                </a:solidFill>
              </a:rPr>
              <a:t>p</a:t>
            </a: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  </a:t>
            </a:r>
            <a:r>
              <a:rPr lang="en-US" sz="2400" b="1" i="1" dirty="0">
                <a:solidFill>
                  <a:srgbClr val="FF0000"/>
                </a:solidFill>
              </a:rPr>
              <a:t>q </a:t>
            </a:r>
            <a:endParaRPr lang="en-US" sz="2400" b="1" i="1" dirty="0">
              <a:solidFill>
                <a:srgbClr val="FF0000"/>
              </a:solidFill>
              <a:sym typeface="Symbol" pitchFamily="18" charset="2"/>
            </a:endParaRPr>
          </a:p>
          <a:p>
            <a:pPr marL="274320" lvl="1" indent="-274320">
              <a:spcBef>
                <a:spcPts val="600"/>
              </a:spcBef>
              <a:buClr>
                <a:schemeClr val="folHlink"/>
              </a:buClr>
            </a:pPr>
            <a:r>
              <a:rPr lang="en-US" sz="2400" u="sng" dirty="0">
                <a:solidFill>
                  <a:srgbClr val="FF0000"/>
                </a:solidFill>
              </a:rPr>
              <a:t>Example</a:t>
            </a:r>
            <a:r>
              <a:rPr lang="en-US" sz="2400" dirty="0"/>
              <a:t>:  “If it is noon, then I am hungry.” </a:t>
            </a:r>
          </a:p>
          <a:p>
            <a:pPr marL="274320" lvl="1" indent="-274320">
              <a:spcBef>
                <a:spcPts val="600"/>
              </a:spcBef>
              <a:buClr>
                <a:schemeClr val="bg2">
                  <a:lumMod val="50000"/>
                </a:schemeClr>
              </a:buClr>
            </a:pPr>
            <a:r>
              <a:rPr lang="en-US" sz="2400" b="1" dirty="0"/>
              <a:t>     Inverse</a:t>
            </a:r>
            <a:r>
              <a:rPr lang="en-US" sz="2400" dirty="0"/>
              <a:t>: “If it is not noon, then I am not hungry.”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67373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Bi-Conditional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0501" y="2251881"/>
            <a:ext cx="7861111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Let </a:t>
            </a:r>
            <a:r>
              <a:rPr lang="en-US" altLang="zh-TW" sz="2400" i="1" dirty="0"/>
              <a:t>p</a:t>
            </a:r>
            <a:r>
              <a:rPr lang="en-US" altLang="zh-TW" sz="2400" dirty="0"/>
              <a:t> and </a:t>
            </a:r>
            <a:r>
              <a:rPr lang="en-US" altLang="zh-TW" sz="2400" i="1" dirty="0"/>
              <a:t>q</a:t>
            </a:r>
            <a:r>
              <a:rPr lang="en-US" altLang="zh-TW" sz="2400" dirty="0"/>
              <a:t> be propositions.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i="1" dirty="0"/>
              <a:t>bi-conditional statement</a:t>
            </a:r>
            <a:r>
              <a:rPr lang="en-US" altLang="zh-TW" sz="2400" dirty="0"/>
              <a:t> </a:t>
            </a:r>
            <a:r>
              <a:rPr lang="en-US" altLang="zh-TW" sz="2400" b="1" i="1" dirty="0">
                <a:solidFill>
                  <a:srgbClr val="0000FF"/>
                </a:solidFill>
              </a:rPr>
              <a:t>p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b="1" dirty="0">
                <a:solidFill>
                  <a:srgbClr val="0000FF"/>
                </a:solidFill>
                <a:sym typeface="Symbol" pitchFamily="18" charset="2"/>
              </a:rPr>
              <a:t>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b="1" i="1" dirty="0">
                <a:solidFill>
                  <a:srgbClr val="0000FF"/>
                </a:solidFill>
              </a:rPr>
              <a:t>q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dirty="0"/>
              <a:t>is the proposition </a:t>
            </a:r>
            <a:r>
              <a:rPr lang="en-US" altLang="zh-TW" sz="2400" b="1" dirty="0">
                <a:solidFill>
                  <a:srgbClr val="0000FF"/>
                </a:solidFill>
              </a:rPr>
              <a:t>“</a:t>
            </a:r>
            <a:r>
              <a:rPr lang="en-US" altLang="zh-TW" sz="2400" b="1" i="1" dirty="0">
                <a:solidFill>
                  <a:srgbClr val="0000FF"/>
                </a:solidFill>
              </a:rPr>
              <a:t>p</a:t>
            </a:r>
            <a:r>
              <a:rPr lang="en-US" altLang="zh-TW" sz="2400" b="1" dirty="0">
                <a:solidFill>
                  <a:srgbClr val="0000FF"/>
                </a:solidFill>
              </a:rPr>
              <a:t> if and only if </a:t>
            </a:r>
            <a:r>
              <a:rPr lang="en-US" altLang="zh-TW" sz="2400" b="1" i="1" dirty="0">
                <a:solidFill>
                  <a:srgbClr val="0000FF"/>
                </a:solidFill>
              </a:rPr>
              <a:t>q</a:t>
            </a:r>
            <a:r>
              <a:rPr lang="en-US" altLang="zh-TW" sz="2400" b="1" dirty="0">
                <a:solidFill>
                  <a:srgbClr val="0000FF"/>
                </a:solidFill>
              </a:rPr>
              <a:t>.”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FF"/>
                </a:solidFill>
              </a:rPr>
              <a:t>The bi-conditional statement </a:t>
            </a:r>
            <a:r>
              <a:rPr lang="en-US" altLang="zh-TW" sz="2400" b="1" i="1" dirty="0">
                <a:solidFill>
                  <a:srgbClr val="0000FF"/>
                </a:solidFill>
              </a:rPr>
              <a:t>p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b="1" dirty="0">
                <a:solidFill>
                  <a:srgbClr val="0000FF"/>
                </a:solidFill>
                <a:sym typeface="Symbol" pitchFamily="18" charset="2"/>
              </a:rPr>
              <a:t>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b="1" i="1" dirty="0">
                <a:solidFill>
                  <a:srgbClr val="0000FF"/>
                </a:solidFill>
              </a:rPr>
              <a:t>q</a:t>
            </a:r>
            <a:r>
              <a:rPr lang="en-US" altLang="zh-TW" sz="2400" b="1" dirty="0">
                <a:solidFill>
                  <a:srgbClr val="0000FF"/>
                </a:solidFill>
              </a:rPr>
              <a:t> is true when p and q have the same truth values, and is false otherwise.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>
                <a:solidFill>
                  <a:srgbClr val="0000FF"/>
                </a:solidFill>
              </a:rPr>
              <a:t>Bi-conditional</a:t>
            </a:r>
            <a:r>
              <a:rPr lang="en-US" altLang="zh-TW" sz="2400" dirty="0"/>
              <a:t> </a:t>
            </a:r>
            <a:r>
              <a:rPr lang="en-US" altLang="zh-TW" sz="2400" dirty="0">
                <a:solidFill>
                  <a:srgbClr val="0000FF"/>
                </a:solidFill>
              </a:rPr>
              <a:t>statements</a:t>
            </a:r>
            <a:r>
              <a:rPr lang="en-US" altLang="zh-TW" sz="2400" dirty="0"/>
              <a:t> are also called “</a:t>
            </a:r>
            <a:r>
              <a:rPr lang="en-US" altLang="zh-TW" sz="2400" i="1" dirty="0">
                <a:solidFill>
                  <a:srgbClr val="0000FF"/>
                </a:solidFill>
              </a:rPr>
              <a:t>bi-implications</a:t>
            </a:r>
            <a:r>
              <a:rPr lang="en-US" altLang="zh-TW" sz="2400" dirty="0"/>
              <a:t>”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400" u="sng" dirty="0">
              <a:solidFill>
                <a:srgbClr val="FF0000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u="sng" dirty="0">
                <a:solidFill>
                  <a:srgbClr val="FF0000"/>
                </a:solidFill>
              </a:rPr>
              <a:t>Question</a:t>
            </a:r>
            <a:r>
              <a:rPr lang="en-US" sz="2400" dirty="0">
                <a:solidFill>
                  <a:srgbClr val="FF0000"/>
                </a:solidFill>
              </a:rPr>
              <a:t> : Which operator is </a:t>
            </a:r>
            <a:r>
              <a:rPr lang="en-US" sz="2400" dirty="0">
                <a:solidFill>
                  <a:srgbClr val="FF0000"/>
                </a:solidFill>
                <a:sym typeface="Symbol" pitchFamily="18" charset="2"/>
              </a:rPr>
              <a:t>the opposite of ?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i="1" u="sng" dirty="0">
                <a:solidFill>
                  <a:srgbClr val="00B050"/>
                </a:solidFill>
                <a:sym typeface="Symbol" pitchFamily="18" charset="2"/>
              </a:rPr>
              <a:t>Answer</a:t>
            </a:r>
            <a:r>
              <a:rPr lang="en-US" sz="2400" i="1" dirty="0">
                <a:solidFill>
                  <a:srgbClr val="00B050"/>
                </a:solidFill>
                <a:sym typeface="Symbol" pitchFamily="18" charset="2"/>
              </a:rPr>
              <a:t>:</a:t>
            </a:r>
            <a:r>
              <a:rPr lang="en-US" sz="2400" i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ja-JP" sz="2400" dirty="0"/>
              <a:t> </a:t>
            </a:r>
            <a:r>
              <a:rPr lang="en-US" altLang="ja-JP" sz="2400" dirty="0">
                <a:solidFill>
                  <a:srgbClr val="0000FF"/>
                </a:solidFill>
                <a:sym typeface="Symbol" pitchFamily="18" charset="2"/>
              </a:rPr>
              <a:t> has exactly the opposite truth table as . </a:t>
            </a:r>
            <a:endParaRPr lang="en-US" altLang="zh-TW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Truth Table for Bi-conditional </a:t>
            </a:r>
            <a:r>
              <a:rPr lang="en-US" altLang="zh-TW" sz="3600" b="1" i="1" dirty="0">
                <a:latin typeface="+mn-lt"/>
              </a:rPr>
              <a:t>p</a:t>
            </a:r>
            <a:r>
              <a:rPr lang="en-US" altLang="zh-TW" sz="3600" b="1" dirty="0">
                <a:latin typeface="+mn-lt"/>
              </a:rPr>
              <a:t> </a:t>
            </a:r>
            <a:r>
              <a:rPr lang="en-US" altLang="zh-TW" sz="3600" b="1" dirty="0">
                <a:latin typeface="+mn-lt"/>
                <a:sym typeface="Symbol" pitchFamily="18" charset="2"/>
              </a:rPr>
              <a:t></a:t>
            </a:r>
            <a:r>
              <a:rPr lang="en-US" altLang="zh-TW" sz="3600" b="1" dirty="0">
                <a:latin typeface="+mn-lt"/>
              </a:rPr>
              <a:t> </a:t>
            </a:r>
            <a:r>
              <a:rPr lang="en-US" altLang="zh-TW" sz="3600" b="1" i="1" dirty="0">
                <a:latin typeface="+mn-lt"/>
              </a:rPr>
              <a:t>q</a:t>
            </a:r>
            <a:r>
              <a:rPr lang="en-US" altLang="zh-TW" sz="3600" b="1" dirty="0">
                <a:latin typeface="+mn-lt"/>
              </a:rPr>
              <a:t> </a:t>
            </a:r>
            <a:endParaRPr lang="en-US" sz="3600" dirty="0">
              <a:latin typeface="+mn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62063" y="1943486"/>
            <a:ext cx="6053137" cy="43630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Example of Bi-conditional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41187" y="2290227"/>
            <a:ext cx="821595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Example 10 ( Page 9): </a:t>
            </a:r>
            <a:r>
              <a:rPr lang="en-US" sz="2800" dirty="0"/>
              <a:t>Let </a:t>
            </a:r>
            <a:r>
              <a:rPr lang="en-US" sz="2800" i="1" dirty="0"/>
              <a:t>p</a:t>
            </a:r>
            <a:r>
              <a:rPr lang="en-US" sz="2800" dirty="0"/>
              <a:t> be the statement “ You can take the flight” and </a:t>
            </a:r>
            <a:r>
              <a:rPr lang="en-US" sz="2800" i="1" dirty="0"/>
              <a:t>q</a:t>
            </a:r>
            <a:r>
              <a:rPr lang="en-US" sz="2800" dirty="0"/>
              <a:t> be the statement “ You buy a ticket”. What is the statement for </a:t>
            </a:r>
            <a:r>
              <a:rPr lang="en-US" altLang="zh-TW" sz="2800" b="1" i="1" dirty="0">
                <a:solidFill>
                  <a:srgbClr val="0000FF"/>
                </a:solidFill>
              </a:rPr>
              <a:t>p</a:t>
            </a:r>
            <a:r>
              <a:rPr lang="en-US" altLang="zh-TW" sz="2800" b="1" dirty="0">
                <a:solidFill>
                  <a:srgbClr val="0000FF"/>
                </a:solidFill>
              </a:rPr>
              <a:t> </a:t>
            </a:r>
            <a:r>
              <a:rPr lang="en-US" altLang="zh-TW" sz="2800" b="1" dirty="0">
                <a:solidFill>
                  <a:srgbClr val="0000FF"/>
                </a:solidFill>
                <a:sym typeface="Symbol" pitchFamily="18" charset="2"/>
              </a:rPr>
              <a:t></a:t>
            </a:r>
            <a:r>
              <a:rPr lang="en-US" altLang="zh-TW" sz="2800" b="1" dirty="0">
                <a:solidFill>
                  <a:srgbClr val="0000FF"/>
                </a:solidFill>
              </a:rPr>
              <a:t> </a:t>
            </a:r>
            <a:r>
              <a:rPr lang="en-US" altLang="zh-TW" sz="2800" b="1" i="1" dirty="0">
                <a:solidFill>
                  <a:srgbClr val="0000FF"/>
                </a:solidFill>
              </a:rPr>
              <a:t>q</a:t>
            </a:r>
            <a:r>
              <a:rPr lang="en-US" altLang="zh-TW" sz="2800" b="1" dirty="0">
                <a:solidFill>
                  <a:srgbClr val="0000FF"/>
                </a:solidFill>
              </a:rPr>
              <a:t> ?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b="1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800" b="1" u="sng" dirty="0">
                <a:solidFill>
                  <a:srgbClr val="0000FF"/>
                </a:solidFill>
              </a:rPr>
              <a:t>Solution</a:t>
            </a:r>
            <a:r>
              <a:rPr lang="en-US" altLang="zh-TW" sz="2800" b="1" dirty="0">
                <a:solidFill>
                  <a:srgbClr val="0000FF"/>
                </a:solidFill>
              </a:rPr>
              <a:t>: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zh-TW" sz="2800" dirty="0">
                <a:solidFill>
                  <a:srgbClr val="0000FF"/>
                </a:solidFill>
              </a:rPr>
              <a:t>“You can take the flight if and only if you buy a ticket”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57" y="599133"/>
            <a:ext cx="7808976" cy="108813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How to </a:t>
            </a:r>
            <a:r>
              <a:rPr lang="en-US" sz="3200" b="1" dirty="0">
                <a:latin typeface="+mn-lt"/>
              </a:rPr>
              <a:t>Construct</a:t>
            </a:r>
            <a:r>
              <a:rPr lang="en-US" sz="3200" dirty="0">
                <a:latin typeface="+mn-lt"/>
              </a:rPr>
              <a:t> a </a:t>
            </a:r>
            <a:r>
              <a:rPr lang="en-US" sz="3200" b="1" dirty="0">
                <a:latin typeface="+mn-lt"/>
              </a:rPr>
              <a:t>Truth</a:t>
            </a:r>
            <a:r>
              <a:rPr lang="en-US" sz="3200" dirty="0">
                <a:latin typeface="+mn-lt"/>
              </a:rPr>
              <a:t> </a:t>
            </a:r>
            <a:r>
              <a:rPr lang="en-US" sz="3200" b="1" dirty="0">
                <a:latin typeface="+mn-lt"/>
              </a:rPr>
              <a:t>Table</a:t>
            </a:r>
            <a:r>
              <a:rPr lang="en-US" sz="3200" dirty="0">
                <a:latin typeface="+mn-lt"/>
              </a:rPr>
              <a:t> for a Compound Proposition?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967" y="2136339"/>
            <a:ext cx="8379726" cy="420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At first look at the </a:t>
            </a:r>
            <a:r>
              <a:rPr lang="en-US" sz="2800" dirty="0">
                <a:solidFill>
                  <a:srgbClr val="FF0000"/>
                </a:solidFill>
              </a:rPr>
              <a:t>number of propositions (e.g. </a:t>
            </a:r>
            <a:r>
              <a:rPr lang="en-US" sz="2800" i="1" dirty="0">
                <a:solidFill>
                  <a:srgbClr val="FF0000"/>
                </a:solidFill>
              </a:rPr>
              <a:t>p</a:t>
            </a:r>
            <a:r>
              <a:rPr lang="en-US" sz="2800" dirty="0">
                <a:solidFill>
                  <a:srgbClr val="FF0000"/>
                </a:solidFill>
              </a:rPr>
              <a:t>, </a:t>
            </a:r>
            <a:r>
              <a:rPr lang="en-US" sz="2800" i="1" dirty="0">
                <a:solidFill>
                  <a:srgbClr val="FF0000"/>
                </a:solidFill>
              </a:rPr>
              <a:t>q</a:t>
            </a:r>
            <a:r>
              <a:rPr lang="en-US" sz="2800" dirty="0">
                <a:solidFill>
                  <a:srgbClr val="FF0000"/>
                </a:solidFill>
              </a:rPr>
              <a:t>, </a:t>
            </a:r>
            <a:r>
              <a:rPr lang="en-US" sz="2800" i="1" dirty="0">
                <a:solidFill>
                  <a:srgbClr val="FF0000"/>
                </a:solidFill>
              </a:rPr>
              <a:t>r</a:t>
            </a:r>
            <a:r>
              <a:rPr lang="en-US" sz="2800" dirty="0">
                <a:solidFill>
                  <a:srgbClr val="FF0000"/>
                </a:solidFill>
              </a:rPr>
              <a:t> ) </a:t>
            </a:r>
            <a:r>
              <a:rPr lang="en-US" sz="2800" dirty="0"/>
              <a:t>in the </a:t>
            </a:r>
            <a:r>
              <a:rPr lang="en-US" sz="2800" dirty="0">
                <a:solidFill>
                  <a:srgbClr val="FF0000"/>
                </a:solidFill>
              </a:rPr>
              <a:t>given compound proposition.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0000FF"/>
                </a:solidFill>
              </a:rPr>
              <a:t>There will be </a:t>
            </a:r>
            <a:r>
              <a:rPr lang="en-US" sz="2800" b="1" dirty="0">
                <a:solidFill>
                  <a:srgbClr val="0000FF"/>
                </a:solidFill>
              </a:rPr>
              <a:t>2</a:t>
            </a:r>
            <a:r>
              <a:rPr lang="en-US" sz="2800" b="1" baseline="30000" dirty="0">
                <a:solidFill>
                  <a:srgbClr val="0000FF"/>
                </a:solidFill>
              </a:rPr>
              <a:t>n</a:t>
            </a:r>
            <a:r>
              <a:rPr lang="en-US" sz="2800" b="1" dirty="0">
                <a:solidFill>
                  <a:srgbClr val="0000FF"/>
                </a:solidFill>
              </a:rPr>
              <a:t> number of rows </a:t>
            </a:r>
            <a:r>
              <a:rPr lang="en-US" sz="2800" dirty="0">
                <a:solidFill>
                  <a:srgbClr val="0000FF"/>
                </a:solidFill>
              </a:rPr>
              <a:t>in the truth table</a:t>
            </a:r>
            <a:r>
              <a:rPr lang="en-US" sz="2800" dirty="0"/>
              <a:t>, where </a:t>
            </a:r>
            <a:r>
              <a:rPr lang="en-US" sz="2800" i="1" dirty="0">
                <a:solidFill>
                  <a:srgbClr val="0000FF"/>
                </a:solidFill>
              </a:rPr>
              <a:t>n</a:t>
            </a:r>
            <a:r>
              <a:rPr lang="en-US" sz="2800" dirty="0">
                <a:solidFill>
                  <a:srgbClr val="0000FF"/>
                </a:solidFill>
              </a:rPr>
              <a:t> is the number of propositions in the compound proposition.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Draw the table. In the first row, write down the name of propositions (e.g. </a:t>
            </a:r>
            <a:r>
              <a:rPr lang="en-US" sz="2800" i="1" dirty="0"/>
              <a:t>p</a:t>
            </a:r>
            <a:r>
              <a:rPr lang="en-US" sz="2800" dirty="0"/>
              <a:t>, </a:t>
            </a:r>
            <a:r>
              <a:rPr lang="en-US" sz="2800" i="1" dirty="0"/>
              <a:t>q</a:t>
            </a:r>
            <a:r>
              <a:rPr lang="en-US" sz="2800" dirty="0"/>
              <a:t>, </a:t>
            </a:r>
            <a:r>
              <a:rPr lang="en-US" sz="2800" i="1" dirty="0"/>
              <a:t>r</a:t>
            </a:r>
            <a:r>
              <a:rPr lang="en-US" sz="2800" dirty="0"/>
              <a:t> ) starting from left/first column.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Construct the truth table step by step.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571837"/>
            <a:ext cx="7808976" cy="1088136"/>
          </a:xfrm>
        </p:spPr>
        <p:txBody>
          <a:bodyPr>
            <a:noAutofit/>
          </a:bodyPr>
          <a:lstStyle/>
          <a:p>
            <a:br>
              <a:rPr lang="en-US" sz="2000" dirty="0">
                <a:latin typeface="+mn-lt"/>
              </a:rPr>
            </a:br>
            <a:br>
              <a:rPr lang="en-US" sz="2000" dirty="0">
                <a:latin typeface="+mn-lt"/>
              </a:rPr>
            </a:br>
            <a:r>
              <a:rPr lang="en-US" sz="3200" b="1" dirty="0">
                <a:latin typeface="+mn-lt"/>
              </a:rPr>
              <a:t>Example</a:t>
            </a:r>
            <a:r>
              <a:rPr lang="en-US" sz="3200" dirty="0">
                <a:latin typeface="+mn-lt"/>
              </a:rPr>
              <a:t>: </a:t>
            </a:r>
            <a:r>
              <a:rPr lang="en-US" altLang="ja-JP" sz="3200" dirty="0">
                <a:latin typeface="+mn-lt"/>
              </a:rPr>
              <a:t>Construct a truth table for</a:t>
            </a:r>
            <a:br>
              <a:rPr lang="en-US" altLang="ja-JP" sz="3200" dirty="0">
                <a:latin typeface="+mn-lt"/>
              </a:rPr>
            </a:br>
            <a:r>
              <a:rPr lang="en-US" altLang="ja-JP" sz="3200" dirty="0">
                <a:latin typeface="+mn-lt"/>
              </a:rPr>
              <a:t> </a:t>
            </a:r>
            <a:r>
              <a:rPr lang="en-US" altLang="ja-JP" sz="3200" b="1" dirty="0">
                <a:latin typeface="+mn-lt"/>
              </a:rPr>
              <a:t>(p </a:t>
            </a:r>
            <a:r>
              <a:rPr lang="en-US" altLang="ja-JP" sz="3200" b="1" dirty="0">
                <a:latin typeface="+mn-lt"/>
                <a:sym typeface="Symbol" pitchFamily="18" charset="2"/>
              </a:rPr>
              <a:t></a:t>
            </a:r>
            <a:r>
              <a:rPr lang="en-US" altLang="ja-JP" sz="3200" b="1" dirty="0">
                <a:latin typeface="+mn-lt"/>
              </a:rPr>
              <a:t> q) </a:t>
            </a:r>
            <a:r>
              <a:rPr lang="en-US" altLang="ja-JP" sz="3200" b="1" dirty="0">
                <a:latin typeface="+mn-lt"/>
                <a:sym typeface="Symbol" pitchFamily="18" charset="2"/>
              </a:rPr>
              <a:t></a:t>
            </a:r>
            <a:r>
              <a:rPr lang="en-US" altLang="ja-JP" sz="3200" b="1" dirty="0">
                <a:latin typeface="+mn-lt"/>
              </a:rPr>
              <a:t> r</a:t>
            </a:r>
            <a:endParaRPr lang="en-US" sz="3200" dirty="0">
              <a:latin typeface="+mn-lt"/>
            </a:endParaRP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784" y="2042624"/>
            <a:ext cx="6679870" cy="416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571837"/>
            <a:ext cx="7808976" cy="1088136"/>
          </a:xfrm>
        </p:spPr>
        <p:txBody>
          <a:bodyPr>
            <a:noAutofit/>
          </a:bodyPr>
          <a:lstStyle/>
          <a:p>
            <a:br>
              <a:rPr lang="en-US" sz="2000" dirty="0">
                <a:solidFill>
                  <a:srgbClr val="FF0000"/>
                </a:solidFill>
                <a:latin typeface="+mn-lt"/>
              </a:rPr>
            </a:br>
            <a:br>
              <a:rPr lang="en-US" sz="2000" dirty="0">
                <a:solidFill>
                  <a:srgbClr val="FF0000"/>
                </a:solidFill>
                <a:latin typeface="+mn-lt"/>
              </a:rPr>
            </a:br>
            <a:r>
              <a:rPr lang="en-US" sz="3200" b="1" dirty="0">
                <a:solidFill>
                  <a:srgbClr val="FF0000"/>
                </a:solidFill>
                <a:latin typeface="+mn-lt"/>
              </a:rPr>
              <a:t>Practice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: </a:t>
            </a:r>
            <a:r>
              <a:rPr lang="en-US" altLang="ja-JP" sz="3200" dirty="0">
                <a:solidFill>
                  <a:srgbClr val="FF0000"/>
                </a:solidFill>
                <a:latin typeface="+mn-lt"/>
              </a:rPr>
              <a:t>Construct a truth table for</a:t>
            </a:r>
            <a:br>
              <a:rPr lang="en-US" altLang="ja-JP" sz="3200" dirty="0">
                <a:solidFill>
                  <a:srgbClr val="FF0000"/>
                </a:solidFill>
                <a:latin typeface="+mn-lt"/>
              </a:rPr>
            </a:br>
            <a:r>
              <a:rPr lang="en-US" altLang="ja-JP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(</a:t>
            </a:r>
            <a:r>
              <a:rPr lang="en-US" sz="2800" b="1" i="1" dirty="0">
                <a:solidFill>
                  <a:srgbClr val="FF0000"/>
                </a:solidFill>
              </a:rPr>
              <a:t>p </a:t>
            </a:r>
            <a:r>
              <a:rPr lang="en-US" sz="2800" b="1" dirty="0">
                <a:solidFill>
                  <a:srgbClr val="FF0000"/>
                </a:solidFill>
                <a:sym typeface="Symbol" pitchFamily="2" charset="2"/>
              </a:rPr>
              <a:t>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i="1" dirty="0">
                <a:solidFill>
                  <a:srgbClr val="FF0000"/>
                </a:solidFill>
              </a:rPr>
              <a:t>q</a:t>
            </a:r>
            <a:r>
              <a:rPr lang="en-US" sz="2800" b="1" dirty="0">
                <a:solidFill>
                  <a:srgbClr val="FF0000"/>
                </a:solidFill>
              </a:rPr>
              <a:t>) </a:t>
            </a:r>
            <a:r>
              <a:rPr lang="en-US" sz="2800" b="1" dirty="0">
                <a:solidFill>
                  <a:srgbClr val="FF0000"/>
                </a:solidFill>
                <a:sym typeface="Symbol" pitchFamily="2" charset="2"/>
              </a:rPr>
              <a:t></a:t>
            </a:r>
            <a:r>
              <a:rPr lang="en-US" sz="2800" b="1" dirty="0">
                <a:solidFill>
                  <a:srgbClr val="FF0000"/>
                </a:solidFill>
              </a:rPr>
              <a:t> ( </a:t>
            </a:r>
            <a:r>
              <a:rPr lang="en-US" sz="2800" b="1" i="1" dirty="0">
                <a:solidFill>
                  <a:srgbClr val="FF0000"/>
                </a:solidFill>
              </a:rPr>
              <a:t>p </a:t>
            </a:r>
            <a:r>
              <a:rPr lang="en-US" sz="2800" b="1" dirty="0">
                <a:solidFill>
                  <a:srgbClr val="FF0000"/>
                </a:solidFill>
                <a:sym typeface="Symbol" pitchFamily="2" charset="2"/>
              </a:rPr>
              <a:t>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i="1" dirty="0">
                <a:solidFill>
                  <a:srgbClr val="FF0000"/>
                </a:solidFill>
              </a:rPr>
              <a:t> r</a:t>
            </a:r>
            <a:r>
              <a:rPr lang="en-US" sz="2800" b="1" dirty="0">
                <a:solidFill>
                  <a:srgbClr val="FF0000"/>
                </a:solidFill>
              </a:rPr>
              <a:t>)</a:t>
            </a:r>
            <a:endParaRPr lang="en-US" sz="3200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2129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57" y="449005"/>
            <a:ext cx="7808976" cy="1088136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+mn-lt"/>
              </a:rPr>
              <a:t>Precedence of Logical Operators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2156" y="2413338"/>
            <a:ext cx="8613479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Negation operator is applied before all other logical operators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Conjunction operator takes precedence over disjunction operator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Conditional and bi-conditional operators have lower precedence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Parentheses are used whenever necessary 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+mn-lt"/>
              </a:rPr>
              <a:t>Precedence of Logical Operators</a:t>
            </a:r>
            <a:endParaRPr lang="en-US" sz="4000" dirty="0">
              <a:latin typeface="+mn-lt"/>
            </a:endParaRPr>
          </a:p>
        </p:txBody>
      </p:sp>
      <p:pic>
        <p:nvPicPr>
          <p:cNvPr id="4" name="Picture 3" descr="t01_1_00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676400" y="1951630"/>
            <a:ext cx="6096000" cy="42205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+mn-lt"/>
              </a:rPr>
              <a:t>Logic and Bit Operations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1324" y="2274350"/>
            <a:ext cx="8325134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zh-TW" sz="2800" b="1" dirty="0">
                <a:solidFill>
                  <a:srgbClr val="FF0000"/>
                </a:solidFill>
              </a:rPr>
              <a:t>bit</a:t>
            </a:r>
            <a:r>
              <a:rPr lang="en-US" altLang="zh-TW" sz="2800" dirty="0"/>
              <a:t> ==&gt; </a:t>
            </a:r>
            <a:r>
              <a:rPr lang="en-US" altLang="zh-TW" sz="2800" b="1" i="1" dirty="0">
                <a:solidFill>
                  <a:srgbClr val="FF0000"/>
                </a:solidFill>
              </a:rPr>
              <a:t>b</a:t>
            </a:r>
            <a:r>
              <a:rPr lang="en-US" altLang="zh-TW" sz="2800" dirty="0"/>
              <a:t>inary dig</a:t>
            </a:r>
            <a:r>
              <a:rPr lang="en-US" altLang="zh-TW" sz="2800" b="1" i="1" dirty="0">
                <a:solidFill>
                  <a:srgbClr val="FF0000"/>
                </a:solidFill>
              </a:rPr>
              <a:t>it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Boolean variable: </a:t>
            </a:r>
            <a:r>
              <a:rPr lang="en-US" altLang="zh-TW" sz="2800" dirty="0">
                <a:solidFill>
                  <a:srgbClr val="FF0000"/>
                </a:solidFill>
              </a:rPr>
              <a:t>either </a:t>
            </a:r>
            <a:r>
              <a:rPr lang="en-US" altLang="zh-TW" sz="2800" b="1" dirty="0">
                <a:solidFill>
                  <a:srgbClr val="FF0000"/>
                </a:solidFill>
              </a:rPr>
              <a:t>true</a:t>
            </a:r>
            <a:r>
              <a:rPr lang="en-US" altLang="zh-TW" sz="2800" dirty="0">
                <a:solidFill>
                  <a:srgbClr val="FF0000"/>
                </a:solidFill>
              </a:rPr>
              <a:t> or </a:t>
            </a:r>
            <a:r>
              <a:rPr lang="en-US" altLang="zh-TW" sz="2800" b="1" dirty="0">
                <a:solidFill>
                  <a:srgbClr val="FF0000"/>
                </a:solidFill>
              </a:rPr>
              <a:t>false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dirty="0"/>
              <a:t>  </a:t>
            </a:r>
            <a:r>
              <a:rPr lang="en-US" altLang="zh-TW" sz="2000" dirty="0"/>
              <a:t>Can be represented by a bit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b="1" dirty="0">
                <a:solidFill>
                  <a:srgbClr val="0000FF"/>
                </a:solidFill>
              </a:rPr>
              <a:t>Bit String</a:t>
            </a:r>
            <a:r>
              <a:rPr lang="en-US" altLang="zh-TW" sz="2800" dirty="0"/>
              <a:t>: A </a:t>
            </a:r>
            <a:r>
              <a:rPr lang="en-US" altLang="zh-TW" sz="2800" i="1" dirty="0">
                <a:solidFill>
                  <a:srgbClr val="0000FF"/>
                </a:solidFill>
              </a:rPr>
              <a:t>bit string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/>
              <a:t>is a sequence of zero or more bits. The </a:t>
            </a:r>
            <a:r>
              <a:rPr lang="en-US" altLang="zh-TW" sz="2800" i="1" dirty="0">
                <a:solidFill>
                  <a:srgbClr val="0000FF"/>
                </a:solidFill>
              </a:rPr>
              <a:t>length</a:t>
            </a:r>
            <a:r>
              <a:rPr lang="en-US" altLang="zh-TW" sz="2800" dirty="0"/>
              <a:t> of the string is the number of bits in the string.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u="sng" dirty="0">
                <a:solidFill>
                  <a:srgbClr val="FF0000"/>
                </a:solidFill>
              </a:rPr>
              <a:t>Example 20(p.15</a:t>
            </a:r>
            <a:r>
              <a:rPr lang="en-US" altLang="zh-TW" sz="2800" dirty="0">
                <a:solidFill>
                  <a:srgbClr val="FF0000"/>
                </a:solidFill>
              </a:rPr>
              <a:t>): </a:t>
            </a:r>
            <a:r>
              <a:rPr lang="en-US" altLang="zh-TW" sz="2800" dirty="0"/>
              <a:t>101010011 is a bit string of </a:t>
            </a:r>
            <a:r>
              <a:rPr lang="en-US" altLang="zh-TW" sz="2800" dirty="0">
                <a:solidFill>
                  <a:srgbClr val="0000FF"/>
                </a:solidFill>
              </a:rPr>
              <a:t>length</a:t>
            </a:r>
            <a:r>
              <a:rPr lang="en-US" altLang="zh-TW" sz="2800" dirty="0"/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nine </a:t>
            </a:r>
            <a:endParaRPr lang="en-US" sz="2800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Bit Operations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093375"/>
            <a:ext cx="846335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Computer </a:t>
            </a:r>
            <a:r>
              <a:rPr lang="en-US" sz="2800" b="1" dirty="0">
                <a:solidFill>
                  <a:srgbClr val="0000FF"/>
                </a:solidFill>
              </a:rPr>
              <a:t>bit operations correspond to the logical connectives. </a:t>
            </a:r>
            <a:r>
              <a:rPr lang="en-US" sz="2800" dirty="0"/>
              <a:t>By replacing true by a one and false by a zero in the truth tables for the operators ∧, ∨, and ⊕, the tables shown in Table 9 for the corresponding bit operations are obtained. We will also use the notation </a:t>
            </a:r>
            <a:r>
              <a:rPr lang="en-US" sz="2800" i="1" dirty="0"/>
              <a:t>OR, AND, and XOR for the operators ∨,∧, and ⊕ respectively, as is done in various programming languages.</a:t>
            </a:r>
            <a:endParaRPr lang="en-US" sz="2800" dirty="0"/>
          </a:p>
          <a:p>
            <a:pPr>
              <a:buFont typeface="Arial" charset="0"/>
              <a:buNone/>
            </a:pPr>
            <a:r>
              <a:rPr lang="en-US" sz="2800" dirty="0"/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+mn-lt"/>
              </a:rPr>
              <a:t>Table for Bit Operations</a:t>
            </a:r>
            <a:endParaRPr lang="en-US" sz="4000" dirty="0">
              <a:latin typeface="+mn-lt"/>
            </a:endParaRPr>
          </a:p>
        </p:txBody>
      </p:sp>
      <p:pic>
        <p:nvPicPr>
          <p:cNvPr id="4" name="Picture 3" descr="t01_1_00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990599" y="2115403"/>
            <a:ext cx="7539251" cy="40933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Bit string and bit operation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84554" y="2115402"/>
            <a:ext cx="7756525" cy="413359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1732" y="1802837"/>
            <a:ext cx="80648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lvl="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i="1" dirty="0"/>
              <a:t>Discrete Mathematics and its applications with </a:t>
            </a:r>
            <a:r>
              <a:rPr lang="en-US" sz="2000" i="1" dirty="0" err="1"/>
              <a:t>combinatorics</a:t>
            </a:r>
            <a:r>
              <a:rPr lang="en-US" sz="2000" i="1" dirty="0"/>
              <a:t> and graph theory (7</a:t>
            </a:r>
            <a:r>
              <a:rPr lang="en-US" sz="2000" i="1" baseline="30000" dirty="0"/>
              <a:t>th</a:t>
            </a:r>
            <a:r>
              <a:rPr lang="en-US" sz="2000" i="1" dirty="0"/>
              <a:t> edition) </a:t>
            </a:r>
            <a:r>
              <a:rPr lang="en-US" sz="2000" dirty="0"/>
              <a:t>by Kenneth H. Rosen [Indian Adaptation by KAMALA KRITHIVASAN], published by McGraw-Hill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32072" y="1800664"/>
            <a:ext cx="81773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i="1" dirty="0"/>
              <a:t>SCHAUM’S  outlines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</a:t>
            </a:r>
            <a:r>
              <a:rPr lang="en-US" sz="2000" i="1" dirty="0"/>
              <a:t>Seymour</a:t>
            </a:r>
            <a:r>
              <a:rPr lang="en-US" sz="2000" dirty="0"/>
              <a:t> </a:t>
            </a:r>
            <a:r>
              <a:rPr lang="en-US" sz="2000" i="1" dirty="0" err="1"/>
              <a:t>Lipschutz</a:t>
            </a:r>
            <a:r>
              <a:rPr lang="en-US" sz="2000" dirty="0"/>
              <a:t>, </a:t>
            </a:r>
            <a:r>
              <a:rPr lang="en-US" sz="2000" i="1" dirty="0"/>
              <a:t>Marc</a:t>
            </a:r>
            <a:r>
              <a:rPr lang="en-US" sz="2000" dirty="0"/>
              <a:t> </a:t>
            </a:r>
            <a:r>
              <a:rPr lang="en-US" sz="2000" i="1" dirty="0"/>
              <a:t>Lipson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621</TotalTime>
  <Words>1600</Words>
  <Application>Microsoft Office PowerPoint</Application>
  <PresentationFormat>On-screen Show (4:3)</PresentationFormat>
  <Paragraphs>166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Corbel</vt:lpstr>
      <vt:lpstr>Wingdings</vt:lpstr>
      <vt:lpstr>Spectrum</vt:lpstr>
      <vt:lpstr>Propositional Logic (cont.)</vt:lpstr>
      <vt:lpstr>Lecture Outline</vt:lpstr>
      <vt:lpstr>Objectives and Outcomes</vt:lpstr>
      <vt:lpstr>Conditional Statements </vt:lpstr>
      <vt:lpstr>Truth Table for  Conditional Statement</vt:lpstr>
      <vt:lpstr>Equivalent Expression of p  q </vt:lpstr>
      <vt:lpstr>Equivalent Expression of p  q </vt:lpstr>
      <vt:lpstr>Remember!</vt:lpstr>
      <vt:lpstr>Example 7 (page 7)</vt:lpstr>
      <vt:lpstr>Practice: Exercise 19 </vt:lpstr>
      <vt:lpstr>Exercise 19 </vt:lpstr>
      <vt:lpstr>Exercise 19 </vt:lpstr>
      <vt:lpstr>Exercise 19 </vt:lpstr>
      <vt:lpstr>Converse, Contrapositive, and Inverse</vt:lpstr>
      <vt:lpstr> Practice Examples</vt:lpstr>
      <vt:lpstr>Bi-Conditional</vt:lpstr>
      <vt:lpstr>Truth Table for Bi-conditional p  q </vt:lpstr>
      <vt:lpstr>Example of Bi-conditional statement</vt:lpstr>
      <vt:lpstr>How to Construct a Truth Table for a Compound Proposition?</vt:lpstr>
      <vt:lpstr>  Example: Construct a truth table for  (p  q)  r</vt:lpstr>
      <vt:lpstr>  Practice: Construct a truth table for  (p  q)  ( p   r)</vt:lpstr>
      <vt:lpstr>Precedence of Logical Operators</vt:lpstr>
      <vt:lpstr>Precedence of Logical Operators</vt:lpstr>
      <vt:lpstr>Logic and Bit Operations</vt:lpstr>
      <vt:lpstr>Bit Operations</vt:lpstr>
      <vt:lpstr>Table for Bit Operations</vt:lpstr>
      <vt:lpstr>Bit string and bit operation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Ashraf Uddin</cp:lastModifiedBy>
  <cp:revision>33</cp:revision>
  <dcterms:created xsi:type="dcterms:W3CDTF">2018-12-10T17:20:29Z</dcterms:created>
  <dcterms:modified xsi:type="dcterms:W3CDTF">2023-06-04T05:50:09Z</dcterms:modified>
</cp:coreProperties>
</file>