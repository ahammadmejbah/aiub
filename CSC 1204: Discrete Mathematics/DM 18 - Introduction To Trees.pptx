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90" r:id="rId4"/>
    <p:sldId id="266" r:id="rId5"/>
    <p:sldId id="258" r:id="rId6"/>
    <p:sldId id="269" r:id="rId7"/>
    <p:sldId id="270" r:id="rId8"/>
    <p:sldId id="271" r:id="rId9"/>
    <p:sldId id="272" r:id="rId10"/>
    <p:sldId id="273" r:id="rId11"/>
    <p:sldId id="278" r:id="rId12"/>
    <p:sldId id="274" r:id="rId13"/>
    <p:sldId id="275" r:id="rId14"/>
    <p:sldId id="279" r:id="rId15"/>
    <p:sldId id="276" r:id="rId16"/>
    <p:sldId id="277" r:id="rId17"/>
    <p:sldId id="327" r:id="rId18"/>
    <p:sldId id="328"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82"/>
    <p:restoredTop sz="94650"/>
  </p:normalViewPr>
  <p:slideViewPr>
    <p:cSldViewPr snapToGrid="0" snapToObjects="1">
      <p:cViewPr varScale="1">
        <p:scale>
          <a:sx n="120" d="100"/>
          <a:sy n="120" d="100"/>
        </p:scale>
        <p:origin x="1400" y="1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pPr/>
              <a:t>4/6/22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pPr/>
              <a:t>4/6/22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pPr/>
              <a:t>4/6/22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pPr/>
              <a:t>4/6/22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pPr/>
              <a:t>4/6/22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pPr/>
              <a:t>4/6/22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pPr/>
              <a:t>4/6/22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pPr/>
              <a:t>4/6/22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pPr/>
              <a:t>4/6/22</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pPr/>
              <a:t>4/6/22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pPr/>
              <a:t>4/6/22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pPr/>
              <a:t>4/6/22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pPr/>
              <a:t>4/6/22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pPr/>
              <a:t>4/6/22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pPr/>
              <a:t>4/6/22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pPr/>
              <a:t>4/6/22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pPr/>
              <a:t>4/6/22</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pPr/>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hyperlink" Target="https://bradfieldcs.com/algos/trees/introduction/" TargetMode="External"/><Relationship Id="rId2" Type="http://schemas.openxmlformats.org/officeDocument/2006/relationships/hyperlink" Target="http://pages.cs.wisc.edu/~deppeler/cs367-common/readings/Trees/intro.html" TargetMode="Externa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Trees</a:t>
            </a:r>
          </a:p>
        </p:txBody>
      </p:sp>
      <p:sp>
        <p:nvSpPr>
          <p:cNvPr id="3" name="Subtitle 2"/>
          <p:cNvSpPr>
            <a:spLocks noGrp="1"/>
          </p:cNvSpPr>
          <p:nvPr>
            <p:ph type="subTitle" idx="1"/>
          </p:nvPr>
        </p:nvSpPr>
        <p:spPr>
          <a:xfrm>
            <a:off x="476205" y="1532427"/>
            <a:ext cx="2789509" cy="484632"/>
          </a:xfrm>
        </p:spPr>
        <p:txBody>
          <a:bodyPr/>
          <a:lstStyle/>
          <a:p>
            <a:r>
              <a:rPr lang="en-US" dirty="0"/>
              <a:t>Course Code: 00090</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1111335330"/>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20</a:t>
                      </a:r>
                    </a:p>
                  </a:txBody>
                  <a:tcPr/>
                </a:tc>
                <a:tc>
                  <a:txBody>
                    <a:bodyPr/>
                    <a:lstStyle/>
                    <a:p>
                      <a:r>
                        <a:rPr lang="en-US" dirty="0"/>
                        <a:t>Week No:</a:t>
                      </a:r>
                    </a:p>
                  </a:txBody>
                  <a:tcPr/>
                </a:tc>
                <a:tc>
                  <a:txBody>
                    <a:bodyPr/>
                    <a:lstStyle/>
                    <a:p>
                      <a:r>
                        <a:rPr lang="en-US"/>
                        <a:t>11</a:t>
                      </a:r>
                      <a:endParaRPr lang="en-US" dirty="0"/>
                    </a:p>
                  </a:txBody>
                  <a:tcPr/>
                </a:tc>
                <a:tc>
                  <a:txBody>
                    <a:bodyPr/>
                    <a:lstStyle/>
                    <a:p>
                      <a:r>
                        <a:rPr lang="en-US" dirty="0"/>
                        <a:t>Semester:</a:t>
                      </a:r>
                    </a:p>
                  </a:txBody>
                  <a:tcPr/>
                </a:tc>
                <a:tc>
                  <a:txBody>
                    <a:bodyPr/>
                    <a:lstStyle/>
                    <a:p>
                      <a:endParaRPr lang="en-US" dirty="0"/>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Name &amp; email</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Discrete Mathematics</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ClrTx/>
              <a:buAutoNum type="arabicPeriod"/>
            </a:pPr>
            <a:r>
              <a:rPr lang="en-US" sz="2400" dirty="0">
                <a:solidFill>
                  <a:schemeClr val="tx1"/>
                </a:solidFill>
              </a:rPr>
              <a:t>Introduction of Tree</a:t>
            </a:r>
          </a:p>
          <a:p>
            <a:pPr marL="342900" indent="-342900">
              <a:buClrTx/>
            </a:pPr>
            <a:endParaRPr lang="en-US" sz="2400" dirty="0">
              <a:solidFill>
                <a:schemeClr val="tx1"/>
              </a:solidFill>
            </a:endParaRPr>
          </a:p>
          <a:p>
            <a:pPr marL="342900" indent="-342900">
              <a:buClrTx/>
            </a:pPr>
            <a:endParaRPr lang="en-US" sz="2400" dirty="0">
              <a:solidFill>
                <a:schemeClr val="tx1"/>
              </a:solidFill>
            </a:endParaRPr>
          </a:p>
          <a:p>
            <a:pPr marL="342900" indent="-342900">
              <a:buAutoNum type="arabicPeriod"/>
            </a:pPr>
            <a:endParaRPr lang="en-US" sz="2400"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Objectives and Outcomes</a:t>
            </a:r>
          </a:p>
        </p:txBody>
      </p:sp>
      <p:sp>
        <p:nvSpPr>
          <p:cNvPr id="3" name="Subtitle 2"/>
          <p:cNvSpPr>
            <a:spLocks noGrp="1"/>
          </p:cNvSpPr>
          <p:nvPr>
            <p:ph type="subTitle" idx="1"/>
          </p:nvPr>
        </p:nvSpPr>
        <p:spPr>
          <a:xfrm>
            <a:off x="486697" y="2363928"/>
            <a:ext cx="7754112" cy="3009930"/>
          </a:xfrm>
        </p:spPr>
        <p:txBody>
          <a:bodyPr>
            <a:normAutofit/>
          </a:bodyPr>
          <a:lstStyle/>
          <a:p>
            <a:endParaRPr lang="en-US" sz="2400"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
        <p:nvSpPr>
          <p:cNvPr id="5" name="Content Placeholder 2">
            <a:extLst>
              <a:ext uri="{FF2B5EF4-FFF2-40B4-BE49-F238E27FC236}">
                <a16:creationId xmlns:a16="http://schemas.microsoft.com/office/drawing/2014/main" id="{32CCEA04-5BB4-4379-ADB1-52B5AEEEA044}"/>
              </a:ext>
            </a:extLst>
          </p:cNvPr>
          <p:cNvSpPr txBox="1">
            <a:spLocks/>
          </p:cNvSpPr>
          <p:nvPr/>
        </p:nvSpPr>
        <p:spPr bwMode="auto">
          <a:xfrm>
            <a:off x="98474" y="2028306"/>
            <a:ext cx="8904849" cy="408986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r>
              <a:rPr lang="en-US" sz="2800" u="sng" dirty="0">
                <a:solidFill>
                  <a:srgbClr val="FF0000"/>
                </a:solidFill>
              </a:rPr>
              <a:t>Objectives</a:t>
            </a:r>
            <a:r>
              <a:rPr lang="en-US" sz="2800" dirty="0">
                <a:solidFill>
                  <a:srgbClr val="FF0000"/>
                </a:solidFill>
              </a:rPr>
              <a:t>: </a:t>
            </a:r>
            <a:r>
              <a:rPr lang="en-US" sz="2800" dirty="0"/>
              <a:t>To understand the definition of tree and different tree terminologies, to understand the theorems related to tree.  </a:t>
            </a:r>
          </a:p>
          <a:p>
            <a:r>
              <a:rPr lang="en-US" sz="2800" u="sng" dirty="0">
                <a:solidFill>
                  <a:srgbClr val="FF0000"/>
                </a:solidFill>
              </a:rPr>
              <a:t>Outcomes</a:t>
            </a:r>
            <a:r>
              <a:rPr lang="en-US" sz="2800" dirty="0">
                <a:solidFill>
                  <a:srgbClr val="FF0000"/>
                </a:solidFill>
              </a:rPr>
              <a:t>: </a:t>
            </a:r>
            <a:r>
              <a:rPr lang="en-US" sz="2800" dirty="0"/>
              <a:t>The students are expected to be able to explain tree terminologies and the theorems related to tree. </a:t>
            </a:r>
          </a:p>
          <a:p>
            <a:r>
              <a:rPr lang="en-US" sz="2800" dirty="0" err="1"/>
              <a:t>ter</a:t>
            </a:r>
            <a:r>
              <a:rPr lang="en-US" sz="2800" dirty="0"/>
              <a:t> this class the student will be able to define different kind Tree. The student will be capable of demonstrating theorem related to Tree. Finally, by using the theorem the student will be able to sort out mathematical problems linked with Tree.     </a:t>
            </a:r>
          </a:p>
        </p:txBody>
      </p:sp>
    </p:spTree>
    <p:extLst>
      <p:ext uri="{BB962C8B-B14F-4D97-AF65-F5344CB8AC3E}">
        <p14:creationId xmlns:p14="http://schemas.microsoft.com/office/powerpoint/2010/main" val="407560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What is a Tree?</a:t>
            </a:r>
          </a:p>
        </p:txBody>
      </p:sp>
      <p:sp>
        <p:nvSpPr>
          <p:cNvPr id="8" name="Content Placeholder 2">
            <a:extLst>
              <a:ext uri="{FF2B5EF4-FFF2-40B4-BE49-F238E27FC236}">
                <a16:creationId xmlns:a16="http://schemas.microsoft.com/office/drawing/2014/main" id="{45B7E650-72D7-4953-A12B-0F3FEF50CCEA}"/>
              </a:ext>
            </a:extLst>
          </p:cNvPr>
          <p:cNvSpPr txBox="1">
            <a:spLocks/>
          </p:cNvSpPr>
          <p:nvPr/>
        </p:nvSpPr>
        <p:spPr bwMode="auto">
          <a:xfrm>
            <a:off x="457200" y="2161309"/>
            <a:ext cx="8229600" cy="416329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50000"/>
              </a:spcBef>
              <a:spcAft>
                <a:spcPct val="0"/>
              </a:spcAft>
              <a:buClrTx/>
              <a:buSzTx/>
              <a:buFont typeface="Arial" charset="0"/>
              <a:buChar char="•"/>
              <a:tabLst/>
              <a:defRPr/>
            </a:pPr>
            <a:r>
              <a:rPr kumimoji="0" lang="en-US" sz="2800" b="1" i="0" u="sng" strike="noStrike" kern="1200" cap="none" spc="0" normalizeH="0" baseline="0" noProof="0">
                <a:ln>
                  <a:noFill/>
                </a:ln>
                <a:solidFill>
                  <a:srgbClr val="FF0000"/>
                </a:solidFill>
                <a:effectLst/>
                <a:uLnTx/>
                <a:uFillTx/>
                <a:latin typeface="Calibri"/>
                <a:ea typeface="+mn-ea"/>
                <a:cs typeface="+mn-cs"/>
              </a:rPr>
              <a:t>Definition</a:t>
            </a:r>
            <a:r>
              <a:rPr kumimoji="0" lang="en-US" sz="2800" b="0" i="0" u="none" strike="noStrike" kern="1200" cap="none" spc="0" normalizeH="0" baseline="0" noProof="0">
                <a:ln>
                  <a:noFill/>
                </a:ln>
                <a:solidFill>
                  <a:srgbClr val="FF0000"/>
                </a:solidFill>
                <a:effectLst/>
                <a:uLnTx/>
                <a:uFillTx/>
                <a:latin typeface="Calibri"/>
                <a:ea typeface="+mn-ea"/>
                <a:cs typeface="+mn-cs"/>
              </a:rPr>
              <a:t>:</a:t>
            </a:r>
            <a:r>
              <a:rPr kumimoji="0" lang="en-US" sz="2800" b="0" i="0" u="none" strike="noStrike" kern="1200" cap="none" spc="0" normalizeH="0" baseline="0" noProof="0">
                <a:ln>
                  <a:noFill/>
                </a:ln>
                <a:solidFill>
                  <a:srgbClr val="0000FF"/>
                </a:solidFill>
                <a:effectLst/>
                <a:uLnTx/>
                <a:uFillTx/>
                <a:latin typeface="Calibri"/>
                <a:ea typeface="+mn-ea"/>
                <a:cs typeface="+mn-cs"/>
              </a:rPr>
              <a:t> A </a:t>
            </a:r>
            <a:r>
              <a:rPr kumimoji="0" lang="en-US" sz="2800" b="1" i="1" u="none" strike="noStrike" kern="1200" cap="none" spc="0" normalizeH="0" baseline="0" noProof="0">
                <a:ln>
                  <a:noFill/>
                </a:ln>
                <a:solidFill>
                  <a:srgbClr val="0000FF"/>
                </a:solidFill>
                <a:effectLst/>
                <a:uLnTx/>
                <a:uFillTx/>
                <a:latin typeface="Calibri"/>
                <a:ea typeface="+mn-ea"/>
                <a:cs typeface="+mn-cs"/>
              </a:rPr>
              <a:t>tree</a:t>
            </a:r>
            <a:r>
              <a:rPr kumimoji="0" lang="en-US" sz="2800" b="0" i="0" u="none" strike="noStrike" kern="1200" cap="none" spc="0" normalizeH="0" baseline="0" noProof="0">
                <a:ln>
                  <a:noFill/>
                </a:ln>
                <a:solidFill>
                  <a:srgbClr val="0000FF"/>
                </a:solidFill>
                <a:effectLst/>
                <a:uLnTx/>
                <a:uFillTx/>
                <a:latin typeface="Calibri"/>
                <a:ea typeface="+mn-ea"/>
                <a:cs typeface="+mn-cs"/>
              </a:rPr>
              <a:t> is a connected undirected graph with no simple circuits.</a:t>
            </a:r>
          </a:p>
          <a:p>
            <a:pPr marL="342900" marR="0" lvl="0" indent="-342900" algn="l" defTabSz="914400" rtl="0" eaLnBrk="1" fontAlgn="base" latinLnBrk="0" hangingPunct="1">
              <a:lnSpc>
                <a:spcPct val="100000"/>
              </a:lnSpc>
              <a:spcBef>
                <a:spcPct val="50000"/>
              </a:spcBef>
              <a:spcAft>
                <a:spcPct val="0"/>
              </a:spcAft>
              <a:buClrTx/>
              <a:buSzTx/>
              <a:buFont typeface="Arial" charset="0"/>
              <a:buNone/>
              <a:tabLst/>
              <a:defRPr/>
            </a:pPr>
            <a:endParaRPr kumimoji="0" lang="en-US" sz="2800" b="1" i="1" u="sng" strike="noStrike" kern="1200" cap="none" spc="0" normalizeH="0" baseline="0" noProof="0" dirty="0">
              <a:ln>
                <a:noFill/>
              </a:ln>
              <a:solidFill>
                <a:srgbClr val="C00000"/>
              </a:solidFill>
              <a:effectLst/>
              <a:uLnTx/>
              <a:uFillTx/>
              <a:latin typeface="Calibri"/>
              <a:ea typeface="+mn-ea"/>
              <a:cs typeface="+mn-cs"/>
            </a:endParaRPr>
          </a:p>
        </p:txBody>
      </p:sp>
    </p:spTree>
    <p:extLst>
      <p:ext uri="{BB962C8B-B14F-4D97-AF65-F5344CB8AC3E}">
        <p14:creationId xmlns:p14="http://schemas.microsoft.com/office/powerpoint/2010/main" val="2134390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Example 1 </a:t>
            </a:r>
          </a:p>
        </p:txBody>
      </p:sp>
      <p:sp>
        <p:nvSpPr>
          <p:cNvPr id="10" name="Content Placeholder 2">
            <a:extLst>
              <a:ext uri="{FF2B5EF4-FFF2-40B4-BE49-F238E27FC236}">
                <a16:creationId xmlns:a16="http://schemas.microsoft.com/office/drawing/2014/main" id="{402D1B8B-397B-42A7-9BF0-0CB696F1ADD2}"/>
              </a:ext>
            </a:extLst>
          </p:cNvPr>
          <p:cNvSpPr txBox="1">
            <a:spLocks/>
          </p:cNvSpPr>
          <p:nvPr/>
        </p:nvSpPr>
        <p:spPr bwMode="auto">
          <a:xfrm>
            <a:off x="457200" y="1447800"/>
            <a:ext cx="8229600" cy="480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800" b="1" i="0" u="none" strike="noStrike" kern="1200" cap="none" spc="0" normalizeH="0" baseline="0" noProof="0">
                <a:ln>
                  <a:noFill/>
                </a:ln>
                <a:solidFill>
                  <a:srgbClr val="FF0000"/>
                </a:solidFill>
                <a:effectLst/>
                <a:uLnTx/>
                <a:uFillTx/>
                <a:latin typeface="Calibri"/>
                <a:ea typeface="+mn-ea"/>
                <a:cs typeface="+mn-cs"/>
              </a:rPr>
              <a:t>Which of the graphs shown in Figure 2 are trees?</a:t>
            </a:r>
            <a:endParaRPr kumimoji="0" lang="en-US" sz="2800" b="1" i="0" u="none" strike="noStrike" kern="1200" cap="none" spc="0" normalizeH="0" baseline="0" noProof="0" dirty="0">
              <a:ln>
                <a:noFill/>
              </a:ln>
              <a:solidFill>
                <a:srgbClr val="FF0000"/>
              </a:solidFill>
              <a:effectLst/>
              <a:uLnTx/>
              <a:uFillTx/>
              <a:latin typeface="Calibri"/>
              <a:ea typeface="+mn-ea"/>
              <a:cs typeface="+mn-cs"/>
            </a:endParaRPr>
          </a:p>
        </p:txBody>
      </p:sp>
      <p:pic>
        <p:nvPicPr>
          <p:cNvPr id="12" name="Picture 3">
            <a:extLst>
              <a:ext uri="{FF2B5EF4-FFF2-40B4-BE49-F238E27FC236}">
                <a16:creationId xmlns:a16="http://schemas.microsoft.com/office/drawing/2014/main" id="{062CB237-23D3-4AE2-8D8B-9705FEFEB5F2}"/>
              </a:ext>
            </a:extLst>
          </p:cNvPr>
          <p:cNvPicPr>
            <a:picLocks noChangeAspect="1" noChangeArrowheads="1"/>
          </p:cNvPicPr>
          <p:nvPr/>
        </p:nvPicPr>
        <p:blipFill>
          <a:blip r:embed="rId2" cstate="print"/>
          <a:srcRect/>
          <a:stretch>
            <a:fillRect/>
          </a:stretch>
        </p:blipFill>
        <p:spPr bwMode="auto">
          <a:xfrm>
            <a:off x="701675" y="2209800"/>
            <a:ext cx="7375525" cy="4184650"/>
          </a:xfrm>
          <a:prstGeom prst="rect">
            <a:avLst/>
          </a:prstGeom>
          <a:noFill/>
          <a:ln w="9525">
            <a:noFill/>
            <a:miter lim="800000"/>
            <a:headEnd/>
            <a:tailEnd/>
          </a:ln>
        </p:spPr>
      </p:pic>
    </p:spTree>
    <p:extLst>
      <p:ext uri="{BB962C8B-B14F-4D97-AF65-F5344CB8AC3E}">
        <p14:creationId xmlns:p14="http://schemas.microsoft.com/office/powerpoint/2010/main" val="2823762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Example 1 </a:t>
            </a:r>
          </a:p>
        </p:txBody>
      </p:sp>
      <p:sp>
        <p:nvSpPr>
          <p:cNvPr id="6" name="Content Placeholder 2">
            <a:extLst>
              <a:ext uri="{FF2B5EF4-FFF2-40B4-BE49-F238E27FC236}">
                <a16:creationId xmlns:a16="http://schemas.microsoft.com/office/drawing/2014/main" id="{C9F021DE-91E9-4302-9F69-5640C5CAB341}"/>
              </a:ext>
            </a:extLst>
          </p:cNvPr>
          <p:cNvSpPr txBox="1">
            <a:spLocks/>
          </p:cNvSpPr>
          <p:nvPr/>
        </p:nvSpPr>
        <p:spPr bwMode="auto">
          <a:xfrm>
            <a:off x="457200" y="1600875"/>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 typeface="Wingdings" pitchFamily="2" charset="2"/>
              <a:buChar char="§"/>
              <a:tabLst/>
              <a:defRPr/>
            </a:pPr>
            <a:r>
              <a:rPr kumimoji="0" lang="en-US" sz="2800" b="1" i="0" u="sng" strike="noStrike" kern="1200" cap="none" spc="0" normalizeH="0" baseline="0" noProof="0">
                <a:ln>
                  <a:noFill/>
                </a:ln>
                <a:solidFill>
                  <a:srgbClr val="0000FF"/>
                </a:solidFill>
                <a:effectLst/>
                <a:uLnTx/>
                <a:uFillTx/>
                <a:latin typeface="Calibri"/>
                <a:ea typeface="+mn-ea"/>
                <a:cs typeface="Times New Roman" pitchFamily="18" charset="0"/>
              </a:rPr>
              <a:t>Solution</a:t>
            </a:r>
            <a:r>
              <a:rPr kumimoji="0" lang="en-US" sz="2800" b="0" i="0" u="none" strike="noStrike" kern="1200" cap="none" spc="0" normalizeH="0" baseline="0" noProof="0">
                <a:ln>
                  <a:noFill/>
                </a:ln>
                <a:solidFill>
                  <a:srgbClr val="0000FF"/>
                </a:solidFill>
                <a:effectLst/>
                <a:uLnTx/>
                <a:uFillTx/>
                <a:latin typeface="Calibri"/>
                <a:ea typeface="+mn-ea"/>
                <a:cs typeface="Times New Roman" pitchFamily="18" charset="0"/>
              </a:rPr>
              <a:t>:</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800" b="1" i="0" u="none" strike="noStrike" kern="1200" cap="none" spc="0" normalizeH="0" baseline="0" noProof="0">
                <a:ln>
                  <a:noFill/>
                </a:ln>
                <a:solidFill>
                  <a:srgbClr val="0000FF"/>
                </a:solidFill>
                <a:effectLst/>
                <a:uLnTx/>
                <a:uFillTx/>
                <a:latin typeface="Calibri"/>
                <a:ea typeface="+mn-ea"/>
                <a:cs typeface="Times New Roman" pitchFamily="18" charset="0"/>
              </a:rPr>
              <a:t>G1 and G2 are trees</a:t>
            </a:r>
            <a:r>
              <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 because both are connected</a:t>
            </a: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	graphs with no simple circuits. </a:t>
            </a: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endPar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endParaRP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800" b="1" i="0" u="none" strike="noStrike" kern="1200" cap="none" spc="0" normalizeH="0" baseline="0" noProof="0">
                <a:ln>
                  <a:noFill/>
                </a:ln>
                <a:solidFill>
                  <a:srgbClr val="0000FF"/>
                </a:solidFill>
                <a:effectLst/>
                <a:uLnTx/>
                <a:uFillTx/>
                <a:latin typeface="Calibri"/>
                <a:ea typeface="+mn-ea"/>
                <a:cs typeface="Times New Roman" pitchFamily="18" charset="0"/>
              </a:rPr>
              <a:t>G3 is not a tree </a:t>
            </a:r>
            <a:r>
              <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because </a:t>
            </a:r>
            <a:r>
              <a:rPr kumimoji="0" lang="en-US" sz="2800" b="0" i="0" u="none" strike="noStrike" kern="1200" cap="none" spc="0" normalizeH="0" baseline="0" noProof="0">
                <a:ln>
                  <a:noFill/>
                </a:ln>
                <a:solidFill>
                  <a:srgbClr val="0000FF"/>
                </a:solidFill>
                <a:effectLst/>
                <a:uLnTx/>
                <a:uFillTx/>
                <a:latin typeface="Calibri"/>
                <a:ea typeface="+mn-ea"/>
                <a:cs typeface="Times New Roman" pitchFamily="18" charset="0"/>
              </a:rPr>
              <a:t>e, b, a, d, e </a:t>
            </a:r>
            <a:r>
              <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is a </a:t>
            </a:r>
            <a:r>
              <a:rPr kumimoji="0" lang="en-US" sz="2800" b="0" i="0" u="none" strike="noStrike" kern="1200" cap="none" spc="0" normalizeH="0" baseline="0" noProof="0">
                <a:ln>
                  <a:noFill/>
                </a:ln>
                <a:solidFill>
                  <a:srgbClr val="0000FF"/>
                </a:solidFill>
                <a:effectLst/>
                <a:uLnTx/>
                <a:uFillTx/>
                <a:latin typeface="Calibri"/>
                <a:ea typeface="+mn-ea"/>
                <a:cs typeface="Times New Roman" pitchFamily="18" charset="0"/>
              </a:rPr>
              <a:t>simple circuit </a:t>
            </a:r>
            <a:r>
              <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in this graph.</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endPar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endParaRP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Finally, </a:t>
            </a:r>
            <a:r>
              <a:rPr kumimoji="0" lang="en-US" sz="2800" b="1" i="0" u="none" strike="noStrike" kern="1200" cap="none" spc="0" normalizeH="0" baseline="0" noProof="0">
                <a:ln>
                  <a:noFill/>
                </a:ln>
                <a:solidFill>
                  <a:srgbClr val="0000FF"/>
                </a:solidFill>
                <a:effectLst/>
                <a:uLnTx/>
                <a:uFillTx/>
                <a:latin typeface="Calibri"/>
                <a:ea typeface="+mn-ea"/>
                <a:cs typeface="Times New Roman" pitchFamily="18" charset="0"/>
              </a:rPr>
              <a:t>G4 is not a tree </a:t>
            </a:r>
            <a:r>
              <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because it is </a:t>
            </a:r>
            <a:r>
              <a:rPr kumimoji="0" lang="en-US" sz="2800" b="0" i="0" u="none" strike="noStrike" kern="1200" cap="none" spc="0" normalizeH="0" baseline="0" noProof="0">
                <a:ln>
                  <a:noFill/>
                </a:ln>
                <a:solidFill>
                  <a:srgbClr val="0000FF"/>
                </a:solidFill>
                <a:effectLst/>
                <a:uLnTx/>
                <a:uFillTx/>
                <a:latin typeface="Calibri"/>
                <a:ea typeface="+mn-ea"/>
                <a:cs typeface="Times New Roman" pitchFamily="18" charset="0"/>
              </a:rPr>
              <a:t>not connected</a:t>
            </a:r>
            <a:r>
              <a:rPr kumimoji="0" lang="en-US" sz="28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192596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Theorem 1 </a:t>
            </a:r>
          </a:p>
        </p:txBody>
      </p:sp>
      <p:sp>
        <p:nvSpPr>
          <p:cNvPr id="5" name="Content Placeholder 2">
            <a:extLst>
              <a:ext uri="{FF2B5EF4-FFF2-40B4-BE49-F238E27FC236}">
                <a16:creationId xmlns:a16="http://schemas.microsoft.com/office/drawing/2014/main" id="{C915CEFB-BA64-4B98-A53F-F8AE143B2CFA}"/>
              </a:ext>
            </a:extLst>
          </p:cNvPr>
          <p:cNvSpPr txBox="1">
            <a:spLocks/>
          </p:cNvSpPr>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3200" b="0" i="0" u="none" strike="noStrike" kern="1200" cap="none" spc="0" normalizeH="0" baseline="0" noProof="0">
                <a:ln>
                  <a:noFill/>
                </a:ln>
                <a:solidFill>
                  <a:sysClr val="windowText" lastClr="000000"/>
                </a:solidFill>
                <a:effectLst/>
                <a:uLnTx/>
                <a:uFillTx/>
                <a:latin typeface="Calibri"/>
                <a:ea typeface="+mn-ea"/>
                <a:cs typeface="+mn-cs"/>
              </a:rPr>
              <a:t>An undirected graph is a </a:t>
            </a:r>
            <a:r>
              <a:rPr kumimoji="0" lang="en-US" sz="3200" b="1" i="0" u="none" strike="noStrike" kern="1200" cap="none" spc="0" normalizeH="0" baseline="0" noProof="0">
                <a:ln>
                  <a:noFill/>
                </a:ln>
                <a:solidFill>
                  <a:sysClr val="windowText" lastClr="000000"/>
                </a:solidFill>
                <a:effectLst/>
                <a:uLnTx/>
                <a:uFillTx/>
                <a:latin typeface="Calibri"/>
                <a:ea typeface="+mn-ea"/>
                <a:cs typeface="+mn-cs"/>
              </a:rPr>
              <a:t>tree</a:t>
            </a:r>
            <a:r>
              <a:rPr kumimoji="0" lang="en-US" sz="3200" b="0" i="0" u="none" strike="noStrike" kern="1200" cap="none" spc="0" normalizeH="0" baseline="0" noProof="0">
                <a:ln>
                  <a:noFill/>
                </a:ln>
                <a:solidFill>
                  <a:sysClr val="windowText" lastClr="000000"/>
                </a:solidFill>
                <a:effectLst/>
                <a:uLnTx/>
                <a:uFillTx/>
                <a:latin typeface="Calibri"/>
                <a:ea typeface="+mn-ea"/>
                <a:cs typeface="+mn-cs"/>
              </a:rPr>
              <a:t> </a:t>
            </a:r>
            <a:r>
              <a:rPr kumimoji="0" lang="en-US" sz="3200" b="0" i="0" u="sng" strike="noStrike" kern="1200" cap="none" spc="0" normalizeH="0" baseline="0" noProof="0">
                <a:ln>
                  <a:noFill/>
                </a:ln>
                <a:solidFill>
                  <a:sysClr val="windowText" lastClr="000000"/>
                </a:solidFill>
                <a:effectLst/>
                <a:uLnTx/>
                <a:uFillTx/>
                <a:latin typeface="Calibri"/>
                <a:ea typeface="+mn-ea"/>
                <a:cs typeface="+mn-cs"/>
              </a:rPr>
              <a:t>if and only if </a:t>
            </a:r>
            <a:r>
              <a:rPr kumimoji="0" lang="en-US" sz="3200" b="0" i="0" u="none" strike="noStrike" kern="1200" cap="none" spc="0" normalizeH="0" baseline="0" noProof="0">
                <a:ln>
                  <a:noFill/>
                </a:ln>
                <a:solidFill>
                  <a:sysClr val="windowText" lastClr="000000"/>
                </a:solidFill>
                <a:effectLst/>
                <a:uLnTx/>
                <a:uFillTx/>
                <a:latin typeface="Calibri"/>
                <a:ea typeface="+mn-ea"/>
                <a:cs typeface="+mn-cs"/>
              </a:rPr>
              <a:t>there is </a:t>
            </a:r>
            <a:r>
              <a:rPr kumimoji="0" lang="en-US" sz="3200" b="0" i="0" u="sng" strike="noStrike" kern="1200" cap="none" spc="0" normalizeH="0" baseline="0" noProof="0">
                <a:ln>
                  <a:noFill/>
                </a:ln>
                <a:solidFill>
                  <a:sysClr val="windowText" lastClr="000000"/>
                </a:solidFill>
                <a:effectLst/>
                <a:uLnTx/>
                <a:uFillTx/>
                <a:latin typeface="Calibri"/>
                <a:ea typeface="+mn-ea"/>
                <a:cs typeface="+mn-cs"/>
              </a:rPr>
              <a:t>a unique simple path</a:t>
            </a:r>
            <a:r>
              <a:rPr kumimoji="0" lang="en-US" sz="3200" b="0" i="0" u="none" strike="noStrike" kern="1200" cap="none" spc="0" normalizeH="0" baseline="0" noProof="0">
                <a:ln>
                  <a:noFill/>
                </a:ln>
                <a:solidFill>
                  <a:sysClr val="windowText" lastClr="000000"/>
                </a:solidFill>
                <a:effectLst/>
                <a:uLnTx/>
                <a:uFillTx/>
                <a:latin typeface="Calibri"/>
                <a:ea typeface="+mn-ea"/>
                <a:cs typeface="+mn-cs"/>
              </a:rPr>
              <a:t> </a:t>
            </a:r>
            <a:r>
              <a:rPr kumimoji="0" lang="en-US" sz="3200" b="0" i="1" u="none" strike="noStrike" kern="1200" cap="none" spc="0" normalizeH="0" baseline="0" noProof="0">
                <a:ln>
                  <a:noFill/>
                </a:ln>
                <a:solidFill>
                  <a:sysClr val="windowText" lastClr="000000"/>
                </a:solidFill>
                <a:effectLst/>
                <a:uLnTx/>
                <a:uFillTx/>
                <a:latin typeface="Calibri"/>
                <a:ea typeface="+mn-ea"/>
                <a:cs typeface="+mn-cs"/>
              </a:rPr>
              <a:t>between</a:t>
            </a:r>
            <a:r>
              <a:rPr kumimoji="0" lang="en-US" sz="3200" b="0" i="0" u="none" strike="noStrike" kern="1200" cap="none" spc="0" normalizeH="0" baseline="0" noProof="0">
                <a:ln>
                  <a:noFill/>
                </a:ln>
                <a:solidFill>
                  <a:sysClr val="windowText" lastClr="000000"/>
                </a:solidFill>
                <a:effectLst/>
                <a:uLnTx/>
                <a:uFillTx/>
                <a:latin typeface="Calibri"/>
                <a:ea typeface="+mn-ea"/>
                <a:cs typeface="+mn-cs"/>
              </a:rPr>
              <a:t> </a:t>
            </a:r>
            <a:r>
              <a:rPr kumimoji="0" lang="en-US" sz="3200" b="0" i="0" u="sng" strike="noStrike" kern="1200" cap="none" spc="0" normalizeH="0" baseline="0" noProof="0">
                <a:ln>
                  <a:noFill/>
                </a:ln>
                <a:solidFill>
                  <a:sysClr val="windowText" lastClr="000000"/>
                </a:solidFill>
                <a:effectLst/>
                <a:uLnTx/>
                <a:uFillTx/>
                <a:latin typeface="Calibri"/>
                <a:ea typeface="+mn-ea"/>
                <a:cs typeface="+mn-cs"/>
              </a:rPr>
              <a:t>any two of its vertices. </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endParaRPr kumimoji="0" lang="en-US" sz="32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1231549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3600" dirty="0">
                <a:solidFill>
                  <a:prstClr val="black"/>
                </a:solidFill>
                <a:ea typeface="+mj-ea"/>
                <a:cs typeface="+mj-cs"/>
              </a:rPr>
              <a:t>Forest </a:t>
            </a:r>
            <a:r>
              <a:rPr lang="en-US" sz="3600" b="1" dirty="0">
                <a:solidFill>
                  <a:schemeClr val="tx1"/>
                </a:solidFill>
              </a:rPr>
              <a:t> </a:t>
            </a:r>
          </a:p>
        </p:txBody>
      </p:sp>
      <p:sp>
        <p:nvSpPr>
          <p:cNvPr id="4" name="Content Placeholder 2">
            <a:extLst>
              <a:ext uri="{FF2B5EF4-FFF2-40B4-BE49-F238E27FC236}">
                <a16:creationId xmlns:a16="http://schemas.microsoft.com/office/drawing/2014/main" id="{88EB4F16-10CD-445F-84D5-7C04E0CBC294}"/>
              </a:ext>
            </a:extLst>
          </p:cNvPr>
          <p:cNvSpPr txBox="1">
            <a:spLocks/>
          </p:cNvSpPr>
          <p:nvPr/>
        </p:nvSpPr>
        <p:spPr bwMode="auto">
          <a:xfrm>
            <a:off x="457200" y="1617784"/>
            <a:ext cx="8229600" cy="493541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800" b="0" i="0" u="none" strike="noStrike" kern="1200" cap="none" spc="0" normalizeH="0" baseline="0" noProof="0" dirty="0">
                <a:ln>
                  <a:noFill/>
                </a:ln>
                <a:solidFill>
                  <a:srgbClr val="0000FF"/>
                </a:solidFill>
                <a:effectLst/>
                <a:uLnTx/>
                <a:uFillTx/>
                <a:latin typeface="Calibri"/>
                <a:ea typeface="+mn-ea"/>
                <a:cs typeface="+mn-cs"/>
              </a:rPr>
              <a:t>A </a:t>
            </a:r>
            <a:r>
              <a:rPr kumimoji="0" lang="en-US" sz="2800" b="0" i="1" u="none" strike="noStrike" kern="1200" cap="none" spc="0" normalizeH="0" baseline="0" noProof="0" dirty="0">
                <a:ln>
                  <a:noFill/>
                </a:ln>
                <a:solidFill>
                  <a:srgbClr val="0000FF"/>
                </a:solidFill>
                <a:effectLst/>
                <a:uLnTx/>
                <a:uFillTx/>
                <a:latin typeface="Calibri"/>
                <a:ea typeface="+mn-ea"/>
                <a:cs typeface="+mn-cs"/>
              </a:rPr>
              <a:t>forest</a:t>
            </a:r>
            <a:r>
              <a:rPr kumimoji="0" lang="en-US" sz="2800" b="0" i="0" u="none" strike="noStrike" kern="1200" cap="none" spc="0" normalizeH="0" baseline="0" noProof="0" dirty="0">
                <a:ln>
                  <a:noFill/>
                </a:ln>
                <a:solidFill>
                  <a:srgbClr val="0000FF"/>
                </a:solidFill>
                <a:effectLst/>
                <a:uLnTx/>
                <a:uFillTx/>
                <a:latin typeface="Calibri"/>
                <a:ea typeface="+mn-ea"/>
                <a:cs typeface="+mn-cs"/>
              </a:rPr>
              <a:t> is a graph that has no simple circuit, but is not connected. Each of the components in a forest is a tree.</a:t>
            </a: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200" y="3077320"/>
            <a:ext cx="7398462" cy="3396996"/>
          </a:xfrm>
          <a:prstGeom prst="rect">
            <a:avLst/>
          </a:prstGeom>
        </p:spPr>
      </p:pic>
    </p:spTree>
    <p:extLst>
      <p:ext uri="{BB962C8B-B14F-4D97-AF65-F5344CB8AC3E}">
        <p14:creationId xmlns:p14="http://schemas.microsoft.com/office/powerpoint/2010/main" val="3897979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3200" b="1" dirty="0">
                <a:solidFill>
                  <a:schemeClr val="tx1"/>
                </a:solidFill>
              </a:rPr>
              <a:t>Rooted Tree</a:t>
            </a:r>
          </a:p>
        </p:txBody>
      </p:sp>
      <p:sp>
        <p:nvSpPr>
          <p:cNvPr id="4" name="Content Placeholder 2">
            <a:extLst>
              <a:ext uri="{FF2B5EF4-FFF2-40B4-BE49-F238E27FC236}">
                <a16:creationId xmlns:a16="http://schemas.microsoft.com/office/drawing/2014/main" id="{BEF81137-AF83-418D-AE36-E6320029C2DA}"/>
              </a:ext>
            </a:extLst>
          </p:cNvPr>
          <p:cNvSpPr txBox="1">
            <a:spLocks/>
          </p:cNvSpPr>
          <p:nvPr/>
        </p:nvSpPr>
        <p:spPr bwMode="auto">
          <a:xfrm>
            <a:off x="457200" y="1722437"/>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800" b="1" i="0" u="sng" strike="noStrike" kern="1200" cap="none" spc="0" normalizeH="0" baseline="0" noProof="0">
                <a:ln>
                  <a:noFill/>
                </a:ln>
                <a:solidFill>
                  <a:srgbClr val="FF0000"/>
                </a:solidFill>
                <a:effectLst/>
                <a:uLnTx/>
                <a:uFillTx/>
                <a:latin typeface="Calibri"/>
                <a:ea typeface="+mn-ea"/>
                <a:cs typeface="+mn-cs"/>
              </a:rPr>
              <a:t>Rooted tree</a:t>
            </a:r>
            <a:r>
              <a:rPr kumimoji="0" lang="en-US" sz="2800" b="0" i="0" u="none" strike="noStrike" kern="1200" cap="none" spc="0" normalizeH="0" baseline="0" noProof="0">
                <a:ln>
                  <a:noFill/>
                </a:ln>
                <a:solidFill>
                  <a:srgbClr val="FF0000"/>
                </a:solidFill>
                <a:effectLst/>
                <a:uLnTx/>
                <a:uFillTx/>
                <a:latin typeface="Calibri"/>
                <a:ea typeface="+mn-ea"/>
                <a:cs typeface="+mn-cs"/>
              </a:rPr>
              <a:t>:</a:t>
            </a: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 A rooted tree is a tree in which </a:t>
            </a:r>
            <a:r>
              <a:rPr kumimoji="0" lang="en-US" sz="2800" b="1" i="0" u="none" strike="noStrike" kern="1200" cap="none" spc="0" normalizeH="0" baseline="0" noProof="0">
                <a:ln>
                  <a:noFill/>
                </a:ln>
                <a:solidFill>
                  <a:sysClr val="windowText" lastClr="000000"/>
                </a:solidFill>
                <a:effectLst/>
                <a:uLnTx/>
                <a:uFillTx/>
                <a:latin typeface="Calibri"/>
                <a:ea typeface="+mn-ea"/>
                <a:cs typeface="+mn-cs"/>
              </a:rPr>
              <a:t>one vertex </a:t>
            </a: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has been designated as the </a:t>
            </a:r>
            <a:r>
              <a:rPr kumimoji="0" lang="en-US" sz="2800" b="1" i="0" u="none" strike="noStrike" kern="1200" cap="none" spc="0" normalizeH="0" baseline="0" noProof="0">
                <a:ln>
                  <a:noFill/>
                </a:ln>
                <a:solidFill>
                  <a:sysClr val="windowText" lastClr="000000"/>
                </a:solidFill>
                <a:effectLst/>
                <a:uLnTx/>
                <a:uFillTx/>
                <a:latin typeface="Calibri"/>
                <a:ea typeface="+mn-ea"/>
                <a:cs typeface="+mn-cs"/>
              </a:rPr>
              <a:t>root</a:t>
            </a: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 and every edge is directed away from the root.</a:t>
            </a:r>
          </a:p>
          <a:p>
            <a:pPr marL="742950" marR="0" lvl="1" indent="-28575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We can change an unrooted tree into a rooted tree by choosing any vertex as the root</a:t>
            </a:r>
          </a:p>
          <a:p>
            <a:pPr marL="742950" marR="0" lvl="1" indent="-28575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Different choices of the root produce different rooted trees</a:t>
            </a: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3698525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1"/>
            <a:ext cx="7345466" cy="715253"/>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solidFill>
                  <a:srgbClr val="FF0000"/>
                </a:solidFill>
              </a:rPr>
              <a:t>A Tree and Rooted Trees Formed by Designating Two Roots</a:t>
            </a:r>
            <a:r>
              <a:rPr lang="en-US" sz="2800" b="1" dirty="0">
                <a:solidFill>
                  <a:schemeClr val="tx1"/>
                </a:solidFill>
              </a:rPr>
              <a:t> </a:t>
            </a:r>
          </a:p>
        </p:txBody>
      </p:sp>
      <p:pic>
        <p:nvPicPr>
          <p:cNvPr id="9" name="Content Placeholder 4">
            <a:extLst>
              <a:ext uri="{FF2B5EF4-FFF2-40B4-BE49-F238E27FC236}">
                <a16:creationId xmlns:a16="http://schemas.microsoft.com/office/drawing/2014/main" id="{4A835F4A-A290-4F2E-8F1C-56124D79127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381000" y="1905000"/>
            <a:ext cx="8411677" cy="3581400"/>
          </a:xfrm>
          <a:prstGeom prst="rect">
            <a:avLst/>
          </a:prstGeom>
          <a:noFill/>
          <a:ln w="9525">
            <a:noFill/>
            <a:miter lim="800000"/>
            <a:headEnd/>
            <a:tailEnd/>
          </a:ln>
        </p:spPr>
      </p:pic>
      <p:sp>
        <p:nvSpPr>
          <p:cNvPr id="10" name="TextBox 9">
            <a:extLst>
              <a:ext uri="{FF2B5EF4-FFF2-40B4-BE49-F238E27FC236}">
                <a16:creationId xmlns:a16="http://schemas.microsoft.com/office/drawing/2014/main" id="{E681BF11-4C62-4207-B164-B66D67A15E62}"/>
              </a:ext>
            </a:extLst>
          </p:cNvPr>
          <p:cNvSpPr txBox="1"/>
          <p:nvPr/>
        </p:nvSpPr>
        <p:spPr>
          <a:xfrm>
            <a:off x="762000" y="5867400"/>
            <a:ext cx="7854201" cy="400110"/>
          </a:xfrm>
          <a:prstGeom prst="rect">
            <a:avLst/>
          </a:prstGeom>
          <a:noFill/>
        </p:spPr>
        <p:txBody>
          <a:bodyPr wrap="none" rtlCol="0">
            <a:spAutoFit/>
          </a:bodyPr>
          <a:lstStyle/>
          <a:p>
            <a:pPr fontAlgn="base">
              <a:spcBef>
                <a:spcPct val="0"/>
              </a:spcBef>
              <a:spcAft>
                <a:spcPct val="0"/>
              </a:spcAft>
            </a:pPr>
            <a:r>
              <a:rPr lang="en-US" sz="2000" b="1" dirty="0">
                <a:solidFill>
                  <a:srgbClr val="FF0000"/>
                </a:solidFill>
                <a:cs typeface="Arial" charset="0"/>
              </a:rPr>
              <a:t>The rooted trees formed by designating </a:t>
            </a:r>
            <a:r>
              <a:rPr lang="en-US" sz="2000" b="1" i="1" dirty="0">
                <a:solidFill>
                  <a:srgbClr val="0000FF"/>
                </a:solidFill>
                <a:cs typeface="Arial" charset="0"/>
              </a:rPr>
              <a:t>a</a:t>
            </a:r>
            <a:r>
              <a:rPr lang="en-US" sz="2000" b="1" dirty="0">
                <a:solidFill>
                  <a:srgbClr val="0000FF"/>
                </a:solidFill>
                <a:cs typeface="Arial" charset="0"/>
              </a:rPr>
              <a:t> to be root </a:t>
            </a:r>
            <a:r>
              <a:rPr lang="en-US" sz="2000" b="1" dirty="0">
                <a:solidFill>
                  <a:srgbClr val="FF0000"/>
                </a:solidFill>
                <a:cs typeface="Arial" charset="0"/>
              </a:rPr>
              <a:t>and </a:t>
            </a:r>
            <a:r>
              <a:rPr lang="en-US" sz="2000" b="1" i="1" dirty="0">
                <a:solidFill>
                  <a:srgbClr val="0000FF"/>
                </a:solidFill>
                <a:cs typeface="Arial" charset="0"/>
              </a:rPr>
              <a:t>c</a:t>
            </a:r>
            <a:r>
              <a:rPr lang="en-US" sz="2000" b="1" dirty="0">
                <a:solidFill>
                  <a:srgbClr val="0000FF"/>
                </a:solidFill>
                <a:cs typeface="Arial" charset="0"/>
              </a:rPr>
              <a:t> to be the root</a:t>
            </a:r>
          </a:p>
        </p:txBody>
      </p:sp>
    </p:spTree>
    <p:extLst>
      <p:ext uri="{BB962C8B-B14F-4D97-AF65-F5344CB8AC3E}">
        <p14:creationId xmlns:p14="http://schemas.microsoft.com/office/powerpoint/2010/main" val="898929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1"/>
            <a:ext cx="7345466" cy="715253"/>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3200" b="1" dirty="0">
                <a:solidFill>
                  <a:srgbClr val="FF0000"/>
                </a:solidFill>
              </a:rPr>
              <a:t>Ordered Rooted Tree</a:t>
            </a:r>
          </a:p>
        </p:txBody>
      </p:sp>
      <p:sp>
        <p:nvSpPr>
          <p:cNvPr id="11" name="Content Placeholder 2">
            <a:extLst>
              <a:ext uri="{FF2B5EF4-FFF2-40B4-BE49-F238E27FC236}">
                <a16:creationId xmlns:a16="http://schemas.microsoft.com/office/drawing/2014/main" id="{6464B220-EFE7-408D-9191-E89BF783362E}"/>
              </a:ext>
            </a:extLst>
          </p:cNvPr>
          <p:cNvSpPr txBox="1">
            <a:spLocks/>
          </p:cNvSpPr>
          <p:nvPr/>
        </p:nvSpPr>
        <p:spPr bwMode="auto">
          <a:xfrm>
            <a:off x="457200" y="1730322"/>
            <a:ext cx="8229600" cy="468219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400" b="1" i="0" u="none" strike="noStrike" kern="1200" cap="none" spc="0" normalizeH="0" baseline="0" noProof="0" dirty="0">
                <a:ln>
                  <a:noFill/>
                </a:ln>
                <a:solidFill>
                  <a:srgbClr val="FF0000"/>
                </a:solidFill>
                <a:effectLst/>
                <a:uLnTx/>
                <a:uFillTx/>
                <a:latin typeface="Calibri"/>
                <a:ea typeface="+mn-ea"/>
                <a:cs typeface="+mn-cs"/>
              </a:rPr>
              <a:t>Definition</a:t>
            </a:r>
            <a:r>
              <a:rPr kumimoji="0" lang="en-US" sz="2400" b="0" i="0" u="none" strike="noStrike" kern="1200" cap="none" spc="0" normalizeH="0" baseline="0" noProof="0" dirty="0">
                <a:ln>
                  <a:noFill/>
                </a:ln>
                <a:solidFill>
                  <a:srgbClr val="FF0000"/>
                </a:solidFill>
                <a:effectLst/>
                <a:uLnTx/>
                <a:uFillTx/>
                <a:latin typeface="Calibri"/>
                <a:ea typeface="+mn-ea"/>
                <a:cs typeface="+mn-cs"/>
              </a:rPr>
              <a:t>:</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An </a:t>
            </a:r>
            <a:r>
              <a:rPr kumimoji="0" lang="en-US" sz="2400" b="1" i="1" u="none" strike="noStrike" kern="1200" cap="none" spc="0" normalizeH="0" baseline="0" noProof="0" dirty="0">
                <a:ln>
                  <a:noFill/>
                </a:ln>
                <a:solidFill>
                  <a:sysClr val="windowText" lastClr="000000"/>
                </a:solidFill>
                <a:effectLst/>
                <a:uLnTx/>
                <a:uFillTx/>
                <a:latin typeface="Calibri"/>
                <a:ea typeface="+mn-ea"/>
                <a:cs typeface="+mn-cs"/>
              </a:rPr>
              <a:t>ordered rooted tree</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is a rooted tree where the children of each internal vertex are ordered.</a:t>
            </a:r>
          </a:p>
          <a:p>
            <a:pPr marL="742950" marR="0" lvl="1" indent="-28575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000" b="0" i="0" u="none" strike="noStrike" kern="1200" cap="none" spc="0" normalizeH="0" baseline="0" noProof="0" dirty="0">
                <a:ln>
                  <a:noFill/>
                </a:ln>
                <a:solidFill>
                  <a:sysClr val="windowText" lastClr="000000"/>
                </a:solidFill>
                <a:effectLst/>
                <a:uLnTx/>
                <a:uFillTx/>
                <a:latin typeface="Calibri"/>
                <a:ea typeface="+mn-ea"/>
                <a:cs typeface="+mn-cs"/>
              </a:rPr>
              <a:t>We draw ordered rooted trees so that the children of each internal vertex are shown in order from left to right</a:t>
            </a:r>
          </a:p>
          <a:p>
            <a:pPr marL="342900" marR="0" lvl="1"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400" b="1" i="0" u="none" strike="noStrike" kern="1200" cap="none" spc="0" normalizeH="0" baseline="0" noProof="0" dirty="0">
                <a:ln>
                  <a:noFill/>
                </a:ln>
                <a:solidFill>
                  <a:srgbClr val="FF0000"/>
                </a:solidFill>
                <a:effectLst/>
                <a:uLnTx/>
                <a:uFillTx/>
                <a:latin typeface="Calibri"/>
                <a:ea typeface="+mn-ea"/>
                <a:cs typeface="+mn-cs"/>
              </a:rPr>
              <a:t>Definition</a:t>
            </a:r>
            <a:r>
              <a:rPr kumimoji="0" lang="en-US" sz="2400" b="0" i="0" u="none" strike="noStrike" kern="1200" cap="none" spc="0" normalizeH="0" baseline="0" noProof="0" dirty="0">
                <a:ln>
                  <a:noFill/>
                </a:ln>
                <a:solidFill>
                  <a:srgbClr val="FF0000"/>
                </a:solidFill>
                <a:effectLst/>
                <a:uLnTx/>
                <a:uFillTx/>
                <a:latin typeface="Calibri"/>
                <a:ea typeface="+mn-ea"/>
                <a:cs typeface="+mn-cs"/>
              </a:rPr>
              <a:t>: </a:t>
            </a:r>
            <a:r>
              <a:rPr kumimoji="0" lang="en-US" sz="2400" b="0" i="0" u="none" strike="noStrike" kern="1200" cap="none" spc="0" normalizeH="0" baseline="0" noProof="0" dirty="0">
                <a:ln>
                  <a:noFill/>
                </a:ln>
                <a:solidFill>
                  <a:srgbClr val="0000FF"/>
                </a:solidFill>
                <a:effectLst/>
                <a:uLnTx/>
                <a:uFillTx/>
                <a:latin typeface="Calibri"/>
                <a:ea typeface="+mn-ea"/>
                <a:cs typeface="+mn-cs"/>
              </a:rPr>
              <a:t>A </a:t>
            </a:r>
            <a:r>
              <a:rPr kumimoji="0" lang="en-US" sz="2400" b="1" i="1" u="none" strike="noStrike" kern="1200" cap="none" spc="0" normalizeH="0" baseline="0" noProof="0" dirty="0">
                <a:ln>
                  <a:noFill/>
                </a:ln>
                <a:solidFill>
                  <a:srgbClr val="0000FF"/>
                </a:solidFill>
                <a:effectLst/>
                <a:uLnTx/>
                <a:uFillTx/>
                <a:latin typeface="Calibri"/>
                <a:ea typeface="+mn-ea"/>
                <a:cs typeface="+mn-cs"/>
              </a:rPr>
              <a:t>binary tree</a:t>
            </a:r>
            <a:r>
              <a:rPr kumimoji="0" lang="en-US" sz="2400" b="0" i="1" u="none" strike="noStrike" kern="1200" cap="none" spc="0" normalizeH="0" baseline="0" noProof="0" dirty="0">
                <a:ln>
                  <a:noFill/>
                </a:ln>
                <a:solidFill>
                  <a:srgbClr val="0000FF"/>
                </a:solidFill>
                <a:effectLst/>
                <a:uLnTx/>
                <a:uFillTx/>
                <a:latin typeface="Calibri"/>
                <a:ea typeface="+mn-ea"/>
                <a:cs typeface="+mn-cs"/>
              </a:rPr>
              <a:t> </a:t>
            </a:r>
            <a:r>
              <a:rPr kumimoji="0" lang="en-US" sz="2400" b="0" i="0" u="none" strike="noStrike" kern="1200" cap="none" spc="0" normalizeH="0" baseline="0" noProof="0" dirty="0">
                <a:ln>
                  <a:noFill/>
                </a:ln>
                <a:solidFill>
                  <a:srgbClr val="0000FF"/>
                </a:solidFill>
                <a:effectLst/>
                <a:uLnTx/>
                <a:uFillTx/>
                <a:latin typeface="Calibri"/>
                <a:ea typeface="+mn-ea"/>
                <a:cs typeface="+mn-cs"/>
              </a:rPr>
              <a:t>is an ordered rooted where each internal vertex has at most two children. </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If an internal vertex of a binary tree has two children, the first is called the </a:t>
            </a:r>
            <a:r>
              <a:rPr kumimoji="0" lang="en-US" sz="2400" b="1" i="1" u="none" strike="noStrike" kern="1200" cap="none" spc="0" normalizeH="0" baseline="0" noProof="0" dirty="0">
                <a:ln>
                  <a:noFill/>
                </a:ln>
                <a:solidFill>
                  <a:sysClr val="windowText" lastClr="000000"/>
                </a:solidFill>
                <a:effectLst/>
                <a:uLnTx/>
                <a:uFillTx/>
                <a:latin typeface="Calibri"/>
                <a:ea typeface="+mn-ea"/>
                <a:cs typeface="+mn-cs"/>
              </a:rPr>
              <a:t>left</a:t>
            </a:r>
            <a:r>
              <a:rPr kumimoji="0" lang="en-US" sz="2400" b="0" i="1"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400" b="1" i="1" u="none" strike="noStrike" kern="1200" cap="none" spc="0" normalizeH="0" baseline="0" noProof="0" dirty="0">
                <a:ln>
                  <a:noFill/>
                </a:ln>
                <a:solidFill>
                  <a:sysClr val="windowText" lastClr="000000"/>
                </a:solidFill>
                <a:effectLst/>
                <a:uLnTx/>
                <a:uFillTx/>
                <a:latin typeface="Calibri"/>
                <a:ea typeface="+mn-ea"/>
                <a:cs typeface="+mn-cs"/>
              </a:rPr>
              <a:t>child</a:t>
            </a:r>
            <a:r>
              <a:rPr kumimoji="0" lang="en-US" sz="2400" b="0" i="1"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and the second the </a:t>
            </a:r>
            <a:r>
              <a:rPr kumimoji="0" lang="en-US" sz="2400" b="1" i="1" u="none" strike="noStrike" kern="1200" cap="none" spc="0" normalizeH="0" baseline="0" noProof="0" dirty="0">
                <a:ln>
                  <a:noFill/>
                </a:ln>
                <a:solidFill>
                  <a:sysClr val="windowText" lastClr="000000"/>
                </a:solidFill>
                <a:effectLst/>
                <a:uLnTx/>
                <a:uFillTx/>
                <a:latin typeface="Calibri"/>
                <a:ea typeface="+mn-ea"/>
                <a:cs typeface="+mn-cs"/>
              </a:rPr>
              <a:t>right</a:t>
            </a:r>
            <a:r>
              <a:rPr kumimoji="0" lang="en-US" sz="2400" b="0" i="1"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400" b="1" i="1" u="none" strike="noStrike" kern="1200" cap="none" spc="0" normalizeH="0" baseline="0" noProof="0" dirty="0">
                <a:ln>
                  <a:noFill/>
                </a:ln>
                <a:solidFill>
                  <a:sysClr val="windowText" lastClr="000000"/>
                </a:solidFill>
                <a:effectLst/>
                <a:uLnTx/>
                <a:uFillTx/>
                <a:latin typeface="Calibri"/>
                <a:ea typeface="+mn-ea"/>
                <a:cs typeface="+mn-cs"/>
              </a:rPr>
              <a:t>child</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The tree rooted at the left child of a vertex is called the </a:t>
            </a:r>
            <a:r>
              <a:rPr kumimoji="0" lang="en-US" sz="2400" b="1" i="1" u="none" strike="noStrike" kern="1200" cap="none" spc="0" normalizeH="0" baseline="0" noProof="0" dirty="0">
                <a:ln>
                  <a:noFill/>
                </a:ln>
                <a:solidFill>
                  <a:sysClr val="windowText" lastClr="000000"/>
                </a:solidFill>
                <a:effectLst/>
                <a:uLnTx/>
                <a:uFillTx/>
                <a:latin typeface="Calibri"/>
                <a:ea typeface="+mn-ea"/>
                <a:cs typeface="+mn-cs"/>
              </a:rPr>
              <a:t>left </a:t>
            </a:r>
            <a:r>
              <a:rPr kumimoji="0" lang="en-US" sz="2400" b="1" i="1" u="none" strike="noStrike" kern="1200" cap="none" spc="0" normalizeH="0" baseline="0" noProof="0" dirty="0" err="1">
                <a:ln>
                  <a:noFill/>
                </a:ln>
                <a:solidFill>
                  <a:sysClr val="windowText" lastClr="000000"/>
                </a:solidFill>
                <a:effectLst/>
                <a:uLnTx/>
                <a:uFillTx/>
                <a:latin typeface="Calibri"/>
                <a:ea typeface="+mn-ea"/>
                <a:cs typeface="+mn-cs"/>
              </a:rPr>
              <a:t>subtree</a:t>
            </a:r>
            <a:r>
              <a:rPr kumimoji="0" lang="en-US" sz="2400" b="1" i="1"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of this vertex, and the tree rooted at the right child of a vertex is called the </a:t>
            </a:r>
            <a:r>
              <a:rPr kumimoji="0" lang="en-US" sz="2400" b="1" i="1" u="none" strike="noStrike" kern="1200" cap="none" spc="0" normalizeH="0" baseline="0" noProof="0" dirty="0">
                <a:ln>
                  <a:noFill/>
                </a:ln>
                <a:solidFill>
                  <a:sysClr val="windowText" lastClr="000000"/>
                </a:solidFill>
                <a:effectLst/>
                <a:uLnTx/>
                <a:uFillTx/>
                <a:latin typeface="Calibri"/>
                <a:ea typeface="+mn-ea"/>
                <a:cs typeface="+mn-cs"/>
              </a:rPr>
              <a:t>right </a:t>
            </a:r>
            <a:r>
              <a:rPr kumimoji="0" lang="en-US" sz="2400" b="1" i="1" u="none" strike="noStrike" kern="1200" cap="none" spc="0" normalizeH="0" baseline="0" noProof="0" dirty="0" err="1">
                <a:ln>
                  <a:noFill/>
                </a:ln>
                <a:solidFill>
                  <a:sysClr val="windowText" lastClr="000000"/>
                </a:solidFill>
                <a:effectLst/>
                <a:uLnTx/>
                <a:uFillTx/>
                <a:latin typeface="Calibri"/>
                <a:ea typeface="+mn-ea"/>
                <a:cs typeface="+mn-cs"/>
              </a:rPr>
              <a:t>subtree</a:t>
            </a:r>
            <a:r>
              <a:rPr kumimoji="0" lang="en-US" sz="2400" b="1" i="1"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of this vertex.</a:t>
            </a:r>
          </a:p>
        </p:txBody>
      </p:sp>
    </p:spTree>
    <p:extLst>
      <p:ext uri="{BB962C8B-B14F-4D97-AF65-F5344CB8AC3E}">
        <p14:creationId xmlns:p14="http://schemas.microsoft.com/office/powerpoint/2010/main" val="913094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3200" b="1" dirty="0">
                <a:solidFill>
                  <a:schemeClr val="tx1"/>
                </a:solidFill>
              </a:rPr>
              <a:t>Example 4 @page 627 </a:t>
            </a:r>
          </a:p>
        </p:txBody>
      </p:sp>
      <p:sp>
        <p:nvSpPr>
          <p:cNvPr id="8" name="Content Placeholder 2">
            <a:extLst>
              <a:ext uri="{FF2B5EF4-FFF2-40B4-BE49-F238E27FC236}">
                <a16:creationId xmlns:a16="http://schemas.microsoft.com/office/drawing/2014/main" id="{1FD9B273-330B-457B-A827-47890F0DBFBC}"/>
              </a:ext>
            </a:extLst>
          </p:cNvPr>
          <p:cNvSpPr txBox="1">
            <a:spLocks/>
          </p:cNvSpPr>
          <p:nvPr/>
        </p:nvSpPr>
        <p:spPr bwMode="auto">
          <a:xfrm>
            <a:off x="457200" y="1644650"/>
            <a:ext cx="8229600" cy="47561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65760" marR="0" lvl="0" indent="-365760" algn="l" defTabSz="914400" rtl="0" eaLnBrk="0" fontAlgn="base" latinLnBrk="0" hangingPunct="0">
              <a:lnSpc>
                <a:spcPct val="100000"/>
              </a:lnSpc>
              <a:spcBef>
                <a:spcPct val="20000"/>
              </a:spcBef>
              <a:spcAft>
                <a:spcPct val="0"/>
              </a:spcAft>
              <a:buClrTx/>
              <a:buSzTx/>
              <a:buFont typeface="Arial" charset="0"/>
              <a:buNone/>
              <a:tabLst/>
              <a:defRPr/>
            </a:pPr>
            <a:r>
              <a:rPr kumimoji="0" lang="en-US" sz="2000" b="1" i="0" u="none" strike="noStrike" kern="1200" cap="none" spc="0" normalizeH="0" baseline="0" noProof="0">
                <a:ln>
                  <a:noFill/>
                </a:ln>
                <a:solidFill>
                  <a:srgbClr val="FF0000"/>
                </a:solidFill>
                <a:effectLst/>
                <a:uLnTx/>
                <a:uFillTx/>
                <a:latin typeface="Calibri"/>
                <a:ea typeface="+mn-ea"/>
                <a:cs typeface="+mn-cs"/>
              </a:rPr>
              <a:t>Consider the binary tree </a:t>
            </a:r>
            <a:r>
              <a:rPr kumimoji="0" lang="en-US" sz="2000" b="1" i="1" u="none" strike="noStrike" kern="1200" cap="none" spc="0" normalizeH="0" baseline="0" noProof="0">
                <a:ln>
                  <a:noFill/>
                </a:ln>
                <a:solidFill>
                  <a:srgbClr val="FF0000"/>
                </a:solidFill>
                <a:effectLst/>
                <a:uLnTx/>
                <a:uFillTx/>
                <a:latin typeface="Calibri"/>
                <a:ea typeface="+mn-ea"/>
                <a:cs typeface="+mn-cs"/>
              </a:rPr>
              <a:t>T</a:t>
            </a:r>
            <a:r>
              <a:rPr kumimoji="0" lang="en-US" sz="2000" b="1" i="0" u="none" strike="noStrike" kern="1200" cap="none" spc="0" normalizeH="0" baseline="0" noProof="0">
                <a:ln>
                  <a:noFill/>
                </a:ln>
                <a:solidFill>
                  <a:srgbClr val="FF0000"/>
                </a:solidFill>
                <a:effectLst/>
                <a:uLnTx/>
                <a:uFillTx/>
                <a:latin typeface="Calibri"/>
                <a:ea typeface="+mn-ea"/>
                <a:cs typeface="+mn-cs"/>
              </a:rPr>
              <a:t>. </a:t>
            </a:r>
          </a:p>
          <a:p>
            <a:pPr marL="365760" marR="0" lvl="0" indent="-365760" algn="l" defTabSz="914400" rtl="0" eaLnBrk="0" fontAlgn="base" latinLnBrk="0" hangingPunct="0">
              <a:lnSpc>
                <a:spcPct val="100000"/>
              </a:lnSpc>
              <a:spcBef>
                <a:spcPct val="20000"/>
              </a:spcBef>
              <a:spcAft>
                <a:spcPct val="0"/>
              </a:spcAft>
              <a:buClrTx/>
              <a:buSzTx/>
              <a:buFont typeface="Arial" charset="0"/>
              <a:buNone/>
              <a:tabLst/>
              <a:defRPr/>
            </a:pPr>
            <a:r>
              <a:rPr kumimoji="0" lang="en-US" sz="2000" b="1" i="0" u="none" strike="noStrike" kern="1200" cap="none" spc="0" normalizeH="0" baseline="0" noProof="0">
                <a:ln>
                  <a:noFill/>
                </a:ln>
                <a:solidFill>
                  <a:srgbClr val="FF0000"/>
                </a:solidFill>
                <a:effectLst/>
                <a:uLnTx/>
                <a:uFillTx/>
                <a:latin typeface="Calibri"/>
                <a:ea typeface="+mn-ea"/>
                <a:cs typeface="+mn-cs"/>
              </a:rPr>
              <a:t>  (</a:t>
            </a:r>
            <a:r>
              <a:rPr kumimoji="0" lang="en-US" sz="2000" b="1" i="1" u="none" strike="noStrike" kern="1200" cap="none" spc="0" normalizeH="0" baseline="0" noProof="0">
                <a:ln>
                  <a:noFill/>
                </a:ln>
                <a:solidFill>
                  <a:srgbClr val="FF0000"/>
                </a:solidFill>
                <a:effectLst/>
                <a:uLnTx/>
                <a:uFillTx/>
                <a:latin typeface="Calibri"/>
                <a:ea typeface="+mn-ea"/>
                <a:cs typeface="+mn-cs"/>
              </a:rPr>
              <a:t>i</a:t>
            </a:r>
            <a:r>
              <a:rPr kumimoji="0" lang="en-US" sz="2000" b="1" i="0" u="none" strike="noStrike" kern="1200" cap="none" spc="0" normalizeH="0" baseline="0" noProof="0">
                <a:ln>
                  <a:noFill/>
                </a:ln>
                <a:solidFill>
                  <a:srgbClr val="FF0000"/>
                </a:solidFill>
                <a:effectLst/>
                <a:uLnTx/>
                <a:uFillTx/>
                <a:latin typeface="Calibri"/>
                <a:ea typeface="+mn-ea"/>
                <a:cs typeface="+mn-cs"/>
              </a:rPr>
              <a:t>)  What are the left and right children of </a:t>
            </a:r>
            <a:r>
              <a:rPr kumimoji="0" lang="en-US" sz="2000" b="1" i="1" u="none" strike="noStrike" kern="1200" cap="none" spc="0" normalizeH="0" baseline="0" noProof="0">
                <a:ln>
                  <a:noFill/>
                </a:ln>
                <a:solidFill>
                  <a:srgbClr val="FF0000"/>
                </a:solidFill>
                <a:effectLst/>
                <a:uLnTx/>
                <a:uFillTx/>
                <a:latin typeface="Calibri"/>
                <a:ea typeface="+mn-ea"/>
                <a:cs typeface="+mn-cs"/>
              </a:rPr>
              <a:t>d</a:t>
            </a:r>
            <a:r>
              <a:rPr kumimoji="0" lang="en-US" sz="2000" b="1" i="0" u="none" strike="noStrike" kern="1200" cap="none" spc="0" normalizeH="0" baseline="0" noProof="0">
                <a:ln>
                  <a:noFill/>
                </a:ln>
                <a:solidFill>
                  <a:srgbClr val="FF0000"/>
                </a:solidFill>
                <a:effectLst/>
                <a:uLnTx/>
                <a:uFillTx/>
                <a:latin typeface="Calibri"/>
                <a:ea typeface="+mn-ea"/>
                <a:cs typeface="+mn-cs"/>
              </a:rPr>
              <a:t>? </a:t>
            </a:r>
          </a:p>
          <a:p>
            <a:pPr marL="365760" marR="0" lvl="0" indent="-365760" algn="l" defTabSz="914400" rtl="0" eaLnBrk="0" fontAlgn="base" latinLnBrk="0" hangingPunct="0">
              <a:lnSpc>
                <a:spcPct val="100000"/>
              </a:lnSpc>
              <a:spcBef>
                <a:spcPct val="20000"/>
              </a:spcBef>
              <a:spcAft>
                <a:spcPct val="0"/>
              </a:spcAft>
              <a:buClrTx/>
              <a:buSzTx/>
              <a:buFont typeface="Arial" charset="0"/>
              <a:buNone/>
              <a:tabLst/>
              <a:defRPr/>
            </a:pPr>
            <a:r>
              <a:rPr kumimoji="0" lang="en-US" sz="2000" b="1" i="0" u="none" strike="noStrike" kern="1200" cap="none" spc="0" normalizeH="0" baseline="0" noProof="0">
                <a:ln>
                  <a:noFill/>
                </a:ln>
                <a:solidFill>
                  <a:srgbClr val="FF0000"/>
                </a:solidFill>
                <a:effectLst/>
                <a:uLnTx/>
                <a:uFillTx/>
                <a:latin typeface="Calibri"/>
                <a:ea typeface="+mn-ea"/>
                <a:cs typeface="+mn-cs"/>
              </a:rPr>
              <a:t> (</a:t>
            </a:r>
            <a:r>
              <a:rPr kumimoji="0" lang="en-US" sz="2000" b="1" i="1" u="none" strike="noStrike" kern="1200" cap="none" spc="0" normalizeH="0" baseline="0" noProof="0">
                <a:ln>
                  <a:noFill/>
                </a:ln>
                <a:solidFill>
                  <a:srgbClr val="FF0000"/>
                </a:solidFill>
                <a:effectLst/>
                <a:uLnTx/>
                <a:uFillTx/>
                <a:latin typeface="Calibri"/>
                <a:ea typeface="+mn-ea"/>
                <a:cs typeface="+mn-cs"/>
              </a:rPr>
              <a:t>ii</a:t>
            </a:r>
            <a:r>
              <a:rPr kumimoji="0" lang="en-US" sz="2000" b="1" i="0" u="none" strike="noStrike" kern="1200" cap="none" spc="0" normalizeH="0" baseline="0" noProof="0">
                <a:ln>
                  <a:noFill/>
                </a:ln>
                <a:solidFill>
                  <a:srgbClr val="FF0000"/>
                </a:solidFill>
                <a:effectLst/>
                <a:uLnTx/>
                <a:uFillTx/>
                <a:latin typeface="Calibri"/>
                <a:ea typeface="+mn-ea"/>
                <a:cs typeface="+mn-cs"/>
              </a:rPr>
              <a:t>)  What are the left and right subtrees of </a:t>
            </a:r>
            <a:r>
              <a:rPr kumimoji="0" lang="en-US" sz="2000" b="1" i="1" u="none" strike="noStrike" kern="1200" cap="none" spc="0" normalizeH="0" baseline="0" noProof="0">
                <a:ln>
                  <a:noFill/>
                </a:ln>
                <a:solidFill>
                  <a:srgbClr val="FF0000"/>
                </a:solidFill>
                <a:effectLst/>
                <a:uLnTx/>
                <a:uFillTx/>
                <a:latin typeface="Calibri"/>
                <a:ea typeface="+mn-ea"/>
                <a:cs typeface="+mn-cs"/>
              </a:rPr>
              <a:t>c</a:t>
            </a:r>
            <a:r>
              <a:rPr kumimoji="0" lang="en-US" sz="2000" b="1" i="0" u="none" strike="noStrike" kern="1200" cap="none" spc="0" normalizeH="0" baseline="0" noProof="0">
                <a:ln>
                  <a:noFill/>
                </a:ln>
                <a:solidFill>
                  <a:srgbClr val="FF0000"/>
                </a:solidFill>
                <a:effectLst/>
                <a:uLnTx/>
                <a:uFillTx/>
                <a:latin typeface="Calibri"/>
                <a:ea typeface="+mn-ea"/>
                <a:cs typeface="+mn-cs"/>
              </a:rPr>
              <a:t>?</a:t>
            </a:r>
          </a:p>
          <a:p>
            <a:pPr marL="365760" marR="0" lvl="0" indent="-365760" algn="l" defTabSz="914400" rtl="0" eaLnBrk="0" fontAlgn="base" latinLnBrk="0" hangingPunct="0">
              <a:lnSpc>
                <a:spcPct val="100000"/>
              </a:lnSpc>
              <a:spcBef>
                <a:spcPct val="20000"/>
              </a:spcBef>
              <a:spcAft>
                <a:spcPct val="0"/>
              </a:spcAft>
              <a:buClrTx/>
              <a:buSzTx/>
              <a:buFont typeface="Arial" charset="0"/>
              <a:buNone/>
              <a:tabLst/>
              <a:defRPr/>
            </a:pPr>
            <a:r>
              <a:rPr kumimoji="0" lang="en-US" sz="2000" b="1" i="0" u="sng" strike="noStrike" kern="1200" cap="none" spc="0" normalizeH="0" baseline="0" noProof="0">
                <a:ln>
                  <a:noFill/>
                </a:ln>
                <a:solidFill>
                  <a:srgbClr val="0000FF"/>
                </a:solidFill>
                <a:effectLst/>
                <a:uLnTx/>
                <a:uFillTx/>
                <a:latin typeface="Calibri"/>
                <a:ea typeface="+mn-ea"/>
                <a:cs typeface="+mn-cs"/>
              </a:rPr>
              <a:t>Solution</a:t>
            </a:r>
            <a:r>
              <a:rPr kumimoji="0" lang="en-US" sz="2000" b="0" i="0" u="sng" strike="noStrike" kern="1200" cap="none" spc="0" normalizeH="0" baseline="0" noProof="0">
                <a:ln>
                  <a:noFill/>
                </a:ln>
                <a:solidFill>
                  <a:srgbClr val="0000FF"/>
                </a:solidFill>
                <a:effectLst/>
                <a:uLnTx/>
                <a:uFillTx/>
                <a:latin typeface="Calibri"/>
                <a:ea typeface="+mn-ea"/>
                <a:cs typeface="+mn-cs"/>
              </a:rPr>
              <a:t>: </a:t>
            </a:r>
          </a:p>
          <a:p>
            <a:pPr marL="365760" marR="0" lvl="0" indent="-365760" algn="l" defTabSz="914400" rtl="0" eaLnBrk="0" fontAlgn="base" latinLnBrk="0" hangingPunct="0">
              <a:lnSpc>
                <a:spcPct val="100000"/>
              </a:lnSpc>
              <a:spcBef>
                <a:spcPct val="20000"/>
              </a:spcBef>
              <a:spcAft>
                <a:spcPct val="0"/>
              </a:spcAft>
              <a:buClrTx/>
              <a:buSzTx/>
              <a:buFont typeface="Arial" charset="0"/>
              <a:buNone/>
              <a:tabLst/>
              <a:defRPr/>
            </a:pPr>
            <a:r>
              <a:rPr kumimoji="0" lang="en-US" sz="2000" b="0" i="0" u="none" strike="noStrike" kern="1200" cap="none" spc="0" normalizeH="0" baseline="0" noProof="0">
                <a:ln>
                  <a:noFill/>
                </a:ln>
                <a:solidFill>
                  <a:sysClr val="windowText" lastClr="000000"/>
                </a:solidFill>
                <a:effectLst/>
                <a:uLnTx/>
                <a:uFillTx/>
                <a:latin typeface="Calibri"/>
                <a:ea typeface="+mn-ea"/>
                <a:cs typeface="+mn-cs"/>
              </a:rPr>
              <a:t>   </a:t>
            </a:r>
            <a:r>
              <a:rPr kumimoji="0" lang="en-US" sz="2000" b="0" i="0" u="none" strike="noStrike" kern="1200" cap="none" spc="0" normalizeH="0" baseline="0" noProof="0">
                <a:ln>
                  <a:noFill/>
                </a:ln>
                <a:solidFill>
                  <a:srgbClr val="0000FF"/>
                </a:solidFill>
                <a:effectLst/>
                <a:uLnTx/>
                <a:uFillTx/>
                <a:latin typeface="Calibri"/>
                <a:ea typeface="+mn-ea"/>
                <a:cs typeface="+mn-cs"/>
              </a:rPr>
              <a:t>(</a:t>
            </a:r>
            <a:r>
              <a:rPr kumimoji="0" lang="en-US" sz="2000" b="0" i="1" u="none" strike="noStrike" kern="1200" cap="none" spc="0" normalizeH="0" baseline="0" noProof="0">
                <a:ln>
                  <a:noFill/>
                </a:ln>
                <a:solidFill>
                  <a:srgbClr val="0000FF"/>
                </a:solidFill>
                <a:effectLst/>
                <a:uLnTx/>
                <a:uFillTx/>
                <a:latin typeface="Calibri"/>
                <a:ea typeface="+mn-ea"/>
                <a:cs typeface="+mn-cs"/>
              </a:rPr>
              <a:t>i</a:t>
            </a:r>
            <a:r>
              <a:rPr kumimoji="0" lang="en-US" sz="2000" b="0" i="0" u="none" strike="noStrike" kern="1200" cap="none" spc="0" normalizeH="0" baseline="0" noProof="0">
                <a:ln>
                  <a:noFill/>
                </a:ln>
                <a:solidFill>
                  <a:srgbClr val="0000FF"/>
                </a:solidFill>
                <a:effectLst/>
                <a:uLnTx/>
                <a:uFillTx/>
                <a:latin typeface="Calibri"/>
                <a:ea typeface="+mn-ea"/>
                <a:cs typeface="+mn-cs"/>
              </a:rPr>
              <a:t>)</a:t>
            </a:r>
            <a:r>
              <a:rPr kumimoji="0" lang="en-US" sz="2000" b="0" i="0" u="none" strike="noStrike" kern="1200" cap="none" spc="0" normalizeH="0" baseline="0" noProof="0">
                <a:ln>
                  <a:noFill/>
                </a:ln>
                <a:solidFill>
                  <a:srgbClr val="C0504D"/>
                </a:solidFill>
                <a:effectLst/>
                <a:uLnTx/>
                <a:uFillTx/>
                <a:latin typeface="Calibri"/>
                <a:ea typeface="+mn-ea"/>
                <a:cs typeface="+mn-cs"/>
              </a:rPr>
              <a:t> </a:t>
            </a:r>
            <a:r>
              <a:rPr kumimoji="0" lang="en-US" sz="2000" b="0" i="0" u="none" strike="noStrike" kern="1200" cap="none" spc="0" normalizeH="0" baseline="0" noProof="0">
                <a:ln>
                  <a:noFill/>
                </a:ln>
                <a:solidFill>
                  <a:sysClr val="windowText" lastClr="000000"/>
                </a:solidFill>
                <a:effectLst/>
                <a:uLnTx/>
                <a:uFillTx/>
                <a:latin typeface="Calibri"/>
                <a:ea typeface="+mn-ea"/>
                <a:cs typeface="+mn-cs"/>
              </a:rPr>
              <a:t>The left child of </a:t>
            </a:r>
            <a:r>
              <a:rPr kumimoji="0" lang="en-US" sz="2000" b="0" i="1" u="none" strike="noStrike" kern="1200" cap="none" spc="0" normalizeH="0" baseline="0" noProof="0">
                <a:ln>
                  <a:noFill/>
                </a:ln>
                <a:solidFill>
                  <a:sysClr val="windowText" lastClr="000000"/>
                </a:solidFill>
                <a:effectLst/>
                <a:uLnTx/>
                <a:uFillTx/>
                <a:latin typeface="Calibri"/>
                <a:ea typeface="+mn-ea"/>
                <a:cs typeface="+mn-cs"/>
              </a:rPr>
              <a:t>d</a:t>
            </a:r>
            <a:r>
              <a:rPr kumimoji="0" lang="en-US" sz="2000" b="0" i="0" u="none" strike="noStrike" kern="1200" cap="none" spc="0" normalizeH="0" baseline="0" noProof="0">
                <a:ln>
                  <a:noFill/>
                </a:ln>
                <a:solidFill>
                  <a:sysClr val="windowText" lastClr="000000"/>
                </a:solidFill>
                <a:effectLst/>
                <a:uLnTx/>
                <a:uFillTx/>
                <a:latin typeface="Calibri"/>
                <a:ea typeface="+mn-ea"/>
                <a:cs typeface="+mn-cs"/>
              </a:rPr>
              <a:t> is </a:t>
            </a:r>
            <a:r>
              <a:rPr kumimoji="0" lang="en-US" sz="2000" b="0" i="1" u="none" strike="noStrike" kern="1200" cap="none" spc="0" normalizeH="0" baseline="0" noProof="0">
                <a:ln>
                  <a:noFill/>
                </a:ln>
                <a:solidFill>
                  <a:sysClr val="windowText" lastClr="000000"/>
                </a:solidFill>
                <a:effectLst/>
                <a:uLnTx/>
                <a:uFillTx/>
                <a:latin typeface="Calibri"/>
                <a:ea typeface="+mn-ea"/>
                <a:cs typeface="+mn-cs"/>
              </a:rPr>
              <a:t>f</a:t>
            </a:r>
            <a:r>
              <a:rPr kumimoji="0" lang="en-US" sz="2000" b="0" i="0" u="none" strike="noStrike" kern="1200" cap="none" spc="0" normalizeH="0" baseline="0" noProof="0">
                <a:ln>
                  <a:noFill/>
                </a:ln>
                <a:solidFill>
                  <a:sysClr val="windowText" lastClr="000000"/>
                </a:solidFill>
                <a:effectLst/>
                <a:uLnTx/>
                <a:uFillTx/>
                <a:latin typeface="Calibri"/>
                <a:ea typeface="+mn-ea"/>
                <a:cs typeface="+mn-cs"/>
              </a:rPr>
              <a:t> and the right child is </a:t>
            </a:r>
            <a:r>
              <a:rPr kumimoji="0" lang="en-US" sz="2000" b="0" i="1" u="none" strike="noStrike" kern="1200" cap="none" spc="0" normalizeH="0" baseline="0" noProof="0">
                <a:ln>
                  <a:noFill/>
                </a:ln>
                <a:solidFill>
                  <a:sysClr val="windowText" lastClr="000000"/>
                </a:solidFill>
                <a:effectLst/>
                <a:uLnTx/>
                <a:uFillTx/>
                <a:latin typeface="Calibri"/>
                <a:ea typeface="+mn-ea"/>
                <a:cs typeface="+mn-cs"/>
              </a:rPr>
              <a:t>g</a:t>
            </a:r>
            <a:r>
              <a:rPr kumimoji="0" lang="en-US" sz="2000" b="0" i="0" u="none" strike="noStrike" kern="1200" cap="none" spc="0" normalizeH="0" baseline="0" noProof="0">
                <a:ln>
                  <a:noFill/>
                </a:ln>
                <a:solidFill>
                  <a:sysClr val="windowText" lastClr="000000"/>
                </a:solidFill>
                <a:effectLst/>
                <a:uLnTx/>
                <a:uFillTx/>
                <a:latin typeface="Calibri"/>
                <a:ea typeface="+mn-ea"/>
                <a:cs typeface="+mn-cs"/>
              </a:rPr>
              <a:t>. </a:t>
            </a:r>
          </a:p>
          <a:p>
            <a:pPr marL="365760" marR="0" lvl="0" indent="-365760" algn="l" defTabSz="914400" rtl="0" eaLnBrk="0" fontAlgn="base" latinLnBrk="0" hangingPunct="0">
              <a:lnSpc>
                <a:spcPct val="100000"/>
              </a:lnSpc>
              <a:spcBef>
                <a:spcPct val="20000"/>
              </a:spcBef>
              <a:spcAft>
                <a:spcPct val="0"/>
              </a:spcAft>
              <a:buClrTx/>
              <a:buSzTx/>
              <a:buFont typeface="Arial" charset="0"/>
              <a:buNone/>
              <a:tabLst/>
              <a:defRPr/>
            </a:pPr>
            <a:r>
              <a:rPr kumimoji="0" lang="en-US" sz="2000" b="0" i="0" u="none" strike="noStrike" kern="1200" cap="none" spc="0" normalizeH="0" baseline="0" noProof="0">
                <a:ln>
                  <a:noFill/>
                </a:ln>
                <a:solidFill>
                  <a:sysClr val="windowText" lastClr="000000"/>
                </a:solidFill>
                <a:effectLst/>
                <a:uLnTx/>
                <a:uFillTx/>
                <a:latin typeface="Calibri"/>
                <a:ea typeface="+mn-ea"/>
                <a:cs typeface="+mn-cs"/>
              </a:rPr>
              <a:t>  </a:t>
            </a:r>
            <a:r>
              <a:rPr kumimoji="0" lang="en-US" sz="2000" b="0" i="0" u="none" strike="noStrike" kern="1200" cap="none" spc="0" normalizeH="0" baseline="0" noProof="0">
                <a:ln>
                  <a:noFill/>
                </a:ln>
                <a:solidFill>
                  <a:srgbClr val="0000FF"/>
                </a:solidFill>
                <a:effectLst/>
                <a:uLnTx/>
                <a:uFillTx/>
                <a:latin typeface="Calibri"/>
                <a:ea typeface="+mn-ea"/>
                <a:cs typeface="+mn-cs"/>
              </a:rPr>
              <a:t>(</a:t>
            </a:r>
            <a:r>
              <a:rPr kumimoji="0" lang="en-US" sz="2000" b="0" i="1" u="none" strike="noStrike" kern="1200" cap="none" spc="0" normalizeH="0" baseline="0" noProof="0">
                <a:ln>
                  <a:noFill/>
                </a:ln>
                <a:solidFill>
                  <a:srgbClr val="0000FF"/>
                </a:solidFill>
                <a:effectLst/>
                <a:uLnTx/>
                <a:uFillTx/>
                <a:latin typeface="Calibri"/>
                <a:ea typeface="+mn-ea"/>
                <a:cs typeface="+mn-cs"/>
              </a:rPr>
              <a:t>ii</a:t>
            </a:r>
            <a:r>
              <a:rPr kumimoji="0" lang="en-US" sz="2000" b="0" i="0" u="none" strike="noStrike" kern="1200" cap="none" spc="0" normalizeH="0" baseline="0" noProof="0">
                <a:ln>
                  <a:noFill/>
                </a:ln>
                <a:solidFill>
                  <a:srgbClr val="0000FF"/>
                </a:solidFill>
                <a:effectLst/>
                <a:uLnTx/>
                <a:uFillTx/>
                <a:latin typeface="Calibri"/>
                <a:ea typeface="+mn-ea"/>
                <a:cs typeface="+mn-cs"/>
              </a:rPr>
              <a:t>) </a:t>
            </a:r>
            <a:r>
              <a:rPr kumimoji="0" lang="en-US" sz="2000" b="0" i="0" u="none" strike="noStrike" kern="1200" cap="none" spc="0" normalizeH="0" baseline="0" noProof="0">
                <a:ln>
                  <a:noFill/>
                </a:ln>
                <a:solidFill>
                  <a:sysClr val="windowText" lastClr="000000"/>
                </a:solidFill>
                <a:effectLst/>
                <a:uLnTx/>
                <a:uFillTx/>
                <a:latin typeface="Calibri"/>
                <a:ea typeface="+mn-ea"/>
                <a:cs typeface="+mn-cs"/>
              </a:rPr>
              <a:t>The left and right subtrees of </a:t>
            </a:r>
            <a:r>
              <a:rPr kumimoji="0" lang="en-US" sz="2000" b="0" i="1" u="none" strike="noStrike" kern="1200" cap="none" spc="0" normalizeH="0" baseline="0" noProof="0">
                <a:ln>
                  <a:noFill/>
                </a:ln>
                <a:solidFill>
                  <a:sysClr val="windowText" lastClr="000000"/>
                </a:solidFill>
                <a:effectLst/>
                <a:uLnTx/>
                <a:uFillTx/>
                <a:latin typeface="Calibri"/>
                <a:ea typeface="+mn-ea"/>
                <a:cs typeface="+mn-cs"/>
              </a:rPr>
              <a:t>c</a:t>
            </a:r>
            <a:r>
              <a:rPr kumimoji="0" lang="en-US" sz="2000" b="0" i="0" u="none" strike="noStrike" kern="1200" cap="none" spc="0" normalizeH="0" baseline="0" noProof="0">
                <a:ln>
                  <a:noFill/>
                </a:ln>
                <a:solidFill>
                  <a:sysClr val="windowText" lastClr="000000"/>
                </a:solidFill>
                <a:effectLst/>
                <a:uLnTx/>
                <a:uFillTx/>
                <a:latin typeface="Calibri"/>
                <a:ea typeface="+mn-ea"/>
                <a:cs typeface="+mn-cs"/>
              </a:rPr>
              <a:t> are displayed in                </a:t>
            </a:r>
          </a:p>
          <a:p>
            <a:pPr marL="365760" marR="0" lvl="0" indent="-365760" algn="l" defTabSz="914400" rtl="0" eaLnBrk="0" fontAlgn="base" latinLnBrk="0" hangingPunct="0">
              <a:lnSpc>
                <a:spcPct val="100000"/>
              </a:lnSpc>
              <a:spcBef>
                <a:spcPct val="20000"/>
              </a:spcBef>
              <a:spcAft>
                <a:spcPct val="0"/>
              </a:spcAft>
              <a:buClrTx/>
              <a:buSzTx/>
              <a:buFont typeface="Arial" charset="0"/>
              <a:buNone/>
              <a:tabLst/>
              <a:defRPr/>
            </a:pPr>
            <a:r>
              <a:rPr kumimoji="0" lang="en-US" sz="2000" b="0" i="0" u="none" strike="noStrike" kern="1200" cap="none" spc="0" normalizeH="0" baseline="0" noProof="0">
                <a:ln>
                  <a:noFill/>
                </a:ln>
                <a:solidFill>
                  <a:sysClr val="windowText" lastClr="000000"/>
                </a:solidFill>
                <a:effectLst/>
                <a:uLnTx/>
                <a:uFillTx/>
                <a:latin typeface="Calibri"/>
                <a:ea typeface="+mn-ea"/>
                <a:cs typeface="+mn-cs"/>
              </a:rPr>
              <a:t>        (b) and (c).</a:t>
            </a:r>
          </a:p>
          <a:p>
            <a:pPr marL="365760" marR="0" lvl="0" indent="-365760" algn="l" defTabSz="914400" rtl="0" eaLnBrk="0" fontAlgn="base" latinLnBrk="0" hangingPunct="0">
              <a:lnSpc>
                <a:spcPct val="100000"/>
              </a:lnSpc>
              <a:spcBef>
                <a:spcPct val="20000"/>
              </a:spcBef>
              <a:spcAft>
                <a:spcPct val="0"/>
              </a:spcAft>
              <a:buClrTx/>
              <a:buSzTx/>
              <a:buFont typeface="Arial" charset="0"/>
              <a:buChar char="•"/>
              <a:tabLst/>
              <a:defRPr/>
            </a:pPr>
            <a:endParaRPr kumimoji="0" lang="en-US" sz="2000" b="0" i="0" u="none" strike="noStrike" kern="1200" cap="none" spc="0" normalizeH="0" baseline="0" noProof="0" dirty="0">
              <a:ln>
                <a:noFill/>
              </a:ln>
              <a:solidFill>
                <a:sysClr val="windowText" lastClr="000000"/>
              </a:solidFill>
              <a:effectLst/>
              <a:uLnTx/>
              <a:uFillTx/>
              <a:latin typeface="Calibri"/>
              <a:ea typeface="+mn-ea"/>
              <a:cs typeface="+mn-cs"/>
            </a:endParaRPr>
          </a:p>
        </p:txBody>
      </p:sp>
      <p:pic>
        <p:nvPicPr>
          <p:cNvPr id="10" name="Picture 9">
            <a:extLst>
              <a:ext uri="{FF2B5EF4-FFF2-40B4-BE49-F238E27FC236}">
                <a16:creationId xmlns:a16="http://schemas.microsoft.com/office/drawing/2014/main" id="{E5C2B271-0126-47D9-87FC-E8ED3B562769}"/>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666999" y="4005087"/>
            <a:ext cx="4648201" cy="2471913"/>
          </a:xfrm>
          <a:prstGeom prst="rect">
            <a:avLst/>
          </a:prstGeom>
        </p:spPr>
      </p:pic>
    </p:spTree>
    <p:extLst>
      <p:ext uri="{BB962C8B-B14F-4D97-AF65-F5344CB8AC3E}">
        <p14:creationId xmlns:p14="http://schemas.microsoft.com/office/powerpoint/2010/main" val="25228658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3200" b="1" dirty="0">
                <a:solidFill>
                  <a:schemeClr val="tx1"/>
                </a:solidFill>
              </a:rPr>
              <a:t>Rooted Tree Terminologies</a:t>
            </a:r>
          </a:p>
        </p:txBody>
      </p:sp>
      <p:sp>
        <p:nvSpPr>
          <p:cNvPr id="7" name="Content Placeholder 2">
            <a:extLst>
              <a:ext uri="{FF2B5EF4-FFF2-40B4-BE49-F238E27FC236}">
                <a16:creationId xmlns:a16="http://schemas.microsoft.com/office/drawing/2014/main" id="{B8FDCFC1-7452-4DF9-8C4D-35AB29C632EE}"/>
              </a:ext>
            </a:extLst>
          </p:cNvPr>
          <p:cNvSpPr txBox="1">
            <a:spLocks/>
          </p:cNvSpPr>
          <p:nvPr/>
        </p:nvSpPr>
        <p:spPr bwMode="auto">
          <a:xfrm>
            <a:off x="228600" y="1407944"/>
            <a:ext cx="8458200" cy="480997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110000"/>
              </a:lnSpc>
              <a:spcBef>
                <a:spcPct val="20000"/>
              </a:spcBef>
              <a:spcAft>
                <a:spcPct val="0"/>
              </a:spcAft>
              <a:buClrTx/>
              <a:buSzTx/>
              <a:buFont typeface="Arial" charset="0"/>
              <a:buChar char="•"/>
              <a:tabLst/>
              <a:defRPr/>
            </a:pPr>
            <a:r>
              <a:rPr kumimoji="0" lang="en-US" sz="2200" b="1" i="0" u="sng" strike="noStrike" kern="1200" cap="none" spc="0" normalizeH="0" baseline="0" noProof="0" dirty="0">
                <a:ln>
                  <a:noFill/>
                </a:ln>
                <a:solidFill>
                  <a:srgbClr val="0000FF"/>
                </a:solidFill>
                <a:effectLst/>
                <a:uLnTx/>
                <a:uFillTx/>
                <a:latin typeface="Calibri"/>
                <a:ea typeface="+mn-ea"/>
                <a:cs typeface="Times New Roman" pitchFamily="18" charset="0"/>
              </a:rPr>
              <a:t>Parent</a:t>
            </a:r>
            <a:r>
              <a:rPr kumimoji="0" lang="en-US" sz="22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 </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If </a:t>
            </a:r>
            <a:r>
              <a:rPr kumimoji="0" lang="en-US" sz="2400" b="0" i="1" u="none" strike="noStrike" kern="1200" cap="none" spc="0" normalizeH="0" baseline="0" noProof="0" dirty="0">
                <a:ln>
                  <a:noFill/>
                </a:ln>
                <a:solidFill>
                  <a:sysClr val="windowText" lastClr="000000"/>
                </a:solidFill>
                <a:effectLst/>
                <a:uLnTx/>
                <a:uFillTx/>
                <a:latin typeface="Calibri"/>
                <a:ea typeface="+mn-ea"/>
                <a:cs typeface="+mn-cs"/>
              </a:rPr>
              <a:t>v</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is a vertex of a rooted tree other than the root, the </a:t>
            </a:r>
            <a:r>
              <a:rPr kumimoji="0" lang="en-US" sz="2400" b="0" i="1" u="none" strike="noStrike" kern="1200" cap="none" spc="0" normalizeH="0" baseline="0" noProof="0" dirty="0">
                <a:ln>
                  <a:noFill/>
                </a:ln>
                <a:solidFill>
                  <a:sysClr val="windowText" lastClr="000000"/>
                </a:solidFill>
                <a:effectLst/>
                <a:uLnTx/>
                <a:uFillTx/>
                <a:latin typeface="Calibri"/>
                <a:ea typeface="+mn-ea"/>
                <a:cs typeface="+mn-cs"/>
              </a:rPr>
              <a:t>parent</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of </a:t>
            </a:r>
            <a:r>
              <a:rPr kumimoji="0" lang="en-US" sz="2400" b="0" i="1" u="none" strike="noStrike" kern="1200" cap="none" spc="0" normalizeH="0" baseline="0" noProof="0" dirty="0">
                <a:ln>
                  <a:noFill/>
                </a:ln>
                <a:solidFill>
                  <a:sysClr val="windowText" lastClr="000000"/>
                </a:solidFill>
                <a:effectLst/>
                <a:uLnTx/>
                <a:uFillTx/>
                <a:latin typeface="Calibri"/>
                <a:ea typeface="+mn-ea"/>
                <a:cs typeface="+mn-cs"/>
              </a:rPr>
              <a:t>v</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is the unique vertex </a:t>
            </a:r>
            <a:r>
              <a:rPr kumimoji="0" lang="en-US" sz="2400" b="0" i="1" u="none" strike="noStrike" kern="1200" cap="none" spc="0" normalizeH="0" baseline="0" noProof="0" dirty="0">
                <a:ln>
                  <a:noFill/>
                </a:ln>
                <a:solidFill>
                  <a:sysClr val="windowText" lastClr="000000"/>
                </a:solidFill>
                <a:effectLst/>
                <a:uLnTx/>
                <a:uFillTx/>
                <a:latin typeface="Calibri"/>
                <a:ea typeface="+mn-ea"/>
                <a:cs typeface="+mn-cs"/>
              </a:rPr>
              <a:t>u</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such that there is a directed edge from </a:t>
            </a:r>
            <a:r>
              <a:rPr kumimoji="0" lang="en-US" sz="2400" b="0" i="1" u="none" strike="noStrike" kern="1200" cap="none" spc="0" normalizeH="0" baseline="0" noProof="0" dirty="0">
                <a:ln>
                  <a:noFill/>
                </a:ln>
                <a:solidFill>
                  <a:sysClr val="windowText" lastClr="000000"/>
                </a:solidFill>
                <a:effectLst/>
                <a:uLnTx/>
                <a:uFillTx/>
                <a:latin typeface="Calibri"/>
                <a:ea typeface="+mn-ea"/>
                <a:cs typeface="+mn-cs"/>
              </a:rPr>
              <a:t>u</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to </a:t>
            </a:r>
            <a:r>
              <a:rPr kumimoji="0" lang="en-US" sz="2400" b="0" i="1" u="none" strike="noStrike" kern="1200" cap="none" spc="0" normalizeH="0" baseline="0" noProof="0" dirty="0">
                <a:ln>
                  <a:noFill/>
                </a:ln>
                <a:solidFill>
                  <a:sysClr val="windowText" lastClr="000000"/>
                </a:solidFill>
                <a:effectLst/>
                <a:uLnTx/>
                <a:uFillTx/>
                <a:latin typeface="Calibri"/>
                <a:ea typeface="+mn-ea"/>
                <a:cs typeface="+mn-cs"/>
              </a:rPr>
              <a:t>v.</a:t>
            </a:r>
            <a:endParaRPr kumimoji="0" lang="en-US" sz="22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endParaRPr>
          </a:p>
          <a:p>
            <a:pPr marL="742950" marR="0" lvl="1" indent="-285750" algn="l" defTabSz="914400" rtl="0" eaLnBrk="1" fontAlgn="base" latinLnBrk="0" hangingPunct="1">
              <a:lnSpc>
                <a:spcPct val="110000"/>
              </a:lnSpc>
              <a:spcBef>
                <a:spcPct val="20000"/>
              </a:spcBef>
              <a:spcAft>
                <a:spcPct val="0"/>
              </a:spcAft>
              <a:buClrTx/>
              <a:buSzTx/>
              <a:buFont typeface="Arial" charset="0"/>
              <a:buChar char="–"/>
              <a:tabLst/>
              <a:defRPr/>
            </a:pPr>
            <a:r>
              <a:rPr kumimoji="0" lang="en-US" sz="2200" b="0" i="0" u="none" strike="noStrike" kern="1200" cap="none" spc="0" normalizeH="0" baseline="0" noProof="0" dirty="0">
                <a:ln>
                  <a:noFill/>
                </a:ln>
                <a:solidFill>
                  <a:srgbClr val="FF0000"/>
                </a:solidFill>
                <a:effectLst/>
                <a:uLnTx/>
                <a:uFillTx/>
                <a:latin typeface="Calibri"/>
                <a:ea typeface="+mn-ea"/>
                <a:cs typeface="Times New Roman" pitchFamily="18" charset="0"/>
              </a:rPr>
              <a:t>Note that such a vertex is unique</a:t>
            </a:r>
          </a:p>
          <a:p>
            <a:pPr marL="342900" marR="0" lvl="0" indent="-342900" algn="l" defTabSz="914400" rtl="0" eaLnBrk="1" fontAlgn="base" latinLnBrk="0" hangingPunct="1">
              <a:lnSpc>
                <a:spcPct val="110000"/>
              </a:lnSpc>
              <a:spcBef>
                <a:spcPct val="20000"/>
              </a:spcBef>
              <a:spcAft>
                <a:spcPct val="0"/>
              </a:spcAft>
              <a:buClrTx/>
              <a:buSzTx/>
              <a:buFont typeface="Arial" charset="0"/>
              <a:buChar char="•"/>
              <a:tabLst/>
              <a:defRPr/>
            </a:pPr>
            <a:r>
              <a:rPr kumimoji="0" lang="en-US" sz="2200" b="1" i="0" u="sng" strike="noStrike" kern="1200" cap="none" spc="0" normalizeH="0" baseline="0" noProof="0" dirty="0">
                <a:ln>
                  <a:noFill/>
                </a:ln>
                <a:solidFill>
                  <a:srgbClr val="0000FF"/>
                </a:solidFill>
                <a:effectLst/>
                <a:uLnTx/>
                <a:uFillTx/>
                <a:latin typeface="Calibri"/>
                <a:ea typeface="+mn-ea"/>
                <a:cs typeface="Times New Roman" pitchFamily="18" charset="0"/>
              </a:rPr>
              <a:t>Child</a:t>
            </a:r>
            <a:r>
              <a:rPr kumimoji="0" lang="en-US" sz="22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 </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When </a:t>
            </a:r>
            <a:r>
              <a:rPr kumimoji="0" lang="en-US" sz="2400" b="0" i="1" u="none" strike="noStrike" kern="1200" cap="none" spc="0" normalizeH="0" baseline="0" noProof="0" dirty="0">
                <a:ln>
                  <a:noFill/>
                </a:ln>
                <a:solidFill>
                  <a:sysClr val="windowText" lastClr="000000"/>
                </a:solidFill>
                <a:effectLst/>
                <a:uLnTx/>
                <a:uFillTx/>
                <a:latin typeface="Calibri"/>
                <a:ea typeface="+mn-ea"/>
                <a:cs typeface="+mn-cs"/>
              </a:rPr>
              <a:t>u</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is a parent of </a:t>
            </a:r>
            <a:r>
              <a:rPr kumimoji="0" lang="en-US" sz="2400" b="0" i="1" u="none" strike="noStrike" kern="1200" cap="none" spc="0" normalizeH="0" baseline="0" noProof="0" dirty="0">
                <a:ln>
                  <a:noFill/>
                </a:ln>
                <a:solidFill>
                  <a:sysClr val="windowText" lastClr="000000"/>
                </a:solidFill>
                <a:effectLst/>
                <a:uLnTx/>
                <a:uFillTx/>
                <a:latin typeface="Calibri"/>
                <a:ea typeface="+mn-ea"/>
                <a:cs typeface="+mn-cs"/>
              </a:rPr>
              <a:t>v</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400" b="0" i="1" u="none" strike="noStrike" kern="1200" cap="none" spc="0" normalizeH="0" baseline="0" noProof="0" dirty="0">
                <a:ln>
                  <a:noFill/>
                </a:ln>
                <a:solidFill>
                  <a:sysClr val="windowText" lastClr="000000"/>
                </a:solidFill>
                <a:effectLst/>
                <a:uLnTx/>
                <a:uFillTx/>
                <a:latin typeface="Calibri"/>
                <a:ea typeface="+mn-ea"/>
                <a:cs typeface="+mn-cs"/>
              </a:rPr>
              <a:t>v</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is called a </a:t>
            </a:r>
            <a:r>
              <a:rPr kumimoji="0" lang="en-US" sz="2400" b="1" i="1" u="none" strike="noStrike" kern="1200" cap="none" spc="0" normalizeH="0" baseline="0" noProof="0" dirty="0">
                <a:ln>
                  <a:noFill/>
                </a:ln>
                <a:solidFill>
                  <a:srgbClr val="0000FF"/>
                </a:solidFill>
                <a:effectLst/>
                <a:uLnTx/>
                <a:uFillTx/>
                <a:latin typeface="Calibri"/>
                <a:ea typeface="+mn-ea"/>
                <a:cs typeface="+mn-cs"/>
              </a:rPr>
              <a:t>child</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of </a:t>
            </a:r>
            <a:r>
              <a:rPr kumimoji="0" lang="en-US" sz="2400" b="0" i="1" u="none" strike="noStrike" kern="1200" cap="none" spc="0" normalizeH="0" baseline="0" noProof="0" dirty="0">
                <a:ln>
                  <a:noFill/>
                </a:ln>
                <a:solidFill>
                  <a:sysClr val="windowText" lastClr="000000"/>
                </a:solidFill>
                <a:effectLst/>
                <a:uLnTx/>
                <a:uFillTx/>
                <a:latin typeface="Calibri"/>
                <a:ea typeface="+mn-ea"/>
                <a:cs typeface="+mn-cs"/>
              </a:rPr>
              <a:t>u</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a:t>
            </a:r>
            <a:endParaRPr kumimoji="0" lang="en-US" sz="22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endParaRPr>
          </a:p>
          <a:p>
            <a:pPr marL="342900" marR="0" lvl="0" indent="-342900" algn="l" defTabSz="914400" rtl="0" eaLnBrk="1" fontAlgn="base" latinLnBrk="0" hangingPunct="1">
              <a:lnSpc>
                <a:spcPct val="110000"/>
              </a:lnSpc>
              <a:spcBef>
                <a:spcPct val="20000"/>
              </a:spcBef>
              <a:spcAft>
                <a:spcPct val="0"/>
              </a:spcAft>
              <a:buClrTx/>
              <a:buSzTx/>
              <a:buFont typeface="Arial" charset="0"/>
              <a:buChar char="•"/>
              <a:tabLst/>
              <a:defRPr/>
            </a:pPr>
            <a:r>
              <a:rPr kumimoji="0" lang="en-US" sz="2200" b="1" i="0" u="sng" strike="noStrike" kern="1200" cap="none" spc="0" normalizeH="0" baseline="0" noProof="0" dirty="0">
                <a:ln>
                  <a:noFill/>
                </a:ln>
                <a:solidFill>
                  <a:srgbClr val="0000FF"/>
                </a:solidFill>
                <a:effectLst/>
                <a:uLnTx/>
                <a:uFillTx/>
                <a:latin typeface="Calibri"/>
                <a:ea typeface="+mn-ea"/>
                <a:cs typeface="Times New Roman" pitchFamily="18" charset="0"/>
              </a:rPr>
              <a:t>Siblings</a:t>
            </a:r>
            <a:r>
              <a:rPr kumimoji="0" lang="en-US" sz="22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 Vertices with the same parent are called </a:t>
            </a:r>
            <a:r>
              <a:rPr kumimoji="0" lang="en-US" sz="2200" b="1" i="1" u="none" strike="noStrike" kern="1200" cap="none" spc="0" normalizeH="0" baseline="0" noProof="0" dirty="0">
                <a:ln>
                  <a:noFill/>
                </a:ln>
                <a:solidFill>
                  <a:srgbClr val="0000FF"/>
                </a:solidFill>
                <a:effectLst/>
                <a:uLnTx/>
                <a:uFillTx/>
                <a:latin typeface="Calibri"/>
                <a:ea typeface="+mn-ea"/>
                <a:cs typeface="Times New Roman" pitchFamily="18" charset="0"/>
              </a:rPr>
              <a:t>siblings</a:t>
            </a:r>
            <a:r>
              <a:rPr kumimoji="0" lang="en-US" sz="22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 </a:t>
            </a:r>
          </a:p>
          <a:p>
            <a:pPr marL="342900" marR="0" lvl="0" indent="-342900" algn="l" defTabSz="914400" rtl="0" eaLnBrk="1" fontAlgn="base" latinLnBrk="0" hangingPunct="1">
              <a:lnSpc>
                <a:spcPct val="110000"/>
              </a:lnSpc>
              <a:spcBef>
                <a:spcPct val="20000"/>
              </a:spcBef>
              <a:spcAft>
                <a:spcPct val="0"/>
              </a:spcAft>
              <a:buClrTx/>
              <a:buSzTx/>
              <a:buFont typeface="Arial" charset="0"/>
              <a:buChar char="•"/>
              <a:tabLst/>
              <a:defRPr/>
            </a:pPr>
            <a:r>
              <a:rPr kumimoji="0" lang="en-US" sz="2200" b="1" i="0" u="sng" strike="noStrike" kern="1200" cap="none" spc="0" normalizeH="0" baseline="0" noProof="0" dirty="0">
                <a:ln>
                  <a:noFill/>
                </a:ln>
                <a:solidFill>
                  <a:srgbClr val="0000FF"/>
                </a:solidFill>
                <a:effectLst/>
                <a:uLnTx/>
                <a:uFillTx/>
                <a:latin typeface="Calibri"/>
                <a:ea typeface="+mn-ea"/>
                <a:cs typeface="+mn-cs"/>
              </a:rPr>
              <a:t>Leaf</a:t>
            </a:r>
            <a:r>
              <a:rPr kumimoji="0" lang="en-US" sz="2200" b="0" i="0" u="none" strike="noStrike" kern="1200" cap="none" spc="0" normalizeH="0" baseline="0" noProof="0" dirty="0">
                <a:ln>
                  <a:noFill/>
                </a:ln>
                <a:solidFill>
                  <a:sysClr val="windowText" lastClr="000000"/>
                </a:solidFill>
                <a:effectLst/>
                <a:uLnTx/>
                <a:uFillTx/>
                <a:latin typeface="Calibri"/>
                <a:ea typeface="+mn-ea"/>
                <a:cs typeface="+mn-cs"/>
              </a:rPr>
              <a:t>: A vertex of a rooted tree is called a </a:t>
            </a:r>
            <a:r>
              <a:rPr kumimoji="0" lang="en-US" sz="2200" b="1" i="1" u="none" strike="noStrike" kern="1200" cap="none" spc="0" normalizeH="0" baseline="0" noProof="0" dirty="0">
                <a:ln>
                  <a:noFill/>
                </a:ln>
                <a:solidFill>
                  <a:srgbClr val="0000FF"/>
                </a:solidFill>
                <a:effectLst/>
                <a:uLnTx/>
                <a:uFillTx/>
                <a:latin typeface="Calibri"/>
                <a:ea typeface="+mn-ea"/>
                <a:cs typeface="+mn-cs"/>
              </a:rPr>
              <a:t>leaf</a:t>
            </a:r>
            <a:r>
              <a:rPr kumimoji="0" lang="en-US" sz="2200" b="0" i="0" u="none" strike="noStrike" kern="1200" cap="none" spc="0" normalizeH="0" baseline="0" noProof="0" dirty="0">
                <a:ln>
                  <a:noFill/>
                </a:ln>
                <a:solidFill>
                  <a:sysClr val="windowText" lastClr="000000"/>
                </a:solidFill>
                <a:effectLst/>
                <a:uLnTx/>
                <a:uFillTx/>
                <a:latin typeface="Calibri"/>
                <a:ea typeface="+mn-ea"/>
                <a:cs typeface="+mn-cs"/>
              </a:rPr>
              <a:t> if it has no children. </a:t>
            </a:r>
          </a:p>
          <a:p>
            <a:pPr marL="342900" marR="0" lvl="0" indent="-342900" algn="l" defTabSz="914400" rtl="0" eaLnBrk="1" fontAlgn="base" latinLnBrk="0" hangingPunct="1">
              <a:lnSpc>
                <a:spcPct val="110000"/>
              </a:lnSpc>
              <a:spcBef>
                <a:spcPct val="20000"/>
              </a:spcBef>
              <a:spcAft>
                <a:spcPct val="0"/>
              </a:spcAft>
              <a:buClrTx/>
              <a:buSzTx/>
              <a:buFont typeface="Arial" charset="0"/>
              <a:buChar char="•"/>
              <a:tabLst/>
              <a:defRPr/>
            </a:pPr>
            <a:r>
              <a:rPr kumimoji="0" lang="en-US" sz="2200" b="1" i="0" u="sng" strike="noStrike" kern="1200" cap="none" spc="0" normalizeH="0" baseline="0" noProof="0" dirty="0">
                <a:ln>
                  <a:noFill/>
                </a:ln>
                <a:solidFill>
                  <a:srgbClr val="0000FF"/>
                </a:solidFill>
                <a:effectLst/>
                <a:uLnTx/>
                <a:uFillTx/>
                <a:latin typeface="Calibri"/>
                <a:ea typeface="+mn-ea"/>
                <a:cs typeface="+mn-cs"/>
              </a:rPr>
              <a:t>Internal vertex</a:t>
            </a:r>
            <a:r>
              <a:rPr kumimoji="0" lang="en-US" sz="2200" b="1" i="0" u="none" strike="noStrike" kern="1200" cap="none" spc="0" normalizeH="0" baseline="0" noProof="0" dirty="0">
                <a:ln>
                  <a:noFill/>
                </a:ln>
                <a:solidFill>
                  <a:srgbClr val="0000FF"/>
                </a:solidFill>
                <a:effectLst/>
                <a:uLnTx/>
                <a:uFillTx/>
                <a:latin typeface="Calibri"/>
                <a:ea typeface="+mn-ea"/>
                <a:cs typeface="+mn-cs"/>
              </a:rPr>
              <a:t>: </a:t>
            </a:r>
            <a:r>
              <a:rPr kumimoji="0" lang="en-US" sz="2200" b="0" i="0" u="none" strike="noStrike" kern="1200" cap="none" spc="0" normalizeH="0" baseline="0" noProof="0" dirty="0">
                <a:ln>
                  <a:noFill/>
                </a:ln>
                <a:solidFill>
                  <a:sysClr val="windowText" lastClr="000000"/>
                </a:solidFill>
                <a:effectLst/>
                <a:uLnTx/>
                <a:uFillTx/>
                <a:latin typeface="Calibri"/>
                <a:ea typeface="+mn-ea"/>
                <a:cs typeface="+mn-cs"/>
              </a:rPr>
              <a:t>A vertex that has children is called </a:t>
            </a:r>
            <a:r>
              <a:rPr kumimoji="0" lang="en-US" sz="2200" b="1" i="1" u="none" strike="noStrike" kern="1200" cap="none" spc="0" normalizeH="0" baseline="0" noProof="0" dirty="0">
                <a:ln>
                  <a:noFill/>
                </a:ln>
                <a:solidFill>
                  <a:srgbClr val="0000FF"/>
                </a:solidFill>
                <a:effectLst/>
                <a:uLnTx/>
                <a:uFillTx/>
                <a:latin typeface="Calibri"/>
                <a:ea typeface="+mn-ea"/>
                <a:cs typeface="+mn-cs"/>
              </a:rPr>
              <a:t>internal</a:t>
            </a:r>
            <a:r>
              <a:rPr kumimoji="0" lang="en-US" sz="2200" b="1" i="0" u="none" strike="noStrike" kern="1200" cap="none" spc="0" normalizeH="0" baseline="0" noProof="0" dirty="0">
                <a:ln>
                  <a:noFill/>
                </a:ln>
                <a:solidFill>
                  <a:srgbClr val="0000FF"/>
                </a:solidFill>
                <a:effectLst/>
                <a:uLnTx/>
                <a:uFillTx/>
                <a:latin typeface="Calibri"/>
                <a:ea typeface="+mn-ea"/>
                <a:cs typeface="+mn-cs"/>
              </a:rPr>
              <a:t> </a:t>
            </a:r>
            <a:r>
              <a:rPr kumimoji="0" lang="en-US" sz="2200" b="1" i="1" u="none" strike="noStrike" kern="1200" cap="none" spc="0" normalizeH="0" baseline="0" noProof="0" dirty="0">
                <a:ln>
                  <a:noFill/>
                </a:ln>
                <a:solidFill>
                  <a:srgbClr val="0000FF"/>
                </a:solidFill>
                <a:effectLst/>
                <a:uLnTx/>
                <a:uFillTx/>
                <a:latin typeface="Calibri"/>
                <a:ea typeface="+mn-ea"/>
                <a:cs typeface="+mn-cs"/>
              </a:rPr>
              <a:t>vertex</a:t>
            </a:r>
            <a:r>
              <a:rPr kumimoji="0" lang="en-US" sz="2200" b="0" i="0" u="none" strike="noStrike" kern="1200" cap="none" spc="0" normalizeH="0" baseline="0" noProof="0" dirty="0">
                <a:ln>
                  <a:noFill/>
                </a:ln>
                <a:solidFill>
                  <a:sysClr val="windowText" lastClr="000000"/>
                </a:solidFill>
                <a:effectLst/>
                <a:uLnTx/>
                <a:uFillTx/>
                <a:latin typeface="Calibri"/>
                <a:ea typeface="+mn-ea"/>
                <a:cs typeface="+mn-cs"/>
              </a:rPr>
              <a:t>. </a:t>
            </a:r>
          </a:p>
          <a:p>
            <a:pPr marL="342900" marR="0" lvl="0" indent="-342900" algn="l" defTabSz="914400" rtl="0" eaLnBrk="1" fontAlgn="base" latinLnBrk="0" hangingPunct="1">
              <a:lnSpc>
                <a:spcPct val="110000"/>
              </a:lnSpc>
              <a:spcBef>
                <a:spcPct val="20000"/>
              </a:spcBef>
              <a:spcAft>
                <a:spcPct val="0"/>
              </a:spcAft>
              <a:buClrTx/>
              <a:buSzTx/>
              <a:buFont typeface="Arial" charset="0"/>
              <a:buChar char="•"/>
              <a:tabLst/>
              <a:defRPr/>
            </a:pPr>
            <a:endParaRPr kumimoji="0" lang="en-US" sz="2200" b="1" i="0" u="sng" strike="noStrike" kern="1200" cap="none" spc="0" normalizeH="0" baseline="0" noProof="0" dirty="0">
              <a:ln>
                <a:noFill/>
              </a:ln>
              <a:solidFill>
                <a:srgbClr val="FF0000"/>
              </a:solidFill>
              <a:effectLst/>
              <a:uLnTx/>
              <a:uFillTx/>
              <a:latin typeface="Calibri"/>
              <a:ea typeface="+mn-ea"/>
              <a:cs typeface="+mn-cs"/>
            </a:endParaRPr>
          </a:p>
          <a:p>
            <a:pPr marL="342900" marR="0" lvl="0" indent="-342900" algn="l" defTabSz="914400" rtl="0" eaLnBrk="1" fontAlgn="base" latinLnBrk="0" hangingPunct="1">
              <a:lnSpc>
                <a:spcPct val="110000"/>
              </a:lnSpc>
              <a:spcBef>
                <a:spcPct val="20000"/>
              </a:spcBef>
              <a:spcAft>
                <a:spcPct val="0"/>
              </a:spcAft>
              <a:buClrTx/>
              <a:buSzTx/>
              <a:buFont typeface="Wingdings" panose="05000000000000000000" pitchFamily="2" charset="2"/>
              <a:buChar char="§"/>
              <a:tabLst/>
              <a:defRPr/>
            </a:pPr>
            <a:r>
              <a:rPr kumimoji="0" lang="en-US" sz="2200" b="1" i="0" u="sng" strike="noStrike" kern="1200" cap="none" spc="0" normalizeH="0" baseline="0" noProof="0" dirty="0">
                <a:ln>
                  <a:noFill/>
                </a:ln>
                <a:solidFill>
                  <a:srgbClr val="FF0000"/>
                </a:solidFill>
                <a:effectLst/>
                <a:uLnTx/>
                <a:uFillTx/>
                <a:latin typeface="Calibri"/>
                <a:ea typeface="+mn-ea"/>
                <a:cs typeface="+mn-cs"/>
              </a:rPr>
              <a:t>Note</a:t>
            </a:r>
            <a:r>
              <a:rPr kumimoji="0" lang="en-US" sz="2200" b="0" i="0" u="none" strike="noStrike" kern="1200" cap="none" spc="0" normalizeH="0" baseline="0" noProof="0" dirty="0">
                <a:ln>
                  <a:noFill/>
                </a:ln>
                <a:solidFill>
                  <a:srgbClr val="FF0000"/>
                </a:solidFill>
                <a:effectLst/>
                <a:uLnTx/>
                <a:uFillTx/>
                <a:latin typeface="Calibri"/>
                <a:ea typeface="+mn-ea"/>
                <a:cs typeface="+mn-cs"/>
              </a:rPr>
              <a:t>: </a:t>
            </a:r>
            <a:r>
              <a:rPr kumimoji="0" lang="en-US" sz="2200" b="0" i="1" u="none" strike="noStrike" kern="1200" cap="none" spc="0" normalizeH="0" baseline="0" noProof="0" dirty="0">
                <a:ln>
                  <a:noFill/>
                </a:ln>
                <a:solidFill>
                  <a:srgbClr val="FF0000"/>
                </a:solidFill>
                <a:effectLst/>
                <a:uLnTx/>
                <a:uFillTx/>
                <a:latin typeface="Calibri"/>
                <a:ea typeface="+mn-ea"/>
                <a:cs typeface="+mn-cs"/>
              </a:rPr>
              <a:t>The root is an internal vertex unless it is the only vertex in the graph, in which case it is a leaf.</a:t>
            </a:r>
            <a:endParaRPr kumimoji="0" lang="en-US" sz="2200" b="0" i="0" u="none" strike="noStrike" kern="1200" cap="none" spc="0" normalizeH="0" baseline="0" noProof="0" dirty="0">
              <a:ln>
                <a:noFill/>
              </a:ln>
              <a:solidFill>
                <a:srgbClr val="FF0000"/>
              </a:solidFill>
              <a:effectLst/>
              <a:uLnTx/>
              <a:uFillTx/>
              <a:latin typeface="Calibri"/>
              <a:ea typeface="+mn-ea"/>
              <a:cs typeface="+mn-cs"/>
            </a:endParaRPr>
          </a:p>
        </p:txBody>
      </p:sp>
    </p:spTree>
    <p:extLst>
      <p:ext uri="{BB962C8B-B14F-4D97-AF65-F5344CB8AC3E}">
        <p14:creationId xmlns:p14="http://schemas.microsoft.com/office/powerpoint/2010/main" val="8238428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3200" b="1" dirty="0">
                <a:solidFill>
                  <a:schemeClr val="tx1"/>
                </a:solidFill>
              </a:rPr>
              <a:t>Rooted Tree Terminologies</a:t>
            </a:r>
          </a:p>
        </p:txBody>
      </p:sp>
      <p:sp>
        <p:nvSpPr>
          <p:cNvPr id="5" name="Content Placeholder 2">
            <a:extLst>
              <a:ext uri="{FF2B5EF4-FFF2-40B4-BE49-F238E27FC236}">
                <a16:creationId xmlns:a16="http://schemas.microsoft.com/office/drawing/2014/main" id="{DE4A066D-1F03-4BC8-A41F-BF9365E6C88A}"/>
              </a:ext>
            </a:extLst>
          </p:cNvPr>
          <p:cNvSpPr txBox="1">
            <a:spLocks/>
          </p:cNvSpPr>
          <p:nvPr/>
        </p:nvSpPr>
        <p:spPr bwMode="auto">
          <a:xfrm>
            <a:off x="457200" y="1447800"/>
            <a:ext cx="8229600" cy="46783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400" b="1" i="0" u="sng" strike="noStrike" kern="1200" cap="none" spc="0" normalizeH="0" baseline="0" noProof="0">
                <a:ln>
                  <a:noFill/>
                </a:ln>
                <a:solidFill>
                  <a:srgbClr val="0000FF"/>
                </a:solidFill>
                <a:effectLst/>
                <a:uLnTx/>
                <a:uFillTx/>
                <a:latin typeface="Calibri"/>
                <a:ea typeface="+mn-ea"/>
                <a:cs typeface="+mn-cs"/>
              </a:rPr>
              <a:t>Ancestor(s): </a:t>
            </a: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The </a:t>
            </a:r>
            <a:r>
              <a:rPr kumimoji="0" lang="en-US" sz="2400" b="1" i="0" u="none" strike="noStrike" kern="1200" cap="none" spc="0" normalizeH="0" baseline="0" noProof="0">
                <a:ln>
                  <a:noFill/>
                </a:ln>
                <a:solidFill>
                  <a:sysClr val="windowText" lastClr="000000"/>
                </a:solidFill>
                <a:effectLst/>
                <a:uLnTx/>
                <a:uFillTx/>
                <a:latin typeface="Calibri"/>
                <a:ea typeface="+mn-ea"/>
                <a:cs typeface="+mn-cs"/>
              </a:rPr>
              <a:t>ancestors</a:t>
            </a: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 of a vertex other than the root are the vertices in the path from the root to this vertex, excluding the vertex itself and including the root.</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400" b="1" i="0" u="sng" strike="noStrike" kern="1200" cap="none" spc="0" normalizeH="0" baseline="0" noProof="0">
                <a:ln>
                  <a:noFill/>
                </a:ln>
                <a:solidFill>
                  <a:srgbClr val="0000FF"/>
                </a:solidFill>
                <a:effectLst/>
                <a:uLnTx/>
                <a:uFillTx/>
                <a:latin typeface="Calibri"/>
                <a:ea typeface="+mn-ea"/>
                <a:cs typeface="+mn-cs"/>
              </a:rPr>
              <a:t>Descendant(s) </a:t>
            </a:r>
            <a:r>
              <a:rPr kumimoji="0" lang="en-US" sz="2400" b="1" i="0" u="none" strike="noStrike" kern="1200" cap="none" spc="0" normalizeH="0" baseline="0" noProof="0">
                <a:ln>
                  <a:noFill/>
                </a:ln>
                <a:solidFill>
                  <a:sysClr val="windowText" lastClr="000000"/>
                </a:solidFill>
                <a:effectLst/>
                <a:uLnTx/>
                <a:uFillTx/>
                <a:latin typeface="Calibri"/>
                <a:ea typeface="+mn-ea"/>
                <a:cs typeface="+mn-cs"/>
              </a:rPr>
              <a:t>: </a:t>
            </a: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The </a:t>
            </a:r>
            <a:r>
              <a:rPr kumimoji="0" lang="en-US" sz="2400" b="1" i="0" u="none" strike="noStrike" kern="1200" cap="none" spc="0" normalizeH="0" baseline="0" noProof="0">
                <a:ln>
                  <a:noFill/>
                </a:ln>
                <a:solidFill>
                  <a:sysClr val="windowText" lastClr="000000"/>
                </a:solidFill>
                <a:effectLst/>
                <a:uLnTx/>
                <a:uFillTx/>
                <a:latin typeface="Calibri"/>
                <a:ea typeface="+mn-ea"/>
                <a:cs typeface="+mn-cs"/>
              </a:rPr>
              <a:t>descendants</a:t>
            </a: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 of a vertex </a:t>
            </a:r>
            <a:r>
              <a:rPr kumimoji="0" lang="en-US" sz="2400" b="1" i="1" u="none" strike="noStrike" kern="1200" cap="none" spc="0" normalizeH="0" baseline="0" noProof="0">
                <a:ln>
                  <a:noFill/>
                </a:ln>
                <a:solidFill>
                  <a:sysClr val="windowText" lastClr="000000"/>
                </a:solidFill>
                <a:effectLst/>
                <a:uLnTx/>
                <a:uFillTx/>
                <a:latin typeface="Calibri"/>
                <a:ea typeface="+mn-ea"/>
                <a:cs typeface="+mn-cs"/>
              </a:rPr>
              <a:t>v</a:t>
            </a: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 are those vertices that have </a:t>
            </a:r>
            <a:r>
              <a:rPr kumimoji="0" lang="en-US" sz="2400" b="1" i="1" u="none" strike="noStrike" kern="1200" cap="none" spc="0" normalizeH="0" baseline="0" noProof="0">
                <a:ln>
                  <a:noFill/>
                </a:ln>
                <a:solidFill>
                  <a:sysClr val="windowText" lastClr="000000"/>
                </a:solidFill>
                <a:effectLst/>
                <a:uLnTx/>
                <a:uFillTx/>
                <a:latin typeface="Calibri"/>
                <a:ea typeface="+mn-ea"/>
                <a:cs typeface="+mn-cs"/>
              </a:rPr>
              <a:t>v</a:t>
            </a: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 as an ancestor.</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400" b="1" i="0" u="sng" strike="noStrike" kern="1200" cap="none" spc="0" normalizeH="0" baseline="0" noProof="0">
                <a:ln>
                  <a:noFill/>
                </a:ln>
                <a:solidFill>
                  <a:srgbClr val="0000FF"/>
                </a:solidFill>
                <a:effectLst/>
                <a:uLnTx/>
                <a:uFillTx/>
                <a:latin typeface="Calibri"/>
                <a:ea typeface="+mn-ea"/>
                <a:cs typeface="+mn-cs"/>
              </a:rPr>
              <a:t>Subtree</a:t>
            </a: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 If </a:t>
            </a:r>
            <a:r>
              <a:rPr kumimoji="0" lang="en-US" sz="2400" b="0" i="1" u="none" strike="noStrike" kern="1200" cap="none" spc="0" normalizeH="0" baseline="0" noProof="0">
                <a:ln>
                  <a:noFill/>
                </a:ln>
                <a:solidFill>
                  <a:sysClr val="windowText" lastClr="000000"/>
                </a:solidFill>
                <a:effectLst/>
                <a:uLnTx/>
                <a:uFillTx/>
                <a:latin typeface="Calibri"/>
                <a:ea typeface="+mn-ea"/>
                <a:cs typeface="+mn-cs"/>
              </a:rPr>
              <a:t>a</a:t>
            </a: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 is a vertex in a tree, the </a:t>
            </a:r>
            <a:r>
              <a:rPr kumimoji="0" lang="en-US" sz="2400" b="1" i="0" u="none" strike="noStrike" kern="1200" cap="none" spc="0" normalizeH="0" baseline="0" noProof="0">
                <a:ln>
                  <a:noFill/>
                </a:ln>
                <a:solidFill>
                  <a:sysClr val="windowText" lastClr="000000"/>
                </a:solidFill>
                <a:effectLst/>
                <a:uLnTx/>
                <a:uFillTx/>
                <a:latin typeface="Calibri"/>
                <a:ea typeface="+mn-ea"/>
                <a:cs typeface="+mn-cs"/>
              </a:rPr>
              <a:t>subtree with </a:t>
            </a:r>
            <a:r>
              <a:rPr kumimoji="0" lang="en-US" sz="2400" b="1" i="1" u="none" strike="noStrike" kern="1200" cap="none" spc="0" normalizeH="0" baseline="0" noProof="0">
                <a:ln>
                  <a:noFill/>
                </a:ln>
                <a:solidFill>
                  <a:sysClr val="windowText" lastClr="000000"/>
                </a:solidFill>
                <a:effectLst/>
                <a:uLnTx/>
                <a:uFillTx/>
                <a:latin typeface="Calibri"/>
                <a:ea typeface="+mn-ea"/>
                <a:cs typeface="+mn-cs"/>
              </a:rPr>
              <a:t>a </a:t>
            </a:r>
            <a:r>
              <a:rPr kumimoji="0" lang="en-US" sz="2400" b="1" i="0" u="none" strike="noStrike" kern="1200" cap="none" spc="0" normalizeH="0" baseline="0" noProof="0">
                <a:ln>
                  <a:noFill/>
                </a:ln>
                <a:solidFill>
                  <a:sysClr val="windowText" lastClr="000000"/>
                </a:solidFill>
                <a:effectLst/>
                <a:uLnTx/>
                <a:uFillTx/>
                <a:latin typeface="Calibri"/>
                <a:ea typeface="+mn-ea"/>
                <a:cs typeface="+mn-cs"/>
              </a:rPr>
              <a:t> as its root</a:t>
            </a: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 is the subgraph of the tree consisting of </a:t>
            </a:r>
            <a:r>
              <a:rPr kumimoji="0" lang="en-US" sz="2400" b="0" i="1" u="none" strike="noStrike" kern="1200" cap="none" spc="0" normalizeH="0" baseline="0" noProof="0">
                <a:ln>
                  <a:noFill/>
                </a:ln>
                <a:solidFill>
                  <a:sysClr val="windowText" lastClr="000000"/>
                </a:solidFill>
                <a:effectLst/>
                <a:uLnTx/>
                <a:uFillTx/>
                <a:latin typeface="Calibri"/>
                <a:ea typeface="+mn-ea"/>
                <a:cs typeface="+mn-cs"/>
              </a:rPr>
              <a:t>a </a:t>
            </a: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and its descendants and all edges incident to these descendants.</a:t>
            </a: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r>
              <a:rPr kumimoji="0" lang="en-US" sz="2400" b="0" i="0" u="none" strike="noStrike" kern="1200" cap="none" spc="0" normalizeH="0" baseline="0" noProof="0">
                <a:ln>
                  <a:noFill/>
                </a:ln>
                <a:solidFill>
                  <a:sysClr val="windowText" lastClr="000000"/>
                </a:solidFill>
                <a:effectLst/>
                <a:uLnTx/>
                <a:uFillTx/>
                <a:latin typeface="Calibri"/>
                <a:ea typeface="+mn-ea"/>
                <a:cs typeface="+mn-cs"/>
              </a:rPr>
              <a:t> </a:t>
            </a:r>
            <a:endParaRPr kumimoji="0" lang="en-US" sz="24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16390670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Illustration of Tree Terminology</a:t>
            </a:r>
          </a:p>
        </p:txBody>
      </p:sp>
      <p:sp>
        <p:nvSpPr>
          <p:cNvPr id="48" name="Oval 3">
            <a:extLst>
              <a:ext uri="{FF2B5EF4-FFF2-40B4-BE49-F238E27FC236}">
                <a16:creationId xmlns:a16="http://schemas.microsoft.com/office/drawing/2014/main" id="{DC650AEA-F50E-4C85-A36C-64172490BA9C}"/>
              </a:ext>
            </a:extLst>
          </p:cNvPr>
          <p:cNvSpPr>
            <a:spLocks noChangeArrowheads="1"/>
          </p:cNvSpPr>
          <p:nvPr/>
        </p:nvSpPr>
        <p:spPr bwMode="auto">
          <a:xfrm>
            <a:off x="4343400" y="2209800"/>
            <a:ext cx="381000" cy="381000"/>
          </a:xfrm>
          <a:prstGeom prst="ellipse">
            <a:avLst/>
          </a:prstGeom>
          <a:solidFill>
            <a:srgbClr val="4F81BD"/>
          </a:solidFill>
          <a:ln w="9525">
            <a:solidFill>
              <a:sysClr val="windowText" lastClr="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prstClr val="black"/>
                </a:solidFill>
                <a:effectLst/>
                <a:uLnTx/>
                <a:uFillTx/>
                <a:cs typeface="Arial" charset="0"/>
              </a:rPr>
              <a:t>R</a:t>
            </a:r>
          </a:p>
        </p:txBody>
      </p:sp>
      <p:sp>
        <p:nvSpPr>
          <p:cNvPr id="49" name="Oval 5">
            <a:extLst>
              <a:ext uri="{FF2B5EF4-FFF2-40B4-BE49-F238E27FC236}">
                <a16:creationId xmlns:a16="http://schemas.microsoft.com/office/drawing/2014/main" id="{F4025E70-22F2-4CFF-8343-535F065A427D}"/>
              </a:ext>
            </a:extLst>
          </p:cNvPr>
          <p:cNvSpPr>
            <a:spLocks noChangeArrowheads="1"/>
          </p:cNvSpPr>
          <p:nvPr/>
        </p:nvSpPr>
        <p:spPr bwMode="auto">
          <a:xfrm>
            <a:off x="3352800" y="3124200"/>
            <a:ext cx="381000" cy="381000"/>
          </a:xfrm>
          <a:prstGeom prst="ellipse">
            <a:avLst/>
          </a:prstGeom>
          <a:solidFill>
            <a:srgbClr val="4F81BD"/>
          </a:solidFill>
          <a:ln w="9525">
            <a:solidFill>
              <a:sysClr val="windowText" lastClr="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prstClr val="black"/>
                </a:solidFill>
                <a:effectLst/>
                <a:uLnTx/>
                <a:uFillTx/>
                <a:cs typeface="Arial" charset="0"/>
              </a:rPr>
              <a:t>S</a:t>
            </a:r>
          </a:p>
        </p:txBody>
      </p:sp>
      <p:sp>
        <p:nvSpPr>
          <p:cNvPr id="50" name="Oval 6">
            <a:extLst>
              <a:ext uri="{FF2B5EF4-FFF2-40B4-BE49-F238E27FC236}">
                <a16:creationId xmlns:a16="http://schemas.microsoft.com/office/drawing/2014/main" id="{628D4541-A3B9-4467-AE73-F2AD89148FE1}"/>
              </a:ext>
            </a:extLst>
          </p:cNvPr>
          <p:cNvSpPr>
            <a:spLocks noChangeArrowheads="1"/>
          </p:cNvSpPr>
          <p:nvPr/>
        </p:nvSpPr>
        <p:spPr bwMode="auto">
          <a:xfrm>
            <a:off x="2895600" y="4572000"/>
            <a:ext cx="381000" cy="381000"/>
          </a:xfrm>
          <a:prstGeom prst="ellipse">
            <a:avLst/>
          </a:prstGeom>
          <a:solidFill>
            <a:srgbClr val="4F81BD"/>
          </a:solidFill>
          <a:ln w="9525">
            <a:solidFill>
              <a:sysClr val="windowText" lastClr="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prstClr val="black"/>
                </a:solidFill>
                <a:effectLst/>
                <a:uLnTx/>
                <a:uFillTx/>
                <a:cs typeface="Arial" charset="0"/>
              </a:rPr>
              <a:t>Y</a:t>
            </a:r>
          </a:p>
        </p:txBody>
      </p:sp>
      <p:sp>
        <p:nvSpPr>
          <p:cNvPr id="51" name="Oval 7">
            <a:extLst>
              <a:ext uri="{FF2B5EF4-FFF2-40B4-BE49-F238E27FC236}">
                <a16:creationId xmlns:a16="http://schemas.microsoft.com/office/drawing/2014/main" id="{F6CBAA0A-4FED-4BF7-853A-45105E8A046F}"/>
              </a:ext>
            </a:extLst>
          </p:cNvPr>
          <p:cNvSpPr>
            <a:spLocks noChangeArrowheads="1"/>
          </p:cNvSpPr>
          <p:nvPr/>
        </p:nvSpPr>
        <p:spPr bwMode="auto">
          <a:xfrm>
            <a:off x="3733800" y="4572000"/>
            <a:ext cx="381000" cy="381000"/>
          </a:xfrm>
          <a:prstGeom prst="ellipse">
            <a:avLst/>
          </a:prstGeom>
          <a:solidFill>
            <a:srgbClr val="4F81BD"/>
          </a:solidFill>
          <a:ln w="9525">
            <a:solidFill>
              <a:sysClr val="windowText" lastClr="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prstClr val="black"/>
                </a:solidFill>
                <a:effectLst/>
                <a:uLnTx/>
                <a:uFillTx/>
                <a:cs typeface="Arial" charset="0"/>
              </a:rPr>
              <a:t>Z</a:t>
            </a:r>
          </a:p>
        </p:txBody>
      </p:sp>
      <p:sp>
        <p:nvSpPr>
          <p:cNvPr id="52" name="Oval 8">
            <a:extLst>
              <a:ext uri="{FF2B5EF4-FFF2-40B4-BE49-F238E27FC236}">
                <a16:creationId xmlns:a16="http://schemas.microsoft.com/office/drawing/2014/main" id="{C64F0727-B212-410E-BE14-7AAFE820224E}"/>
              </a:ext>
            </a:extLst>
          </p:cNvPr>
          <p:cNvSpPr>
            <a:spLocks noChangeArrowheads="1"/>
          </p:cNvSpPr>
          <p:nvPr/>
        </p:nvSpPr>
        <p:spPr bwMode="auto">
          <a:xfrm>
            <a:off x="3352800" y="3962400"/>
            <a:ext cx="381000" cy="381000"/>
          </a:xfrm>
          <a:prstGeom prst="ellipse">
            <a:avLst/>
          </a:prstGeom>
          <a:solidFill>
            <a:srgbClr val="4F81BD"/>
          </a:solidFill>
          <a:ln w="9525">
            <a:solidFill>
              <a:sysClr val="windowText" lastClr="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prstClr val="black"/>
                </a:solidFill>
                <a:effectLst/>
                <a:uLnTx/>
                <a:uFillTx/>
                <a:cs typeface="Arial" charset="0"/>
              </a:rPr>
              <a:t>X</a:t>
            </a:r>
          </a:p>
        </p:txBody>
      </p:sp>
      <p:sp>
        <p:nvSpPr>
          <p:cNvPr id="53" name="Oval 9">
            <a:extLst>
              <a:ext uri="{FF2B5EF4-FFF2-40B4-BE49-F238E27FC236}">
                <a16:creationId xmlns:a16="http://schemas.microsoft.com/office/drawing/2014/main" id="{0AE04413-88C8-48F9-825A-FC3F42451E81}"/>
              </a:ext>
            </a:extLst>
          </p:cNvPr>
          <p:cNvSpPr>
            <a:spLocks noChangeArrowheads="1"/>
          </p:cNvSpPr>
          <p:nvPr/>
        </p:nvSpPr>
        <p:spPr bwMode="auto">
          <a:xfrm>
            <a:off x="5448300" y="3124200"/>
            <a:ext cx="381000" cy="381000"/>
          </a:xfrm>
          <a:prstGeom prst="ellipse">
            <a:avLst/>
          </a:prstGeom>
          <a:solidFill>
            <a:srgbClr val="4F81BD"/>
          </a:solidFill>
          <a:ln w="9525">
            <a:solidFill>
              <a:sysClr val="windowText" lastClr="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prstClr val="black"/>
                </a:solidFill>
                <a:effectLst/>
                <a:uLnTx/>
                <a:uFillTx/>
                <a:cs typeface="Arial" charset="0"/>
              </a:rPr>
              <a:t>T</a:t>
            </a:r>
          </a:p>
        </p:txBody>
      </p:sp>
      <p:sp>
        <p:nvSpPr>
          <p:cNvPr id="54" name="Oval 10">
            <a:extLst>
              <a:ext uri="{FF2B5EF4-FFF2-40B4-BE49-F238E27FC236}">
                <a16:creationId xmlns:a16="http://schemas.microsoft.com/office/drawing/2014/main" id="{AF4BDCCE-7277-492F-A8C4-285318F03443}"/>
              </a:ext>
            </a:extLst>
          </p:cNvPr>
          <p:cNvSpPr>
            <a:spLocks noChangeArrowheads="1"/>
          </p:cNvSpPr>
          <p:nvPr/>
        </p:nvSpPr>
        <p:spPr bwMode="auto">
          <a:xfrm>
            <a:off x="4876800" y="3962400"/>
            <a:ext cx="381000" cy="381000"/>
          </a:xfrm>
          <a:prstGeom prst="ellipse">
            <a:avLst/>
          </a:prstGeom>
          <a:solidFill>
            <a:srgbClr val="4F81BD"/>
          </a:solidFill>
          <a:ln w="9525">
            <a:solidFill>
              <a:sysClr val="windowText" lastClr="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prstClr val="black"/>
                </a:solidFill>
                <a:effectLst/>
                <a:uLnTx/>
                <a:uFillTx/>
                <a:cs typeface="Arial" charset="0"/>
              </a:rPr>
              <a:t>U</a:t>
            </a:r>
          </a:p>
        </p:txBody>
      </p:sp>
      <p:sp>
        <p:nvSpPr>
          <p:cNvPr id="55" name="Oval 11">
            <a:extLst>
              <a:ext uri="{FF2B5EF4-FFF2-40B4-BE49-F238E27FC236}">
                <a16:creationId xmlns:a16="http://schemas.microsoft.com/office/drawing/2014/main" id="{255B7F97-0348-4D16-A3E3-E8CEC16BE394}"/>
              </a:ext>
            </a:extLst>
          </p:cNvPr>
          <p:cNvSpPr>
            <a:spLocks noChangeArrowheads="1"/>
          </p:cNvSpPr>
          <p:nvPr/>
        </p:nvSpPr>
        <p:spPr bwMode="auto">
          <a:xfrm>
            <a:off x="5448300" y="3962400"/>
            <a:ext cx="381000" cy="381000"/>
          </a:xfrm>
          <a:prstGeom prst="ellipse">
            <a:avLst/>
          </a:prstGeom>
          <a:solidFill>
            <a:srgbClr val="4F81BD"/>
          </a:solidFill>
          <a:ln w="9525">
            <a:solidFill>
              <a:sysClr val="windowText" lastClr="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prstClr val="black"/>
                </a:solidFill>
                <a:effectLst/>
                <a:uLnTx/>
                <a:uFillTx/>
                <a:cs typeface="Arial" charset="0"/>
              </a:rPr>
              <a:t>V</a:t>
            </a:r>
          </a:p>
        </p:txBody>
      </p:sp>
      <p:sp>
        <p:nvSpPr>
          <p:cNvPr id="56" name="Oval 12">
            <a:extLst>
              <a:ext uri="{FF2B5EF4-FFF2-40B4-BE49-F238E27FC236}">
                <a16:creationId xmlns:a16="http://schemas.microsoft.com/office/drawing/2014/main" id="{BF3924C9-58E7-4C93-B2D8-40ED680831B8}"/>
              </a:ext>
            </a:extLst>
          </p:cNvPr>
          <p:cNvSpPr>
            <a:spLocks noChangeArrowheads="1"/>
          </p:cNvSpPr>
          <p:nvPr/>
        </p:nvSpPr>
        <p:spPr bwMode="auto">
          <a:xfrm>
            <a:off x="6019800" y="3962400"/>
            <a:ext cx="381000" cy="381000"/>
          </a:xfrm>
          <a:prstGeom prst="ellipse">
            <a:avLst/>
          </a:prstGeom>
          <a:solidFill>
            <a:srgbClr val="4F81BD"/>
          </a:solidFill>
          <a:ln w="9525">
            <a:solidFill>
              <a:sysClr val="windowText" lastClr="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prstClr val="black"/>
                </a:solidFill>
                <a:effectLst/>
                <a:uLnTx/>
                <a:uFillTx/>
                <a:cs typeface="Arial" charset="0"/>
              </a:rPr>
              <a:t>W</a:t>
            </a:r>
          </a:p>
        </p:txBody>
      </p:sp>
      <p:cxnSp>
        <p:nvCxnSpPr>
          <p:cNvPr id="57" name="AutoShape 19">
            <a:extLst>
              <a:ext uri="{FF2B5EF4-FFF2-40B4-BE49-F238E27FC236}">
                <a16:creationId xmlns:a16="http://schemas.microsoft.com/office/drawing/2014/main" id="{672EF664-BD09-416F-88A8-898BA6E82FF5}"/>
              </a:ext>
            </a:extLst>
          </p:cNvPr>
          <p:cNvCxnSpPr>
            <a:cxnSpLocks noChangeShapeType="1"/>
            <a:stCxn id="48" idx="3"/>
            <a:endCxn id="49" idx="0"/>
          </p:cNvCxnSpPr>
          <p:nvPr/>
        </p:nvCxnSpPr>
        <p:spPr bwMode="auto">
          <a:xfrm flipH="1">
            <a:off x="3543300" y="2535238"/>
            <a:ext cx="855663" cy="588962"/>
          </a:xfrm>
          <a:prstGeom prst="straightConnector1">
            <a:avLst/>
          </a:prstGeom>
          <a:noFill/>
          <a:ln w="9525">
            <a:solidFill>
              <a:sysClr val="windowText" lastClr="000000"/>
            </a:solidFill>
            <a:round/>
            <a:headEnd/>
            <a:tailEnd/>
          </a:ln>
        </p:spPr>
      </p:cxnSp>
      <p:cxnSp>
        <p:nvCxnSpPr>
          <p:cNvPr id="58" name="AutoShape 20">
            <a:extLst>
              <a:ext uri="{FF2B5EF4-FFF2-40B4-BE49-F238E27FC236}">
                <a16:creationId xmlns:a16="http://schemas.microsoft.com/office/drawing/2014/main" id="{E8BDF9A9-B5F9-417E-AA5F-120D413CB63E}"/>
              </a:ext>
            </a:extLst>
          </p:cNvPr>
          <p:cNvCxnSpPr>
            <a:cxnSpLocks noChangeShapeType="1"/>
            <a:stCxn id="48" idx="5"/>
            <a:endCxn id="53" idx="1"/>
          </p:cNvCxnSpPr>
          <p:nvPr/>
        </p:nvCxnSpPr>
        <p:spPr bwMode="auto">
          <a:xfrm>
            <a:off x="4668838" y="2535238"/>
            <a:ext cx="835025" cy="644525"/>
          </a:xfrm>
          <a:prstGeom prst="straightConnector1">
            <a:avLst/>
          </a:prstGeom>
          <a:noFill/>
          <a:ln w="9525">
            <a:solidFill>
              <a:sysClr val="windowText" lastClr="000000"/>
            </a:solidFill>
            <a:round/>
            <a:headEnd/>
            <a:tailEnd/>
          </a:ln>
        </p:spPr>
      </p:cxnSp>
      <p:cxnSp>
        <p:nvCxnSpPr>
          <p:cNvPr id="59" name="AutoShape 21">
            <a:extLst>
              <a:ext uri="{FF2B5EF4-FFF2-40B4-BE49-F238E27FC236}">
                <a16:creationId xmlns:a16="http://schemas.microsoft.com/office/drawing/2014/main" id="{087DAA2C-6E9F-47CD-B7A1-EB39A81F5CA1}"/>
              </a:ext>
            </a:extLst>
          </p:cNvPr>
          <p:cNvCxnSpPr>
            <a:cxnSpLocks noChangeShapeType="1"/>
            <a:stCxn id="49" idx="4"/>
            <a:endCxn id="52" idx="0"/>
          </p:cNvCxnSpPr>
          <p:nvPr/>
        </p:nvCxnSpPr>
        <p:spPr bwMode="auto">
          <a:xfrm>
            <a:off x="3543300" y="3505200"/>
            <a:ext cx="0" cy="457200"/>
          </a:xfrm>
          <a:prstGeom prst="straightConnector1">
            <a:avLst/>
          </a:prstGeom>
          <a:noFill/>
          <a:ln w="9525">
            <a:solidFill>
              <a:sysClr val="windowText" lastClr="000000"/>
            </a:solidFill>
            <a:round/>
            <a:headEnd/>
            <a:tailEnd/>
          </a:ln>
        </p:spPr>
      </p:cxnSp>
      <p:cxnSp>
        <p:nvCxnSpPr>
          <p:cNvPr id="60" name="AutoShape 22">
            <a:extLst>
              <a:ext uri="{FF2B5EF4-FFF2-40B4-BE49-F238E27FC236}">
                <a16:creationId xmlns:a16="http://schemas.microsoft.com/office/drawing/2014/main" id="{C12416C9-1104-41BB-B1AE-068E40A84AD6}"/>
              </a:ext>
            </a:extLst>
          </p:cNvPr>
          <p:cNvCxnSpPr>
            <a:cxnSpLocks noChangeShapeType="1"/>
            <a:stCxn id="52" idx="3"/>
            <a:endCxn id="50" idx="0"/>
          </p:cNvCxnSpPr>
          <p:nvPr/>
        </p:nvCxnSpPr>
        <p:spPr bwMode="auto">
          <a:xfrm flipH="1">
            <a:off x="3086100" y="4287838"/>
            <a:ext cx="322263" cy="284162"/>
          </a:xfrm>
          <a:prstGeom prst="straightConnector1">
            <a:avLst/>
          </a:prstGeom>
          <a:noFill/>
          <a:ln w="9525">
            <a:solidFill>
              <a:sysClr val="windowText" lastClr="000000"/>
            </a:solidFill>
            <a:round/>
            <a:headEnd/>
            <a:tailEnd/>
          </a:ln>
        </p:spPr>
      </p:cxnSp>
      <p:cxnSp>
        <p:nvCxnSpPr>
          <p:cNvPr id="61" name="AutoShape 23">
            <a:extLst>
              <a:ext uri="{FF2B5EF4-FFF2-40B4-BE49-F238E27FC236}">
                <a16:creationId xmlns:a16="http://schemas.microsoft.com/office/drawing/2014/main" id="{A569DDB9-0BD7-4EBF-9601-6DCA0EB11E1E}"/>
              </a:ext>
            </a:extLst>
          </p:cNvPr>
          <p:cNvCxnSpPr>
            <a:cxnSpLocks noChangeShapeType="1"/>
            <a:stCxn id="52" idx="5"/>
            <a:endCxn id="51" idx="0"/>
          </p:cNvCxnSpPr>
          <p:nvPr/>
        </p:nvCxnSpPr>
        <p:spPr bwMode="auto">
          <a:xfrm>
            <a:off x="3678238" y="4287838"/>
            <a:ext cx="246062" cy="284162"/>
          </a:xfrm>
          <a:prstGeom prst="straightConnector1">
            <a:avLst/>
          </a:prstGeom>
          <a:noFill/>
          <a:ln w="9525">
            <a:solidFill>
              <a:sysClr val="windowText" lastClr="000000"/>
            </a:solidFill>
            <a:round/>
            <a:headEnd/>
            <a:tailEnd/>
          </a:ln>
        </p:spPr>
      </p:cxnSp>
      <p:cxnSp>
        <p:nvCxnSpPr>
          <p:cNvPr id="62" name="AutoShape 24">
            <a:extLst>
              <a:ext uri="{FF2B5EF4-FFF2-40B4-BE49-F238E27FC236}">
                <a16:creationId xmlns:a16="http://schemas.microsoft.com/office/drawing/2014/main" id="{663F5D21-CB48-4B37-96EA-C4F649A8E3C7}"/>
              </a:ext>
            </a:extLst>
          </p:cNvPr>
          <p:cNvCxnSpPr>
            <a:cxnSpLocks noChangeShapeType="1"/>
            <a:stCxn id="53" idx="3"/>
            <a:endCxn id="54" idx="0"/>
          </p:cNvCxnSpPr>
          <p:nvPr/>
        </p:nvCxnSpPr>
        <p:spPr bwMode="auto">
          <a:xfrm flipH="1">
            <a:off x="5067300" y="3449638"/>
            <a:ext cx="436563" cy="512762"/>
          </a:xfrm>
          <a:prstGeom prst="straightConnector1">
            <a:avLst/>
          </a:prstGeom>
          <a:noFill/>
          <a:ln w="9525">
            <a:solidFill>
              <a:sysClr val="windowText" lastClr="000000"/>
            </a:solidFill>
            <a:round/>
            <a:headEnd/>
            <a:tailEnd/>
          </a:ln>
        </p:spPr>
      </p:cxnSp>
      <p:cxnSp>
        <p:nvCxnSpPr>
          <p:cNvPr id="63" name="AutoShape 25">
            <a:extLst>
              <a:ext uri="{FF2B5EF4-FFF2-40B4-BE49-F238E27FC236}">
                <a16:creationId xmlns:a16="http://schemas.microsoft.com/office/drawing/2014/main" id="{4FE70FFE-9733-41A3-917D-0CFC9F36B26A}"/>
              </a:ext>
            </a:extLst>
          </p:cNvPr>
          <p:cNvCxnSpPr>
            <a:cxnSpLocks noChangeShapeType="1"/>
            <a:stCxn id="53" idx="4"/>
            <a:endCxn id="55" idx="0"/>
          </p:cNvCxnSpPr>
          <p:nvPr/>
        </p:nvCxnSpPr>
        <p:spPr bwMode="auto">
          <a:xfrm>
            <a:off x="5638800" y="3505200"/>
            <a:ext cx="0" cy="457200"/>
          </a:xfrm>
          <a:prstGeom prst="straightConnector1">
            <a:avLst/>
          </a:prstGeom>
          <a:noFill/>
          <a:ln w="9525">
            <a:solidFill>
              <a:sysClr val="windowText" lastClr="000000"/>
            </a:solidFill>
            <a:round/>
            <a:headEnd/>
            <a:tailEnd/>
          </a:ln>
        </p:spPr>
      </p:cxnSp>
      <p:cxnSp>
        <p:nvCxnSpPr>
          <p:cNvPr id="64" name="AutoShape 26">
            <a:extLst>
              <a:ext uri="{FF2B5EF4-FFF2-40B4-BE49-F238E27FC236}">
                <a16:creationId xmlns:a16="http://schemas.microsoft.com/office/drawing/2014/main" id="{0ACF3E1A-7DF8-4D2B-9E4D-A9C6A78D1A77}"/>
              </a:ext>
            </a:extLst>
          </p:cNvPr>
          <p:cNvCxnSpPr>
            <a:cxnSpLocks noChangeShapeType="1"/>
            <a:stCxn id="53" idx="5"/>
            <a:endCxn id="56" idx="0"/>
          </p:cNvCxnSpPr>
          <p:nvPr/>
        </p:nvCxnSpPr>
        <p:spPr bwMode="auto">
          <a:xfrm>
            <a:off x="5773738" y="3449638"/>
            <a:ext cx="436562" cy="512762"/>
          </a:xfrm>
          <a:prstGeom prst="straightConnector1">
            <a:avLst/>
          </a:prstGeom>
          <a:noFill/>
          <a:ln w="9525">
            <a:solidFill>
              <a:sysClr val="windowText" lastClr="000000"/>
            </a:solidFill>
            <a:round/>
            <a:headEnd/>
            <a:tailEnd/>
          </a:ln>
        </p:spPr>
      </p:cxnSp>
      <p:sp>
        <p:nvSpPr>
          <p:cNvPr id="65" name="Text Box 27">
            <a:extLst>
              <a:ext uri="{FF2B5EF4-FFF2-40B4-BE49-F238E27FC236}">
                <a16:creationId xmlns:a16="http://schemas.microsoft.com/office/drawing/2014/main" id="{0F959162-098E-4B6E-9F63-D22408518AF1}"/>
              </a:ext>
            </a:extLst>
          </p:cNvPr>
          <p:cNvSpPr txBox="1">
            <a:spLocks noChangeArrowheads="1"/>
          </p:cNvSpPr>
          <p:nvPr/>
        </p:nvSpPr>
        <p:spPr bwMode="auto">
          <a:xfrm>
            <a:off x="7086600" y="1981200"/>
            <a:ext cx="628650" cy="366713"/>
          </a:xfrm>
          <a:prstGeom prst="rect">
            <a:avLst/>
          </a:prstGeom>
          <a:noFill/>
          <a:ln w="9525">
            <a:noFill/>
            <a:miter lim="800000"/>
            <a:headEnd/>
            <a:tailEnd/>
          </a:ln>
        </p:spPr>
        <p:txBody>
          <a:bodyPr wrap="none">
            <a:spAutoFit/>
          </a:bodyPr>
          <a:lstStyle/>
          <a:p>
            <a:pPr fontAlgn="base">
              <a:spcBef>
                <a:spcPct val="0"/>
              </a:spcBef>
              <a:spcAft>
                <a:spcPct val="0"/>
              </a:spcAft>
            </a:pPr>
            <a:r>
              <a:rPr lang="en-US">
                <a:solidFill>
                  <a:prstClr val="black"/>
                </a:solidFill>
                <a:cs typeface="Arial" charset="0"/>
              </a:rPr>
              <a:t>Root</a:t>
            </a:r>
          </a:p>
        </p:txBody>
      </p:sp>
      <p:sp>
        <p:nvSpPr>
          <p:cNvPr id="66" name="Text Box 28">
            <a:extLst>
              <a:ext uri="{FF2B5EF4-FFF2-40B4-BE49-F238E27FC236}">
                <a16:creationId xmlns:a16="http://schemas.microsoft.com/office/drawing/2014/main" id="{69F0B377-2BA8-45CB-9BB3-C46FB8CBA65F}"/>
              </a:ext>
            </a:extLst>
          </p:cNvPr>
          <p:cNvSpPr txBox="1">
            <a:spLocks noChangeArrowheads="1"/>
          </p:cNvSpPr>
          <p:nvPr/>
        </p:nvSpPr>
        <p:spPr bwMode="auto">
          <a:xfrm>
            <a:off x="7162800" y="3124200"/>
            <a:ext cx="1571625" cy="369888"/>
          </a:xfrm>
          <a:prstGeom prst="rect">
            <a:avLst/>
          </a:prstGeom>
          <a:noFill/>
          <a:ln w="9525">
            <a:noFill/>
            <a:miter lim="800000"/>
            <a:headEnd/>
            <a:tailEnd/>
          </a:ln>
        </p:spPr>
        <p:txBody>
          <a:bodyPr wrap="none">
            <a:spAutoFit/>
          </a:bodyPr>
          <a:lstStyle/>
          <a:p>
            <a:pPr fontAlgn="base">
              <a:spcBef>
                <a:spcPct val="0"/>
              </a:spcBef>
              <a:spcAft>
                <a:spcPct val="0"/>
              </a:spcAft>
            </a:pPr>
            <a:r>
              <a:rPr lang="en-US">
                <a:solidFill>
                  <a:prstClr val="black"/>
                </a:solidFill>
                <a:cs typeface="Arial" charset="0"/>
              </a:rPr>
              <a:t>Internal Vertex</a:t>
            </a:r>
          </a:p>
        </p:txBody>
      </p:sp>
      <p:sp>
        <p:nvSpPr>
          <p:cNvPr id="67" name="Text Box 29">
            <a:extLst>
              <a:ext uri="{FF2B5EF4-FFF2-40B4-BE49-F238E27FC236}">
                <a16:creationId xmlns:a16="http://schemas.microsoft.com/office/drawing/2014/main" id="{76F333BF-2C6F-44E7-B943-5E73EDD13D25}"/>
              </a:ext>
            </a:extLst>
          </p:cNvPr>
          <p:cNvSpPr txBox="1">
            <a:spLocks noChangeArrowheads="1"/>
          </p:cNvSpPr>
          <p:nvPr/>
        </p:nvSpPr>
        <p:spPr bwMode="auto">
          <a:xfrm>
            <a:off x="7315200" y="4267200"/>
            <a:ext cx="603250" cy="366713"/>
          </a:xfrm>
          <a:prstGeom prst="rect">
            <a:avLst/>
          </a:prstGeom>
          <a:noFill/>
          <a:ln w="9525">
            <a:noFill/>
            <a:miter lim="800000"/>
            <a:headEnd/>
            <a:tailEnd/>
          </a:ln>
        </p:spPr>
        <p:txBody>
          <a:bodyPr wrap="none">
            <a:spAutoFit/>
          </a:bodyPr>
          <a:lstStyle/>
          <a:p>
            <a:pPr fontAlgn="base">
              <a:spcBef>
                <a:spcPct val="0"/>
              </a:spcBef>
              <a:spcAft>
                <a:spcPct val="0"/>
              </a:spcAft>
            </a:pPr>
            <a:r>
              <a:rPr lang="en-US">
                <a:solidFill>
                  <a:prstClr val="black"/>
                </a:solidFill>
                <a:cs typeface="Arial" charset="0"/>
              </a:rPr>
              <a:t>Leaf</a:t>
            </a:r>
          </a:p>
        </p:txBody>
      </p:sp>
      <p:cxnSp>
        <p:nvCxnSpPr>
          <p:cNvPr id="68" name="AutoShape 30">
            <a:extLst>
              <a:ext uri="{FF2B5EF4-FFF2-40B4-BE49-F238E27FC236}">
                <a16:creationId xmlns:a16="http://schemas.microsoft.com/office/drawing/2014/main" id="{713E2781-A45C-4D57-ADD3-923EFBE3A304}"/>
              </a:ext>
            </a:extLst>
          </p:cNvPr>
          <p:cNvCxnSpPr>
            <a:cxnSpLocks noChangeShapeType="1"/>
            <a:stCxn id="67" idx="1"/>
            <a:endCxn id="56" idx="6"/>
          </p:cNvCxnSpPr>
          <p:nvPr/>
        </p:nvCxnSpPr>
        <p:spPr bwMode="auto">
          <a:xfrm flipH="1" flipV="1">
            <a:off x="6400800" y="4152900"/>
            <a:ext cx="914400" cy="298450"/>
          </a:xfrm>
          <a:prstGeom prst="straightConnector1">
            <a:avLst/>
          </a:prstGeom>
          <a:noFill/>
          <a:ln w="9525">
            <a:solidFill>
              <a:sysClr val="windowText" lastClr="000000"/>
            </a:solidFill>
            <a:round/>
            <a:headEnd/>
            <a:tailEnd type="triangle" w="med" len="med"/>
          </a:ln>
        </p:spPr>
      </p:cxnSp>
      <p:cxnSp>
        <p:nvCxnSpPr>
          <p:cNvPr id="69" name="AutoShape 31">
            <a:extLst>
              <a:ext uri="{FF2B5EF4-FFF2-40B4-BE49-F238E27FC236}">
                <a16:creationId xmlns:a16="http://schemas.microsoft.com/office/drawing/2014/main" id="{D4420E73-F0ED-40D8-930D-167C86FB2460}"/>
              </a:ext>
            </a:extLst>
          </p:cNvPr>
          <p:cNvCxnSpPr>
            <a:cxnSpLocks noChangeShapeType="1"/>
            <a:stCxn id="66" idx="1"/>
            <a:endCxn id="53" idx="6"/>
          </p:cNvCxnSpPr>
          <p:nvPr/>
        </p:nvCxnSpPr>
        <p:spPr bwMode="auto">
          <a:xfrm rot="10800000" flipV="1">
            <a:off x="5829300" y="3308350"/>
            <a:ext cx="1333500" cy="6350"/>
          </a:xfrm>
          <a:prstGeom prst="straightConnector1">
            <a:avLst/>
          </a:prstGeom>
          <a:noFill/>
          <a:ln w="9525">
            <a:solidFill>
              <a:sysClr val="windowText" lastClr="000000"/>
            </a:solidFill>
            <a:round/>
            <a:headEnd/>
            <a:tailEnd type="triangle" w="med" len="med"/>
          </a:ln>
        </p:spPr>
      </p:cxnSp>
      <p:cxnSp>
        <p:nvCxnSpPr>
          <p:cNvPr id="70" name="AutoShape 32">
            <a:extLst>
              <a:ext uri="{FF2B5EF4-FFF2-40B4-BE49-F238E27FC236}">
                <a16:creationId xmlns:a16="http://schemas.microsoft.com/office/drawing/2014/main" id="{2F52517A-0035-4CB5-81FE-5DA3D0AB6AB4}"/>
              </a:ext>
            </a:extLst>
          </p:cNvPr>
          <p:cNvCxnSpPr>
            <a:cxnSpLocks noChangeShapeType="1"/>
            <a:stCxn id="65" idx="1"/>
            <a:endCxn id="48" idx="6"/>
          </p:cNvCxnSpPr>
          <p:nvPr/>
        </p:nvCxnSpPr>
        <p:spPr bwMode="auto">
          <a:xfrm flipH="1">
            <a:off x="4724400" y="2165350"/>
            <a:ext cx="2362200" cy="234950"/>
          </a:xfrm>
          <a:prstGeom prst="straightConnector1">
            <a:avLst/>
          </a:prstGeom>
          <a:noFill/>
          <a:ln w="9525">
            <a:solidFill>
              <a:sysClr val="windowText" lastClr="000000"/>
            </a:solidFill>
            <a:round/>
            <a:headEnd/>
            <a:tailEnd type="triangle" w="med" len="med"/>
          </a:ln>
        </p:spPr>
      </p:cxnSp>
      <p:sp>
        <p:nvSpPr>
          <p:cNvPr id="71" name="Oval 33">
            <a:extLst>
              <a:ext uri="{FF2B5EF4-FFF2-40B4-BE49-F238E27FC236}">
                <a16:creationId xmlns:a16="http://schemas.microsoft.com/office/drawing/2014/main" id="{B015E927-A057-48B2-BF51-3D91D629BA25}"/>
              </a:ext>
            </a:extLst>
          </p:cNvPr>
          <p:cNvSpPr>
            <a:spLocks noChangeArrowheads="1"/>
          </p:cNvSpPr>
          <p:nvPr/>
        </p:nvSpPr>
        <p:spPr bwMode="auto">
          <a:xfrm>
            <a:off x="2438400" y="2743200"/>
            <a:ext cx="2133600" cy="2743200"/>
          </a:xfrm>
          <a:prstGeom prst="ellipse">
            <a:avLst/>
          </a:prstGeom>
          <a:noFill/>
          <a:ln w="9525" cap="rnd">
            <a:solidFill>
              <a:sysClr val="windowText" lastClr="000000"/>
            </a:solidFill>
            <a:prstDash val="sysDot"/>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cs typeface="Arial" charset="0"/>
            </a:endParaRPr>
          </a:p>
        </p:txBody>
      </p:sp>
      <p:sp>
        <p:nvSpPr>
          <p:cNvPr id="72" name="Text Box 34">
            <a:extLst>
              <a:ext uri="{FF2B5EF4-FFF2-40B4-BE49-F238E27FC236}">
                <a16:creationId xmlns:a16="http://schemas.microsoft.com/office/drawing/2014/main" id="{15A503C4-FFB8-4E87-AE5D-3143986EAAD3}"/>
              </a:ext>
            </a:extLst>
          </p:cNvPr>
          <p:cNvSpPr txBox="1">
            <a:spLocks noChangeArrowheads="1"/>
          </p:cNvSpPr>
          <p:nvPr/>
        </p:nvSpPr>
        <p:spPr bwMode="auto">
          <a:xfrm>
            <a:off x="5029200" y="5638800"/>
            <a:ext cx="2514600" cy="366713"/>
          </a:xfrm>
          <a:prstGeom prst="rect">
            <a:avLst/>
          </a:prstGeom>
          <a:noFill/>
          <a:ln w="9525">
            <a:noFill/>
            <a:miter lim="800000"/>
            <a:headEnd/>
            <a:tailEnd/>
          </a:ln>
        </p:spPr>
        <p:txBody>
          <a:bodyPr>
            <a:spAutoFit/>
          </a:bodyPr>
          <a:lstStyle/>
          <a:p>
            <a:pPr fontAlgn="base">
              <a:spcBef>
                <a:spcPct val="0"/>
              </a:spcBef>
              <a:spcAft>
                <a:spcPct val="0"/>
              </a:spcAft>
            </a:pPr>
            <a:r>
              <a:rPr lang="en-US">
                <a:solidFill>
                  <a:prstClr val="black"/>
                </a:solidFill>
                <a:cs typeface="Arial" charset="0"/>
              </a:rPr>
              <a:t>Subtree rooted at S</a:t>
            </a:r>
          </a:p>
        </p:txBody>
      </p:sp>
      <p:cxnSp>
        <p:nvCxnSpPr>
          <p:cNvPr id="73" name="AutoShape 35">
            <a:extLst>
              <a:ext uri="{FF2B5EF4-FFF2-40B4-BE49-F238E27FC236}">
                <a16:creationId xmlns:a16="http://schemas.microsoft.com/office/drawing/2014/main" id="{7E370BEB-EDE9-4B32-B19C-01899A654285}"/>
              </a:ext>
            </a:extLst>
          </p:cNvPr>
          <p:cNvCxnSpPr>
            <a:cxnSpLocks noChangeShapeType="1"/>
            <a:stCxn id="72" idx="1"/>
            <a:endCxn id="71" idx="5"/>
          </p:cNvCxnSpPr>
          <p:nvPr/>
        </p:nvCxnSpPr>
        <p:spPr bwMode="auto">
          <a:xfrm flipH="1" flipV="1">
            <a:off x="4259263" y="5084763"/>
            <a:ext cx="769937" cy="738187"/>
          </a:xfrm>
          <a:prstGeom prst="straightConnector1">
            <a:avLst/>
          </a:prstGeom>
          <a:noFill/>
          <a:ln w="9525">
            <a:solidFill>
              <a:sysClr val="windowText" lastClr="000000"/>
            </a:solidFill>
            <a:round/>
            <a:headEnd/>
            <a:tailEnd type="triangle" w="med" len="med"/>
          </a:ln>
        </p:spPr>
      </p:cxnSp>
      <p:sp>
        <p:nvSpPr>
          <p:cNvPr id="74" name="Text Box 36">
            <a:extLst>
              <a:ext uri="{FF2B5EF4-FFF2-40B4-BE49-F238E27FC236}">
                <a16:creationId xmlns:a16="http://schemas.microsoft.com/office/drawing/2014/main" id="{E7E86B32-F922-4330-A648-1ABE3F3A43C4}"/>
              </a:ext>
            </a:extLst>
          </p:cNvPr>
          <p:cNvSpPr txBox="1">
            <a:spLocks noChangeArrowheads="1"/>
          </p:cNvSpPr>
          <p:nvPr/>
        </p:nvSpPr>
        <p:spPr bwMode="auto">
          <a:xfrm>
            <a:off x="914400" y="2209800"/>
            <a:ext cx="876300" cy="366713"/>
          </a:xfrm>
          <a:prstGeom prst="rect">
            <a:avLst/>
          </a:prstGeom>
          <a:noFill/>
          <a:ln w="9525">
            <a:noFill/>
            <a:miter lim="800000"/>
            <a:headEnd/>
            <a:tailEnd/>
          </a:ln>
        </p:spPr>
        <p:txBody>
          <a:bodyPr wrap="none">
            <a:spAutoFit/>
          </a:bodyPr>
          <a:lstStyle/>
          <a:p>
            <a:pPr fontAlgn="base">
              <a:spcBef>
                <a:spcPct val="0"/>
              </a:spcBef>
              <a:spcAft>
                <a:spcPct val="0"/>
              </a:spcAft>
            </a:pPr>
            <a:r>
              <a:rPr lang="en-US">
                <a:solidFill>
                  <a:prstClr val="black"/>
                </a:solidFill>
                <a:cs typeface="Arial" charset="0"/>
              </a:rPr>
              <a:t>Level 0</a:t>
            </a:r>
          </a:p>
        </p:txBody>
      </p:sp>
      <p:sp>
        <p:nvSpPr>
          <p:cNvPr id="75" name="Text Box 37">
            <a:extLst>
              <a:ext uri="{FF2B5EF4-FFF2-40B4-BE49-F238E27FC236}">
                <a16:creationId xmlns:a16="http://schemas.microsoft.com/office/drawing/2014/main" id="{74D7D3D3-BB8C-4D0F-A154-F5A919CDF8F3}"/>
              </a:ext>
            </a:extLst>
          </p:cNvPr>
          <p:cNvSpPr txBox="1">
            <a:spLocks noChangeArrowheads="1"/>
          </p:cNvSpPr>
          <p:nvPr/>
        </p:nvSpPr>
        <p:spPr bwMode="auto">
          <a:xfrm>
            <a:off x="914400" y="3048000"/>
            <a:ext cx="876300" cy="366713"/>
          </a:xfrm>
          <a:prstGeom prst="rect">
            <a:avLst/>
          </a:prstGeom>
          <a:noFill/>
          <a:ln w="9525">
            <a:noFill/>
            <a:miter lim="800000"/>
            <a:headEnd/>
            <a:tailEnd/>
          </a:ln>
        </p:spPr>
        <p:txBody>
          <a:bodyPr wrap="none">
            <a:spAutoFit/>
          </a:bodyPr>
          <a:lstStyle/>
          <a:p>
            <a:pPr fontAlgn="base">
              <a:spcBef>
                <a:spcPct val="0"/>
              </a:spcBef>
              <a:spcAft>
                <a:spcPct val="0"/>
              </a:spcAft>
            </a:pPr>
            <a:r>
              <a:rPr lang="en-US">
                <a:solidFill>
                  <a:prstClr val="black"/>
                </a:solidFill>
                <a:cs typeface="Arial" charset="0"/>
              </a:rPr>
              <a:t>Level 1</a:t>
            </a:r>
          </a:p>
        </p:txBody>
      </p:sp>
      <p:sp>
        <p:nvSpPr>
          <p:cNvPr id="76" name="Text Box 38">
            <a:extLst>
              <a:ext uri="{FF2B5EF4-FFF2-40B4-BE49-F238E27FC236}">
                <a16:creationId xmlns:a16="http://schemas.microsoft.com/office/drawing/2014/main" id="{42C924BC-F054-49D0-99D8-C39C2B1FD4C9}"/>
              </a:ext>
            </a:extLst>
          </p:cNvPr>
          <p:cNvSpPr txBox="1">
            <a:spLocks noChangeArrowheads="1"/>
          </p:cNvSpPr>
          <p:nvPr/>
        </p:nvSpPr>
        <p:spPr bwMode="auto">
          <a:xfrm>
            <a:off x="914400" y="3962400"/>
            <a:ext cx="876300" cy="366713"/>
          </a:xfrm>
          <a:prstGeom prst="rect">
            <a:avLst/>
          </a:prstGeom>
          <a:noFill/>
          <a:ln w="9525">
            <a:noFill/>
            <a:miter lim="800000"/>
            <a:headEnd/>
            <a:tailEnd/>
          </a:ln>
        </p:spPr>
        <p:txBody>
          <a:bodyPr wrap="none">
            <a:spAutoFit/>
          </a:bodyPr>
          <a:lstStyle/>
          <a:p>
            <a:pPr fontAlgn="base">
              <a:spcBef>
                <a:spcPct val="0"/>
              </a:spcBef>
              <a:spcAft>
                <a:spcPct val="0"/>
              </a:spcAft>
            </a:pPr>
            <a:r>
              <a:rPr lang="en-US">
                <a:solidFill>
                  <a:prstClr val="black"/>
                </a:solidFill>
                <a:cs typeface="Arial" charset="0"/>
              </a:rPr>
              <a:t>Level 2</a:t>
            </a:r>
          </a:p>
        </p:txBody>
      </p:sp>
      <p:sp>
        <p:nvSpPr>
          <p:cNvPr id="77" name="Text Box 39">
            <a:extLst>
              <a:ext uri="{FF2B5EF4-FFF2-40B4-BE49-F238E27FC236}">
                <a16:creationId xmlns:a16="http://schemas.microsoft.com/office/drawing/2014/main" id="{C1561B39-6ADE-4796-8FF3-11FCD1BAD5EA}"/>
              </a:ext>
            </a:extLst>
          </p:cNvPr>
          <p:cNvSpPr txBox="1">
            <a:spLocks noChangeArrowheads="1"/>
          </p:cNvSpPr>
          <p:nvPr/>
        </p:nvSpPr>
        <p:spPr bwMode="auto">
          <a:xfrm>
            <a:off x="914400" y="4572000"/>
            <a:ext cx="876300" cy="366713"/>
          </a:xfrm>
          <a:prstGeom prst="rect">
            <a:avLst/>
          </a:prstGeom>
          <a:noFill/>
          <a:ln w="9525">
            <a:noFill/>
            <a:miter lim="800000"/>
            <a:headEnd/>
            <a:tailEnd/>
          </a:ln>
        </p:spPr>
        <p:txBody>
          <a:bodyPr wrap="none">
            <a:spAutoFit/>
          </a:bodyPr>
          <a:lstStyle/>
          <a:p>
            <a:pPr fontAlgn="base">
              <a:spcBef>
                <a:spcPct val="0"/>
              </a:spcBef>
              <a:spcAft>
                <a:spcPct val="0"/>
              </a:spcAft>
            </a:pPr>
            <a:r>
              <a:rPr lang="en-US">
                <a:solidFill>
                  <a:prstClr val="black"/>
                </a:solidFill>
                <a:cs typeface="Arial" charset="0"/>
              </a:rPr>
              <a:t>Level 3</a:t>
            </a:r>
          </a:p>
        </p:txBody>
      </p:sp>
      <p:sp>
        <p:nvSpPr>
          <p:cNvPr id="78" name="Line 40">
            <a:extLst>
              <a:ext uri="{FF2B5EF4-FFF2-40B4-BE49-F238E27FC236}">
                <a16:creationId xmlns:a16="http://schemas.microsoft.com/office/drawing/2014/main" id="{C49BCE4E-F56E-4575-B104-6FF2367DC0F1}"/>
              </a:ext>
            </a:extLst>
          </p:cNvPr>
          <p:cNvSpPr>
            <a:spLocks noChangeShapeType="1"/>
          </p:cNvSpPr>
          <p:nvPr/>
        </p:nvSpPr>
        <p:spPr bwMode="auto">
          <a:xfrm flipV="1">
            <a:off x="1752600" y="2438400"/>
            <a:ext cx="2438400" cy="0"/>
          </a:xfrm>
          <a:prstGeom prst="line">
            <a:avLst/>
          </a:prstGeom>
          <a:noFill/>
          <a:ln w="9525">
            <a:solidFill>
              <a:sysClr val="windowText" lastClr="000000"/>
            </a:solidFill>
            <a:prstDash val="dash"/>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sp>
        <p:nvSpPr>
          <p:cNvPr id="79" name="Line 41">
            <a:extLst>
              <a:ext uri="{FF2B5EF4-FFF2-40B4-BE49-F238E27FC236}">
                <a16:creationId xmlns:a16="http://schemas.microsoft.com/office/drawing/2014/main" id="{8ED84605-AE51-4917-99A5-48FF84D5AE7D}"/>
              </a:ext>
            </a:extLst>
          </p:cNvPr>
          <p:cNvSpPr>
            <a:spLocks noChangeShapeType="1"/>
          </p:cNvSpPr>
          <p:nvPr/>
        </p:nvSpPr>
        <p:spPr bwMode="auto">
          <a:xfrm flipV="1">
            <a:off x="1828800" y="3276600"/>
            <a:ext cx="1447800" cy="0"/>
          </a:xfrm>
          <a:prstGeom prst="line">
            <a:avLst/>
          </a:prstGeom>
          <a:noFill/>
          <a:ln w="9525">
            <a:solidFill>
              <a:sysClr val="windowText" lastClr="000000"/>
            </a:solidFill>
            <a:prstDash val="dash"/>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sp>
        <p:nvSpPr>
          <p:cNvPr id="80" name="Line 42">
            <a:extLst>
              <a:ext uri="{FF2B5EF4-FFF2-40B4-BE49-F238E27FC236}">
                <a16:creationId xmlns:a16="http://schemas.microsoft.com/office/drawing/2014/main" id="{CC51C919-38E9-4B5F-B7AE-E3564CA50D27}"/>
              </a:ext>
            </a:extLst>
          </p:cNvPr>
          <p:cNvSpPr>
            <a:spLocks noChangeShapeType="1"/>
          </p:cNvSpPr>
          <p:nvPr/>
        </p:nvSpPr>
        <p:spPr bwMode="auto">
          <a:xfrm flipV="1">
            <a:off x="1828800" y="4191000"/>
            <a:ext cx="1447800" cy="0"/>
          </a:xfrm>
          <a:prstGeom prst="line">
            <a:avLst/>
          </a:prstGeom>
          <a:noFill/>
          <a:ln w="9525">
            <a:solidFill>
              <a:sysClr val="windowText" lastClr="000000"/>
            </a:solidFill>
            <a:prstDash val="dash"/>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sp>
        <p:nvSpPr>
          <p:cNvPr id="81" name="Line 43">
            <a:extLst>
              <a:ext uri="{FF2B5EF4-FFF2-40B4-BE49-F238E27FC236}">
                <a16:creationId xmlns:a16="http://schemas.microsoft.com/office/drawing/2014/main" id="{7E8966B6-551F-4108-AF13-BEBA410CE9D0}"/>
              </a:ext>
            </a:extLst>
          </p:cNvPr>
          <p:cNvSpPr>
            <a:spLocks noChangeShapeType="1"/>
          </p:cNvSpPr>
          <p:nvPr/>
        </p:nvSpPr>
        <p:spPr bwMode="auto">
          <a:xfrm flipV="1">
            <a:off x="1828800" y="4724400"/>
            <a:ext cx="990600" cy="0"/>
          </a:xfrm>
          <a:prstGeom prst="line">
            <a:avLst/>
          </a:prstGeom>
          <a:noFill/>
          <a:ln w="9525">
            <a:solidFill>
              <a:sysClr val="windowText" lastClr="000000"/>
            </a:solidFill>
            <a:prstDash val="dash"/>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sp>
        <p:nvSpPr>
          <p:cNvPr id="82" name="Text Box 44">
            <a:extLst>
              <a:ext uri="{FF2B5EF4-FFF2-40B4-BE49-F238E27FC236}">
                <a16:creationId xmlns:a16="http://schemas.microsoft.com/office/drawing/2014/main" id="{9292EF80-3570-4863-9C54-D2A8A853A4C6}"/>
              </a:ext>
            </a:extLst>
          </p:cNvPr>
          <p:cNvSpPr txBox="1">
            <a:spLocks noChangeArrowheads="1"/>
          </p:cNvSpPr>
          <p:nvPr/>
        </p:nvSpPr>
        <p:spPr bwMode="auto">
          <a:xfrm>
            <a:off x="5113338" y="5126038"/>
            <a:ext cx="1162050" cy="366712"/>
          </a:xfrm>
          <a:prstGeom prst="rect">
            <a:avLst/>
          </a:prstGeom>
          <a:noFill/>
          <a:ln w="9525">
            <a:noFill/>
            <a:miter lim="800000"/>
            <a:headEnd/>
            <a:tailEnd/>
          </a:ln>
        </p:spPr>
        <p:txBody>
          <a:bodyPr wrap="none">
            <a:spAutoFit/>
          </a:bodyPr>
          <a:lstStyle/>
          <a:p>
            <a:pPr fontAlgn="base">
              <a:spcBef>
                <a:spcPct val="0"/>
              </a:spcBef>
              <a:spcAft>
                <a:spcPct val="0"/>
              </a:spcAft>
            </a:pPr>
            <a:r>
              <a:rPr lang="en-US">
                <a:solidFill>
                  <a:prstClr val="black"/>
                </a:solidFill>
                <a:cs typeface="Arial" charset="0"/>
              </a:rPr>
              <a:t>Child of X</a:t>
            </a:r>
          </a:p>
        </p:txBody>
      </p:sp>
      <p:sp>
        <p:nvSpPr>
          <p:cNvPr id="83" name="Line 48">
            <a:extLst>
              <a:ext uri="{FF2B5EF4-FFF2-40B4-BE49-F238E27FC236}">
                <a16:creationId xmlns:a16="http://schemas.microsoft.com/office/drawing/2014/main" id="{A99C1D45-1197-4362-A3A2-88DBC213FE60}"/>
              </a:ext>
            </a:extLst>
          </p:cNvPr>
          <p:cNvSpPr>
            <a:spLocks noChangeShapeType="1"/>
          </p:cNvSpPr>
          <p:nvPr/>
        </p:nvSpPr>
        <p:spPr bwMode="auto">
          <a:xfrm flipH="1" flipV="1">
            <a:off x="4114800" y="4800600"/>
            <a:ext cx="990600" cy="457200"/>
          </a:xfrm>
          <a:prstGeom prst="line">
            <a:avLst/>
          </a:prstGeom>
          <a:noFill/>
          <a:ln w="9525">
            <a:solidFill>
              <a:sysClr val="windowText" lastClr="000000"/>
            </a:solidFill>
            <a:round/>
            <a:headEnd/>
            <a:tailEnd type="triangle" w="med" len="me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sp>
        <p:nvSpPr>
          <p:cNvPr id="84" name="Text Box 49">
            <a:extLst>
              <a:ext uri="{FF2B5EF4-FFF2-40B4-BE49-F238E27FC236}">
                <a16:creationId xmlns:a16="http://schemas.microsoft.com/office/drawing/2014/main" id="{ABF0236E-C696-40B9-B694-995F6B626A8D}"/>
              </a:ext>
            </a:extLst>
          </p:cNvPr>
          <p:cNvSpPr txBox="1">
            <a:spLocks noChangeArrowheads="1"/>
          </p:cNvSpPr>
          <p:nvPr/>
        </p:nvSpPr>
        <p:spPr bwMode="auto">
          <a:xfrm>
            <a:off x="2209800" y="5867400"/>
            <a:ext cx="1822450" cy="366713"/>
          </a:xfrm>
          <a:prstGeom prst="rect">
            <a:avLst/>
          </a:prstGeom>
          <a:noFill/>
          <a:ln w="9525">
            <a:noFill/>
            <a:miter lim="800000"/>
            <a:headEnd/>
            <a:tailEnd/>
          </a:ln>
        </p:spPr>
        <p:txBody>
          <a:bodyPr wrap="none">
            <a:spAutoFit/>
          </a:bodyPr>
          <a:lstStyle/>
          <a:p>
            <a:pPr fontAlgn="base">
              <a:spcBef>
                <a:spcPct val="0"/>
              </a:spcBef>
              <a:spcAft>
                <a:spcPct val="0"/>
              </a:spcAft>
            </a:pPr>
            <a:r>
              <a:rPr lang="en-US">
                <a:solidFill>
                  <a:prstClr val="black"/>
                </a:solidFill>
                <a:cs typeface="Arial" charset="0"/>
              </a:rPr>
              <a:t>Parent of Z and Y</a:t>
            </a:r>
          </a:p>
        </p:txBody>
      </p:sp>
      <p:sp>
        <p:nvSpPr>
          <p:cNvPr id="85" name="Line 50">
            <a:extLst>
              <a:ext uri="{FF2B5EF4-FFF2-40B4-BE49-F238E27FC236}">
                <a16:creationId xmlns:a16="http://schemas.microsoft.com/office/drawing/2014/main" id="{C7DA6C8C-F383-474D-A62E-4D8B013AB5D7}"/>
              </a:ext>
            </a:extLst>
          </p:cNvPr>
          <p:cNvSpPr>
            <a:spLocks noChangeShapeType="1"/>
          </p:cNvSpPr>
          <p:nvPr/>
        </p:nvSpPr>
        <p:spPr bwMode="auto">
          <a:xfrm flipV="1">
            <a:off x="3048000" y="4343400"/>
            <a:ext cx="457200" cy="1524000"/>
          </a:xfrm>
          <a:prstGeom prst="line">
            <a:avLst/>
          </a:prstGeom>
          <a:noFill/>
          <a:ln w="9525">
            <a:solidFill>
              <a:sysClr val="windowText" lastClr="000000"/>
            </a:solidFill>
            <a:round/>
            <a:headEnd/>
            <a:tailEnd type="triangle" w="med" len="me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sp>
        <p:nvSpPr>
          <p:cNvPr id="86" name="TextBox 41">
            <a:extLst>
              <a:ext uri="{FF2B5EF4-FFF2-40B4-BE49-F238E27FC236}">
                <a16:creationId xmlns:a16="http://schemas.microsoft.com/office/drawing/2014/main" id="{BA492A02-6E10-40CC-8E2B-9C029EAA2F10}"/>
              </a:ext>
            </a:extLst>
          </p:cNvPr>
          <p:cNvSpPr txBox="1">
            <a:spLocks noChangeArrowheads="1"/>
          </p:cNvSpPr>
          <p:nvPr/>
        </p:nvSpPr>
        <p:spPr bwMode="auto">
          <a:xfrm>
            <a:off x="1219200" y="5257800"/>
            <a:ext cx="971550" cy="400050"/>
          </a:xfrm>
          <a:prstGeom prst="rect">
            <a:avLst/>
          </a:prstGeom>
          <a:noFill/>
          <a:ln w="9525">
            <a:noFill/>
            <a:miter lim="800000"/>
            <a:headEnd/>
            <a:tailEnd/>
          </a:ln>
        </p:spPr>
        <p:txBody>
          <a:bodyPr wrap="none">
            <a:spAutoFit/>
          </a:bodyPr>
          <a:lstStyle/>
          <a:p>
            <a:pPr fontAlgn="base">
              <a:spcBef>
                <a:spcPct val="0"/>
              </a:spcBef>
              <a:spcAft>
                <a:spcPct val="0"/>
              </a:spcAft>
            </a:pPr>
            <a:r>
              <a:rPr lang="en-US" sz="2000">
                <a:solidFill>
                  <a:prstClr val="black"/>
                </a:solidFill>
                <a:cs typeface="Arial" charset="0"/>
              </a:rPr>
              <a:t>Siblings</a:t>
            </a:r>
          </a:p>
        </p:txBody>
      </p:sp>
      <p:cxnSp>
        <p:nvCxnSpPr>
          <p:cNvPr id="87" name="Straight Arrow Connector 86">
            <a:extLst>
              <a:ext uri="{FF2B5EF4-FFF2-40B4-BE49-F238E27FC236}">
                <a16:creationId xmlns:a16="http://schemas.microsoft.com/office/drawing/2014/main" id="{C7F945A3-C41D-4653-A369-9E1D419DFF16}"/>
              </a:ext>
            </a:extLst>
          </p:cNvPr>
          <p:cNvCxnSpPr>
            <a:stCxn id="86" idx="3"/>
            <a:endCxn id="50" idx="3"/>
          </p:cNvCxnSpPr>
          <p:nvPr/>
        </p:nvCxnSpPr>
        <p:spPr>
          <a:xfrm flipV="1">
            <a:off x="2190750" y="4897438"/>
            <a:ext cx="760413" cy="560387"/>
          </a:xfrm>
          <a:prstGeom prst="straightConnector1">
            <a:avLst/>
          </a:prstGeom>
          <a:noFill/>
          <a:ln w="25400" cap="flat" cmpd="sng" algn="ctr">
            <a:solidFill>
              <a:sysClr val="windowText" lastClr="000000"/>
            </a:solidFill>
            <a:prstDash val="solid"/>
            <a:tailEnd type="arrow"/>
          </a:ln>
          <a:effectLst/>
        </p:spPr>
      </p:cxnSp>
      <p:cxnSp>
        <p:nvCxnSpPr>
          <p:cNvPr id="88" name="Straight Arrow Connector 87">
            <a:extLst>
              <a:ext uri="{FF2B5EF4-FFF2-40B4-BE49-F238E27FC236}">
                <a16:creationId xmlns:a16="http://schemas.microsoft.com/office/drawing/2014/main" id="{6B75DDE8-BE2B-4C6A-AF7D-760D13878ABF}"/>
              </a:ext>
            </a:extLst>
          </p:cNvPr>
          <p:cNvCxnSpPr>
            <a:stCxn id="86" idx="3"/>
            <a:endCxn id="51" idx="3"/>
          </p:cNvCxnSpPr>
          <p:nvPr/>
        </p:nvCxnSpPr>
        <p:spPr>
          <a:xfrm flipV="1">
            <a:off x="2190750" y="4897438"/>
            <a:ext cx="1598613" cy="560387"/>
          </a:xfrm>
          <a:prstGeom prst="straightConnector1">
            <a:avLst/>
          </a:prstGeom>
          <a:noFill/>
          <a:ln w="25400" cap="flat" cmpd="sng" algn="ctr">
            <a:solidFill>
              <a:sysClr val="windowText" lastClr="000000"/>
            </a:solidFill>
            <a:prstDash val="solid"/>
            <a:tailEnd type="arrow"/>
          </a:ln>
          <a:effectLst/>
        </p:spPr>
      </p:cxnSp>
    </p:spTree>
    <p:extLst>
      <p:ext uri="{BB962C8B-B14F-4D97-AF65-F5344CB8AC3E}">
        <p14:creationId xmlns:p14="http://schemas.microsoft.com/office/powerpoint/2010/main" val="2541869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4868273"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lvl="0" indent="0" algn="ctr">
              <a:spcBef>
                <a:spcPct val="0"/>
              </a:spcBef>
              <a:buClrTx/>
              <a:buSzTx/>
              <a:buNone/>
              <a:defRPr/>
            </a:pPr>
            <a:r>
              <a:rPr lang="en-US" sz="2800" b="1" dirty="0">
                <a:solidFill>
                  <a:srgbClr val="0000FF"/>
                </a:solidFill>
                <a:cs typeface="Arial" charset="0"/>
              </a:rPr>
              <a:t>Illustration of Tree Terminology</a:t>
            </a:r>
            <a:r>
              <a:rPr lang="en-US" sz="2600" b="1" dirty="0">
                <a:solidFill>
                  <a:schemeClr val="tx1"/>
                </a:solidFill>
              </a:rPr>
              <a:t>  </a:t>
            </a:r>
          </a:p>
        </p:txBody>
      </p:sp>
      <p:sp>
        <p:nvSpPr>
          <p:cNvPr id="203" name="Rectangle 43">
            <a:extLst>
              <a:ext uri="{FF2B5EF4-FFF2-40B4-BE49-F238E27FC236}">
                <a16:creationId xmlns:a16="http://schemas.microsoft.com/office/drawing/2014/main" id="{DB79436E-59E8-492E-95FA-B90E41E60A26}"/>
              </a:ext>
            </a:extLst>
          </p:cNvPr>
          <p:cNvSpPr>
            <a:spLocks noChangeArrowheads="1"/>
          </p:cNvSpPr>
          <p:nvPr/>
        </p:nvSpPr>
        <p:spPr bwMode="auto">
          <a:xfrm>
            <a:off x="335494" y="1308771"/>
            <a:ext cx="8452906" cy="5148300"/>
          </a:xfrm>
          <a:prstGeom prst="rect">
            <a:avLst/>
          </a:prstGeom>
          <a:solidFill>
            <a:sysClr val="window" lastClr="FFFFFF"/>
          </a:solidFill>
          <a:ln w="9525">
            <a:noFill/>
            <a:miter lim="800000"/>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cs typeface="Arial" charset="0"/>
            </a:endParaRPr>
          </a:p>
        </p:txBody>
      </p:sp>
      <p:grpSp>
        <p:nvGrpSpPr>
          <p:cNvPr id="204" name="Group 22">
            <a:extLst>
              <a:ext uri="{FF2B5EF4-FFF2-40B4-BE49-F238E27FC236}">
                <a16:creationId xmlns:a16="http://schemas.microsoft.com/office/drawing/2014/main" id="{5C6BB523-B737-4746-9513-5E9131CBFAFA}"/>
              </a:ext>
            </a:extLst>
          </p:cNvPr>
          <p:cNvGrpSpPr>
            <a:grpSpLocks/>
          </p:cNvGrpSpPr>
          <p:nvPr/>
        </p:nvGrpSpPr>
        <p:grpSpPr bwMode="auto">
          <a:xfrm>
            <a:off x="4673600" y="1461171"/>
            <a:ext cx="2057400" cy="838200"/>
            <a:chOff x="3024" y="240"/>
            <a:chExt cx="1296" cy="528"/>
          </a:xfrm>
        </p:grpSpPr>
        <p:sp>
          <p:nvSpPr>
            <p:cNvPr id="205" name="Text Box 20">
              <a:extLst>
                <a:ext uri="{FF2B5EF4-FFF2-40B4-BE49-F238E27FC236}">
                  <a16:creationId xmlns:a16="http://schemas.microsoft.com/office/drawing/2014/main" id="{21883473-2199-441F-8EE8-2E35EA2B51D1}"/>
                </a:ext>
              </a:extLst>
            </p:cNvPr>
            <p:cNvSpPr txBox="1">
              <a:spLocks noChangeArrowheads="1"/>
            </p:cNvSpPr>
            <p:nvPr/>
          </p:nvSpPr>
          <p:spPr bwMode="auto">
            <a:xfrm>
              <a:off x="3216" y="240"/>
              <a:ext cx="1104" cy="327"/>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800" b="0" i="0" u="none" strike="noStrike" kern="0" cap="none" spc="0" normalizeH="0" baseline="0" noProof="0">
                  <a:ln>
                    <a:noFill/>
                  </a:ln>
                  <a:solidFill>
                    <a:srgbClr val="F82F1A"/>
                  </a:solidFill>
                  <a:effectLst/>
                  <a:uLnTx/>
                  <a:uFillTx/>
                  <a:latin typeface="Times New Roman" pitchFamily="18" charset="0"/>
                  <a:cs typeface="Arial" charset="0"/>
                </a:rPr>
                <a:t>root </a:t>
              </a:r>
            </a:p>
          </p:txBody>
        </p:sp>
        <p:sp>
          <p:nvSpPr>
            <p:cNvPr id="206" name="Line 21">
              <a:extLst>
                <a:ext uri="{FF2B5EF4-FFF2-40B4-BE49-F238E27FC236}">
                  <a16:creationId xmlns:a16="http://schemas.microsoft.com/office/drawing/2014/main" id="{98233C02-E193-41E7-8608-9604EFC4622D}"/>
                </a:ext>
              </a:extLst>
            </p:cNvPr>
            <p:cNvSpPr>
              <a:spLocks noChangeShapeType="1"/>
            </p:cNvSpPr>
            <p:nvPr/>
          </p:nvSpPr>
          <p:spPr bwMode="auto">
            <a:xfrm flipH="1">
              <a:off x="3024" y="480"/>
              <a:ext cx="240" cy="288"/>
            </a:xfrm>
            <a:prstGeom prst="line">
              <a:avLst/>
            </a:prstGeom>
            <a:noFill/>
            <a:ln w="9525">
              <a:solidFill>
                <a:sysClr val="windowText" lastClr="000000"/>
              </a:solidFill>
              <a:round/>
              <a:headEnd/>
              <a:tailEnd type="triangle" w="med" len="me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grpSp>
      <p:grpSp>
        <p:nvGrpSpPr>
          <p:cNvPr id="207" name="Group 32">
            <a:extLst>
              <a:ext uri="{FF2B5EF4-FFF2-40B4-BE49-F238E27FC236}">
                <a16:creationId xmlns:a16="http://schemas.microsoft.com/office/drawing/2014/main" id="{88A6F3D5-E25E-4751-ABFF-88CCABDFC525}"/>
              </a:ext>
            </a:extLst>
          </p:cNvPr>
          <p:cNvGrpSpPr>
            <a:grpSpLocks/>
          </p:cNvGrpSpPr>
          <p:nvPr/>
        </p:nvGrpSpPr>
        <p:grpSpPr bwMode="auto">
          <a:xfrm>
            <a:off x="1778000" y="1994571"/>
            <a:ext cx="5410200" cy="4176713"/>
            <a:chOff x="1104" y="624"/>
            <a:chExt cx="3408" cy="2631"/>
          </a:xfrm>
        </p:grpSpPr>
        <p:grpSp>
          <p:nvGrpSpPr>
            <p:cNvPr id="208" name="Group 19">
              <a:extLst>
                <a:ext uri="{FF2B5EF4-FFF2-40B4-BE49-F238E27FC236}">
                  <a16:creationId xmlns:a16="http://schemas.microsoft.com/office/drawing/2014/main" id="{BDDD3E7D-BB97-42FD-B6DA-849D4BB271E1}"/>
                </a:ext>
              </a:extLst>
            </p:cNvPr>
            <p:cNvGrpSpPr>
              <a:grpSpLocks/>
            </p:cNvGrpSpPr>
            <p:nvPr/>
          </p:nvGrpSpPr>
          <p:grpSpPr bwMode="auto">
            <a:xfrm>
              <a:off x="1296" y="816"/>
              <a:ext cx="3216" cy="2352"/>
              <a:chOff x="1296" y="816"/>
              <a:chExt cx="3216" cy="2352"/>
            </a:xfrm>
          </p:grpSpPr>
          <p:sp>
            <p:nvSpPr>
              <p:cNvPr id="218" name="Oval 2">
                <a:extLst>
                  <a:ext uri="{FF2B5EF4-FFF2-40B4-BE49-F238E27FC236}">
                    <a16:creationId xmlns:a16="http://schemas.microsoft.com/office/drawing/2014/main" id="{91B798E2-F2A0-4D2B-BB6A-DFF75D887FF1}"/>
                  </a:ext>
                </a:extLst>
              </p:cNvPr>
              <p:cNvSpPr>
                <a:spLocks noChangeArrowheads="1"/>
              </p:cNvSpPr>
              <p:nvPr/>
            </p:nvSpPr>
            <p:spPr bwMode="auto">
              <a:xfrm>
                <a:off x="2880" y="816"/>
                <a:ext cx="96" cy="96"/>
              </a:xfrm>
              <a:prstGeom prst="ellipse">
                <a:avLst/>
              </a:prstGeom>
              <a:solidFill>
                <a:sysClr val="windowText" lastClr="000000"/>
              </a:solid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cs typeface="Arial" charset="0"/>
                </a:endParaRPr>
              </a:p>
            </p:txBody>
          </p:sp>
          <p:sp>
            <p:nvSpPr>
              <p:cNvPr id="219" name="Oval 3">
                <a:extLst>
                  <a:ext uri="{FF2B5EF4-FFF2-40B4-BE49-F238E27FC236}">
                    <a16:creationId xmlns:a16="http://schemas.microsoft.com/office/drawing/2014/main" id="{B38EA609-811A-44CC-B490-21048BA25D35}"/>
                  </a:ext>
                </a:extLst>
              </p:cNvPr>
              <p:cNvSpPr>
                <a:spLocks noChangeArrowheads="1"/>
              </p:cNvSpPr>
              <p:nvPr/>
            </p:nvSpPr>
            <p:spPr bwMode="auto">
              <a:xfrm>
                <a:off x="1872" y="1536"/>
                <a:ext cx="96" cy="96"/>
              </a:xfrm>
              <a:prstGeom prst="ellipse">
                <a:avLst/>
              </a:prstGeom>
              <a:solidFill>
                <a:sysClr val="windowText" lastClr="000000"/>
              </a:solid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cs typeface="Arial" charset="0"/>
                </a:endParaRPr>
              </a:p>
            </p:txBody>
          </p:sp>
          <p:sp>
            <p:nvSpPr>
              <p:cNvPr id="220" name="Oval 4">
                <a:extLst>
                  <a:ext uri="{FF2B5EF4-FFF2-40B4-BE49-F238E27FC236}">
                    <a16:creationId xmlns:a16="http://schemas.microsoft.com/office/drawing/2014/main" id="{876C8A1A-1C6F-47D8-B22F-EE35079C03DB}"/>
                  </a:ext>
                </a:extLst>
              </p:cNvPr>
              <p:cNvSpPr>
                <a:spLocks noChangeArrowheads="1"/>
              </p:cNvSpPr>
              <p:nvPr/>
            </p:nvSpPr>
            <p:spPr bwMode="auto">
              <a:xfrm>
                <a:off x="1296" y="2352"/>
                <a:ext cx="96" cy="96"/>
              </a:xfrm>
              <a:prstGeom prst="ellipse">
                <a:avLst/>
              </a:prstGeom>
              <a:solidFill>
                <a:sysClr val="windowText" lastClr="000000"/>
              </a:solid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cs typeface="Arial" charset="0"/>
                </a:endParaRPr>
              </a:p>
            </p:txBody>
          </p:sp>
          <p:sp>
            <p:nvSpPr>
              <p:cNvPr id="221" name="Oval 5">
                <a:extLst>
                  <a:ext uri="{FF2B5EF4-FFF2-40B4-BE49-F238E27FC236}">
                    <a16:creationId xmlns:a16="http://schemas.microsoft.com/office/drawing/2014/main" id="{5DD43A2D-0EFD-4451-A0F6-6738850A2FCF}"/>
                  </a:ext>
                </a:extLst>
              </p:cNvPr>
              <p:cNvSpPr>
                <a:spLocks noChangeArrowheads="1"/>
              </p:cNvSpPr>
              <p:nvPr/>
            </p:nvSpPr>
            <p:spPr bwMode="auto">
              <a:xfrm>
                <a:off x="3792" y="1536"/>
                <a:ext cx="96" cy="96"/>
              </a:xfrm>
              <a:prstGeom prst="ellipse">
                <a:avLst/>
              </a:prstGeom>
              <a:solidFill>
                <a:sysClr val="windowText" lastClr="000000"/>
              </a:solid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cs typeface="Arial" charset="0"/>
                </a:endParaRPr>
              </a:p>
            </p:txBody>
          </p:sp>
          <p:sp>
            <p:nvSpPr>
              <p:cNvPr id="222" name="Oval 6">
                <a:extLst>
                  <a:ext uri="{FF2B5EF4-FFF2-40B4-BE49-F238E27FC236}">
                    <a16:creationId xmlns:a16="http://schemas.microsoft.com/office/drawing/2014/main" id="{77F96AE7-6F68-40C6-BD81-0C73647D8B64}"/>
                  </a:ext>
                </a:extLst>
              </p:cNvPr>
              <p:cNvSpPr>
                <a:spLocks noChangeArrowheads="1"/>
              </p:cNvSpPr>
              <p:nvPr/>
            </p:nvSpPr>
            <p:spPr bwMode="auto">
              <a:xfrm>
                <a:off x="2448" y="2352"/>
                <a:ext cx="96" cy="96"/>
              </a:xfrm>
              <a:prstGeom prst="ellipse">
                <a:avLst/>
              </a:prstGeom>
              <a:solidFill>
                <a:sysClr val="windowText" lastClr="000000"/>
              </a:solid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cs typeface="Arial" charset="0"/>
                </a:endParaRPr>
              </a:p>
            </p:txBody>
          </p:sp>
          <p:sp>
            <p:nvSpPr>
              <p:cNvPr id="223" name="Oval 7">
                <a:extLst>
                  <a:ext uri="{FF2B5EF4-FFF2-40B4-BE49-F238E27FC236}">
                    <a16:creationId xmlns:a16="http://schemas.microsoft.com/office/drawing/2014/main" id="{D7FEE8AF-6E4A-4F24-AE7F-FEE5447D1885}"/>
                  </a:ext>
                </a:extLst>
              </p:cNvPr>
              <p:cNvSpPr>
                <a:spLocks noChangeArrowheads="1"/>
              </p:cNvSpPr>
              <p:nvPr/>
            </p:nvSpPr>
            <p:spPr bwMode="auto">
              <a:xfrm>
                <a:off x="3264" y="2352"/>
                <a:ext cx="96" cy="96"/>
              </a:xfrm>
              <a:prstGeom prst="ellipse">
                <a:avLst/>
              </a:prstGeom>
              <a:solidFill>
                <a:sysClr val="windowText" lastClr="000000"/>
              </a:solid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cs typeface="Arial" charset="0"/>
                </a:endParaRPr>
              </a:p>
            </p:txBody>
          </p:sp>
          <p:sp>
            <p:nvSpPr>
              <p:cNvPr id="224" name="Oval 8">
                <a:extLst>
                  <a:ext uri="{FF2B5EF4-FFF2-40B4-BE49-F238E27FC236}">
                    <a16:creationId xmlns:a16="http://schemas.microsoft.com/office/drawing/2014/main" id="{EAABBA08-28E1-4697-B35F-77A729B215B3}"/>
                  </a:ext>
                </a:extLst>
              </p:cNvPr>
              <p:cNvSpPr>
                <a:spLocks noChangeArrowheads="1"/>
              </p:cNvSpPr>
              <p:nvPr/>
            </p:nvSpPr>
            <p:spPr bwMode="auto">
              <a:xfrm>
                <a:off x="4416" y="2352"/>
                <a:ext cx="96" cy="96"/>
              </a:xfrm>
              <a:prstGeom prst="ellipse">
                <a:avLst/>
              </a:prstGeom>
              <a:solidFill>
                <a:sysClr val="windowText" lastClr="000000"/>
              </a:solid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cs typeface="Arial" charset="0"/>
                </a:endParaRPr>
              </a:p>
            </p:txBody>
          </p:sp>
          <p:sp>
            <p:nvSpPr>
              <p:cNvPr id="225" name="Line 9">
                <a:extLst>
                  <a:ext uri="{FF2B5EF4-FFF2-40B4-BE49-F238E27FC236}">
                    <a16:creationId xmlns:a16="http://schemas.microsoft.com/office/drawing/2014/main" id="{F4D54D44-BD2E-4E56-BAD2-FB6E152B94DD}"/>
                  </a:ext>
                </a:extLst>
              </p:cNvPr>
              <p:cNvSpPr>
                <a:spLocks noChangeShapeType="1"/>
              </p:cNvSpPr>
              <p:nvPr/>
            </p:nvSpPr>
            <p:spPr bwMode="auto">
              <a:xfrm flipV="1">
                <a:off x="1920" y="864"/>
                <a:ext cx="1008" cy="720"/>
              </a:xfrm>
              <a:prstGeom prst="line">
                <a:avLst/>
              </a:prstGeom>
              <a:no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sp>
            <p:nvSpPr>
              <p:cNvPr id="226" name="Line 10">
                <a:extLst>
                  <a:ext uri="{FF2B5EF4-FFF2-40B4-BE49-F238E27FC236}">
                    <a16:creationId xmlns:a16="http://schemas.microsoft.com/office/drawing/2014/main" id="{73655E66-2920-4118-87F3-D4EF76A24288}"/>
                  </a:ext>
                </a:extLst>
              </p:cNvPr>
              <p:cNvSpPr>
                <a:spLocks noChangeShapeType="1"/>
              </p:cNvSpPr>
              <p:nvPr/>
            </p:nvSpPr>
            <p:spPr bwMode="auto">
              <a:xfrm>
                <a:off x="2928" y="864"/>
                <a:ext cx="912" cy="720"/>
              </a:xfrm>
              <a:prstGeom prst="line">
                <a:avLst/>
              </a:prstGeom>
              <a:no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sp>
            <p:nvSpPr>
              <p:cNvPr id="227" name="Line 11">
                <a:extLst>
                  <a:ext uri="{FF2B5EF4-FFF2-40B4-BE49-F238E27FC236}">
                    <a16:creationId xmlns:a16="http://schemas.microsoft.com/office/drawing/2014/main" id="{7DB05F26-B107-4AF9-B674-BD3790B8731E}"/>
                  </a:ext>
                </a:extLst>
              </p:cNvPr>
              <p:cNvSpPr>
                <a:spLocks noChangeShapeType="1"/>
              </p:cNvSpPr>
              <p:nvPr/>
            </p:nvSpPr>
            <p:spPr bwMode="auto">
              <a:xfrm flipV="1">
                <a:off x="1344" y="1584"/>
                <a:ext cx="576" cy="816"/>
              </a:xfrm>
              <a:prstGeom prst="line">
                <a:avLst/>
              </a:prstGeom>
              <a:no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sp>
            <p:nvSpPr>
              <p:cNvPr id="228" name="Line 12">
                <a:extLst>
                  <a:ext uri="{FF2B5EF4-FFF2-40B4-BE49-F238E27FC236}">
                    <a16:creationId xmlns:a16="http://schemas.microsoft.com/office/drawing/2014/main" id="{E91C9439-066F-48FA-A38F-F2DD69CFF5C3}"/>
                  </a:ext>
                </a:extLst>
              </p:cNvPr>
              <p:cNvSpPr>
                <a:spLocks noChangeShapeType="1"/>
              </p:cNvSpPr>
              <p:nvPr/>
            </p:nvSpPr>
            <p:spPr bwMode="auto">
              <a:xfrm flipH="1" flipV="1">
                <a:off x="1968" y="1584"/>
                <a:ext cx="528" cy="816"/>
              </a:xfrm>
              <a:prstGeom prst="line">
                <a:avLst/>
              </a:prstGeom>
              <a:no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sp>
            <p:nvSpPr>
              <p:cNvPr id="229" name="Line 13">
                <a:extLst>
                  <a:ext uri="{FF2B5EF4-FFF2-40B4-BE49-F238E27FC236}">
                    <a16:creationId xmlns:a16="http://schemas.microsoft.com/office/drawing/2014/main" id="{AD9E904D-36E5-4FB1-94A3-DE09C5A8C5EF}"/>
                  </a:ext>
                </a:extLst>
              </p:cNvPr>
              <p:cNvSpPr>
                <a:spLocks noChangeShapeType="1"/>
              </p:cNvSpPr>
              <p:nvPr/>
            </p:nvSpPr>
            <p:spPr bwMode="auto">
              <a:xfrm flipV="1">
                <a:off x="3312" y="1584"/>
                <a:ext cx="528" cy="816"/>
              </a:xfrm>
              <a:prstGeom prst="line">
                <a:avLst/>
              </a:prstGeom>
              <a:no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sp>
            <p:nvSpPr>
              <p:cNvPr id="230" name="Line 14">
                <a:extLst>
                  <a:ext uri="{FF2B5EF4-FFF2-40B4-BE49-F238E27FC236}">
                    <a16:creationId xmlns:a16="http://schemas.microsoft.com/office/drawing/2014/main" id="{6EF41C12-72BA-4238-BD01-59ECAF6FD36F}"/>
                  </a:ext>
                </a:extLst>
              </p:cNvPr>
              <p:cNvSpPr>
                <a:spLocks noChangeShapeType="1"/>
              </p:cNvSpPr>
              <p:nvPr/>
            </p:nvSpPr>
            <p:spPr bwMode="auto">
              <a:xfrm flipH="1" flipV="1">
                <a:off x="3888" y="1584"/>
                <a:ext cx="576" cy="816"/>
              </a:xfrm>
              <a:prstGeom prst="line">
                <a:avLst/>
              </a:prstGeom>
              <a:no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sp>
            <p:nvSpPr>
              <p:cNvPr id="231" name="Oval 15">
                <a:extLst>
                  <a:ext uri="{FF2B5EF4-FFF2-40B4-BE49-F238E27FC236}">
                    <a16:creationId xmlns:a16="http://schemas.microsoft.com/office/drawing/2014/main" id="{56843575-35BF-4521-B94B-670EED4C75F5}"/>
                  </a:ext>
                </a:extLst>
              </p:cNvPr>
              <p:cNvSpPr>
                <a:spLocks noChangeArrowheads="1"/>
              </p:cNvSpPr>
              <p:nvPr/>
            </p:nvSpPr>
            <p:spPr bwMode="auto">
              <a:xfrm>
                <a:off x="2112" y="3072"/>
                <a:ext cx="96" cy="96"/>
              </a:xfrm>
              <a:prstGeom prst="ellipse">
                <a:avLst/>
              </a:prstGeom>
              <a:solidFill>
                <a:sysClr val="windowText" lastClr="000000"/>
              </a:solid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cs typeface="Arial" charset="0"/>
                </a:endParaRPr>
              </a:p>
            </p:txBody>
          </p:sp>
          <p:sp>
            <p:nvSpPr>
              <p:cNvPr id="232" name="Oval 16">
                <a:extLst>
                  <a:ext uri="{FF2B5EF4-FFF2-40B4-BE49-F238E27FC236}">
                    <a16:creationId xmlns:a16="http://schemas.microsoft.com/office/drawing/2014/main" id="{778DF09E-6F08-43F6-AD6D-BF965296D1DE}"/>
                  </a:ext>
                </a:extLst>
              </p:cNvPr>
              <p:cNvSpPr>
                <a:spLocks noChangeArrowheads="1"/>
              </p:cNvSpPr>
              <p:nvPr/>
            </p:nvSpPr>
            <p:spPr bwMode="auto">
              <a:xfrm>
                <a:off x="2736" y="3072"/>
                <a:ext cx="96" cy="96"/>
              </a:xfrm>
              <a:prstGeom prst="ellipse">
                <a:avLst/>
              </a:prstGeom>
              <a:solidFill>
                <a:sysClr val="windowText" lastClr="000000"/>
              </a:solid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cs typeface="Arial" charset="0"/>
                </a:endParaRPr>
              </a:p>
            </p:txBody>
          </p:sp>
          <p:sp>
            <p:nvSpPr>
              <p:cNvPr id="233" name="Line 17">
                <a:extLst>
                  <a:ext uri="{FF2B5EF4-FFF2-40B4-BE49-F238E27FC236}">
                    <a16:creationId xmlns:a16="http://schemas.microsoft.com/office/drawing/2014/main" id="{F249DD6A-47DC-4601-868B-739F9A60633D}"/>
                  </a:ext>
                </a:extLst>
              </p:cNvPr>
              <p:cNvSpPr>
                <a:spLocks noChangeShapeType="1"/>
              </p:cNvSpPr>
              <p:nvPr/>
            </p:nvSpPr>
            <p:spPr bwMode="auto">
              <a:xfrm flipV="1">
                <a:off x="2160" y="2400"/>
                <a:ext cx="336" cy="720"/>
              </a:xfrm>
              <a:prstGeom prst="line">
                <a:avLst/>
              </a:prstGeom>
              <a:no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sp>
            <p:nvSpPr>
              <p:cNvPr id="234" name="Line 18">
                <a:extLst>
                  <a:ext uri="{FF2B5EF4-FFF2-40B4-BE49-F238E27FC236}">
                    <a16:creationId xmlns:a16="http://schemas.microsoft.com/office/drawing/2014/main" id="{DD8E072B-568D-4624-B02B-6E3B6CE02778}"/>
                  </a:ext>
                </a:extLst>
              </p:cNvPr>
              <p:cNvSpPr>
                <a:spLocks noChangeShapeType="1"/>
              </p:cNvSpPr>
              <p:nvPr/>
            </p:nvSpPr>
            <p:spPr bwMode="auto">
              <a:xfrm flipH="1" flipV="1">
                <a:off x="2496" y="2400"/>
                <a:ext cx="288" cy="720"/>
              </a:xfrm>
              <a:prstGeom prst="line">
                <a:avLst/>
              </a:prstGeom>
              <a:noFill/>
              <a:ln w="9525">
                <a:solidFill>
                  <a:sysClr val="windowText" lastClr="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grpSp>
        <p:sp>
          <p:nvSpPr>
            <p:cNvPr id="209" name="Text Box 23">
              <a:extLst>
                <a:ext uri="{FF2B5EF4-FFF2-40B4-BE49-F238E27FC236}">
                  <a16:creationId xmlns:a16="http://schemas.microsoft.com/office/drawing/2014/main" id="{A9EC1378-113D-46F5-A92D-1960365D1CBE}"/>
                </a:ext>
              </a:extLst>
            </p:cNvPr>
            <p:cNvSpPr txBox="1">
              <a:spLocks noChangeArrowheads="1"/>
            </p:cNvSpPr>
            <p:nvPr/>
          </p:nvSpPr>
          <p:spPr bwMode="auto">
            <a:xfrm>
              <a:off x="2688" y="624"/>
              <a:ext cx="240" cy="327"/>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800" b="0" i="1" u="none" strike="noStrike" kern="0" cap="none" spc="0" normalizeH="0" baseline="0" noProof="0">
                  <a:ln>
                    <a:noFill/>
                  </a:ln>
                  <a:solidFill>
                    <a:srgbClr val="F82F1A"/>
                  </a:solidFill>
                  <a:effectLst/>
                  <a:uLnTx/>
                  <a:uFillTx/>
                  <a:latin typeface="Times New Roman" pitchFamily="18" charset="0"/>
                  <a:cs typeface="Arial" charset="0"/>
                </a:rPr>
                <a:t>a</a:t>
              </a:r>
              <a:endParaRPr kumimoji="0" lang="en-US" sz="2800" b="0" i="0" u="none" strike="noStrike" kern="0" cap="none" spc="0" normalizeH="0" baseline="0" noProof="0">
                <a:ln>
                  <a:noFill/>
                </a:ln>
                <a:solidFill>
                  <a:srgbClr val="F82F1A"/>
                </a:solidFill>
                <a:effectLst/>
                <a:uLnTx/>
                <a:uFillTx/>
                <a:latin typeface="Times New Roman" pitchFamily="18" charset="0"/>
                <a:cs typeface="Arial" charset="0"/>
              </a:endParaRPr>
            </a:p>
          </p:txBody>
        </p:sp>
        <p:sp>
          <p:nvSpPr>
            <p:cNvPr id="210" name="Text Box 24">
              <a:extLst>
                <a:ext uri="{FF2B5EF4-FFF2-40B4-BE49-F238E27FC236}">
                  <a16:creationId xmlns:a16="http://schemas.microsoft.com/office/drawing/2014/main" id="{9B41B485-680C-4357-9B9C-6567679B25F6}"/>
                </a:ext>
              </a:extLst>
            </p:cNvPr>
            <p:cNvSpPr txBox="1">
              <a:spLocks noChangeArrowheads="1"/>
            </p:cNvSpPr>
            <p:nvPr/>
          </p:nvSpPr>
          <p:spPr bwMode="auto">
            <a:xfrm>
              <a:off x="1632" y="1344"/>
              <a:ext cx="240" cy="327"/>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800" b="0" i="1" u="none" strike="noStrike" kern="0" cap="none" spc="0" normalizeH="0" baseline="0" noProof="0">
                  <a:ln>
                    <a:noFill/>
                  </a:ln>
                  <a:solidFill>
                    <a:srgbClr val="F82F1A"/>
                  </a:solidFill>
                  <a:effectLst/>
                  <a:uLnTx/>
                  <a:uFillTx/>
                  <a:latin typeface="Times New Roman" pitchFamily="18" charset="0"/>
                  <a:cs typeface="Arial" charset="0"/>
                </a:rPr>
                <a:t>b</a:t>
              </a:r>
              <a:endParaRPr kumimoji="0" lang="en-US" sz="2800" b="0" i="0" u="none" strike="noStrike" kern="0" cap="none" spc="0" normalizeH="0" baseline="0" noProof="0">
                <a:ln>
                  <a:noFill/>
                </a:ln>
                <a:solidFill>
                  <a:srgbClr val="F82F1A"/>
                </a:solidFill>
                <a:effectLst/>
                <a:uLnTx/>
                <a:uFillTx/>
                <a:latin typeface="Times New Roman" pitchFamily="18" charset="0"/>
                <a:cs typeface="Arial" charset="0"/>
              </a:endParaRPr>
            </a:p>
          </p:txBody>
        </p:sp>
        <p:sp>
          <p:nvSpPr>
            <p:cNvPr id="211" name="Text Box 25">
              <a:extLst>
                <a:ext uri="{FF2B5EF4-FFF2-40B4-BE49-F238E27FC236}">
                  <a16:creationId xmlns:a16="http://schemas.microsoft.com/office/drawing/2014/main" id="{ACEA1BED-D653-4EBD-80EF-5312A96CD2B9}"/>
                </a:ext>
              </a:extLst>
            </p:cNvPr>
            <p:cNvSpPr txBox="1">
              <a:spLocks noChangeArrowheads="1"/>
            </p:cNvSpPr>
            <p:nvPr/>
          </p:nvSpPr>
          <p:spPr bwMode="auto">
            <a:xfrm>
              <a:off x="3888" y="1296"/>
              <a:ext cx="240" cy="327"/>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800" b="0" i="1" u="none" strike="noStrike" kern="0" cap="none" spc="0" normalizeH="0" baseline="0" noProof="0">
                  <a:ln>
                    <a:noFill/>
                  </a:ln>
                  <a:solidFill>
                    <a:srgbClr val="F82F1A"/>
                  </a:solidFill>
                  <a:effectLst/>
                  <a:uLnTx/>
                  <a:uFillTx/>
                  <a:latin typeface="Times New Roman" pitchFamily="18" charset="0"/>
                  <a:cs typeface="Arial" charset="0"/>
                </a:rPr>
                <a:t>c</a:t>
              </a:r>
              <a:endParaRPr kumimoji="0" lang="en-US" sz="2800" b="0" i="0" u="none" strike="noStrike" kern="0" cap="none" spc="0" normalizeH="0" baseline="0" noProof="0">
                <a:ln>
                  <a:noFill/>
                </a:ln>
                <a:solidFill>
                  <a:srgbClr val="F82F1A"/>
                </a:solidFill>
                <a:effectLst/>
                <a:uLnTx/>
                <a:uFillTx/>
                <a:latin typeface="Times New Roman" pitchFamily="18" charset="0"/>
                <a:cs typeface="Arial" charset="0"/>
              </a:endParaRPr>
            </a:p>
          </p:txBody>
        </p:sp>
        <p:sp>
          <p:nvSpPr>
            <p:cNvPr id="212" name="Text Box 26">
              <a:extLst>
                <a:ext uri="{FF2B5EF4-FFF2-40B4-BE49-F238E27FC236}">
                  <a16:creationId xmlns:a16="http://schemas.microsoft.com/office/drawing/2014/main" id="{2458136F-DCF4-4558-887B-4228F6B8D72A}"/>
                </a:ext>
              </a:extLst>
            </p:cNvPr>
            <p:cNvSpPr txBox="1">
              <a:spLocks noChangeArrowheads="1"/>
            </p:cNvSpPr>
            <p:nvPr/>
          </p:nvSpPr>
          <p:spPr bwMode="auto">
            <a:xfrm>
              <a:off x="1104" y="2160"/>
              <a:ext cx="240" cy="327"/>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800" b="0" i="1" u="none" strike="noStrike" kern="0" cap="none" spc="0" normalizeH="0" baseline="0" noProof="0">
                  <a:ln>
                    <a:noFill/>
                  </a:ln>
                  <a:solidFill>
                    <a:srgbClr val="F82F1A"/>
                  </a:solidFill>
                  <a:effectLst/>
                  <a:uLnTx/>
                  <a:uFillTx/>
                  <a:latin typeface="Times New Roman" pitchFamily="18" charset="0"/>
                  <a:cs typeface="Arial" charset="0"/>
                </a:rPr>
                <a:t>d</a:t>
              </a:r>
              <a:endParaRPr kumimoji="0" lang="en-US" sz="2800" b="0" i="0" u="none" strike="noStrike" kern="0" cap="none" spc="0" normalizeH="0" baseline="0" noProof="0">
                <a:ln>
                  <a:noFill/>
                </a:ln>
                <a:solidFill>
                  <a:srgbClr val="F82F1A"/>
                </a:solidFill>
                <a:effectLst/>
                <a:uLnTx/>
                <a:uFillTx/>
                <a:latin typeface="Times New Roman" pitchFamily="18" charset="0"/>
                <a:cs typeface="Arial" charset="0"/>
              </a:endParaRPr>
            </a:p>
          </p:txBody>
        </p:sp>
        <p:sp>
          <p:nvSpPr>
            <p:cNvPr id="213" name="Text Box 27">
              <a:extLst>
                <a:ext uri="{FF2B5EF4-FFF2-40B4-BE49-F238E27FC236}">
                  <a16:creationId xmlns:a16="http://schemas.microsoft.com/office/drawing/2014/main" id="{D25AD10F-3999-413B-B1AE-EBA7E484C783}"/>
                </a:ext>
              </a:extLst>
            </p:cNvPr>
            <p:cNvSpPr txBox="1">
              <a:spLocks noChangeArrowheads="1"/>
            </p:cNvSpPr>
            <p:nvPr/>
          </p:nvSpPr>
          <p:spPr bwMode="auto">
            <a:xfrm>
              <a:off x="2160" y="2160"/>
              <a:ext cx="240" cy="327"/>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800" b="0" i="1" u="none" strike="noStrike" kern="0" cap="none" spc="0" normalizeH="0" baseline="0" noProof="0">
                  <a:ln>
                    <a:noFill/>
                  </a:ln>
                  <a:solidFill>
                    <a:srgbClr val="F82F1A"/>
                  </a:solidFill>
                  <a:effectLst/>
                  <a:uLnTx/>
                  <a:uFillTx/>
                  <a:latin typeface="Times New Roman" pitchFamily="18" charset="0"/>
                  <a:cs typeface="Arial" charset="0"/>
                </a:rPr>
                <a:t>e</a:t>
              </a:r>
              <a:endParaRPr kumimoji="0" lang="en-US" sz="2800" b="0" i="0" u="none" strike="noStrike" kern="0" cap="none" spc="0" normalizeH="0" baseline="0" noProof="0">
                <a:ln>
                  <a:noFill/>
                </a:ln>
                <a:solidFill>
                  <a:srgbClr val="F82F1A"/>
                </a:solidFill>
                <a:effectLst/>
                <a:uLnTx/>
                <a:uFillTx/>
                <a:latin typeface="Times New Roman" pitchFamily="18" charset="0"/>
                <a:cs typeface="Arial" charset="0"/>
              </a:endParaRPr>
            </a:p>
          </p:txBody>
        </p:sp>
        <p:sp>
          <p:nvSpPr>
            <p:cNvPr id="214" name="Text Box 28">
              <a:extLst>
                <a:ext uri="{FF2B5EF4-FFF2-40B4-BE49-F238E27FC236}">
                  <a16:creationId xmlns:a16="http://schemas.microsoft.com/office/drawing/2014/main" id="{DE9EA815-D26A-46C7-B1F3-46B799CDEF9C}"/>
                </a:ext>
              </a:extLst>
            </p:cNvPr>
            <p:cNvSpPr txBox="1">
              <a:spLocks noChangeArrowheads="1"/>
            </p:cNvSpPr>
            <p:nvPr/>
          </p:nvSpPr>
          <p:spPr bwMode="auto">
            <a:xfrm>
              <a:off x="3024" y="2160"/>
              <a:ext cx="240" cy="327"/>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800" b="0" i="1" u="none" strike="noStrike" kern="0" cap="none" spc="0" normalizeH="0" baseline="0" noProof="0">
                  <a:ln>
                    <a:noFill/>
                  </a:ln>
                  <a:solidFill>
                    <a:srgbClr val="F82F1A"/>
                  </a:solidFill>
                  <a:effectLst/>
                  <a:uLnTx/>
                  <a:uFillTx/>
                  <a:latin typeface="Times New Roman" pitchFamily="18" charset="0"/>
                  <a:cs typeface="Arial" charset="0"/>
                </a:rPr>
                <a:t>f</a:t>
              </a:r>
              <a:endParaRPr kumimoji="0" lang="en-US" sz="2800" b="0" i="0" u="none" strike="noStrike" kern="0" cap="none" spc="0" normalizeH="0" baseline="0" noProof="0">
                <a:ln>
                  <a:noFill/>
                </a:ln>
                <a:solidFill>
                  <a:srgbClr val="F82F1A"/>
                </a:solidFill>
                <a:effectLst/>
                <a:uLnTx/>
                <a:uFillTx/>
                <a:latin typeface="Times New Roman" pitchFamily="18" charset="0"/>
                <a:cs typeface="Arial" charset="0"/>
              </a:endParaRPr>
            </a:p>
          </p:txBody>
        </p:sp>
        <p:sp>
          <p:nvSpPr>
            <p:cNvPr id="215" name="Text Box 29">
              <a:extLst>
                <a:ext uri="{FF2B5EF4-FFF2-40B4-BE49-F238E27FC236}">
                  <a16:creationId xmlns:a16="http://schemas.microsoft.com/office/drawing/2014/main" id="{E5CAEA2F-AB51-4536-B051-238FE203B2E0}"/>
                </a:ext>
              </a:extLst>
            </p:cNvPr>
            <p:cNvSpPr txBox="1">
              <a:spLocks noChangeArrowheads="1"/>
            </p:cNvSpPr>
            <p:nvPr/>
          </p:nvSpPr>
          <p:spPr bwMode="auto">
            <a:xfrm>
              <a:off x="4128" y="2160"/>
              <a:ext cx="240" cy="327"/>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800" b="0" i="1" u="none" strike="noStrike" kern="0" cap="none" spc="0" normalizeH="0" baseline="0" noProof="0">
                  <a:ln>
                    <a:noFill/>
                  </a:ln>
                  <a:solidFill>
                    <a:srgbClr val="F82F1A"/>
                  </a:solidFill>
                  <a:effectLst/>
                  <a:uLnTx/>
                  <a:uFillTx/>
                  <a:latin typeface="Times New Roman" pitchFamily="18" charset="0"/>
                  <a:cs typeface="Arial" charset="0"/>
                </a:rPr>
                <a:t>g</a:t>
              </a:r>
              <a:endParaRPr kumimoji="0" lang="en-US" sz="2800" b="0" i="0" u="none" strike="noStrike" kern="0" cap="none" spc="0" normalizeH="0" baseline="0" noProof="0">
                <a:ln>
                  <a:noFill/>
                </a:ln>
                <a:solidFill>
                  <a:srgbClr val="F82F1A"/>
                </a:solidFill>
                <a:effectLst/>
                <a:uLnTx/>
                <a:uFillTx/>
                <a:latin typeface="Times New Roman" pitchFamily="18" charset="0"/>
                <a:cs typeface="Arial" charset="0"/>
              </a:endParaRPr>
            </a:p>
          </p:txBody>
        </p:sp>
        <p:sp>
          <p:nvSpPr>
            <p:cNvPr id="216" name="Text Box 30">
              <a:extLst>
                <a:ext uri="{FF2B5EF4-FFF2-40B4-BE49-F238E27FC236}">
                  <a16:creationId xmlns:a16="http://schemas.microsoft.com/office/drawing/2014/main" id="{19C25DB0-F7E4-4309-BF8B-EBEFB5C7A905}"/>
                </a:ext>
              </a:extLst>
            </p:cNvPr>
            <p:cNvSpPr txBox="1">
              <a:spLocks noChangeArrowheads="1"/>
            </p:cNvSpPr>
            <p:nvPr/>
          </p:nvSpPr>
          <p:spPr bwMode="auto">
            <a:xfrm>
              <a:off x="1872" y="2928"/>
              <a:ext cx="240" cy="327"/>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800" b="0" i="1" u="none" strike="noStrike" kern="0" cap="none" spc="0" normalizeH="0" baseline="0" noProof="0">
                  <a:ln>
                    <a:noFill/>
                  </a:ln>
                  <a:solidFill>
                    <a:srgbClr val="F82F1A"/>
                  </a:solidFill>
                  <a:effectLst/>
                  <a:uLnTx/>
                  <a:uFillTx/>
                  <a:latin typeface="Times New Roman" pitchFamily="18" charset="0"/>
                  <a:cs typeface="Arial" charset="0"/>
                </a:rPr>
                <a:t>h</a:t>
              </a:r>
              <a:endParaRPr kumimoji="0" lang="en-US" sz="2800" b="0" i="0" u="none" strike="noStrike" kern="0" cap="none" spc="0" normalizeH="0" baseline="0" noProof="0">
                <a:ln>
                  <a:noFill/>
                </a:ln>
                <a:solidFill>
                  <a:srgbClr val="F82F1A"/>
                </a:solidFill>
                <a:effectLst/>
                <a:uLnTx/>
                <a:uFillTx/>
                <a:latin typeface="Times New Roman" pitchFamily="18" charset="0"/>
                <a:cs typeface="Arial" charset="0"/>
              </a:endParaRPr>
            </a:p>
          </p:txBody>
        </p:sp>
        <p:sp>
          <p:nvSpPr>
            <p:cNvPr id="217" name="Text Box 31">
              <a:extLst>
                <a:ext uri="{FF2B5EF4-FFF2-40B4-BE49-F238E27FC236}">
                  <a16:creationId xmlns:a16="http://schemas.microsoft.com/office/drawing/2014/main" id="{BF53A007-A913-4858-914F-D8AE7B9A70E3}"/>
                </a:ext>
              </a:extLst>
            </p:cNvPr>
            <p:cNvSpPr txBox="1">
              <a:spLocks noChangeArrowheads="1"/>
            </p:cNvSpPr>
            <p:nvPr/>
          </p:nvSpPr>
          <p:spPr bwMode="auto">
            <a:xfrm>
              <a:off x="2496" y="2928"/>
              <a:ext cx="240" cy="327"/>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800" b="0" i="1" u="none" strike="noStrike" kern="0" cap="none" spc="0" normalizeH="0" baseline="0" noProof="0">
                  <a:ln>
                    <a:noFill/>
                  </a:ln>
                  <a:solidFill>
                    <a:srgbClr val="F82F1A"/>
                  </a:solidFill>
                  <a:effectLst/>
                  <a:uLnTx/>
                  <a:uFillTx/>
                  <a:latin typeface="Times New Roman" pitchFamily="18" charset="0"/>
                  <a:cs typeface="Arial" charset="0"/>
                </a:rPr>
                <a:t>i</a:t>
              </a:r>
              <a:endParaRPr kumimoji="0" lang="en-US" sz="2800" b="0" i="0" u="none" strike="noStrike" kern="0" cap="none" spc="0" normalizeH="0" baseline="0" noProof="0">
                <a:ln>
                  <a:noFill/>
                </a:ln>
                <a:solidFill>
                  <a:srgbClr val="F82F1A"/>
                </a:solidFill>
                <a:effectLst/>
                <a:uLnTx/>
                <a:uFillTx/>
                <a:latin typeface="Times New Roman" pitchFamily="18" charset="0"/>
                <a:cs typeface="Arial" charset="0"/>
              </a:endParaRPr>
            </a:p>
          </p:txBody>
        </p:sp>
      </p:grpSp>
      <p:grpSp>
        <p:nvGrpSpPr>
          <p:cNvPr id="235" name="Group 35">
            <a:extLst>
              <a:ext uri="{FF2B5EF4-FFF2-40B4-BE49-F238E27FC236}">
                <a16:creationId xmlns:a16="http://schemas.microsoft.com/office/drawing/2014/main" id="{95A68F06-857C-4212-ABEC-4E548CC3FF0B}"/>
              </a:ext>
            </a:extLst>
          </p:cNvPr>
          <p:cNvGrpSpPr>
            <a:grpSpLocks/>
          </p:cNvGrpSpPr>
          <p:nvPr/>
        </p:nvGrpSpPr>
        <p:grpSpPr bwMode="auto">
          <a:xfrm>
            <a:off x="6197600" y="2527971"/>
            <a:ext cx="2514600" cy="838200"/>
            <a:chOff x="3936" y="960"/>
            <a:chExt cx="1296" cy="528"/>
          </a:xfrm>
        </p:grpSpPr>
        <p:sp>
          <p:nvSpPr>
            <p:cNvPr id="236" name="Text Box 33">
              <a:extLst>
                <a:ext uri="{FF2B5EF4-FFF2-40B4-BE49-F238E27FC236}">
                  <a16:creationId xmlns:a16="http://schemas.microsoft.com/office/drawing/2014/main" id="{9607A59F-9244-4697-81F8-C8C81B7B633C}"/>
                </a:ext>
              </a:extLst>
            </p:cNvPr>
            <p:cNvSpPr txBox="1">
              <a:spLocks noChangeArrowheads="1"/>
            </p:cNvSpPr>
            <p:nvPr/>
          </p:nvSpPr>
          <p:spPr bwMode="auto">
            <a:xfrm>
              <a:off x="4080" y="960"/>
              <a:ext cx="1152" cy="291"/>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400" b="0" i="0" u="none" strike="noStrike" kern="0" cap="none" spc="0" normalizeH="0" baseline="0" noProof="0">
                  <a:ln>
                    <a:noFill/>
                  </a:ln>
                  <a:solidFill>
                    <a:srgbClr val="F82F1A"/>
                  </a:solidFill>
                  <a:effectLst/>
                  <a:uLnTx/>
                  <a:uFillTx/>
                  <a:latin typeface="Times New Roman" pitchFamily="18" charset="0"/>
                  <a:cs typeface="Arial" charset="0"/>
                </a:rPr>
                <a:t> parent of </a:t>
              </a:r>
              <a:r>
                <a:rPr kumimoji="0" lang="en-US" sz="2400" b="0" i="1" u="none" strike="noStrike" kern="0" cap="none" spc="0" normalizeH="0" baseline="0" noProof="0">
                  <a:ln>
                    <a:noFill/>
                  </a:ln>
                  <a:solidFill>
                    <a:srgbClr val="F82F1A"/>
                  </a:solidFill>
                  <a:effectLst/>
                  <a:uLnTx/>
                  <a:uFillTx/>
                  <a:latin typeface="Times New Roman" pitchFamily="18" charset="0"/>
                  <a:cs typeface="Arial" charset="0"/>
                </a:rPr>
                <a:t>g &amp; f</a:t>
              </a:r>
              <a:endParaRPr kumimoji="0" lang="en-US" sz="2400" b="0" i="0" u="none" strike="noStrike" kern="0" cap="none" spc="0" normalizeH="0" baseline="0" noProof="0">
                <a:ln>
                  <a:noFill/>
                </a:ln>
                <a:solidFill>
                  <a:srgbClr val="F82F1A"/>
                </a:solidFill>
                <a:effectLst/>
                <a:uLnTx/>
                <a:uFillTx/>
                <a:latin typeface="Times New Roman" pitchFamily="18" charset="0"/>
                <a:cs typeface="Arial" charset="0"/>
              </a:endParaRPr>
            </a:p>
          </p:txBody>
        </p:sp>
        <p:sp>
          <p:nvSpPr>
            <p:cNvPr id="237" name="Line 34">
              <a:extLst>
                <a:ext uri="{FF2B5EF4-FFF2-40B4-BE49-F238E27FC236}">
                  <a16:creationId xmlns:a16="http://schemas.microsoft.com/office/drawing/2014/main" id="{1D1F87BE-C699-49ED-A0BF-9688467C0D33}"/>
                </a:ext>
              </a:extLst>
            </p:cNvPr>
            <p:cNvSpPr>
              <a:spLocks noChangeShapeType="1"/>
            </p:cNvSpPr>
            <p:nvPr/>
          </p:nvSpPr>
          <p:spPr bwMode="auto">
            <a:xfrm flipH="1">
              <a:off x="3936" y="1152"/>
              <a:ext cx="192" cy="336"/>
            </a:xfrm>
            <a:prstGeom prst="line">
              <a:avLst/>
            </a:prstGeom>
            <a:noFill/>
            <a:ln w="9525">
              <a:solidFill>
                <a:sysClr val="windowText" lastClr="000000"/>
              </a:solidFill>
              <a:round/>
              <a:headEnd/>
              <a:tailEnd type="triangle" w="med" len="me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grpSp>
      <p:grpSp>
        <p:nvGrpSpPr>
          <p:cNvPr id="238" name="Group 39">
            <a:extLst>
              <a:ext uri="{FF2B5EF4-FFF2-40B4-BE49-F238E27FC236}">
                <a16:creationId xmlns:a16="http://schemas.microsoft.com/office/drawing/2014/main" id="{064DE09F-77BE-4E06-9A01-9FEF58A5CBA9}"/>
              </a:ext>
            </a:extLst>
          </p:cNvPr>
          <p:cNvGrpSpPr>
            <a:grpSpLocks/>
          </p:cNvGrpSpPr>
          <p:nvPr/>
        </p:nvGrpSpPr>
        <p:grpSpPr bwMode="auto">
          <a:xfrm>
            <a:off x="5283200" y="4966371"/>
            <a:ext cx="1905000" cy="976313"/>
            <a:chOff x="3360" y="2496"/>
            <a:chExt cx="1200" cy="615"/>
          </a:xfrm>
        </p:grpSpPr>
        <p:sp>
          <p:nvSpPr>
            <p:cNvPr id="239" name="Text Box 36">
              <a:extLst>
                <a:ext uri="{FF2B5EF4-FFF2-40B4-BE49-F238E27FC236}">
                  <a16:creationId xmlns:a16="http://schemas.microsoft.com/office/drawing/2014/main" id="{DA4B7C3E-CDF3-4D64-B1A0-34A4ADDD0432}"/>
                </a:ext>
              </a:extLst>
            </p:cNvPr>
            <p:cNvSpPr txBox="1">
              <a:spLocks noChangeArrowheads="1"/>
            </p:cNvSpPr>
            <p:nvPr/>
          </p:nvSpPr>
          <p:spPr bwMode="auto">
            <a:xfrm>
              <a:off x="3504" y="2784"/>
              <a:ext cx="1056" cy="327"/>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800" b="0" i="0" u="none" strike="noStrike" kern="0" cap="none" spc="0" normalizeH="0" baseline="0" noProof="0">
                  <a:ln>
                    <a:noFill/>
                  </a:ln>
                  <a:solidFill>
                    <a:srgbClr val="F82F1A"/>
                  </a:solidFill>
                  <a:effectLst/>
                  <a:uLnTx/>
                  <a:uFillTx/>
                  <a:latin typeface="Times New Roman" pitchFamily="18" charset="0"/>
                  <a:cs typeface="Arial" charset="0"/>
                </a:rPr>
                <a:t>siblings</a:t>
              </a:r>
            </a:p>
          </p:txBody>
        </p:sp>
        <p:sp>
          <p:nvSpPr>
            <p:cNvPr id="240" name="Line 37">
              <a:extLst>
                <a:ext uri="{FF2B5EF4-FFF2-40B4-BE49-F238E27FC236}">
                  <a16:creationId xmlns:a16="http://schemas.microsoft.com/office/drawing/2014/main" id="{9A32C05E-A21A-4598-ABB9-EFD205A2EC8A}"/>
                </a:ext>
              </a:extLst>
            </p:cNvPr>
            <p:cNvSpPr>
              <a:spLocks noChangeShapeType="1"/>
            </p:cNvSpPr>
            <p:nvPr/>
          </p:nvSpPr>
          <p:spPr bwMode="auto">
            <a:xfrm flipH="1" flipV="1">
              <a:off x="3360" y="2496"/>
              <a:ext cx="192" cy="336"/>
            </a:xfrm>
            <a:prstGeom prst="line">
              <a:avLst/>
            </a:prstGeom>
            <a:noFill/>
            <a:ln w="9525">
              <a:solidFill>
                <a:sysClr val="windowText" lastClr="000000"/>
              </a:solidFill>
              <a:round/>
              <a:headEnd/>
              <a:tailEnd type="triangle" w="med" len="me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sp>
          <p:nvSpPr>
            <p:cNvPr id="241" name="Line 38">
              <a:extLst>
                <a:ext uri="{FF2B5EF4-FFF2-40B4-BE49-F238E27FC236}">
                  <a16:creationId xmlns:a16="http://schemas.microsoft.com/office/drawing/2014/main" id="{460CD6B8-0FFE-461D-AB2D-E62DC26BD770}"/>
                </a:ext>
              </a:extLst>
            </p:cNvPr>
            <p:cNvSpPr>
              <a:spLocks noChangeShapeType="1"/>
            </p:cNvSpPr>
            <p:nvPr/>
          </p:nvSpPr>
          <p:spPr bwMode="auto">
            <a:xfrm flipV="1">
              <a:off x="4224" y="2496"/>
              <a:ext cx="240" cy="384"/>
            </a:xfrm>
            <a:prstGeom prst="line">
              <a:avLst/>
            </a:prstGeom>
            <a:noFill/>
            <a:ln w="9525">
              <a:solidFill>
                <a:sysClr val="windowText" lastClr="000000"/>
              </a:solidFill>
              <a:round/>
              <a:headEnd/>
              <a:tailEnd type="triangle" w="med" len="me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grpSp>
      <p:grpSp>
        <p:nvGrpSpPr>
          <p:cNvPr id="242" name="Group 42">
            <a:extLst>
              <a:ext uri="{FF2B5EF4-FFF2-40B4-BE49-F238E27FC236}">
                <a16:creationId xmlns:a16="http://schemas.microsoft.com/office/drawing/2014/main" id="{197E6C5F-1FCA-4945-8B5F-E2EB2A2A0FE9}"/>
              </a:ext>
            </a:extLst>
          </p:cNvPr>
          <p:cNvGrpSpPr>
            <a:grpSpLocks/>
          </p:cNvGrpSpPr>
          <p:nvPr/>
        </p:nvGrpSpPr>
        <p:grpSpPr bwMode="auto">
          <a:xfrm>
            <a:off x="1397000" y="4966371"/>
            <a:ext cx="838200" cy="747713"/>
            <a:chOff x="1008" y="2496"/>
            <a:chExt cx="528" cy="471"/>
          </a:xfrm>
        </p:grpSpPr>
        <p:sp>
          <p:nvSpPr>
            <p:cNvPr id="243" name="Text Box 40">
              <a:extLst>
                <a:ext uri="{FF2B5EF4-FFF2-40B4-BE49-F238E27FC236}">
                  <a16:creationId xmlns:a16="http://schemas.microsoft.com/office/drawing/2014/main" id="{6BF9F07D-5844-4C2A-942C-0E373674FB2A}"/>
                </a:ext>
              </a:extLst>
            </p:cNvPr>
            <p:cNvSpPr txBox="1">
              <a:spLocks noChangeArrowheads="1"/>
            </p:cNvSpPr>
            <p:nvPr/>
          </p:nvSpPr>
          <p:spPr bwMode="auto">
            <a:xfrm>
              <a:off x="1008" y="2640"/>
              <a:ext cx="528" cy="327"/>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800" b="0" i="0" u="none" strike="noStrike" kern="0" cap="none" spc="0" normalizeH="0" baseline="0" noProof="0">
                  <a:ln>
                    <a:noFill/>
                  </a:ln>
                  <a:solidFill>
                    <a:srgbClr val="F82F1A"/>
                  </a:solidFill>
                  <a:effectLst/>
                  <a:uLnTx/>
                  <a:uFillTx/>
                  <a:latin typeface="Times New Roman" pitchFamily="18" charset="0"/>
                  <a:cs typeface="Arial" charset="0"/>
                </a:rPr>
                <a:t>leaf</a:t>
              </a:r>
            </a:p>
          </p:txBody>
        </p:sp>
        <p:sp>
          <p:nvSpPr>
            <p:cNvPr id="244" name="Line 41">
              <a:extLst>
                <a:ext uri="{FF2B5EF4-FFF2-40B4-BE49-F238E27FC236}">
                  <a16:creationId xmlns:a16="http://schemas.microsoft.com/office/drawing/2014/main" id="{F5064B80-275B-4F5C-A1E9-57B2CBF1F4D0}"/>
                </a:ext>
              </a:extLst>
            </p:cNvPr>
            <p:cNvSpPr>
              <a:spLocks noChangeShapeType="1"/>
            </p:cNvSpPr>
            <p:nvPr/>
          </p:nvSpPr>
          <p:spPr bwMode="auto">
            <a:xfrm flipV="1">
              <a:off x="1104" y="2496"/>
              <a:ext cx="192" cy="144"/>
            </a:xfrm>
            <a:prstGeom prst="line">
              <a:avLst/>
            </a:prstGeom>
            <a:noFill/>
            <a:ln w="9525">
              <a:solidFill>
                <a:sysClr val="windowText" lastClr="000000"/>
              </a:solidFill>
              <a:round/>
              <a:headEnd/>
              <a:tailEnd type="triangle" w="med" len="me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grpSp>
      <p:grpSp>
        <p:nvGrpSpPr>
          <p:cNvPr id="245" name="Group 46">
            <a:extLst>
              <a:ext uri="{FF2B5EF4-FFF2-40B4-BE49-F238E27FC236}">
                <a16:creationId xmlns:a16="http://schemas.microsoft.com/office/drawing/2014/main" id="{02ACEF23-5B73-4262-B0BE-6BEA822CA68C}"/>
              </a:ext>
            </a:extLst>
          </p:cNvPr>
          <p:cNvGrpSpPr>
            <a:grpSpLocks/>
          </p:cNvGrpSpPr>
          <p:nvPr/>
        </p:nvGrpSpPr>
        <p:grpSpPr bwMode="auto">
          <a:xfrm>
            <a:off x="939800" y="2527971"/>
            <a:ext cx="2438400" cy="838200"/>
            <a:chOff x="624" y="960"/>
            <a:chExt cx="1536" cy="528"/>
          </a:xfrm>
        </p:grpSpPr>
        <p:sp>
          <p:nvSpPr>
            <p:cNvPr id="246" name="Text Box 44">
              <a:extLst>
                <a:ext uri="{FF2B5EF4-FFF2-40B4-BE49-F238E27FC236}">
                  <a16:creationId xmlns:a16="http://schemas.microsoft.com/office/drawing/2014/main" id="{DBA3DA27-1214-4E7A-812F-138079C5A4A8}"/>
                </a:ext>
              </a:extLst>
            </p:cNvPr>
            <p:cNvSpPr txBox="1">
              <a:spLocks noChangeArrowheads="1"/>
            </p:cNvSpPr>
            <p:nvPr/>
          </p:nvSpPr>
          <p:spPr bwMode="auto">
            <a:xfrm>
              <a:off x="624" y="960"/>
              <a:ext cx="1536" cy="327"/>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800" b="0" i="0" u="none" strike="noStrike" kern="0" cap="none" spc="0" normalizeH="0" baseline="0" noProof="0">
                  <a:ln>
                    <a:noFill/>
                  </a:ln>
                  <a:solidFill>
                    <a:srgbClr val="F82F1A"/>
                  </a:solidFill>
                  <a:effectLst/>
                  <a:uLnTx/>
                  <a:uFillTx/>
                  <a:latin typeface="Times New Roman" pitchFamily="18" charset="0"/>
                  <a:cs typeface="Arial" charset="0"/>
                </a:rPr>
                <a:t>internal vertex</a:t>
              </a:r>
            </a:p>
          </p:txBody>
        </p:sp>
        <p:sp>
          <p:nvSpPr>
            <p:cNvPr id="247" name="Line 45">
              <a:extLst>
                <a:ext uri="{FF2B5EF4-FFF2-40B4-BE49-F238E27FC236}">
                  <a16:creationId xmlns:a16="http://schemas.microsoft.com/office/drawing/2014/main" id="{7D67CFDC-0288-4CF4-8E8A-4C8A8ECE51A5}"/>
                </a:ext>
              </a:extLst>
            </p:cNvPr>
            <p:cNvSpPr>
              <a:spLocks noChangeShapeType="1"/>
            </p:cNvSpPr>
            <p:nvPr/>
          </p:nvSpPr>
          <p:spPr bwMode="auto">
            <a:xfrm>
              <a:off x="1776" y="1248"/>
              <a:ext cx="144" cy="240"/>
            </a:xfrm>
            <a:prstGeom prst="line">
              <a:avLst/>
            </a:prstGeom>
            <a:noFill/>
            <a:ln w="9525">
              <a:solidFill>
                <a:sysClr val="windowText" lastClr="000000"/>
              </a:solidFill>
              <a:round/>
              <a:headEnd/>
              <a:tailEnd type="triangle" w="med" len="me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grpSp>
      <p:sp>
        <p:nvSpPr>
          <p:cNvPr id="248" name="Rectangle 47">
            <a:extLst>
              <a:ext uri="{FF2B5EF4-FFF2-40B4-BE49-F238E27FC236}">
                <a16:creationId xmlns:a16="http://schemas.microsoft.com/office/drawing/2014/main" id="{30D38716-8833-49C2-9246-6589BF9B35F3}"/>
              </a:ext>
            </a:extLst>
          </p:cNvPr>
          <p:cNvSpPr>
            <a:spLocks noChangeArrowheads="1"/>
          </p:cNvSpPr>
          <p:nvPr/>
        </p:nvSpPr>
        <p:spPr bwMode="auto">
          <a:xfrm>
            <a:off x="406400" y="2527971"/>
            <a:ext cx="457200" cy="381000"/>
          </a:xfrm>
          <a:prstGeom prst="rect">
            <a:avLst/>
          </a:prstGeom>
          <a:solidFill>
            <a:sysClr val="window" lastClr="FFFFFF"/>
          </a:solidFill>
          <a:ln w="9525">
            <a:noFill/>
            <a:miter lim="800000"/>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cs typeface="Arial" charset="0"/>
            </a:endParaRPr>
          </a:p>
        </p:txBody>
      </p:sp>
      <p:sp>
        <p:nvSpPr>
          <p:cNvPr id="250" name="Text Box 33">
            <a:extLst>
              <a:ext uri="{FF2B5EF4-FFF2-40B4-BE49-F238E27FC236}">
                <a16:creationId xmlns:a16="http://schemas.microsoft.com/office/drawing/2014/main" id="{F8FC2B34-816C-4B28-80E2-B15013923C6E}"/>
              </a:ext>
            </a:extLst>
          </p:cNvPr>
          <p:cNvSpPr txBox="1">
            <a:spLocks noChangeArrowheads="1"/>
          </p:cNvSpPr>
          <p:nvPr/>
        </p:nvSpPr>
        <p:spPr bwMode="auto">
          <a:xfrm>
            <a:off x="7391400" y="3975771"/>
            <a:ext cx="2235200" cy="461963"/>
          </a:xfrm>
          <a:prstGeom prst="rect">
            <a:avLst/>
          </a:prstGeom>
          <a:noFill/>
          <a:ln w="9525">
            <a:noFill/>
            <a:miter lim="800000"/>
            <a:headEnd/>
            <a:tailEnd/>
          </a:ln>
        </p:spPr>
        <p:txBody>
          <a:bodyPr>
            <a:spAutoFit/>
          </a:bodyPr>
          <a:lstStyle/>
          <a:p>
            <a:pPr fontAlgn="base">
              <a:spcBef>
                <a:spcPct val="50000"/>
              </a:spcBef>
              <a:spcAft>
                <a:spcPct val="0"/>
              </a:spcAft>
            </a:pPr>
            <a:r>
              <a:rPr lang="en-US" sz="2400">
                <a:solidFill>
                  <a:srgbClr val="F82F1A"/>
                </a:solidFill>
                <a:latin typeface="Times New Roman" pitchFamily="18" charset="0"/>
                <a:cs typeface="Arial" charset="0"/>
              </a:rPr>
              <a:t> child of </a:t>
            </a:r>
            <a:r>
              <a:rPr lang="en-US" sz="2400" i="1">
                <a:solidFill>
                  <a:srgbClr val="F82F1A"/>
                </a:solidFill>
                <a:latin typeface="Times New Roman" pitchFamily="18" charset="0"/>
                <a:cs typeface="Arial" charset="0"/>
              </a:rPr>
              <a:t>c</a:t>
            </a:r>
            <a:endParaRPr lang="en-US" sz="2400">
              <a:solidFill>
                <a:srgbClr val="F82F1A"/>
              </a:solidFill>
              <a:latin typeface="Times New Roman" pitchFamily="18" charset="0"/>
              <a:cs typeface="Arial" charset="0"/>
            </a:endParaRPr>
          </a:p>
        </p:txBody>
      </p:sp>
      <p:sp>
        <p:nvSpPr>
          <p:cNvPr id="251" name="Line 21">
            <a:extLst>
              <a:ext uri="{FF2B5EF4-FFF2-40B4-BE49-F238E27FC236}">
                <a16:creationId xmlns:a16="http://schemas.microsoft.com/office/drawing/2014/main" id="{11A1BC98-C670-48BC-81F3-D1D99BF751C7}"/>
              </a:ext>
            </a:extLst>
          </p:cNvPr>
          <p:cNvSpPr>
            <a:spLocks noChangeShapeType="1"/>
          </p:cNvSpPr>
          <p:nvPr/>
        </p:nvSpPr>
        <p:spPr bwMode="auto">
          <a:xfrm flipH="1">
            <a:off x="7188200" y="4280571"/>
            <a:ext cx="304800" cy="381000"/>
          </a:xfrm>
          <a:prstGeom prst="line">
            <a:avLst/>
          </a:prstGeom>
          <a:noFill/>
          <a:ln w="9525">
            <a:solidFill>
              <a:sysClr val="windowText" lastClr="000000"/>
            </a:solidFill>
            <a:round/>
            <a:headEnd/>
            <a:tailEnd type="triangle" w="med" len="me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sp>
        <p:nvSpPr>
          <p:cNvPr id="252" name="Slide Number Placeholder 2">
            <a:extLst>
              <a:ext uri="{FF2B5EF4-FFF2-40B4-BE49-F238E27FC236}">
                <a16:creationId xmlns:a16="http://schemas.microsoft.com/office/drawing/2014/main" id="{F4AFC0A7-74EF-4EFE-A708-04BFAA3EE29A}"/>
              </a:ext>
            </a:extLst>
          </p:cNvPr>
          <p:cNvSpPr txBox="1">
            <a:spLocks/>
          </p:cNvSpPr>
          <p:nvPr/>
        </p:nvSpPr>
        <p:spPr>
          <a:xfrm>
            <a:off x="6350000" y="7360321"/>
            <a:ext cx="2133600" cy="365125"/>
          </a:xfrm>
          <a:prstGeom prst="rect">
            <a:avLst/>
          </a:prstGeom>
        </p:spPr>
        <p:txBody>
          <a:bodyPr vert="horz" lIns="91440" tIns="45720" rIns="91440" bIns="45720" rtlCol="0" anchor="ctr"/>
          <a:lstStyle>
            <a:defPPr>
              <a:defRPr lang="en-US"/>
            </a:defPPr>
            <a:lvl1pPr algn="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9E06B2D-D9AD-431D-ACD7-9EFC9A41F5E5}"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056209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4"/>
                                        </p:tgtEl>
                                        <p:attrNameLst>
                                          <p:attrName>style.visibility</p:attrName>
                                        </p:attrNameLst>
                                      </p:cBhvr>
                                      <p:to>
                                        <p:strVal val="visible"/>
                                      </p:to>
                                    </p:set>
                                    <p:animEffect transition="in" filter="dissolve">
                                      <p:cBhvr>
                                        <p:cTn id="7" dur="500"/>
                                        <p:tgtEl>
                                          <p:spTgt spid="20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35"/>
                                        </p:tgtEl>
                                        <p:attrNameLst>
                                          <p:attrName>style.visibility</p:attrName>
                                        </p:attrNameLst>
                                      </p:cBhvr>
                                      <p:to>
                                        <p:strVal val="visible"/>
                                      </p:to>
                                    </p:set>
                                    <p:animEffect transition="in" filter="dissolve">
                                      <p:cBhvr>
                                        <p:cTn id="12" dur="500"/>
                                        <p:tgtEl>
                                          <p:spTgt spid="23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38"/>
                                        </p:tgtEl>
                                        <p:attrNameLst>
                                          <p:attrName>style.visibility</p:attrName>
                                        </p:attrNameLst>
                                      </p:cBhvr>
                                      <p:to>
                                        <p:strVal val="visible"/>
                                      </p:to>
                                    </p:set>
                                    <p:animEffect transition="in" filter="dissolve">
                                      <p:cBhvr>
                                        <p:cTn id="17" dur="500"/>
                                        <p:tgtEl>
                                          <p:spTgt spid="23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42"/>
                                        </p:tgtEl>
                                        <p:attrNameLst>
                                          <p:attrName>style.visibility</p:attrName>
                                        </p:attrNameLst>
                                      </p:cBhvr>
                                      <p:to>
                                        <p:strVal val="visible"/>
                                      </p:to>
                                    </p:set>
                                    <p:animEffect transition="in" filter="dissolve">
                                      <p:cBhvr>
                                        <p:cTn id="22" dur="500"/>
                                        <p:tgtEl>
                                          <p:spTgt spid="24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45"/>
                                        </p:tgtEl>
                                        <p:attrNameLst>
                                          <p:attrName>style.visibility</p:attrName>
                                        </p:attrNameLst>
                                      </p:cBhvr>
                                      <p:to>
                                        <p:strVal val="visible"/>
                                      </p:to>
                                    </p:set>
                                    <p:animEffect transition="in" filter="dissolve">
                                      <p:cBhvr>
                                        <p:cTn id="27" dur="500"/>
                                        <p:tgtEl>
                                          <p:spTgt spid="2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6" name="Rectangle 5">
            <a:extLst>
              <a:ext uri="{FF2B5EF4-FFF2-40B4-BE49-F238E27FC236}">
                <a16:creationId xmlns:a16="http://schemas.microsoft.com/office/drawing/2014/main" id="{74D4C03A-E8EF-4A32-8E65-D1DF5EC3C2DF}"/>
              </a:ext>
            </a:extLst>
          </p:cNvPr>
          <p:cNvSpPr/>
          <p:nvPr/>
        </p:nvSpPr>
        <p:spPr>
          <a:xfrm>
            <a:off x="562707" y="1767006"/>
            <a:ext cx="7891975" cy="1015663"/>
          </a:xfrm>
          <a:prstGeom prst="rect">
            <a:avLst/>
          </a:prstGeom>
        </p:spPr>
        <p:txBody>
          <a:bodyPr wrap="square">
            <a:spAutoFit/>
          </a:bodyPr>
          <a:lstStyle/>
          <a:p>
            <a:pPr marL="285750" indent="-285750">
              <a:buFont typeface="Arial" panose="020B0604020202020204" pitchFamily="34" charset="0"/>
              <a:buChar char="•"/>
            </a:pPr>
            <a:r>
              <a:rPr lang="en-US" sz="2000" b="1" dirty="0"/>
              <a:t>Rosen, K. H., &amp; </a:t>
            </a:r>
            <a:r>
              <a:rPr lang="en-US" sz="2000" b="1" dirty="0" err="1"/>
              <a:t>Krithivasan</a:t>
            </a:r>
            <a:r>
              <a:rPr lang="en-US" sz="2000" b="1" dirty="0"/>
              <a:t>, K. (2012). Discrete mathematics and its applications: with combinatorics and graph theory. Tata McGraw-Hill Education. (7</a:t>
            </a:r>
            <a:r>
              <a:rPr lang="en-US" sz="2000" b="1" baseline="30000" dirty="0"/>
              <a:t>th</a:t>
            </a:r>
            <a:r>
              <a:rPr lang="en-US" sz="2000" b="1" dirty="0"/>
              <a:t> Edition)</a:t>
            </a:r>
          </a:p>
        </p:txBody>
      </p:sp>
    </p:spTree>
    <p:extLst>
      <p:ext uri="{BB962C8B-B14F-4D97-AF65-F5344CB8AC3E}">
        <p14:creationId xmlns:p14="http://schemas.microsoft.com/office/powerpoint/2010/main" val="10887172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335494" y="1789566"/>
            <a:ext cx="8597491" cy="2862322"/>
          </a:xfrm>
          <a:prstGeom prst="rect">
            <a:avLst/>
          </a:prstGeom>
          <a:noFill/>
        </p:spPr>
        <p:txBody>
          <a:bodyPr wrap="square" rtlCol="0">
            <a:spAutoFit/>
          </a:bodyPr>
          <a:lstStyle/>
          <a:p>
            <a:pPr marL="457200" lvl="0" indent="-457200">
              <a:buFont typeface="+mj-lt"/>
              <a:buAutoNum type="arabicPeriod"/>
            </a:pPr>
            <a:r>
              <a:rPr lang="en-US" dirty="0"/>
              <a:t>Discrete Mathematics, </a:t>
            </a:r>
            <a:r>
              <a:rPr lang="en-US" i="1" dirty="0"/>
              <a:t>Richard</a:t>
            </a:r>
            <a:r>
              <a:rPr lang="en-US" dirty="0"/>
              <a:t> </a:t>
            </a:r>
            <a:r>
              <a:rPr lang="en-US" i="1" dirty="0" err="1"/>
              <a:t>Johnsonbaugh</a:t>
            </a:r>
            <a:r>
              <a:rPr lang="en-US" dirty="0"/>
              <a:t>, Pearson education, Inc.</a:t>
            </a:r>
          </a:p>
          <a:p>
            <a:pPr marL="457200" lvl="0" indent="-457200">
              <a:buFont typeface="+mj-lt"/>
              <a:buAutoNum type="arabicPeriod"/>
            </a:pPr>
            <a:r>
              <a:rPr lang="en-US" dirty="0"/>
              <a:t>Discrete Mathematical Structures, </a:t>
            </a:r>
            <a:r>
              <a:rPr lang="en-US" i="1" dirty="0"/>
              <a:t>Bernard</a:t>
            </a:r>
            <a:r>
              <a:rPr lang="en-US" dirty="0"/>
              <a:t> </a:t>
            </a:r>
            <a:r>
              <a:rPr lang="en-US" i="1" dirty="0" err="1"/>
              <a:t>Kolman</a:t>
            </a:r>
            <a:r>
              <a:rPr lang="en-US" dirty="0"/>
              <a:t>, </a:t>
            </a:r>
            <a:r>
              <a:rPr lang="en-US" i="1" dirty="0"/>
              <a:t>Robert C. Busby</a:t>
            </a:r>
            <a:r>
              <a:rPr lang="en-US" dirty="0"/>
              <a:t>, </a:t>
            </a:r>
            <a:r>
              <a:rPr lang="en-US" i="1" dirty="0"/>
              <a:t>Sharon</a:t>
            </a:r>
            <a:r>
              <a:rPr lang="en-US" dirty="0"/>
              <a:t> </a:t>
            </a:r>
            <a:r>
              <a:rPr lang="en-US" i="1" dirty="0"/>
              <a:t>Ross, </a:t>
            </a:r>
            <a:r>
              <a:rPr lang="en-US" dirty="0"/>
              <a:t>Prentice-Hall, Inc.</a:t>
            </a:r>
          </a:p>
          <a:p>
            <a:pPr marL="457200" lvl="0" indent="-457200">
              <a:buFont typeface="+mj-lt"/>
              <a:buAutoNum type="arabicPeriod"/>
            </a:pPr>
            <a:r>
              <a:rPr lang="en-US" i="1" dirty="0"/>
              <a:t>SCHAUM’S  outlines Discrete Mathematics(2</a:t>
            </a:r>
            <a:r>
              <a:rPr lang="en-US" i="1" baseline="30000" dirty="0"/>
              <a:t>nd</a:t>
            </a:r>
            <a:r>
              <a:rPr lang="en-US" i="1" dirty="0"/>
              <a:t> edition)</a:t>
            </a:r>
            <a:r>
              <a:rPr lang="en-US" dirty="0"/>
              <a:t>, by </a:t>
            </a:r>
            <a:r>
              <a:rPr lang="en-US" i="1" dirty="0"/>
              <a:t>Seymour</a:t>
            </a:r>
            <a:r>
              <a:rPr lang="en-US" dirty="0"/>
              <a:t> </a:t>
            </a:r>
            <a:r>
              <a:rPr lang="en-US" i="1" dirty="0" err="1"/>
              <a:t>Lipschutz</a:t>
            </a:r>
            <a:r>
              <a:rPr lang="en-US" dirty="0"/>
              <a:t>, </a:t>
            </a:r>
            <a:r>
              <a:rPr lang="en-US" i="1" dirty="0"/>
              <a:t>Marc</a:t>
            </a:r>
            <a:r>
              <a:rPr lang="en-US" dirty="0"/>
              <a:t> </a:t>
            </a:r>
            <a:r>
              <a:rPr lang="en-US" i="1" dirty="0"/>
              <a:t>Lipson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University of Wisconsin-Madison</a:t>
            </a:r>
          </a:p>
          <a:p>
            <a:r>
              <a:rPr lang="en-US" dirty="0"/>
              <a:t> </a:t>
            </a:r>
            <a:r>
              <a:rPr lang="en-US" dirty="0">
                <a:hlinkClick r:id="rId2"/>
              </a:rPr>
              <a:t>http://pages.cs.wisc.edu/~deppeler/cs367-common/readings/Trees/intro.html</a:t>
            </a:r>
            <a:endParaRPr lang="en-US" dirty="0"/>
          </a:p>
          <a:p>
            <a:pPr marL="285750" indent="-285750">
              <a:buFont typeface="Arial" panose="020B0604020202020204" pitchFamily="34" charset="0"/>
              <a:buChar char="•"/>
            </a:pPr>
            <a:r>
              <a:rPr lang="en-US" dirty="0"/>
              <a:t>Bradfield School of Computer Science</a:t>
            </a:r>
          </a:p>
          <a:p>
            <a:r>
              <a:rPr lang="en-US" dirty="0">
                <a:hlinkClick r:id="rId3"/>
              </a:rPr>
              <a:t>https://bradfieldcs.com/algos/trees/introduction/</a:t>
            </a:r>
            <a:endParaRPr lang="en-US" dirty="0"/>
          </a:p>
        </p:txBody>
      </p:sp>
    </p:spTree>
    <p:extLst>
      <p:ext uri="{BB962C8B-B14F-4D97-AF65-F5344CB8AC3E}">
        <p14:creationId xmlns:p14="http://schemas.microsoft.com/office/powerpoint/2010/main" val="3127302073"/>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127</TotalTime>
  <Words>986</Words>
  <Application>Microsoft Macintosh PowerPoint</Application>
  <PresentationFormat>On-screen Show (4:3)</PresentationFormat>
  <Paragraphs>119</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Corbel</vt:lpstr>
      <vt:lpstr>Times New Roman</vt:lpstr>
      <vt:lpstr>Wingdings</vt:lpstr>
      <vt:lpstr>Spectrum</vt:lpstr>
      <vt:lpstr>Introduction to Trees</vt:lpstr>
      <vt:lpstr>Lecture Outline</vt:lpstr>
      <vt:lpstr>Objectives and Outcomes</vt:lpstr>
      <vt:lpstr>What is a Tree?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Dr. Hossain Md. Shakhawat</cp:lastModifiedBy>
  <cp:revision>28</cp:revision>
  <dcterms:created xsi:type="dcterms:W3CDTF">2018-12-10T17:20:29Z</dcterms:created>
  <dcterms:modified xsi:type="dcterms:W3CDTF">2022-04-06T06:13:45Z</dcterms:modified>
</cp:coreProperties>
</file>