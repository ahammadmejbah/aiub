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309" r:id="rId4"/>
    <p:sldId id="311" r:id="rId5"/>
    <p:sldId id="312" r:id="rId6"/>
    <p:sldId id="313" r:id="rId7"/>
    <p:sldId id="314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8566" autoAdjust="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9/18/2023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3302C-8DBB-49C1-965C-C41CFFA5FBD3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FD89E-32B1-417C-B9B4-5E02D62A70C5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31FF-74A7-40D4-AB17-AB5A2BF3D616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A8D5-27C8-41C7-B9B3-EBC8A8594331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D483D-1DD6-4787-BA0C-5AE8EE1AA86E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2A75-9348-4344-B4BF-F547B3235255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04B6-1758-46A0-A935-C50BB46CA9EF}" type="datetime1">
              <a:rPr lang="en-US" smtClean="0"/>
              <a:t>9/18/2023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E9C6-5546-4BD3-9C5C-D3DCE74F3CF4}" type="datetime1">
              <a:rPr lang="en-US" smtClean="0"/>
              <a:t>9/18/2023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89AE2-C17A-434C-B5F3-A3730D826796}" type="datetime1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83AF-0059-4DDB-9CFB-F3083E6937D0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9C53-C0FD-4305-9C37-2A008D83D1EE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F62E-33D6-4CAB-B15C-77CA7467036C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1334E-FF9B-4AD5-B7E8-D9574AFB4728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AA6DE-736A-4327-92BB-EBB81955DEF5}" type="datetime1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1723C-BB48-4ACC-B41D-ECCA1F7309AB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1B3D2-ED6F-4954-BC39-A3DFDDB9D4DB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FA13DF00-DD4A-4096-9CCE-49CAF124AE5F}" type="datetime1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Introduction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9031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23-24 Fall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Ashraf Uddin</a:t>
                      </a:r>
                      <a:r>
                        <a:rPr lang="en-US" i="1" baseline="0" dirty="0"/>
                        <a:t> &amp; email: dr.ashraf@aiub.edu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AFE8B-80E1-65A1-23A7-F9A63263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586496"/>
          </a:xfrm>
        </p:spPr>
        <p:txBody>
          <a:bodyPr>
            <a:normAutofit/>
          </a:bodyPr>
          <a:lstStyle/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Vision and Mission of AIUB</a:t>
            </a: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Goals of AIUB </a:t>
            </a: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Vision and Mission of CS Department</a:t>
            </a: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ja-JP" sz="2800" b="1" dirty="0">
                <a:solidFill>
                  <a:schemeClr val="tx1"/>
                </a:solidFill>
                <a:cs typeface="Arial" charset="0"/>
              </a:rPr>
              <a:t>Goals of CS Department </a:t>
            </a:r>
            <a:endParaRPr lang="en-US" sz="2800" b="1" dirty="0">
              <a:solidFill>
                <a:schemeClr val="tx1"/>
              </a:solidFill>
            </a:endParaRPr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Course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9AB2-C194-519D-BD8B-29546677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  <a:cs typeface="Arial" charset="0"/>
              </a:rPr>
              <a:t>Vision &amp; Mission </a:t>
            </a:r>
            <a:r>
              <a:rPr lang="en-US" altLang="ja-JP" sz="4000" b="1" dirty="0">
                <a:latin typeface="+mn-lt"/>
              </a:rPr>
              <a:t>of AIUB </a:t>
            </a:r>
            <a:endParaRPr lang="en-US" sz="40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4716" y="2088107"/>
            <a:ext cx="8939283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b="1" dirty="0">
                <a:solidFill>
                  <a:srgbClr val="0000FF"/>
                </a:solidFill>
              </a:rPr>
              <a:t>Vision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AMERICAN INTERNATIONAL UNIVERSITY-BANGLADESH (AIUB) envisions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promoting professionals and excellent leadership catering to the technological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progress and development needs of the country.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Mission: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AMERICAN INTERNATIONAL UNIVERSITY-BANGLADESH (AIUB) is committed to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provide quality and excellent computer-based academic programs responsive to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the emerging challenges of the time. It is dedicated to nurture and produce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competent world class professional imbued with strong sense of ethical values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ready to face the competitive world of arts, business, science, social science and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dirty="0"/>
              <a:t>technology.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1234F4-AC05-4D0E-772B-940F3712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Goals of AIUB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7565" y="2093207"/>
            <a:ext cx="8654423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Sustain development and progress of the university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Continue to upgrade educational services and facilities responsive of the demands for change and needs of the society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Inculcate professional culture among management, faculty and personnel in the attainment of the institution's vision, mission and goals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Enhance research consciousness in discovering new dimensions for curriculum development and enrichment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Implement meaningful and relevant community outreach programs reflective of the available resources and expertise of the university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Establish strong networking of programs, sharing of resources and expertise with local and international educational institutions and organizations 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1600" dirty="0"/>
              <a:t>Accelerate the participation of alumni, students and professionals in the implementation of educational programs and development of projects designed to expand and improve global academic standards </a:t>
            </a:r>
            <a:r>
              <a:rPr lang="en-US" sz="1600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766BFA-9EB5-FAE8-1C89-705656FB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3600" b="1" dirty="0">
                <a:latin typeface="+mn-lt"/>
                <a:cs typeface="Arial" charset="0"/>
              </a:rPr>
              <a:t>Vision &amp; Mission of CS Department</a:t>
            </a:r>
            <a:endParaRPr lang="en-US" sz="36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0129" y="2088108"/>
            <a:ext cx="8884692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ja-JP" sz="2400" b="1" dirty="0">
                <a:solidFill>
                  <a:srgbClr val="0000FF"/>
                </a:solidFill>
                <a:cs typeface="Arial" panose="020B0604020202020204" pitchFamily="34" charset="0"/>
              </a:rPr>
              <a:t>Vision</a:t>
            </a:r>
          </a:p>
          <a:p>
            <a:pPr marL="274320" indent="-274320">
              <a:spcBef>
                <a:spcPts val="600"/>
              </a:spcBef>
              <a:defRPr/>
            </a:pPr>
            <a:r>
              <a:rPr lang="en-US" altLang="ja-JP" sz="2000" dirty="0"/>
              <a:t>Provides leadership in the pursuit of quality and excellent computer education and </a:t>
            </a:r>
          </a:p>
          <a:p>
            <a:pPr marL="274320" indent="-274320">
              <a:spcBef>
                <a:spcPts val="600"/>
              </a:spcBef>
              <a:defRPr/>
            </a:pPr>
            <a:r>
              <a:rPr lang="en-US" altLang="ja-JP" sz="2000" dirty="0"/>
              <a:t>produce highly skilled and globally competitive IT professionals.</a:t>
            </a:r>
          </a:p>
          <a:p>
            <a:pPr marL="274320" indent="-274320">
              <a:spcBef>
                <a:spcPts val="600"/>
              </a:spcBef>
              <a:defRPr/>
            </a:pPr>
            <a:endParaRPr lang="en-US" altLang="ja-JP" sz="2000" dirty="0"/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ja-JP" sz="2400" b="1" dirty="0">
                <a:cs typeface="Arial" panose="020B0604020202020204" pitchFamily="34" charset="0"/>
              </a:rPr>
              <a:t> </a:t>
            </a:r>
            <a:r>
              <a:rPr lang="en-US" altLang="ja-JP" sz="2400" b="1" dirty="0">
                <a:solidFill>
                  <a:srgbClr val="0000FF"/>
                </a:solidFill>
                <a:cs typeface="Arial" panose="020B0604020202020204" pitchFamily="34" charset="0"/>
              </a:rPr>
              <a:t>Mission</a:t>
            </a:r>
            <a:endParaRPr lang="en-US" sz="2400" b="1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Committed to educate students to think analytically and communicate effectively; </a:t>
            </a: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train them to acquire technological, industry and research-oriented accepted skills; </a:t>
            </a: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keep them abreast of the new trends and progress in the world of information </a:t>
            </a:r>
          </a:p>
          <a:p>
            <a:pPr marL="274320" indent="-274320" algn="just">
              <a:spcBef>
                <a:spcPts val="600"/>
              </a:spcBef>
              <a:defRPr/>
            </a:pPr>
            <a:r>
              <a:rPr lang="en-US" altLang="ja-JP" sz="2000" dirty="0"/>
              <a:t>communication technology; and inculcate in them the value of professional ethics.</a:t>
            </a:r>
          </a:p>
          <a:p>
            <a:pPr marL="274320" indent="-274320" algn="just">
              <a:spcBef>
                <a:spcPts val="600"/>
              </a:spcBef>
              <a:defRPr/>
            </a:pPr>
            <a:endParaRPr lang="en-US" sz="2000" dirty="0"/>
          </a:p>
          <a:p>
            <a:pPr marL="274320" indent="-274320">
              <a:spcBef>
                <a:spcPts val="600"/>
              </a:spcBef>
              <a:defRPr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6DE1E7-EE9E-9D51-B2EA-A0832D8F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4000" b="1" dirty="0">
                <a:latin typeface="+mn-lt"/>
                <a:cs typeface="Arial" charset="0"/>
              </a:rPr>
              <a:t>Goals of CS Department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539" y="2301646"/>
            <a:ext cx="839337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Enrich the computer education curriculum to suit the needs of the industry-wide standards for both domestic and international markets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Equip the faculty and staff with professional, modern technological and research skills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Upgrade continuously computer hardware, facilities and instructional materials to cope with the challenges of the information technology age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Initiate and conduct relevant research, software development and outreach services.</a:t>
            </a:r>
          </a:p>
          <a:p>
            <a:pPr marL="274320" indent="-27432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000" dirty="0"/>
              <a:t>Establish linkage with industry and other IT-based organizations/institutions for sharing of resources and expertise, and better job opportunities for students 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7F86F-AA72-337D-C616-935686FA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Schedule: Mid Term Weeks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0" y="2208618"/>
            <a:ext cx="8504295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1:	Class (18 and 20 September)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2:	Class (25 and 27 September)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3:	Class (2 and </a:t>
            </a:r>
            <a:r>
              <a:rPr lang="en-US" sz="2800" dirty="0">
                <a:solidFill>
                  <a:srgbClr val="FF0000"/>
                </a:solidFill>
              </a:rPr>
              <a:t>4</a:t>
            </a:r>
            <a:r>
              <a:rPr lang="en-US" sz="2800" dirty="0"/>
              <a:t> October) +  </a:t>
            </a:r>
            <a:r>
              <a:rPr lang="en-US" sz="2800" dirty="0">
                <a:solidFill>
                  <a:srgbClr val="0000FF"/>
                </a:solidFill>
              </a:rPr>
              <a:t>Quiz 1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4: 	Class (9 and 11 October) </a:t>
            </a:r>
            <a:endParaRPr lang="en-US" sz="2800" dirty="0">
              <a:solidFill>
                <a:srgbClr val="009900"/>
              </a:solidFill>
            </a:endParaRP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5: 	Class (16 and 18 October)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6: 	Make up classes (7 and 21 October)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dirty="0"/>
              <a:t>Week 7:     Class (23 and </a:t>
            </a:r>
            <a:r>
              <a:rPr lang="en-US" sz="2800" dirty="0">
                <a:solidFill>
                  <a:srgbClr val="FF0000"/>
                </a:solidFill>
              </a:rPr>
              <a:t>25</a:t>
            </a:r>
            <a:r>
              <a:rPr lang="en-US" sz="2800" dirty="0"/>
              <a:t> October) +  </a:t>
            </a:r>
            <a:r>
              <a:rPr lang="en-US" sz="2800" dirty="0">
                <a:solidFill>
                  <a:srgbClr val="0000FF"/>
                </a:solidFill>
              </a:rPr>
              <a:t>Quiz 2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800" b="1" dirty="0">
                <a:solidFill>
                  <a:srgbClr val="0000FF"/>
                </a:solidFill>
              </a:rPr>
              <a:t>Week 8: 	Mid Term Exam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73FBB-1B51-11E1-8361-90E7555E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Course Evaluation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0" y="2274838"/>
            <a:ext cx="8722659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Class Attendance : 	10%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Quizzes 		:	40%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Term Exam	:	50%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dirty="0">
                <a:solidFill>
                  <a:srgbClr val="0000FF"/>
                </a:solidFill>
              </a:rPr>
              <a:t>Grand Total = </a:t>
            </a:r>
            <a:r>
              <a:rPr lang="en-US" sz="2800" b="1" dirty="0">
                <a:solidFill>
                  <a:srgbClr val="FF0000"/>
                </a:solidFill>
              </a:rPr>
              <a:t>40%</a:t>
            </a:r>
            <a:r>
              <a:rPr lang="en-US" sz="2800" b="1" dirty="0">
                <a:solidFill>
                  <a:srgbClr val="0000FF"/>
                </a:solidFill>
              </a:rPr>
              <a:t> of Mid Term + </a:t>
            </a:r>
            <a:r>
              <a:rPr lang="en-US" sz="2800" b="1" dirty="0">
                <a:solidFill>
                  <a:srgbClr val="FF0000"/>
                </a:solidFill>
              </a:rPr>
              <a:t>60%</a:t>
            </a:r>
            <a:r>
              <a:rPr lang="en-US" sz="2800" b="1" dirty="0">
                <a:solidFill>
                  <a:srgbClr val="0000FF"/>
                </a:solidFill>
              </a:rPr>
              <a:t> of Final Term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BA714-80EC-7534-3F59-C9182B31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861" y="50359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Cheating Policy (Official Rule)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4861" y="2505671"/>
            <a:ext cx="8231342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/>
              <a:t>AIUB does not allow any kind of cheating.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3200" dirty="0"/>
              <a:t>In case of cheating, you’ll get an </a:t>
            </a:r>
            <a:r>
              <a:rPr lang="en-US" sz="3200" b="1" dirty="0">
                <a:solidFill>
                  <a:srgbClr val="FF0000"/>
                </a:solidFill>
              </a:rPr>
              <a:t>F</a:t>
            </a:r>
            <a:r>
              <a:rPr lang="en-US" sz="3200" dirty="0"/>
              <a:t> in the course.</a:t>
            </a:r>
          </a:p>
          <a:p>
            <a:pPr marL="274320" lvl="1" indent="-274320">
              <a:spcBef>
                <a:spcPts val="600"/>
              </a:spcBef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DE55EC-EAE5-DD61-D3D6-582714E9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Course Requirements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6595" y="2279177"/>
            <a:ext cx="8598097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Must have at least 80% attendance to pass this course. </a:t>
            </a:r>
            <a:r>
              <a:rPr lang="en-US" sz="2800" dirty="0"/>
              <a:t>Failure to do so will result in an </a:t>
            </a:r>
            <a:r>
              <a:rPr lang="en-US" sz="2800" b="1" dirty="0">
                <a:solidFill>
                  <a:srgbClr val="FF0000"/>
                </a:solidFill>
              </a:rPr>
              <a:t>automatic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UW</a:t>
            </a:r>
            <a:r>
              <a:rPr lang="en-US" sz="2800" dirty="0"/>
              <a:t>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Must appear in the midterm and final term exam.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No make-up Quiz. </a:t>
            </a:r>
          </a:p>
          <a:p>
            <a:pPr marL="274320" lvl="1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No request will be entertained for raising grade; but I will voluntarily give you </a:t>
            </a:r>
            <a:r>
              <a:rPr lang="en-US" sz="2800" dirty="0">
                <a:solidFill>
                  <a:srgbClr val="00B050"/>
                </a:solidFill>
              </a:rPr>
              <a:t>bonus marks if you are eligible.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07951-4F68-BE79-8790-E656ED7B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ABOUT</a:t>
            </a:r>
            <a:r>
              <a:rPr lang="en-US" sz="4000" dirty="0">
                <a:latin typeface="+mn-lt"/>
              </a:rPr>
              <a:t>  </a:t>
            </a:r>
            <a:r>
              <a:rPr lang="en-US" sz="4000" b="1" dirty="0">
                <a:latin typeface="+mn-lt"/>
              </a:rPr>
              <a:t>CLASS</a:t>
            </a:r>
            <a:r>
              <a:rPr lang="en-US" sz="4000" dirty="0">
                <a:latin typeface="+mn-lt"/>
              </a:rPr>
              <a:t> </a:t>
            </a:r>
            <a:r>
              <a:rPr lang="en-US" sz="4000" b="1" dirty="0">
                <a:latin typeface="+mn-lt"/>
              </a:rPr>
              <a:t>ATTENDANCE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2973" y="2224586"/>
            <a:ext cx="8722659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If you have 100% attendance, you will get bonus marks.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If your attendance falls below 80%, you will get UW.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If you are absent for some reason, then you must submit an application with valid supporting documents when you come next time in the class.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u="sng" dirty="0">
                <a:solidFill>
                  <a:srgbClr val="FF0000"/>
                </a:solidFill>
              </a:rPr>
              <a:t>If you are in probation</a:t>
            </a:r>
            <a:r>
              <a:rPr lang="en-US" sz="2400" dirty="0">
                <a:solidFill>
                  <a:srgbClr val="FF0000"/>
                </a:solidFill>
              </a:rPr>
              <a:t>, do NOT miss any class and you MUST come for consultation at least once a week.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i="1" u="sng" dirty="0">
                <a:solidFill>
                  <a:srgbClr val="FF0000"/>
                </a:solidFill>
              </a:rPr>
              <a:t>Note</a:t>
            </a:r>
            <a:r>
              <a:rPr lang="en-US" sz="2400" dirty="0">
                <a:solidFill>
                  <a:srgbClr val="FF0000"/>
                </a:solidFill>
              </a:rPr>
              <a:t>: A Probation student can NOT DROP course.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3F5C9-D525-AFB1-5C8B-B121A91C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8" y="341193"/>
            <a:ext cx="8722659" cy="1359724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+mn-lt"/>
              </a:rPr>
              <a:t>Why Study Discrete Mathematics?</a:t>
            </a:r>
            <a:endParaRPr lang="en-US" sz="3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5677" y="1955014"/>
            <a:ext cx="8845491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400" dirty="0"/>
              <a:t>There are several important reasons for studying </a:t>
            </a:r>
            <a:r>
              <a:rPr lang="en-US" altLang="ja-JP" sz="2400" b="1" i="1" dirty="0"/>
              <a:t>discrete mathematics –</a:t>
            </a:r>
          </a:p>
          <a:p>
            <a:pPr marL="731520" lvl="2" indent="-274320">
              <a:spcBef>
                <a:spcPts val="600"/>
              </a:spcBef>
              <a:buFont typeface="Arial" charset="0"/>
              <a:buChar char="•"/>
            </a:pPr>
            <a:r>
              <a:rPr lang="en-US" altLang="ja-JP" sz="2400" dirty="0"/>
              <a:t>Through this course you can develop your Mathematical Maturity, that is your ability </a:t>
            </a:r>
            <a:r>
              <a:rPr lang="en-US" altLang="ja-JP" sz="2400" dirty="0">
                <a:solidFill>
                  <a:srgbClr val="00B050"/>
                </a:solidFill>
              </a:rPr>
              <a:t>to understand and create mathematical arguments.</a:t>
            </a:r>
          </a:p>
          <a:p>
            <a:pPr marL="731520" lvl="2" indent="-274320">
              <a:spcBef>
                <a:spcPts val="600"/>
              </a:spcBef>
              <a:buFont typeface="Arial" charset="0"/>
              <a:buChar char="•"/>
            </a:pPr>
            <a:r>
              <a:rPr lang="en-US" altLang="ja-JP" sz="2400" dirty="0"/>
              <a:t>Discrete mathematics is the gateway to more advanced courses in all parts of the mathematical sciences. </a:t>
            </a:r>
          </a:p>
          <a:p>
            <a:pPr marL="731520" lvl="2" indent="-274320">
              <a:spcBef>
                <a:spcPts val="600"/>
              </a:spcBef>
              <a:buFont typeface="Arial" charset="0"/>
              <a:buChar char="•"/>
            </a:pPr>
            <a:r>
              <a:rPr lang="en-US" altLang="ja-JP" sz="2400" dirty="0"/>
              <a:t>It provides the mathematical foundations for many Computer Science courses, including </a:t>
            </a:r>
            <a:r>
              <a:rPr lang="en-US" altLang="ja-JP" sz="2400" dirty="0">
                <a:solidFill>
                  <a:srgbClr val="0000FF"/>
                </a:solidFill>
              </a:rPr>
              <a:t>Algorithm, Data Structure, Database Theory, Formal Languages, Compiler Theory, Computer Security, Operating Systems, Artificial Intelligence and so on.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2CBEAF-A1E1-BDE7-F6F3-37CF53A5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 sz="3600" b="1" dirty="0">
                <a:latin typeface="+mn-lt"/>
              </a:rPr>
              <a:t>Why Study Discrete Mathematics?</a:t>
            </a:r>
            <a:endParaRPr lang="en-US" sz="3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539" y="2164818"/>
            <a:ext cx="8215953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0000FF"/>
                </a:solidFill>
              </a:rPr>
              <a:t>Discrete Mathematics can be applied –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the design of computing machines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the specification of systems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programming languages, and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to other areas of computer science, as well as, to many other fields of study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5BE47-E8C7-FE55-B2D5-1A4B9CEE7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509" y="653725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</a:rPr>
              <a:t>Text/Reference Books  &amp; </a:t>
            </a:r>
            <a:br>
              <a:rPr lang="en-US" sz="4000" b="1" dirty="0">
                <a:latin typeface="+mn-lt"/>
              </a:rPr>
            </a:br>
            <a:r>
              <a:rPr lang="en-US" sz="4000" b="1" dirty="0">
                <a:latin typeface="+mn-lt"/>
              </a:rPr>
              <a:t>Study Materials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653" y="2169995"/>
            <a:ext cx="873456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>
                <a:solidFill>
                  <a:srgbClr val="FF0000"/>
                </a:solidFill>
              </a:rPr>
              <a:t>Discrete Mathematics and its applications with </a:t>
            </a:r>
            <a:r>
              <a:rPr lang="en-US" sz="2000" i="1" dirty="0" err="1">
                <a:solidFill>
                  <a:srgbClr val="FF0000"/>
                </a:solidFill>
              </a:rPr>
              <a:t>combinatorics</a:t>
            </a:r>
            <a:r>
              <a:rPr lang="en-US" sz="2000" i="1" dirty="0">
                <a:solidFill>
                  <a:srgbClr val="FF0000"/>
                </a:solidFill>
              </a:rPr>
              <a:t> and graph theory (7</a:t>
            </a:r>
            <a:r>
              <a:rPr lang="en-US" sz="2000" i="1" baseline="30000" dirty="0">
                <a:solidFill>
                  <a:srgbClr val="FF0000"/>
                </a:solidFill>
              </a:rPr>
              <a:t>th</a:t>
            </a:r>
            <a:r>
              <a:rPr lang="en-US" sz="2000" i="1" dirty="0">
                <a:solidFill>
                  <a:srgbClr val="FF0000"/>
                </a:solidFill>
              </a:rPr>
              <a:t> edition) </a:t>
            </a:r>
            <a:r>
              <a:rPr lang="en-US" sz="2000" dirty="0">
                <a:solidFill>
                  <a:srgbClr val="FF0000"/>
                </a:solidFill>
              </a:rPr>
              <a:t>by Kenneth H. Rosen </a:t>
            </a:r>
            <a:r>
              <a:rPr lang="en-US" sz="2000" dirty="0">
                <a:solidFill>
                  <a:srgbClr val="0000FF"/>
                </a:solidFill>
              </a:rPr>
              <a:t>[Indian Adaptation by KAMALA KRITHIVASAN],</a:t>
            </a: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published by </a:t>
            </a:r>
            <a:r>
              <a:rPr lang="en-US" altLang="ja-JP" sz="2000" dirty="0"/>
              <a:t>McGraw-Hill</a:t>
            </a:r>
            <a:r>
              <a:rPr lang="en-US" sz="2000" dirty="0"/>
              <a:t>, is the </a:t>
            </a:r>
            <a:r>
              <a:rPr lang="en-US" sz="2000" dirty="0">
                <a:solidFill>
                  <a:srgbClr val="FF0000"/>
                </a:solidFill>
              </a:rPr>
              <a:t>required text.  </a:t>
            </a:r>
            <a:endParaRPr lang="en-US" sz="2000" b="1" i="1" dirty="0">
              <a:solidFill>
                <a:srgbClr val="009900"/>
              </a:solidFill>
            </a:endParaRP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  <a:endParaRPr lang="en-US" sz="2000" i="1" dirty="0"/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/>
              <a:t>SCHAUM’S  </a:t>
            </a:r>
            <a:r>
              <a:rPr lang="en-US" sz="2000" i="1" dirty="0" err="1"/>
              <a:t>ouTlines</a:t>
            </a:r>
            <a:r>
              <a:rPr lang="en-US" sz="2000" i="1" dirty="0"/>
              <a:t>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Seymour </a:t>
            </a:r>
            <a:r>
              <a:rPr lang="en-US" sz="2000" dirty="0" err="1"/>
              <a:t>Lipschutz</a:t>
            </a:r>
            <a:r>
              <a:rPr lang="en-US" sz="2000" dirty="0"/>
              <a:t>, Marc Lipson</a:t>
            </a:r>
          </a:p>
          <a:p>
            <a:pPr marL="365760" indent="-36576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1" dirty="0">
                <a:solidFill>
                  <a:srgbClr val="00B050"/>
                </a:solidFill>
              </a:rPr>
              <a:t>Lecture slides </a:t>
            </a:r>
            <a:r>
              <a:rPr lang="en-US" sz="2000" dirty="0">
                <a:solidFill>
                  <a:srgbClr val="00B050"/>
                </a:solidFill>
              </a:rPr>
              <a:t>will be uploaded on the shared Google Drive folder on a regular basis.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D8E97-644E-4A61-AAF9-7BC007CD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Summary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67790" y="3519607"/>
            <a:ext cx="47982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5400" b="1" dirty="0"/>
              <a:t>Any question?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6F1CF5-7949-0458-63E6-FC7F8D26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Summary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445" y="2661314"/>
            <a:ext cx="63752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0000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Welcome to the course </a:t>
            </a:r>
          </a:p>
          <a:p>
            <a:r>
              <a:rPr lang="en-US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Mathematics </a:t>
            </a:r>
            <a:endParaRPr lang="en-US" sz="4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8B6DE8-AA5A-19A2-C08F-892C7DE8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648</TotalTime>
  <Words>1031</Words>
  <Application>Microsoft Office PowerPoint</Application>
  <PresentationFormat>On-screen Show (4:3)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Wingdings</vt:lpstr>
      <vt:lpstr>Spectrum</vt:lpstr>
      <vt:lpstr>Introduction </vt:lpstr>
      <vt:lpstr>Lecture Outline</vt:lpstr>
      <vt:lpstr>Vision &amp; Mission of AIUB </vt:lpstr>
      <vt:lpstr>Goals of AIUB</vt:lpstr>
      <vt:lpstr>Vision &amp; Mission of CS Department</vt:lpstr>
      <vt:lpstr>Goals of CS Department</vt:lpstr>
      <vt:lpstr>Schedule: Mid Term Weeks</vt:lpstr>
      <vt:lpstr>Course Evaluation</vt:lpstr>
      <vt:lpstr>Cheating Policy (Official Rule)</vt:lpstr>
      <vt:lpstr>Course Requirements</vt:lpstr>
      <vt:lpstr>ABOUT  CLASS ATTENDANCE</vt:lpstr>
      <vt:lpstr>Why Study Discrete Mathematics?</vt:lpstr>
      <vt:lpstr>Why Study Discrete Mathematics?</vt:lpstr>
      <vt:lpstr>Text/Reference Books  &amp;  Study Materials</vt:lpstr>
      <vt:lpstr>Summary</vt:lpstr>
      <vt:lpstr>Summary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50</cp:revision>
  <dcterms:created xsi:type="dcterms:W3CDTF">2018-12-10T17:20:29Z</dcterms:created>
  <dcterms:modified xsi:type="dcterms:W3CDTF">2023-09-18T03:56:12Z</dcterms:modified>
</cp:coreProperties>
</file>