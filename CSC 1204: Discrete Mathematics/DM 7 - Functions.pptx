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8"/>
  </p:notesMasterIdLst>
  <p:sldIdLst>
    <p:sldId id="256" r:id="rId2"/>
    <p:sldId id="257" r:id="rId3"/>
    <p:sldId id="308" r:id="rId4"/>
    <p:sldId id="309" r:id="rId5"/>
    <p:sldId id="339" r:id="rId6"/>
    <p:sldId id="310" r:id="rId7"/>
    <p:sldId id="311" r:id="rId8"/>
    <p:sldId id="312" r:id="rId9"/>
    <p:sldId id="340" r:id="rId10"/>
    <p:sldId id="313" r:id="rId11"/>
    <p:sldId id="314" r:id="rId12"/>
    <p:sldId id="315" r:id="rId13"/>
    <p:sldId id="316" r:id="rId14"/>
    <p:sldId id="317" r:id="rId15"/>
    <p:sldId id="318" r:id="rId16"/>
    <p:sldId id="319" r:id="rId17"/>
    <p:sldId id="320" r:id="rId18"/>
    <p:sldId id="321" r:id="rId19"/>
    <p:sldId id="322" r:id="rId20"/>
    <p:sldId id="323" r:id="rId21"/>
    <p:sldId id="324" r:id="rId22"/>
    <p:sldId id="342" r:id="rId23"/>
    <p:sldId id="341" r:id="rId24"/>
    <p:sldId id="326" r:id="rId25"/>
    <p:sldId id="328" r:id="rId26"/>
    <p:sldId id="325" r:id="rId27"/>
    <p:sldId id="329" r:id="rId28"/>
    <p:sldId id="330" r:id="rId29"/>
    <p:sldId id="332" r:id="rId30"/>
    <p:sldId id="333" r:id="rId31"/>
    <p:sldId id="334" r:id="rId32"/>
    <p:sldId id="335" r:id="rId33"/>
    <p:sldId id="337" r:id="rId34"/>
    <p:sldId id="338" r:id="rId35"/>
    <p:sldId id="277" r:id="rId36"/>
    <p:sldId id="265" r:id="rId3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65E8905-3A9F-4DF8-BE85-8764B14DC0D4}" v="1" dt="2019-04-17T04:06:04.64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0"/>
    <p:restoredTop sz="94963" autoAdjust="0"/>
  </p:normalViewPr>
  <p:slideViewPr>
    <p:cSldViewPr snapToGrid="0" snapToObject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 " userId="7df7294e-d88c-40ba-90e5-79451dd84eeb" providerId="ADAL" clId="{865E8905-3A9F-4DF8-BE85-8764B14DC0D4}"/>
    <pc:docChg chg="modSld">
      <pc:chgData name=" " userId="7df7294e-d88c-40ba-90e5-79451dd84eeb" providerId="ADAL" clId="{865E8905-3A9F-4DF8-BE85-8764B14DC0D4}" dt="2019-04-17T04:06:04.677" v="0" actId="1076"/>
      <pc:docMkLst>
        <pc:docMk/>
      </pc:docMkLst>
      <pc:sldChg chg="modSp">
        <pc:chgData name=" " userId="7df7294e-d88c-40ba-90e5-79451dd84eeb" providerId="ADAL" clId="{865E8905-3A9F-4DF8-BE85-8764B14DC0D4}" dt="2019-04-17T04:06:04.677" v="0" actId="1076"/>
        <pc:sldMkLst>
          <pc:docMk/>
          <pc:sldMk cId="3716353229" sldId="259"/>
        </pc:sldMkLst>
        <pc:spChg chg="mod">
          <ac:chgData name=" " userId="7df7294e-d88c-40ba-90e5-79451dd84eeb" providerId="ADAL" clId="{865E8905-3A9F-4DF8-BE85-8764B14DC0D4}" dt="2019-04-17T04:06:04.677" v="0" actId="1076"/>
          <ac:spMkLst>
            <pc:docMk/>
            <pc:sldMk cId="3716353229" sldId="259"/>
            <ac:spMk id="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E13DDF-8C9F-41ED-BCA0-DFAC852E1B28}" type="datetimeFigureOut">
              <a:rPr lang="en-US" smtClean="0"/>
              <a:pPr/>
              <a:t>6/18/2023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91CEC4-8705-463B-9A79-B2018D53849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4630E-50CB-41D4-B880-9F9D7FA7BA29}" type="datetime1">
              <a:rPr lang="en-US" smtClean="0"/>
              <a:pPr/>
              <a:t>6/18/2023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E53B5-49FB-46D3-8DDC-FF194BFECA44}" type="datetime1">
              <a:rPr lang="en-US" smtClean="0"/>
              <a:pPr/>
              <a:t>6/18/2023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B3357-3270-44AD-8313-0626A2642B80}" type="datetime1">
              <a:rPr lang="en-US" smtClean="0"/>
              <a:pPr/>
              <a:t>6/18/2023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F85F5-738C-480D-8B46-1B1B3DA4FF26}" type="datetime1">
              <a:rPr lang="en-US" smtClean="0"/>
              <a:pPr/>
              <a:t>6/18/2023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20414-9D97-4B74-A477-A764E0D269A0}" type="datetime1">
              <a:rPr lang="en-US" smtClean="0"/>
              <a:pPr/>
              <a:t>6/18/2023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5F015-530B-454C-ADA2-7F2157207175}" type="datetime1">
              <a:rPr lang="en-US" smtClean="0"/>
              <a:pPr/>
              <a:t>6/18/2023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38430-5DBF-4BDF-AAA2-FD9FC4A2D81F}" type="datetime1">
              <a:rPr lang="en-US" smtClean="0"/>
              <a:pPr/>
              <a:t>6/18/2023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0C2E2-3F23-42C1-AFF2-4509F057067A}" type="datetime1">
              <a:rPr lang="en-US" smtClean="0"/>
              <a:pPr/>
              <a:t>6/18/2023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D1CE5-8CD7-468E-85A4-78CEAD3625E5}" type="datetime1">
              <a:rPr lang="en-US" smtClean="0"/>
              <a:pPr/>
              <a:t>6/18/2023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ADB23-474F-49A8-A23D-7A0E84AD2BE6}" type="datetime1">
              <a:rPr lang="en-US" smtClean="0"/>
              <a:pPr/>
              <a:t>6/18/2023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55E30-D25B-4216-A7A0-BE8AD9B7E327}" type="datetime1">
              <a:rPr lang="en-US" smtClean="0"/>
              <a:pPr/>
              <a:t>6/18/2023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8EFD5-F0AF-4965-A66C-E35F81ABEC91}" type="datetime1">
              <a:rPr lang="en-US" smtClean="0"/>
              <a:pPr/>
              <a:t>6/18/2023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4A2D2-B87B-4847-9811-8BF83A23C0A4}" type="datetime1">
              <a:rPr lang="en-US" smtClean="0"/>
              <a:pPr/>
              <a:t>6/18/2023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62871-21BD-4EDE-AE57-59E17BF237ED}" type="datetime1">
              <a:rPr lang="en-US" smtClean="0"/>
              <a:pPr/>
              <a:t>6/18/2023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F78AD-1CB0-4608-B3A1-669F93264AC6}" type="datetime1">
              <a:rPr lang="en-US" smtClean="0"/>
              <a:pPr/>
              <a:t>6/18/2023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E542CD-9A58-4A2A-A626-496AF398B07A}" type="datetime1">
              <a:rPr lang="en-US" smtClean="0"/>
              <a:pPr/>
              <a:t>6/18/2023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54EAB5B0-AB84-48D4-BAFB-665F1E7B35E0}" type="datetime1">
              <a:rPr lang="en-US" smtClean="0"/>
              <a:pPr/>
              <a:t>6/18/2023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hf hdr="0" ftr="0" dt="0"/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www.mathsisfun.com/sets/function.html" TargetMode="Externa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Functions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Code: CSC 1204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5936963"/>
              </p:ext>
            </p:extLst>
          </p:nvPr>
        </p:nvGraphicFramePr>
        <p:xfrm>
          <a:off x="476205" y="5186042"/>
          <a:ext cx="8335798" cy="75747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1541417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240971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1444552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Lecturer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i="1" dirty="0"/>
                        <a:t>Name &amp; email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320578" y="1538380"/>
            <a:ext cx="4164439" cy="48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Discrete Mathematics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Outline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3864" y="2060812"/>
            <a:ext cx="8234223" cy="3889612"/>
          </a:xfrm>
        </p:spPr>
        <p:txBody>
          <a:bodyPr>
            <a:noAutofit/>
          </a:bodyPr>
          <a:lstStyle/>
          <a:p>
            <a:r>
              <a:rPr lang="en-US" altLang="zh-TW" sz="3200" b="1" dirty="0">
                <a:solidFill>
                  <a:schemeClr val="tx1"/>
                </a:solidFill>
              </a:rPr>
              <a:t>2.3 Functions</a:t>
            </a:r>
          </a:p>
          <a:p>
            <a:pPr marL="457200" indent="-274320">
              <a:buClr>
                <a:srgbClr val="FF0000"/>
              </a:buClr>
              <a:buFont typeface="Arial" pitchFamily="34" charset="0"/>
              <a:buChar char="•"/>
            </a:pPr>
            <a:r>
              <a:rPr lang="en-US" sz="2400" b="1" dirty="0">
                <a:solidFill>
                  <a:srgbClr val="0000FF"/>
                </a:solidFill>
              </a:rPr>
              <a:t>Definition of Function</a:t>
            </a:r>
          </a:p>
          <a:p>
            <a:pPr marL="457200" indent="-274320">
              <a:buClr>
                <a:srgbClr val="FF0000"/>
              </a:buClr>
              <a:buFont typeface="Arial" pitchFamily="34" charset="0"/>
              <a:buChar char="•"/>
            </a:pPr>
            <a:r>
              <a:rPr lang="en-US" sz="2400" b="1" dirty="0">
                <a:solidFill>
                  <a:srgbClr val="0000FF"/>
                </a:solidFill>
              </a:rPr>
              <a:t>Domain, </a:t>
            </a:r>
            <a:r>
              <a:rPr lang="en-US" sz="2400" b="1" dirty="0" err="1">
                <a:solidFill>
                  <a:srgbClr val="0000FF"/>
                </a:solidFill>
              </a:rPr>
              <a:t>Codomain</a:t>
            </a:r>
            <a:r>
              <a:rPr lang="en-US" sz="2400" b="1" dirty="0">
                <a:solidFill>
                  <a:srgbClr val="0000FF"/>
                </a:solidFill>
              </a:rPr>
              <a:t>, Range, Image, </a:t>
            </a:r>
            <a:r>
              <a:rPr lang="en-US" sz="2400" b="1" dirty="0" err="1">
                <a:solidFill>
                  <a:srgbClr val="0000FF"/>
                </a:solidFill>
              </a:rPr>
              <a:t>Preimage</a:t>
            </a:r>
            <a:r>
              <a:rPr lang="en-US" sz="2400" b="1" dirty="0">
                <a:solidFill>
                  <a:srgbClr val="0000FF"/>
                </a:solidFill>
              </a:rPr>
              <a:t>, </a:t>
            </a:r>
          </a:p>
          <a:p>
            <a:pPr marL="457200" indent="-274320">
              <a:buClr>
                <a:srgbClr val="FF0000"/>
              </a:buClr>
              <a:buFont typeface="Arial" pitchFamily="34" charset="0"/>
              <a:buChar char="•"/>
            </a:pPr>
            <a:r>
              <a:rPr lang="en-US" sz="2400" b="1" dirty="0">
                <a:solidFill>
                  <a:srgbClr val="0000FF"/>
                </a:solidFill>
              </a:rPr>
              <a:t>One-to-one function</a:t>
            </a:r>
          </a:p>
          <a:p>
            <a:pPr marL="457200" indent="-274320">
              <a:buClr>
                <a:srgbClr val="FF0000"/>
              </a:buClr>
              <a:buFont typeface="Arial" pitchFamily="34" charset="0"/>
              <a:buChar char="•"/>
            </a:pPr>
            <a:r>
              <a:rPr lang="en-US" sz="2400" b="1" dirty="0">
                <a:solidFill>
                  <a:srgbClr val="0000FF"/>
                </a:solidFill>
              </a:rPr>
              <a:t>Onto function</a:t>
            </a:r>
          </a:p>
          <a:p>
            <a:pPr marL="457200" indent="-274320">
              <a:buClr>
                <a:srgbClr val="FF0000"/>
              </a:buClr>
              <a:buFont typeface="Arial" pitchFamily="34" charset="0"/>
              <a:buChar char="•"/>
            </a:pPr>
            <a:r>
              <a:rPr lang="en-US" sz="2400" b="1" dirty="0">
                <a:solidFill>
                  <a:srgbClr val="0000FF"/>
                </a:solidFill>
              </a:rPr>
              <a:t>One-to-one correspondence</a:t>
            </a:r>
          </a:p>
          <a:p>
            <a:pPr marL="457200" indent="-274320">
              <a:buClr>
                <a:srgbClr val="FF0000"/>
              </a:buClr>
              <a:buFont typeface="Arial" pitchFamily="34" charset="0"/>
              <a:buChar char="•"/>
            </a:pPr>
            <a:r>
              <a:rPr lang="en-US" altLang="zh-TW" sz="2400" b="1" dirty="0">
                <a:solidFill>
                  <a:srgbClr val="FF0000"/>
                </a:solidFill>
              </a:rPr>
              <a:t>Inverse Functions</a:t>
            </a:r>
            <a:r>
              <a:rPr lang="en-US" sz="2400" b="1" dirty="0">
                <a:solidFill>
                  <a:srgbClr val="FF0000"/>
                </a:solidFill>
              </a:rPr>
              <a:t> </a:t>
            </a:r>
          </a:p>
          <a:p>
            <a:pPr marL="457200" indent="-274320">
              <a:buClr>
                <a:srgbClr val="FF0000"/>
              </a:buClr>
              <a:buFont typeface="Arial" pitchFamily="34" charset="0"/>
              <a:buChar char="•"/>
            </a:pPr>
            <a:r>
              <a:rPr lang="en-US" sz="2400" b="1" dirty="0">
                <a:solidFill>
                  <a:srgbClr val="FF0000"/>
                </a:solidFill>
              </a:rPr>
              <a:t>Compositions of Functions</a:t>
            </a:r>
          </a:p>
          <a:p>
            <a:pPr marL="457200" lvl="2" indent="-274320" algn="l">
              <a:spcBef>
                <a:spcPts val="0"/>
              </a:spcBef>
              <a:buClr>
                <a:srgbClr val="FF0000"/>
              </a:buClr>
              <a:buFont typeface="Arial" pitchFamily="34" charset="0"/>
              <a:buChar char="•"/>
            </a:pPr>
            <a:r>
              <a:rPr lang="en-US" sz="2400" b="1" dirty="0">
                <a:solidFill>
                  <a:srgbClr val="FF0000"/>
                </a:solidFill>
                <a:sym typeface="Symbol" pitchFamily="18" charset="2"/>
              </a:rPr>
              <a:t>Floor function</a:t>
            </a:r>
          </a:p>
          <a:p>
            <a:pPr marL="457200" lvl="2" indent="-274320" algn="l">
              <a:spcBef>
                <a:spcPts val="0"/>
              </a:spcBef>
              <a:buClr>
                <a:srgbClr val="FF0000"/>
              </a:buClr>
              <a:buFont typeface="Arial" pitchFamily="34" charset="0"/>
              <a:buChar char="•"/>
            </a:pPr>
            <a:r>
              <a:rPr lang="en-US" sz="2400" b="1" dirty="0">
                <a:solidFill>
                  <a:srgbClr val="FF0000"/>
                </a:solidFill>
                <a:sym typeface="Symbol" pitchFamily="18" charset="2"/>
              </a:rPr>
              <a:t>Ceiling Function</a:t>
            </a:r>
          </a:p>
          <a:p>
            <a:pPr marL="457200" lvl="2" indent="-274320" algn="l">
              <a:spcBef>
                <a:spcPts val="0"/>
              </a:spcBef>
              <a:buClr>
                <a:srgbClr val="FF0000"/>
              </a:buClr>
            </a:pPr>
            <a:endParaRPr lang="en-US" sz="2400" b="1" dirty="0">
              <a:solidFill>
                <a:schemeClr val="tx1"/>
              </a:solidFill>
              <a:sym typeface="Symbol" pitchFamily="18" charset="2"/>
            </a:endParaRPr>
          </a:p>
          <a:p>
            <a:pPr marL="457200" indent="-274320">
              <a:buClr>
                <a:srgbClr val="FF0000"/>
              </a:buClr>
              <a:buFont typeface="Arial" pitchFamily="34" charset="0"/>
              <a:buChar char="•"/>
            </a:pPr>
            <a:endParaRPr lang="en-US" sz="2800" b="1" dirty="0">
              <a:solidFill>
                <a:schemeClr val="tx1"/>
              </a:solidFill>
            </a:endParaRPr>
          </a:p>
          <a:p>
            <a:pPr marL="457200" indent="-274320">
              <a:buClr>
                <a:srgbClr val="FF0000"/>
              </a:buClr>
              <a:buFont typeface="Arial" pitchFamily="34" charset="0"/>
              <a:buChar char="•"/>
            </a:pPr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+mn-lt"/>
              </a:rPr>
              <a:t>Objectives and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1213" y="2156348"/>
            <a:ext cx="8665867" cy="34932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sz="2400" b="1" dirty="0">
                <a:solidFill>
                  <a:srgbClr val="FF0000"/>
                </a:solidFill>
              </a:rPr>
              <a:t>Objectives</a:t>
            </a:r>
            <a:r>
              <a:rPr lang="en-US" sz="2400" dirty="0"/>
              <a:t>: To understand what is function, domain, </a:t>
            </a:r>
            <a:r>
              <a:rPr lang="en-US" sz="2400" dirty="0" err="1"/>
              <a:t>codomain</a:t>
            </a:r>
            <a:r>
              <a:rPr lang="en-US" sz="2400" dirty="0"/>
              <a:t>, range, image, </a:t>
            </a:r>
            <a:r>
              <a:rPr lang="en-US" sz="2400" dirty="0" err="1"/>
              <a:t>preimage</a:t>
            </a:r>
            <a:r>
              <a:rPr lang="en-US" sz="2400" dirty="0"/>
              <a:t>; to understand different types of functions.</a:t>
            </a:r>
          </a:p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sz="2400" b="1" dirty="0">
                <a:solidFill>
                  <a:srgbClr val="FF0000"/>
                </a:solidFill>
              </a:rPr>
              <a:t>Outcomes</a:t>
            </a:r>
            <a:r>
              <a:rPr lang="en-US" sz="2400" dirty="0"/>
              <a:t>: Students are expected to be able to explain different types of functions with examples, be able to determine whether a function is one-to-one, onto, and/or one-to-one correspondence, be able to determine whether a function is invertible and find out the inverse of a function, be able to apply floor and ceiling functions.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314130" y="163693"/>
            <a:ext cx="7808976" cy="561029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 b="1" dirty="0">
                <a:solidFill>
                  <a:schemeClr val="tx1"/>
                </a:solidFill>
                <a:latin typeface="+mn-lt"/>
              </a:rPr>
              <a:t>Functions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314130" y="821043"/>
            <a:ext cx="851573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sz="2000" dirty="0"/>
              <a:t>A function </a:t>
            </a:r>
            <a:r>
              <a:rPr lang="en-US" sz="2000" b="1" i="1" dirty="0"/>
              <a:t>relates</a:t>
            </a:r>
            <a:r>
              <a:rPr lang="en-US" sz="2000" dirty="0"/>
              <a:t> an input to an output. </a:t>
            </a:r>
            <a:r>
              <a:rPr lang="en-US" sz="2000" dirty="0">
                <a:highlight>
                  <a:srgbClr val="FFFF00"/>
                </a:highlight>
              </a:rPr>
              <a:t>Function is defined in terms of sets</a:t>
            </a:r>
            <a:endParaRPr lang="en-US" sz="3200" dirty="0">
              <a:highlight>
                <a:srgbClr val="FFFF00"/>
              </a:highlight>
            </a:endParaRPr>
          </a:p>
        </p:txBody>
      </p:sp>
      <p:pic>
        <p:nvPicPr>
          <p:cNvPr id="6" name="Picture 5" descr="Text&#10;&#10;Description automatically generated">
            <a:extLst>
              <a:ext uri="{FF2B5EF4-FFF2-40B4-BE49-F238E27FC236}">
                <a16:creationId xmlns:a16="http://schemas.microsoft.com/office/drawing/2014/main" id="{47687580-9E7B-F642-9964-AE208578F3E3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196" y="1317475"/>
            <a:ext cx="7538732" cy="2302625"/>
          </a:xfrm>
          <a:prstGeom prst="rect">
            <a:avLst/>
          </a:prstGeom>
        </p:spPr>
      </p:pic>
      <p:pic>
        <p:nvPicPr>
          <p:cNvPr id="8" name="Picture 7" descr="A picture containing text&#10;&#10;Description automatically generated">
            <a:extLst>
              <a:ext uri="{FF2B5EF4-FFF2-40B4-BE49-F238E27FC236}">
                <a16:creationId xmlns:a16="http://schemas.microsoft.com/office/drawing/2014/main" id="{1291B60A-BA42-5244-8622-EA97E02855A3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790" y="3636291"/>
            <a:ext cx="7377545" cy="2124364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85B9FF90-58D4-FB40-AD5E-3986D7F110A7}"/>
              </a:ext>
            </a:extLst>
          </p:cNvPr>
          <p:cNvSpPr/>
          <p:nvPr/>
        </p:nvSpPr>
        <p:spPr>
          <a:xfrm>
            <a:off x="1326692" y="6101552"/>
            <a:ext cx="622973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</a:pPr>
            <a:r>
              <a:rPr lang="en-US" sz="2000" b="1" dirty="0">
                <a:highlight>
                  <a:srgbClr val="00FFFF"/>
                </a:highlight>
              </a:rPr>
              <a:t>Functions can be defined in many ways</a:t>
            </a:r>
            <a:endParaRPr lang="en-US" sz="3200" b="1" dirty="0">
              <a:highlight>
                <a:srgbClr val="00FFFF"/>
              </a:highlight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+mn-lt"/>
              </a:rPr>
              <a:t>Functions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353101" y="2420925"/>
            <a:ext cx="8515739" cy="38472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altLang="zh-TW" sz="2800" u="sng" dirty="0">
                <a:solidFill>
                  <a:srgbClr val="FF0000"/>
                </a:solidFill>
              </a:rPr>
              <a:t>Definition 1</a:t>
            </a:r>
            <a:r>
              <a:rPr lang="en-US" altLang="zh-TW" sz="2800" dirty="0"/>
              <a:t>: </a:t>
            </a:r>
            <a:r>
              <a:rPr lang="en-US" altLang="zh-TW" sz="2800" dirty="0">
                <a:solidFill>
                  <a:srgbClr val="0000FF"/>
                </a:solidFill>
              </a:rPr>
              <a:t>Let A and B be nonempty sets.</a:t>
            </a:r>
          </a:p>
          <a:p>
            <a:pPr marL="274320" indent="-274320">
              <a:spcBef>
                <a:spcPts val="600"/>
              </a:spcBef>
            </a:pPr>
            <a:r>
              <a:rPr lang="en-US" altLang="zh-TW" sz="2800" dirty="0">
                <a:solidFill>
                  <a:srgbClr val="0000FF"/>
                </a:solidFill>
              </a:rPr>
              <a:t>	A function</a:t>
            </a:r>
            <a:r>
              <a:rPr lang="en-US" altLang="zh-TW" sz="2800" i="1" dirty="0">
                <a:solidFill>
                  <a:srgbClr val="0000FF"/>
                </a:solidFill>
              </a:rPr>
              <a:t> f</a:t>
            </a:r>
            <a:r>
              <a:rPr lang="en-US" altLang="zh-TW" sz="2800" dirty="0">
                <a:solidFill>
                  <a:srgbClr val="0000FF"/>
                </a:solidFill>
              </a:rPr>
              <a:t> from </a:t>
            </a:r>
            <a:r>
              <a:rPr lang="en-US" altLang="zh-TW" sz="2800" i="1" dirty="0">
                <a:solidFill>
                  <a:srgbClr val="0000FF"/>
                </a:solidFill>
              </a:rPr>
              <a:t>A</a:t>
            </a:r>
            <a:r>
              <a:rPr lang="en-US" altLang="zh-TW" sz="2800" dirty="0">
                <a:solidFill>
                  <a:srgbClr val="0000FF"/>
                </a:solidFill>
              </a:rPr>
              <a:t> to </a:t>
            </a:r>
            <a:r>
              <a:rPr lang="en-US" altLang="zh-TW" sz="2800" i="1" dirty="0">
                <a:solidFill>
                  <a:srgbClr val="0000FF"/>
                </a:solidFill>
              </a:rPr>
              <a:t>B</a:t>
            </a:r>
            <a:r>
              <a:rPr lang="en-US" altLang="zh-TW" sz="2800" dirty="0">
                <a:solidFill>
                  <a:srgbClr val="0000FF"/>
                </a:solidFill>
              </a:rPr>
              <a:t> is an assignment of exactly one element of </a:t>
            </a:r>
            <a:r>
              <a:rPr lang="en-US" altLang="zh-TW" sz="2800" i="1" dirty="0">
                <a:solidFill>
                  <a:srgbClr val="0000FF"/>
                </a:solidFill>
              </a:rPr>
              <a:t>B</a:t>
            </a:r>
            <a:r>
              <a:rPr lang="en-US" altLang="zh-TW" sz="2800" dirty="0">
                <a:solidFill>
                  <a:srgbClr val="0000FF"/>
                </a:solidFill>
              </a:rPr>
              <a:t> to each element of </a:t>
            </a:r>
            <a:r>
              <a:rPr lang="en-US" altLang="zh-TW" sz="2800" i="1" dirty="0">
                <a:solidFill>
                  <a:srgbClr val="0000FF"/>
                </a:solidFill>
              </a:rPr>
              <a:t>A</a:t>
            </a:r>
            <a:r>
              <a:rPr lang="en-US" altLang="zh-TW" sz="2800" dirty="0">
                <a:solidFill>
                  <a:srgbClr val="0000FF"/>
                </a:solidFill>
              </a:rPr>
              <a:t>.</a:t>
            </a:r>
          </a:p>
          <a:p>
            <a:pPr marL="274320" indent="-274320">
              <a:spcBef>
                <a:spcPts val="600"/>
              </a:spcBef>
            </a:pPr>
            <a:r>
              <a:rPr lang="en-US" altLang="zh-TW" sz="2800" dirty="0"/>
              <a:t>	We write </a:t>
            </a:r>
            <a:r>
              <a:rPr lang="en-US" altLang="zh-TW" sz="2800" i="1" dirty="0"/>
              <a:t>f</a:t>
            </a:r>
            <a:r>
              <a:rPr lang="en-US" altLang="zh-TW" sz="2800" dirty="0"/>
              <a:t>(</a:t>
            </a:r>
            <a:r>
              <a:rPr lang="en-US" altLang="zh-TW" sz="2800" i="1" dirty="0"/>
              <a:t>a</a:t>
            </a:r>
            <a:r>
              <a:rPr lang="en-US" altLang="zh-TW" sz="2800" dirty="0"/>
              <a:t>) = </a:t>
            </a:r>
            <a:r>
              <a:rPr lang="en-US" altLang="zh-TW" sz="2800" i="1" dirty="0"/>
              <a:t>b</a:t>
            </a:r>
            <a:r>
              <a:rPr lang="en-US" altLang="zh-TW" sz="2800" dirty="0"/>
              <a:t> if </a:t>
            </a:r>
            <a:r>
              <a:rPr lang="en-US" altLang="zh-TW" sz="2800" i="1" dirty="0"/>
              <a:t>b</a:t>
            </a:r>
            <a:r>
              <a:rPr lang="en-US" altLang="zh-TW" sz="2800" dirty="0"/>
              <a:t> is the unique element of B assigned by the function </a:t>
            </a:r>
            <a:r>
              <a:rPr lang="en-US" altLang="zh-TW" sz="2800" i="1" dirty="0"/>
              <a:t>f</a:t>
            </a:r>
            <a:r>
              <a:rPr lang="en-US" altLang="zh-TW" sz="2800" dirty="0"/>
              <a:t> to the element </a:t>
            </a:r>
            <a:r>
              <a:rPr lang="en-US" altLang="zh-TW" sz="2800" i="1" dirty="0"/>
              <a:t>a</a:t>
            </a:r>
            <a:r>
              <a:rPr lang="en-US" altLang="zh-TW" sz="2800" dirty="0"/>
              <a:t> of A.</a:t>
            </a:r>
          </a:p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altLang="zh-TW" sz="2800" dirty="0">
                <a:solidFill>
                  <a:srgbClr val="0000FF"/>
                </a:solidFill>
              </a:rPr>
              <a:t>If </a:t>
            </a:r>
            <a:r>
              <a:rPr lang="en-US" altLang="zh-TW" sz="2800" i="1" dirty="0">
                <a:solidFill>
                  <a:srgbClr val="0000FF"/>
                </a:solidFill>
              </a:rPr>
              <a:t>f</a:t>
            </a:r>
            <a:r>
              <a:rPr lang="en-US" altLang="zh-TW" sz="2800" dirty="0">
                <a:solidFill>
                  <a:srgbClr val="0000FF"/>
                </a:solidFill>
              </a:rPr>
              <a:t> is a function from A to B</a:t>
            </a:r>
            <a:r>
              <a:rPr lang="en-US" altLang="zh-TW" sz="2800" dirty="0"/>
              <a:t>, we write  </a:t>
            </a:r>
            <a:r>
              <a:rPr lang="en-US" altLang="zh-TW" sz="2800" i="1" dirty="0">
                <a:solidFill>
                  <a:srgbClr val="0000FF"/>
                </a:solidFill>
              </a:rPr>
              <a:t>f: A</a:t>
            </a:r>
            <a:r>
              <a:rPr lang="en-US" altLang="zh-TW" sz="2800" i="1" dirty="0">
                <a:solidFill>
                  <a:srgbClr val="0000FF"/>
                </a:solidFill>
                <a:sym typeface="Symbol" pitchFamily="18" charset="2"/>
              </a:rPr>
              <a:t></a:t>
            </a:r>
            <a:r>
              <a:rPr lang="en-US" altLang="zh-TW" sz="2800" i="1" dirty="0">
                <a:solidFill>
                  <a:srgbClr val="0000FF"/>
                </a:solidFill>
              </a:rPr>
              <a:t>B</a:t>
            </a:r>
          </a:p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altLang="zh-TW" sz="2800" dirty="0">
                <a:solidFill>
                  <a:srgbClr val="FF0000"/>
                </a:solidFill>
              </a:rPr>
              <a:t>Note</a:t>
            </a:r>
            <a:r>
              <a:rPr lang="en-US" altLang="zh-TW" sz="2800" dirty="0"/>
              <a:t>: Functions are sometimes called </a:t>
            </a:r>
            <a:r>
              <a:rPr lang="en-US" altLang="zh-TW" sz="2800" i="1" dirty="0">
                <a:solidFill>
                  <a:srgbClr val="0000FF"/>
                </a:solidFill>
              </a:rPr>
              <a:t>mappings</a:t>
            </a:r>
            <a:r>
              <a:rPr lang="en-US" altLang="zh-TW" sz="2800" dirty="0"/>
              <a:t> or </a:t>
            </a:r>
            <a:r>
              <a:rPr lang="en-US" altLang="zh-TW" sz="2800" i="1" dirty="0">
                <a:solidFill>
                  <a:srgbClr val="0000FF"/>
                </a:solidFill>
              </a:rPr>
              <a:t>transformations</a:t>
            </a:r>
            <a:r>
              <a:rPr lang="en-US" altLang="zh-TW" sz="2800" dirty="0"/>
              <a:t>. 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0542253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+mn-lt"/>
              </a:rPr>
              <a:t>Functions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21341" y="2413338"/>
            <a:ext cx="8515739" cy="33393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sz="2800" dirty="0"/>
              <a:t>Functions are specified in many ways.</a:t>
            </a:r>
          </a:p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sz="2800" dirty="0"/>
              <a:t>Sometimes we explicitly state the assignments, as in Figure 1.</a:t>
            </a:r>
          </a:p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sz="2800" dirty="0"/>
              <a:t>Often, we give a formula, such as f(</a:t>
            </a:r>
            <a:r>
              <a:rPr lang="en-US" sz="2800" i="1" dirty="0"/>
              <a:t>x</a:t>
            </a:r>
            <a:r>
              <a:rPr lang="en-US" sz="2800" dirty="0"/>
              <a:t>) = </a:t>
            </a:r>
            <a:r>
              <a:rPr lang="en-US" sz="2800" i="1" dirty="0"/>
              <a:t>x</a:t>
            </a:r>
            <a:r>
              <a:rPr lang="en-US" sz="2800" dirty="0"/>
              <a:t> + 1, to define a function.</a:t>
            </a:r>
          </a:p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sz="2800" dirty="0"/>
              <a:t>Other times we use a computer program to specify a function.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+mn-lt"/>
              </a:rPr>
              <a:t>Functions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382133" y="2109043"/>
            <a:ext cx="8322931" cy="41242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sz="2800" dirty="0"/>
              <a:t>A function </a:t>
            </a:r>
            <a:r>
              <a:rPr lang="en-US" altLang="zh-TW" sz="2800" i="1" dirty="0">
                <a:solidFill>
                  <a:srgbClr val="0000FF"/>
                </a:solidFill>
              </a:rPr>
              <a:t>f: A</a:t>
            </a:r>
            <a:r>
              <a:rPr lang="en-US" altLang="zh-TW" sz="2800" i="1" dirty="0">
                <a:solidFill>
                  <a:srgbClr val="0000FF"/>
                </a:solidFill>
                <a:sym typeface="Symbol" pitchFamily="18" charset="2"/>
              </a:rPr>
              <a:t> </a:t>
            </a:r>
            <a:r>
              <a:rPr lang="en-US" altLang="zh-TW" sz="2800" i="1" dirty="0">
                <a:solidFill>
                  <a:srgbClr val="0000FF"/>
                </a:solidFill>
              </a:rPr>
              <a:t>B </a:t>
            </a:r>
            <a:r>
              <a:rPr lang="en-US" altLang="zh-TW" sz="2800" dirty="0"/>
              <a:t>can also be defined in terms of a </a:t>
            </a:r>
            <a:r>
              <a:rPr lang="en-US" altLang="zh-TW" sz="2800" b="1" dirty="0">
                <a:solidFill>
                  <a:srgbClr val="FF0000"/>
                </a:solidFill>
              </a:rPr>
              <a:t>relation</a:t>
            </a:r>
            <a:r>
              <a:rPr lang="en-US" altLang="zh-TW" sz="2800" dirty="0"/>
              <a:t> from </a:t>
            </a:r>
            <a:r>
              <a:rPr lang="en-US" altLang="zh-TW" sz="2800" i="1" dirty="0"/>
              <a:t>A</a:t>
            </a:r>
            <a:r>
              <a:rPr lang="en-US" altLang="zh-TW" sz="2800" dirty="0"/>
              <a:t> to </a:t>
            </a:r>
            <a:r>
              <a:rPr lang="en-US" altLang="zh-TW" sz="2800" i="1" dirty="0"/>
              <a:t>B</a:t>
            </a:r>
            <a:r>
              <a:rPr lang="en-US" altLang="zh-TW" sz="2800" dirty="0"/>
              <a:t>. [we will cover Relation in final term]</a:t>
            </a:r>
          </a:p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altLang="zh-TW" sz="2800" dirty="0">
                <a:solidFill>
                  <a:srgbClr val="0000FF"/>
                </a:solidFill>
              </a:rPr>
              <a:t>A relation from A to B is just a subset of </a:t>
            </a:r>
            <a:r>
              <a:rPr lang="en-US" altLang="zh-TW" sz="2800" i="1" dirty="0">
                <a:solidFill>
                  <a:srgbClr val="0000FF"/>
                </a:solidFill>
              </a:rPr>
              <a:t>A X B</a:t>
            </a:r>
            <a:r>
              <a:rPr lang="en-US" altLang="zh-TW" sz="2800" i="1" dirty="0"/>
              <a:t>.</a:t>
            </a:r>
          </a:p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altLang="zh-TW" sz="2800" dirty="0"/>
              <a:t>A relation from </a:t>
            </a:r>
            <a:r>
              <a:rPr lang="en-US" altLang="zh-TW" sz="2800" i="1" dirty="0"/>
              <a:t>A</a:t>
            </a:r>
            <a:r>
              <a:rPr lang="en-US" altLang="zh-TW" sz="2800" dirty="0"/>
              <a:t> to </a:t>
            </a:r>
            <a:r>
              <a:rPr lang="en-US" altLang="zh-TW" sz="2800" i="1" dirty="0"/>
              <a:t>B</a:t>
            </a:r>
            <a:r>
              <a:rPr lang="en-US" altLang="zh-TW" sz="2800" dirty="0"/>
              <a:t> that contains one, and only one, ordered pair (a, b) for every element a</a:t>
            </a:r>
            <a:r>
              <a:rPr lang="en-US" altLang="zh-TW" sz="2800" i="1" dirty="0">
                <a:sym typeface="Symbol" pitchFamily="18" charset="2"/>
              </a:rPr>
              <a:t> A, </a:t>
            </a:r>
            <a:r>
              <a:rPr lang="en-US" altLang="zh-TW" sz="2800" dirty="0">
                <a:sym typeface="Symbol" pitchFamily="18" charset="2"/>
              </a:rPr>
              <a:t>defines a function </a:t>
            </a:r>
            <a:r>
              <a:rPr lang="en-US" altLang="zh-TW" sz="2800" i="1" dirty="0">
                <a:sym typeface="Symbol" pitchFamily="18" charset="2"/>
              </a:rPr>
              <a:t>f </a:t>
            </a:r>
            <a:r>
              <a:rPr lang="en-US" altLang="zh-TW" sz="2800" dirty="0">
                <a:sym typeface="Symbol" pitchFamily="18" charset="2"/>
              </a:rPr>
              <a:t>from </a:t>
            </a:r>
            <a:r>
              <a:rPr lang="en-US" altLang="zh-TW" sz="2800" i="1" dirty="0">
                <a:sym typeface="Symbol" pitchFamily="18" charset="2"/>
              </a:rPr>
              <a:t>A</a:t>
            </a:r>
            <a:r>
              <a:rPr lang="en-US" altLang="zh-TW" sz="2800" dirty="0">
                <a:sym typeface="Symbol" pitchFamily="18" charset="2"/>
              </a:rPr>
              <a:t> to </a:t>
            </a:r>
            <a:r>
              <a:rPr lang="en-US" altLang="zh-TW" sz="2800" i="1" dirty="0">
                <a:sym typeface="Symbol" pitchFamily="18" charset="2"/>
              </a:rPr>
              <a:t>B</a:t>
            </a:r>
            <a:r>
              <a:rPr lang="en-US" altLang="zh-TW" sz="2800" dirty="0">
                <a:sym typeface="Symbol" pitchFamily="18" charset="2"/>
              </a:rPr>
              <a:t>. This function is defined by the assignment </a:t>
            </a:r>
            <a:r>
              <a:rPr lang="en-US" altLang="zh-TW" sz="2800" i="1" dirty="0">
                <a:sym typeface="Symbol" pitchFamily="18" charset="2"/>
              </a:rPr>
              <a:t>f</a:t>
            </a:r>
            <a:r>
              <a:rPr lang="en-US" altLang="zh-TW" sz="2800" dirty="0">
                <a:sym typeface="Symbol" pitchFamily="18" charset="2"/>
              </a:rPr>
              <a:t>(a)=b, where ( a, b) is the unique ordered pair in the relation that has </a:t>
            </a:r>
            <a:r>
              <a:rPr lang="en-US" altLang="zh-TW" sz="2800" i="1" dirty="0">
                <a:sym typeface="Symbol" pitchFamily="18" charset="2"/>
              </a:rPr>
              <a:t>a</a:t>
            </a:r>
            <a:r>
              <a:rPr lang="en-US" altLang="zh-TW" sz="2800" dirty="0">
                <a:sym typeface="Symbol" pitchFamily="18" charset="2"/>
              </a:rPr>
              <a:t> as its first element. 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298509" y="667373"/>
            <a:ext cx="7808976" cy="1088136"/>
          </a:xfrm>
        </p:spPr>
        <p:txBody>
          <a:bodyPr>
            <a:noAutofit/>
          </a:bodyPr>
          <a:lstStyle/>
          <a:p>
            <a:r>
              <a:rPr lang="en-US" altLang="zh-TW" sz="3200" b="1" dirty="0">
                <a:latin typeface="+mn-lt"/>
                <a:cs typeface="Arial" charset="0"/>
              </a:rPr>
              <a:t>FIGURE 1: Assignment of Grades in a </a:t>
            </a:r>
            <a:br>
              <a:rPr lang="en-US" altLang="zh-TW" sz="3200" b="1" dirty="0">
                <a:latin typeface="+mn-lt"/>
                <a:cs typeface="Arial" charset="0"/>
              </a:rPr>
            </a:br>
            <a:r>
              <a:rPr lang="en-US" altLang="zh-TW" sz="3200" b="1" dirty="0">
                <a:latin typeface="+mn-lt"/>
                <a:cs typeface="Arial" charset="0"/>
              </a:rPr>
              <a:t>Discrete Mathematics Class</a:t>
            </a:r>
            <a:endParaRPr lang="en-US" sz="3200" dirty="0">
              <a:latin typeface="+mn-lt"/>
            </a:endParaRPr>
          </a:p>
        </p:txBody>
      </p:sp>
      <p:pic>
        <p:nvPicPr>
          <p:cNvPr id="5" name="Picture 3" descr="02-3-00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1240808" y="2076736"/>
            <a:ext cx="6075363" cy="408622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919916" y="507189"/>
            <a:ext cx="7304167" cy="35976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200" b="1" dirty="0">
                <a:solidFill>
                  <a:schemeClr val="tx1"/>
                </a:solidFill>
                <a:latin typeface="+mn-lt"/>
              </a:rPr>
              <a:t>Domain, Codomain and Range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7B2146E-48A2-2C40-B557-B5D00A5BD106}"/>
              </a:ext>
            </a:extLst>
          </p:cNvPr>
          <p:cNvSpPr/>
          <p:nvPr/>
        </p:nvSpPr>
        <p:spPr>
          <a:xfrm>
            <a:off x="697522" y="1189030"/>
            <a:ext cx="7748954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What can go </a:t>
            </a:r>
            <a:r>
              <a:rPr lang="en-US" sz="2000" b="1" dirty="0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into</a:t>
            </a:r>
            <a:r>
              <a:rPr lang="en-US" sz="2000" dirty="0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 a function is called the </a:t>
            </a:r>
            <a:r>
              <a:rPr lang="en-US" sz="2000" b="1" dirty="0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Domain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What </a:t>
            </a: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may possibly come out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 of a function is called the </a:t>
            </a: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Codomain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What </a:t>
            </a: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actually comes out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 of a function is called the </a:t>
            </a: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Range</a:t>
            </a: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2" name="Picture 11" descr="Diagram&#10;&#10;Description automatically generated">
            <a:extLst>
              <a:ext uri="{FF2B5EF4-FFF2-40B4-BE49-F238E27FC236}">
                <a16:creationId xmlns:a16="http://schemas.microsoft.com/office/drawing/2014/main" id="{F35F567C-CD15-F140-99A8-79336F725B17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762" y="2280893"/>
            <a:ext cx="7465982" cy="3538728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BDFA6DF5-6441-C046-865E-A217F54EB80C}"/>
              </a:ext>
            </a:extLst>
          </p:cNvPr>
          <p:cNvSpPr/>
          <p:nvPr/>
        </p:nvSpPr>
        <p:spPr>
          <a:xfrm>
            <a:off x="2250471" y="6119978"/>
            <a:ext cx="508735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</a:pPr>
            <a:r>
              <a:rPr lang="en-US" sz="2400" dirty="0">
                <a:highlight>
                  <a:srgbClr val="00FFFF"/>
                </a:highlight>
              </a:rPr>
              <a:t>The Range is a subset of the Codomain.</a:t>
            </a:r>
            <a:endParaRPr lang="en-US" sz="3600" dirty="0">
              <a:highlight>
                <a:srgbClr val="00FFFF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41919041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+mn-lt"/>
              </a:rPr>
              <a:t>Some Function Terminology</a:t>
            </a:r>
          </a:p>
        </p:txBody>
      </p:sp>
      <p:sp>
        <p:nvSpPr>
          <p:cNvPr id="5" name="Rectangle 4"/>
          <p:cNvSpPr/>
          <p:nvPr/>
        </p:nvSpPr>
        <p:spPr>
          <a:xfrm>
            <a:off x="245660" y="2593505"/>
            <a:ext cx="8691420" cy="35825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zh-TW" sz="2800" u="sng" dirty="0">
                <a:solidFill>
                  <a:srgbClr val="0000FF"/>
                </a:solidFill>
              </a:rPr>
              <a:t>Definition 2</a:t>
            </a:r>
            <a:r>
              <a:rPr lang="en-US" altLang="zh-TW" sz="2800" dirty="0"/>
              <a:t>: If </a:t>
            </a:r>
            <a:r>
              <a:rPr lang="en-US" altLang="zh-TW" sz="2800" i="1" dirty="0"/>
              <a:t>f</a:t>
            </a:r>
            <a:r>
              <a:rPr lang="en-US" altLang="zh-TW" sz="2800" dirty="0"/>
              <a:t> is a function from A to B, we say that </a:t>
            </a:r>
            <a:r>
              <a:rPr lang="en-US" altLang="zh-TW" sz="2800" b="1" dirty="0">
                <a:solidFill>
                  <a:srgbClr val="FF0000"/>
                </a:solidFill>
              </a:rPr>
              <a:t>A</a:t>
            </a:r>
            <a:r>
              <a:rPr lang="en-US" altLang="zh-TW" sz="2800" dirty="0">
                <a:solidFill>
                  <a:srgbClr val="FF0000"/>
                </a:solidFill>
              </a:rPr>
              <a:t> is the </a:t>
            </a:r>
            <a:r>
              <a:rPr lang="en-US" altLang="zh-TW" sz="2800" b="1" dirty="0">
                <a:solidFill>
                  <a:srgbClr val="FF0000"/>
                </a:solidFill>
              </a:rPr>
              <a:t>domain</a:t>
            </a:r>
            <a:r>
              <a:rPr lang="en-US" altLang="zh-TW" sz="2800" dirty="0">
                <a:solidFill>
                  <a:srgbClr val="FF0000"/>
                </a:solidFill>
              </a:rPr>
              <a:t> of </a:t>
            </a:r>
            <a:r>
              <a:rPr lang="en-US" altLang="zh-TW" sz="2800" i="1" dirty="0">
                <a:solidFill>
                  <a:srgbClr val="FF0000"/>
                </a:solidFill>
              </a:rPr>
              <a:t>f</a:t>
            </a:r>
            <a:r>
              <a:rPr lang="en-US" altLang="zh-TW" sz="2800" dirty="0">
                <a:solidFill>
                  <a:srgbClr val="FF0000"/>
                </a:solidFill>
              </a:rPr>
              <a:t> </a:t>
            </a:r>
            <a:r>
              <a:rPr lang="en-US" altLang="zh-TW" sz="2800" dirty="0"/>
              <a:t>and </a:t>
            </a:r>
            <a:r>
              <a:rPr lang="en-US" altLang="zh-TW" sz="2800" b="1" dirty="0">
                <a:solidFill>
                  <a:srgbClr val="FF0000"/>
                </a:solidFill>
              </a:rPr>
              <a:t>B</a:t>
            </a:r>
            <a:r>
              <a:rPr lang="en-US" altLang="zh-TW" sz="2800" dirty="0">
                <a:solidFill>
                  <a:srgbClr val="FF0000"/>
                </a:solidFill>
              </a:rPr>
              <a:t> is the </a:t>
            </a:r>
            <a:r>
              <a:rPr lang="en-US" altLang="zh-TW" sz="2800" b="1" dirty="0" err="1">
                <a:solidFill>
                  <a:srgbClr val="FF0000"/>
                </a:solidFill>
              </a:rPr>
              <a:t>codomain</a:t>
            </a:r>
            <a:r>
              <a:rPr lang="en-US" altLang="zh-TW" sz="2800" dirty="0">
                <a:solidFill>
                  <a:srgbClr val="FF0000"/>
                </a:solidFill>
              </a:rPr>
              <a:t> of </a:t>
            </a:r>
            <a:r>
              <a:rPr lang="en-US" altLang="zh-TW" sz="2800" i="1" dirty="0">
                <a:solidFill>
                  <a:srgbClr val="FF0000"/>
                </a:solidFill>
              </a:rPr>
              <a:t>f</a:t>
            </a:r>
            <a:r>
              <a:rPr lang="en-US" altLang="zh-TW" sz="2800" dirty="0">
                <a:solidFill>
                  <a:srgbClr val="FF0000"/>
                </a:solidFill>
              </a:rPr>
              <a:t>.</a:t>
            </a:r>
          </a:p>
          <a:p>
            <a:pPr marL="342900" lvl="1" indent="-342900">
              <a:lnSpc>
                <a:spcPct val="90000"/>
              </a:lnSpc>
              <a:buFont typeface="Arial" charset="0"/>
              <a:buChar char="•"/>
            </a:pPr>
            <a:endParaRPr lang="en-US" altLang="zh-TW" sz="2800" dirty="0"/>
          </a:p>
          <a:p>
            <a:pPr marL="342900" lvl="1" indent="-342900">
              <a:lnSpc>
                <a:spcPct val="90000"/>
              </a:lnSpc>
              <a:buFont typeface="Arial" charset="0"/>
              <a:buChar char="•"/>
            </a:pPr>
            <a:r>
              <a:rPr lang="en-US" altLang="zh-TW" sz="2800" dirty="0"/>
              <a:t>If </a:t>
            </a:r>
            <a:r>
              <a:rPr lang="en-US" altLang="zh-TW" sz="2800" i="1" dirty="0"/>
              <a:t>f(a)=b</a:t>
            </a:r>
            <a:r>
              <a:rPr lang="en-US" altLang="zh-TW" sz="2800" dirty="0"/>
              <a:t>, </a:t>
            </a:r>
            <a:r>
              <a:rPr lang="en-US" altLang="zh-TW" sz="2800" i="1" dirty="0"/>
              <a:t>a</a:t>
            </a:r>
            <a:r>
              <a:rPr lang="en-US" altLang="zh-TW" sz="2800" dirty="0"/>
              <a:t> is the </a:t>
            </a:r>
            <a:r>
              <a:rPr lang="en-US" altLang="zh-TW" sz="2800" b="1" i="1" dirty="0" err="1">
                <a:solidFill>
                  <a:srgbClr val="0000FF"/>
                </a:solidFill>
              </a:rPr>
              <a:t>preimage</a:t>
            </a:r>
            <a:r>
              <a:rPr lang="en-US" altLang="zh-TW" sz="2800" dirty="0"/>
              <a:t> of </a:t>
            </a:r>
            <a:r>
              <a:rPr lang="en-US" altLang="zh-TW" sz="2800" i="1" dirty="0"/>
              <a:t>b</a:t>
            </a:r>
            <a:r>
              <a:rPr lang="en-US" altLang="zh-TW" sz="2800" dirty="0"/>
              <a:t> and </a:t>
            </a:r>
            <a:r>
              <a:rPr lang="en-US" altLang="zh-TW" sz="2800" i="1" dirty="0"/>
              <a:t>b </a:t>
            </a:r>
            <a:r>
              <a:rPr lang="en-US" altLang="zh-TW" sz="2800" dirty="0"/>
              <a:t>is the </a:t>
            </a:r>
            <a:r>
              <a:rPr lang="en-US" altLang="zh-TW" sz="2800" b="1" i="1" dirty="0">
                <a:solidFill>
                  <a:srgbClr val="0000FF"/>
                </a:solidFill>
              </a:rPr>
              <a:t>image</a:t>
            </a:r>
            <a:r>
              <a:rPr lang="en-US" altLang="zh-TW" sz="2800" dirty="0"/>
              <a:t> of </a:t>
            </a:r>
            <a:r>
              <a:rPr lang="en-US" altLang="zh-TW" sz="2800" i="1" dirty="0"/>
              <a:t>a</a:t>
            </a:r>
            <a:r>
              <a:rPr lang="en-US" altLang="zh-TW" sz="2800" dirty="0"/>
              <a:t>.</a:t>
            </a:r>
          </a:p>
          <a:p>
            <a:pPr marL="342900" lvl="1" indent="-342900">
              <a:lnSpc>
                <a:spcPct val="90000"/>
              </a:lnSpc>
              <a:buFont typeface="Arial" charset="0"/>
              <a:buChar char="•"/>
            </a:pPr>
            <a:endParaRPr lang="en-US" altLang="zh-TW" sz="2800" dirty="0"/>
          </a:p>
          <a:p>
            <a:pPr marL="342900" lvl="1" indent="-342900">
              <a:lnSpc>
                <a:spcPct val="90000"/>
              </a:lnSpc>
              <a:buFont typeface="Arial" charset="0"/>
              <a:buChar char="•"/>
            </a:pPr>
            <a:r>
              <a:rPr lang="en-US" altLang="zh-TW" sz="2800" b="1" i="1" dirty="0">
                <a:solidFill>
                  <a:srgbClr val="0000FF"/>
                </a:solidFill>
              </a:rPr>
              <a:t>Range</a:t>
            </a:r>
            <a:r>
              <a:rPr lang="en-US" altLang="zh-TW" sz="2800" i="1" dirty="0">
                <a:solidFill>
                  <a:srgbClr val="0000FF"/>
                </a:solidFill>
              </a:rPr>
              <a:t> </a:t>
            </a:r>
            <a:r>
              <a:rPr lang="en-US" altLang="zh-TW" sz="2800" dirty="0">
                <a:solidFill>
                  <a:srgbClr val="0000FF"/>
                </a:solidFill>
              </a:rPr>
              <a:t>of </a:t>
            </a:r>
            <a:r>
              <a:rPr lang="en-US" altLang="zh-TW" sz="2800" i="1" dirty="0">
                <a:solidFill>
                  <a:srgbClr val="0000FF"/>
                </a:solidFill>
              </a:rPr>
              <a:t>f is </a:t>
            </a:r>
            <a:r>
              <a:rPr lang="en-US" altLang="zh-TW" sz="2800" dirty="0">
                <a:solidFill>
                  <a:srgbClr val="0000FF"/>
                </a:solidFill>
              </a:rPr>
              <a:t>the set of all images of elements of</a:t>
            </a:r>
            <a:r>
              <a:rPr lang="en-US" altLang="zh-TW" sz="2800" i="1" dirty="0">
                <a:solidFill>
                  <a:srgbClr val="0000FF"/>
                </a:solidFill>
              </a:rPr>
              <a:t> A.</a:t>
            </a:r>
            <a:r>
              <a:rPr lang="en-US" sz="2800" dirty="0"/>
              <a:t> </a:t>
            </a:r>
          </a:p>
          <a:p>
            <a:pPr marL="342900" lvl="1" indent="-342900">
              <a:lnSpc>
                <a:spcPct val="90000"/>
              </a:lnSpc>
              <a:buFont typeface="Arial" charset="0"/>
              <a:buChar char="•"/>
            </a:pPr>
            <a:r>
              <a:rPr lang="en-US" sz="2800" dirty="0"/>
              <a:t>Also, i</a:t>
            </a:r>
            <a:r>
              <a:rPr lang="en-US" altLang="zh-TW" sz="2800" dirty="0"/>
              <a:t>f</a:t>
            </a:r>
            <a:r>
              <a:rPr lang="en-US" altLang="zh-TW" sz="2800" i="1" dirty="0"/>
              <a:t> f </a:t>
            </a:r>
            <a:r>
              <a:rPr lang="en-US" altLang="zh-TW" sz="2800" dirty="0"/>
              <a:t>is a function  from A to B, we say that </a:t>
            </a:r>
            <a:r>
              <a:rPr lang="en-US" altLang="zh-TW" sz="2800" i="1" dirty="0">
                <a:solidFill>
                  <a:srgbClr val="0000FF"/>
                </a:solidFill>
              </a:rPr>
              <a:t>f</a:t>
            </a:r>
            <a:r>
              <a:rPr lang="en-US" altLang="zh-TW" sz="2800" dirty="0">
                <a:solidFill>
                  <a:srgbClr val="0000FF"/>
                </a:solidFill>
              </a:rPr>
              <a:t> maps from A to B.</a:t>
            </a:r>
          </a:p>
          <a:p>
            <a:pPr marL="342900" lvl="1" indent="-342900">
              <a:lnSpc>
                <a:spcPct val="90000"/>
              </a:lnSpc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3012165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+mn-lt"/>
              </a:rPr>
              <a:t>Domain, Codomain and Range</a:t>
            </a:r>
          </a:p>
        </p:txBody>
      </p:sp>
      <p:sp>
        <p:nvSpPr>
          <p:cNvPr id="5" name="Rectangle 4"/>
          <p:cNvSpPr/>
          <p:nvPr/>
        </p:nvSpPr>
        <p:spPr>
          <a:xfrm>
            <a:off x="204716" y="2285457"/>
            <a:ext cx="8732364" cy="32624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lvl="1" indent="-274320">
              <a:spcBef>
                <a:spcPts val="600"/>
              </a:spcBef>
              <a:buFont typeface="Arial" charset="0"/>
              <a:buChar char="•"/>
              <a:defRPr/>
            </a:pPr>
            <a:r>
              <a:rPr lang="en-US" altLang="zh-TW" sz="2800" dirty="0"/>
              <a:t>If </a:t>
            </a:r>
            <a:r>
              <a:rPr lang="en-US" altLang="zh-TW" sz="2800" i="1" dirty="0"/>
              <a:t>f </a:t>
            </a:r>
            <a:r>
              <a:rPr lang="en-US" altLang="zh-TW" sz="2800" dirty="0"/>
              <a:t>is a function  from A to B, we write </a:t>
            </a:r>
            <a:r>
              <a:rPr lang="en-US" altLang="zh-TW" sz="2800" i="1" dirty="0">
                <a:solidFill>
                  <a:srgbClr val="0000FF"/>
                </a:solidFill>
              </a:rPr>
              <a:t>f: A</a:t>
            </a:r>
            <a:r>
              <a:rPr lang="en-US" altLang="zh-TW" sz="2800" i="1" dirty="0">
                <a:solidFill>
                  <a:srgbClr val="0000FF"/>
                </a:solidFill>
                <a:sym typeface="Symbol" pitchFamily="18" charset="2"/>
              </a:rPr>
              <a:t> </a:t>
            </a:r>
            <a:r>
              <a:rPr lang="en-US" altLang="zh-TW" sz="2800" i="1" dirty="0">
                <a:solidFill>
                  <a:srgbClr val="0000FF"/>
                </a:solidFill>
              </a:rPr>
              <a:t>B</a:t>
            </a:r>
            <a:endParaRPr lang="en-US" altLang="zh-TW" sz="2800" dirty="0">
              <a:solidFill>
                <a:srgbClr val="0000FF"/>
              </a:solidFill>
            </a:endParaRPr>
          </a:p>
          <a:p>
            <a:pPr marL="731520" lvl="2" indent="-274320">
              <a:spcBef>
                <a:spcPts val="600"/>
              </a:spcBef>
              <a:buFont typeface="Wingdings" panose="05000000000000000000" pitchFamily="2" charset="2"/>
              <a:buChar char="§"/>
              <a:defRPr/>
            </a:pPr>
            <a:r>
              <a:rPr lang="en-US" altLang="zh-TW" sz="2400" i="1" dirty="0"/>
              <a:t>A</a:t>
            </a:r>
            <a:r>
              <a:rPr lang="en-US" altLang="zh-TW" sz="2400" dirty="0"/>
              <a:t> is the </a:t>
            </a:r>
            <a:r>
              <a:rPr lang="en-US" altLang="zh-TW" sz="2400" i="1" dirty="0">
                <a:solidFill>
                  <a:srgbClr val="0000FF"/>
                </a:solidFill>
              </a:rPr>
              <a:t>domain</a:t>
            </a:r>
            <a:r>
              <a:rPr lang="en-US" altLang="zh-TW" sz="2400" dirty="0"/>
              <a:t> of </a:t>
            </a:r>
            <a:r>
              <a:rPr lang="en-US" altLang="zh-TW" sz="2400" i="1" dirty="0"/>
              <a:t>f</a:t>
            </a:r>
          </a:p>
          <a:p>
            <a:pPr marL="731520" lvl="2" indent="-274320">
              <a:spcBef>
                <a:spcPts val="600"/>
              </a:spcBef>
              <a:buFont typeface="Wingdings" panose="05000000000000000000" pitchFamily="2" charset="2"/>
              <a:buChar char="§"/>
              <a:defRPr/>
            </a:pPr>
            <a:r>
              <a:rPr lang="en-US" altLang="zh-TW" sz="2400" i="1" dirty="0"/>
              <a:t>B</a:t>
            </a:r>
            <a:r>
              <a:rPr lang="en-US" altLang="zh-TW" sz="2400" dirty="0"/>
              <a:t> is the </a:t>
            </a:r>
            <a:r>
              <a:rPr lang="en-US" altLang="zh-TW" sz="2400" i="1" dirty="0" err="1">
                <a:solidFill>
                  <a:srgbClr val="0000FF"/>
                </a:solidFill>
              </a:rPr>
              <a:t>codomain</a:t>
            </a:r>
            <a:r>
              <a:rPr lang="en-US" altLang="zh-TW" sz="2400" dirty="0"/>
              <a:t> of </a:t>
            </a:r>
            <a:r>
              <a:rPr lang="en-US" altLang="zh-TW" sz="2400" i="1" dirty="0"/>
              <a:t>f</a:t>
            </a:r>
            <a:endParaRPr lang="en-US" altLang="zh-TW" sz="2400" dirty="0"/>
          </a:p>
          <a:p>
            <a:pPr marL="731520" lvl="2" indent="-274320">
              <a:spcBef>
                <a:spcPts val="600"/>
              </a:spcBef>
              <a:buFont typeface="Wingdings" panose="05000000000000000000" pitchFamily="2" charset="2"/>
              <a:buChar char="§"/>
              <a:defRPr/>
            </a:pPr>
            <a:r>
              <a:rPr lang="en-US" altLang="zh-TW" sz="2400" dirty="0"/>
              <a:t>If</a:t>
            </a:r>
            <a:r>
              <a:rPr lang="en-US" altLang="zh-TW" sz="2400" i="1" dirty="0"/>
              <a:t> f(a)=b</a:t>
            </a:r>
            <a:r>
              <a:rPr lang="en-US" altLang="zh-TW" sz="2400" dirty="0"/>
              <a:t>, </a:t>
            </a:r>
          </a:p>
          <a:p>
            <a:pPr marL="1188720" lvl="4" indent="-274320">
              <a:spcBef>
                <a:spcPts val="600"/>
              </a:spcBef>
              <a:buFont typeface="Arial" pitchFamily="34" charset="0"/>
              <a:buChar char="•"/>
              <a:defRPr/>
            </a:pPr>
            <a:r>
              <a:rPr lang="en-US" altLang="zh-TW" sz="2400" i="1" dirty="0"/>
              <a:t>a is called the </a:t>
            </a:r>
            <a:r>
              <a:rPr lang="en-US" altLang="zh-TW" sz="2400" i="1" dirty="0" err="1">
                <a:solidFill>
                  <a:srgbClr val="0000FF"/>
                </a:solidFill>
              </a:rPr>
              <a:t>preimage</a:t>
            </a:r>
            <a:r>
              <a:rPr lang="en-US" altLang="zh-TW" sz="2400" dirty="0"/>
              <a:t> of </a:t>
            </a:r>
            <a:r>
              <a:rPr lang="en-US" altLang="zh-TW" sz="2400" i="1" dirty="0"/>
              <a:t>b</a:t>
            </a:r>
          </a:p>
          <a:p>
            <a:pPr marL="1188720" lvl="4" indent="-274320">
              <a:spcBef>
                <a:spcPts val="600"/>
              </a:spcBef>
              <a:buFont typeface="Arial" pitchFamily="34" charset="0"/>
              <a:buChar char="•"/>
              <a:defRPr/>
            </a:pPr>
            <a:r>
              <a:rPr lang="en-US" altLang="zh-TW" sz="2400" i="1" dirty="0"/>
              <a:t>b is called the </a:t>
            </a:r>
            <a:r>
              <a:rPr lang="en-US" altLang="zh-TW" sz="2400" i="1" dirty="0">
                <a:solidFill>
                  <a:srgbClr val="0000FF"/>
                </a:solidFill>
              </a:rPr>
              <a:t>image</a:t>
            </a:r>
            <a:r>
              <a:rPr lang="en-US" altLang="zh-TW" sz="2400" dirty="0"/>
              <a:t> of </a:t>
            </a:r>
            <a:r>
              <a:rPr lang="en-US" altLang="zh-TW" sz="2400" i="1" dirty="0"/>
              <a:t>a</a:t>
            </a:r>
            <a:endParaRPr lang="en-US" altLang="zh-TW" sz="2400" dirty="0"/>
          </a:p>
          <a:p>
            <a:pPr marL="274320" lvl="1" indent="-274320">
              <a:spcBef>
                <a:spcPts val="600"/>
              </a:spcBef>
              <a:buFont typeface="Arial" pitchFamily="34" charset="0"/>
              <a:buChar char="•"/>
              <a:defRPr/>
            </a:pPr>
            <a:r>
              <a:rPr lang="en-US" altLang="zh-TW" sz="2800" b="1" i="1" dirty="0">
                <a:solidFill>
                  <a:srgbClr val="0000FF"/>
                </a:solidFill>
              </a:rPr>
              <a:t>Range</a:t>
            </a:r>
            <a:r>
              <a:rPr lang="en-US" altLang="zh-TW" sz="2800" i="1" dirty="0"/>
              <a:t> </a:t>
            </a:r>
            <a:r>
              <a:rPr lang="en-US" altLang="zh-TW" sz="2800" dirty="0"/>
              <a:t>of </a:t>
            </a:r>
            <a:r>
              <a:rPr lang="en-US" altLang="zh-TW" sz="2800" i="1" dirty="0"/>
              <a:t>f : </a:t>
            </a:r>
            <a:r>
              <a:rPr lang="en-US" altLang="zh-TW" sz="2800" dirty="0"/>
              <a:t>the set of all images of elements of</a:t>
            </a:r>
            <a:r>
              <a:rPr lang="en-US" altLang="zh-TW" sz="2800" i="1" dirty="0"/>
              <a:t> A 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4463172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+mn-lt"/>
              </a:rPr>
              <a:t>Range versus </a:t>
            </a:r>
            <a:r>
              <a:rPr lang="en-US" sz="4000" dirty="0" err="1">
                <a:latin typeface="+mn-lt"/>
              </a:rPr>
              <a:t>Codomain</a:t>
            </a:r>
            <a:endParaRPr lang="en-US" sz="4000" dirty="0">
              <a:latin typeface="+mn-lt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84861" y="2274838"/>
            <a:ext cx="8515739" cy="26007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sz="2400" dirty="0"/>
              <a:t>The range of a function might </a:t>
            </a:r>
            <a:r>
              <a:rPr lang="en-US" sz="2400" b="1" i="1" dirty="0">
                <a:solidFill>
                  <a:srgbClr val="FF0000"/>
                </a:solidFill>
              </a:rPr>
              <a:t>not</a:t>
            </a:r>
            <a:r>
              <a:rPr lang="en-US" sz="2400" dirty="0"/>
              <a:t> be its whole codomain.</a:t>
            </a:r>
          </a:p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sz="2400" dirty="0"/>
              <a:t>The </a:t>
            </a:r>
            <a:r>
              <a:rPr lang="en-US" sz="2400" dirty="0" err="1"/>
              <a:t>codomain</a:t>
            </a:r>
            <a:r>
              <a:rPr lang="en-US" sz="2400" dirty="0"/>
              <a:t> is the set that the function is </a:t>
            </a:r>
            <a:r>
              <a:rPr lang="en-US" sz="2400" b="1" i="1" dirty="0"/>
              <a:t>declared</a:t>
            </a:r>
            <a:r>
              <a:rPr lang="en-US" sz="2400" dirty="0"/>
              <a:t> to map all domain values into.</a:t>
            </a:r>
          </a:p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sz="2400" dirty="0"/>
              <a:t>The range is the particular set of values in the </a:t>
            </a:r>
            <a:r>
              <a:rPr lang="en-US" sz="2400" dirty="0" err="1"/>
              <a:t>codomain</a:t>
            </a:r>
            <a:r>
              <a:rPr lang="en-US" sz="2400" dirty="0"/>
              <a:t> the function </a:t>
            </a:r>
            <a:r>
              <a:rPr lang="en-US" sz="2400" b="1" i="1" dirty="0"/>
              <a:t>actually</a:t>
            </a:r>
            <a:r>
              <a:rPr lang="en-US" sz="2400" dirty="0"/>
              <a:t> maps elements of the domain to.</a:t>
            </a:r>
          </a:p>
          <a:p>
            <a:pPr marL="274320" indent="-274320">
              <a:spcBef>
                <a:spcPts val="600"/>
              </a:spcBef>
            </a:pPr>
            <a:endParaRPr lang="en-US" sz="2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204716" y="449004"/>
            <a:ext cx="8732364" cy="1502625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+mn-lt"/>
              </a:rPr>
              <a:t>Range versus </a:t>
            </a:r>
            <a:r>
              <a:rPr lang="en-US" sz="3200" dirty="0" err="1">
                <a:latin typeface="+mn-lt"/>
              </a:rPr>
              <a:t>Codomain</a:t>
            </a:r>
            <a:r>
              <a:rPr lang="en-US" sz="3200" dirty="0">
                <a:latin typeface="+mn-lt"/>
              </a:rPr>
              <a:t>: </a:t>
            </a:r>
            <a:r>
              <a:rPr lang="en-US" sz="3200" i="1" dirty="0">
                <a:latin typeface="+mn-lt"/>
              </a:rPr>
              <a:t>Example </a:t>
            </a:r>
            <a:br>
              <a:rPr lang="en-US" sz="3200" i="1" dirty="0">
                <a:latin typeface="+mn-lt"/>
              </a:rPr>
            </a:br>
            <a:r>
              <a:rPr lang="en-US" sz="3200" i="1" dirty="0">
                <a:latin typeface="+mn-lt"/>
              </a:rPr>
              <a:t>(See the </a:t>
            </a:r>
            <a:r>
              <a:rPr lang="en-US" altLang="zh-TW" sz="3200" dirty="0">
                <a:latin typeface="+mn-lt"/>
                <a:cs typeface="Arial" charset="0"/>
              </a:rPr>
              <a:t>FIGURE 1 in the previous slide)</a:t>
            </a:r>
            <a:endParaRPr lang="en-US" sz="3200" dirty="0">
              <a:latin typeface="+mn-lt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04716" y="2079727"/>
            <a:ext cx="8732364" cy="39241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sz="2800" dirty="0"/>
              <a:t>Suppose I declare to you that: “</a:t>
            </a:r>
            <a:r>
              <a:rPr lang="en-US" sz="2800" i="1" dirty="0"/>
              <a:t>f</a:t>
            </a:r>
            <a:r>
              <a:rPr lang="en-US" sz="2800" dirty="0"/>
              <a:t> is a function mapping students in this class to the set of grades {</a:t>
            </a:r>
            <a:r>
              <a:rPr lang="en-US" sz="2800" i="1" dirty="0"/>
              <a:t>A, B, C,D,F</a:t>
            </a:r>
            <a:r>
              <a:rPr lang="en-US" sz="2800" dirty="0"/>
              <a:t>}”.</a:t>
            </a:r>
          </a:p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sz="2800" dirty="0"/>
              <a:t>At this point, you know  </a:t>
            </a:r>
            <a:r>
              <a:rPr lang="en-US" sz="2800" i="1" dirty="0" err="1"/>
              <a:t>f</a:t>
            </a:r>
            <a:r>
              <a:rPr lang="en-US" sz="2800" dirty="0" err="1"/>
              <a:t>’s</a:t>
            </a:r>
            <a:r>
              <a:rPr lang="en-US" sz="2800" dirty="0"/>
              <a:t> </a:t>
            </a:r>
            <a:r>
              <a:rPr lang="en-US" sz="2800" dirty="0" err="1"/>
              <a:t>codomain</a:t>
            </a:r>
            <a:r>
              <a:rPr lang="en-US" sz="2800" dirty="0"/>
              <a:t> is: {</a:t>
            </a:r>
            <a:r>
              <a:rPr lang="en-US" sz="2800" i="1" dirty="0"/>
              <a:t>A, B, C,D,F</a:t>
            </a:r>
            <a:r>
              <a:rPr lang="en-US" sz="2800" dirty="0"/>
              <a:t>}, and it’s range is unknown!</a:t>
            </a:r>
          </a:p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sz="2800" dirty="0"/>
              <a:t>Suppose the grades turn out all </a:t>
            </a:r>
            <a:r>
              <a:rPr lang="en-US" sz="2800" i="1" dirty="0"/>
              <a:t>A</a:t>
            </a:r>
            <a:r>
              <a:rPr lang="en-US" sz="2800" dirty="0"/>
              <a:t>s and </a:t>
            </a:r>
            <a:r>
              <a:rPr lang="en-US" sz="2800" i="1" dirty="0"/>
              <a:t>B</a:t>
            </a:r>
            <a:r>
              <a:rPr lang="en-US" sz="2800" dirty="0"/>
              <a:t>s.</a:t>
            </a:r>
          </a:p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sz="2800" dirty="0"/>
              <a:t>Then the range of </a:t>
            </a:r>
            <a:r>
              <a:rPr lang="en-US" sz="2800" i="1" dirty="0"/>
              <a:t>f</a:t>
            </a:r>
            <a:r>
              <a:rPr lang="en-US" sz="2800" dirty="0"/>
              <a:t> is {</a:t>
            </a:r>
            <a:r>
              <a:rPr lang="en-US" sz="2800" i="1" dirty="0"/>
              <a:t>A, B</a:t>
            </a:r>
            <a:r>
              <a:rPr lang="en-US" sz="2800" dirty="0"/>
              <a:t>}”, but it’s </a:t>
            </a:r>
            <a:r>
              <a:rPr lang="en-US" sz="2800" dirty="0" err="1"/>
              <a:t>codomain</a:t>
            </a:r>
            <a:r>
              <a:rPr lang="en-US" sz="2800" dirty="0"/>
              <a:t> is still </a:t>
            </a:r>
          </a:p>
          <a:p>
            <a:pPr marL="274320" indent="-274320">
              <a:spcBef>
                <a:spcPts val="600"/>
              </a:spcBef>
            </a:pPr>
            <a:r>
              <a:rPr lang="en-US" sz="2800" dirty="0"/>
              <a:t>	{</a:t>
            </a:r>
            <a:r>
              <a:rPr lang="en-US" sz="2800" i="1" dirty="0"/>
              <a:t>A, B, C,D,F</a:t>
            </a:r>
            <a:r>
              <a:rPr lang="en-US" sz="2800" dirty="0"/>
              <a:t>}.</a:t>
            </a:r>
          </a:p>
          <a:p>
            <a:pPr marL="274320" indent="-274320">
              <a:spcBef>
                <a:spcPts val="600"/>
              </a:spcBef>
            </a:pP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+mn-lt"/>
              </a:rPr>
              <a:t>Example 1 </a:t>
            </a:r>
          </a:p>
        </p:txBody>
      </p:sp>
      <p:sp>
        <p:nvSpPr>
          <p:cNvPr id="5" name="Rectangle 4"/>
          <p:cNvSpPr/>
          <p:nvPr/>
        </p:nvSpPr>
        <p:spPr>
          <a:xfrm>
            <a:off x="421341" y="2197292"/>
            <a:ext cx="8515739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sz="2000" b="1" dirty="0">
                <a:solidFill>
                  <a:srgbClr val="FF0000"/>
                </a:solidFill>
              </a:rPr>
              <a:t>What</a:t>
            </a:r>
            <a:r>
              <a:rPr lang="en-US" sz="2000" dirty="0">
                <a:solidFill>
                  <a:srgbClr val="FF0000"/>
                </a:solidFill>
              </a:rPr>
              <a:t> are the </a:t>
            </a:r>
            <a:r>
              <a:rPr lang="en-US" sz="2000" b="1" dirty="0">
                <a:solidFill>
                  <a:srgbClr val="FF0000"/>
                </a:solidFill>
              </a:rPr>
              <a:t>domain</a:t>
            </a:r>
            <a:r>
              <a:rPr lang="en-US" sz="2000" dirty="0">
                <a:solidFill>
                  <a:srgbClr val="FF0000"/>
                </a:solidFill>
              </a:rPr>
              <a:t>, </a:t>
            </a:r>
            <a:r>
              <a:rPr lang="en-US" sz="2000" b="1" dirty="0" err="1">
                <a:solidFill>
                  <a:srgbClr val="FF0000"/>
                </a:solidFill>
              </a:rPr>
              <a:t>codomain</a:t>
            </a:r>
            <a:r>
              <a:rPr lang="en-US" sz="2000" dirty="0">
                <a:solidFill>
                  <a:srgbClr val="FF0000"/>
                </a:solidFill>
              </a:rPr>
              <a:t>, and </a:t>
            </a:r>
            <a:r>
              <a:rPr lang="en-US" sz="2000" b="1" dirty="0">
                <a:solidFill>
                  <a:srgbClr val="FF0000"/>
                </a:solidFill>
              </a:rPr>
              <a:t>range</a:t>
            </a:r>
            <a:r>
              <a:rPr lang="en-US" sz="2000" dirty="0">
                <a:solidFill>
                  <a:srgbClr val="FF0000"/>
                </a:solidFill>
              </a:rPr>
              <a:t> of the function that assigns grades to students of Discrete Math  class as follows? </a:t>
            </a:r>
          </a:p>
        </p:txBody>
      </p:sp>
      <p:pic>
        <p:nvPicPr>
          <p:cNvPr id="6" name="Picture 3" descr="02-3-00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19200" y="2968822"/>
            <a:ext cx="6629400" cy="31726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325805" y="527107"/>
            <a:ext cx="7808976" cy="1323938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+mn-lt"/>
              </a:rPr>
              <a:t>Solution of Example 1 </a:t>
            </a:r>
          </a:p>
        </p:txBody>
      </p:sp>
      <p:sp>
        <p:nvSpPr>
          <p:cNvPr id="5" name="Rectangle 4"/>
          <p:cNvSpPr/>
          <p:nvPr/>
        </p:nvSpPr>
        <p:spPr>
          <a:xfrm>
            <a:off x="325805" y="2346419"/>
            <a:ext cx="8611275" cy="37702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>
              <a:spcBef>
                <a:spcPts val="600"/>
              </a:spcBef>
              <a:buFont typeface="Wingdings" pitchFamily="2" charset="2"/>
              <a:buChar char="§"/>
            </a:pPr>
            <a:r>
              <a:rPr lang="en-US" sz="2800" b="1" u="sng" dirty="0">
                <a:solidFill>
                  <a:srgbClr val="0000FF"/>
                </a:solidFill>
              </a:rPr>
              <a:t>Solution:</a:t>
            </a:r>
            <a:endParaRPr lang="en-US" sz="2800" b="1" dirty="0">
              <a:solidFill>
                <a:srgbClr val="00B050"/>
              </a:solidFill>
            </a:endParaRPr>
          </a:p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sz="2800" dirty="0"/>
              <a:t>Let G be the function that assigns grade to a student of Discrete Mathematics class.</a:t>
            </a:r>
          </a:p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sz="2800" dirty="0"/>
              <a:t>The </a:t>
            </a:r>
            <a:r>
              <a:rPr lang="en-US" sz="2800" b="1" dirty="0">
                <a:solidFill>
                  <a:srgbClr val="0000FF"/>
                </a:solidFill>
              </a:rPr>
              <a:t>domain</a:t>
            </a:r>
            <a:r>
              <a:rPr lang="en-US" sz="2800" dirty="0"/>
              <a:t> </a:t>
            </a:r>
            <a:r>
              <a:rPr lang="en-US" sz="2800" b="1" dirty="0">
                <a:solidFill>
                  <a:srgbClr val="0000FF"/>
                </a:solidFill>
              </a:rPr>
              <a:t>of G </a:t>
            </a:r>
            <a:r>
              <a:rPr lang="en-US" sz="2800" dirty="0"/>
              <a:t>is the set { Adams, Chou, </a:t>
            </a:r>
            <a:r>
              <a:rPr lang="en-US" sz="2800" dirty="0" err="1"/>
              <a:t>Goodfriend</a:t>
            </a:r>
            <a:r>
              <a:rPr lang="en-US" sz="2800" dirty="0"/>
              <a:t>, Rodriguez, Stevens}</a:t>
            </a:r>
          </a:p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sz="2800" dirty="0"/>
              <a:t>The </a:t>
            </a:r>
            <a:r>
              <a:rPr lang="en-US" sz="2800" b="1" dirty="0" err="1">
                <a:solidFill>
                  <a:srgbClr val="0000FF"/>
                </a:solidFill>
              </a:rPr>
              <a:t>codomain</a:t>
            </a:r>
            <a:r>
              <a:rPr lang="en-US" sz="2800" dirty="0"/>
              <a:t> </a:t>
            </a:r>
            <a:r>
              <a:rPr lang="en-US" sz="2800" b="1" dirty="0">
                <a:solidFill>
                  <a:srgbClr val="0000FF"/>
                </a:solidFill>
              </a:rPr>
              <a:t>of G </a:t>
            </a:r>
            <a:r>
              <a:rPr lang="en-US" sz="2800" dirty="0"/>
              <a:t>is the set { A, B, C, D, F}</a:t>
            </a:r>
          </a:p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sz="2800" dirty="0"/>
              <a:t>The </a:t>
            </a:r>
            <a:r>
              <a:rPr lang="en-US" sz="2800" b="1" dirty="0">
                <a:solidFill>
                  <a:srgbClr val="0000FF"/>
                </a:solidFill>
              </a:rPr>
              <a:t>range of G</a:t>
            </a:r>
            <a:r>
              <a:rPr lang="en-US" sz="2800" dirty="0"/>
              <a:t> is the set { A, B, C, F}</a:t>
            </a:r>
          </a:p>
          <a:p>
            <a:pPr marL="731520" lvl="2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sz="2000" dirty="0">
                <a:solidFill>
                  <a:srgbClr val="C00000"/>
                </a:solidFill>
              </a:rPr>
              <a:t>Because each grade except D is assigned to some student </a:t>
            </a:r>
            <a:endParaRPr lang="en-US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272956" y="517244"/>
            <a:ext cx="8488907" cy="1352499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+mn-lt"/>
              </a:rPr>
              <a:t>Example 2</a:t>
            </a:r>
          </a:p>
        </p:txBody>
      </p:sp>
      <p:sp>
        <p:nvSpPr>
          <p:cNvPr id="5" name="Rectangle 4"/>
          <p:cNvSpPr/>
          <p:nvPr/>
        </p:nvSpPr>
        <p:spPr>
          <a:xfrm>
            <a:off x="272956" y="2231387"/>
            <a:ext cx="8664124" cy="38625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sz="2000" dirty="0">
                <a:solidFill>
                  <a:srgbClr val="FF0000"/>
                </a:solidFill>
              </a:rPr>
              <a:t>Let R be the relation consisting of ordered pairs (Abdul, 22), (Brenda,24), (Carla,21), (Desire,22), (Eddie,24), and (Felicia,22), where each pair consists of a graduate student and the age of this student. </a:t>
            </a:r>
            <a:r>
              <a:rPr lang="en-US" sz="2000" i="1" dirty="0">
                <a:solidFill>
                  <a:srgbClr val="FF0000"/>
                </a:solidFill>
              </a:rPr>
              <a:t>What is the function that this relation determines?</a:t>
            </a:r>
          </a:p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endParaRPr lang="en-US" sz="2000" i="1" dirty="0">
              <a:solidFill>
                <a:srgbClr val="FF0000"/>
              </a:solidFill>
            </a:endParaRPr>
          </a:p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sz="2000" b="1" u="sng" dirty="0">
                <a:solidFill>
                  <a:srgbClr val="0000FF"/>
                </a:solidFill>
              </a:rPr>
              <a:t>Solution</a:t>
            </a:r>
            <a:r>
              <a:rPr lang="en-US" sz="2000" dirty="0"/>
              <a:t>: This relation defines the function f, where with f(Abdul)= 22, f(Brenda)=24, f(Carla)=21, f(Desire)=22, f(Eddie)= 24, and f(Felicia)=22.</a:t>
            </a:r>
          </a:p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sz="2000" b="1" dirty="0"/>
              <a:t>Here, </a:t>
            </a:r>
            <a:r>
              <a:rPr lang="en-US" sz="2000" b="1" dirty="0">
                <a:solidFill>
                  <a:srgbClr val="0000FF"/>
                </a:solidFill>
              </a:rPr>
              <a:t>domain</a:t>
            </a:r>
            <a:r>
              <a:rPr lang="en-US" sz="2000" dirty="0"/>
              <a:t> is the set </a:t>
            </a:r>
            <a:r>
              <a:rPr lang="en-US" sz="2000" dirty="0">
                <a:solidFill>
                  <a:srgbClr val="0000FF"/>
                </a:solidFill>
              </a:rPr>
              <a:t>{ Abdul, Brenda, Carla, Desire, Eddie, Felicia }</a:t>
            </a:r>
          </a:p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sz="2000" dirty="0"/>
              <a:t>To define the function f, we need to specify a </a:t>
            </a:r>
            <a:r>
              <a:rPr lang="en-US" sz="2000" dirty="0" err="1"/>
              <a:t>codomain</a:t>
            </a:r>
            <a:r>
              <a:rPr lang="en-US" sz="2000" dirty="0"/>
              <a:t>. Here, we can take the </a:t>
            </a:r>
            <a:r>
              <a:rPr lang="en-US" sz="2000" b="1" dirty="0" err="1">
                <a:solidFill>
                  <a:srgbClr val="0000FF"/>
                </a:solidFill>
              </a:rPr>
              <a:t>codomain</a:t>
            </a:r>
            <a:r>
              <a:rPr lang="en-US" sz="2000" dirty="0"/>
              <a:t> to be the </a:t>
            </a:r>
            <a:r>
              <a:rPr lang="en-US" sz="2000" dirty="0">
                <a:solidFill>
                  <a:srgbClr val="0000FF"/>
                </a:solidFill>
              </a:rPr>
              <a:t>set of positive integers</a:t>
            </a:r>
          </a:p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sz="2000" b="1" dirty="0">
                <a:solidFill>
                  <a:srgbClr val="0000FF"/>
                </a:solidFill>
              </a:rPr>
              <a:t>Range</a:t>
            </a:r>
            <a:r>
              <a:rPr lang="en-US" sz="2000" dirty="0"/>
              <a:t> is the set </a:t>
            </a:r>
            <a:r>
              <a:rPr lang="en-US" sz="2000" dirty="0">
                <a:solidFill>
                  <a:srgbClr val="0000FF"/>
                </a:solidFill>
              </a:rPr>
              <a:t>{21,22,24} 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271213" y="694669"/>
            <a:ext cx="7808976" cy="1088136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</a:rPr>
              <a:t>Functions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1213" y="2413685"/>
            <a:ext cx="8665867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>
              <a:spcBef>
                <a:spcPts val="600"/>
              </a:spcBef>
            </a:pPr>
            <a:r>
              <a:rPr lang="en-US" altLang="zh-TW" sz="2800" b="1" u="sng" dirty="0">
                <a:solidFill>
                  <a:srgbClr val="0000FF"/>
                </a:solidFill>
              </a:rPr>
              <a:t>Definition 3</a:t>
            </a:r>
            <a:r>
              <a:rPr lang="en-US" altLang="zh-TW" sz="2800" dirty="0"/>
              <a:t>: Let </a:t>
            </a:r>
            <a:r>
              <a:rPr lang="en-US" altLang="zh-TW" sz="2800" i="1" dirty="0"/>
              <a:t>f</a:t>
            </a:r>
            <a:r>
              <a:rPr lang="en-US" altLang="zh-TW" sz="2800" i="1" baseline="-25000" dirty="0"/>
              <a:t>1</a:t>
            </a:r>
            <a:r>
              <a:rPr lang="en-US" altLang="zh-TW" sz="2800" dirty="0"/>
              <a:t> and </a:t>
            </a:r>
            <a:r>
              <a:rPr lang="en-US" altLang="zh-TW" sz="2800" i="1" dirty="0"/>
              <a:t>f</a:t>
            </a:r>
            <a:r>
              <a:rPr lang="en-US" altLang="zh-TW" sz="2800" i="1" baseline="-25000" dirty="0"/>
              <a:t>2</a:t>
            </a:r>
            <a:r>
              <a:rPr lang="en-US" altLang="zh-TW" sz="2800" dirty="0"/>
              <a:t> be functions from A to </a:t>
            </a:r>
            <a:r>
              <a:rPr lang="en-US" altLang="zh-TW" sz="2800" b="1" dirty="0"/>
              <a:t>R</a:t>
            </a:r>
            <a:r>
              <a:rPr lang="en-US" altLang="zh-TW" sz="2800" dirty="0"/>
              <a:t>. Then </a:t>
            </a:r>
          </a:p>
          <a:p>
            <a:pPr marL="274320" indent="-274320">
              <a:spcBef>
                <a:spcPts val="600"/>
              </a:spcBef>
            </a:pPr>
            <a:r>
              <a:rPr lang="en-US" altLang="zh-TW" sz="2800" i="1" dirty="0"/>
              <a:t>f</a:t>
            </a:r>
            <a:r>
              <a:rPr lang="en-US" altLang="zh-TW" sz="2800" i="1" baseline="-25000" dirty="0"/>
              <a:t>1</a:t>
            </a:r>
            <a:r>
              <a:rPr lang="en-US" altLang="zh-TW" sz="2800" dirty="0"/>
              <a:t>+</a:t>
            </a:r>
            <a:r>
              <a:rPr lang="en-US" altLang="zh-TW" sz="2800" i="1" dirty="0"/>
              <a:t> f</a:t>
            </a:r>
            <a:r>
              <a:rPr lang="en-US" altLang="zh-TW" sz="2800" i="1" baseline="-25000" dirty="0"/>
              <a:t>2</a:t>
            </a:r>
            <a:r>
              <a:rPr lang="en-US" altLang="zh-TW" sz="2800" dirty="0"/>
              <a:t> and </a:t>
            </a:r>
            <a:r>
              <a:rPr lang="en-US" altLang="zh-TW" sz="2800" i="1" dirty="0"/>
              <a:t>f</a:t>
            </a:r>
            <a:r>
              <a:rPr lang="en-US" altLang="zh-TW" sz="2800" i="1" baseline="-25000" dirty="0"/>
              <a:t>1 </a:t>
            </a:r>
            <a:r>
              <a:rPr lang="en-US" altLang="zh-TW" sz="2800" i="1" dirty="0"/>
              <a:t>f</a:t>
            </a:r>
            <a:r>
              <a:rPr lang="en-US" altLang="zh-TW" sz="2800" i="1" baseline="-25000" dirty="0"/>
              <a:t>2</a:t>
            </a:r>
            <a:r>
              <a:rPr lang="en-US" altLang="zh-TW" sz="2800" dirty="0"/>
              <a:t> are also functions from A to </a:t>
            </a:r>
            <a:r>
              <a:rPr lang="en-US" altLang="zh-TW" sz="2800" b="1" dirty="0"/>
              <a:t>R</a:t>
            </a:r>
            <a:r>
              <a:rPr lang="en-US" altLang="zh-TW" sz="2800" dirty="0"/>
              <a:t> defined by</a:t>
            </a:r>
          </a:p>
          <a:p>
            <a:pPr marL="731520" lvl="1" indent="-274320">
              <a:spcBef>
                <a:spcPts val="600"/>
              </a:spcBef>
            </a:pPr>
            <a:r>
              <a:rPr lang="en-US" altLang="zh-TW" sz="2800" i="1" dirty="0"/>
              <a:t>(f</a:t>
            </a:r>
            <a:r>
              <a:rPr lang="en-US" altLang="zh-TW" sz="2800" i="1" baseline="-25000" dirty="0"/>
              <a:t>1</a:t>
            </a:r>
            <a:r>
              <a:rPr lang="en-US" altLang="zh-TW" sz="2800" dirty="0"/>
              <a:t>+ </a:t>
            </a:r>
            <a:r>
              <a:rPr lang="en-US" altLang="zh-TW" sz="2800" i="1" dirty="0"/>
              <a:t>f</a:t>
            </a:r>
            <a:r>
              <a:rPr lang="en-US" altLang="zh-TW" sz="2800" i="1" baseline="-25000" dirty="0"/>
              <a:t>2</a:t>
            </a:r>
            <a:r>
              <a:rPr lang="en-US" altLang="zh-TW" sz="2800" i="1" dirty="0"/>
              <a:t>)(x) = f</a:t>
            </a:r>
            <a:r>
              <a:rPr lang="en-US" altLang="zh-TW" sz="2800" i="1" baseline="-25000" dirty="0"/>
              <a:t>1</a:t>
            </a:r>
            <a:r>
              <a:rPr lang="en-US" altLang="zh-TW" sz="2800" i="1" dirty="0"/>
              <a:t>(x) + f</a:t>
            </a:r>
            <a:r>
              <a:rPr lang="en-US" altLang="zh-TW" sz="2800" i="1" baseline="-25000" dirty="0"/>
              <a:t>2</a:t>
            </a:r>
            <a:r>
              <a:rPr lang="en-US" altLang="zh-TW" sz="2800" i="1" dirty="0"/>
              <a:t>(x)</a:t>
            </a:r>
          </a:p>
          <a:p>
            <a:pPr marL="731520" lvl="1" indent="-274320">
              <a:spcBef>
                <a:spcPts val="600"/>
              </a:spcBef>
            </a:pPr>
            <a:r>
              <a:rPr lang="en-US" altLang="zh-TW" sz="2800" i="1" dirty="0"/>
              <a:t>(f</a:t>
            </a:r>
            <a:r>
              <a:rPr lang="en-US" altLang="zh-TW" sz="2800" i="1" baseline="-25000" dirty="0"/>
              <a:t>1 </a:t>
            </a:r>
            <a:r>
              <a:rPr lang="en-US" altLang="zh-TW" sz="2800" i="1" dirty="0"/>
              <a:t>f</a:t>
            </a:r>
            <a:r>
              <a:rPr lang="en-US" altLang="zh-TW" sz="2800" i="1" baseline="-25000" dirty="0"/>
              <a:t>2</a:t>
            </a:r>
            <a:r>
              <a:rPr lang="en-US" altLang="zh-TW" sz="2800" i="1" dirty="0"/>
              <a:t>)(x) = f</a:t>
            </a:r>
            <a:r>
              <a:rPr lang="en-US" altLang="zh-TW" sz="2800" i="1" baseline="-25000" dirty="0"/>
              <a:t>1</a:t>
            </a:r>
            <a:r>
              <a:rPr lang="en-US" altLang="zh-TW" sz="2800" i="1" dirty="0"/>
              <a:t>(x) f</a:t>
            </a:r>
            <a:r>
              <a:rPr lang="en-US" altLang="zh-TW" sz="2800" i="1" baseline="-25000" dirty="0"/>
              <a:t>2</a:t>
            </a:r>
            <a:r>
              <a:rPr lang="en-US" altLang="zh-TW" sz="2800" i="1" dirty="0"/>
              <a:t>(x)</a:t>
            </a:r>
          </a:p>
          <a:p>
            <a:pPr marL="274320" indent="-274320">
              <a:spcBef>
                <a:spcPts val="600"/>
              </a:spcBef>
            </a:pPr>
            <a:r>
              <a:rPr lang="en-US" sz="2800" dirty="0"/>
              <a:t> 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+mn-lt"/>
              </a:rPr>
              <a:t>Example 6</a:t>
            </a:r>
          </a:p>
        </p:txBody>
      </p:sp>
      <p:sp>
        <p:nvSpPr>
          <p:cNvPr id="5" name="Rectangle 4"/>
          <p:cNvSpPr/>
          <p:nvPr/>
        </p:nvSpPr>
        <p:spPr>
          <a:xfrm>
            <a:off x="421341" y="2424478"/>
            <a:ext cx="8515739" cy="26161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>
              <a:spcBef>
                <a:spcPts val="600"/>
              </a:spcBef>
              <a:buFont typeface="Wingdings" pitchFamily="2" charset="2"/>
              <a:buChar char="§"/>
            </a:pPr>
            <a:r>
              <a:rPr lang="en-US" sz="2400" dirty="0">
                <a:solidFill>
                  <a:srgbClr val="FF0000"/>
                </a:solidFill>
              </a:rPr>
              <a:t>Let </a:t>
            </a:r>
            <a:r>
              <a:rPr lang="en-US" altLang="zh-TW" sz="2400" i="1" dirty="0">
                <a:solidFill>
                  <a:srgbClr val="FF0000"/>
                </a:solidFill>
              </a:rPr>
              <a:t>f</a:t>
            </a:r>
            <a:r>
              <a:rPr lang="en-US" altLang="zh-TW" sz="2400" i="1" baseline="-25000" dirty="0">
                <a:solidFill>
                  <a:srgbClr val="FF0000"/>
                </a:solidFill>
              </a:rPr>
              <a:t>1</a:t>
            </a:r>
            <a:r>
              <a:rPr lang="en-US" sz="2400" dirty="0">
                <a:solidFill>
                  <a:srgbClr val="FF0000"/>
                </a:solidFill>
              </a:rPr>
              <a:t> and </a:t>
            </a:r>
            <a:r>
              <a:rPr lang="en-US" altLang="zh-TW" sz="2400" i="1" dirty="0">
                <a:solidFill>
                  <a:srgbClr val="FF0000"/>
                </a:solidFill>
              </a:rPr>
              <a:t>f</a:t>
            </a:r>
            <a:r>
              <a:rPr lang="en-US" altLang="zh-TW" sz="2400" i="1" baseline="-25000" dirty="0">
                <a:solidFill>
                  <a:srgbClr val="FF0000"/>
                </a:solidFill>
              </a:rPr>
              <a:t>2</a:t>
            </a:r>
            <a:r>
              <a:rPr lang="en-US" sz="2400" dirty="0">
                <a:solidFill>
                  <a:srgbClr val="FF0000"/>
                </a:solidFill>
              </a:rPr>
              <a:t> be functions from </a:t>
            </a:r>
            <a:r>
              <a:rPr lang="en-US" sz="2400" b="1" dirty="0">
                <a:solidFill>
                  <a:srgbClr val="FF0000"/>
                </a:solidFill>
              </a:rPr>
              <a:t>R</a:t>
            </a:r>
            <a:r>
              <a:rPr lang="en-US" sz="2400" dirty="0">
                <a:solidFill>
                  <a:srgbClr val="FF0000"/>
                </a:solidFill>
              </a:rPr>
              <a:t> to </a:t>
            </a:r>
            <a:r>
              <a:rPr lang="en-US" sz="2400" b="1" dirty="0">
                <a:solidFill>
                  <a:srgbClr val="FF0000"/>
                </a:solidFill>
              </a:rPr>
              <a:t>R</a:t>
            </a:r>
            <a:r>
              <a:rPr lang="en-US" sz="2400" dirty="0">
                <a:solidFill>
                  <a:srgbClr val="FF0000"/>
                </a:solidFill>
              </a:rPr>
              <a:t> such that </a:t>
            </a:r>
            <a:r>
              <a:rPr lang="en-US" altLang="zh-TW" sz="2400" i="1" dirty="0">
                <a:solidFill>
                  <a:srgbClr val="FF0000"/>
                </a:solidFill>
              </a:rPr>
              <a:t>f</a:t>
            </a:r>
            <a:r>
              <a:rPr lang="en-US" altLang="zh-TW" sz="2400" i="1" baseline="-25000" dirty="0">
                <a:solidFill>
                  <a:srgbClr val="FF0000"/>
                </a:solidFill>
              </a:rPr>
              <a:t>1</a:t>
            </a:r>
            <a:r>
              <a:rPr lang="en-US" altLang="zh-TW" sz="2400" i="1" dirty="0">
                <a:solidFill>
                  <a:srgbClr val="FF0000"/>
                </a:solidFill>
              </a:rPr>
              <a:t>(x)=x</a:t>
            </a:r>
            <a:r>
              <a:rPr lang="en-US" altLang="zh-TW" sz="2400" i="1" baseline="30000" dirty="0">
                <a:solidFill>
                  <a:srgbClr val="FF0000"/>
                </a:solidFill>
              </a:rPr>
              <a:t>2  </a:t>
            </a:r>
            <a:r>
              <a:rPr lang="en-US" altLang="zh-TW" sz="2400" dirty="0">
                <a:solidFill>
                  <a:srgbClr val="FF0000"/>
                </a:solidFill>
              </a:rPr>
              <a:t> and </a:t>
            </a:r>
            <a:r>
              <a:rPr lang="en-US" altLang="zh-TW" sz="2400" i="1" dirty="0">
                <a:solidFill>
                  <a:srgbClr val="FF0000"/>
                </a:solidFill>
              </a:rPr>
              <a:t>f</a:t>
            </a:r>
            <a:r>
              <a:rPr lang="en-US" altLang="zh-TW" sz="2400" i="1" baseline="-25000" dirty="0">
                <a:solidFill>
                  <a:srgbClr val="FF0000"/>
                </a:solidFill>
              </a:rPr>
              <a:t>2</a:t>
            </a:r>
            <a:r>
              <a:rPr lang="en-US" altLang="zh-TW" sz="2400" i="1" dirty="0">
                <a:solidFill>
                  <a:srgbClr val="FF0000"/>
                </a:solidFill>
              </a:rPr>
              <a:t>(x)=x – x</a:t>
            </a:r>
            <a:r>
              <a:rPr lang="en-US" altLang="zh-TW" sz="2400" i="1" baseline="30000" dirty="0">
                <a:solidFill>
                  <a:srgbClr val="FF0000"/>
                </a:solidFill>
              </a:rPr>
              <a:t>2</a:t>
            </a:r>
            <a:r>
              <a:rPr lang="en-US" altLang="zh-TW" sz="2400" i="1" dirty="0">
                <a:solidFill>
                  <a:srgbClr val="FF0000"/>
                </a:solidFill>
              </a:rPr>
              <a:t>. </a:t>
            </a:r>
            <a:r>
              <a:rPr lang="en-US" altLang="zh-TW" sz="2400" dirty="0">
                <a:solidFill>
                  <a:srgbClr val="FF0000"/>
                </a:solidFill>
              </a:rPr>
              <a:t>What are the functions </a:t>
            </a:r>
            <a:r>
              <a:rPr lang="en-US" altLang="zh-TW" sz="2400" i="1" dirty="0">
                <a:solidFill>
                  <a:srgbClr val="FF0000"/>
                </a:solidFill>
              </a:rPr>
              <a:t>f</a:t>
            </a:r>
            <a:r>
              <a:rPr lang="en-US" altLang="zh-TW" sz="2400" i="1" baseline="-25000" dirty="0">
                <a:solidFill>
                  <a:srgbClr val="FF0000"/>
                </a:solidFill>
              </a:rPr>
              <a:t>1 </a:t>
            </a:r>
            <a:r>
              <a:rPr lang="en-US" altLang="zh-TW" sz="2400" dirty="0">
                <a:solidFill>
                  <a:srgbClr val="FF0000"/>
                </a:solidFill>
              </a:rPr>
              <a:t>+ </a:t>
            </a:r>
            <a:r>
              <a:rPr lang="en-US" altLang="zh-TW" sz="2400" i="1" dirty="0">
                <a:solidFill>
                  <a:srgbClr val="FF0000"/>
                </a:solidFill>
              </a:rPr>
              <a:t>f</a:t>
            </a:r>
            <a:r>
              <a:rPr lang="en-US" altLang="zh-TW" sz="2400" i="1" baseline="-25000" dirty="0">
                <a:solidFill>
                  <a:srgbClr val="FF0000"/>
                </a:solidFill>
              </a:rPr>
              <a:t>2</a:t>
            </a:r>
            <a:r>
              <a:rPr lang="en-US" altLang="zh-TW" sz="2400" dirty="0">
                <a:solidFill>
                  <a:srgbClr val="FF0000"/>
                </a:solidFill>
              </a:rPr>
              <a:t> </a:t>
            </a:r>
            <a:r>
              <a:rPr lang="en-US" sz="2400" dirty="0">
                <a:solidFill>
                  <a:srgbClr val="FF0000"/>
                </a:solidFill>
              </a:rPr>
              <a:t>and </a:t>
            </a:r>
            <a:r>
              <a:rPr lang="en-US" altLang="zh-TW" sz="2400" i="1" dirty="0">
                <a:solidFill>
                  <a:srgbClr val="FF0000"/>
                </a:solidFill>
              </a:rPr>
              <a:t>f</a:t>
            </a:r>
            <a:r>
              <a:rPr lang="en-US" altLang="zh-TW" sz="2400" i="1" baseline="-25000" dirty="0">
                <a:solidFill>
                  <a:srgbClr val="FF0000"/>
                </a:solidFill>
              </a:rPr>
              <a:t>1 </a:t>
            </a:r>
            <a:r>
              <a:rPr lang="en-US" altLang="zh-TW" sz="2400" i="1" dirty="0">
                <a:solidFill>
                  <a:srgbClr val="FF0000"/>
                </a:solidFill>
              </a:rPr>
              <a:t>f</a:t>
            </a:r>
            <a:r>
              <a:rPr lang="en-US" altLang="zh-TW" sz="2400" i="1" baseline="-25000" dirty="0">
                <a:solidFill>
                  <a:srgbClr val="FF0000"/>
                </a:solidFill>
              </a:rPr>
              <a:t>2 </a:t>
            </a:r>
            <a:r>
              <a:rPr lang="en-US" altLang="zh-TW" sz="2400" i="1" dirty="0">
                <a:solidFill>
                  <a:srgbClr val="FF0000"/>
                </a:solidFill>
              </a:rPr>
              <a:t>?</a:t>
            </a:r>
            <a:endParaRPr lang="en-US" sz="2400" dirty="0">
              <a:solidFill>
                <a:srgbClr val="FF0000"/>
              </a:solidFill>
            </a:endParaRPr>
          </a:p>
          <a:p>
            <a:pPr marL="274320" lvl="1" indent="-274320">
              <a:spcBef>
                <a:spcPts val="600"/>
              </a:spcBef>
              <a:buFont typeface="Wingdings" pitchFamily="2" charset="2"/>
              <a:buChar char="§"/>
            </a:pPr>
            <a:r>
              <a:rPr lang="en-US" altLang="zh-TW" sz="2400" b="1" i="1" u="sng" dirty="0">
                <a:solidFill>
                  <a:srgbClr val="0000FF"/>
                </a:solidFill>
              </a:rPr>
              <a:t>Solution</a:t>
            </a:r>
            <a:r>
              <a:rPr lang="en-US" altLang="zh-TW" sz="2400" i="1" dirty="0">
                <a:solidFill>
                  <a:srgbClr val="0000FF"/>
                </a:solidFill>
              </a:rPr>
              <a:t>: </a:t>
            </a:r>
          </a:p>
          <a:p>
            <a:pPr marL="274320" lvl="2" indent="-274320">
              <a:spcBef>
                <a:spcPts val="600"/>
              </a:spcBef>
            </a:pPr>
            <a:r>
              <a:rPr lang="en-US" altLang="zh-TW" sz="2400" i="1" dirty="0"/>
              <a:t>	(f</a:t>
            </a:r>
            <a:r>
              <a:rPr lang="en-US" altLang="zh-TW" sz="2400" i="1" baseline="-25000" dirty="0"/>
              <a:t>1 </a:t>
            </a:r>
            <a:r>
              <a:rPr lang="en-US" altLang="zh-TW" sz="2400" dirty="0"/>
              <a:t>+ </a:t>
            </a:r>
            <a:r>
              <a:rPr lang="en-US" altLang="zh-TW" sz="2400" i="1" dirty="0"/>
              <a:t>f</a:t>
            </a:r>
            <a:r>
              <a:rPr lang="en-US" altLang="zh-TW" sz="2400" i="1" baseline="-25000" dirty="0"/>
              <a:t>2</a:t>
            </a:r>
            <a:r>
              <a:rPr lang="en-US" altLang="zh-TW" sz="2400" i="1" dirty="0"/>
              <a:t>)(x) </a:t>
            </a:r>
            <a:r>
              <a:rPr lang="en-US" altLang="zh-TW" sz="2400" dirty="0"/>
              <a:t>=</a:t>
            </a:r>
            <a:r>
              <a:rPr lang="en-US" altLang="zh-TW" sz="2400" i="1" dirty="0"/>
              <a:t> f</a:t>
            </a:r>
            <a:r>
              <a:rPr lang="en-US" altLang="zh-TW" sz="2400" i="1" baseline="-25000" dirty="0"/>
              <a:t>1</a:t>
            </a:r>
            <a:r>
              <a:rPr lang="en-US" altLang="zh-TW" sz="2400" i="1" dirty="0"/>
              <a:t>(x) </a:t>
            </a:r>
            <a:r>
              <a:rPr lang="en-US" altLang="zh-TW" sz="2400" dirty="0"/>
              <a:t>+ </a:t>
            </a:r>
            <a:r>
              <a:rPr lang="en-US" altLang="zh-TW" sz="2400" i="1" dirty="0"/>
              <a:t>f</a:t>
            </a:r>
            <a:r>
              <a:rPr lang="en-US" altLang="zh-TW" sz="2400" i="1" baseline="-25000" dirty="0"/>
              <a:t>2</a:t>
            </a:r>
            <a:r>
              <a:rPr lang="en-US" altLang="zh-TW" sz="2400" i="1" dirty="0"/>
              <a:t>(x) </a:t>
            </a:r>
            <a:r>
              <a:rPr lang="en-US" altLang="zh-TW" sz="2400" dirty="0"/>
              <a:t>=</a:t>
            </a:r>
            <a:r>
              <a:rPr lang="en-US" altLang="zh-TW" sz="2400" i="1" dirty="0"/>
              <a:t> x</a:t>
            </a:r>
            <a:r>
              <a:rPr lang="en-US" altLang="zh-TW" sz="2400" i="1" baseline="30000" dirty="0"/>
              <a:t>2</a:t>
            </a:r>
            <a:r>
              <a:rPr lang="en-US" altLang="zh-TW" sz="2400" i="1" dirty="0"/>
              <a:t>  </a:t>
            </a:r>
            <a:r>
              <a:rPr lang="en-US" altLang="zh-TW" sz="2400" dirty="0"/>
              <a:t>+</a:t>
            </a:r>
            <a:r>
              <a:rPr lang="en-US" altLang="zh-TW" sz="2400" i="1" dirty="0"/>
              <a:t> (x –x</a:t>
            </a:r>
            <a:r>
              <a:rPr lang="en-US" altLang="zh-TW" sz="2400" i="1" baseline="30000" dirty="0"/>
              <a:t>2  </a:t>
            </a:r>
            <a:r>
              <a:rPr lang="en-US" altLang="zh-TW" sz="2400" i="1" dirty="0"/>
              <a:t>) </a:t>
            </a:r>
            <a:r>
              <a:rPr lang="en-US" altLang="zh-TW" sz="2400" dirty="0"/>
              <a:t>=</a:t>
            </a:r>
            <a:r>
              <a:rPr lang="en-US" altLang="zh-TW" sz="2400" i="1" dirty="0"/>
              <a:t> x</a:t>
            </a:r>
          </a:p>
          <a:p>
            <a:pPr marL="274320" lvl="2" indent="-274320">
              <a:spcBef>
                <a:spcPts val="600"/>
              </a:spcBef>
              <a:buFont typeface="Arial" pitchFamily="34" charset="0"/>
              <a:buChar char="•"/>
            </a:pPr>
            <a:endParaRPr lang="en-US" altLang="zh-TW" sz="2400" i="1" dirty="0"/>
          </a:p>
          <a:p>
            <a:pPr marL="274320" lvl="2" indent="-274320">
              <a:spcBef>
                <a:spcPts val="600"/>
              </a:spcBef>
            </a:pPr>
            <a:r>
              <a:rPr lang="en-US" altLang="zh-TW" sz="2400" i="1" dirty="0"/>
              <a:t>	(f</a:t>
            </a:r>
            <a:r>
              <a:rPr lang="en-US" altLang="zh-TW" sz="2400" i="1" baseline="-25000" dirty="0"/>
              <a:t>1</a:t>
            </a:r>
            <a:r>
              <a:rPr lang="en-US" altLang="zh-TW" sz="2400" i="1" dirty="0"/>
              <a:t>f</a:t>
            </a:r>
            <a:r>
              <a:rPr lang="en-US" altLang="zh-TW" sz="2400" i="1" baseline="-25000" dirty="0"/>
              <a:t>2</a:t>
            </a:r>
            <a:r>
              <a:rPr lang="en-US" altLang="zh-TW" sz="2400" i="1" dirty="0"/>
              <a:t>)(x) </a:t>
            </a:r>
            <a:r>
              <a:rPr lang="en-US" altLang="zh-TW" sz="2400" dirty="0"/>
              <a:t>=</a:t>
            </a:r>
            <a:r>
              <a:rPr lang="en-US" altLang="zh-TW" sz="2400" i="1" dirty="0"/>
              <a:t> x</a:t>
            </a:r>
            <a:r>
              <a:rPr lang="en-US" altLang="zh-TW" sz="2400" i="1" baseline="30000" dirty="0"/>
              <a:t>2</a:t>
            </a:r>
            <a:r>
              <a:rPr lang="en-US" altLang="zh-TW" sz="2400" i="1" dirty="0"/>
              <a:t>(x</a:t>
            </a:r>
            <a:r>
              <a:rPr lang="en-US" altLang="zh-TW" sz="2400" i="1" dirty="0">
                <a:sym typeface="Symbol"/>
              </a:rPr>
              <a:t></a:t>
            </a:r>
            <a:r>
              <a:rPr lang="en-US" altLang="zh-TW" sz="2400" i="1" dirty="0"/>
              <a:t> x</a:t>
            </a:r>
            <a:r>
              <a:rPr lang="en-US" altLang="zh-TW" sz="2400" i="1" baseline="30000" dirty="0"/>
              <a:t>2  </a:t>
            </a:r>
            <a:r>
              <a:rPr lang="en-US" altLang="zh-TW" sz="2400" i="1" dirty="0"/>
              <a:t>)  </a:t>
            </a:r>
            <a:r>
              <a:rPr lang="en-US" altLang="zh-TW" sz="2400" dirty="0"/>
              <a:t>=</a:t>
            </a:r>
            <a:r>
              <a:rPr lang="en-US" altLang="zh-TW" sz="2400" i="1" dirty="0"/>
              <a:t> x</a:t>
            </a:r>
            <a:r>
              <a:rPr lang="en-US" altLang="zh-TW" sz="2400" i="1" baseline="30000" dirty="0"/>
              <a:t>3</a:t>
            </a:r>
            <a:r>
              <a:rPr lang="en-US" altLang="zh-TW" sz="2400" i="1" dirty="0"/>
              <a:t> – x</a:t>
            </a:r>
            <a:r>
              <a:rPr lang="en-US" altLang="zh-TW" sz="2400" i="1" baseline="30000" dirty="0"/>
              <a:t>4 </a:t>
            </a:r>
            <a:endParaRPr lang="en-US" altLang="zh-TW" sz="2400" i="1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298509" y="735613"/>
            <a:ext cx="7808976" cy="1088136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+mn-lt"/>
              </a:rPr>
              <a:t>Functions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298509" y="2274838"/>
            <a:ext cx="8638571" cy="33393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altLang="zh-TW" sz="2800" b="1" u="sng" dirty="0">
                <a:solidFill>
                  <a:srgbClr val="0000FF"/>
                </a:solidFill>
              </a:rPr>
              <a:t>Definition 4</a:t>
            </a:r>
            <a:r>
              <a:rPr lang="en-US" altLang="zh-TW" sz="2800" dirty="0"/>
              <a:t>: Let </a:t>
            </a:r>
            <a:r>
              <a:rPr lang="en-US" altLang="zh-TW" sz="2800" i="1" dirty="0"/>
              <a:t>f </a:t>
            </a:r>
            <a:r>
              <a:rPr lang="en-US" altLang="zh-TW" sz="2800" dirty="0"/>
              <a:t>be a function from the set </a:t>
            </a:r>
            <a:r>
              <a:rPr lang="en-US" altLang="zh-TW" sz="2800" i="1" dirty="0"/>
              <a:t>A </a:t>
            </a:r>
            <a:r>
              <a:rPr lang="en-US" altLang="zh-TW" sz="2800" dirty="0"/>
              <a:t>to the set </a:t>
            </a:r>
            <a:r>
              <a:rPr lang="en-US" altLang="zh-TW" sz="2800" i="1" dirty="0"/>
              <a:t>B, </a:t>
            </a:r>
            <a:r>
              <a:rPr lang="en-US" altLang="zh-TW" sz="2800" dirty="0"/>
              <a:t>and let </a:t>
            </a:r>
            <a:r>
              <a:rPr lang="en-US" altLang="zh-TW" sz="2800" i="1" dirty="0">
                <a:solidFill>
                  <a:srgbClr val="0000FF"/>
                </a:solidFill>
              </a:rPr>
              <a:t>S</a:t>
            </a:r>
            <a:r>
              <a:rPr lang="en-US" altLang="zh-TW" sz="2800" dirty="0">
                <a:solidFill>
                  <a:srgbClr val="0000FF"/>
                </a:solidFill>
              </a:rPr>
              <a:t> is a subset of </a:t>
            </a:r>
            <a:r>
              <a:rPr lang="en-US" altLang="zh-TW" sz="2800" i="1" dirty="0">
                <a:solidFill>
                  <a:srgbClr val="0000FF"/>
                </a:solidFill>
              </a:rPr>
              <a:t>A</a:t>
            </a:r>
            <a:r>
              <a:rPr lang="en-US" altLang="zh-TW" sz="2800" i="1" dirty="0"/>
              <a:t>. </a:t>
            </a:r>
            <a:r>
              <a:rPr lang="en-US" altLang="zh-TW" sz="2800" dirty="0"/>
              <a:t>The image of</a:t>
            </a:r>
            <a:r>
              <a:rPr lang="en-US" altLang="zh-TW" sz="2800" i="1" dirty="0"/>
              <a:t> S </a:t>
            </a:r>
            <a:r>
              <a:rPr lang="en-US" altLang="zh-TW" sz="2800" dirty="0"/>
              <a:t>under the function</a:t>
            </a:r>
            <a:r>
              <a:rPr lang="en-US" altLang="zh-TW" sz="2800" i="1" dirty="0"/>
              <a:t> f  </a:t>
            </a:r>
            <a:r>
              <a:rPr lang="en-US" altLang="zh-TW" sz="2800" dirty="0"/>
              <a:t>is the subset of B that consists of the images of the elements of S.</a:t>
            </a:r>
          </a:p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altLang="zh-TW" sz="2800" dirty="0"/>
              <a:t>We denote the </a:t>
            </a:r>
            <a:r>
              <a:rPr lang="en-US" altLang="zh-TW" sz="2800" dirty="0">
                <a:solidFill>
                  <a:srgbClr val="0000FF"/>
                </a:solidFill>
              </a:rPr>
              <a:t>image of S by </a:t>
            </a:r>
            <a:r>
              <a:rPr lang="en-US" altLang="zh-TW" sz="2800" i="1" dirty="0">
                <a:solidFill>
                  <a:srgbClr val="0000FF"/>
                </a:solidFill>
              </a:rPr>
              <a:t>f</a:t>
            </a:r>
            <a:r>
              <a:rPr lang="en-US" altLang="zh-TW" sz="2800" dirty="0">
                <a:solidFill>
                  <a:srgbClr val="0000FF"/>
                </a:solidFill>
              </a:rPr>
              <a:t>(S).</a:t>
            </a:r>
          </a:p>
          <a:p>
            <a:pPr marL="274320" indent="-274320">
              <a:spcBef>
                <a:spcPts val="600"/>
              </a:spcBef>
            </a:pPr>
            <a:r>
              <a:rPr lang="en-US" altLang="zh-TW" sz="2800" dirty="0"/>
              <a:t>	</a:t>
            </a:r>
            <a:r>
              <a:rPr lang="en-US" altLang="zh-TW" sz="2800" i="1" dirty="0"/>
              <a:t>f</a:t>
            </a:r>
            <a:r>
              <a:rPr lang="en-US" altLang="zh-TW" sz="2800" dirty="0"/>
              <a:t>(S) </a:t>
            </a:r>
            <a:r>
              <a:rPr lang="en-US" altLang="zh-TW" sz="2800" i="1" dirty="0"/>
              <a:t>= </a:t>
            </a:r>
            <a:r>
              <a:rPr lang="en-US" altLang="zh-TW" sz="2800" dirty="0"/>
              <a:t>{</a:t>
            </a:r>
            <a:r>
              <a:rPr lang="en-US" altLang="zh-TW" sz="2800" i="1" dirty="0"/>
              <a:t>t</a:t>
            </a:r>
            <a:r>
              <a:rPr lang="en-US" altLang="zh-TW" sz="2800" dirty="0"/>
              <a:t>|</a:t>
            </a:r>
            <a:r>
              <a:rPr lang="en-US" altLang="zh-TW" sz="2800" dirty="0">
                <a:sym typeface="Symbol" pitchFamily="18" charset="2"/>
              </a:rPr>
              <a:t></a:t>
            </a:r>
            <a:r>
              <a:rPr lang="en-US" altLang="zh-TW" sz="2800" i="1" dirty="0" err="1">
                <a:sym typeface="Symbol" pitchFamily="18" charset="2"/>
              </a:rPr>
              <a:t>sS</a:t>
            </a:r>
            <a:r>
              <a:rPr lang="en-US" altLang="zh-TW" sz="2800" i="1" dirty="0">
                <a:sym typeface="Symbol" pitchFamily="18" charset="2"/>
              </a:rPr>
              <a:t>(t=f(s))</a:t>
            </a:r>
            <a:r>
              <a:rPr lang="en-US" altLang="zh-TW" sz="2800" dirty="0"/>
              <a:t>}</a:t>
            </a:r>
          </a:p>
          <a:p>
            <a:pPr marL="274320" indent="-274320">
              <a:spcBef>
                <a:spcPts val="600"/>
              </a:spcBef>
            </a:pPr>
            <a:endParaRPr lang="en-US" sz="2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+mn-lt"/>
              </a:rPr>
              <a:t>Example 7 </a:t>
            </a:r>
          </a:p>
        </p:txBody>
      </p:sp>
      <p:sp>
        <p:nvSpPr>
          <p:cNvPr id="5" name="Rectangle 4"/>
          <p:cNvSpPr/>
          <p:nvPr/>
        </p:nvSpPr>
        <p:spPr>
          <a:xfrm>
            <a:off x="421341" y="1997839"/>
            <a:ext cx="8515739" cy="40780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sz="2800" dirty="0">
                <a:solidFill>
                  <a:srgbClr val="0000FF"/>
                </a:solidFill>
              </a:rPr>
              <a:t>Let A = {a, b, c, d, e} and B = {1, 2, 3, 4} with f(a) = 2,</a:t>
            </a:r>
          </a:p>
          <a:p>
            <a:pPr marL="274320" indent="-274320">
              <a:spcBef>
                <a:spcPts val="600"/>
              </a:spcBef>
            </a:pPr>
            <a:r>
              <a:rPr lang="en-US" sz="2800" dirty="0">
                <a:solidFill>
                  <a:srgbClr val="0000FF"/>
                </a:solidFill>
              </a:rPr>
              <a:t>	f(b) = 1, f(c) = 4, f(d) = 1, f(e) = 1.</a:t>
            </a:r>
          </a:p>
          <a:p>
            <a:pPr marL="274320" indent="-274320">
              <a:spcBef>
                <a:spcPts val="600"/>
              </a:spcBef>
            </a:pPr>
            <a:r>
              <a:rPr lang="en-US" sz="2800" dirty="0">
                <a:solidFill>
                  <a:srgbClr val="0000FF"/>
                </a:solidFill>
              </a:rPr>
              <a:t>   What is the image of the subset S = {b, c, d}?</a:t>
            </a:r>
          </a:p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endParaRPr lang="en-US" sz="2800" dirty="0"/>
          </a:p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sz="2800" b="1" u="sng" dirty="0">
                <a:solidFill>
                  <a:srgbClr val="00B050"/>
                </a:solidFill>
              </a:rPr>
              <a:t>Solution</a:t>
            </a:r>
            <a:r>
              <a:rPr lang="en-US" sz="2800" dirty="0"/>
              <a:t>: </a:t>
            </a:r>
          </a:p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sz="2800" dirty="0"/>
              <a:t>The image of the subset S = {b, c, d} is the set </a:t>
            </a:r>
          </a:p>
          <a:p>
            <a:pPr marL="274320" indent="-274320">
              <a:spcBef>
                <a:spcPts val="600"/>
              </a:spcBef>
            </a:pPr>
            <a:r>
              <a:rPr lang="en-US" sz="2800" dirty="0"/>
              <a:t>	</a:t>
            </a:r>
            <a:r>
              <a:rPr lang="en-US" sz="2800" i="1" dirty="0"/>
              <a:t>f</a:t>
            </a:r>
            <a:r>
              <a:rPr lang="en-US" sz="2800" dirty="0"/>
              <a:t>(S) = {1, 4}</a:t>
            </a:r>
          </a:p>
          <a:p>
            <a:pPr marL="274320" indent="-274320">
              <a:spcBef>
                <a:spcPts val="600"/>
              </a:spcBef>
            </a:pPr>
            <a:endParaRPr lang="en-US" sz="2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TW" sz="4000" b="1" dirty="0">
                <a:latin typeface="+mn-lt"/>
              </a:rPr>
              <a:t>One-to-One Functions </a:t>
            </a:r>
            <a:endParaRPr lang="en-US" sz="4000" b="1" dirty="0">
              <a:latin typeface="+mn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727AC0B-F966-B643-84CC-4E07DFBA38A5}"/>
              </a:ext>
            </a:extLst>
          </p:cNvPr>
          <p:cNvSpPr/>
          <p:nvPr/>
        </p:nvSpPr>
        <p:spPr>
          <a:xfrm>
            <a:off x="732633" y="331011"/>
            <a:ext cx="7573826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 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  <a:hlinkClick r:id="rId2"/>
              </a:rPr>
              <a:t>function</a:t>
            </a:r>
            <a:r>
              <a:rPr lang="en-US" sz="2000" dirty="0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 is a way of matching the members of a set "A" </a:t>
            </a:r>
            <a:r>
              <a:rPr lang="en-US" sz="2000" b="1" dirty="0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lang="en-US" sz="2000" dirty="0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 a set "B”.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"Injective, Surjective and Bijective" tells us about how a function behaves.</a:t>
            </a:r>
          </a:p>
        </p:txBody>
      </p:sp>
      <p:pic>
        <p:nvPicPr>
          <p:cNvPr id="7" name="Picture 6" descr="Diagram&#10;&#10;Description automatically generated">
            <a:extLst>
              <a:ext uri="{FF2B5EF4-FFF2-40B4-BE49-F238E27FC236}">
                <a16:creationId xmlns:a16="http://schemas.microsoft.com/office/drawing/2014/main" id="{0D1FE675-F0E1-2E48-BF93-CAD0A02AE5B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637" y="1464668"/>
            <a:ext cx="8311218" cy="2660904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00678355-4E63-894D-BC25-EBF0A562D925}"/>
              </a:ext>
            </a:extLst>
          </p:cNvPr>
          <p:cNvSpPr/>
          <p:nvPr/>
        </p:nvSpPr>
        <p:spPr>
          <a:xfrm>
            <a:off x="415637" y="4757310"/>
            <a:ext cx="846211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A </a:t>
            </a: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General Function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 points from each member of "A" to a member of "B".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It </a:t>
            </a: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never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 has one "A" pointing to more than one "B", so </a:t>
            </a:r>
            <a:r>
              <a:rPr lang="en-US" sz="2000" b="1" dirty="0">
                <a:highlight>
                  <a:srgbClr val="FFFF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one-to-many is not OK</a:t>
            </a:r>
            <a:r>
              <a:rPr lang="en-US" sz="2000" dirty="0">
                <a:highlight>
                  <a:srgbClr val="FFFF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 in a function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(so something like "f(x) = 7 </a:t>
            </a:r>
            <a:r>
              <a:rPr lang="en-US" sz="2000" b="1" i="1" dirty="0">
                <a:latin typeface="Calibri" panose="020F0502020204030204" pitchFamily="34" charset="0"/>
                <a:cs typeface="Calibri" panose="020F0502020204030204" pitchFamily="34" charset="0"/>
              </a:rPr>
              <a:t>or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 9" is not allowed)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But more than one "A" can point to the same "B" (</a:t>
            </a: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many-to-one is OK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  <a:endParaRPr lang="en-US" sz="2000" b="0" i="0" u="none" strike="noStrike" dirty="0"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TW" sz="4000" b="1" dirty="0">
                <a:latin typeface="+mn-lt"/>
              </a:rPr>
              <a:t>One-to-One Functions </a:t>
            </a:r>
            <a:endParaRPr lang="en-US" sz="4000" b="1" dirty="0"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4F16F55-15E2-BF4C-AF30-7C6AEA9978A6}"/>
              </a:ext>
            </a:extLst>
          </p:cNvPr>
          <p:cNvSpPr/>
          <p:nvPr/>
        </p:nvSpPr>
        <p:spPr>
          <a:xfrm>
            <a:off x="345199" y="449005"/>
            <a:ext cx="6599117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Injective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 means we won't have two or more "A"s pointing to the same "B". Injective is also called "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One-to-One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"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So 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many-to-one is NOT OK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 (which is OK for a general function). As it is also a function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 one-to-many is not OK.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But we can have a "B" without a matching "A”. </a:t>
            </a:r>
            <a:endParaRPr lang="en-US" b="0" i="0" u="none" strike="noStrike" dirty="0"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F17A97B-18DE-B24A-9085-FE38FE6CF919}"/>
              </a:ext>
            </a:extLst>
          </p:cNvPr>
          <p:cNvSpPr/>
          <p:nvPr/>
        </p:nvSpPr>
        <p:spPr>
          <a:xfrm>
            <a:off x="1563787" y="2646120"/>
            <a:ext cx="7057982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Surjective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 means that every "B" has </a:t>
            </a: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at least one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 matching "A" (maybe more than one).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There won't be a "B" left out.</a:t>
            </a:r>
            <a:endParaRPr lang="en-US" sz="2000" b="0" i="0" u="none" strike="noStrike" dirty="0"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B04CBAD-218E-A54B-B133-733720EBB650}"/>
              </a:ext>
            </a:extLst>
          </p:cNvPr>
          <p:cNvSpPr/>
          <p:nvPr/>
        </p:nvSpPr>
        <p:spPr>
          <a:xfrm>
            <a:off x="345199" y="4470003"/>
            <a:ext cx="6599117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Bijective</a:t>
            </a:r>
            <a:r>
              <a:rPr lang="en-US" dirty="0"/>
              <a:t> means both Injective and Surjective together. 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Think of it as a "perfect pairing" between the sets: every one has a partner and no one is left out. So there is a perfect "</a:t>
            </a:r>
            <a:r>
              <a:rPr lang="en-US" b="1" dirty="0"/>
              <a:t>one-to-one correspondence</a:t>
            </a:r>
            <a:r>
              <a:rPr lang="en-US" dirty="0"/>
              <a:t>" between the members of the sets. 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(But don't get that confused with the term "One-to-One" used to mean injective).</a:t>
            </a:r>
            <a:endParaRPr lang="en-US" dirty="0">
              <a:effectLst/>
            </a:endParaRPr>
          </a:p>
        </p:txBody>
      </p:sp>
      <p:pic>
        <p:nvPicPr>
          <p:cNvPr id="10" name="Picture 9" descr="Diagram&#10;&#10;Description automatically generated">
            <a:extLst>
              <a:ext uri="{FF2B5EF4-FFF2-40B4-BE49-F238E27FC236}">
                <a16:creationId xmlns:a16="http://schemas.microsoft.com/office/drawing/2014/main" id="{DE064CCD-E40B-CF47-854C-3A9187B3C84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372" r="41316"/>
          <a:stretch/>
        </p:blipFill>
        <p:spPr>
          <a:xfrm>
            <a:off x="6957490" y="237272"/>
            <a:ext cx="1534658" cy="2419005"/>
          </a:xfrm>
          <a:prstGeom prst="rect">
            <a:avLst/>
          </a:prstGeom>
        </p:spPr>
      </p:pic>
      <p:pic>
        <p:nvPicPr>
          <p:cNvPr id="11" name="Picture 10" descr="Diagram&#10;&#10;Description automatically generated">
            <a:extLst>
              <a:ext uri="{FF2B5EF4-FFF2-40B4-BE49-F238E27FC236}">
                <a16:creationId xmlns:a16="http://schemas.microsoft.com/office/drawing/2014/main" id="{51B8B491-0C0E-8A4A-ACB4-2A73A3DDFB9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908" r="21499"/>
          <a:stretch/>
        </p:blipFill>
        <p:spPr>
          <a:xfrm>
            <a:off x="185334" y="1967923"/>
            <a:ext cx="1534658" cy="2385865"/>
          </a:xfrm>
          <a:prstGeom prst="rect">
            <a:avLst/>
          </a:prstGeom>
        </p:spPr>
      </p:pic>
      <p:pic>
        <p:nvPicPr>
          <p:cNvPr id="12" name="Picture 11" descr="Diagram&#10;&#10;Description automatically generated">
            <a:extLst>
              <a:ext uri="{FF2B5EF4-FFF2-40B4-BE49-F238E27FC236}">
                <a16:creationId xmlns:a16="http://schemas.microsoft.com/office/drawing/2014/main" id="{6AF61370-51A6-F14D-A045-2123C0F92CC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553"/>
          <a:stretch/>
        </p:blipFill>
        <p:spPr>
          <a:xfrm>
            <a:off x="7108271" y="3869041"/>
            <a:ext cx="1620490" cy="2419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71708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TW" sz="4000" b="1" dirty="0">
                <a:latin typeface="+mn-lt"/>
              </a:rPr>
              <a:t>One-to-One Functions </a:t>
            </a:r>
            <a:endParaRPr lang="en-US" sz="4000" b="1" dirty="0">
              <a:latin typeface="+mn-lt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22819" y="2156129"/>
            <a:ext cx="8705077" cy="42780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>
              <a:spcBef>
                <a:spcPts val="600"/>
              </a:spcBef>
              <a:buFont typeface="Wingdings" pitchFamily="2" charset="2"/>
              <a:buChar char="§"/>
            </a:pPr>
            <a:r>
              <a:rPr lang="en-US" altLang="zh-TW" sz="2800" b="1" u="sng" dirty="0">
                <a:solidFill>
                  <a:srgbClr val="FF0000"/>
                </a:solidFill>
              </a:rPr>
              <a:t>Definition 5</a:t>
            </a:r>
            <a:r>
              <a:rPr lang="en-US" altLang="zh-TW" sz="2800" dirty="0">
                <a:solidFill>
                  <a:srgbClr val="FF0000"/>
                </a:solidFill>
              </a:rPr>
              <a:t>: </a:t>
            </a:r>
            <a:r>
              <a:rPr lang="en-US" altLang="zh-TW" sz="2800" dirty="0"/>
              <a:t>A function </a:t>
            </a:r>
            <a:r>
              <a:rPr lang="en-US" altLang="zh-TW" sz="2800" i="1" dirty="0"/>
              <a:t>f</a:t>
            </a:r>
            <a:r>
              <a:rPr lang="en-US" altLang="zh-TW" sz="2800" dirty="0"/>
              <a:t> is </a:t>
            </a:r>
            <a:r>
              <a:rPr lang="en-US" altLang="zh-TW" sz="2800" i="1" dirty="0">
                <a:solidFill>
                  <a:srgbClr val="0000FF"/>
                </a:solidFill>
              </a:rPr>
              <a:t>one-to-one</a:t>
            </a:r>
            <a:r>
              <a:rPr lang="en-US" altLang="zh-TW" sz="2800" i="1" dirty="0"/>
              <a:t> </a:t>
            </a:r>
            <a:r>
              <a:rPr lang="en-US" altLang="zh-TW" sz="2800" dirty="0"/>
              <a:t>or</a:t>
            </a:r>
            <a:r>
              <a:rPr lang="en-US" altLang="zh-TW" sz="2800" i="1" dirty="0"/>
              <a:t> </a:t>
            </a:r>
            <a:r>
              <a:rPr lang="en-US" altLang="zh-TW" sz="2800" i="1" dirty="0">
                <a:solidFill>
                  <a:srgbClr val="0000FF"/>
                </a:solidFill>
              </a:rPr>
              <a:t>injective</a:t>
            </a:r>
            <a:r>
              <a:rPr lang="en-US" altLang="zh-TW" sz="2800" dirty="0"/>
              <a:t>, </a:t>
            </a:r>
            <a:r>
              <a:rPr lang="en-US" altLang="zh-TW" sz="2800" dirty="0" err="1"/>
              <a:t>iff</a:t>
            </a:r>
            <a:r>
              <a:rPr lang="en-US" altLang="zh-TW" sz="2800" dirty="0"/>
              <a:t> </a:t>
            </a:r>
            <a:r>
              <a:rPr lang="en-US" altLang="zh-TW" sz="2800" i="1" dirty="0"/>
              <a:t>f(a) </a:t>
            </a:r>
            <a:r>
              <a:rPr lang="en-US" altLang="zh-TW" sz="2800" dirty="0"/>
              <a:t>=</a:t>
            </a:r>
            <a:r>
              <a:rPr lang="en-US" altLang="zh-TW" sz="2800" i="1" dirty="0"/>
              <a:t> f(b)</a:t>
            </a:r>
            <a:r>
              <a:rPr lang="en-US" altLang="zh-TW" sz="2800" dirty="0"/>
              <a:t> implies that </a:t>
            </a:r>
            <a:r>
              <a:rPr lang="en-US" altLang="zh-TW" sz="2800" i="1" dirty="0"/>
              <a:t>a </a:t>
            </a:r>
            <a:r>
              <a:rPr lang="en-US" altLang="zh-TW" sz="2800" dirty="0"/>
              <a:t>=</a:t>
            </a:r>
            <a:r>
              <a:rPr lang="en-US" altLang="zh-TW" sz="2800" i="1" dirty="0"/>
              <a:t> b</a:t>
            </a:r>
            <a:r>
              <a:rPr lang="en-US" altLang="zh-TW" sz="2800" dirty="0"/>
              <a:t> for all </a:t>
            </a:r>
            <a:r>
              <a:rPr lang="en-US" altLang="zh-TW" sz="2800" i="1" dirty="0"/>
              <a:t>a</a:t>
            </a:r>
            <a:r>
              <a:rPr lang="en-US" altLang="zh-TW" sz="2800" dirty="0"/>
              <a:t> and</a:t>
            </a:r>
            <a:r>
              <a:rPr lang="en-US" altLang="zh-TW" sz="2800" i="1" dirty="0"/>
              <a:t> b</a:t>
            </a:r>
            <a:r>
              <a:rPr lang="en-US" altLang="zh-TW" sz="2800" dirty="0"/>
              <a:t> in the domain of </a:t>
            </a:r>
            <a:r>
              <a:rPr lang="en-US" altLang="zh-TW" sz="2800" i="1" dirty="0"/>
              <a:t>f</a:t>
            </a:r>
            <a:r>
              <a:rPr lang="en-US" altLang="zh-TW" sz="2800" dirty="0"/>
              <a:t>. </a:t>
            </a:r>
          </a:p>
          <a:p>
            <a:pPr marL="274320" indent="-274320">
              <a:spcBef>
                <a:spcPts val="600"/>
              </a:spcBef>
              <a:buFont typeface="Wingdings" pitchFamily="2" charset="2"/>
              <a:buChar char="§"/>
            </a:pPr>
            <a:r>
              <a:rPr lang="en-US" altLang="zh-TW" sz="2800" dirty="0"/>
              <a:t>A function </a:t>
            </a:r>
            <a:r>
              <a:rPr lang="en-US" altLang="zh-TW" sz="2800" i="1" dirty="0"/>
              <a:t>f: A</a:t>
            </a:r>
            <a:r>
              <a:rPr lang="en-US" altLang="zh-TW" sz="2800" i="1" dirty="0">
                <a:sym typeface="Symbol" pitchFamily="18" charset="2"/>
              </a:rPr>
              <a:t> </a:t>
            </a:r>
            <a:r>
              <a:rPr lang="en-US" altLang="zh-TW" sz="2800" i="1" dirty="0"/>
              <a:t>B </a:t>
            </a:r>
            <a:r>
              <a:rPr lang="en-US" altLang="zh-TW" sz="2800" dirty="0"/>
              <a:t>is said to be one-to-one </a:t>
            </a:r>
            <a:r>
              <a:rPr lang="en-US" altLang="zh-TW" sz="2800" dirty="0">
                <a:solidFill>
                  <a:srgbClr val="0033CC"/>
                </a:solidFill>
              </a:rPr>
              <a:t>if all the elements in the domain A </a:t>
            </a:r>
            <a:r>
              <a:rPr lang="en-US" altLang="zh-TW" sz="2800" dirty="0"/>
              <a:t>have</a:t>
            </a:r>
            <a:r>
              <a:rPr lang="en-US" altLang="zh-TW" sz="2800" dirty="0">
                <a:solidFill>
                  <a:srgbClr val="0033CC"/>
                </a:solidFill>
              </a:rPr>
              <a:t> </a:t>
            </a:r>
            <a:r>
              <a:rPr lang="en-US" altLang="zh-TW" sz="2800" b="1" dirty="0">
                <a:solidFill>
                  <a:srgbClr val="0033CC"/>
                </a:solidFill>
              </a:rPr>
              <a:t>distinct</a:t>
            </a:r>
            <a:r>
              <a:rPr lang="en-US" altLang="zh-TW" sz="2800" dirty="0">
                <a:solidFill>
                  <a:srgbClr val="0033CC"/>
                </a:solidFill>
              </a:rPr>
              <a:t> </a:t>
            </a:r>
            <a:r>
              <a:rPr lang="en-US" altLang="zh-TW" sz="2800" b="1" dirty="0">
                <a:solidFill>
                  <a:srgbClr val="0033CC"/>
                </a:solidFill>
              </a:rPr>
              <a:t>images</a:t>
            </a:r>
            <a:r>
              <a:rPr lang="en-US" altLang="zh-TW" sz="2800" dirty="0">
                <a:solidFill>
                  <a:srgbClr val="0033CC"/>
                </a:solidFill>
              </a:rPr>
              <a:t>.</a:t>
            </a:r>
          </a:p>
          <a:p>
            <a:pPr marL="274320" lvl="2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altLang="zh-TW" sz="2800" dirty="0"/>
              <a:t>We can express that </a:t>
            </a:r>
            <a:r>
              <a:rPr lang="en-US" altLang="zh-TW" sz="2800" i="1" dirty="0"/>
              <a:t>f</a:t>
            </a:r>
            <a:r>
              <a:rPr lang="en-US" altLang="zh-TW" sz="2800" dirty="0"/>
              <a:t> is one-to-one Using quantifiers </a:t>
            </a:r>
            <a:r>
              <a:rPr lang="en-US" altLang="zh-TW" sz="2800" dirty="0">
                <a:solidFill>
                  <a:srgbClr val="0033CC"/>
                </a:solidFill>
              </a:rPr>
              <a:t>as </a:t>
            </a:r>
            <a:r>
              <a:rPr lang="en-US" altLang="zh-TW" sz="2800" i="1" dirty="0">
                <a:sym typeface="Symbol" pitchFamily="18" charset="2"/>
              </a:rPr>
              <a:t></a:t>
            </a:r>
            <a:r>
              <a:rPr lang="en-US" altLang="zh-TW" sz="2800" i="1" dirty="0" err="1">
                <a:sym typeface="Symbol" pitchFamily="18" charset="2"/>
              </a:rPr>
              <a:t>ab</a:t>
            </a:r>
            <a:r>
              <a:rPr lang="en-US" altLang="zh-TW" sz="2800" i="1" dirty="0">
                <a:sym typeface="Symbol" pitchFamily="18" charset="2"/>
              </a:rPr>
              <a:t> ( f(a) </a:t>
            </a:r>
            <a:r>
              <a:rPr lang="en-US" altLang="zh-TW" sz="2800" dirty="0">
                <a:sym typeface="Symbol" pitchFamily="18" charset="2"/>
              </a:rPr>
              <a:t>=</a:t>
            </a:r>
            <a:r>
              <a:rPr lang="en-US" altLang="zh-TW" sz="2800" i="1" dirty="0">
                <a:sym typeface="Symbol" pitchFamily="18" charset="2"/>
              </a:rPr>
              <a:t> f(b)  a </a:t>
            </a:r>
            <a:r>
              <a:rPr lang="en-US" altLang="zh-TW" sz="2800" dirty="0">
                <a:sym typeface="Symbol" pitchFamily="18" charset="2"/>
              </a:rPr>
              <a:t>=</a:t>
            </a:r>
            <a:r>
              <a:rPr lang="en-US" altLang="zh-TW" sz="2800" i="1" dirty="0">
                <a:sym typeface="Symbol" pitchFamily="18" charset="2"/>
              </a:rPr>
              <a:t> b ), </a:t>
            </a:r>
            <a:r>
              <a:rPr lang="en-US" altLang="zh-TW" sz="2800" i="1" dirty="0">
                <a:solidFill>
                  <a:srgbClr val="0000FF"/>
                </a:solidFill>
                <a:sym typeface="Symbol" pitchFamily="18" charset="2"/>
              </a:rPr>
              <a:t>or equivalently, </a:t>
            </a:r>
          </a:p>
          <a:p>
            <a:pPr marL="274320" lvl="2" indent="-274320">
              <a:spcBef>
                <a:spcPts val="600"/>
              </a:spcBef>
            </a:pPr>
            <a:r>
              <a:rPr lang="en-US" altLang="zh-TW" sz="2800" i="1" dirty="0">
                <a:solidFill>
                  <a:srgbClr val="0000FF"/>
                </a:solidFill>
                <a:sym typeface="Symbol" pitchFamily="18" charset="2"/>
              </a:rPr>
              <a:t>	</a:t>
            </a:r>
            <a:r>
              <a:rPr lang="en-US" altLang="zh-TW" sz="2800" i="1" dirty="0">
                <a:sym typeface="Symbol" pitchFamily="18" charset="2"/>
              </a:rPr>
              <a:t></a:t>
            </a:r>
            <a:r>
              <a:rPr lang="en-US" altLang="zh-TW" sz="2800" i="1" dirty="0" err="1">
                <a:sym typeface="Symbol" pitchFamily="18" charset="2"/>
              </a:rPr>
              <a:t>ab</a:t>
            </a:r>
            <a:r>
              <a:rPr lang="en-US" altLang="zh-TW" sz="2800" i="1" dirty="0">
                <a:sym typeface="Symbol" pitchFamily="18" charset="2"/>
              </a:rPr>
              <a:t> ( a </a:t>
            </a:r>
            <a:r>
              <a:rPr lang="en-US" altLang="zh-TW" sz="2800" dirty="0">
                <a:sym typeface="Symbol" pitchFamily="18" charset="2"/>
              </a:rPr>
              <a:t></a:t>
            </a:r>
            <a:r>
              <a:rPr lang="en-US" altLang="zh-TW" sz="2800" i="1" dirty="0">
                <a:sym typeface="Symbol" pitchFamily="18" charset="2"/>
              </a:rPr>
              <a:t> b  f(a) </a:t>
            </a:r>
            <a:r>
              <a:rPr lang="en-US" altLang="zh-TW" sz="2800" dirty="0">
                <a:sym typeface="Symbol" pitchFamily="18" charset="2"/>
              </a:rPr>
              <a:t></a:t>
            </a:r>
            <a:r>
              <a:rPr lang="en-US" altLang="zh-TW" sz="2800" i="1" dirty="0">
                <a:sym typeface="Symbol" pitchFamily="18" charset="2"/>
              </a:rPr>
              <a:t> f(b) ), where the universe of discourse is the domain of the function f</a:t>
            </a:r>
          </a:p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endParaRPr lang="en-US" altLang="zh-TW" sz="2800" dirty="0">
              <a:solidFill>
                <a:srgbClr val="0033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7293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+mn-lt"/>
              </a:rPr>
              <a:t>Example 8</a:t>
            </a:r>
          </a:p>
        </p:txBody>
      </p:sp>
      <p:sp>
        <p:nvSpPr>
          <p:cNvPr id="5" name="Rectangle 4"/>
          <p:cNvSpPr/>
          <p:nvPr/>
        </p:nvSpPr>
        <p:spPr>
          <a:xfrm>
            <a:off x="600501" y="2274838"/>
            <a:ext cx="8079475" cy="32162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sz="2800" dirty="0">
                <a:solidFill>
                  <a:srgbClr val="FF0000"/>
                </a:solidFill>
              </a:rPr>
              <a:t>Determine whether the function </a:t>
            </a:r>
            <a:r>
              <a:rPr lang="en-US" sz="2800" i="1" dirty="0">
                <a:solidFill>
                  <a:srgbClr val="FF0000"/>
                </a:solidFill>
              </a:rPr>
              <a:t>f</a:t>
            </a:r>
            <a:r>
              <a:rPr lang="en-US" sz="2800" dirty="0">
                <a:solidFill>
                  <a:srgbClr val="FF0000"/>
                </a:solidFill>
              </a:rPr>
              <a:t> from {a, b, c, d} to {1, 2, 3, 4, 5} with </a:t>
            </a:r>
            <a:r>
              <a:rPr lang="en-US" sz="2800" i="1" dirty="0">
                <a:solidFill>
                  <a:srgbClr val="FF0000"/>
                </a:solidFill>
              </a:rPr>
              <a:t>f</a:t>
            </a:r>
            <a:r>
              <a:rPr lang="en-US" sz="2800" dirty="0">
                <a:solidFill>
                  <a:srgbClr val="FF0000"/>
                </a:solidFill>
              </a:rPr>
              <a:t>(a)=4, </a:t>
            </a:r>
            <a:r>
              <a:rPr lang="en-US" sz="2800" i="1" dirty="0">
                <a:solidFill>
                  <a:srgbClr val="FF0000"/>
                </a:solidFill>
              </a:rPr>
              <a:t>f</a:t>
            </a:r>
            <a:r>
              <a:rPr lang="en-US" sz="2800" dirty="0">
                <a:solidFill>
                  <a:srgbClr val="FF0000"/>
                </a:solidFill>
              </a:rPr>
              <a:t>(b)=5, </a:t>
            </a:r>
            <a:r>
              <a:rPr lang="en-US" sz="2800" i="1" dirty="0">
                <a:solidFill>
                  <a:srgbClr val="FF0000"/>
                </a:solidFill>
              </a:rPr>
              <a:t>f</a:t>
            </a:r>
            <a:r>
              <a:rPr lang="en-US" sz="2800" dirty="0">
                <a:solidFill>
                  <a:srgbClr val="FF0000"/>
                </a:solidFill>
              </a:rPr>
              <a:t>(c)= 1, and </a:t>
            </a:r>
            <a:r>
              <a:rPr lang="en-US" sz="2800" i="1" dirty="0">
                <a:solidFill>
                  <a:srgbClr val="FF0000"/>
                </a:solidFill>
              </a:rPr>
              <a:t>f</a:t>
            </a:r>
            <a:r>
              <a:rPr lang="en-US" sz="2800" dirty="0">
                <a:solidFill>
                  <a:srgbClr val="FF0000"/>
                </a:solidFill>
              </a:rPr>
              <a:t>(d)=3 </a:t>
            </a:r>
          </a:p>
          <a:p>
            <a:pPr marL="274320" indent="-274320">
              <a:spcBef>
                <a:spcPts val="600"/>
              </a:spcBef>
            </a:pPr>
            <a:r>
              <a:rPr lang="en-US" sz="2800" dirty="0">
                <a:solidFill>
                  <a:srgbClr val="FF0000"/>
                </a:solidFill>
              </a:rPr>
              <a:t>	is one-to-one.</a:t>
            </a:r>
          </a:p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sz="2800" b="1" u="sng" dirty="0">
                <a:solidFill>
                  <a:srgbClr val="0000FF"/>
                </a:solidFill>
              </a:rPr>
              <a:t>Solution</a:t>
            </a:r>
            <a:r>
              <a:rPr lang="en-US" sz="2800" dirty="0"/>
              <a:t>: The function is one-to-one because every element of domain has a distinct image.</a:t>
            </a:r>
          </a:p>
          <a:p>
            <a:pPr marL="731520" lvl="1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sz="2400" dirty="0"/>
              <a:t>The function </a:t>
            </a:r>
            <a:r>
              <a:rPr lang="en-US" sz="2400" i="1" dirty="0"/>
              <a:t>f </a:t>
            </a:r>
            <a:r>
              <a:rPr lang="en-US" sz="2400" dirty="0"/>
              <a:t>is one-to-one because </a:t>
            </a:r>
            <a:r>
              <a:rPr lang="en-US" sz="2400" i="1" dirty="0"/>
              <a:t>f</a:t>
            </a:r>
            <a:r>
              <a:rPr lang="en-US" sz="2400" dirty="0"/>
              <a:t> takes on different values at the four elements of its domain. 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312157" y="640077"/>
            <a:ext cx="7808976" cy="1088136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+mn-lt"/>
              </a:rPr>
              <a:t>Example 9</a:t>
            </a:r>
          </a:p>
        </p:txBody>
      </p:sp>
      <p:sp>
        <p:nvSpPr>
          <p:cNvPr id="5" name="Rectangle 4"/>
          <p:cNvSpPr/>
          <p:nvPr/>
        </p:nvSpPr>
        <p:spPr>
          <a:xfrm>
            <a:off x="312157" y="2183642"/>
            <a:ext cx="8624923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u="sng" dirty="0">
                <a:solidFill>
                  <a:srgbClr val="FF0000"/>
                </a:solidFill>
              </a:rPr>
              <a:t>Example 9:</a:t>
            </a:r>
            <a:r>
              <a:rPr lang="en-US" sz="2800" dirty="0">
                <a:solidFill>
                  <a:srgbClr val="0000FF"/>
                </a:solidFill>
              </a:rPr>
              <a:t> </a:t>
            </a:r>
            <a:r>
              <a:rPr lang="en-US" sz="2800" dirty="0"/>
              <a:t>Determine whether the function </a:t>
            </a:r>
            <a:r>
              <a:rPr lang="en-US" sz="2800" i="1" dirty="0"/>
              <a:t>f(x) </a:t>
            </a:r>
            <a:r>
              <a:rPr lang="en-US" sz="2800" dirty="0"/>
              <a:t>= </a:t>
            </a:r>
            <a:r>
              <a:rPr lang="en-US" sz="2800" i="1" dirty="0"/>
              <a:t>x</a:t>
            </a:r>
            <a:r>
              <a:rPr lang="en-US" sz="2800" baseline="30000" dirty="0"/>
              <a:t>2 </a:t>
            </a:r>
            <a:r>
              <a:rPr lang="en-US" sz="2800" dirty="0"/>
              <a:t>from the set of integers to the set of integers is one-to-one.</a:t>
            </a:r>
          </a:p>
          <a:p>
            <a:endParaRPr lang="en-US" sz="2800" dirty="0"/>
          </a:p>
          <a:p>
            <a:r>
              <a:rPr lang="en-US" sz="2800" b="1" u="sng" dirty="0">
                <a:solidFill>
                  <a:srgbClr val="0000FF"/>
                </a:solidFill>
              </a:rPr>
              <a:t>Solution</a:t>
            </a:r>
            <a:r>
              <a:rPr lang="en-US" sz="2800" dirty="0"/>
              <a:t>: The function </a:t>
            </a:r>
            <a:r>
              <a:rPr lang="en-US" sz="2800" i="1" dirty="0"/>
              <a:t>f</a:t>
            </a:r>
            <a:r>
              <a:rPr lang="en-US" sz="2800" dirty="0"/>
              <a:t>(</a:t>
            </a:r>
            <a:r>
              <a:rPr lang="en-US" sz="2800" i="1" dirty="0"/>
              <a:t>x</a:t>
            </a:r>
            <a:r>
              <a:rPr lang="en-US" sz="2800" dirty="0"/>
              <a:t>) = </a:t>
            </a:r>
            <a:r>
              <a:rPr lang="en-US" sz="2800" i="1" dirty="0"/>
              <a:t>x</a:t>
            </a:r>
            <a:r>
              <a:rPr lang="en-US" sz="2800" baseline="30000" dirty="0"/>
              <a:t>2</a:t>
            </a:r>
            <a:r>
              <a:rPr lang="en-US" sz="2800" dirty="0"/>
              <a:t> is </a:t>
            </a:r>
            <a:r>
              <a:rPr lang="en-US" sz="2800" b="1" i="1" dirty="0">
                <a:solidFill>
                  <a:srgbClr val="FF0000"/>
                </a:solidFill>
              </a:rPr>
              <a:t>not</a:t>
            </a:r>
            <a:r>
              <a:rPr lang="en-US" sz="2800" dirty="0"/>
              <a:t> </a:t>
            </a:r>
            <a:r>
              <a:rPr lang="en-US" sz="2800" dirty="0">
                <a:solidFill>
                  <a:srgbClr val="FF0000"/>
                </a:solidFill>
              </a:rPr>
              <a:t>one-to-one</a:t>
            </a:r>
            <a:r>
              <a:rPr lang="en-US" sz="2800" dirty="0"/>
              <a:t> because, for instance, </a:t>
            </a:r>
            <a:r>
              <a:rPr lang="en-US" sz="2800" i="1" dirty="0"/>
              <a:t>f</a:t>
            </a:r>
            <a:r>
              <a:rPr lang="en-US" sz="2800" dirty="0"/>
              <a:t>(1)= </a:t>
            </a:r>
            <a:r>
              <a:rPr lang="en-US" sz="2800" i="1" dirty="0"/>
              <a:t>f</a:t>
            </a:r>
            <a:r>
              <a:rPr lang="en-US" sz="2800" dirty="0"/>
              <a:t>(</a:t>
            </a:r>
            <a:r>
              <a:rPr lang="en-US" altLang="zh-TW" sz="2800" i="1" dirty="0"/>
              <a:t>–</a:t>
            </a:r>
            <a:r>
              <a:rPr lang="en-US" sz="2800" dirty="0"/>
              <a:t>1) = 1, but 1 = </a:t>
            </a:r>
            <a:r>
              <a:rPr lang="en-US" altLang="zh-TW" sz="2800" i="1" dirty="0"/>
              <a:t>– </a:t>
            </a:r>
            <a:r>
              <a:rPr lang="en-US" sz="2800" dirty="0"/>
              <a:t>1</a:t>
            </a:r>
          </a:p>
          <a:p>
            <a:r>
              <a:rPr lang="en-US" sz="2800" dirty="0"/>
              <a:t>(</a:t>
            </a:r>
            <a:r>
              <a:rPr lang="en-US" sz="2800" i="1" dirty="0"/>
              <a:t>i.e. </a:t>
            </a:r>
            <a:r>
              <a:rPr lang="en-US" sz="2800" dirty="0">
                <a:solidFill>
                  <a:srgbClr val="FF0000"/>
                </a:solidFill>
              </a:rPr>
              <a:t>1</a:t>
            </a:r>
            <a:r>
              <a:rPr lang="en-US" sz="2800" dirty="0"/>
              <a:t> and </a:t>
            </a:r>
            <a:r>
              <a:rPr lang="en-US" altLang="zh-TW" sz="2800" i="1" dirty="0">
                <a:solidFill>
                  <a:srgbClr val="FF0000"/>
                </a:solidFill>
              </a:rPr>
              <a:t>–</a:t>
            </a:r>
            <a:r>
              <a:rPr lang="en-US" sz="2800" dirty="0">
                <a:solidFill>
                  <a:srgbClr val="FF0000"/>
                </a:solidFill>
              </a:rPr>
              <a:t>1</a:t>
            </a:r>
            <a:r>
              <a:rPr lang="en-US" sz="2800" dirty="0"/>
              <a:t> have </a:t>
            </a:r>
            <a:r>
              <a:rPr lang="en-US" sz="2800" dirty="0">
                <a:solidFill>
                  <a:srgbClr val="FF0000"/>
                </a:solidFill>
              </a:rPr>
              <a:t>same image 1</a:t>
            </a:r>
            <a:r>
              <a:rPr lang="en-US" sz="2800" dirty="0"/>
              <a:t>)</a:t>
            </a:r>
          </a:p>
          <a:p>
            <a:r>
              <a:rPr lang="en-US" sz="2800" dirty="0"/>
              <a:t> 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284861" y="599133"/>
            <a:ext cx="7808976" cy="1088136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+mn-lt"/>
              </a:rPr>
              <a:t>Class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327541" y="2243991"/>
            <a:ext cx="8309283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Determine whether the function </a:t>
            </a:r>
            <a:r>
              <a:rPr lang="en-US" sz="2800" i="1" dirty="0">
                <a:solidFill>
                  <a:srgbClr val="FF0000"/>
                </a:solidFill>
              </a:rPr>
              <a:t>f</a:t>
            </a:r>
            <a:r>
              <a:rPr lang="en-US" sz="2800" dirty="0">
                <a:solidFill>
                  <a:srgbClr val="FF0000"/>
                </a:solidFill>
              </a:rPr>
              <a:t>(</a:t>
            </a:r>
            <a:r>
              <a:rPr lang="en-US" sz="2800" i="1" dirty="0">
                <a:solidFill>
                  <a:srgbClr val="FF0000"/>
                </a:solidFill>
              </a:rPr>
              <a:t>x</a:t>
            </a:r>
            <a:r>
              <a:rPr lang="en-US" sz="2800" dirty="0">
                <a:solidFill>
                  <a:srgbClr val="FF0000"/>
                </a:solidFill>
              </a:rPr>
              <a:t>) = </a:t>
            </a:r>
            <a:r>
              <a:rPr lang="en-US" sz="2800" i="1" dirty="0">
                <a:solidFill>
                  <a:srgbClr val="FF0000"/>
                </a:solidFill>
              </a:rPr>
              <a:t>x</a:t>
            </a:r>
            <a:r>
              <a:rPr lang="en-US" sz="2800" baseline="30000" dirty="0">
                <a:solidFill>
                  <a:srgbClr val="FF0000"/>
                </a:solidFill>
              </a:rPr>
              <a:t>2 </a:t>
            </a:r>
            <a:r>
              <a:rPr lang="en-US" sz="2800" dirty="0">
                <a:solidFill>
                  <a:srgbClr val="FF0000"/>
                </a:solidFill>
              </a:rPr>
              <a:t>from the set of </a:t>
            </a:r>
            <a:r>
              <a:rPr lang="en-US" sz="2800" b="1" dirty="0">
                <a:solidFill>
                  <a:srgbClr val="FF0000"/>
                </a:solidFill>
              </a:rPr>
              <a:t>positive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b="1" dirty="0">
                <a:solidFill>
                  <a:srgbClr val="FF0000"/>
                </a:solidFill>
              </a:rPr>
              <a:t>integers</a:t>
            </a:r>
            <a:r>
              <a:rPr lang="en-US" sz="2800" dirty="0">
                <a:solidFill>
                  <a:srgbClr val="FF0000"/>
                </a:solidFill>
              </a:rPr>
              <a:t> to the set of </a:t>
            </a:r>
            <a:r>
              <a:rPr lang="en-US" sz="2800" b="1" dirty="0">
                <a:solidFill>
                  <a:srgbClr val="FF0000"/>
                </a:solidFill>
              </a:rPr>
              <a:t>positive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b="1" dirty="0">
                <a:solidFill>
                  <a:srgbClr val="FF0000"/>
                </a:solidFill>
              </a:rPr>
              <a:t>integers</a:t>
            </a:r>
            <a:r>
              <a:rPr lang="en-US" sz="2800" dirty="0">
                <a:solidFill>
                  <a:srgbClr val="FF0000"/>
                </a:solidFill>
              </a:rPr>
              <a:t> is one-to-one. 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C1F8A2C-FFE7-7042-A1BA-1355662CF78C}"/>
              </a:ext>
            </a:extLst>
          </p:cNvPr>
          <p:cNvSpPr/>
          <p:nvPr/>
        </p:nvSpPr>
        <p:spPr>
          <a:xfrm>
            <a:off x="447854" y="3784938"/>
            <a:ext cx="8309283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202124"/>
                </a:solidFill>
                <a:latin typeface="arial" panose="020B0604020202020204" pitchFamily="34" charset="0"/>
              </a:rPr>
              <a:t>For example, the </a:t>
            </a:r>
            <a:r>
              <a:rPr lang="en-US" sz="2000" b="1" dirty="0">
                <a:solidFill>
                  <a:srgbClr val="202124"/>
                </a:solidFill>
                <a:latin typeface="arial" panose="020B0604020202020204" pitchFamily="34" charset="0"/>
              </a:rPr>
              <a:t>function f(x) = x + 1</a:t>
            </a:r>
            <a:r>
              <a:rPr lang="en-US" sz="2000" dirty="0">
                <a:solidFill>
                  <a:srgbClr val="202124"/>
                </a:solidFill>
                <a:latin typeface="arial" panose="020B0604020202020204" pitchFamily="34" charset="0"/>
              </a:rPr>
              <a:t> is a one-to-one function because it produces a different answer for every input. </a:t>
            </a:r>
          </a:p>
          <a:p>
            <a:endParaRPr lang="en-US" sz="2000" dirty="0">
              <a:solidFill>
                <a:srgbClr val="202124"/>
              </a:solidFill>
              <a:latin typeface="arial" panose="020B0604020202020204" pitchFamily="34" charset="0"/>
            </a:endParaRPr>
          </a:p>
          <a:p>
            <a:r>
              <a:rPr lang="en-US" sz="2000" dirty="0">
                <a:solidFill>
                  <a:srgbClr val="202124"/>
                </a:solidFill>
                <a:latin typeface="arial" panose="020B0604020202020204" pitchFamily="34" charset="0"/>
              </a:rPr>
              <a:t>The function f(x) = x^2, on the other hand, is not a one-to-one function because it gives you the same answer for more than one input.</a:t>
            </a:r>
            <a:endParaRPr lang="en-US" sz="2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>
                <a:latin typeface="+mn-lt"/>
              </a:rPr>
              <a:t>Example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421341" y="2210937"/>
            <a:ext cx="8515739" cy="37702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sz="2800" dirty="0">
                <a:solidFill>
                  <a:srgbClr val="FF0000"/>
                </a:solidFill>
              </a:rPr>
              <a:t>Determine whether the function </a:t>
            </a:r>
            <a:r>
              <a:rPr lang="en-US" sz="2800" i="1" dirty="0">
                <a:solidFill>
                  <a:srgbClr val="FF0000"/>
                </a:solidFill>
              </a:rPr>
              <a:t>f</a:t>
            </a:r>
            <a:r>
              <a:rPr lang="en-US" sz="2800" dirty="0">
                <a:solidFill>
                  <a:srgbClr val="FF0000"/>
                </a:solidFill>
              </a:rPr>
              <a:t>(</a:t>
            </a:r>
            <a:r>
              <a:rPr lang="en-US" sz="2800" i="1" dirty="0">
                <a:solidFill>
                  <a:srgbClr val="FF0000"/>
                </a:solidFill>
              </a:rPr>
              <a:t>x</a:t>
            </a:r>
            <a:r>
              <a:rPr lang="en-US" sz="2800" dirty="0">
                <a:solidFill>
                  <a:srgbClr val="FF0000"/>
                </a:solidFill>
              </a:rPr>
              <a:t>) = </a:t>
            </a:r>
            <a:r>
              <a:rPr lang="en-US" sz="2800" i="1" dirty="0">
                <a:solidFill>
                  <a:srgbClr val="FF0000"/>
                </a:solidFill>
              </a:rPr>
              <a:t>x</a:t>
            </a:r>
            <a:r>
              <a:rPr lang="en-US" sz="2800" dirty="0">
                <a:solidFill>
                  <a:srgbClr val="FF0000"/>
                </a:solidFill>
              </a:rPr>
              <a:t> + 1 from the set of real numbers to the set of real numbers is one-to-one.</a:t>
            </a:r>
          </a:p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endParaRPr lang="en-US" sz="2800" dirty="0"/>
          </a:p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sz="2800" b="1" u="sng" dirty="0">
                <a:solidFill>
                  <a:srgbClr val="0000FF"/>
                </a:solidFill>
              </a:rPr>
              <a:t>Solution</a:t>
            </a:r>
            <a:r>
              <a:rPr lang="en-US" sz="2800" dirty="0"/>
              <a:t>: The function </a:t>
            </a:r>
            <a:r>
              <a:rPr lang="en-US" sz="2800" i="1" dirty="0"/>
              <a:t>f</a:t>
            </a:r>
            <a:r>
              <a:rPr lang="en-US" sz="2800" dirty="0"/>
              <a:t>(</a:t>
            </a:r>
            <a:r>
              <a:rPr lang="en-US" sz="2800" i="1" dirty="0"/>
              <a:t>x</a:t>
            </a:r>
            <a:r>
              <a:rPr lang="en-US" sz="2800" dirty="0"/>
              <a:t>) = </a:t>
            </a:r>
            <a:r>
              <a:rPr lang="en-US" sz="2800" i="1" dirty="0"/>
              <a:t>x</a:t>
            </a:r>
            <a:r>
              <a:rPr lang="en-US" sz="2800" dirty="0"/>
              <a:t> + 1 is a one-to-one function. Since </a:t>
            </a:r>
            <a:r>
              <a:rPr lang="en-US" sz="2800" i="1" dirty="0"/>
              <a:t>x </a:t>
            </a:r>
            <a:r>
              <a:rPr lang="en-US" sz="2800" dirty="0"/>
              <a:t>+ 1 = </a:t>
            </a:r>
            <a:r>
              <a:rPr lang="en-US" sz="2800" i="1" dirty="0"/>
              <a:t>y</a:t>
            </a:r>
            <a:r>
              <a:rPr lang="en-US" sz="2800" dirty="0"/>
              <a:t> + 1, when </a:t>
            </a:r>
            <a:r>
              <a:rPr lang="en-US" sz="2800" i="1" dirty="0"/>
              <a:t>x</a:t>
            </a:r>
            <a:r>
              <a:rPr lang="en-US" sz="2800" dirty="0"/>
              <a:t> = </a:t>
            </a:r>
            <a:r>
              <a:rPr lang="en-US" sz="2800" i="1" dirty="0"/>
              <a:t>y</a:t>
            </a:r>
            <a:r>
              <a:rPr lang="en-US" sz="2800" dirty="0"/>
              <a:t> </a:t>
            </a:r>
          </a:p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sz="2800" dirty="0">
                <a:solidFill>
                  <a:srgbClr val="0000FF"/>
                </a:solidFill>
              </a:rPr>
              <a:t>For any real number x, there is a distinct image, just 1 bigger than x; so, the function is one-to-one.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+mn-lt"/>
              </a:rPr>
              <a:t>Example : One-to-one function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21341" y="2183643"/>
            <a:ext cx="8122158" cy="32624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sz="2800" dirty="0"/>
              <a:t>Let A = {1, 2, 3} and B = {a, b, c, d}, and let  f(1) = a, f(2) = b, f(3) = d. Then </a:t>
            </a:r>
            <a:r>
              <a:rPr lang="en-US" sz="2800" i="1" dirty="0">
                <a:solidFill>
                  <a:srgbClr val="FF0000"/>
                </a:solidFill>
              </a:rPr>
              <a:t>f</a:t>
            </a:r>
            <a:r>
              <a:rPr lang="en-US" sz="2800" dirty="0">
                <a:solidFill>
                  <a:srgbClr val="FF0000"/>
                </a:solidFill>
              </a:rPr>
              <a:t> is injective</a:t>
            </a:r>
            <a:r>
              <a:rPr lang="en-US" sz="2800" dirty="0"/>
              <a:t>, since the different elements 1, 2, 3 in A are assigned to the different elements a, c, d respectively in B</a:t>
            </a:r>
          </a:p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sz="2800" u="sng" dirty="0">
                <a:solidFill>
                  <a:srgbClr val="FF0000"/>
                </a:solidFill>
              </a:rPr>
              <a:t>Note</a:t>
            </a:r>
            <a:r>
              <a:rPr lang="en-US" sz="2800" dirty="0"/>
              <a:t>: Every element of domain has a distinct image. So, the function is one-to-one.</a:t>
            </a:r>
          </a:p>
          <a:p>
            <a:pPr marL="274320" indent="-274320">
              <a:spcBef>
                <a:spcPts val="600"/>
              </a:spcBef>
            </a:pPr>
            <a:endParaRPr lang="en-US" sz="2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+mn-lt"/>
              </a:rPr>
              <a:t>Onto Function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175677" y="2204006"/>
            <a:ext cx="8872787" cy="41488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•"/>
            </a:pPr>
            <a:r>
              <a:rPr lang="en-US" altLang="zh-TW" sz="2800" b="1" u="sng" dirty="0">
                <a:solidFill>
                  <a:srgbClr val="FF0000"/>
                </a:solidFill>
              </a:rPr>
              <a:t>Definition 7</a:t>
            </a:r>
            <a:r>
              <a:rPr lang="en-US" altLang="zh-TW" sz="2800" dirty="0">
                <a:solidFill>
                  <a:srgbClr val="FF0000"/>
                </a:solidFill>
              </a:rPr>
              <a:t>: </a:t>
            </a:r>
            <a:r>
              <a:rPr lang="en-US" altLang="zh-TW" sz="2800" dirty="0"/>
              <a:t>A function </a:t>
            </a:r>
            <a:r>
              <a:rPr lang="en-US" altLang="zh-TW" sz="2800" i="1" dirty="0"/>
              <a:t>f</a:t>
            </a:r>
            <a:r>
              <a:rPr lang="en-US" altLang="zh-TW" sz="2800" dirty="0"/>
              <a:t>  from A to B is </a:t>
            </a:r>
            <a:r>
              <a:rPr lang="en-US" altLang="zh-TW" sz="2800" b="1" i="1" dirty="0">
                <a:solidFill>
                  <a:srgbClr val="0000FF"/>
                </a:solidFill>
              </a:rPr>
              <a:t>onto</a:t>
            </a:r>
            <a:r>
              <a:rPr lang="en-US" altLang="zh-TW" sz="2800" i="1" dirty="0"/>
              <a:t> </a:t>
            </a:r>
            <a:r>
              <a:rPr lang="en-US" altLang="zh-TW" sz="2800" dirty="0"/>
              <a:t>or</a:t>
            </a:r>
            <a:r>
              <a:rPr lang="en-US" altLang="zh-TW" sz="2800" i="1" dirty="0"/>
              <a:t> </a:t>
            </a:r>
            <a:r>
              <a:rPr lang="en-US" altLang="zh-TW" sz="2800" b="1" i="1" dirty="0" err="1">
                <a:solidFill>
                  <a:srgbClr val="0000FF"/>
                </a:solidFill>
              </a:rPr>
              <a:t>surjective</a:t>
            </a:r>
            <a:r>
              <a:rPr lang="en-US" altLang="zh-TW" sz="2800" dirty="0"/>
              <a:t>, </a:t>
            </a:r>
            <a:r>
              <a:rPr lang="en-US" altLang="zh-TW" sz="2800" dirty="0" err="1"/>
              <a:t>iff</a:t>
            </a:r>
            <a:r>
              <a:rPr lang="en-US" altLang="zh-TW" sz="2800" dirty="0"/>
              <a:t> for every element </a:t>
            </a:r>
            <a:r>
              <a:rPr lang="en-US" altLang="zh-TW" sz="2800" i="1" dirty="0" err="1"/>
              <a:t>b</a:t>
            </a:r>
            <a:r>
              <a:rPr lang="en-US" altLang="zh-TW" sz="2800" i="1" dirty="0" err="1">
                <a:sym typeface="Symbol" pitchFamily="18" charset="2"/>
              </a:rPr>
              <a:t>B</a:t>
            </a:r>
            <a:r>
              <a:rPr lang="en-US" altLang="zh-TW" sz="2800" dirty="0">
                <a:sym typeface="Symbol" pitchFamily="18" charset="2"/>
              </a:rPr>
              <a:t> there is an element </a:t>
            </a:r>
            <a:r>
              <a:rPr lang="en-US" altLang="zh-TW" sz="2800" i="1" dirty="0" err="1">
                <a:sym typeface="Symbol" pitchFamily="18" charset="2"/>
              </a:rPr>
              <a:t>aA</a:t>
            </a:r>
            <a:r>
              <a:rPr lang="en-US" altLang="zh-TW" sz="2800" dirty="0">
                <a:sym typeface="Symbol" pitchFamily="18" charset="2"/>
              </a:rPr>
              <a:t> with </a:t>
            </a:r>
            <a:r>
              <a:rPr lang="en-US" altLang="zh-TW" sz="2800" i="1" dirty="0"/>
              <a:t>f(a) </a:t>
            </a:r>
            <a:r>
              <a:rPr lang="en-US" altLang="zh-TW" sz="2800" dirty="0"/>
              <a:t>=</a:t>
            </a:r>
            <a:r>
              <a:rPr lang="en-US" altLang="zh-TW" sz="2800" i="1" dirty="0"/>
              <a:t> b</a:t>
            </a:r>
            <a:r>
              <a:rPr lang="en-US" altLang="zh-TW" sz="2800" dirty="0"/>
              <a:t>.</a:t>
            </a:r>
          </a:p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altLang="zh-TW" sz="2800" dirty="0">
                <a:highlight>
                  <a:srgbClr val="FFFF00"/>
                </a:highlight>
              </a:rPr>
              <a:t>A function </a:t>
            </a:r>
            <a:r>
              <a:rPr lang="en-US" altLang="zh-TW" sz="2800" i="1" dirty="0">
                <a:highlight>
                  <a:srgbClr val="FFFF00"/>
                </a:highlight>
              </a:rPr>
              <a:t>f: A</a:t>
            </a:r>
            <a:r>
              <a:rPr lang="en-US" altLang="zh-TW" sz="2800" i="1" dirty="0">
                <a:highlight>
                  <a:srgbClr val="FFFF00"/>
                </a:highlight>
                <a:sym typeface="Symbol" pitchFamily="18" charset="2"/>
              </a:rPr>
              <a:t></a:t>
            </a:r>
            <a:r>
              <a:rPr lang="en-US" altLang="zh-TW" sz="2800" i="1" dirty="0">
                <a:highlight>
                  <a:srgbClr val="FFFF00"/>
                </a:highlight>
              </a:rPr>
              <a:t>B </a:t>
            </a:r>
            <a:r>
              <a:rPr lang="en-US" altLang="zh-TW" sz="2800" dirty="0">
                <a:highlight>
                  <a:srgbClr val="FFFF00"/>
                </a:highlight>
              </a:rPr>
              <a:t>is said to be an </a:t>
            </a:r>
            <a:r>
              <a:rPr lang="en-US" altLang="zh-TW" sz="2800" b="1" i="1" dirty="0">
                <a:solidFill>
                  <a:srgbClr val="0000FF"/>
                </a:solidFill>
                <a:highlight>
                  <a:srgbClr val="FFFF00"/>
                </a:highlight>
              </a:rPr>
              <a:t>onto</a:t>
            </a:r>
            <a:r>
              <a:rPr lang="en-US" altLang="zh-TW" sz="2800" dirty="0">
                <a:highlight>
                  <a:srgbClr val="FFFF00"/>
                </a:highlight>
              </a:rPr>
              <a:t> function if </a:t>
            </a:r>
            <a:r>
              <a:rPr lang="en-US" altLang="zh-TW" sz="2800" b="1" dirty="0">
                <a:highlight>
                  <a:srgbClr val="FFFF00"/>
                </a:highlight>
              </a:rPr>
              <a:t>each element of B </a:t>
            </a:r>
            <a:r>
              <a:rPr lang="en-US" altLang="zh-TW" sz="2800" dirty="0">
                <a:highlight>
                  <a:srgbClr val="FFFF00"/>
                </a:highlight>
              </a:rPr>
              <a:t>is the image of </a:t>
            </a:r>
            <a:r>
              <a:rPr lang="en-US" altLang="zh-TW" sz="2800" b="1" i="1" dirty="0">
                <a:highlight>
                  <a:srgbClr val="FFFF00"/>
                </a:highlight>
              </a:rPr>
              <a:t>some</a:t>
            </a:r>
            <a:r>
              <a:rPr lang="en-US" altLang="zh-TW" sz="2800" dirty="0">
                <a:highlight>
                  <a:srgbClr val="FFFF00"/>
                </a:highlight>
              </a:rPr>
              <a:t> element of A</a:t>
            </a:r>
          </a:p>
          <a:p>
            <a:pPr marL="731520" lvl="1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sz="2800" dirty="0">
                <a:ea typeface="新細明體" pitchFamily="18" charset="-120"/>
              </a:rPr>
              <a:t>i.e., </a:t>
            </a:r>
            <a:r>
              <a:rPr lang="en-US" sz="2800" dirty="0">
                <a:solidFill>
                  <a:srgbClr val="0000FF"/>
                </a:solidFill>
                <a:ea typeface="新細明體" pitchFamily="18" charset="-120"/>
              </a:rPr>
              <a:t>if B = range of </a:t>
            </a:r>
            <a:r>
              <a:rPr lang="en-US" sz="2800" i="1" dirty="0">
                <a:solidFill>
                  <a:srgbClr val="0000FF"/>
                </a:solidFill>
                <a:ea typeface="新細明體" pitchFamily="18" charset="-120"/>
              </a:rPr>
              <a:t>f </a:t>
            </a:r>
          </a:p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sz="2800" b="1" u="sng" dirty="0">
                <a:solidFill>
                  <a:srgbClr val="FF0000"/>
                </a:solidFill>
                <a:ea typeface="新細明體" pitchFamily="18" charset="-120"/>
              </a:rPr>
              <a:t>Note: </a:t>
            </a:r>
            <a:r>
              <a:rPr lang="en-US" sz="2800" dirty="0">
                <a:solidFill>
                  <a:srgbClr val="FF0000"/>
                </a:solidFill>
                <a:ea typeface="新細明體" pitchFamily="18" charset="-120"/>
              </a:rPr>
              <a:t>A function is onto if every element of </a:t>
            </a:r>
            <a:r>
              <a:rPr lang="en-US" sz="2800" dirty="0" err="1">
                <a:solidFill>
                  <a:srgbClr val="FF0000"/>
                </a:solidFill>
                <a:ea typeface="新細明體" pitchFamily="18" charset="-120"/>
              </a:rPr>
              <a:t>codomain</a:t>
            </a:r>
            <a:r>
              <a:rPr lang="en-US" sz="2800" dirty="0">
                <a:solidFill>
                  <a:srgbClr val="FF0000"/>
                </a:solidFill>
                <a:ea typeface="新細明體" pitchFamily="18" charset="-120"/>
              </a:rPr>
              <a:t> has </a:t>
            </a:r>
            <a:r>
              <a:rPr lang="en-US" sz="2800" dirty="0" err="1">
                <a:solidFill>
                  <a:srgbClr val="FF0000"/>
                </a:solidFill>
                <a:ea typeface="新細明體" pitchFamily="18" charset="-120"/>
              </a:rPr>
              <a:t>preimage</a:t>
            </a:r>
            <a:r>
              <a:rPr lang="en-US" sz="2800" dirty="0">
                <a:solidFill>
                  <a:srgbClr val="FF0000"/>
                </a:solidFill>
                <a:ea typeface="新細明體" pitchFamily="18" charset="-120"/>
              </a:rPr>
              <a:t>(s).</a:t>
            </a:r>
          </a:p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endParaRPr lang="en-US" sz="2800" i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+mn-lt"/>
              </a:rPr>
              <a:t>Example 11</a:t>
            </a:r>
          </a:p>
        </p:txBody>
      </p:sp>
      <p:sp>
        <p:nvSpPr>
          <p:cNvPr id="5" name="Rectangle 4"/>
          <p:cNvSpPr/>
          <p:nvPr/>
        </p:nvSpPr>
        <p:spPr>
          <a:xfrm>
            <a:off x="421341" y="2413338"/>
            <a:ext cx="8515739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sz="2800" dirty="0">
                <a:solidFill>
                  <a:srgbClr val="FF0000"/>
                </a:solidFill>
              </a:rPr>
              <a:t>Let f be the function from {a, b, c, d} to {1, 2, 3} defined by f(a)=3, f(b)=2, f(c)=1, and f(d)=3. 	Is f an onto?  </a:t>
            </a:r>
          </a:p>
          <a:p>
            <a:pPr marL="274320" indent="-274320">
              <a:spcBef>
                <a:spcPts val="600"/>
              </a:spcBef>
            </a:pPr>
            <a:r>
              <a:rPr lang="en-US" sz="2800" dirty="0">
                <a:solidFill>
                  <a:srgbClr val="FF0000"/>
                </a:solidFill>
              </a:rPr>
              <a:t>	[see Figure on next slide]</a:t>
            </a:r>
          </a:p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sz="2800" b="1" u="sng" dirty="0">
                <a:solidFill>
                  <a:srgbClr val="0000FF"/>
                </a:solidFill>
              </a:rPr>
              <a:t>Solution</a:t>
            </a:r>
            <a:r>
              <a:rPr lang="en-US" sz="2800" dirty="0"/>
              <a:t>: Because all three elements of the </a:t>
            </a:r>
            <a:r>
              <a:rPr lang="en-US" sz="2800" dirty="0" err="1"/>
              <a:t>codomain</a:t>
            </a:r>
            <a:r>
              <a:rPr lang="en-US" sz="2800" dirty="0"/>
              <a:t> are images of elements in the domain, </a:t>
            </a:r>
            <a:r>
              <a:rPr lang="en-US" sz="2800" i="1" dirty="0">
                <a:solidFill>
                  <a:srgbClr val="0000FF"/>
                </a:solidFill>
              </a:rPr>
              <a:t>f</a:t>
            </a:r>
            <a:r>
              <a:rPr lang="en-US" sz="2800" dirty="0">
                <a:solidFill>
                  <a:srgbClr val="0000FF"/>
                </a:solidFill>
              </a:rPr>
              <a:t> is onto</a:t>
            </a:r>
            <a:r>
              <a:rPr lang="en-US" sz="2800" dirty="0"/>
              <a:t>. 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271213" y="681021"/>
            <a:ext cx="7808976" cy="1088136"/>
          </a:xfrm>
        </p:spPr>
        <p:txBody>
          <a:bodyPr>
            <a:noAutofit/>
          </a:bodyPr>
          <a:lstStyle/>
          <a:p>
            <a:r>
              <a:rPr lang="en-US" altLang="zh-TW" sz="4000" b="1" dirty="0">
                <a:latin typeface="+mn-lt"/>
              </a:rPr>
              <a:t>FIGURE for Example 11:</a:t>
            </a:r>
            <a:br>
              <a:rPr lang="en-US" altLang="zh-TW" sz="4000" b="1" dirty="0">
                <a:latin typeface="+mn-lt"/>
              </a:rPr>
            </a:br>
            <a:r>
              <a:rPr lang="en-US" altLang="zh-TW" sz="4000" dirty="0">
                <a:latin typeface="+mn-lt"/>
              </a:rPr>
              <a:t>An </a:t>
            </a:r>
            <a:r>
              <a:rPr lang="en-US" altLang="zh-TW" sz="4000" i="1" dirty="0">
                <a:latin typeface="+mn-lt"/>
              </a:rPr>
              <a:t>Onto</a:t>
            </a:r>
            <a:r>
              <a:rPr lang="en-US" altLang="zh-TW" sz="4000" dirty="0">
                <a:latin typeface="+mn-lt"/>
              </a:rPr>
              <a:t> Function</a:t>
            </a:r>
            <a:endParaRPr lang="en-US" sz="4000" dirty="0">
              <a:latin typeface="+mn-lt"/>
            </a:endParaRPr>
          </a:p>
        </p:txBody>
      </p:sp>
      <p:pic>
        <p:nvPicPr>
          <p:cNvPr id="5" name="Picture 3" descr="02-3-00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609600" y="2076556"/>
            <a:ext cx="8077200" cy="4010357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+mn-lt"/>
              </a:rPr>
              <a:t>Example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177421" y="2690336"/>
            <a:ext cx="8379725" cy="33393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sz="2800" dirty="0">
                <a:solidFill>
                  <a:srgbClr val="FF0000"/>
                </a:solidFill>
              </a:rPr>
              <a:t>Is the function </a:t>
            </a:r>
            <a:r>
              <a:rPr lang="en-US" sz="2800" i="1" dirty="0">
                <a:solidFill>
                  <a:srgbClr val="FF0000"/>
                </a:solidFill>
              </a:rPr>
              <a:t>f</a:t>
            </a:r>
            <a:r>
              <a:rPr lang="en-US" sz="2800" dirty="0">
                <a:solidFill>
                  <a:srgbClr val="FF0000"/>
                </a:solidFill>
              </a:rPr>
              <a:t>(</a:t>
            </a:r>
            <a:r>
              <a:rPr lang="en-US" sz="2800" i="1" dirty="0">
                <a:solidFill>
                  <a:srgbClr val="FF0000"/>
                </a:solidFill>
              </a:rPr>
              <a:t>x</a:t>
            </a:r>
            <a:r>
              <a:rPr lang="en-US" sz="2800" dirty="0">
                <a:solidFill>
                  <a:srgbClr val="FF0000"/>
                </a:solidFill>
              </a:rPr>
              <a:t>) = </a:t>
            </a:r>
            <a:r>
              <a:rPr lang="en-US" sz="2800" i="1" dirty="0">
                <a:solidFill>
                  <a:srgbClr val="FF0000"/>
                </a:solidFill>
              </a:rPr>
              <a:t>x</a:t>
            </a:r>
            <a:r>
              <a:rPr lang="en-US" sz="2800" baseline="30000" dirty="0">
                <a:solidFill>
                  <a:srgbClr val="FF0000"/>
                </a:solidFill>
              </a:rPr>
              <a:t>2</a:t>
            </a:r>
            <a:r>
              <a:rPr lang="en-US" sz="2800" dirty="0">
                <a:solidFill>
                  <a:srgbClr val="FF0000"/>
                </a:solidFill>
              </a:rPr>
              <a:t> from the set of integers to the set of integers onto?</a:t>
            </a:r>
            <a:endParaRPr lang="en-US" sz="2800" dirty="0"/>
          </a:p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sz="2800" b="1" u="sng" dirty="0">
                <a:solidFill>
                  <a:srgbClr val="0000FF"/>
                </a:solidFill>
              </a:rPr>
              <a:t>Solution</a:t>
            </a:r>
            <a:r>
              <a:rPr lang="en-US" sz="2800" dirty="0"/>
              <a:t>: The function </a:t>
            </a:r>
            <a:r>
              <a:rPr lang="en-US" sz="2800" i="1" dirty="0"/>
              <a:t>f</a:t>
            </a:r>
            <a:r>
              <a:rPr lang="en-US" sz="2800" dirty="0"/>
              <a:t> is </a:t>
            </a:r>
            <a:r>
              <a:rPr lang="en-US" sz="2800" dirty="0">
                <a:solidFill>
                  <a:srgbClr val="FF0000"/>
                </a:solidFill>
              </a:rPr>
              <a:t>not onto, </a:t>
            </a:r>
            <a:r>
              <a:rPr lang="en-US" sz="2800" dirty="0"/>
              <a:t>because there is no integer </a:t>
            </a:r>
            <a:r>
              <a:rPr lang="en-US" sz="2800" i="1" dirty="0"/>
              <a:t>x</a:t>
            </a:r>
            <a:r>
              <a:rPr lang="en-US" sz="2800" dirty="0"/>
              <a:t> with </a:t>
            </a:r>
            <a:r>
              <a:rPr lang="en-US" sz="2800" i="1" dirty="0"/>
              <a:t>x</a:t>
            </a:r>
            <a:r>
              <a:rPr lang="en-US" sz="2800" baseline="30000" dirty="0"/>
              <a:t>2</a:t>
            </a:r>
            <a:r>
              <a:rPr lang="en-US" sz="2800" dirty="0"/>
              <a:t> =</a:t>
            </a:r>
            <a:r>
              <a:rPr lang="en-US" altLang="zh-TW" sz="2800" i="1" dirty="0"/>
              <a:t> –</a:t>
            </a:r>
            <a:r>
              <a:rPr lang="en-US" sz="2800" dirty="0"/>
              <a:t>1, for instance.</a:t>
            </a:r>
          </a:p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endParaRPr lang="en-US" sz="2800" dirty="0"/>
          </a:p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sz="2800" u="sng" dirty="0">
                <a:solidFill>
                  <a:srgbClr val="FF0000"/>
                </a:solidFill>
              </a:rPr>
              <a:t>Note:</a:t>
            </a:r>
            <a:r>
              <a:rPr lang="en-US" sz="2800" dirty="0"/>
              <a:t> The elements of the </a:t>
            </a:r>
            <a:r>
              <a:rPr lang="en-US" sz="2800" dirty="0" err="1"/>
              <a:t>codomain</a:t>
            </a:r>
            <a:r>
              <a:rPr lang="en-US" sz="2800" dirty="0"/>
              <a:t> that are negative integers (</a:t>
            </a:r>
            <a:r>
              <a:rPr lang="en-US" sz="2800" dirty="0">
                <a:sym typeface="Symbol"/>
              </a:rPr>
              <a:t></a:t>
            </a:r>
            <a:r>
              <a:rPr lang="en-US" sz="2800" dirty="0"/>
              <a:t> 1, </a:t>
            </a:r>
            <a:r>
              <a:rPr lang="en-US" sz="2800" dirty="0">
                <a:sym typeface="Symbol"/>
              </a:rPr>
              <a:t> 2,  3 etc.) </a:t>
            </a:r>
            <a:r>
              <a:rPr lang="en-US" sz="2800" dirty="0"/>
              <a:t>do not have any </a:t>
            </a:r>
            <a:r>
              <a:rPr lang="en-US" sz="2800" dirty="0" err="1"/>
              <a:t>preimage</a:t>
            </a:r>
            <a:r>
              <a:rPr lang="en-US" sz="2800" dirty="0"/>
              <a:t>. 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+mn-lt"/>
              </a:rPr>
              <a:t>Class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232012" y="2333767"/>
            <a:ext cx="8705068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Is the function </a:t>
            </a:r>
            <a:r>
              <a:rPr lang="en-US" sz="2800" i="1" dirty="0">
                <a:solidFill>
                  <a:srgbClr val="FF0000"/>
                </a:solidFill>
              </a:rPr>
              <a:t>f</a:t>
            </a:r>
            <a:r>
              <a:rPr lang="en-US" sz="2800" dirty="0">
                <a:solidFill>
                  <a:srgbClr val="FF0000"/>
                </a:solidFill>
              </a:rPr>
              <a:t>(</a:t>
            </a:r>
            <a:r>
              <a:rPr lang="en-US" sz="2800" i="1" dirty="0">
                <a:solidFill>
                  <a:srgbClr val="FF0000"/>
                </a:solidFill>
              </a:rPr>
              <a:t>x</a:t>
            </a:r>
            <a:r>
              <a:rPr lang="en-US" sz="2800" dirty="0">
                <a:solidFill>
                  <a:srgbClr val="FF0000"/>
                </a:solidFill>
              </a:rPr>
              <a:t>) = </a:t>
            </a:r>
            <a:r>
              <a:rPr lang="en-US" sz="2800" i="1" dirty="0">
                <a:solidFill>
                  <a:srgbClr val="FF0000"/>
                </a:solidFill>
              </a:rPr>
              <a:t>x</a:t>
            </a:r>
            <a:r>
              <a:rPr lang="en-US" sz="2800" baseline="30000" dirty="0">
                <a:solidFill>
                  <a:srgbClr val="FF0000"/>
                </a:solidFill>
              </a:rPr>
              <a:t>2</a:t>
            </a:r>
            <a:r>
              <a:rPr lang="en-US" sz="2800" dirty="0">
                <a:solidFill>
                  <a:srgbClr val="FF0000"/>
                </a:solidFill>
              </a:rPr>
              <a:t> from the set of positive integers to the set of positive integers onto? </a:t>
            </a:r>
          </a:p>
          <a:p>
            <a:endParaRPr lang="en-US" sz="2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298509" y="694669"/>
            <a:ext cx="7808976" cy="1088136"/>
          </a:xfrm>
        </p:spPr>
        <p:txBody>
          <a:bodyPr>
            <a:noAutofit/>
          </a:bodyPr>
          <a:lstStyle/>
          <a:p>
            <a:r>
              <a:rPr lang="en-US" altLang="zh-TW" sz="4000" b="1" i="1" dirty="0">
                <a:latin typeface="+mn-lt"/>
                <a:sym typeface="Symbol" pitchFamily="18" charset="2"/>
              </a:rPr>
              <a:t>One-to-one correspondence (</a:t>
            </a:r>
            <a:r>
              <a:rPr lang="en-US" altLang="zh-TW" sz="4000" b="1" i="1" dirty="0" err="1">
                <a:latin typeface="+mn-lt"/>
                <a:sym typeface="Symbol" pitchFamily="18" charset="2"/>
              </a:rPr>
              <a:t>bijection</a:t>
            </a:r>
            <a:r>
              <a:rPr lang="en-US" altLang="zh-TW" sz="4000" b="1" i="1" dirty="0">
                <a:latin typeface="+mn-lt"/>
                <a:sym typeface="Symbol" pitchFamily="18" charset="2"/>
              </a:rPr>
              <a:t> )</a:t>
            </a:r>
            <a:endParaRPr lang="en-US" sz="4000" b="1" dirty="0">
              <a:latin typeface="+mn-lt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30269" y="2306476"/>
            <a:ext cx="8638571" cy="37117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•"/>
            </a:pPr>
            <a:r>
              <a:rPr lang="en-US" altLang="zh-TW" sz="2400" b="1" u="sng" dirty="0">
                <a:solidFill>
                  <a:srgbClr val="FF0000"/>
                </a:solidFill>
                <a:sym typeface="Symbol" pitchFamily="18" charset="2"/>
              </a:rPr>
              <a:t>Definition 8</a:t>
            </a:r>
            <a:r>
              <a:rPr lang="en-US" altLang="zh-TW" sz="2400" dirty="0">
                <a:solidFill>
                  <a:srgbClr val="FF0000"/>
                </a:solidFill>
                <a:sym typeface="Symbol" pitchFamily="18" charset="2"/>
              </a:rPr>
              <a:t>: </a:t>
            </a:r>
            <a:r>
              <a:rPr lang="en-US" altLang="zh-TW" sz="2400" dirty="0">
                <a:solidFill>
                  <a:srgbClr val="0000FF"/>
                </a:solidFill>
                <a:sym typeface="Symbol" pitchFamily="18" charset="2"/>
              </a:rPr>
              <a:t>A function </a:t>
            </a:r>
            <a:r>
              <a:rPr lang="en-US" altLang="zh-TW" sz="2400" i="1" dirty="0">
                <a:solidFill>
                  <a:srgbClr val="0000FF"/>
                </a:solidFill>
                <a:sym typeface="Symbol" pitchFamily="18" charset="2"/>
              </a:rPr>
              <a:t>f</a:t>
            </a:r>
            <a:r>
              <a:rPr lang="en-US" altLang="zh-TW" sz="2400" dirty="0">
                <a:solidFill>
                  <a:srgbClr val="0000FF"/>
                </a:solidFill>
                <a:sym typeface="Symbol" pitchFamily="18" charset="2"/>
              </a:rPr>
              <a:t> is a </a:t>
            </a:r>
            <a:r>
              <a:rPr lang="en-US" altLang="zh-TW" sz="2400" b="1" i="1" dirty="0">
                <a:solidFill>
                  <a:srgbClr val="0000FF"/>
                </a:solidFill>
                <a:sym typeface="Symbol" pitchFamily="18" charset="2"/>
              </a:rPr>
              <a:t>one-to-one correspondence </a:t>
            </a:r>
            <a:r>
              <a:rPr lang="en-US" altLang="zh-TW" sz="2400" dirty="0">
                <a:solidFill>
                  <a:srgbClr val="0000FF"/>
                </a:solidFill>
                <a:sym typeface="Symbol" pitchFamily="18" charset="2"/>
              </a:rPr>
              <a:t>or a</a:t>
            </a:r>
            <a:r>
              <a:rPr lang="en-US" altLang="zh-TW" sz="2400" i="1" dirty="0">
                <a:solidFill>
                  <a:srgbClr val="0000FF"/>
                </a:solidFill>
                <a:sym typeface="Symbol" pitchFamily="18" charset="2"/>
              </a:rPr>
              <a:t> </a:t>
            </a:r>
            <a:r>
              <a:rPr lang="en-US" altLang="zh-TW" sz="2400" b="1" i="1" dirty="0" err="1">
                <a:solidFill>
                  <a:srgbClr val="0000FF"/>
                </a:solidFill>
                <a:sym typeface="Symbol" pitchFamily="18" charset="2"/>
              </a:rPr>
              <a:t>bijection</a:t>
            </a:r>
            <a:r>
              <a:rPr lang="en-US" altLang="zh-TW" sz="2400" dirty="0">
                <a:solidFill>
                  <a:srgbClr val="0000FF"/>
                </a:solidFill>
                <a:sym typeface="Symbol" pitchFamily="18" charset="2"/>
              </a:rPr>
              <a:t> if it is both one-to-one and onto.</a:t>
            </a:r>
          </a:p>
          <a:p>
            <a:pPr marL="274320" indent="-274320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•"/>
            </a:pPr>
            <a:endParaRPr lang="en-US" altLang="zh-TW" sz="2400" dirty="0">
              <a:sym typeface="Symbol" pitchFamily="18" charset="2"/>
            </a:endParaRPr>
          </a:p>
          <a:p>
            <a:pPr marL="274320" indent="-274320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•"/>
            </a:pPr>
            <a:r>
              <a:rPr lang="en-US" sz="2400" b="1" u="sng" dirty="0">
                <a:solidFill>
                  <a:srgbClr val="0000FF"/>
                </a:solidFill>
                <a:ea typeface="新細明體" pitchFamily="18" charset="-120"/>
                <a:sym typeface="Symbol" pitchFamily="18" charset="2"/>
              </a:rPr>
              <a:t>Example</a:t>
            </a:r>
            <a:r>
              <a:rPr lang="en-US" sz="2400" dirty="0">
                <a:ea typeface="新細明體" pitchFamily="18" charset="-120"/>
                <a:sym typeface="Symbol" pitchFamily="18" charset="2"/>
              </a:rPr>
              <a:t>: Let </a:t>
            </a:r>
            <a:r>
              <a:rPr lang="en-US" sz="2400" b="1" i="1" dirty="0">
                <a:ea typeface="新細明體" pitchFamily="18" charset="-120"/>
                <a:sym typeface="Symbol" pitchFamily="18" charset="2"/>
              </a:rPr>
              <a:t>f</a:t>
            </a:r>
            <a:r>
              <a:rPr lang="en-US" sz="2400" dirty="0">
                <a:ea typeface="新細明體" pitchFamily="18" charset="-120"/>
                <a:sym typeface="Symbol" pitchFamily="18" charset="2"/>
              </a:rPr>
              <a:t> be the function from A to B where A={1, 2, 3, 4} and B = {a, b, c, d} with </a:t>
            </a:r>
            <a:r>
              <a:rPr lang="en-US" sz="2400" i="1" dirty="0">
                <a:ea typeface="新細明體" pitchFamily="18" charset="-120"/>
                <a:sym typeface="Symbol" pitchFamily="18" charset="2"/>
              </a:rPr>
              <a:t>f</a:t>
            </a:r>
            <a:r>
              <a:rPr lang="en-US" sz="2400" dirty="0">
                <a:ea typeface="新細明體" pitchFamily="18" charset="-120"/>
                <a:sym typeface="Symbol" pitchFamily="18" charset="2"/>
              </a:rPr>
              <a:t>(1)=d, </a:t>
            </a:r>
            <a:r>
              <a:rPr lang="en-US" sz="2400" i="1" dirty="0">
                <a:ea typeface="新細明體" pitchFamily="18" charset="-120"/>
                <a:sym typeface="Symbol" pitchFamily="18" charset="2"/>
              </a:rPr>
              <a:t>f</a:t>
            </a:r>
            <a:r>
              <a:rPr lang="en-US" sz="2400" dirty="0">
                <a:ea typeface="新細明體" pitchFamily="18" charset="-120"/>
                <a:sym typeface="Symbol" pitchFamily="18" charset="2"/>
              </a:rPr>
              <a:t>(2)=b, </a:t>
            </a:r>
            <a:r>
              <a:rPr lang="en-US" sz="2400" i="1" dirty="0">
                <a:ea typeface="新細明體" pitchFamily="18" charset="-120"/>
                <a:sym typeface="Symbol" pitchFamily="18" charset="2"/>
              </a:rPr>
              <a:t>f</a:t>
            </a:r>
            <a:r>
              <a:rPr lang="en-US" sz="2400" dirty="0">
                <a:ea typeface="新細明體" pitchFamily="18" charset="-120"/>
                <a:sym typeface="Symbol" pitchFamily="18" charset="2"/>
              </a:rPr>
              <a:t>(3)=c, and </a:t>
            </a:r>
            <a:r>
              <a:rPr lang="en-US" sz="2400" i="1" dirty="0">
                <a:ea typeface="新細明體" pitchFamily="18" charset="-120"/>
                <a:sym typeface="Symbol" pitchFamily="18" charset="2"/>
              </a:rPr>
              <a:t>f</a:t>
            </a:r>
            <a:r>
              <a:rPr lang="en-US" sz="2400" dirty="0">
                <a:ea typeface="新細明體" pitchFamily="18" charset="-120"/>
                <a:sym typeface="Symbol" pitchFamily="18" charset="2"/>
              </a:rPr>
              <a:t>(4)=a, then </a:t>
            </a:r>
            <a:r>
              <a:rPr lang="en-US" sz="2400" i="1" dirty="0">
                <a:ea typeface="新細明體" pitchFamily="18" charset="-120"/>
                <a:sym typeface="Symbol" pitchFamily="18" charset="2"/>
              </a:rPr>
              <a:t>f</a:t>
            </a:r>
            <a:r>
              <a:rPr lang="en-US" sz="2400" dirty="0">
                <a:ea typeface="新細明體" pitchFamily="18" charset="-120"/>
                <a:sym typeface="Symbol" pitchFamily="18" charset="2"/>
              </a:rPr>
              <a:t> is </a:t>
            </a:r>
            <a:r>
              <a:rPr lang="en-US" sz="2400" dirty="0" err="1">
                <a:ea typeface="新細明體" pitchFamily="18" charset="-120"/>
                <a:sym typeface="Symbol" pitchFamily="18" charset="2"/>
              </a:rPr>
              <a:t>bijective</a:t>
            </a:r>
            <a:r>
              <a:rPr lang="en-US" sz="2400" dirty="0">
                <a:ea typeface="新細明體" pitchFamily="18" charset="-120"/>
                <a:sym typeface="Symbol" pitchFamily="18" charset="2"/>
              </a:rPr>
              <a:t> function.</a:t>
            </a:r>
          </a:p>
          <a:p>
            <a:pPr marL="731520" lvl="2" indent="-274320">
              <a:lnSpc>
                <a:spcPct val="90000"/>
              </a:lnSpc>
              <a:spcBef>
                <a:spcPts val="600"/>
              </a:spcBef>
              <a:buFont typeface="Symbol"/>
              <a:buChar char="-"/>
            </a:pPr>
            <a:r>
              <a:rPr lang="en-US" sz="2000" i="1" dirty="0">
                <a:ea typeface="新細明體" pitchFamily="18" charset="-120"/>
                <a:sym typeface="Symbol" pitchFamily="18" charset="2"/>
              </a:rPr>
              <a:t>f</a:t>
            </a:r>
            <a:r>
              <a:rPr lang="en-US" sz="2000" dirty="0">
                <a:ea typeface="新細明體" pitchFamily="18" charset="-120"/>
                <a:sym typeface="Symbol" pitchFamily="18" charset="2"/>
              </a:rPr>
              <a:t> is one-to-one since the every element of domain has a distinct image</a:t>
            </a:r>
          </a:p>
          <a:p>
            <a:pPr marL="731520" lvl="2" indent="-274320">
              <a:lnSpc>
                <a:spcPct val="90000"/>
              </a:lnSpc>
              <a:spcBef>
                <a:spcPts val="600"/>
              </a:spcBef>
              <a:buFont typeface="Symbol"/>
              <a:buChar char="-"/>
            </a:pPr>
            <a:r>
              <a:rPr lang="en-US" sz="2000" i="1" dirty="0">
                <a:ea typeface="新細明體" pitchFamily="18" charset="-120"/>
                <a:sym typeface="Symbol" pitchFamily="18" charset="2"/>
              </a:rPr>
              <a:t>f</a:t>
            </a:r>
            <a:r>
              <a:rPr lang="en-US" sz="2000" dirty="0">
                <a:ea typeface="新細明體" pitchFamily="18" charset="-120"/>
                <a:sym typeface="Symbol" pitchFamily="18" charset="2"/>
              </a:rPr>
              <a:t> is onto since every element of B is the image of some element in A.</a:t>
            </a:r>
          </a:p>
          <a:p>
            <a:pPr marL="731520" lvl="2" indent="-274320">
              <a:lnSpc>
                <a:spcPct val="90000"/>
              </a:lnSpc>
              <a:spcBef>
                <a:spcPts val="600"/>
              </a:spcBef>
            </a:pPr>
            <a:r>
              <a:rPr lang="en-US" sz="2000" dirty="0">
                <a:ea typeface="新細明體" pitchFamily="18" charset="-120"/>
                <a:sym typeface="Symbol"/>
              </a:rPr>
              <a:t>  </a:t>
            </a:r>
            <a:r>
              <a:rPr lang="en-US" sz="2000" dirty="0">
                <a:ea typeface="新細明體" pitchFamily="18" charset="-120"/>
                <a:sym typeface="Symbol" pitchFamily="18" charset="2"/>
              </a:rPr>
              <a:t>Hence </a:t>
            </a:r>
            <a:r>
              <a:rPr lang="en-US" sz="2000" i="1" dirty="0">
                <a:ea typeface="新細明體" pitchFamily="18" charset="-120"/>
                <a:sym typeface="Symbol" pitchFamily="18" charset="2"/>
              </a:rPr>
              <a:t>f</a:t>
            </a:r>
            <a:r>
              <a:rPr lang="en-US" sz="2000" dirty="0">
                <a:ea typeface="新細明體" pitchFamily="18" charset="-120"/>
                <a:sym typeface="Symbol" pitchFamily="18" charset="2"/>
              </a:rPr>
              <a:t> is a </a:t>
            </a:r>
            <a:r>
              <a:rPr lang="en-US" sz="2000" i="1" dirty="0" err="1">
                <a:ea typeface="新細明體" pitchFamily="18" charset="-120"/>
                <a:sym typeface="Symbol" pitchFamily="18" charset="2"/>
              </a:rPr>
              <a:t>bijective</a:t>
            </a:r>
            <a:r>
              <a:rPr lang="en-US" sz="2000" i="1" dirty="0">
                <a:ea typeface="新細明體" pitchFamily="18" charset="-120"/>
                <a:sym typeface="Symbol" pitchFamily="18" charset="2"/>
              </a:rPr>
              <a:t>  function (or, one-to-one correspondence)</a:t>
            </a:r>
          </a:p>
          <a:p>
            <a:pPr marL="274320" indent="-274320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•"/>
            </a:pPr>
            <a:r>
              <a:rPr lang="en-US" sz="2400" dirty="0">
                <a:solidFill>
                  <a:srgbClr val="FF0000"/>
                </a:solidFill>
                <a:ea typeface="新細明體" pitchFamily="18" charset="-120"/>
                <a:sym typeface="Symbol" pitchFamily="18" charset="2"/>
              </a:rPr>
              <a:t>Practice yourself: Example 14 </a:t>
            </a:r>
            <a:endParaRPr lang="en-US" sz="24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600" b="1" dirty="0">
                <a:solidFill>
                  <a:schemeClr val="tx1"/>
                </a:solidFill>
              </a:rPr>
              <a:t>Books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944A7F-5AE5-EC49-82AF-722C8C8F62C6}"/>
              </a:ext>
            </a:extLst>
          </p:cNvPr>
          <p:cNvSpPr txBox="1"/>
          <p:nvPr/>
        </p:nvSpPr>
        <p:spPr>
          <a:xfrm>
            <a:off x="361732" y="1802837"/>
            <a:ext cx="806480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>
              <a:buFont typeface="+mj-lt"/>
              <a:buAutoNum type="arabicPeriod"/>
            </a:pPr>
            <a:r>
              <a:rPr lang="en-US" sz="2400" i="1" dirty="0"/>
              <a:t>Discrete Mathematics and its applications with </a:t>
            </a:r>
            <a:r>
              <a:rPr lang="en-US" sz="2400" i="1" dirty="0" err="1"/>
              <a:t>combinatorics</a:t>
            </a:r>
            <a:r>
              <a:rPr lang="en-US" sz="2400" i="1" dirty="0"/>
              <a:t> and graph theory (7</a:t>
            </a:r>
            <a:r>
              <a:rPr lang="en-US" sz="2400" i="1" baseline="30000" dirty="0"/>
              <a:t>th</a:t>
            </a:r>
            <a:r>
              <a:rPr lang="en-US" sz="2400" i="1" dirty="0"/>
              <a:t> edition) </a:t>
            </a:r>
            <a:r>
              <a:rPr lang="en-US" sz="2400" dirty="0"/>
              <a:t>by Kenneth H. Rosen [Indian Adaptation by KAMALA KRITHIVASAN], published by McGraw-Hill </a:t>
            </a:r>
          </a:p>
        </p:txBody>
      </p:sp>
    </p:spTree>
    <p:extLst>
      <p:ext uri="{BB962C8B-B14F-4D97-AF65-F5344CB8AC3E}">
        <p14:creationId xmlns:p14="http://schemas.microsoft.com/office/powerpoint/2010/main" val="192338237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References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CD2EA8-B54C-CE4F-A943-BFB367453E0E}"/>
              </a:ext>
            </a:extLst>
          </p:cNvPr>
          <p:cNvSpPr txBox="1"/>
          <p:nvPr/>
        </p:nvSpPr>
        <p:spPr>
          <a:xfrm>
            <a:off x="432072" y="1800664"/>
            <a:ext cx="817734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>
              <a:buFont typeface="+mj-lt"/>
              <a:buAutoNum type="arabicPeriod"/>
            </a:pPr>
            <a:r>
              <a:rPr lang="en-US" sz="2000" dirty="0"/>
              <a:t>Discrete Mathematics, </a:t>
            </a:r>
            <a:r>
              <a:rPr lang="en-US" sz="2000" i="1" dirty="0"/>
              <a:t>Richard</a:t>
            </a:r>
            <a:r>
              <a:rPr lang="en-US" sz="2000" dirty="0"/>
              <a:t> </a:t>
            </a:r>
            <a:r>
              <a:rPr lang="en-US" sz="2000" i="1" dirty="0" err="1"/>
              <a:t>Johnsonbaugh</a:t>
            </a:r>
            <a:r>
              <a:rPr lang="en-US" sz="2000" dirty="0"/>
              <a:t>, Pearson education, Inc.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sz="2000" dirty="0"/>
              <a:t>Discrete Mathematical Structures, </a:t>
            </a:r>
            <a:r>
              <a:rPr lang="en-US" sz="2000" i="1" dirty="0"/>
              <a:t>Bernard</a:t>
            </a:r>
            <a:r>
              <a:rPr lang="en-US" sz="2000" dirty="0"/>
              <a:t> </a:t>
            </a:r>
            <a:r>
              <a:rPr lang="en-US" sz="2000" i="1" dirty="0" err="1"/>
              <a:t>Kolman</a:t>
            </a:r>
            <a:r>
              <a:rPr lang="en-US" sz="2000" dirty="0"/>
              <a:t>, </a:t>
            </a:r>
            <a:r>
              <a:rPr lang="en-US" sz="2000" i="1" dirty="0"/>
              <a:t>Robert C. Busby</a:t>
            </a:r>
            <a:r>
              <a:rPr lang="en-US" sz="2000" dirty="0"/>
              <a:t>, </a:t>
            </a:r>
            <a:r>
              <a:rPr lang="en-US" sz="2000" i="1" dirty="0"/>
              <a:t>Sharon</a:t>
            </a:r>
            <a:r>
              <a:rPr lang="en-US" sz="2000" dirty="0"/>
              <a:t> </a:t>
            </a:r>
            <a:r>
              <a:rPr lang="en-US" sz="2000" i="1" dirty="0"/>
              <a:t>Ross, </a:t>
            </a:r>
            <a:r>
              <a:rPr lang="en-US" sz="2000" dirty="0"/>
              <a:t>Prentice-Hall, Inc.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sz="2000" i="1" dirty="0"/>
              <a:t>SCHAUM’S  outlines Discrete Mathematics(2</a:t>
            </a:r>
            <a:r>
              <a:rPr lang="en-US" sz="2000" i="1" baseline="30000" dirty="0"/>
              <a:t>nd</a:t>
            </a:r>
            <a:r>
              <a:rPr lang="en-US" sz="2000" i="1" dirty="0"/>
              <a:t> edition)</a:t>
            </a:r>
            <a:r>
              <a:rPr lang="en-US" sz="2000" dirty="0"/>
              <a:t>, by </a:t>
            </a:r>
            <a:r>
              <a:rPr lang="en-US" sz="2000" i="1" dirty="0"/>
              <a:t>Seymour</a:t>
            </a:r>
            <a:r>
              <a:rPr lang="en-US" sz="2000" dirty="0"/>
              <a:t> </a:t>
            </a:r>
            <a:r>
              <a:rPr lang="en-US" sz="2000" i="1" dirty="0" err="1"/>
              <a:t>Lipschutz</a:t>
            </a:r>
            <a:r>
              <a:rPr lang="en-US" sz="2000" dirty="0"/>
              <a:t>, </a:t>
            </a:r>
            <a:r>
              <a:rPr lang="en-US" sz="2000" i="1" dirty="0"/>
              <a:t>Marc</a:t>
            </a:r>
            <a:r>
              <a:rPr lang="en-US" sz="2000" dirty="0"/>
              <a:t> </a:t>
            </a:r>
            <a:r>
              <a:rPr lang="en-US" sz="2000" i="1" dirty="0"/>
              <a:t>Lipson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224969828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2192</TotalTime>
  <Words>2835</Words>
  <Application>Microsoft Office PowerPoint</Application>
  <PresentationFormat>On-screen Show (4:3)</PresentationFormat>
  <Paragraphs>223</Paragraphs>
  <Slides>36</Slides>
  <Notes>0</Notes>
  <HiddenSlides>3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3" baseType="lpstr">
      <vt:lpstr>Arial</vt:lpstr>
      <vt:lpstr>Arial</vt:lpstr>
      <vt:lpstr>Calibri</vt:lpstr>
      <vt:lpstr>Corbel</vt:lpstr>
      <vt:lpstr>Symbol</vt:lpstr>
      <vt:lpstr>Wingdings</vt:lpstr>
      <vt:lpstr>Spectrum</vt:lpstr>
      <vt:lpstr>Functions </vt:lpstr>
      <vt:lpstr>Lecture Outline</vt:lpstr>
      <vt:lpstr>Objectives and Outcomes</vt:lpstr>
      <vt:lpstr>Functions</vt:lpstr>
      <vt:lpstr>Functions</vt:lpstr>
      <vt:lpstr>Functions</vt:lpstr>
      <vt:lpstr>Functions</vt:lpstr>
      <vt:lpstr>FIGURE 1: Assignment of Grades in a  Discrete Mathematics Class</vt:lpstr>
      <vt:lpstr>Domain, Codomain and Range</vt:lpstr>
      <vt:lpstr>Some Function Terminology</vt:lpstr>
      <vt:lpstr>Domain, Codomain and Range</vt:lpstr>
      <vt:lpstr>Range versus Codomain</vt:lpstr>
      <vt:lpstr>Range versus Codomain: Example  (See the FIGURE 1 in the previous slide)</vt:lpstr>
      <vt:lpstr>Example 1 </vt:lpstr>
      <vt:lpstr>Solution of Example 1 </vt:lpstr>
      <vt:lpstr>Example 2</vt:lpstr>
      <vt:lpstr>Functions</vt:lpstr>
      <vt:lpstr>Example 6</vt:lpstr>
      <vt:lpstr>Functions</vt:lpstr>
      <vt:lpstr>Example 7 </vt:lpstr>
      <vt:lpstr>One-to-One Functions </vt:lpstr>
      <vt:lpstr>One-to-One Functions </vt:lpstr>
      <vt:lpstr>One-to-One Functions </vt:lpstr>
      <vt:lpstr>Example 8</vt:lpstr>
      <vt:lpstr>Example 9</vt:lpstr>
      <vt:lpstr>Class Work</vt:lpstr>
      <vt:lpstr>Example 10</vt:lpstr>
      <vt:lpstr>Example : One-to-one function</vt:lpstr>
      <vt:lpstr>Onto Function</vt:lpstr>
      <vt:lpstr>Example 11</vt:lpstr>
      <vt:lpstr>FIGURE for Example 11: An Onto Function</vt:lpstr>
      <vt:lpstr>Example 12</vt:lpstr>
      <vt:lpstr>Class Work</vt:lpstr>
      <vt:lpstr>One-to-one correspondence (bijection )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Dr. Ashraf Uddin</cp:lastModifiedBy>
  <cp:revision>68</cp:revision>
  <dcterms:created xsi:type="dcterms:W3CDTF">2018-12-10T17:20:29Z</dcterms:created>
  <dcterms:modified xsi:type="dcterms:W3CDTF">2023-06-18T08:45:21Z</dcterms:modified>
</cp:coreProperties>
</file>