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90" r:id="rId4"/>
    <p:sldId id="301" r:id="rId5"/>
    <p:sldId id="331" r:id="rId6"/>
    <p:sldId id="330" r:id="rId7"/>
    <p:sldId id="328" r:id="rId8"/>
    <p:sldId id="302" r:id="rId9"/>
    <p:sldId id="303" r:id="rId10"/>
    <p:sldId id="258" r:id="rId11"/>
    <p:sldId id="333" r:id="rId12"/>
    <p:sldId id="309" r:id="rId13"/>
    <p:sldId id="310" r:id="rId14"/>
    <p:sldId id="311" r:id="rId15"/>
    <p:sldId id="305" r:id="rId16"/>
    <p:sldId id="312" r:id="rId17"/>
    <p:sldId id="313" r:id="rId18"/>
    <p:sldId id="316" r:id="rId19"/>
    <p:sldId id="317" r:id="rId20"/>
    <p:sldId id="318" r:id="rId21"/>
    <p:sldId id="319" r:id="rId22"/>
    <p:sldId id="320" r:id="rId23"/>
    <p:sldId id="332" r:id="rId24"/>
    <p:sldId id="321" r:id="rId25"/>
    <p:sldId id="323" r:id="rId26"/>
    <p:sldId id="324" r:id="rId27"/>
    <p:sldId id="325" r:id="rId28"/>
    <p:sldId id="326" r:id="rId29"/>
    <p:sldId id="322" r:id="rId30"/>
    <p:sldId id="264" r:id="rId31"/>
    <p:sldId id="327" r:id="rId32"/>
    <p:sldId id="265"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86"/>
    <p:restoredTop sz="94659"/>
  </p:normalViewPr>
  <p:slideViewPr>
    <p:cSldViewPr snapToGrid="0" snapToObjects="1">
      <p:cViewPr varScale="1">
        <p:scale>
          <a:sx n="59" d="100"/>
          <a:sy n="59" d="100"/>
        </p:scale>
        <p:origin x="1256"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pPr/>
              <a:t>8/6/2023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pPr/>
              <a:t>8/6/2023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pPr/>
              <a:t>8/6/2023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pPr/>
              <a:t>8/6/2023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pPr/>
              <a:t>8/6/2023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pPr/>
              <a:t>8/6/2023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pPr/>
              <a:t>8/6/2023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pPr/>
              <a:t>8/6/2023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pPr/>
              <a:t>8/6/2023</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pPr/>
              <a:t>8/6/2023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pPr/>
              <a:t>8/6/2023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pPr/>
              <a:t>8/6/2023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pPr/>
              <a:t>8/6/2023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pPr/>
              <a:t>8/6/2023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pPr/>
              <a:t>8/6/2023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pPr/>
              <a:t>8/6/2023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pPr/>
              <a:t>8/6/2023</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pPr/>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hyperlink" Target="https://www.geeksforgeeks.org/strongly-connected-components/" TargetMode="Externa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hyperlink" Target="http://courses.ics.hawaii.edu/ReviewICS241/morea/graphs/Graphs5-QA.pdf" TargetMode="External"/><Relationship Id="rId2" Type="http://schemas.openxmlformats.org/officeDocument/2006/relationships/hyperlink" Target="https://courses.lumenlearning.com/math4liberalarts/chapter/introduction-euler-paths/" TargetMode="External"/><Relationship Id="rId1" Type="http://schemas.openxmlformats.org/officeDocument/2006/relationships/slideLayout" Target="../slideLayouts/slideLayout9.xml"/><Relationship Id="rId4" Type="http://schemas.openxmlformats.org/officeDocument/2006/relationships/hyperlink" Target="https://www.geeksforgeeks.org/mathematics-euler-hamiltonian-path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Euler and Hamilton Paths</a:t>
            </a:r>
          </a:p>
        </p:txBody>
      </p:sp>
      <p:sp>
        <p:nvSpPr>
          <p:cNvPr id="3" name="Subtitle 2"/>
          <p:cNvSpPr>
            <a:spLocks noGrp="1"/>
          </p:cNvSpPr>
          <p:nvPr>
            <p:ph type="subTitle" idx="1"/>
          </p:nvPr>
        </p:nvSpPr>
        <p:spPr>
          <a:xfrm>
            <a:off x="476205" y="1532427"/>
            <a:ext cx="2789509" cy="484632"/>
          </a:xfrm>
        </p:spPr>
        <p:txBody>
          <a:bodyPr/>
          <a:lstStyle/>
          <a:p>
            <a:r>
              <a:rPr lang="en-US" dirty="0"/>
              <a:t>Course Code: 00090</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2199714724"/>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18</a:t>
                      </a:r>
                    </a:p>
                  </a:txBody>
                  <a:tcPr/>
                </a:tc>
                <a:tc>
                  <a:txBody>
                    <a:bodyPr/>
                    <a:lstStyle/>
                    <a:p>
                      <a:r>
                        <a:rPr lang="en-US" dirty="0"/>
                        <a:t>Week No:</a:t>
                      </a:r>
                    </a:p>
                  </a:txBody>
                  <a:tcPr/>
                </a:tc>
                <a:tc>
                  <a:txBody>
                    <a:bodyPr/>
                    <a:lstStyle/>
                    <a:p>
                      <a:r>
                        <a:rPr lang="en-US" dirty="0"/>
                        <a:t>10</a:t>
                      </a:r>
                    </a:p>
                  </a:txBody>
                  <a:tcPr/>
                </a:tc>
                <a:tc>
                  <a:txBody>
                    <a:bodyPr/>
                    <a:lstStyle/>
                    <a:p>
                      <a:r>
                        <a:rPr lang="en-US" dirty="0"/>
                        <a:t>Semester:</a:t>
                      </a:r>
                    </a:p>
                  </a:txBody>
                  <a:tcPr/>
                </a:tc>
                <a:tc>
                  <a:txBody>
                    <a:bodyPr/>
                    <a:lstStyle/>
                    <a:p>
                      <a:endParaRPr lang="en-US" dirty="0"/>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a:t>Name &amp; email</a:t>
                      </a: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Discrete Mathematics</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r>
              <a:rPr lang="en-US" sz="2800" b="1" dirty="0">
                <a:solidFill>
                  <a:schemeClr val="tx1"/>
                </a:solidFill>
              </a:rPr>
              <a:t>8.5 Euler and Hamilton Paths </a:t>
            </a:r>
          </a:p>
          <a:p>
            <a:pPr marL="342900" indent="-342900">
              <a:buClrTx/>
              <a:buFont typeface="Arial" panose="020B0604020202020204" pitchFamily="34" charset="0"/>
              <a:buChar char="•"/>
            </a:pPr>
            <a:r>
              <a:rPr lang="en-US" sz="2400" dirty="0">
                <a:solidFill>
                  <a:schemeClr val="tx1"/>
                </a:solidFill>
              </a:rPr>
              <a:t>Euler Paths &amp; Circuits (Edge based)</a:t>
            </a:r>
          </a:p>
          <a:p>
            <a:pPr marL="342900" indent="-342900">
              <a:buClrTx/>
              <a:buFont typeface="Arial" panose="020B0604020202020204" pitchFamily="34" charset="0"/>
              <a:buChar char="•"/>
            </a:pPr>
            <a:r>
              <a:rPr lang="en-US" sz="2400" dirty="0">
                <a:solidFill>
                  <a:schemeClr val="tx1"/>
                </a:solidFill>
              </a:rPr>
              <a:t>Hamilton Paths &amp; Circuits (Vertex based)</a:t>
            </a: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Objectives and Outcomes</a:t>
            </a:r>
          </a:p>
        </p:txBody>
      </p:sp>
      <p:sp>
        <p:nvSpPr>
          <p:cNvPr id="3" name="Subtitle 2"/>
          <p:cNvSpPr>
            <a:spLocks noGrp="1"/>
          </p:cNvSpPr>
          <p:nvPr>
            <p:ph type="subTitle" idx="1"/>
          </p:nvPr>
        </p:nvSpPr>
        <p:spPr>
          <a:xfrm>
            <a:off x="486697" y="2363928"/>
            <a:ext cx="7754112" cy="3009930"/>
          </a:xfrm>
        </p:spPr>
        <p:txBody>
          <a:bodyPr>
            <a:normAutofit/>
          </a:bodyPr>
          <a:lstStyle/>
          <a:p>
            <a:endParaRPr lang="en-US" sz="2400"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
        <p:nvSpPr>
          <p:cNvPr id="5" name="Content Placeholder 2">
            <a:extLst>
              <a:ext uri="{FF2B5EF4-FFF2-40B4-BE49-F238E27FC236}">
                <a16:creationId xmlns:a16="http://schemas.microsoft.com/office/drawing/2014/main" id="{D7DBC53D-38F0-463F-9583-0E45C4084993}"/>
              </a:ext>
            </a:extLst>
          </p:cNvPr>
          <p:cNvSpPr txBox="1">
            <a:spLocks/>
          </p:cNvSpPr>
          <p:nvPr/>
        </p:nvSpPr>
        <p:spPr bwMode="auto">
          <a:xfrm>
            <a:off x="98474" y="2028306"/>
            <a:ext cx="8904849" cy="408986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r>
              <a:rPr lang="en-US" sz="2800" u="sng" dirty="0">
                <a:solidFill>
                  <a:srgbClr val="FF0000"/>
                </a:solidFill>
              </a:rPr>
              <a:t>Objectives</a:t>
            </a:r>
            <a:r>
              <a:rPr lang="en-US" sz="2800" dirty="0">
                <a:solidFill>
                  <a:srgbClr val="FF0000"/>
                </a:solidFill>
              </a:rPr>
              <a:t>: </a:t>
            </a:r>
            <a:r>
              <a:rPr lang="en-US" sz="2800" dirty="0"/>
              <a:t>To understand terms Euler path, Euler circuit, Hamilton path, Hamilton circuit; to determine whether a graph contains Euler or Hamilton path or circuit.</a:t>
            </a:r>
          </a:p>
          <a:p>
            <a:pPr lvl="0"/>
            <a:endParaRPr lang="en-US" sz="2800" dirty="0"/>
          </a:p>
          <a:p>
            <a:r>
              <a:rPr lang="en-US" sz="2800" u="sng" dirty="0">
                <a:solidFill>
                  <a:srgbClr val="FF0000"/>
                </a:solidFill>
              </a:rPr>
              <a:t>Outcomes</a:t>
            </a:r>
            <a:r>
              <a:rPr lang="en-US" sz="2800" dirty="0">
                <a:solidFill>
                  <a:srgbClr val="FF0000"/>
                </a:solidFill>
              </a:rPr>
              <a:t>: </a:t>
            </a:r>
            <a:r>
              <a:rPr lang="en-US" sz="2800" dirty="0"/>
              <a:t>The students are expected to be able to explain the terms Euler path, Euler circuit, Hamilton path, Hamilton circuit with examples; be able to determine whether a given graph contains Euler or Hamilton path or circuit.</a:t>
            </a:r>
          </a:p>
          <a:p>
            <a:pPr>
              <a:buNone/>
            </a:pPr>
            <a:endParaRPr lang="en-US" sz="2800" dirty="0"/>
          </a:p>
        </p:txBody>
      </p:sp>
    </p:spTree>
    <p:extLst>
      <p:ext uri="{BB962C8B-B14F-4D97-AF65-F5344CB8AC3E}">
        <p14:creationId xmlns:p14="http://schemas.microsoft.com/office/powerpoint/2010/main" val="4075603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Euler paths and circuits</a:t>
            </a:r>
          </a:p>
        </p:txBody>
      </p:sp>
      <p:sp>
        <p:nvSpPr>
          <p:cNvPr id="6" name="Content Placeholder 2">
            <a:extLst>
              <a:ext uri="{FF2B5EF4-FFF2-40B4-BE49-F238E27FC236}">
                <a16:creationId xmlns:a16="http://schemas.microsoft.com/office/drawing/2014/main" id="{3826D75A-068A-4410-8BC8-7530B118046E}"/>
              </a:ext>
            </a:extLst>
          </p:cNvPr>
          <p:cNvSpPr txBox="1">
            <a:spLocks/>
          </p:cNvSpPr>
          <p:nvPr/>
        </p:nvSpPr>
        <p:spPr bwMode="auto">
          <a:xfrm>
            <a:off x="318977" y="2190308"/>
            <a:ext cx="8697432" cy="393585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ts val="3040"/>
              </a:lnSpc>
              <a:spcBef>
                <a:spcPts val="1828"/>
              </a:spcBef>
              <a:defRPr/>
            </a:pPr>
            <a:r>
              <a:rPr kumimoji="0" lang="en-US" altLang="ja-JP" sz="2200" b="1" i="1" u="sng" strike="noStrike" kern="1200" cap="none" spc="0" normalizeH="0" baseline="0" noProof="0" dirty="0">
                <a:ln>
                  <a:noFill/>
                </a:ln>
                <a:solidFill>
                  <a:srgbClr val="0000FF"/>
                </a:solidFill>
                <a:effectLst/>
                <a:uLnTx/>
                <a:uFillTx/>
                <a:latin typeface="Calibri"/>
                <a:ea typeface="ＭＳ Ｐゴシック" panose="020B0600070205080204" pitchFamily="34" charset="-128"/>
                <a:cs typeface="+mn-cs"/>
              </a:rPr>
              <a:t>Euler path</a:t>
            </a:r>
            <a:r>
              <a:rPr kumimoji="0" lang="en-US" altLang="ja-JP" sz="2200" b="1" i="1" u="none" strike="noStrike" kern="1200" cap="none" spc="0" normalizeH="0" baseline="0" noProof="0" dirty="0">
                <a:ln>
                  <a:noFill/>
                </a:ln>
                <a:solidFill>
                  <a:srgbClr val="0000FF"/>
                </a:solidFill>
                <a:effectLst/>
                <a:uLnTx/>
                <a:uFillTx/>
                <a:latin typeface="Calibri"/>
                <a:ea typeface="ＭＳ Ｐゴシック" panose="020B0600070205080204" pitchFamily="34" charset="-128"/>
                <a:cs typeface="+mn-cs"/>
              </a:rPr>
              <a:t>: </a:t>
            </a:r>
            <a:r>
              <a:rPr kumimoji="0" lang="en-US" altLang="ja-JP" sz="2200" b="0" i="0" u="none" strike="noStrike" kern="1200" cap="none" spc="0" normalizeH="0" baseline="0" noProof="0" dirty="0">
                <a:ln>
                  <a:noFill/>
                </a:ln>
                <a:solidFill>
                  <a:sysClr val="windowText" lastClr="000000"/>
                </a:solidFill>
                <a:effectLst/>
                <a:uLnTx/>
                <a:uFillTx/>
                <a:latin typeface="Calibri"/>
                <a:ea typeface="ＭＳ Ｐゴシック" panose="020B0600070205080204" pitchFamily="34" charset="-128"/>
                <a:cs typeface="+mn-cs"/>
              </a:rPr>
              <a:t>An Euler path in G is a </a:t>
            </a:r>
            <a:r>
              <a:rPr kumimoji="0" lang="en-US" altLang="ja-JP" sz="2200" b="1" i="0" u="none" strike="noStrike" kern="1200" cap="none" spc="0" normalizeH="0" baseline="0" noProof="0" dirty="0">
                <a:ln>
                  <a:noFill/>
                </a:ln>
                <a:solidFill>
                  <a:sysClr val="windowText" lastClr="000000"/>
                </a:solidFill>
                <a:effectLst/>
                <a:uLnTx/>
                <a:uFillTx/>
                <a:latin typeface="Calibri"/>
                <a:ea typeface="ＭＳ Ｐゴシック" panose="020B0600070205080204" pitchFamily="34" charset="-128"/>
                <a:cs typeface="+mn-cs"/>
              </a:rPr>
              <a:t>simple</a:t>
            </a:r>
            <a:r>
              <a:rPr kumimoji="0" lang="en-US" altLang="ja-JP" sz="2200" b="0" i="0" u="none" strike="noStrike" kern="1200" cap="none" spc="0" normalizeH="0" baseline="0" noProof="0" dirty="0">
                <a:ln>
                  <a:noFill/>
                </a:ln>
                <a:solidFill>
                  <a:sysClr val="windowText" lastClr="000000"/>
                </a:solidFill>
                <a:effectLst/>
                <a:uLnTx/>
                <a:uFillTx/>
                <a:latin typeface="Calibri"/>
                <a:ea typeface="ＭＳ Ｐゴシック" panose="020B0600070205080204" pitchFamily="34" charset="-128"/>
                <a:cs typeface="+mn-cs"/>
              </a:rPr>
              <a:t> </a:t>
            </a:r>
            <a:r>
              <a:rPr kumimoji="0" lang="en-US" altLang="ja-JP" sz="2200" b="1" i="0" u="none" strike="noStrike" kern="1200" cap="none" spc="0" normalizeH="0" baseline="0" noProof="0" dirty="0">
                <a:ln>
                  <a:noFill/>
                </a:ln>
                <a:solidFill>
                  <a:sysClr val="windowText" lastClr="000000"/>
                </a:solidFill>
                <a:effectLst/>
                <a:uLnTx/>
                <a:uFillTx/>
                <a:latin typeface="Calibri"/>
                <a:ea typeface="ＭＳ Ｐゴシック" panose="020B0600070205080204" pitchFamily="34" charset="-128"/>
                <a:cs typeface="+mn-cs"/>
              </a:rPr>
              <a:t>path</a:t>
            </a:r>
            <a:r>
              <a:rPr kumimoji="0" lang="en-US" altLang="ja-JP" sz="2200" b="0" i="0" u="none" strike="noStrike" kern="1200" cap="none" spc="0" normalizeH="0" baseline="0" noProof="0" dirty="0">
                <a:ln>
                  <a:noFill/>
                </a:ln>
                <a:solidFill>
                  <a:sysClr val="windowText" lastClr="000000"/>
                </a:solidFill>
                <a:effectLst/>
                <a:uLnTx/>
                <a:uFillTx/>
                <a:latin typeface="Calibri"/>
                <a:ea typeface="ＭＳ Ｐゴシック" panose="020B0600070205080204" pitchFamily="34" charset="-128"/>
                <a:cs typeface="+mn-cs"/>
              </a:rPr>
              <a:t> containing </a:t>
            </a:r>
            <a:r>
              <a:rPr kumimoji="0" lang="en-US" altLang="ja-JP" sz="2200" b="1" i="0" u="none" strike="noStrike" kern="1200" cap="none" spc="0" normalizeH="0" baseline="0" noProof="0" dirty="0">
                <a:ln>
                  <a:noFill/>
                </a:ln>
                <a:solidFill>
                  <a:sysClr val="windowText" lastClr="000000"/>
                </a:solidFill>
                <a:effectLst/>
                <a:uLnTx/>
                <a:uFillTx/>
                <a:latin typeface="Calibri"/>
                <a:ea typeface="ＭＳ Ｐゴシック" panose="020B0600070205080204" pitchFamily="34" charset="-128"/>
                <a:cs typeface="+mn-cs"/>
              </a:rPr>
              <a:t>every edge</a:t>
            </a:r>
            <a:r>
              <a:rPr kumimoji="0" lang="en-US" altLang="ja-JP" sz="2200" b="0" i="0" u="none" strike="noStrike" kern="1200" cap="none" spc="0" normalizeH="0" baseline="0" noProof="0" dirty="0">
                <a:ln>
                  <a:noFill/>
                </a:ln>
                <a:solidFill>
                  <a:sysClr val="windowText" lastClr="000000"/>
                </a:solidFill>
                <a:effectLst/>
                <a:uLnTx/>
                <a:uFillTx/>
                <a:latin typeface="Calibri"/>
                <a:ea typeface="ＭＳ Ｐゴシック" panose="020B0600070205080204" pitchFamily="34" charset="-128"/>
                <a:cs typeface="+mn-cs"/>
              </a:rPr>
              <a:t> of G. </a:t>
            </a:r>
            <a:r>
              <a:rPr lang="en-US" sz="2200" dirty="0">
                <a:highlight>
                  <a:srgbClr val="FFFF00"/>
                </a:highlight>
              </a:rPr>
              <a:t>An Euler path is a path that uses every edge of a graph exactly once</a:t>
            </a:r>
            <a:r>
              <a:rPr lang="en-US" sz="2200" dirty="0"/>
              <a:t>. An Euler path starts and ends at different vertices. </a:t>
            </a:r>
          </a:p>
          <a:p>
            <a:pPr eaLnBrk="1" hangingPunct="1">
              <a:lnSpc>
                <a:spcPts val="3040"/>
              </a:lnSpc>
              <a:spcBef>
                <a:spcPts val="1828"/>
              </a:spcBef>
              <a:defRPr/>
            </a:pPr>
            <a:r>
              <a:rPr kumimoji="0" lang="en-US" altLang="ja-JP" sz="2200" b="1" i="1" u="sng" strike="noStrike" kern="1200" cap="none" spc="0" normalizeH="0" baseline="0" noProof="0" dirty="0">
                <a:ln>
                  <a:noFill/>
                </a:ln>
                <a:solidFill>
                  <a:srgbClr val="0000FF"/>
                </a:solidFill>
                <a:effectLst/>
                <a:uLnTx/>
                <a:uFillTx/>
                <a:latin typeface="Calibri"/>
                <a:ea typeface="ＭＳ Ｐゴシック" panose="020B0600070205080204" pitchFamily="34" charset="-128"/>
                <a:cs typeface="+mn-cs"/>
              </a:rPr>
              <a:t>Euler circuit:</a:t>
            </a:r>
            <a:r>
              <a:rPr kumimoji="0" lang="en-US" altLang="ja-JP" sz="2200" b="0" i="0" u="none" strike="noStrike" kern="1200" cap="none" spc="0" normalizeH="0" baseline="0" noProof="0" dirty="0">
                <a:ln>
                  <a:noFill/>
                </a:ln>
                <a:solidFill>
                  <a:srgbClr val="0000FF"/>
                </a:solidFill>
                <a:effectLst/>
                <a:uLnTx/>
                <a:uFillTx/>
                <a:latin typeface="Calibri"/>
                <a:ea typeface="ＭＳ Ｐゴシック" panose="020B0600070205080204" pitchFamily="34" charset="-128"/>
                <a:cs typeface="+mn-cs"/>
              </a:rPr>
              <a:t> </a:t>
            </a:r>
            <a:r>
              <a:rPr kumimoji="0" lang="en-US" altLang="ja-JP" sz="2200" b="0" i="0" u="none" strike="noStrike" kern="1200" cap="none" spc="0" normalizeH="0" baseline="0" noProof="0" dirty="0">
                <a:ln>
                  <a:noFill/>
                </a:ln>
                <a:solidFill>
                  <a:sysClr val="windowText" lastClr="000000"/>
                </a:solidFill>
                <a:effectLst/>
                <a:uLnTx/>
                <a:uFillTx/>
                <a:latin typeface="Calibri"/>
                <a:ea typeface="ＭＳ Ｐゴシック" panose="020B0600070205080204" pitchFamily="34" charset="-128"/>
                <a:cs typeface="+mn-cs"/>
              </a:rPr>
              <a:t>An Euler circuit in a graph G is </a:t>
            </a:r>
            <a:r>
              <a:rPr kumimoji="0" lang="en-US" altLang="ja-JP" sz="2200" b="1" i="0" u="none" strike="noStrike" kern="1200" cap="none" spc="0" normalizeH="0" baseline="0" noProof="0" dirty="0">
                <a:ln>
                  <a:noFill/>
                </a:ln>
                <a:solidFill>
                  <a:sysClr val="windowText" lastClr="000000"/>
                </a:solidFill>
                <a:effectLst/>
                <a:uLnTx/>
                <a:uFillTx/>
                <a:latin typeface="Calibri"/>
                <a:ea typeface="ＭＳ Ｐゴシック" panose="020B0600070205080204" pitchFamily="34" charset="-128"/>
                <a:cs typeface="+mn-cs"/>
              </a:rPr>
              <a:t>a simple circuit </a:t>
            </a:r>
            <a:r>
              <a:rPr kumimoji="0" lang="en-US" altLang="ja-JP" sz="2200" b="0" i="0" u="none" strike="noStrike" kern="1200" cap="none" spc="0" normalizeH="0" baseline="0" noProof="0" dirty="0">
                <a:ln>
                  <a:noFill/>
                </a:ln>
                <a:solidFill>
                  <a:sysClr val="windowText" lastClr="000000"/>
                </a:solidFill>
                <a:effectLst/>
                <a:uLnTx/>
                <a:uFillTx/>
                <a:latin typeface="Calibri"/>
                <a:ea typeface="ＭＳ Ｐゴシック" panose="020B0600070205080204" pitchFamily="34" charset="-128"/>
                <a:cs typeface="+mn-cs"/>
              </a:rPr>
              <a:t>containing </a:t>
            </a:r>
            <a:r>
              <a:rPr kumimoji="0" lang="en-US" altLang="ja-JP" sz="2200" b="1" i="0" u="none" strike="noStrike" kern="1200" cap="none" spc="0" normalizeH="0" baseline="0" noProof="0" dirty="0">
                <a:ln>
                  <a:noFill/>
                </a:ln>
                <a:solidFill>
                  <a:sysClr val="windowText" lastClr="000000"/>
                </a:solidFill>
                <a:effectLst/>
                <a:uLnTx/>
                <a:uFillTx/>
                <a:latin typeface="Calibri"/>
                <a:ea typeface="ＭＳ Ｐゴシック" panose="020B0600070205080204" pitchFamily="34" charset="-128"/>
                <a:cs typeface="+mn-cs"/>
              </a:rPr>
              <a:t>every edge of G. </a:t>
            </a:r>
            <a:r>
              <a:rPr lang="en-US" sz="2200" dirty="0">
                <a:highlight>
                  <a:srgbClr val="FFFF00"/>
                </a:highlight>
              </a:rPr>
              <a:t>An Euler circuit is a circuit that uses every edge of a graph exactly once. </a:t>
            </a:r>
            <a:r>
              <a:rPr lang="en-US" sz="2200" dirty="0"/>
              <a:t>An Euler circuit starts and ends at the same vertex . </a:t>
            </a:r>
          </a:p>
          <a:p>
            <a:pPr marL="0" marR="0" lvl="0" indent="0" algn="l" defTabSz="914400" rtl="0" eaLnBrk="1" fontAlgn="base" latinLnBrk="0" hangingPunct="1">
              <a:lnSpc>
                <a:spcPts val="3040"/>
              </a:lnSpc>
              <a:spcBef>
                <a:spcPts val="1828"/>
              </a:spcBef>
              <a:spcAft>
                <a:spcPct val="0"/>
              </a:spcAft>
              <a:buClrTx/>
              <a:buSzTx/>
              <a:buNone/>
              <a:tabLst/>
              <a:defRPr/>
            </a:pPr>
            <a:endParaRPr kumimoji="0" lang="en-US" altLang="ja-JP" sz="2200" b="1" i="0" u="none" strike="noStrike" kern="1200" cap="none" spc="0" normalizeH="0" baseline="0" noProof="0" dirty="0">
              <a:ln>
                <a:noFill/>
              </a:ln>
              <a:solidFill>
                <a:sysClr val="windowText" lastClr="000000"/>
              </a:solidFill>
              <a:effectLst/>
              <a:uLnTx/>
              <a:uFillTx/>
              <a:latin typeface="Calibri"/>
              <a:ea typeface="ＭＳ Ｐゴシック" panose="020B0600070205080204" pitchFamily="34" charset="-128"/>
              <a:cs typeface="+mn-cs"/>
            </a:endParaRPr>
          </a:p>
          <a:p>
            <a:pPr marL="342900" marR="0" lvl="0" indent="-342900" algn="l" defTabSz="914400" rtl="0" eaLnBrk="1" fontAlgn="base" latinLnBrk="0" hangingPunct="1">
              <a:lnSpc>
                <a:spcPts val="3040"/>
              </a:lnSpc>
              <a:spcBef>
                <a:spcPts val="1828"/>
              </a:spcBef>
              <a:spcAft>
                <a:spcPct val="0"/>
              </a:spcAft>
              <a:buClrTx/>
              <a:buSzTx/>
              <a:buFont typeface="Arial" pitchFamily="34" charset="0"/>
              <a:buNone/>
              <a:tabLst/>
              <a:defRPr/>
            </a:pPr>
            <a:endParaRPr kumimoji="0" lang="en-US" altLang="ja-JP" sz="2200" b="0" i="0" u="none" strike="noStrike" kern="1200" cap="none" spc="0" normalizeH="0" baseline="0" noProof="0" dirty="0">
              <a:ln>
                <a:noFill/>
              </a:ln>
              <a:solidFill>
                <a:sysClr val="windowText" lastClr="000000"/>
              </a:solidFill>
              <a:effectLst/>
              <a:uLnTx/>
              <a:uFillTx/>
              <a:latin typeface="Calibri"/>
              <a:ea typeface="ＭＳ Ｐゴシック" panose="020B0600070205080204" pitchFamily="34" charset="-128"/>
              <a:cs typeface="+mn-cs"/>
            </a:endParaRPr>
          </a:p>
          <a:p>
            <a:pPr marL="342900" marR="0" lvl="0" indent="-342900" algn="l" defTabSz="914400" rtl="0" eaLnBrk="1" fontAlgn="base" latinLnBrk="0" hangingPunct="1">
              <a:lnSpc>
                <a:spcPts val="3040"/>
              </a:lnSpc>
              <a:spcBef>
                <a:spcPts val="1828"/>
              </a:spcBef>
              <a:spcAft>
                <a:spcPct val="0"/>
              </a:spcAft>
              <a:buClrTx/>
              <a:buSzTx/>
              <a:buFont typeface="Arial" pitchFamily="34" charset="0"/>
              <a:buNone/>
              <a:tabLst/>
              <a:defRPr/>
            </a:pPr>
            <a:endParaRPr kumimoji="0" lang="en-US" sz="2200" b="0" i="0" u="none" strike="noStrike" kern="1200" cap="none" spc="0" normalizeH="0" baseline="0" noProof="0" dirty="0">
              <a:ln>
                <a:noFill/>
              </a:ln>
              <a:solidFill>
                <a:sysClr val="windowText" lastClr="000000"/>
              </a:solidFill>
              <a:effectLst/>
              <a:uLnTx/>
              <a:uFillTx/>
              <a:latin typeface="Calibri"/>
              <a:ea typeface="+mn-ea"/>
              <a:cs typeface="+mn-cs"/>
            </a:endParaRPr>
          </a:p>
          <a:p>
            <a:pPr marL="342900" marR="0" lvl="0" indent="-342900" algn="l" defTabSz="914400" rtl="0" eaLnBrk="1" fontAlgn="base" latinLnBrk="0" hangingPunct="1">
              <a:lnSpc>
                <a:spcPts val="3040"/>
              </a:lnSpc>
              <a:spcBef>
                <a:spcPts val="1828"/>
              </a:spcBef>
              <a:spcAft>
                <a:spcPct val="0"/>
              </a:spcAft>
              <a:buClrTx/>
              <a:buSzTx/>
              <a:buFont typeface="Arial" pitchFamily="34" charset="0"/>
              <a:buNone/>
              <a:tabLst/>
              <a:defRPr/>
            </a:pPr>
            <a:endParaRPr kumimoji="0" lang="en-US" sz="22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1980614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text, watch, vector graphics&#10;&#10;Description automatically generated">
            <a:extLst>
              <a:ext uri="{FF2B5EF4-FFF2-40B4-BE49-F238E27FC236}">
                <a16:creationId xmlns:a16="http://schemas.microsoft.com/office/drawing/2014/main" id="{2BC44E77-9179-C740-AC55-8210B9ED3B18}"/>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460980" y="2017058"/>
            <a:ext cx="8220451" cy="4377391"/>
          </a:xfrm>
          <a:prstGeom prst="rect">
            <a:avLst/>
          </a:prstGeom>
          <a:noFill/>
        </p:spPr>
      </p:pic>
      <p:sp>
        <p:nvSpPr>
          <p:cNvPr id="2" name="Title 1"/>
          <p:cNvSpPr>
            <a:spLocks noGrp="1"/>
          </p:cNvSpPr>
          <p:nvPr>
            <p:ph type="ctrTitle"/>
          </p:nvPr>
        </p:nvSpPr>
        <p:spPr>
          <a:xfrm>
            <a:off x="418633" y="444728"/>
            <a:ext cx="7810967" cy="1088237"/>
          </a:xfrm>
        </p:spPr>
        <p:txBody>
          <a:bodyPr anchor="b">
            <a:normAutofit/>
          </a:bodyPr>
          <a:lstStyle/>
          <a:p>
            <a:r>
              <a:rPr lang="en-US" dirty="0"/>
              <a:t>Euler paths and circuits</a:t>
            </a:r>
          </a:p>
        </p:txBody>
      </p:sp>
    </p:spTree>
    <p:extLst>
      <p:ext uri="{BB962C8B-B14F-4D97-AF65-F5344CB8AC3E}">
        <p14:creationId xmlns:p14="http://schemas.microsoft.com/office/powerpoint/2010/main" val="3835843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Euler paths and circuits</a:t>
            </a:r>
          </a:p>
        </p:txBody>
      </p:sp>
      <p:sp>
        <p:nvSpPr>
          <p:cNvPr id="4" name="Content Placeholder 2">
            <a:extLst>
              <a:ext uri="{FF2B5EF4-FFF2-40B4-BE49-F238E27FC236}">
                <a16:creationId xmlns:a16="http://schemas.microsoft.com/office/drawing/2014/main" id="{5ACA94B0-9D26-41BC-A0DB-7030C96AB0BD}"/>
              </a:ext>
            </a:extLst>
          </p:cNvPr>
          <p:cNvSpPr txBox="1">
            <a:spLocks/>
          </p:cNvSpPr>
          <p:nvPr/>
        </p:nvSpPr>
        <p:spPr bwMode="auto">
          <a:xfrm>
            <a:off x="457200" y="2344189"/>
            <a:ext cx="8229600" cy="378197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b="1" i="0" u="sng" strike="noStrike" kern="1200" cap="none" spc="0" normalizeH="0" baseline="0" noProof="0">
                <a:ln>
                  <a:noFill/>
                </a:ln>
                <a:solidFill>
                  <a:srgbClr val="0000FF"/>
                </a:solidFill>
                <a:effectLst/>
                <a:uLnTx/>
                <a:uFillTx/>
                <a:latin typeface="Calibri"/>
                <a:ea typeface="+mn-ea"/>
                <a:cs typeface="+mn-cs"/>
              </a:rPr>
              <a:t>Theorem 1</a:t>
            </a: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 A connected multigraph with at least two vertices has an </a:t>
            </a:r>
            <a:r>
              <a:rPr kumimoji="0" lang="en-US" sz="2800" b="1" i="0" u="none" strike="noStrike" kern="1200" cap="none" spc="0" normalizeH="0" baseline="0" noProof="0">
                <a:ln>
                  <a:noFill/>
                </a:ln>
                <a:solidFill>
                  <a:srgbClr val="FF0000"/>
                </a:solidFill>
                <a:effectLst/>
                <a:uLnTx/>
                <a:uFillTx/>
                <a:latin typeface="Calibri"/>
                <a:ea typeface="+mn-ea"/>
                <a:cs typeface="+mn-cs"/>
              </a:rPr>
              <a:t>Euler</a:t>
            </a:r>
            <a:r>
              <a:rPr kumimoji="0" lang="en-US" sz="2800" b="0" i="0" u="none" strike="noStrike" kern="1200" cap="none" spc="0" normalizeH="0" baseline="0" noProof="0">
                <a:ln>
                  <a:noFill/>
                </a:ln>
                <a:solidFill>
                  <a:srgbClr val="FF0000"/>
                </a:solidFill>
                <a:effectLst/>
                <a:uLnTx/>
                <a:uFillTx/>
                <a:latin typeface="Calibri"/>
                <a:ea typeface="+mn-ea"/>
                <a:cs typeface="+mn-cs"/>
              </a:rPr>
              <a:t> </a:t>
            </a:r>
            <a:r>
              <a:rPr kumimoji="0" lang="en-US" sz="2800" b="1" i="0" u="none" strike="noStrike" kern="1200" cap="none" spc="0" normalizeH="0" baseline="0" noProof="0">
                <a:ln>
                  <a:noFill/>
                </a:ln>
                <a:solidFill>
                  <a:srgbClr val="FF0000"/>
                </a:solidFill>
                <a:effectLst/>
                <a:uLnTx/>
                <a:uFillTx/>
                <a:latin typeface="Calibri"/>
                <a:ea typeface="+mn-ea"/>
                <a:cs typeface="+mn-cs"/>
              </a:rPr>
              <a:t>circuit</a:t>
            </a:r>
            <a:r>
              <a:rPr kumimoji="0" lang="en-US" sz="2800" b="0" i="0" u="none" strike="noStrike" kern="1200" cap="none" spc="0" normalizeH="0" baseline="0" noProof="0">
                <a:ln>
                  <a:noFill/>
                </a:ln>
                <a:solidFill>
                  <a:srgbClr val="FF0000"/>
                </a:solidFill>
                <a:effectLst/>
                <a:uLnTx/>
                <a:uFillTx/>
                <a:latin typeface="Calibri"/>
                <a:ea typeface="+mn-ea"/>
                <a:cs typeface="+mn-cs"/>
              </a:rPr>
              <a:t> </a:t>
            </a:r>
            <a:r>
              <a:rPr kumimoji="0" lang="en-US" sz="2800" b="0" i="0" u="none" strike="noStrike" kern="1200" cap="none" spc="0" normalizeH="0" baseline="0" noProof="0">
                <a:ln>
                  <a:noFill/>
                </a:ln>
                <a:solidFill>
                  <a:srgbClr val="0000FF"/>
                </a:solidFill>
                <a:effectLst/>
                <a:uLnTx/>
                <a:uFillTx/>
                <a:latin typeface="Calibri"/>
                <a:ea typeface="+mn-ea"/>
                <a:cs typeface="+mn-cs"/>
              </a:rPr>
              <a:t>iff each of its vertices has even degree.</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endParaRPr kumimoji="0" lang="en-US" sz="28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b="1" i="0" u="sng" strike="noStrike" kern="1200" cap="none" spc="0" normalizeH="0" baseline="0" noProof="0">
                <a:ln>
                  <a:noFill/>
                </a:ln>
                <a:solidFill>
                  <a:srgbClr val="0000FF"/>
                </a:solidFill>
                <a:effectLst/>
                <a:uLnTx/>
                <a:uFillTx/>
                <a:latin typeface="Calibri"/>
                <a:ea typeface="+mn-ea"/>
                <a:cs typeface="+mn-cs"/>
              </a:rPr>
              <a:t>Theorem 2</a:t>
            </a: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 A connected multigraph has an </a:t>
            </a:r>
            <a:r>
              <a:rPr kumimoji="0" lang="en-US" sz="2800" b="1" i="0" u="none" strike="noStrike" kern="1200" cap="none" spc="0" normalizeH="0" baseline="0" noProof="0">
                <a:ln>
                  <a:noFill/>
                </a:ln>
                <a:solidFill>
                  <a:srgbClr val="FF0000"/>
                </a:solidFill>
                <a:effectLst/>
                <a:uLnTx/>
                <a:uFillTx/>
                <a:latin typeface="Calibri"/>
                <a:ea typeface="+mn-ea"/>
                <a:cs typeface="+mn-cs"/>
              </a:rPr>
              <a:t>Euler</a:t>
            </a:r>
            <a:r>
              <a:rPr kumimoji="0" lang="en-US" sz="2800" b="0" i="0" u="none" strike="noStrike" kern="1200" cap="none" spc="0" normalizeH="0" baseline="0" noProof="0">
                <a:ln>
                  <a:noFill/>
                </a:ln>
                <a:solidFill>
                  <a:srgbClr val="0000FF"/>
                </a:solidFill>
                <a:effectLst/>
                <a:uLnTx/>
                <a:uFillTx/>
                <a:latin typeface="Calibri"/>
                <a:ea typeface="+mn-ea"/>
                <a:cs typeface="+mn-cs"/>
              </a:rPr>
              <a:t> </a:t>
            </a:r>
            <a:r>
              <a:rPr kumimoji="0" lang="en-US" sz="2800" b="1" i="0" u="none" strike="noStrike" kern="1200" cap="none" spc="0" normalizeH="0" baseline="0" noProof="0">
                <a:ln>
                  <a:noFill/>
                </a:ln>
                <a:solidFill>
                  <a:srgbClr val="FF0000"/>
                </a:solidFill>
                <a:effectLst/>
                <a:uLnTx/>
                <a:uFillTx/>
                <a:latin typeface="Calibri"/>
                <a:ea typeface="+mn-ea"/>
                <a:cs typeface="+mn-cs"/>
              </a:rPr>
              <a:t>path</a:t>
            </a:r>
            <a:r>
              <a:rPr kumimoji="0" lang="en-US" sz="2800" b="0" i="0" u="none" strike="noStrike" kern="1200" cap="none" spc="0" normalizeH="0" baseline="0" noProof="0">
                <a:ln>
                  <a:noFill/>
                </a:ln>
                <a:solidFill>
                  <a:srgbClr val="0000FF"/>
                </a:solidFill>
                <a:effectLst/>
                <a:uLnTx/>
                <a:uFillTx/>
                <a:latin typeface="Calibri"/>
                <a:ea typeface="+mn-ea"/>
                <a:cs typeface="+mn-cs"/>
              </a:rPr>
              <a:t> (but not an Euler circuit</a:t>
            </a: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 </a:t>
            </a:r>
            <a:r>
              <a:rPr kumimoji="0" lang="en-US" sz="2800" b="0" i="0" u="none" strike="noStrike" kern="1200" cap="none" spc="0" normalizeH="0" baseline="0" noProof="0">
                <a:ln>
                  <a:noFill/>
                </a:ln>
                <a:solidFill>
                  <a:srgbClr val="0000FF"/>
                </a:solidFill>
                <a:effectLst/>
                <a:uLnTx/>
                <a:uFillTx/>
                <a:latin typeface="Calibri"/>
                <a:ea typeface="+mn-ea"/>
                <a:cs typeface="+mn-cs"/>
              </a:rPr>
              <a:t>iff it has </a:t>
            </a:r>
            <a:r>
              <a:rPr kumimoji="0" lang="en-US" sz="2800" b="1" i="0" u="none" strike="noStrike" kern="1200" cap="none" spc="0" normalizeH="0" baseline="0" noProof="0">
                <a:ln>
                  <a:noFill/>
                </a:ln>
                <a:solidFill>
                  <a:srgbClr val="0000FF"/>
                </a:solidFill>
                <a:effectLst/>
                <a:uLnTx/>
                <a:uFillTx/>
                <a:latin typeface="Calibri"/>
                <a:ea typeface="+mn-ea"/>
                <a:cs typeface="+mn-cs"/>
              </a:rPr>
              <a:t>exactly</a:t>
            </a:r>
            <a:r>
              <a:rPr kumimoji="0" lang="en-US" sz="2800" b="0" i="0" u="none" strike="noStrike" kern="1200" cap="none" spc="0" normalizeH="0" baseline="0" noProof="0">
                <a:ln>
                  <a:noFill/>
                </a:ln>
                <a:solidFill>
                  <a:srgbClr val="0000FF"/>
                </a:solidFill>
                <a:effectLst/>
                <a:uLnTx/>
                <a:uFillTx/>
                <a:latin typeface="Calibri"/>
                <a:ea typeface="+mn-ea"/>
                <a:cs typeface="+mn-cs"/>
              </a:rPr>
              <a:t> two vertices of </a:t>
            </a:r>
            <a:r>
              <a:rPr kumimoji="0" lang="en-US" sz="2800" b="1" i="0" u="none" strike="noStrike" kern="1200" cap="none" spc="0" normalizeH="0" baseline="0" noProof="0">
                <a:ln>
                  <a:noFill/>
                </a:ln>
                <a:solidFill>
                  <a:srgbClr val="0000FF"/>
                </a:solidFill>
                <a:effectLst/>
                <a:uLnTx/>
                <a:uFillTx/>
                <a:latin typeface="Calibri"/>
                <a:ea typeface="+mn-ea"/>
                <a:cs typeface="+mn-cs"/>
              </a:rPr>
              <a:t>odd</a:t>
            </a:r>
            <a:r>
              <a:rPr kumimoji="0" lang="en-US" sz="2800" b="0" i="0" u="none" strike="noStrike" kern="1200" cap="none" spc="0" normalizeH="0" baseline="0" noProof="0">
                <a:ln>
                  <a:noFill/>
                </a:ln>
                <a:solidFill>
                  <a:srgbClr val="0000FF"/>
                </a:solidFill>
                <a:effectLst/>
                <a:uLnTx/>
                <a:uFillTx/>
                <a:latin typeface="Calibri"/>
                <a:ea typeface="+mn-ea"/>
                <a:cs typeface="+mn-cs"/>
              </a:rPr>
              <a:t> </a:t>
            </a:r>
            <a:r>
              <a:rPr kumimoji="0" lang="en-US" sz="2800" b="1" i="0" u="none" strike="noStrike" kern="1200" cap="none" spc="0" normalizeH="0" baseline="0" noProof="0">
                <a:ln>
                  <a:noFill/>
                </a:ln>
                <a:solidFill>
                  <a:srgbClr val="0000FF"/>
                </a:solidFill>
                <a:effectLst/>
                <a:uLnTx/>
                <a:uFillTx/>
                <a:latin typeface="Calibri"/>
                <a:ea typeface="+mn-ea"/>
                <a:cs typeface="+mn-cs"/>
              </a:rPr>
              <a:t>degree</a:t>
            </a:r>
            <a:r>
              <a:rPr kumimoji="0" lang="en-US" sz="2800" b="0" i="0" u="none" strike="noStrike" kern="1200" cap="none" spc="0" normalizeH="0" baseline="0" noProof="0">
                <a:ln>
                  <a:noFill/>
                </a:ln>
                <a:solidFill>
                  <a:srgbClr val="0000FF"/>
                </a:solidFill>
                <a:effectLst/>
                <a:uLnTx/>
                <a:uFillTx/>
                <a:latin typeface="Calibri"/>
                <a:ea typeface="+mn-ea"/>
                <a:cs typeface="+mn-cs"/>
              </a:rPr>
              <a:t>.</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None/>
              <a:tabLst/>
              <a:defRPr/>
            </a:pPr>
            <a:endParaRPr kumimoji="0" lang="en-US" sz="28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None/>
              <a:tabLst/>
              <a:defRPr/>
            </a:pP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29694260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Euler paths and circuits </a:t>
            </a:r>
          </a:p>
        </p:txBody>
      </p:sp>
      <p:sp>
        <p:nvSpPr>
          <p:cNvPr id="8" name="Content Placeholder 2">
            <a:extLst>
              <a:ext uri="{FF2B5EF4-FFF2-40B4-BE49-F238E27FC236}">
                <a16:creationId xmlns:a16="http://schemas.microsoft.com/office/drawing/2014/main" id="{01022CB1-9754-4E73-9539-22C1F19640FA}"/>
              </a:ext>
            </a:extLst>
          </p:cNvPr>
          <p:cNvSpPr txBox="1">
            <a:spLocks/>
          </p:cNvSpPr>
          <p:nvPr/>
        </p:nvSpPr>
        <p:spPr bwMode="auto">
          <a:xfrm>
            <a:off x="228599" y="2044930"/>
            <a:ext cx="8699269" cy="431141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kumimoji="0" lang="en-US" sz="2000" b="0" i="0" u="none" strike="noStrike" kern="1200" cap="none" spc="0" normalizeH="0" baseline="0" noProof="0" dirty="0">
                <a:ln>
                  <a:noFill/>
                </a:ln>
                <a:effectLst/>
                <a:uLnTx/>
                <a:uFillTx/>
                <a:latin typeface="Calibri"/>
                <a:ea typeface="+mn-ea"/>
                <a:cs typeface="+mn-cs"/>
              </a:rPr>
              <a:t>A graph contains </a:t>
            </a:r>
            <a:r>
              <a:rPr kumimoji="0" lang="en-US" sz="2000" b="1" i="0" u="none" strike="noStrike" kern="1200" cap="none" spc="0" normalizeH="0" baseline="0" noProof="0" dirty="0">
                <a:ln>
                  <a:noFill/>
                </a:ln>
                <a:effectLst/>
                <a:highlight>
                  <a:srgbClr val="00FFFF"/>
                </a:highlight>
                <a:uLnTx/>
                <a:uFillTx/>
                <a:latin typeface="Calibri"/>
                <a:ea typeface="+mn-ea"/>
                <a:cs typeface="+mn-cs"/>
              </a:rPr>
              <a:t>Euler circuit </a:t>
            </a:r>
            <a:r>
              <a:rPr kumimoji="0" lang="en-US" sz="2000" b="0" i="0" u="none" strike="noStrike" kern="1200" cap="none" spc="0" normalizeH="0" baseline="0" noProof="0" dirty="0">
                <a:ln>
                  <a:noFill/>
                </a:ln>
                <a:effectLst/>
                <a:highlight>
                  <a:srgbClr val="00FFFF"/>
                </a:highlight>
                <a:uLnTx/>
                <a:uFillTx/>
                <a:latin typeface="Calibri"/>
                <a:ea typeface="+mn-ea"/>
                <a:cs typeface="+mn-cs"/>
              </a:rPr>
              <a:t>if </a:t>
            </a:r>
            <a:r>
              <a:rPr kumimoji="0" lang="en-US" sz="2000" b="1" i="0" u="none" strike="noStrike" kern="1200" cap="none" spc="0" normalizeH="0" baseline="0" noProof="0" dirty="0">
                <a:ln>
                  <a:noFill/>
                </a:ln>
                <a:effectLst/>
                <a:highlight>
                  <a:srgbClr val="00FFFF"/>
                </a:highlight>
                <a:uLnTx/>
                <a:uFillTx/>
                <a:latin typeface="Calibri"/>
                <a:ea typeface="+mn-ea"/>
                <a:cs typeface="+mn-cs"/>
              </a:rPr>
              <a:t>all of its vertices have even degre</a:t>
            </a:r>
            <a:r>
              <a:rPr kumimoji="0" lang="en-US" sz="2000" b="0" i="0" u="none" strike="noStrike" kern="1200" cap="none" spc="0" normalizeH="0" baseline="0" noProof="0" dirty="0">
                <a:ln>
                  <a:noFill/>
                </a:ln>
                <a:effectLst/>
                <a:highlight>
                  <a:srgbClr val="00FFFF"/>
                </a:highlight>
                <a:uLnTx/>
                <a:uFillTx/>
                <a:latin typeface="Calibri"/>
                <a:ea typeface="+mn-ea"/>
                <a:cs typeface="+mn-cs"/>
              </a:rPr>
              <a:t>e</a:t>
            </a:r>
            <a:r>
              <a:rPr kumimoji="0" lang="en-US" sz="2000" b="0" i="0" u="none" strike="noStrike" kern="1200" cap="none" spc="0" normalizeH="0" baseline="0" noProof="0" dirty="0">
                <a:ln>
                  <a:noFill/>
                </a:ln>
                <a:effectLst/>
                <a:uLnTx/>
                <a:uFillTx/>
                <a:latin typeface="Calibri"/>
                <a:ea typeface="+mn-ea"/>
                <a:cs typeface="+mn-cs"/>
              </a:rPr>
              <a:t>.</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lang="en-US" sz="2000" dirty="0">
                <a:latin typeface="Calibri"/>
              </a:rPr>
              <a:t>A graph contains </a:t>
            </a:r>
            <a:r>
              <a:rPr lang="en-US" sz="2000" b="1" dirty="0">
                <a:highlight>
                  <a:srgbClr val="00FFFF"/>
                </a:highlight>
                <a:latin typeface="Calibri"/>
              </a:rPr>
              <a:t>Euler path if exactly two of it’s vertices have odd degree</a:t>
            </a:r>
            <a:r>
              <a:rPr lang="en-US" sz="2000" dirty="0">
                <a:latin typeface="Calibri"/>
              </a:rPr>
              <a:t>. End points of the Euler path are the two vertices with odd degree.</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kumimoji="0" lang="en-US" sz="2000" b="0" i="0" u="none" strike="noStrike" kern="1200" cap="none" spc="0" normalizeH="0" baseline="0" noProof="0" dirty="0">
                <a:ln>
                  <a:noFill/>
                </a:ln>
                <a:solidFill>
                  <a:srgbClr val="FF0000"/>
                </a:solidFill>
                <a:effectLst/>
                <a:highlight>
                  <a:srgbClr val="00FFFF"/>
                </a:highlight>
                <a:uLnTx/>
                <a:uFillTx/>
                <a:latin typeface="Calibri"/>
                <a:ea typeface="+mn-ea"/>
                <a:cs typeface="+mn-cs"/>
              </a:rPr>
              <a:t>A</a:t>
            </a:r>
            <a:r>
              <a:rPr kumimoji="0" lang="en-US" sz="2000" b="0" i="0" u="none" strike="noStrike" kern="1200" cap="none" spc="0" normalizeH="0" noProof="0" dirty="0">
                <a:ln>
                  <a:noFill/>
                </a:ln>
                <a:solidFill>
                  <a:srgbClr val="FF0000"/>
                </a:solidFill>
                <a:effectLst/>
                <a:highlight>
                  <a:srgbClr val="00FFFF"/>
                </a:highlight>
                <a:uLnTx/>
                <a:uFillTx/>
                <a:latin typeface="Calibri"/>
                <a:ea typeface="+mn-ea"/>
                <a:cs typeface="+mn-cs"/>
              </a:rPr>
              <a:t> graph does NOT contain any Euler path or Euler circuit if the graph contains more than two vertices of odd degree</a:t>
            </a:r>
            <a:r>
              <a:rPr kumimoji="0" lang="en-US" sz="2000" b="0" i="0" u="none" strike="noStrike" kern="1200" cap="none" spc="0" normalizeH="0" noProof="0" dirty="0">
                <a:ln>
                  <a:noFill/>
                </a:ln>
                <a:solidFill>
                  <a:srgbClr val="FF0000"/>
                </a:solidFill>
                <a:effectLst/>
                <a:uLnTx/>
                <a:uFillTx/>
                <a:latin typeface="Calibri"/>
                <a:ea typeface="+mn-ea"/>
                <a:cs typeface="+mn-cs"/>
              </a:rPr>
              <a:t>.</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lang="en-US" sz="2000" b="1" noProof="0" dirty="0">
                <a:highlight>
                  <a:srgbClr val="00FFFF"/>
                </a:highlight>
                <a:latin typeface="Calibri"/>
              </a:rPr>
              <a:t>Euler circuit and Euler path are mutual exclusive </a:t>
            </a:r>
            <a:r>
              <a:rPr lang="en-US" sz="2000" noProof="0" dirty="0">
                <a:latin typeface="Calibri"/>
              </a:rPr>
              <a:t>(i.e., if a graph contains Euler circuit, it does not contain Euler path ; if a graph contains Euler path, it does not contain Euler circuit).</a:t>
            </a:r>
          </a:p>
        </p:txBody>
      </p:sp>
    </p:spTree>
    <p:extLst>
      <p:ext uri="{BB962C8B-B14F-4D97-AF65-F5344CB8AC3E}">
        <p14:creationId xmlns:p14="http://schemas.microsoft.com/office/powerpoint/2010/main" val="21343907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Euler paths and circuits</a:t>
            </a:r>
          </a:p>
        </p:txBody>
      </p:sp>
      <p:sp>
        <p:nvSpPr>
          <p:cNvPr id="10" name="Content Placeholder 2">
            <a:extLst>
              <a:ext uri="{FF2B5EF4-FFF2-40B4-BE49-F238E27FC236}">
                <a16:creationId xmlns:a16="http://schemas.microsoft.com/office/drawing/2014/main" id="{65077F40-8B1C-41F1-87FD-E79FE201E1DD}"/>
              </a:ext>
            </a:extLst>
          </p:cNvPr>
          <p:cNvSpPr txBox="1">
            <a:spLocks/>
          </p:cNvSpPr>
          <p:nvPr/>
        </p:nvSpPr>
        <p:spPr bwMode="auto">
          <a:xfrm>
            <a:off x="457200" y="1995055"/>
            <a:ext cx="8229600" cy="413110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 typeface="Arial" pitchFamily="34" charset="0"/>
              <a:buChar char="•"/>
              <a:tabLst/>
              <a:defRPr/>
            </a:pPr>
            <a:r>
              <a:rPr kumimoji="0" lang="en-US" sz="2400" b="1" i="0" u="none" strike="noStrike" kern="1200" cap="none" spc="0" normalizeH="0" baseline="0" noProof="0" dirty="0">
                <a:ln>
                  <a:noFill/>
                </a:ln>
                <a:solidFill>
                  <a:srgbClr val="FF0000"/>
                </a:solidFill>
                <a:effectLst/>
                <a:uLnTx/>
                <a:uFillTx/>
                <a:latin typeface="Calibri"/>
                <a:ea typeface="+mn-ea"/>
                <a:cs typeface="Times New Roman" pitchFamily="18" charset="0"/>
              </a:rPr>
              <a:t>EXAMPLE 1 (p.572): </a:t>
            </a:r>
            <a:r>
              <a:rPr kumimoji="0" lang="en-US" sz="2400" b="0" i="0" u="none" strike="noStrike" kern="1200" cap="none" spc="0" normalizeH="0" baseline="0" noProof="0" dirty="0">
                <a:ln>
                  <a:noFill/>
                </a:ln>
                <a:solidFill>
                  <a:srgbClr val="FF0000"/>
                </a:solidFill>
                <a:effectLst/>
                <a:uLnTx/>
                <a:uFillTx/>
                <a:latin typeface="Calibri"/>
                <a:ea typeface="+mn-ea"/>
                <a:cs typeface="Times New Roman" pitchFamily="18" charset="0"/>
              </a:rPr>
              <a:t>Which of the undirected graphs in Figure below have an Euler circuit? Of those that do not, which have an Euler path?</a:t>
            </a:r>
          </a:p>
          <a:p>
            <a:pPr marL="342900" marR="0" lvl="0" indent="-342900" algn="l" defTabSz="914400" rtl="0" eaLnBrk="1" fontAlgn="base" latinLnBrk="0" hangingPunct="1">
              <a:lnSpc>
                <a:spcPct val="100000"/>
              </a:lnSpc>
              <a:spcBef>
                <a:spcPct val="20000"/>
              </a:spcBef>
              <a:spcAft>
                <a:spcPct val="0"/>
              </a:spcAft>
              <a:buClrTx/>
              <a:buSzTx/>
              <a:buFont typeface="Arial" pitchFamily="34" charset="0"/>
              <a:buChar char="•"/>
              <a:tabLst/>
              <a:defRPr/>
            </a:pPr>
            <a:endParaRPr kumimoji="0" lang="en-US" sz="2400" b="0" i="0" u="none" strike="noStrike" kern="1200" cap="none" spc="0" normalizeH="0" baseline="0" noProof="0" dirty="0">
              <a:ln>
                <a:noFill/>
              </a:ln>
              <a:solidFill>
                <a:sysClr val="windowText" lastClr="000000"/>
              </a:solidFill>
              <a:effectLst/>
              <a:uLnTx/>
              <a:uFillTx/>
              <a:latin typeface="Calibri"/>
              <a:ea typeface="+mn-ea"/>
              <a:cs typeface="+mn-cs"/>
            </a:endParaRPr>
          </a:p>
        </p:txBody>
      </p:sp>
      <p:pic>
        <p:nvPicPr>
          <p:cNvPr id="12" name="Picture 2">
            <a:extLst>
              <a:ext uri="{FF2B5EF4-FFF2-40B4-BE49-F238E27FC236}">
                <a16:creationId xmlns:a16="http://schemas.microsoft.com/office/drawing/2014/main" id="{E474A2B2-510C-42B5-86D8-41E3BD4859CA}"/>
              </a:ext>
            </a:extLst>
          </p:cNvPr>
          <p:cNvPicPr>
            <a:picLocks noChangeAspect="1" noChangeArrowheads="1"/>
          </p:cNvPicPr>
          <p:nvPr/>
        </p:nvPicPr>
        <p:blipFill>
          <a:blip r:embed="rId2" cstate="print"/>
          <a:srcRect/>
          <a:stretch>
            <a:fillRect/>
          </a:stretch>
        </p:blipFill>
        <p:spPr bwMode="auto">
          <a:xfrm>
            <a:off x="685800" y="3429000"/>
            <a:ext cx="8001000" cy="2590800"/>
          </a:xfrm>
          <a:prstGeom prst="rect">
            <a:avLst/>
          </a:prstGeom>
          <a:noFill/>
          <a:ln w="9525">
            <a:noFill/>
            <a:miter lim="800000"/>
            <a:headEnd/>
            <a:tailEnd/>
          </a:ln>
        </p:spPr>
      </p:pic>
    </p:spTree>
    <p:extLst>
      <p:ext uri="{BB962C8B-B14F-4D97-AF65-F5344CB8AC3E}">
        <p14:creationId xmlns:p14="http://schemas.microsoft.com/office/powerpoint/2010/main" val="1578266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Euler paths and circuits</a:t>
            </a:r>
          </a:p>
        </p:txBody>
      </p:sp>
      <p:sp>
        <p:nvSpPr>
          <p:cNvPr id="4" name="Content Placeholder 2">
            <a:extLst>
              <a:ext uri="{FF2B5EF4-FFF2-40B4-BE49-F238E27FC236}">
                <a16:creationId xmlns:a16="http://schemas.microsoft.com/office/drawing/2014/main" id="{6D0B8380-0996-4948-8868-43D205E506B2}"/>
              </a:ext>
            </a:extLst>
          </p:cNvPr>
          <p:cNvSpPr txBox="1">
            <a:spLocks/>
          </p:cNvSpPr>
          <p:nvPr/>
        </p:nvSpPr>
        <p:spPr bwMode="auto">
          <a:xfrm>
            <a:off x="299259" y="2194560"/>
            <a:ext cx="8562108" cy="393160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 typeface="Wingdings" pitchFamily="2" charset="2"/>
              <a:buChar char="§"/>
              <a:tabLst/>
              <a:defRPr/>
            </a:pPr>
            <a:r>
              <a:rPr kumimoji="0" lang="en-US" altLang="ja-JP" sz="2800" b="1" i="0" u="sng" strike="noStrike" kern="1200" cap="none" spc="0" normalizeH="0" baseline="0" noProof="0">
                <a:ln>
                  <a:noFill/>
                </a:ln>
                <a:solidFill>
                  <a:srgbClr val="0000FF"/>
                </a:solidFill>
                <a:effectLst/>
                <a:uLnTx/>
                <a:uFillTx/>
                <a:latin typeface="Calibri"/>
                <a:ea typeface="ＭＳ Ｐゴシック" panose="020B0600070205080204" pitchFamily="34" charset="-128"/>
                <a:cs typeface="+mn-cs"/>
              </a:rPr>
              <a:t>Solution</a:t>
            </a:r>
            <a:r>
              <a:rPr kumimoji="0" lang="en-US" altLang="ja-JP" sz="2800" b="1" i="0" u="sng"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 </a:t>
            </a:r>
          </a:p>
          <a:p>
            <a:pPr marL="342900" marR="0" lvl="0" indent="-342900" algn="l" defTabSz="914400" rtl="0" eaLnBrk="1" fontAlgn="base" latinLnBrk="0" hangingPunct="1">
              <a:lnSpc>
                <a:spcPct val="100000"/>
              </a:lnSpc>
              <a:spcBef>
                <a:spcPct val="20000"/>
              </a:spcBef>
              <a:spcAft>
                <a:spcPct val="0"/>
              </a:spcAft>
              <a:buClrTx/>
              <a:buSzTx/>
              <a:buFont typeface="Wingdings" pitchFamily="2" charset="2"/>
              <a:buChar char="§"/>
              <a:tabLst/>
              <a:defRPr/>
            </a:pPr>
            <a:r>
              <a:rPr kumimoji="0" lang="en-US" altLang="ja-JP" sz="2800" b="0"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The graph </a:t>
            </a:r>
            <a:r>
              <a:rPr kumimoji="0" lang="en-US" altLang="ja-JP" sz="2800" b="0" i="0" u="none" strike="noStrike" kern="1200" cap="none" spc="0" normalizeH="0" baseline="0" noProof="0">
                <a:ln>
                  <a:noFill/>
                </a:ln>
                <a:solidFill>
                  <a:srgbClr val="0000FF"/>
                </a:solidFill>
                <a:effectLst/>
                <a:uLnTx/>
                <a:uFillTx/>
                <a:latin typeface="Calibri"/>
                <a:ea typeface="ＭＳ Ｐゴシック" panose="020B0600070205080204" pitchFamily="34" charset="-128"/>
                <a:cs typeface="+mn-cs"/>
              </a:rPr>
              <a:t>G1 has an Euler circuit</a:t>
            </a:r>
            <a:r>
              <a:rPr kumimoji="0" lang="en-US" altLang="ja-JP" sz="2800" b="0"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 for example, </a:t>
            </a:r>
            <a:r>
              <a:rPr kumimoji="0" lang="en-US" altLang="ja-JP" sz="2800" b="0" i="0" u="none" strike="noStrike" kern="1200" cap="none" spc="0" normalizeH="0" baseline="0" noProof="0">
                <a:ln>
                  <a:noFill/>
                </a:ln>
                <a:solidFill>
                  <a:srgbClr val="0000FF"/>
                </a:solidFill>
                <a:effectLst/>
                <a:uLnTx/>
                <a:uFillTx/>
                <a:latin typeface="Calibri"/>
                <a:ea typeface="ＭＳ Ｐゴシック" panose="020B0600070205080204" pitchFamily="34" charset="-128"/>
                <a:cs typeface="+mn-cs"/>
              </a:rPr>
              <a:t>a, e, c, d, e, b, a.</a:t>
            </a:r>
          </a:p>
          <a:p>
            <a:pPr marL="342900" marR="0" lvl="0" indent="-342900" algn="l" defTabSz="914400" rtl="0" eaLnBrk="1" fontAlgn="base" latinLnBrk="0" hangingPunct="1">
              <a:lnSpc>
                <a:spcPct val="100000"/>
              </a:lnSpc>
              <a:spcBef>
                <a:spcPct val="20000"/>
              </a:spcBef>
              <a:spcAft>
                <a:spcPct val="0"/>
              </a:spcAft>
              <a:buClrTx/>
              <a:buSzTx/>
              <a:buFont typeface="Wingdings" pitchFamily="2" charset="2"/>
              <a:buChar char="§"/>
              <a:tabLst/>
              <a:defRPr/>
            </a:pPr>
            <a:r>
              <a:rPr kumimoji="0" lang="en-US" altLang="ja-JP" sz="2800" b="0"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 </a:t>
            </a:r>
            <a:r>
              <a:rPr kumimoji="0" lang="en-US" altLang="ja-JP" sz="2800" b="0" i="0" u="none" strike="noStrike" kern="1200" cap="none" spc="0" normalizeH="0" baseline="0" noProof="0">
                <a:ln>
                  <a:noFill/>
                </a:ln>
                <a:solidFill>
                  <a:srgbClr val="FF0000"/>
                </a:solidFill>
                <a:effectLst/>
                <a:uLnTx/>
                <a:uFillTx/>
                <a:latin typeface="Calibri"/>
                <a:ea typeface="ＭＳ Ｐゴシック" panose="020B0600070205080204" pitchFamily="34" charset="-128"/>
                <a:cs typeface="+mn-cs"/>
              </a:rPr>
              <a:t>Neither of the graphs G2 or G3 has an Euler circuit. </a:t>
            </a:r>
          </a:p>
          <a:p>
            <a:pPr marL="342900" marR="0" lvl="0" indent="-342900" algn="l" defTabSz="914400" rtl="0" eaLnBrk="1" fontAlgn="base" latinLnBrk="0" hangingPunct="1">
              <a:lnSpc>
                <a:spcPct val="100000"/>
              </a:lnSpc>
              <a:spcBef>
                <a:spcPct val="20000"/>
              </a:spcBef>
              <a:spcAft>
                <a:spcPct val="0"/>
              </a:spcAft>
              <a:buClrTx/>
              <a:buSzTx/>
              <a:buFont typeface="Wingdings" pitchFamily="2" charset="2"/>
              <a:buChar char="§"/>
              <a:tabLst/>
              <a:defRPr/>
            </a:pPr>
            <a:r>
              <a:rPr kumimoji="0" lang="en-US" altLang="ja-JP" sz="2800" b="0"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However, </a:t>
            </a:r>
            <a:r>
              <a:rPr kumimoji="0" lang="en-US" altLang="ja-JP" sz="2800" b="0" i="0" u="none" strike="noStrike" kern="1200" cap="none" spc="0" normalizeH="0" baseline="0" noProof="0">
                <a:ln>
                  <a:noFill/>
                </a:ln>
                <a:solidFill>
                  <a:srgbClr val="0000FF"/>
                </a:solidFill>
                <a:effectLst/>
                <a:uLnTx/>
                <a:uFillTx/>
                <a:latin typeface="Calibri"/>
                <a:ea typeface="ＭＳ Ｐゴシック" panose="020B0600070205080204" pitchFamily="34" charset="-128"/>
                <a:cs typeface="+mn-cs"/>
              </a:rPr>
              <a:t>G3 has an Euler path, </a:t>
            </a:r>
            <a:r>
              <a:rPr kumimoji="0" lang="en-US" altLang="ja-JP" sz="2800" b="0"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namely, </a:t>
            </a:r>
            <a:r>
              <a:rPr kumimoji="0" lang="en-US" altLang="ja-JP" sz="2800" b="0" i="0" u="none" strike="noStrike" kern="1200" cap="none" spc="0" normalizeH="0" baseline="0" noProof="0">
                <a:ln>
                  <a:noFill/>
                </a:ln>
                <a:solidFill>
                  <a:srgbClr val="0000FF"/>
                </a:solidFill>
                <a:effectLst/>
                <a:uLnTx/>
                <a:uFillTx/>
                <a:latin typeface="Calibri"/>
                <a:ea typeface="ＭＳ Ｐゴシック" panose="020B0600070205080204" pitchFamily="34" charset="-128"/>
                <a:cs typeface="+mn-cs"/>
              </a:rPr>
              <a:t>a, c, d, e, b, d, a, b</a:t>
            </a:r>
            <a:r>
              <a:rPr kumimoji="0" lang="en-US" altLang="ja-JP" sz="2800" b="0"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 </a:t>
            </a:r>
            <a:r>
              <a:rPr kumimoji="0" lang="en-US" altLang="ja-JP" sz="2800" b="0" i="0" u="none" strike="noStrike" kern="1200" cap="none" spc="0" normalizeH="0" baseline="0" noProof="0">
                <a:ln>
                  <a:noFill/>
                </a:ln>
                <a:solidFill>
                  <a:srgbClr val="FF0000"/>
                </a:solidFill>
                <a:effectLst/>
                <a:uLnTx/>
                <a:uFillTx/>
                <a:latin typeface="Calibri"/>
                <a:ea typeface="ＭＳ Ｐゴシック" panose="020B0600070205080204" pitchFamily="34" charset="-128"/>
                <a:cs typeface="+mn-cs"/>
              </a:rPr>
              <a:t>G2 does not have an Euler path.</a:t>
            </a:r>
            <a:endParaRPr kumimoji="0" lang="en-US" sz="2800" b="0" i="0" u="none" strike="noStrike" kern="1200" cap="none" spc="0" normalizeH="0" baseline="0" noProof="0" dirty="0">
              <a:ln>
                <a:noFill/>
              </a:ln>
              <a:solidFill>
                <a:srgbClr val="FF0000"/>
              </a:solidFill>
              <a:effectLst/>
              <a:uLnTx/>
              <a:uFillTx/>
              <a:latin typeface="Calibri"/>
              <a:ea typeface="+mn-ea"/>
              <a:cs typeface="+mn-cs"/>
            </a:endParaRPr>
          </a:p>
        </p:txBody>
      </p:sp>
    </p:spTree>
    <p:extLst>
      <p:ext uri="{BB962C8B-B14F-4D97-AF65-F5344CB8AC3E}">
        <p14:creationId xmlns:p14="http://schemas.microsoft.com/office/powerpoint/2010/main" val="2187159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fontScale="925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Determining Euler Circuit/Path in Direction Graph</a:t>
            </a:r>
          </a:p>
        </p:txBody>
      </p:sp>
      <p:sp>
        <p:nvSpPr>
          <p:cNvPr id="3" name="Rectangle 2">
            <a:extLst>
              <a:ext uri="{FF2B5EF4-FFF2-40B4-BE49-F238E27FC236}">
                <a16:creationId xmlns:a16="http://schemas.microsoft.com/office/drawing/2014/main" id="{982C56B7-50BC-7D4B-85BF-E126DD3C6E7E}"/>
              </a:ext>
            </a:extLst>
          </p:cNvPr>
          <p:cNvSpPr/>
          <p:nvPr/>
        </p:nvSpPr>
        <p:spPr>
          <a:xfrm>
            <a:off x="356760" y="2197893"/>
            <a:ext cx="8330041" cy="2462213"/>
          </a:xfrm>
          <a:prstGeom prst="rect">
            <a:avLst/>
          </a:prstGeom>
        </p:spPr>
        <p:txBody>
          <a:bodyPr wrap="square">
            <a:spAutoFit/>
          </a:bodyPr>
          <a:lstStyle/>
          <a:p>
            <a:r>
              <a:rPr lang="en-US" sz="2200" b="1" dirty="0">
                <a:solidFill>
                  <a:srgbClr val="273239"/>
                </a:solidFill>
                <a:latin typeface="Arial" panose="020B0604020202020204" pitchFamily="34" charset="0"/>
                <a:cs typeface="Arial" panose="020B0604020202020204" pitchFamily="34" charset="0"/>
              </a:rPr>
              <a:t>How to check if a directed graph is Eulerian?</a:t>
            </a:r>
            <a:r>
              <a:rPr lang="en-US" sz="2200" dirty="0">
                <a:solidFill>
                  <a:srgbClr val="273239"/>
                </a:solidFill>
                <a:latin typeface="Arial" panose="020B0604020202020204" pitchFamily="34" charset="0"/>
                <a:cs typeface="Arial" panose="020B0604020202020204" pitchFamily="34" charset="0"/>
              </a:rPr>
              <a:t> </a:t>
            </a:r>
            <a:br>
              <a:rPr lang="en-US" sz="2200" dirty="0">
                <a:latin typeface="Arial" panose="020B0604020202020204" pitchFamily="34" charset="0"/>
                <a:cs typeface="Arial" panose="020B0604020202020204" pitchFamily="34" charset="0"/>
              </a:rPr>
            </a:br>
            <a:r>
              <a:rPr lang="en-US" sz="2200" dirty="0">
                <a:solidFill>
                  <a:srgbClr val="273239"/>
                </a:solidFill>
                <a:latin typeface="Arial" panose="020B0604020202020204" pitchFamily="34" charset="0"/>
                <a:cs typeface="Arial" panose="020B0604020202020204" pitchFamily="34" charset="0"/>
              </a:rPr>
              <a:t>A directed graph has an Eulerian cycle if following conditions are true  </a:t>
            </a:r>
            <a:br>
              <a:rPr lang="en-US" sz="2200" dirty="0">
                <a:latin typeface="Arial" panose="020B0604020202020204" pitchFamily="34" charset="0"/>
                <a:cs typeface="Arial" panose="020B0604020202020204" pitchFamily="34" charset="0"/>
              </a:rPr>
            </a:br>
            <a:r>
              <a:rPr lang="en-US" sz="2200" dirty="0">
                <a:solidFill>
                  <a:srgbClr val="273239"/>
                </a:solidFill>
                <a:latin typeface="Arial" panose="020B0604020202020204" pitchFamily="34" charset="0"/>
                <a:cs typeface="Arial" panose="020B0604020202020204" pitchFamily="34" charset="0"/>
              </a:rPr>
              <a:t>1) All vertices with nonzero degree belong to a single </a:t>
            </a:r>
            <a:r>
              <a:rPr lang="en-US" sz="2200" u="sng" dirty="0">
                <a:solidFill>
                  <a:srgbClr val="EC4E20"/>
                </a:solidFill>
                <a:latin typeface="Arial" panose="020B0604020202020204" pitchFamily="34" charset="0"/>
                <a:cs typeface="Arial" panose="020B0604020202020204" pitchFamily="34" charset="0"/>
                <a:hlinkClick r:id="rId2"/>
              </a:rPr>
              <a:t>strongly connected component</a:t>
            </a:r>
            <a:br>
              <a:rPr lang="en-US" sz="2200" u="sng" dirty="0">
                <a:solidFill>
                  <a:srgbClr val="273239"/>
                </a:solidFill>
                <a:latin typeface="Arial" panose="020B0604020202020204" pitchFamily="34" charset="0"/>
                <a:cs typeface="Arial" panose="020B0604020202020204" pitchFamily="34" charset="0"/>
              </a:rPr>
            </a:br>
            <a:br>
              <a:rPr lang="en-US" sz="2200" dirty="0">
                <a:latin typeface="Arial" panose="020B0604020202020204" pitchFamily="34" charset="0"/>
                <a:cs typeface="Arial" panose="020B0604020202020204" pitchFamily="34" charset="0"/>
              </a:rPr>
            </a:br>
            <a:r>
              <a:rPr lang="en-US" sz="2200" dirty="0">
                <a:solidFill>
                  <a:srgbClr val="273239"/>
                </a:solidFill>
                <a:latin typeface="Arial" panose="020B0604020202020204" pitchFamily="34" charset="0"/>
                <a:cs typeface="Arial" panose="020B0604020202020204" pitchFamily="34" charset="0"/>
              </a:rPr>
              <a:t>2) In degree is equal to the out degree for every vertex.</a:t>
            </a:r>
            <a:endParaRPr lang="en-US"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237621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Determining Euler Circuit/Path: </a:t>
            </a:r>
            <a:r>
              <a:rPr lang="en-US" sz="2600" b="1" dirty="0">
                <a:solidFill>
                  <a:srgbClr val="FF0000"/>
                </a:solidFill>
              </a:rPr>
              <a:t>Example</a:t>
            </a:r>
          </a:p>
          <a:p>
            <a:pPr marL="0" indent="0">
              <a:buNone/>
            </a:pPr>
            <a:endParaRPr lang="en-US" sz="2600" b="1" dirty="0">
              <a:solidFill>
                <a:schemeClr val="tx1"/>
              </a:solidFill>
            </a:endParaRPr>
          </a:p>
        </p:txBody>
      </p:sp>
      <p:sp>
        <p:nvSpPr>
          <p:cNvPr id="11" name="Content Placeholder 2">
            <a:extLst>
              <a:ext uri="{FF2B5EF4-FFF2-40B4-BE49-F238E27FC236}">
                <a16:creationId xmlns:a16="http://schemas.microsoft.com/office/drawing/2014/main" id="{10C5A043-0CAC-415E-96A5-6CC71E33ECB2}"/>
              </a:ext>
            </a:extLst>
          </p:cNvPr>
          <p:cNvSpPr txBox="1">
            <a:spLocks/>
          </p:cNvSpPr>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kumimoji="0" lang="en-US" sz="2400" b="1" i="0" u="none" strike="noStrike" kern="1200" cap="none" spc="0" normalizeH="0" baseline="0" noProof="0" dirty="0">
                <a:ln>
                  <a:noFill/>
                </a:ln>
                <a:solidFill>
                  <a:srgbClr val="FF0000"/>
                </a:solidFill>
                <a:effectLst/>
                <a:uLnTx/>
                <a:uFillTx/>
                <a:latin typeface="Calibri"/>
                <a:ea typeface="+mn-ea"/>
                <a:cs typeface="+mn-cs"/>
              </a:rPr>
              <a:t>EXAMPLE 2 (p.572): </a:t>
            </a:r>
            <a:r>
              <a:rPr kumimoji="0" lang="en-US" sz="2400" b="0" i="0" u="none" strike="noStrike" kern="1200" cap="none" spc="0" normalizeH="0" baseline="0" noProof="0" dirty="0">
                <a:ln>
                  <a:noFill/>
                </a:ln>
                <a:solidFill>
                  <a:srgbClr val="FF0000"/>
                </a:solidFill>
                <a:effectLst/>
                <a:uLnTx/>
                <a:uFillTx/>
                <a:latin typeface="Calibri"/>
                <a:ea typeface="+mn-ea"/>
                <a:cs typeface="Times New Roman" pitchFamily="18" charset="0"/>
              </a:rPr>
              <a:t>Which of the directed graphs in Figure 4 have an Euler circuit? Of those that do not, which have an Euler path?</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endParaRPr kumimoji="0" lang="en-US" sz="2400" b="0" i="0" u="none" strike="noStrike" kern="1200" cap="none" spc="0" normalizeH="0" baseline="0" noProof="0" dirty="0">
              <a:ln>
                <a:noFill/>
              </a:ln>
              <a:solidFill>
                <a:srgbClr val="0000FF"/>
              </a:solidFill>
              <a:effectLst/>
              <a:uLnTx/>
              <a:uFillTx/>
              <a:latin typeface="Calibri"/>
              <a:ea typeface="+mn-ea"/>
              <a:cs typeface="Times New Roman" pitchFamily="18" charset="0"/>
            </a:endParaRP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endParaRPr kumimoji="0" lang="en-US" sz="2400" b="0" i="0" u="none" strike="noStrike" kern="1200" cap="none" spc="0" normalizeH="0" baseline="0" noProof="0" dirty="0">
              <a:ln>
                <a:noFill/>
              </a:ln>
              <a:solidFill>
                <a:srgbClr val="0000FF"/>
              </a:solidFill>
              <a:effectLst/>
              <a:uLnTx/>
              <a:uFillTx/>
              <a:latin typeface="Calibri"/>
              <a:ea typeface="+mn-ea"/>
              <a:cs typeface="+mn-cs"/>
            </a:endParaRPr>
          </a:p>
        </p:txBody>
      </p:sp>
      <p:pic>
        <p:nvPicPr>
          <p:cNvPr id="13" name="Picture 2">
            <a:extLst>
              <a:ext uri="{FF2B5EF4-FFF2-40B4-BE49-F238E27FC236}">
                <a16:creationId xmlns:a16="http://schemas.microsoft.com/office/drawing/2014/main" id="{285779DC-7BE5-49DF-9D9F-237DE8E2D7C9}"/>
              </a:ext>
            </a:extLst>
          </p:cNvPr>
          <p:cNvPicPr>
            <a:picLocks noChangeAspect="1" noChangeArrowheads="1"/>
          </p:cNvPicPr>
          <p:nvPr/>
        </p:nvPicPr>
        <p:blipFill>
          <a:blip r:embed="rId2" cstate="print"/>
          <a:srcRect/>
          <a:stretch>
            <a:fillRect/>
          </a:stretch>
        </p:blipFill>
        <p:spPr bwMode="auto">
          <a:xfrm>
            <a:off x="914400" y="3048000"/>
            <a:ext cx="6794500" cy="2951163"/>
          </a:xfrm>
          <a:prstGeom prst="rect">
            <a:avLst/>
          </a:prstGeom>
          <a:noFill/>
          <a:ln w="9525">
            <a:noFill/>
            <a:miter lim="800000"/>
            <a:headEnd/>
            <a:tailEnd/>
          </a:ln>
        </p:spPr>
      </p:pic>
      <p:sp>
        <p:nvSpPr>
          <p:cNvPr id="14" name="TextBox 5">
            <a:extLst>
              <a:ext uri="{FF2B5EF4-FFF2-40B4-BE49-F238E27FC236}">
                <a16:creationId xmlns:a16="http://schemas.microsoft.com/office/drawing/2014/main" id="{8BFC3D4D-AFF7-460F-8FD0-D96F15BD620F}"/>
              </a:ext>
            </a:extLst>
          </p:cNvPr>
          <p:cNvSpPr txBox="1">
            <a:spLocks noChangeArrowheads="1"/>
          </p:cNvSpPr>
          <p:nvPr/>
        </p:nvSpPr>
        <p:spPr bwMode="auto">
          <a:xfrm>
            <a:off x="3495675" y="6019800"/>
            <a:ext cx="1381125" cy="461963"/>
          </a:xfrm>
          <a:prstGeom prst="rect">
            <a:avLst/>
          </a:prstGeom>
          <a:noFill/>
          <a:ln w="9525">
            <a:noFill/>
            <a:miter lim="800000"/>
            <a:headEnd/>
            <a:tailEnd/>
          </a:ln>
        </p:spPr>
        <p:txBody>
          <a:bodyPr wrap="none">
            <a:spAutoFit/>
          </a:bodyPr>
          <a:lstStyle/>
          <a:p>
            <a:pPr fontAlgn="base">
              <a:spcBef>
                <a:spcPct val="0"/>
              </a:spcBef>
              <a:spcAft>
                <a:spcPct val="0"/>
              </a:spcAft>
            </a:pPr>
            <a:r>
              <a:rPr lang="en-US" sz="2400" b="1" dirty="0">
                <a:solidFill>
                  <a:srgbClr val="FF0000"/>
                </a:solidFill>
                <a:latin typeface="Arial" pitchFamily="34" charset="0"/>
                <a:cs typeface="Arial" pitchFamily="34" charset="0"/>
              </a:rPr>
              <a:t>Figure 4</a:t>
            </a:r>
          </a:p>
        </p:txBody>
      </p:sp>
    </p:spTree>
    <p:extLst>
      <p:ext uri="{BB962C8B-B14F-4D97-AF65-F5344CB8AC3E}">
        <p14:creationId xmlns:p14="http://schemas.microsoft.com/office/powerpoint/2010/main" val="35984205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Determining Euler Circuit/Path: </a:t>
            </a:r>
            <a:r>
              <a:rPr lang="en-US" sz="2600" b="1" dirty="0">
                <a:solidFill>
                  <a:srgbClr val="FF0000"/>
                </a:solidFill>
              </a:rPr>
              <a:t>Example</a:t>
            </a:r>
          </a:p>
          <a:p>
            <a:pPr marL="0" indent="0">
              <a:buNone/>
            </a:pPr>
            <a:endParaRPr lang="en-US" sz="2600" b="1" dirty="0">
              <a:solidFill>
                <a:schemeClr val="tx1"/>
              </a:solidFill>
            </a:endParaRPr>
          </a:p>
        </p:txBody>
      </p:sp>
      <p:sp>
        <p:nvSpPr>
          <p:cNvPr id="7" name="Content Placeholder 2">
            <a:extLst>
              <a:ext uri="{FF2B5EF4-FFF2-40B4-BE49-F238E27FC236}">
                <a16:creationId xmlns:a16="http://schemas.microsoft.com/office/drawing/2014/main" id="{799C2565-8377-4F83-A359-B351D8D860B8}"/>
              </a:ext>
            </a:extLst>
          </p:cNvPr>
          <p:cNvSpPr txBox="1">
            <a:spLocks/>
          </p:cNvSpPr>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342900" algn="l" defTabSz="914400" rtl="0" eaLnBrk="0" fontAlgn="base" latinLnBrk="0" hangingPunct="0">
              <a:lnSpc>
                <a:spcPct val="100000"/>
              </a:lnSpc>
              <a:spcBef>
                <a:spcPct val="20000"/>
              </a:spcBef>
              <a:spcAft>
                <a:spcPct val="0"/>
              </a:spcAft>
              <a:buClrTx/>
              <a:buSzTx/>
              <a:buFont typeface="Wingdings" pitchFamily="2" charset="2"/>
              <a:buChar char="§"/>
              <a:tabLst/>
              <a:defRPr/>
            </a:pPr>
            <a:r>
              <a:rPr kumimoji="0" lang="en-US" sz="2800" b="0" i="0" u="sng" strike="noStrike" kern="1200" cap="none" spc="0" normalizeH="0" baseline="0" noProof="0">
                <a:ln>
                  <a:noFill/>
                </a:ln>
                <a:solidFill>
                  <a:srgbClr val="0000FF"/>
                </a:solidFill>
                <a:effectLst/>
                <a:uLnTx/>
                <a:uFillTx/>
                <a:latin typeface="Calibri"/>
                <a:ea typeface="+mn-ea"/>
                <a:cs typeface="Times New Roman" pitchFamily="18" charset="0"/>
              </a:rPr>
              <a:t>Solution</a:t>
            </a:r>
            <a:r>
              <a:rPr kumimoji="0" lang="en-US" sz="2800" b="0" i="0" u="sng" strike="noStrike" kern="1200" cap="none" spc="0" normalizeH="0" baseline="0" noProof="0">
                <a:ln>
                  <a:noFill/>
                </a:ln>
                <a:solidFill>
                  <a:sysClr val="windowText" lastClr="000000"/>
                </a:solidFill>
                <a:effectLst/>
                <a:uLnTx/>
                <a:uFillTx/>
                <a:latin typeface="Calibri"/>
                <a:ea typeface="+mn-ea"/>
                <a:cs typeface="Times New Roman" pitchFamily="18" charset="0"/>
              </a:rPr>
              <a:t>: </a:t>
            </a:r>
          </a:p>
          <a:p>
            <a:pPr marL="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The graph </a:t>
            </a:r>
            <a:r>
              <a:rPr kumimoji="0" lang="en-US" sz="2800" b="0" i="0" u="none" strike="noStrike" kern="1200" cap="none" spc="0" normalizeH="0" baseline="0" noProof="0">
                <a:ln>
                  <a:noFill/>
                </a:ln>
                <a:solidFill>
                  <a:srgbClr val="0000FF"/>
                </a:solidFill>
                <a:effectLst/>
                <a:uLnTx/>
                <a:uFillTx/>
                <a:latin typeface="Calibri"/>
                <a:ea typeface="+mn-ea"/>
                <a:cs typeface="Times New Roman" pitchFamily="18" charset="0"/>
              </a:rPr>
              <a:t>H</a:t>
            </a:r>
            <a:r>
              <a:rPr kumimoji="0" lang="en-US" sz="2800" b="0" i="0" u="none" strike="noStrike" kern="1200" cap="none" spc="0" normalizeH="0" baseline="-25000" noProof="0">
                <a:ln>
                  <a:noFill/>
                </a:ln>
                <a:solidFill>
                  <a:srgbClr val="0000FF"/>
                </a:solidFill>
                <a:effectLst/>
                <a:uLnTx/>
                <a:uFillTx/>
                <a:latin typeface="Calibri"/>
                <a:ea typeface="+mn-ea"/>
                <a:cs typeface="Times New Roman" pitchFamily="18" charset="0"/>
              </a:rPr>
              <a:t>2</a:t>
            </a:r>
            <a:r>
              <a:rPr kumimoji="0" lang="en-US" sz="2800" b="0" i="0" u="none" strike="noStrike" kern="1200" cap="none" spc="0" normalizeH="0" baseline="0" noProof="0">
                <a:ln>
                  <a:noFill/>
                </a:ln>
                <a:solidFill>
                  <a:srgbClr val="0000FF"/>
                </a:solidFill>
                <a:effectLst/>
                <a:uLnTx/>
                <a:uFillTx/>
                <a:latin typeface="Calibri"/>
                <a:ea typeface="+mn-ea"/>
                <a:cs typeface="Times New Roman" pitchFamily="18" charset="0"/>
              </a:rPr>
              <a:t> has an Euler </a:t>
            </a:r>
            <a:r>
              <a:rPr kumimoji="0" lang="en-US" sz="2800" b="1" i="0" u="none" strike="noStrike" kern="1200" cap="none" spc="0" normalizeH="0" baseline="0" noProof="0">
                <a:ln>
                  <a:noFill/>
                </a:ln>
                <a:solidFill>
                  <a:srgbClr val="0000FF"/>
                </a:solidFill>
                <a:effectLst/>
                <a:uLnTx/>
                <a:uFillTx/>
                <a:latin typeface="Calibri"/>
                <a:ea typeface="+mn-ea"/>
                <a:cs typeface="Times New Roman" pitchFamily="18" charset="0"/>
              </a:rPr>
              <a:t>circuit</a:t>
            </a:r>
            <a:r>
              <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 for example, </a:t>
            </a:r>
          </a:p>
          <a:p>
            <a:pPr marL="0" marR="0" lvl="0" indent="-342900" algn="l"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     a, g, c, b, g, e, d, f, a.</a:t>
            </a:r>
          </a:p>
          <a:p>
            <a:pPr marL="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b="0" i="0" u="none" strike="noStrike" kern="1200" cap="none" spc="0" normalizeH="0" baseline="0" noProof="0">
                <a:ln>
                  <a:noFill/>
                </a:ln>
                <a:solidFill>
                  <a:srgbClr val="0000FF"/>
                </a:solidFill>
                <a:effectLst/>
                <a:uLnTx/>
                <a:uFillTx/>
                <a:latin typeface="Calibri"/>
                <a:ea typeface="+mn-ea"/>
                <a:cs typeface="Times New Roman" pitchFamily="18" charset="0"/>
              </a:rPr>
              <a:t>Neither H</a:t>
            </a:r>
            <a:r>
              <a:rPr kumimoji="0" lang="en-US" sz="2800" b="0" i="0" u="none" strike="noStrike" kern="1200" cap="none" spc="0" normalizeH="0" baseline="-25000" noProof="0">
                <a:ln>
                  <a:noFill/>
                </a:ln>
                <a:solidFill>
                  <a:srgbClr val="0000FF"/>
                </a:solidFill>
                <a:effectLst/>
                <a:uLnTx/>
                <a:uFillTx/>
                <a:latin typeface="Calibri"/>
                <a:ea typeface="+mn-ea"/>
                <a:cs typeface="Times New Roman" pitchFamily="18" charset="0"/>
              </a:rPr>
              <a:t>1</a:t>
            </a:r>
            <a:r>
              <a:rPr kumimoji="0" lang="en-US" sz="2800" b="0" i="0" u="none" strike="noStrike" kern="1200" cap="none" spc="0" normalizeH="0" baseline="0" noProof="0">
                <a:ln>
                  <a:noFill/>
                </a:ln>
                <a:solidFill>
                  <a:srgbClr val="0000FF"/>
                </a:solidFill>
                <a:effectLst/>
                <a:uLnTx/>
                <a:uFillTx/>
                <a:latin typeface="Calibri"/>
                <a:ea typeface="+mn-ea"/>
                <a:cs typeface="Times New Roman" pitchFamily="18" charset="0"/>
              </a:rPr>
              <a:t>nor H</a:t>
            </a:r>
            <a:r>
              <a:rPr kumimoji="0" lang="en-US" sz="2800" b="0" i="0" u="none" strike="noStrike" kern="1200" cap="none" spc="0" normalizeH="0" baseline="-25000" noProof="0">
                <a:ln>
                  <a:noFill/>
                </a:ln>
                <a:solidFill>
                  <a:srgbClr val="0000FF"/>
                </a:solidFill>
                <a:effectLst/>
                <a:uLnTx/>
                <a:uFillTx/>
                <a:latin typeface="Calibri"/>
                <a:ea typeface="+mn-ea"/>
                <a:cs typeface="Times New Roman" pitchFamily="18" charset="0"/>
              </a:rPr>
              <a:t>3</a:t>
            </a:r>
            <a:r>
              <a:rPr kumimoji="0" lang="en-US" sz="2800" b="0" i="0" u="none" strike="noStrike" kern="1200" cap="none" spc="0" normalizeH="0" baseline="0" noProof="0">
                <a:ln>
                  <a:noFill/>
                </a:ln>
                <a:solidFill>
                  <a:srgbClr val="0000FF"/>
                </a:solidFill>
                <a:effectLst/>
                <a:uLnTx/>
                <a:uFillTx/>
                <a:latin typeface="Calibri"/>
                <a:ea typeface="+mn-ea"/>
                <a:cs typeface="Times New Roman" pitchFamily="18" charset="0"/>
              </a:rPr>
              <a:t> has an Euler </a:t>
            </a:r>
            <a:r>
              <a:rPr kumimoji="0" lang="en-US" sz="2800" b="1" i="0" u="none" strike="noStrike" kern="1200" cap="none" spc="0" normalizeH="0" baseline="0" noProof="0">
                <a:ln>
                  <a:noFill/>
                </a:ln>
                <a:solidFill>
                  <a:srgbClr val="0000FF"/>
                </a:solidFill>
                <a:effectLst/>
                <a:uLnTx/>
                <a:uFillTx/>
                <a:latin typeface="Calibri"/>
                <a:ea typeface="+mn-ea"/>
                <a:cs typeface="Times New Roman" pitchFamily="18" charset="0"/>
              </a:rPr>
              <a:t>circuit</a:t>
            </a:r>
          </a:p>
          <a:p>
            <a:pPr marL="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b="0" i="0" u="none" strike="noStrike" kern="1200" cap="none" spc="0" normalizeH="0" baseline="0" noProof="0">
                <a:ln>
                  <a:noFill/>
                </a:ln>
                <a:solidFill>
                  <a:srgbClr val="0000FF"/>
                </a:solidFill>
                <a:effectLst/>
                <a:uLnTx/>
                <a:uFillTx/>
                <a:latin typeface="Calibri"/>
                <a:ea typeface="+mn-ea"/>
                <a:cs typeface="Times New Roman" pitchFamily="18" charset="0"/>
              </a:rPr>
              <a:t>H</a:t>
            </a:r>
            <a:r>
              <a:rPr kumimoji="0" lang="en-US" sz="2800" b="0" i="0" u="none" strike="noStrike" kern="1200" cap="none" spc="0" normalizeH="0" baseline="-25000" noProof="0">
                <a:ln>
                  <a:noFill/>
                </a:ln>
                <a:solidFill>
                  <a:srgbClr val="0000FF"/>
                </a:solidFill>
                <a:effectLst/>
                <a:uLnTx/>
                <a:uFillTx/>
                <a:latin typeface="Calibri"/>
                <a:ea typeface="+mn-ea"/>
                <a:cs typeface="Times New Roman" pitchFamily="18" charset="0"/>
              </a:rPr>
              <a:t>3</a:t>
            </a:r>
            <a:r>
              <a:rPr kumimoji="0" lang="en-US" sz="2800" b="0" i="0" u="none" strike="noStrike" kern="1200" cap="none" spc="0" normalizeH="0" baseline="0" noProof="0">
                <a:ln>
                  <a:noFill/>
                </a:ln>
                <a:solidFill>
                  <a:srgbClr val="0000FF"/>
                </a:solidFill>
                <a:effectLst/>
                <a:uLnTx/>
                <a:uFillTx/>
                <a:latin typeface="Calibri"/>
                <a:ea typeface="+mn-ea"/>
                <a:cs typeface="Times New Roman" pitchFamily="18" charset="0"/>
              </a:rPr>
              <a:t> has an Euler </a:t>
            </a:r>
            <a:r>
              <a:rPr kumimoji="0" lang="en-US" sz="2800" b="1" i="0" u="none" strike="noStrike" kern="1200" cap="none" spc="0" normalizeH="0" baseline="0" noProof="0">
                <a:ln>
                  <a:noFill/>
                </a:ln>
                <a:solidFill>
                  <a:srgbClr val="0000FF"/>
                </a:solidFill>
                <a:effectLst/>
                <a:uLnTx/>
                <a:uFillTx/>
                <a:latin typeface="Calibri"/>
                <a:ea typeface="+mn-ea"/>
                <a:cs typeface="Times New Roman" pitchFamily="18" charset="0"/>
              </a:rPr>
              <a:t>path</a:t>
            </a:r>
            <a:r>
              <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 namely, c, a, b, c, d, b, </a:t>
            </a:r>
          </a:p>
          <a:p>
            <a:pPr marL="0" marR="0" lvl="0" indent="-342900" algn="l"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     but </a:t>
            </a:r>
            <a:r>
              <a:rPr kumimoji="0" lang="en-US" sz="2800" b="0" i="0" u="none" strike="noStrike" kern="1200" cap="none" spc="0" normalizeH="0" baseline="0" noProof="0">
                <a:ln>
                  <a:noFill/>
                </a:ln>
                <a:solidFill>
                  <a:srgbClr val="0000FF"/>
                </a:solidFill>
                <a:effectLst/>
                <a:uLnTx/>
                <a:uFillTx/>
                <a:latin typeface="Calibri"/>
                <a:ea typeface="+mn-ea"/>
                <a:cs typeface="Times New Roman" pitchFamily="18" charset="0"/>
              </a:rPr>
              <a:t>H</a:t>
            </a:r>
            <a:r>
              <a:rPr kumimoji="0" lang="en-US" sz="2800" b="0" i="0" u="none" strike="noStrike" kern="1200" cap="none" spc="0" normalizeH="0" baseline="-25000" noProof="0">
                <a:ln>
                  <a:noFill/>
                </a:ln>
                <a:solidFill>
                  <a:srgbClr val="0000FF"/>
                </a:solidFill>
                <a:effectLst/>
                <a:uLnTx/>
                <a:uFillTx/>
                <a:latin typeface="Calibri"/>
                <a:ea typeface="+mn-ea"/>
                <a:cs typeface="Times New Roman" pitchFamily="18" charset="0"/>
              </a:rPr>
              <a:t>1</a:t>
            </a:r>
            <a:r>
              <a:rPr kumimoji="0" lang="en-US" sz="2800" b="0" i="0" u="none" strike="noStrike" kern="1200" cap="none" spc="0" normalizeH="0" baseline="0" noProof="0">
                <a:ln>
                  <a:noFill/>
                </a:ln>
                <a:solidFill>
                  <a:srgbClr val="0000FF"/>
                </a:solidFill>
                <a:effectLst/>
                <a:uLnTx/>
                <a:uFillTx/>
                <a:latin typeface="Calibri"/>
                <a:ea typeface="+mn-ea"/>
                <a:cs typeface="Times New Roman" pitchFamily="18" charset="0"/>
              </a:rPr>
              <a:t>  does not have Euler </a:t>
            </a:r>
            <a:r>
              <a:rPr kumimoji="0" lang="en-US" sz="2800" b="1" i="0" u="none" strike="noStrike" kern="1200" cap="none" spc="0" normalizeH="0" baseline="0" noProof="0">
                <a:ln>
                  <a:noFill/>
                </a:ln>
                <a:solidFill>
                  <a:srgbClr val="0000FF"/>
                </a:solidFill>
                <a:effectLst/>
                <a:uLnTx/>
                <a:uFillTx/>
                <a:latin typeface="Calibri"/>
                <a:ea typeface="+mn-ea"/>
                <a:cs typeface="Times New Roman" pitchFamily="18" charset="0"/>
              </a:rPr>
              <a:t>path</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1023340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Determining Euler Circuit/Path: </a:t>
            </a:r>
            <a:r>
              <a:rPr lang="en-US" sz="2600" b="1" dirty="0">
                <a:solidFill>
                  <a:srgbClr val="FF0000"/>
                </a:solidFill>
              </a:rPr>
              <a:t>Example</a:t>
            </a:r>
          </a:p>
          <a:p>
            <a:pPr marL="0" indent="0">
              <a:buNone/>
            </a:pPr>
            <a:endParaRPr lang="en-US" sz="2600" b="1" dirty="0">
              <a:solidFill>
                <a:schemeClr val="tx1"/>
              </a:solidFill>
            </a:endParaRPr>
          </a:p>
        </p:txBody>
      </p:sp>
      <p:sp>
        <p:nvSpPr>
          <p:cNvPr id="8" name="Content Placeholder 2">
            <a:extLst>
              <a:ext uri="{FF2B5EF4-FFF2-40B4-BE49-F238E27FC236}">
                <a16:creationId xmlns:a16="http://schemas.microsoft.com/office/drawing/2014/main" id="{43D90B09-D9B6-486B-8AA2-4193FED9153C}"/>
              </a:ext>
            </a:extLst>
          </p:cNvPr>
          <p:cNvSpPr txBox="1">
            <a:spLocks/>
          </p:cNvSpPr>
          <p:nvPr/>
        </p:nvSpPr>
        <p:spPr bwMode="auto">
          <a:xfrm>
            <a:off x="457200" y="1874162"/>
            <a:ext cx="8229600" cy="425200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kumimoji="0" lang="en-US" sz="2400" b="1" i="0" u="none" strike="noStrike" kern="1200" cap="none" spc="0" normalizeH="0" baseline="0" noProof="0" dirty="0">
                <a:ln>
                  <a:noFill/>
                </a:ln>
                <a:solidFill>
                  <a:srgbClr val="FF0000"/>
                </a:solidFill>
                <a:effectLst/>
                <a:uLnTx/>
                <a:uFillTx/>
                <a:latin typeface="Calibri"/>
                <a:ea typeface="+mn-ea"/>
                <a:cs typeface="+mn-cs"/>
              </a:rPr>
              <a:t>Example 4(p.575</a:t>
            </a:r>
            <a:r>
              <a:rPr kumimoji="0" lang="en-US" sz="2400" b="0" i="0" u="none" strike="noStrike" kern="1200" cap="none" spc="0" normalizeH="0" baseline="0" noProof="0" dirty="0">
                <a:ln>
                  <a:noFill/>
                </a:ln>
                <a:solidFill>
                  <a:srgbClr val="FF0000"/>
                </a:solidFill>
                <a:effectLst/>
                <a:uLnTx/>
                <a:uFillTx/>
                <a:latin typeface="Calibri"/>
                <a:ea typeface="+mn-ea"/>
                <a:cs typeface="+mn-cs"/>
              </a:rPr>
              <a:t>):</a:t>
            </a:r>
            <a:r>
              <a:rPr kumimoji="0" lang="en-US" altLang="ja-JP" sz="2400" b="0" i="0" u="none" strike="noStrike" kern="1200" cap="none" spc="0" normalizeH="0" baseline="0" noProof="0" dirty="0">
                <a:ln>
                  <a:noFill/>
                </a:ln>
                <a:solidFill>
                  <a:srgbClr val="FF0000"/>
                </a:solidFill>
                <a:effectLst/>
                <a:uLnTx/>
                <a:uFillTx/>
                <a:latin typeface="Calibri"/>
                <a:ea typeface="ＭＳ Ｐゴシック" panose="020B0600070205080204" pitchFamily="34" charset="-128"/>
                <a:cs typeface="+mn-cs"/>
              </a:rPr>
              <a:t>Which graphs shown in Figure 7 have an Euler path?</a:t>
            </a:r>
            <a:br>
              <a:rPr kumimoji="0" lang="en-US" altLang="ja-JP" sz="2400" b="0" i="0" u="none" strike="noStrike" kern="1200" cap="none" spc="0" normalizeH="0" baseline="0" noProof="0" dirty="0">
                <a:ln>
                  <a:noFill/>
                </a:ln>
                <a:solidFill>
                  <a:srgbClr val="FF0000"/>
                </a:solidFill>
                <a:effectLst/>
                <a:uLnTx/>
                <a:uFillTx/>
                <a:latin typeface="Calibri"/>
                <a:ea typeface="ＭＳ Ｐゴシック" panose="020B0600070205080204" pitchFamily="34" charset="-128"/>
                <a:cs typeface="+mn-cs"/>
              </a:rPr>
            </a:br>
            <a:endParaRPr kumimoji="0" lang="en-US" sz="2400" b="0" i="0" u="none" strike="noStrike" kern="1200" cap="none" spc="0" normalizeH="0" baseline="0" noProof="0" dirty="0">
              <a:ln>
                <a:noFill/>
              </a:ln>
              <a:solidFill>
                <a:srgbClr val="FF0000"/>
              </a:solidFill>
              <a:effectLst/>
              <a:uLnTx/>
              <a:uFillTx/>
              <a:latin typeface="Calibri"/>
              <a:ea typeface="+mn-ea"/>
              <a:cs typeface="+mn-cs"/>
            </a:endParaRPr>
          </a:p>
        </p:txBody>
      </p:sp>
      <p:pic>
        <p:nvPicPr>
          <p:cNvPr id="10" name="Picture 2">
            <a:extLst>
              <a:ext uri="{FF2B5EF4-FFF2-40B4-BE49-F238E27FC236}">
                <a16:creationId xmlns:a16="http://schemas.microsoft.com/office/drawing/2014/main" id="{E628E5E4-CAD4-4ED2-9615-CC40E8BBB73A}"/>
              </a:ext>
            </a:extLst>
          </p:cNvPr>
          <p:cNvPicPr>
            <a:picLocks noChangeAspect="1" noChangeArrowheads="1"/>
          </p:cNvPicPr>
          <p:nvPr/>
        </p:nvPicPr>
        <p:blipFill>
          <a:blip r:embed="rId2" cstate="print"/>
          <a:srcRect/>
          <a:stretch>
            <a:fillRect/>
          </a:stretch>
        </p:blipFill>
        <p:spPr bwMode="auto">
          <a:xfrm>
            <a:off x="685800" y="3108325"/>
            <a:ext cx="7772400" cy="3200400"/>
          </a:xfrm>
          <a:prstGeom prst="rect">
            <a:avLst/>
          </a:prstGeom>
          <a:noFill/>
          <a:ln w="9525">
            <a:noFill/>
            <a:miter lim="800000"/>
            <a:headEnd/>
            <a:tailEnd/>
          </a:ln>
        </p:spPr>
      </p:pic>
    </p:spTree>
    <p:extLst>
      <p:ext uri="{BB962C8B-B14F-4D97-AF65-F5344CB8AC3E}">
        <p14:creationId xmlns:p14="http://schemas.microsoft.com/office/powerpoint/2010/main" val="9472679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Determining Euler Circuit/Path: </a:t>
            </a:r>
            <a:r>
              <a:rPr lang="en-US" sz="2600" b="1" dirty="0">
                <a:solidFill>
                  <a:srgbClr val="FF0000"/>
                </a:solidFill>
              </a:rPr>
              <a:t>Example</a:t>
            </a:r>
          </a:p>
          <a:p>
            <a:pPr marL="0" indent="0">
              <a:buNone/>
            </a:pPr>
            <a:endParaRPr lang="en-US" sz="2600" b="1" dirty="0">
              <a:solidFill>
                <a:schemeClr val="tx1"/>
              </a:solidFill>
            </a:endParaRPr>
          </a:p>
        </p:txBody>
      </p:sp>
      <p:sp>
        <p:nvSpPr>
          <p:cNvPr id="4" name="Content Placeholder 2">
            <a:extLst>
              <a:ext uri="{FF2B5EF4-FFF2-40B4-BE49-F238E27FC236}">
                <a16:creationId xmlns:a16="http://schemas.microsoft.com/office/drawing/2014/main" id="{0FF6203B-F6AA-4ACE-A72A-045EC15A225F}"/>
              </a:ext>
            </a:extLst>
          </p:cNvPr>
          <p:cNvSpPr txBox="1">
            <a:spLocks/>
          </p:cNvSpPr>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Wingdings" pitchFamily="2" charset="2"/>
              <a:buChar char="§"/>
              <a:tabLst/>
              <a:defRPr/>
            </a:pPr>
            <a:r>
              <a:rPr kumimoji="0" lang="en-US" sz="2400" b="1" i="0" u="sng" strike="noStrike" kern="1200" cap="none" spc="0" normalizeH="0" baseline="0" noProof="0">
                <a:ln>
                  <a:noFill/>
                </a:ln>
                <a:solidFill>
                  <a:srgbClr val="0000FF"/>
                </a:solidFill>
                <a:effectLst/>
                <a:uLnTx/>
                <a:uFillTx/>
                <a:latin typeface="Calibri"/>
                <a:ea typeface="+mn-ea"/>
                <a:cs typeface="+mn-cs"/>
              </a:rPr>
              <a:t>Solution</a:t>
            </a: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a:t>
            </a:r>
          </a:p>
          <a:p>
            <a:pPr marL="342900" marR="0" lvl="0" indent="-342900" algn="l" defTabSz="914400" rtl="0" eaLnBrk="1" fontAlgn="base" latinLnBrk="0" hangingPunct="1">
              <a:lnSpc>
                <a:spcPct val="90000"/>
              </a:lnSpc>
              <a:spcBef>
                <a:spcPct val="20000"/>
              </a:spcBef>
              <a:spcAft>
                <a:spcPct val="0"/>
              </a:spcAft>
              <a:buClrTx/>
              <a:buSzTx/>
              <a:buFont typeface="Arial" pitchFamily="34" charset="0"/>
              <a:buChar char="•"/>
              <a:tabLst/>
              <a:defRPr/>
            </a:pPr>
            <a:r>
              <a:rPr kumimoji="0" lang="en-US" altLang="ja-JP" sz="2400" b="1" i="0" u="none" strike="noStrike" kern="1200" cap="none" spc="0" normalizeH="0" baseline="0" noProof="0">
                <a:ln>
                  <a:noFill/>
                </a:ln>
                <a:solidFill>
                  <a:srgbClr val="0000FF"/>
                </a:solidFill>
                <a:effectLst/>
                <a:uLnTx/>
                <a:uFillTx/>
                <a:latin typeface="Calibri"/>
                <a:ea typeface="ＭＳ Ｐゴシック" panose="020B0600070205080204" pitchFamily="34" charset="-128"/>
                <a:cs typeface="+mn-cs"/>
              </a:rPr>
              <a:t>G</a:t>
            </a:r>
            <a:r>
              <a:rPr kumimoji="0" lang="en-US" altLang="ja-JP" sz="2400" b="1" i="0" u="none" strike="noStrike" kern="1200" cap="none" spc="0" normalizeH="0" baseline="-25000" noProof="0">
                <a:ln>
                  <a:noFill/>
                </a:ln>
                <a:solidFill>
                  <a:srgbClr val="0000FF"/>
                </a:solidFill>
                <a:effectLst/>
                <a:uLnTx/>
                <a:uFillTx/>
                <a:latin typeface="Calibri"/>
                <a:ea typeface="ＭＳ Ｐゴシック" panose="020B0600070205080204" pitchFamily="34" charset="-128"/>
                <a:cs typeface="+mn-cs"/>
              </a:rPr>
              <a:t>1</a:t>
            </a:r>
            <a:r>
              <a:rPr kumimoji="0" lang="en-US" altLang="ja-JP" sz="2400" b="0"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 contains </a:t>
            </a:r>
            <a:r>
              <a:rPr kumimoji="0" lang="en-US" altLang="ja-JP" sz="2400" b="0" i="0" u="none" strike="noStrike" kern="1200" cap="none" spc="0" normalizeH="0" baseline="0" noProof="0">
                <a:ln>
                  <a:noFill/>
                </a:ln>
                <a:solidFill>
                  <a:srgbClr val="0000FF"/>
                </a:solidFill>
                <a:effectLst/>
                <a:uLnTx/>
                <a:uFillTx/>
                <a:latin typeface="Calibri"/>
                <a:ea typeface="ＭＳ Ｐゴシック" panose="020B0600070205080204" pitchFamily="34" charset="-128"/>
                <a:cs typeface="+mn-cs"/>
              </a:rPr>
              <a:t>exactly</a:t>
            </a:r>
            <a:r>
              <a:rPr kumimoji="0" lang="en-US" altLang="ja-JP" sz="2400" b="0"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 </a:t>
            </a:r>
            <a:r>
              <a:rPr kumimoji="0" lang="en-US" altLang="ja-JP" sz="2400" b="0" i="0" u="none" strike="noStrike" kern="1200" cap="none" spc="0" normalizeH="0" baseline="0" noProof="0">
                <a:ln>
                  <a:noFill/>
                </a:ln>
                <a:solidFill>
                  <a:srgbClr val="0000FF"/>
                </a:solidFill>
                <a:effectLst/>
                <a:uLnTx/>
                <a:uFillTx/>
                <a:latin typeface="Calibri"/>
                <a:ea typeface="ＭＳ Ｐゴシック" panose="020B0600070205080204" pitchFamily="34" charset="-128"/>
                <a:cs typeface="+mn-cs"/>
              </a:rPr>
              <a:t>two vertices of odd degree</a:t>
            </a:r>
            <a:r>
              <a:rPr kumimoji="0" lang="en-US" altLang="ja-JP" sz="2400" b="0"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 namely, b and d. Hence, it </a:t>
            </a:r>
            <a:r>
              <a:rPr kumimoji="0" lang="en-US" altLang="ja-JP" sz="2400" b="0" i="0" u="none" strike="noStrike" kern="1200" cap="none" spc="0" normalizeH="0" baseline="0" noProof="0">
                <a:ln>
                  <a:noFill/>
                </a:ln>
                <a:solidFill>
                  <a:srgbClr val="0000FF"/>
                </a:solidFill>
                <a:effectLst/>
                <a:uLnTx/>
                <a:uFillTx/>
                <a:latin typeface="Calibri"/>
                <a:ea typeface="ＭＳ Ｐゴシック" panose="020B0600070205080204" pitchFamily="34" charset="-128"/>
                <a:cs typeface="+mn-cs"/>
              </a:rPr>
              <a:t>has an Euler path </a:t>
            </a:r>
            <a:r>
              <a:rPr kumimoji="0" lang="en-US" altLang="ja-JP" sz="2400" b="0"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that must have b and d as its endpoints. </a:t>
            </a:r>
          </a:p>
          <a:p>
            <a:pPr marL="742950" marR="0" lvl="1" indent="-285750" algn="l" defTabSz="914400" rtl="0" eaLnBrk="1" fontAlgn="base" latinLnBrk="0" hangingPunct="1">
              <a:lnSpc>
                <a:spcPct val="90000"/>
              </a:lnSpc>
              <a:spcBef>
                <a:spcPct val="20000"/>
              </a:spcBef>
              <a:spcAft>
                <a:spcPct val="0"/>
              </a:spcAft>
              <a:buClrTx/>
              <a:buSzTx/>
              <a:buFont typeface="Arial" pitchFamily="34" charset="0"/>
              <a:buChar char="–"/>
              <a:tabLst/>
              <a:defRPr/>
            </a:pPr>
            <a:r>
              <a:rPr kumimoji="0" lang="en-US" altLang="ja-JP" sz="2000" b="0"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One such Euler path is d, a, b, c, d, b. </a:t>
            </a:r>
          </a:p>
          <a:p>
            <a:pPr marL="342900" marR="0" lvl="0" indent="-342900" algn="l" defTabSz="914400" rtl="0" eaLnBrk="1" fontAlgn="base" latinLnBrk="0" hangingPunct="1">
              <a:lnSpc>
                <a:spcPct val="90000"/>
              </a:lnSpc>
              <a:spcBef>
                <a:spcPct val="20000"/>
              </a:spcBef>
              <a:spcAft>
                <a:spcPct val="0"/>
              </a:spcAft>
              <a:buClrTx/>
              <a:buSzTx/>
              <a:buFont typeface="Arial" pitchFamily="34" charset="0"/>
              <a:buChar char="•"/>
              <a:tabLst/>
              <a:defRPr/>
            </a:pPr>
            <a:r>
              <a:rPr kumimoji="0" lang="en-US" altLang="ja-JP" sz="2400" b="0" i="0" u="none" strike="noStrike" kern="1200" cap="none" spc="0" normalizeH="0" baseline="0" noProof="0">
                <a:ln>
                  <a:noFill/>
                </a:ln>
                <a:solidFill>
                  <a:srgbClr val="0000FF"/>
                </a:solidFill>
                <a:effectLst/>
                <a:uLnTx/>
                <a:uFillTx/>
                <a:latin typeface="Calibri"/>
                <a:ea typeface="ＭＳ Ｐゴシック" panose="020B0600070205080204" pitchFamily="34" charset="-128"/>
                <a:cs typeface="+mn-cs"/>
              </a:rPr>
              <a:t>Similarly,</a:t>
            </a:r>
            <a:r>
              <a:rPr kumimoji="0" lang="en-US" altLang="ja-JP" sz="2400" b="1" i="0" u="none" strike="noStrike" kern="1200" cap="none" spc="0" normalizeH="0" baseline="0" noProof="0">
                <a:ln>
                  <a:noFill/>
                </a:ln>
                <a:solidFill>
                  <a:srgbClr val="0000FF"/>
                </a:solidFill>
                <a:effectLst/>
                <a:uLnTx/>
                <a:uFillTx/>
                <a:latin typeface="Calibri"/>
                <a:ea typeface="ＭＳ Ｐゴシック" panose="020B0600070205080204" pitchFamily="34" charset="-128"/>
                <a:cs typeface="+mn-cs"/>
              </a:rPr>
              <a:t>G</a:t>
            </a:r>
            <a:r>
              <a:rPr kumimoji="0" lang="en-US" altLang="ja-JP" sz="2400" b="1" i="0" u="none" strike="noStrike" kern="1200" cap="none" spc="0" normalizeH="0" baseline="-25000" noProof="0">
                <a:ln>
                  <a:noFill/>
                </a:ln>
                <a:solidFill>
                  <a:srgbClr val="0000FF"/>
                </a:solidFill>
                <a:effectLst/>
                <a:uLnTx/>
                <a:uFillTx/>
                <a:latin typeface="Calibri"/>
                <a:ea typeface="ＭＳ Ｐゴシック" panose="020B0600070205080204" pitchFamily="34" charset="-128"/>
                <a:cs typeface="+mn-cs"/>
              </a:rPr>
              <a:t>2</a:t>
            </a:r>
            <a:r>
              <a:rPr kumimoji="0" lang="en-US" altLang="ja-JP" sz="2400" b="0"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 has </a:t>
            </a:r>
            <a:r>
              <a:rPr kumimoji="0" lang="en-US" altLang="ja-JP" sz="2400" b="0" i="0" u="none" strike="noStrike" kern="1200" cap="none" spc="0" normalizeH="0" baseline="0" noProof="0">
                <a:ln>
                  <a:noFill/>
                </a:ln>
                <a:solidFill>
                  <a:srgbClr val="0000FF"/>
                </a:solidFill>
                <a:effectLst/>
                <a:uLnTx/>
                <a:uFillTx/>
                <a:latin typeface="Calibri"/>
                <a:ea typeface="ＭＳ Ｐゴシック" panose="020B0600070205080204" pitchFamily="34" charset="-128"/>
                <a:cs typeface="+mn-cs"/>
              </a:rPr>
              <a:t>exactly two vertices of odd degree</a:t>
            </a:r>
            <a:r>
              <a:rPr kumimoji="0" lang="en-US" altLang="ja-JP" sz="2400" b="0"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 namely, b and d. So it </a:t>
            </a:r>
            <a:r>
              <a:rPr kumimoji="0" lang="en-US" altLang="ja-JP" sz="2400" b="0" i="0" u="none" strike="noStrike" kern="1200" cap="none" spc="0" normalizeH="0" baseline="0" noProof="0">
                <a:ln>
                  <a:noFill/>
                </a:ln>
                <a:solidFill>
                  <a:srgbClr val="0000FF"/>
                </a:solidFill>
                <a:effectLst/>
                <a:uLnTx/>
                <a:uFillTx/>
                <a:latin typeface="Calibri"/>
                <a:ea typeface="ＭＳ Ｐゴシック" panose="020B0600070205080204" pitchFamily="34" charset="-128"/>
                <a:cs typeface="+mn-cs"/>
              </a:rPr>
              <a:t>has an Euler path </a:t>
            </a:r>
            <a:r>
              <a:rPr kumimoji="0" lang="en-US" altLang="ja-JP" sz="2400" b="0"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that must have b and d as endpoints. </a:t>
            </a:r>
          </a:p>
          <a:p>
            <a:pPr marL="742950" marR="0" lvl="1" indent="-285750" algn="l" defTabSz="914400" rtl="0" eaLnBrk="1" fontAlgn="base" latinLnBrk="0" hangingPunct="1">
              <a:lnSpc>
                <a:spcPct val="90000"/>
              </a:lnSpc>
              <a:spcBef>
                <a:spcPct val="20000"/>
              </a:spcBef>
              <a:spcAft>
                <a:spcPct val="0"/>
              </a:spcAft>
              <a:buClrTx/>
              <a:buSzTx/>
              <a:buFont typeface="Arial" pitchFamily="34" charset="0"/>
              <a:buChar char="–"/>
              <a:tabLst/>
              <a:defRPr/>
            </a:pPr>
            <a:r>
              <a:rPr kumimoji="0" lang="en-US" altLang="ja-JP" sz="2000" b="0"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One such Euler path is b, a, g, f, e, d, c, g, b, c, f, d.</a:t>
            </a:r>
          </a:p>
          <a:p>
            <a:pPr marL="342900" marR="0" lvl="0" indent="-342900" algn="l" defTabSz="914400" rtl="0" eaLnBrk="1" fontAlgn="base" latinLnBrk="0" hangingPunct="1">
              <a:lnSpc>
                <a:spcPct val="90000"/>
              </a:lnSpc>
              <a:spcBef>
                <a:spcPct val="20000"/>
              </a:spcBef>
              <a:spcAft>
                <a:spcPct val="0"/>
              </a:spcAft>
              <a:buClrTx/>
              <a:buSzTx/>
              <a:buFont typeface="Arial" pitchFamily="34" charset="0"/>
              <a:buChar char="•"/>
              <a:tabLst/>
              <a:defRPr/>
            </a:pPr>
            <a:r>
              <a:rPr kumimoji="0" lang="en-US" altLang="ja-JP" sz="2400" b="0" i="0" u="none" strike="noStrike" kern="1200" cap="none" spc="0" normalizeH="0" baseline="0" noProof="0">
                <a:ln>
                  <a:noFill/>
                </a:ln>
                <a:solidFill>
                  <a:srgbClr val="FF0000"/>
                </a:solidFill>
                <a:effectLst/>
                <a:uLnTx/>
                <a:uFillTx/>
                <a:latin typeface="Calibri"/>
                <a:ea typeface="ＭＳ Ｐゴシック" panose="020B0600070205080204" pitchFamily="34" charset="-128"/>
                <a:cs typeface="+mn-cs"/>
              </a:rPr>
              <a:t>G</a:t>
            </a:r>
            <a:r>
              <a:rPr kumimoji="0" lang="en-US" altLang="ja-JP" sz="2400" b="0" i="0" u="none" strike="noStrike" kern="1200" cap="none" spc="0" normalizeH="0" baseline="-25000" noProof="0">
                <a:ln>
                  <a:noFill/>
                </a:ln>
                <a:solidFill>
                  <a:srgbClr val="FF0000"/>
                </a:solidFill>
                <a:effectLst/>
                <a:uLnTx/>
                <a:uFillTx/>
                <a:latin typeface="Calibri"/>
                <a:ea typeface="ＭＳ Ｐゴシック" panose="020B0600070205080204" pitchFamily="34" charset="-128"/>
                <a:cs typeface="+mn-cs"/>
              </a:rPr>
              <a:t>3</a:t>
            </a:r>
            <a:r>
              <a:rPr kumimoji="0" lang="en-US" altLang="ja-JP" sz="2400" b="0" i="0" u="none" strike="noStrike" kern="1200" cap="none" spc="0" normalizeH="0" baseline="0" noProof="0">
                <a:ln>
                  <a:noFill/>
                </a:ln>
                <a:solidFill>
                  <a:srgbClr val="FF0000"/>
                </a:solidFill>
                <a:effectLst/>
                <a:uLnTx/>
                <a:uFillTx/>
                <a:latin typeface="Calibri"/>
                <a:ea typeface="ＭＳ Ｐゴシック" panose="020B0600070205080204" pitchFamily="34" charset="-128"/>
                <a:cs typeface="+mn-cs"/>
              </a:rPr>
              <a:t> has no Euler path</a:t>
            </a:r>
            <a:r>
              <a:rPr kumimoji="0" lang="en-US" altLang="ja-JP" sz="2400" b="0" i="0" u="none" strike="noStrike" kern="1200" cap="none" spc="0" normalizeH="0" baseline="0" noProof="0">
                <a:ln>
                  <a:noFill/>
                </a:ln>
                <a:solidFill>
                  <a:srgbClr val="0000FF"/>
                </a:solidFill>
                <a:effectLst/>
                <a:uLnTx/>
                <a:uFillTx/>
                <a:latin typeface="Calibri"/>
                <a:ea typeface="ＭＳ Ｐゴシック" panose="020B0600070205080204" pitchFamily="34" charset="-128"/>
                <a:cs typeface="+mn-cs"/>
              </a:rPr>
              <a:t>, because it has six vertices of odd degree.</a:t>
            </a:r>
          </a:p>
          <a:p>
            <a:pPr marL="342900" marR="0" lvl="0" indent="-342900" algn="l" defTabSz="914400" rtl="0" eaLnBrk="1" fontAlgn="base" latinLnBrk="0" hangingPunct="1">
              <a:lnSpc>
                <a:spcPct val="90000"/>
              </a:lnSpc>
              <a:spcBef>
                <a:spcPct val="20000"/>
              </a:spcBef>
              <a:spcAft>
                <a:spcPct val="0"/>
              </a:spcAft>
              <a:buClrTx/>
              <a:buSzTx/>
              <a:buFont typeface="Wingdings" pitchFamily="2" charset="2"/>
              <a:buChar char="§"/>
              <a:tabLst/>
              <a:defRPr/>
            </a:pPr>
            <a:endParaRPr kumimoji="0" lang="ja-JP" altLang="en-US" sz="2400" b="0"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endParaRPr>
          </a:p>
          <a:p>
            <a:pPr marL="342900" marR="0" lvl="0" indent="-342900" algn="l" defTabSz="914400" rtl="0" eaLnBrk="0" fontAlgn="base" latinLnBrk="0" hangingPunct="0">
              <a:lnSpc>
                <a:spcPct val="100000"/>
              </a:lnSpc>
              <a:spcBef>
                <a:spcPct val="20000"/>
              </a:spcBef>
              <a:spcAft>
                <a:spcPct val="0"/>
              </a:spcAft>
              <a:buClrTx/>
              <a:buSzTx/>
              <a:buFont typeface="Wingdings" pitchFamily="2" charset="2"/>
              <a:buChar char="§"/>
              <a:tabLst/>
              <a:defRPr/>
            </a:pPr>
            <a:endParaRPr kumimoji="0" lang="en-US" sz="24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1974942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04716" y="631885"/>
            <a:ext cx="7808976" cy="1088136"/>
          </a:xfrm>
        </p:spPr>
        <p:txBody>
          <a:bodyPr>
            <a:normAutofit/>
          </a:bodyPr>
          <a:lstStyle/>
          <a:p>
            <a:r>
              <a:rPr lang="en-US" dirty="0"/>
              <a:t>Hamilton</a:t>
            </a:r>
            <a:r>
              <a:rPr lang="en-US" sz="4400" dirty="0">
                <a:solidFill>
                  <a:srgbClr val="FF0000"/>
                </a:solidFill>
              </a:rPr>
              <a:t> </a:t>
            </a:r>
            <a:r>
              <a:rPr lang="en-US" dirty="0"/>
              <a:t>Paths</a:t>
            </a:r>
            <a:r>
              <a:rPr lang="en-US" sz="4400" dirty="0">
                <a:solidFill>
                  <a:srgbClr val="FF0000"/>
                </a:solidFill>
              </a:rPr>
              <a:t> </a:t>
            </a:r>
            <a:r>
              <a:rPr lang="en-US" dirty="0"/>
              <a:t>and</a:t>
            </a:r>
            <a:r>
              <a:rPr lang="en-US" sz="4400" dirty="0">
                <a:solidFill>
                  <a:srgbClr val="FF0000"/>
                </a:solidFill>
              </a:rPr>
              <a:t> </a:t>
            </a:r>
            <a:r>
              <a:rPr lang="en-US" dirty="0"/>
              <a:t>Circuits</a:t>
            </a:r>
          </a:p>
        </p:txBody>
      </p:sp>
      <p:sp>
        <p:nvSpPr>
          <p:cNvPr id="7" name="Content Placeholder 2">
            <a:extLst>
              <a:ext uri="{FF2B5EF4-FFF2-40B4-BE49-F238E27FC236}">
                <a16:creationId xmlns:a16="http://schemas.microsoft.com/office/drawing/2014/main" id="{7571920B-95E6-4DDA-8CEB-035C1488ECE2}"/>
              </a:ext>
            </a:extLst>
          </p:cNvPr>
          <p:cNvSpPr txBox="1">
            <a:spLocks/>
          </p:cNvSpPr>
          <p:nvPr/>
        </p:nvSpPr>
        <p:spPr bwMode="auto">
          <a:xfrm>
            <a:off x="212651" y="2277687"/>
            <a:ext cx="8474149" cy="384847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kumimoji="0" lang="en-US" sz="2200" b="1" i="0" u="sng" strike="noStrike" kern="1200" cap="none" spc="0" normalizeH="0" baseline="0" noProof="0" dirty="0">
                <a:ln>
                  <a:noFill/>
                </a:ln>
                <a:solidFill>
                  <a:srgbClr val="FF0000"/>
                </a:solidFill>
                <a:effectLst/>
                <a:uLnTx/>
                <a:uFillTx/>
                <a:latin typeface="Calibri"/>
                <a:ea typeface="+mn-ea"/>
                <a:cs typeface="+mn-cs"/>
              </a:rPr>
              <a:t>Hamilton path</a:t>
            </a:r>
            <a:r>
              <a:rPr kumimoji="0" lang="en-US" sz="2200" b="0" i="0" u="none" strike="noStrike" kern="1200" cap="none" spc="0" normalizeH="0" baseline="0" noProof="0" dirty="0">
                <a:ln>
                  <a:noFill/>
                </a:ln>
                <a:solidFill>
                  <a:sysClr val="windowText" lastClr="000000"/>
                </a:solidFill>
                <a:effectLst/>
                <a:uLnTx/>
                <a:uFillTx/>
                <a:latin typeface="Calibri"/>
                <a:ea typeface="+mn-ea"/>
                <a:cs typeface="+mn-cs"/>
              </a:rPr>
              <a:t>: A </a:t>
            </a:r>
            <a:r>
              <a:rPr kumimoji="0" lang="en-US" sz="2200" b="1" i="0" u="none" strike="noStrike" kern="1200" cap="none" spc="0" normalizeH="0" baseline="0" noProof="0" dirty="0">
                <a:ln>
                  <a:noFill/>
                </a:ln>
                <a:solidFill>
                  <a:srgbClr val="0000FF"/>
                </a:solidFill>
                <a:effectLst/>
                <a:uLnTx/>
                <a:uFillTx/>
                <a:latin typeface="Calibri"/>
                <a:ea typeface="+mn-ea"/>
                <a:cs typeface="+mn-cs"/>
              </a:rPr>
              <a:t>simple</a:t>
            </a:r>
            <a:r>
              <a:rPr kumimoji="0" lang="en-US" sz="2200" b="0" i="0" u="none" strike="noStrike" kern="1200" cap="none" spc="0" normalizeH="0" baseline="0" noProof="0" dirty="0">
                <a:ln>
                  <a:noFill/>
                </a:ln>
                <a:solidFill>
                  <a:srgbClr val="C00000"/>
                </a:solidFill>
                <a:effectLst/>
                <a:uLnTx/>
                <a:uFillTx/>
                <a:latin typeface="Calibri"/>
                <a:ea typeface="+mn-ea"/>
                <a:cs typeface="+mn-cs"/>
              </a:rPr>
              <a:t> </a:t>
            </a:r>
            <a:r>
              <a:rPr kumimoji="0" lang="en-US" sz="2200" b="1" i="0" u="none" strike="noStrike" kern="1200" cap="none" spc="0" normalizeH="0" baseline="0" noProof="0" dirty="0">
                <a:ln>
                  <a:noFill/>
                </a:ln>
                <a:solidFill>
                  <a:srgbClr val="0000FF"/>
                </a:solidFill>
                <a:effectLst/>
                <a:uLnTx/>
                <a:uFillTx/>
                <a:latin typeface="Calibri"/>
                <a:ea typeface="+mn-ea"/>
                <a:cs typeface="+mn-cs"/>
              </a:rPr>
              <a:t>path</a:t>
            </a:r>
            <a:r>
              <a:rPr kumimoji="0" lang="en-US" sz="2200" b="0" i="0" u="none" strike="noStrike" kern="1200" cap="none" spc="0" normalizeH="0" baseline="0" noProof="0" dirty="0">
                <a:ln>
                  <a:noFill/>
                </a:ln>
                <a:solidFill>
                  <a:srgbClr val="C00000"/>
                </a:solidFill>
                <a:effectLst/>
                <a:uLnTx/>
                <a:uFillTx/>
                <a:latin typeface="Calibri"/>
                <a:ea typeface="+mn-ea"/>
                <a:cs typeface="+mn-cs"/>
              </a:rPr>
              <a:t> </a:t>
            </a:r>
            <a:r>
              <a:rPr kumimoji="0" lang="en-US" sz="2200" b="0" i="0" u="none" strike="noStrike" kern="1200" cap="none" spc="0" normalizeH="0" baseline="0" noProof="0" dirty="0">
                <a:ln>
                  <a:noFill/>
                </a:ln>
                <a:solidFill>
                  <a:sysClr val="windowText" lastClr="000000"/>
                </a:solidFill>
                <a:effectLst/>
                <a:uLnTx/>
                <a:uFillTx/>
                <a:latin typeface="Calibri"/>
                <a:ea typeface="+mn-ea"/>
                <a:cs typeface="+mn-cs"/>
              </a:rPr>
              <a:t>in a graph that passes through </a:t>
            </a:r>
            <a:r>
              <a:rPr kumimoji="0" lang="en-US" sz="2200" b="0" i="0" u="none" strike="noStrike" kern="1200" cap="none" spc="0" normalizeH="0" baseline="0" noProof="0" dirty="0">
                <a:ln>
                  <a:noFill/>
                </a:ln>
                <a:solidFill>
                  <a:srgbClr val="0000FF"/>
                </a:solidFill>
                <a:effectLst/>
                <a:uLnTx/>
                <a:uFillTx/>
                <a:latin typeface="Calibri"/>
                <a:ea typeface="+mn-ea"/>
                <a:cs typeface="+mn-cs"/>
              </a:rPr>
              <a:t>every vertex exactly once</a:t>
            </a:r>
            <a:r>
              <a:rPr kumimoji="0" lang="en-US" sz="2200" b="0" i="0" u="none" strike="noStrike" kern="1200" cap="none" spc="0" normalizeH="0" baseline="0" noProof="0" dirty="0">
                <a:ln>
                  <a:noFill/>
                </a:ln>
                <a:solidFill>
                  <a:srgbClr val="C00000"/>
                </a:solidFill>
                <a:effectLst/>
                <a:uLnTx/>
                <a:uFillTx/>
                <a:latin typeface="Calibri"/>
                <a:ea typeface="+mn-ea"/>
                <a:cs typeface="+mn-cs"/>
              </a:rPr>
              <a:t> </a:t>
            </a:r>
            <a:r>
              <a:rPr kumimoji="0" lang="en-US" sz="2200" b="0" i="0" u="none" strike="noStrike" kern="1200" cap="none" spc="0" normalizeH="0" baseline="0" noProof="0" dirty="0">
                <a:ln>
                  <a:noFill/>
                </a:ln>
                <a:solidFill>
                  <a:sysClr val="windowText" lastClr="000000"/>
                </a:solidFill>
                <a:effectLst/>
                <a:uLnTx/>
                <a:uFillTx/>
                <a:latin typeface="Calibri"/>
                <a:ea typeface="+mn-ea"/>
                <a:cs typeface="+mn-cs"/>
              </a:rPr>
              <a:t>is called a </a:t>
            </a:r>
            <a:r>
              <a:rPr kumimoji="0" lang="en-US" sz="2200" b="0" i="1" u="none" strike="noStrike" kern="1200" cap="none" spc="0" normalizeH="0" baseline="0" noProof="0" dirty="0">
                <a:ln>
                  <a:noFill/>
                </a:ln>
                <a:solidFill>
                  <a:srgbClr val="0000FF"/>
                </a:solidFill>
                <a:effectLst/>
                <a:uLnTx/>
                <a:uFillTx/>
                <a:latin typeface="Calibri"/>
                <a:ea typeface="+mn-ea"/>
                <a:cs typeface="+mn-cs"/>
              </a:rPr>
              <a:t>Hamilton path</a:t>
            </a:r>
            <a:r>
              <a:rPr kumimoji="0" lang="en-US" sz="2200" b="0" i="0" u="none" strike="noStrike" kern="1200" cap="none" spc="0" normalizeH="0" baseline="0" noProof="0" dirty="0">
                <a:ln>
                  <a:noFill/>
                </a:ln>
                <a:solidFill>
                  <a:sysClr val="windowText" lastClr="000000"/>
                </a:solidFill>
                <a:effectLst/>
                <a:uLnTx/>
                <a:uFillTx/>
                <a:latin typeface="Calibri"/>
                <a:ea typeface="+mn-ea"/>
                <a:cs typeface="+mn-cs"/>
              </a:rPr>
              <a:t>.</a:t>
            </a:r>
            <a:endParaRPr kumimoji="0" lang="en-US" sz="2200" b="1" i="0" u="sng" strike="noStrike" kern="1200" cap="none" spc="0" normalizeH="0" baseline="0" noProof="0" dirty="0">
              <a:ln>
                <a:noFill/>
              </a:ln>
              <a:solidFill>
                <a:srgbClr val="FF0000"/>
              </a:solidFill>
              <a:effectLst/>
              <a:uLnTx/>
              <a:uFillTx/>
              <a:latin typeface="Calibri"/>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kumimoji="0" lang="en-US" sz="2200" b="1" i="0" u="sng" strike="noStrike" kern="1200" cap="none" spc="0" normalizeH="0" baseline="0" noProof="0" dirty="0">
                <a:ln>
                  <a:noFill/>
                </a:ln>
                <a:solidFill>
                  <a:srgbClr val="FF0000"/>
                </a:solidFill>
                <a:effectLst/>
                <a:uLnTx/>
                <a:uFillTx/>
                <a:latin typeface="Calibri"/>
                <a:ea typeface="+mn-ea"/>
                <a:cs typeface="+mn-cs"/>
              </a:rPr>
              <a:t>Hamilton circuit</a:t>
            </a:r>
            <a:r>
              <a:rPr kumimoji="0" lang="en-US" sz="2200" b="0" i="0" u="none" strike="noStrike" kern="1200" cap="none" spc="0" normalizeH="0" baseline="0" noProof="0" dirty="0">
                <a:ln>
                  <a:noFill/>
                </a:ln>
                <a:solidFill>
                  <a:sysClr val="windowText" lastClr="000000"/>
                </a:solidFill>
                <a:effectLst/>
                <a:uLnTx/>
                <a:uFillTx/>
                <a:latin typeface="Calibri"/>
                <a:ea typeface="+mn-ea"/>
                <a:cs typeface="+mn-cs"/>
              </a:rPr>
              <a:t>: A </a:t>
            </a:r>
            <a:r>
              <a:rPr kumimoji="0" lang="en-US" sz="2200" b="1" i="0" u="none" strike="noStrike" kern="1200" cap="none" spc="0" normalizeH="0" baseline="0" noProof="0" dirty="0">
                <a:ln>
                  <a:noFill/>
                </a:ln>
                <a:solidFill>
                  <a:srgbClr val="0000FF"/>
                </a:solidFill>
                <a:effectLst/>
                <a:uLnTx/>
                <a:uFillTx/>
                <a:latin typeface="Calibri"/>
                <a:ea typeface="+mn-ea"/>
                <a:cs typeface="+mn-cs"/>
              </a:rPr>
              <a:t>simple</a:t>
            </a:r>
            <a:r>
              <a:rPr kumimoji="0" lang="en-US" sz="2200" b="1" i="0" u="none" strike="noStrike" kern="1200" cap="none" spc="0" normalizeH="0" baseline="0" noProof="0" dirty="0">
                <a:ln>
                  <a:noFill/>
                </a:ln>
                <a:solidFill>
                  <a:srgbClr val="C00000"/>
                </a:solidFill>
                <a:effectLst/>
                <a:uLnTx/>
                <a:uFillTx/>
                <a:latin typeface="Calibri"/>
                <a:ea typeface="+mn-ea"/>
                <a:cs typeface="+mn-cs"/>
              </a:rPr>
              <a:t> </a:t>
            </a:r>
            <a:r>
              <a:rPr kumimoji="0" lang="en-US" sz="2200" b="1" i="0" u="none" strike="noStrike" kern="1200" cap="none" spc="0" normalizeH="0" baseline="0" noProof="0" dirty="0">
                <a:ln>
                  <a:noFill/>
                </a:ln>
                <a:solidFill>
                  <a:srgbClr val="0000FF"/>
                </a:solidFill>
                <a:effectLst/>
                <a:uLnTx/>
                <a:uFillTx/>
                <a:latin typeface="Calibri"/>
                <a:ea typeface="+mn-ea"/>
                <a:cs typeface="+mn-cs"/>
              </a:rPr>
              <a:t>circuit</a:t>
            </a:r>
            <a:r>
              <a:rPr kumimoji="0" lang="en-US" sz="2200" b="1" i="0" u="none" strike="noStrike" kern="1200" cap="none" spc="0" normalizeH="0" baseline="0" noProof="0" dirty="0">
                <a:ln>
                  <a:noFill/>
                </a:ln>
                <a:solidFill>
                  <a:srgbClr val="C00000"/>
                </a:solidFill>
                <a:effectLst/>
                <a:uLnTx/>
                <a:uFillTx/>
                <a:latin typeface="Calibri"/>
                <a:ea typeface="+mn-ea"/>
                <a:cs typeface="+mn-cs"/>
              </a:rPr>
              <a:t> </a:t>
            </a:r>
            <a:r>
              <a:rPr kumimoji="0" lang="en-US" sz="2200" b="0" i="0" u="none" strike="noStrike" kern="1200" cap="none" spc="0" normalizeH="0" baseline="0" noProof="0" dirty="0">
                <a:ln>
                  <a:noFill/>
                </a:ln>
                <a:solidFill>
                  <a:sysClr val="windowText" lastClr="000000"/>
                </a:solidFill>
                <a:effectLst/>
                <a:uLnTx/>
                <a:uFillTx/>
                <a:latin typeface="Calibri"/>
                <a:ea typeface="+mn-ea"/>
                <a:cs typeface="+mn-cs"/>
              </a:rPr>
              <a:t>in a graph G that passes through </a:t>
            </a:r>
            <a:r>
              <a:rPr kumimoji="0" lang="en-US" sz="2200" b="0" i="0" u="none" strike="noStrike" kern="1200" cap="none" spc="0" normalizeH="0" baseline="0" noProof="0" dirty="0">
                <a:ln>
                  <a:noFill/>
                </a:ln>
                <a:solidFill>
                  <a:srgbClr val="0000FF"/>
                </a:solidFill>
                <a:effectLst/>
                <a:uLnTx/>
                <a:uFillTx/>
                <a:latin typeface="Calibri"/>
                <a:ea typeface="+mn-ea"/>
                <a:cs typeface="+mn-cs"/>
              </a:rPr>
              <a:t>every vertex exactly once</a:t>
            </a:r>
            <a:r>
              <a:rPr kumimoji="0" lang="en-US" sz="2200" b="0" i="0" u="none" strike="noStrike" kern="1200" cap="none" spc="0" normalizeH="0" baseline="0" noProof="0" dirty="0">
                <a:ln>
                  <a:noFill/>
                </a:ln>
                <a:solidFill>
                  <a:srgbClr val="C00000"/>
                </a:solidFill>
                <a:effectLst/>
                <a:uLnTx/>
                <a:uFillTx/>
                <a:latin typeface="Calibri"/>
                <a:ea typeface="+mn-ea"/>
                <a:cs typeface="+mn-cs"/>
              </a:rPr>
              <a:t> </a:t>
            </a:r>
            <a:r>
              <a:rPr kumimoji="0" lang="en-US" sz="2200" b="0" i="0" u="none" strike="noStrike" kern="1200" cap="none" spc="0" normalizeH="0" baseline="0" noProof="0" dirty="0">
                <a:ln>
                  <a:noFill/>
                </a:ln>
                <a:solidFill>
                  <a:sysClr val="windowText" lastClr="000000"/>
                </a:solidFill>
                <a:effectLst/>
                <a:uLnTx/>
                <a:uFillTx/>
                <a:latin typeface="Calibri"/>
                <a:ea typeface="+mn-ea"/>
                <a:cs typeface="+mn-cs"/>
              </a:rPr>
              <a:t>is called a </a:t>
            </a:r>
            <a:r>
              <a:rPr kumimoji="0" lang="en-US" sz="2200" b="0" i="1" u="none" strike="noStrike" kern="1200" cap="none" spc="0" normalizeH="0" baseline="0" noProof="0" dirty="0">
                <a:ln>
                  <a:noFill/>
                </a:ln>
                <a:solidFill>
                  <a:srgbClr val="0000FF"/>
                </a:solidFill>
                <a:effectLst/>
                <a:uLnTx/>
                <a:uFillTx/>
                <a:latin typeface="Calibri"/>
                <a:ea typeface="+mn-ea"/>
                <a:cs typeface="+mn-cs"/>
              </a:rPr>
              <a:t>Hamilton circuit</a:t>
            </a:r>
            <a:r>
              <a:rPr kumimoji="0" lang="en-US" sz="2200" b="0" i="0" u="none" strike="noStrike" kern="1200" cap="none" spc="0" normalizeH="0" baseline="0" noProof="0" dirty="0">
                <a:ln>
                  <a:noFill/>
                </a:ln>
                <a:solidFill>
                  <a:sysClr val="windowText" lastClr="000000"/>
                </a:solidFill>
                <a:effectLst/>
                <a:uLnTx/>
                <a:uFillTx/>
                <a:latin typeface="Calibri"/>
                <a:ea typeface="+mn-ea"/>
                <a:cs typeface="+mn-cs"/>
              </a:rPr>
              <a:t>. </a:t>
            </a:r>
          </a:p>
          <a:p>
            <a:pPr marL="0" marR="0" lvl="0" indent="0" algn="l" defTabSz="914400" rtl="0" eaLnBrk="0" fontAlgn="base" latinLnBrk="0" hangingPunct="0">
              <a:lnSpc>
                <a:spcPct val="100000"/>
              </a:lnSpc>
              <a:spcBef>
                <a:spcPct val="20000"/>
              </a:spcBef>
              <a:spcAft>
                <a:spcPct val="0"/>
              </a:spcAft>
              <a:buClrTx/>
              <a:buSzTx/>
              <a:buNone/>
              <a:tabLst/>
              <a:defRPr/>
            </a:pPr>
            <a:endParaRPr kumimoji="0" lang="en-US" sz="2200" b="1" i="0" u="sng" strike="noStrike" kern="1200" cap="none" spc="0" normalizeH="0" baseline="0" noProof="0" dirty="0">
              <a:ln>
                <a:noFill/>
              </a:ln>
              <a:solidFill>
                <a:srgbClr val="FF0000"/>
              </a:solidFill>
              <a:effectLst/>
              <a:uLnTx/>
              <a:uFillTx/>
              <a:latin typeface="Calibri"/>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Wingdings" pitchFamily="2" charset="2"/>
              <a:buChar char="§"/>
              <a:tabLst/>
              <a:defRPr/>
            </a:pPr>
            <a:r>
              <a:rPr kumimoji="0" lang="en-US" sz="2200" b="1" i="0" u="sng" strike="noStrike" kern="1200" cap="none" spc="0" normalizeH="0" baseline="0" noProof="0" dirty="0">
                <a:ln>
                  <a:noFill/>
                </a:ln>
                <a:solidFill>
                  <a:srgbClr val="FF0000"/>
                </a:solidFill>
                <a:effectLst/>
                <a:uLnTx/>
                <a:uFillTx/>
                <a:latin typeface="Calibri"/>
                <a:ea typeface="+mn-ea"/>
                <a:cs typeface="+mn-cs"/>
              </a:rPr>
              <a:t>Note</a:t>
            </a:r>
            <a:r>
              <a:rPr kumimoji="0" lang="en-US" sz="2200" b="0" i="0" u="none" strike="noStrike" kern="1200" cap="none" spc="0" normalizeH="0" baseline="0" noProof="0" dirty="0">
                <a:ln>
                  <a:noFill/>
                </a:ln>
                <a:solidFill>
                  <a:sysClr val="windowText" lastClr="000000"/>
                </a:solidFill>
                <a:effectLst/>
                <a:uLnTx/>
                <a:uFillTx/>
                <a:latin typeface="Calibri"/>
                <a:ea typeface="+mn-ea"/>
                <a:cs typeface="+mn-cs"/>
              </a:rPr>
              <a:t>: A Hamilton path/circuit does not necessarily pass through </a:t>
            </a:r>
            <a:r>
              <a:rPr kumimoji="0" lang="en-US" sz="2200" b="0" i="0" u="none" strike="noStrike" kern="1200" cap="none" spc="0" normalizeH="0" baseline="0" noProof="0" dirty="0">
                <a:ln>
                  <a:noFill/>
                </a:ln>
                <a:solidFill>
                  <a:srgbClr val="0000FF"/>
                </a:solidFill>
                <a:effectLst/>
                <a:uLnTx/>
                <a:uFillTx/>
                <a:latin typeface="Calibri"/>
                <a:ea typeface="+mn-ea"/>
                <a:cs typeface="+mn-cs"/>
              </a:rPr>
              <a:t>all  the edges </a:t>
            </a:r>
            <a:r>
              <a:rPr kumimoji="0" lang="en-US" sz="2200" b="0" i="0" u="none" strike="noStrike" kern="1200" cap="none" spc="0" normalizeH="0" baseline="0" noProof="0" dirty="0">
                <a:ln>
                  <a:noFill/>
                </a:ln>
                <a:solidFill>
                  <a:sysClr val="windowText" lastClr="000000"/>
                </a:solidFill>
                <a:effectLst/>
                <a:uLnTx/>
                <a:uFillTx/>
                <a:latin typeface="Calibri"/>
                <a:ea typeface="+mn-ea"/>
                <a:cs typeface="+mn-cs"/>
              </a:rPr>
              <a:t>of the graph</a:t>
            </a:r>
          </a:p>
          <a:p>
            <a:pPr>
              <a:buFont typeface="Wingdings" pitchFamily="2" charset="2"/>
              <a:buChar char="§"/>
              <a:defRPr/>
            </a:pPr>
            <a:r>
              <a:rPr lang="en-US" sz="2200" dirty="0"/>
              <a:t>Unlike Euler Paths and Circuits, there is no trick to tell if a graph has a Hamilton Path or Circuit. </a:t>
            </a:r>
          </a:p>
          <a:p>
            <a:pPr marL="342900" marR="0" lvl="0" indent="-342900" algn="l" defTabSz="914400" rtl="0" eaLnBrk="0" fontAlgn="base" latinLnBrk="0" hangingPunct="0">
              <a:lnSpc>
                <a:spcPct val="100000"/>
              </a:lnSpc>
              <a:spcBef>
                <a:spcPct val="20000"/>
              </a:spcBef>
              <a:spcAft>
                <a:spcPct val="0"/>
              </a:spcAft>
              <a:buClrTx/>
              <a:buSzTx/>
              <a:buFont typeface="Wingdings" pitchFamily="2" charset="2"/>
              <a:buChar char="§"/>
              <a:tabLst/>
              <a:defRPr/>
            </a:pPr>
            <a:endParaRPr kumimoji="0" lang="en-US" sz="22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25655359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04716" y="631885"/>
            <a:ext cx="7808976" cy="1088136"/>
          </a:xfrm>
        </p:spPr>
        <p:txBody>
          <a:bodyPr>
            <a:normAutofit/>
          </a:bodyPr>
          <a:lstStyle/>
          <a:p>
            <a:r>
              <a:rPr lang="en-US" dirty="0"/>
              <a:t>Hamilton</a:t>
            </a:r>
            <a:r>
              <a:rPr lang="en-US" sz="4400" dirty="0">
                <a:solidFill>
                  <a:srgbClr val="FF0000"/>
                </a:solidFill>
              </a:rPr>
              <a:t> </a:t>
            </a:r>
            <a:r>
              <a:rPr lang="en-US" dirty="0"/>
              <a:t>Paths</a:t>
            </a:r>
            <a:r>
              <a:rPr lang="en-US" sz="4400" dirty="0">
                <a:solidFill>
                  <a:srgbClr val="FF0000"/>
                </a:solidFill>
              </a:rPr>
              <a:t> </a:t>
            </a:r>
            <a:r>
              <a:rPr lang="en-US" dirty="0"/>
              <a:t>and</a:t>
            </a:r>
            <a:r>
              <a:rPr lang="en-US" sz="4400" dirty="0">
                <a:solidFill>
                  <a:srgbClr val="FF0000"/>
                </a:solidFill>
              </a:rPr>
              <a:t> </a:t>
            </a:r>
            <a:r>
              <a:rPr lang="en-US" dirty="0"/>
              <a:t>Circuits</a:t>
            </a:r>
          </a:p>
        </p:txBody>
      </p:sp>
      <p:sp>
        <p:nvSpPr>
          <p:cNvPr id="13" name="Content Placeholder 2">
            <a:extLst>
              <a:ext uri="{FF2B5EF4-FFF2-40B4-BE49-F238E27FC236}">
                <a16:creationId xmlns:a16="http://schemas.microsoft.com/office/drawing/2014/main" id="{59AE9CF1-266D-4C7C-AE48-E1BF31D11BBB}"/>
              </a:ext>
            </a:extLst>
          </p:cNvPr>
          <p:cNvSpPr txBox="1">
            <a:spLocks/>
          </p:cNvSpPr>
          <p:nvPr/>
        </p:nvSpPr>
        <p:spPr bwMode="auto">
          <a:xfrm>
            <a:off x="282633" y="2077268"/>
            <a:ext cx="8562109" cy="404889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2200" b="1" i="0" u="sng" strike="noStrike" kern="1200" cap="none" spc="0" normalizeH="0" baseline="0" noProof="0" dirty="0">
                <a:ln>
                  <a:noFill/>
                </a:ln>
                <a:solidFill>
                  <a:srgbClr val="FF0000"/>
                </a:solidFill>
                <a:effectLst/>
                <a:uLnTx/>
                <a:uFillTx/>
                <a:latin typeface="Calibri"/>
                <a:ea typeface="+mn-ea"/>
                <a:cs typeface="Times New Roman" pitchFamily="18" charset="0"/>
              </a:rPr>
              <a:t>EXAMPLE 5(p.577)</a:t>
            </a:r>
            <a:r>
              <a:rPr kumimoji="0" lang="en-US" sz="2200" b="1" i="0" u="none" strike="noStrike" kern="1200" cap="none" spc="0" normalizeH="0" baseline="0" noProof="0" dirty="0">
                <a:ln>
                  <a:noFill/>
                </a:ln>
                <a:solidFill>
                  <a:srgbClr val="FF0000"/>
                </a:solidFill>
                <a:effectLst/>
                <a:uLnTx/>
                <a:uFillTx/>
                <a:latin typeface="Calibri"/>
                <a:ea typeface="+mn-ea"/>
                <a:cs typeface="Times New Roman" pitchFamily="18" charset="0"/>
              </a:rPr>
              <a:t>: Which of the simple graphs in Figure 10 have a </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2200" b="1" i="0" u="none" strike="noStrike" kern="1200" cap="none" spc="0" normalizeH="0" baseline="0" noProof="0" dirty="0">
                <a:ln>
                  <a:noFill/>
                </a:ln>
                <a:solidFill>
                  <a:srgbClr val="FF0000"/>
                </a:solidFill>
                <a:effectLst/>
                <a:uLnTx/>
                <a:uFillTx/>
                <a:latin typeface="Calibri"/>
                <a:ea typeface="+mn-ea"/>
                <a:cs typeface="Times New Roman" pitchFamily="18" charset="0"/>
              </a:rPr>
              <a:t>Hamilton circuit or, if not, a Hamilton path?</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None/>
              <a:tabLst/>
              <a:defRPr/>
            </a:pPr>
            <a:endParaRPr kumimoji="0" lang="en-US" sz="2200" b="1" i="0" u="none" strike="noStrike" kern="1200" cap="none" spc="0" normalizeH="0" baseline="0" noProof="0" dirty="0">
              <a:ln>
                <a:noFill/>
              </a:ln>
              <a:solidFill>
                <a:srgbClr val="0000FF"/>
              </a:solidFill>
              <a:effectLst/>
              <a:uLnTx/>
              <a:uFillTx/>
              <a:latin typeface="Calibri"/>
              <a:ea typeface="+mn-ea"/>
              <a:cs typeface="Times New Roman" pitchFamily="18" charset="0"/>
            </a:endParaRP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endParaRPr kumimoji="0" lang="en-US" sz="2200" b="0" i="0" u="none" strike="noStrike" kern="1200" cap="none" spc="0" normalizeH="0" baseline="0" noProof="0" dirty="0">
              <a:ln>
                <a:noFill/>
              </a:ln>
              <a:solidFill>
                <a:sysClr val="windowText" lastClr="000000"/>
              </a:solidFill>
              <a:effectLst/>
              <a:uLnTx/>
              <a:uFillTx/>
              <a:latin typeface="Calibri"/>
              <a:ea typeface="+mn-ea"/>
              <a:cs typeface="+mn-cs"/>
            </a:endParaRPr>
          </a:p>
        </p:txBody>
      </p:sp>
      <p:pic>
        <p:nvPicPr>
          <p:cNvPr id="15" name="Picture 2">
            <a:extLst>
              <a:ext uri="{FF2B5EF4-FFF2-40B4-BE49-F238E27FC236}">
                <a16:creationId xmlns:a16="http://schemas.microsoft.com/office/drawing/2014/main" id="{11C83F46-521A-4895-AEE2-AD0B32BA9EDD}"/>
              </a:ext>
            </a:extLst>
          </p:cNvPr>
          <p:cNvPicPr>
            <a:picLocks noChangeAspect="1" noChangeArrowheads="1"/>
          </p:cNvPicPr>
          <p:nvPr/>
        </p:nvPicPr>
        <p:blipFill>
          <a:blip r:embed="rId2" cstate="print"/>
          <a:srcRect/>
          <a:stretch>
            <a:fillRect/>
          </a:stretch>
        </p:blipFill>
        <p:spPr bwMode="auto">
          <a:xfrm>
            <a:off x="1283623" y="3102068"/>
            <a:ext cx="6576753" cy="2772553"/>
          </a:xfrm>
          <a:prstGeom prst="rect">
            <a:avLst/>
          </a:prstGeom>
          <a:noFill/>
          <a:ln w="9525">
            <a:noFill/>
            <a:miter lim="800000"/>
            <a:headEnd/>
            <a:tailEnd/>
          </a:ln>
        </p:spPr>
      </p:pic>
      <p:sp>
        <p:nvSpPr>
          <p:cNvPr id="16" name="TextBox 5">
            <a:extLst>
              <a:ext uri="{FF2B5EF4-FFF2-40B4-BE49-F238E27FC236}">
                <a16:creationId xmlns:a16="http://schemas.microsoft.com/office/drawing/2014/main" id="{45CAD585-BB21-44E6-B093-D1738474C6B1}"/>
              </a:ext>
            </a:extLst>
          </p:cNvPr>
          <p:cNvSpPr txBox="1">
            <a:spLocks noChangeArrowheads="1"/>
          </p:cNvSpPr>
          <p:nvPr/>
        </p:nvSpPr>
        <p:spPr bwMode="auto">
          <a:xfrm>
            <a:off x="2057400" y="5715000"/>
            <a:ext cx="4918075" cy="461963"/>
          </a:xfrm>
          <a:prstGeom prst="rect">
            <a:avLst/>
          </a:prstGeom>
          <a:noFill/>
          <a:ln w="9525">
            <a:noFill/>
            <a:miter lim="800000"/>
            <a:headEnd/>
            <a:tailEnd/>
          </a:ln>
        </p:spPr>
        <p:txBody>
          <a:bodyPr wrap="none">
            <a:spAutoFit/>
          </a:bodyPr>
          <a:lstStyle/>
          <a:p>
            <a:pPr fontAlgn="base">
              <a:spcBef>
                <a:spcPct val="0"/>
              </a:spcBef>
              <a:spcAft>
                <a:spcPct val="0"/>
              </a:spcAft>
            </a:pPr>
            <a:r>
              <a:rPr lang="en-US" sz="2400" b="1" dirty="0">
                <a:solidFill>
                  <a:srgbClr val="FF0000"/>
                </a:solidFill>
                <a:latin typeface="Arial" pitchFamily="34" charset="0"/>
                <a:cs typeface="Arial" pitchFamily="34" charset="0"/>
              </a:rPr>
              <a:t>Figure 10 : Three Simple Graphs</a:t>
            </a:r>
          </a:p>
        </p:txBody>
      </p:sp>
    </p:spTree>
    <p:extLst>
      <p:ext uri="{BB962C8B-B14F-4D97-AF65-F5344CB8AC3E}">
        <p14:creationId xmlns:p14="http://schemas.microsoft.com/office/powerpoint/2010/main" val="21435974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04716" y="631885"/>
            <a:ext cx="7808976" cy="1088136"/>
          </a:xfrm>
        </p:spPr>
        <p:txBody>
          <a:bodyPr>
            <a:normAutofit/>
          </a:bodyPr>
          <a:lstStyle/>
          <a:p>
            <a:r>
              <a:rPr lang="en-US" dirty="0"/>
              <a:t>Hamilton</a:t>
            </a:r>
            <a:r>
              <a:rPr lang="en-US" sz="4400" dirty="0">
                <a:solidFill>
                  <a:srgbClr val="FF0000"/>
                </a:solidFill>
              </a:rPr>
              <a:t> </a:t>
            </a:r>
            <a:r>
              <a:rPr lang="en-US" dirty="0"/>
              <a:t>Paths</a:t>
            </a:r>
            <a:r>
              <a:rPr lang="en-US" sz="4400" dirty="0">
                <a:solidFill>
                  <a:srgbClr val="FF0000"/>
                </a:solidFill>
              </a:rPr>
              <a:t> </a:t>
            </a:r>
            <a:r>
              <a:rPr lang="en-US" dirty="0"/>
              <a:t>and</a:t>
            </a:r>
            <a:r>
              <a:rPr lang="en-US" sz="4400" dirty="0">
                <a:solidFill>
                  <a:srgbClr val="FF0000"/>
                </a:solidFill>
              </a:rPr>
              <a:t> </a:t>
            </a:r>
            <a:r>
              <a:rPr lang="en-US" dirty="0"/>
              <a:t>Circuits</a:t>
            </a:r>
          </a:p>
        </p:txBody>
      </p:sp>
      <p:sp>
        <p:nvSpPr>
          <p:cNvPr id="11" name="Content Placeholder 2">
            <a:extLst>
              <a:ext uri="{FF2B5EF4-FFF2-40B4-BE49-F238E27FC236}">
                <a16:creationId xmlns:a16="http://schemas.microsoft.com/office/drawing/2014/main" id="{774877E2-9862-4629-83D4-6CAD45630706}"/>
              </a:ext>
            </a:extLst>
          </p:cNvPr>
          <p:cNvSpPr txBox="1">
            <a:spLocks/>
          </p:cNvSpPr>
          <p:nvPr/>
        </p:nvSpPr>
        <p:spPr bwMode="auto">
          <a:xfrm>
            <a:off x="216131" y="1995054"/>
            <a:ext cx="8623069" cy="440574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ts val="600"/>
              </a:spcBef>
              <a:spcAft>
                <a:spcPct val="0"/>
              </a:spcAft>
              <a:buClrTx/>
              <a:buSzTx/>
              <a:buFont typeface="Arial" pitchFamily="34" charset="0"/>
              <a:buNone/>
              <a:tabLst/>
              <a:defRPr/>
            </a:pPr>
            <a:r>
              <a:rPr kumimoji="0" lang="en-US" sz="2800" b="1" i="0" u="sng" strike="noStrike" kern="1200" cap="none" spc="0" normalizeH="0" baseline="0" noProof="0" dirty="0">
                <a:ln>
                  <a:noFill/>
                </a:ln>
                <a:solidFill>
                  <a:srgbClr val="0000FF"/>
                </a:solidFill>
                <a:effectLst/>
                <a:uLnTx/>
                <a:uFillTx/>
                <a:latin typeface="Calibri"/>
                <a:ea typeface="+mn-ea"/>
                <a:cs typeface="Times New Roman" pitchFamily="18" charset="0"/>
              </a:rPr>
              <a:t>Solution:</a:t>
            </a: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endParaRPr>
          </a:p>
          <a:p>
            <a:pPr marL="342900" marR="0" lvl="0" indent="-342900" algn="l" defTabSz="914400" rtl="0" eaLnBrk="0" fontAlgn="base" latinLnBrk="0" hangingPunct="0">
              <a:lnSpc>
                <a:spcPct val="100000"/>
              </a:lnSpc>
              <a:spcBef>
                <a:spcPts val="600"/>
              </a:spcBef>
              <a:spcAft>
                <a:spcPct val="0"/>
              </a:spcAft>
              <a:buClrTx/>
              <a:buSzTx/>
              <a:buFont typeface="Arial" pitchFamily="34" charset="0"/>
              <a:buChar char="•"/>
              <a:tabLst/>
              <a:defRPr/>
            </a:pPr>
            <a:r>
              <a:rPr kumimoji="0" lang="en-US" sz="2800" b="0" i="0" u="none" strike="noStrike" kern="1200" cap="none" spc="0" normalizeH="0" baseline="0" noProof="0" dirty="0">
                <a:ln>
                  <a:noFill/>
                </a:ln>
                <a:solidFill>
                  <a:srgbClr val="0000FF"/>
                </a:solidFill>
                <a:effectLst/>
                <a:uLnTx/>
                <a:uFillTx/>
                <a:latin typeface="Calibri"/>
                <a:ea typeface="+mn-ea"/>
                <a:cs typeface="Times New Roman" pitchFamily="18" charset="0"/>
              </a:rPr>
              <a:t>G</a:t>
            </a:r>
            <a:r>
              <a:rPr kumimoji="0" lang="en-US" sz="2800" b="0" i="0" u="none" strike="noStrike" kern="1200" cap="none" spc="0" normalizeH="0" baseline="-25000" noProof="0" dirty="0">
                <a:ln>
                  <a:noFill/>
                </a:ln>
                <a:solidFill>
                  <a:srgbClr val="0000FF"/>
                </a:solidFill>
                <a:effectLst/>
                <a:uLnTx/>
                <a:uFillTx/>
                <a:latin typeface="Calibri"/>
                <a:ea typeface="+mn-ea"/>
                <a:cs typeface="Times New Roman" pitchFamily="18" charset="0"/>
              </a:rPr>
              <a:t>1 </a:t>
            </a:r>
            <a:r>
              <a:rPr kumimoji="0" lang="en-US" sz="2800" b="0" i="0" u="none" strike="noStrike" kern="1200" cap="none" spc="0" normalizeH="0" baseline="0" noProof="0" dirty="0">
                <a:ln>
                  <a:noFill/>
                </a:ln>
                <a:solidFill>
                  <a:srgbClr val="0000FF"/>
                </a:solidFill>
                <a:effectLst/>
                <a:uLnTx/>
                <a:uFillTx/>
                <a:latin typeface="Calibri"/>
                <a:ea typeface="+mn-ea"/>
                <a:cs typeface="Times New Roman" pitchFamily="18" charset="0"/>
              </a:rPr>
              <a:t>has a Hamilton circuit</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 a, b, c, d, e, a. </a:t>
            </a:r>
          </a:p>
          <a:p>
            <a:pPr marL="342900" marR="0" lvl="0" indent="-342900" algn="l" defTabSz="914400" rtl="0" eaLnBrk="0" fontAlgn="base" latinLnBrk="0" hangingPunct="0">
              <a:lnSpc>
                <a:spcPct val="100000"/>
              </a:lnSpc>
              <a:spcBef>
                <a:spcPts val="600"/>
              </a:spcBef>
              <a:spcAft>
                <a:spcPct val="0"/>
              </a:spcAft>
              <a:buClrTx/>
              <a:buSzTx/>
              <a:buFont typeface="Arial" pitchFamily="34" charset="0"/>
              <a:buChar char="•"/>
              <a:tabLst/>
              <a:defRPr/>
            </a:pPr>
            <a:r>
              <a:rPr kumimoji="0" lang="en-US" sz="28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There is </a:t>
            </a:r>
            <a:r>
              <a:rPr kumimoji="0" lang="en-US" sz="2800" b="0" i="0" u="none" strike="noStrike" kern="1200" cap="none" spc="0" normalizeH="0" baseline="0" noProof="0" dirty="0">
                <a:ln>
                  <a:noFill/>
                </a:ln>
                <a:solidFill>
                  <a:srgbClr val="0000FF"/>
                </a:solidFill>
                <a:effectLst/>
                <a:uLnTx/>
                <a:uFillTx/>
                <a:latin typeface="Calibri"/>
                <a:ea typeface="+mn-ea"/>
                <a:cs typeface="Times New Roman" pitchFamily="18" charset="0"/>
              </a:rPr>
              <a:t>no Hamilton circuit in G</a:t>
            </a:r>
            <a:r>
              <a:rPr kumimoji="0" lang="en-US" sz="2800" b="0" i="0" u="none" strike="noStrike" kern="1200" cap="none" spc="0" normalizeH="0" baseline="-25000" noProof="0" dirty="0">
                <a:ln>
                  <a:noFill/>
                </a:ln>
                <a:solidFill>
                  <a:srgbClr val="0000FF"/>
                </a:solidFill>
                <a:effectLst/>
                <a:uLnTx/>
                <a:uFillTx/>
                <a:latin typeface="Calibri"/>
                <a:ea typeface="+mn-ea"/>
                <a:cs typeface="Times New Roman" pitchFamily="18" charset="0"/>
              </a:rPr>
              <a:t>2</a:t>
            </a:r>
            <a:r>
              <a:rPr kumimoji="0" lang="en-US" sz="2800" b="0" i="0" u="none" strike="noStrike" kern="1200" cap="none" spc="0" normalizeH="0" baseline="0" noProof="0" dirty="0">
                <a:ln>
                  <a:noFill/>
                </a:ln>
                <a:solidFill>
                  <a:srgbClr val="0000FF"/>
                </a:solidFill>
                <a:effectLst/>
                <a:uLnTx/>
                <a:uFillTx/>
                <a:latin typeface="Calibri"/>
                <a:ea typeface="+mn-ea"/>
                <a:cs typeface="Times New Roman" pitchFamily="18" charset="0"/>
              </a:rPr>
              <a:t> </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(this can be seen by noting that any circuit containing every vertex  must contain the edge {a, b} twice), </a:t>
            </a:r>
          </a:p>
          <a:p>
            <a:pPr marL="342900" marR="0" lvl="0" indent="-342900" algn="l" defTabSz="914400" rtl="0" eaLnBrk="0" fontAlgn="base" latinLnBrk="0" hangingPunct="0">
              <a:lnSpc>
                <a:spcPct val="100000"/>
              </a:lnSpc>
              <a:spcBef>
                <a:spcPts val="600"/>
              </a:spcBef>
              <a:spcAft>
                <a:spcPct val="0"/>
              </a:spcAft>
              <a:buClrTx/>
              <a:buSzTx/>
              <a:buFont typeface="Arial" pitchFamily="34" charset="0"/>
              <a:buNone/>
              <a:tabLst/>
              <a:defRPr/>
            </a:pPr>
            <a:r>
              <a:rPr kumimoji="0" lang="en-US" sz="28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	</a:t>
            </a:r>
            <a:r>
              <a:rPr kumimoji="0" lang="en-US" sz="2800" b="0" i="0" u="none" strike="noStrike" kern="1200" cap="none" spc="0" normalizeH="0" baseline="0" noProof="0" dirty="0">
                <a:ln>
                  <a:noFill/>
                </a:ln>
                <a:solidFill>
                  <a:srgbClr val="0000FF"/>
                </a:solidFill>
                <a:effectLst/>
                <a:uLnTx/>
                <a:uFillTx/>
                <a:latin typeface="Calibri"/>
                <a:ea typeface="+mn-ea"/>
                <a:cs typeface="Times New Roman" pitchFamily="18" charset="0"/>
              </a:rPr>
              <a:t>but G</a:t>
            </a:r>
            <a:r>
              <a:rPr kumimoji="0" lang="en-US" sz="2800" b="0" i="0" u="none" strike="noStrike" kern="1200" cap="none" spc="0" normalizeH="0" baseline="-25000" noProof="0" dirty="0">
                <a:ln>
                  <a:noFill/>
                </a:ln>
                <a:solidFill>
                  <a:srgbClr val="0000FF"/>
                </a:solidFill>
                <a:effectLst/>
                <a:uLnTx/>
                <a:uFillTx/>
                <a:latin typeface="Calibri"/>
                <a:ea typeface="+mn-ea"/>
                <a:cs typeface="Times New Roman" pitchFamily="18" charset="0"/>
              </a:rPr>
              <a:t>2</a:t>
            </a:r>
            <a:r>
              <a:rPr kumimoji="0" lang="en-US" sz="2800" b="0" i="0" u="none" strike="noStrike" kern="1200" cap="none" spc="0" normalizeH="0" baseline="0" noProof="0" dirty="0">
                <a:ln>
                  <a:noFill/>
                </a:ln>
                <a:solidFill>
                  <a:srgbClr val="0000FF"/>
                </a:solidFill>
                <a:effectLst/>
                <a:uLnTx/>
                <a:uFillTx/>
                <a:latin typeface="Calibri"/>
                <a:ea typeface="+mn-ea"/>
                <a:cs typeface="Times New Roman" pitchFamily="18" charset="0"/>
              </a:rPr>
              <a:t> does have a Hamilton path, namely, a, b, c, d. </a:t>
            </a:r>
          </a:p>
          <a:p>
            <a:pPr marL="342900" marR="0" lvl="0" indent="-342900" algn="l" defTabSz="914400" rtl="0" eaLnBrk="0" fontAlgn="base" latinLnBrk="0" hangingPunct="0">
              <a:lnSpc>
                <a:spcPct val="100000"/>
              </a:lnSpc>
              <a:spcBef>
                <a:spcPts val="600"/>
              </a:spcBef>
              <a:spcAft>
                <a:spcPct val="0"/>
              </a:spcAft>
              <a:buClrTx/>
              <a:buSzTx/>
              <a:buFont typeface="Arial" pitchFamily="34" charset="0"/>
              <a:buChar char="•"/>
              <a:tabLst/>
              <a:defRPr/>
            </a:pPr>
            <a:r>
              <a:rPr kumimoji="0" lang="en-US" sz="2800" b="0" i="0" u="none" strike="noStrike" kern="1200" cap="none" spc="0" normalizeH="0" baseline="0" noProof="0" dirty="0">
                <a:ln>
                  <a:noFill/>
                </a:ln>
                <a:solidFill>
                  <a:srgbClr val="0000FF"/>
                </a:solidFill>
                <a:effectLst/>
                <a:uLnTx/>
                <a:uFillTx/>
                <a:latin typeface="Calibri"/>
                <a:ea typeface="+mn-ea"/>
                <a:cs typeface="Times New Roman" pitchFamily="18" charset="0"/>
              </a:rPr>
              <a:t>G</a:t>
            </a:r>
            <a:r>
              <a:rPr kumimoji="0" lang="en-US" sz="2800" b="0" i="0" u="none" strike="noStrike" kern="1200" cap="none" spc="0" normalizeH="0" baseline="-25000" noProof="0" dirty="0">
                <a:ln>
                  <a:noFill/>
                </a:ln>
                <a:solidFill>
                  <a:srgbClr val="0000FF"/>
                </a:solidFill>
                <a:effectLst/>
                <a:uLnTx/>
                <a:uFillTx/>
                <a:latin typeface="Calibri"/>
                <a:ea typeface="+mn-ea"/>
                <a:cs typeface="Times New Roman" pitchFamily="18" charset="0"/>
              </a:rPr>
              <a:t>3</a:t>
            </a:r>
            <a:r>
              <a:rPr kumimoji="0" lang="en-US" sz="2800" b="0" i="0" u="none" strike="noStrike" kern="1200" cap="none" spc="0" normalizeH="0" baseline="0" noProof="0" dirty="0">
                <a:ln>
                  <a:noFill/>
                </a:ln>
                <a:solidFill>
                  <a:srgbClr val="0000FF"/>
                </a:solidFill>
                <a:effectLst/>
                <a:uLnTx/>
                <a:uFillTx/>
                <a:latin typeface="Calibri"/>
                <a:ea typeface="+mn-ea"/>
                <a:cs typeface="Times New Roman" pitchFamily="18" charset="0"/>
              </a:rPr>
              <a:t> has neither a Hamilton circuit nor a Hamilton path</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 because any path containing all vertices must contain one of the edges {a, b},{e, f }, and {c, d} more than once. </a:t>
            </a: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2885449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1"/>
            <a:ext cx="7162586" cy="698627"/>
          </a:xfrm>
          <a:prstGeom prst="rect">
            <a:avLst/>
          </a:prstGeom>
        </p:spPr>
        <p:txBody>
          <a:bodyPr>
            <a:normAutofit fontScale="925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Necessary &amp; Sufficient Criteria for Hamilton Circuits</a:t>
            </a:r>
          </a:p>
        </p:txBody>
      </p:sp>
      <p:sp>
        <p:nvSpPr>
          <p:cNvPr id="6" name="Content Placeholder 2">
            <a:extLst>
              <a:ext uri="{FF2B5EF4-FFF2-40B4-BE49-F238E27FC236}">
                <a16:creationId xmlns:a16="http://schemas.microsoft.com/office/drawing/2014/main" id="{A80F25ED-DC5C-4A06-8366-41CC21AEEF98}"/>
              </a:ext>
            </a:extLst>
          </p:cNvPr>
          <p:cNvSpPr txBox="1">
            <a:spLocks/>
          </p:cNvSpPr>
          <p:nvPr/>
        </p:nvSpPr>
        <p:spPr bwMode="auto">
          <a:xfrm>
            <a:off x="159488" y="1323754"/>
            <a:ext cx="8516679"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kumimoji="0" lang="en-US" sz="2200" b="0" i="0" u="none" strike="noStrike" kern="1200" cap="none" spc="0" normalizeH="0" baseline="0" noProof="0" dirty="0">
                <a:ln>
                  <a:noFill/>
                </a:ln>
                <a:solidFill>
                  <a:srgbClr val="FF0000"/>
                </a:solidFill>
                <a:effectLst/>
                <a:uLnTx/>
                <a:uFillTx/>
                <a:latin typeface="Calibri"/>
                <a:ea typeface="+mn-ea"/>
                <a:cs typeface="+mn-cs"/>
              </a:rPr>
              <a:t>There are </a:t>
            </a:r>
            <a:r>
              <a:rPr kumimoji="0" lang="en-US" sz="2200" b="1" i="0" u="none" strike="noStrike" kern="1200" cap="none" spc="0" normalizeH="0" baseline="0" noProof="0" dirty="0">
                <a:ln>
                  <a:noFill/>
                </a:ln>
                <a:solidFill>
                  <a:srgbClr val="FF0000"/>
                </a:solidFill>
                <a:effectLst/>
                <a:uLnTx/>
                <a:uFillTx/>
                <a:latin typeface="Calibri"/>
                <a:ea typeface="+mn-ea"/>
                <a:cs typeface="+mn-cs"/>
              </a:rPr>
              <a:t>NO</a:t>
            </a:r>
            <a:r>
              <a:rPr kumimoji="0" lang="en-US" sz="2200" b="0" i="0" u="none" strike="noStrike" kern="1200" cap="none" spc="0" normalizeH="0" baseline="0" noProof="0" dirty="0">
                <a:ln>
                  <a:noFill/>
                </a:ln>
                <a:solidFill>
                  <a:srgbClr val="FF0000"/>
                </a:solidFill>
                <a:effectLst/>
                <a:uLnTx/>
                <a:uFillTx/>
                <a:latin typeface="Calibri"/>
                <a:ea typeface="+mn-ea"/>
                <a:cs typeface="+mn-cs"/>
              </a:rPr>
              <a:t> known simple </a:t>
            </a:r>
            <a:r>
              <a:rPr kumimoji="0" lang="en-US" sz="2200" b="1" i="0" u="none" strike="noStrike" kern="1200" cap="none" spc="0" normalizeH="0" baseline="0" noProof="0" dirty="0">
                <a:ln>
                  <a:noFill/>
                </a:ln>
                <a:solidFill>
                  <a:srgbClr val="FF0000"/>
                </a:solidFill>
                <a:effectLst/>
                <a:uLnTx/>
                <a:uFillTx/>
                <a:latin typeface="Calibri"/>
                <a:ea typeface="+mn-ea"/>
                <a:cs typeface="+mn-cs"/>
              </a:rPr>
              <a:t>necessary</a:t>
            </a:r>
            <a:r>
              <a:rPr kumimoji="0" lang="en-US" sz="2200" b="0" i="0" u="none" strike="noStrike" kern="1200" cap="none" spc="0" normalizeH="0" baseline="0" noProof="0" dirty="0">
                <a:ln>
                  <a:noFill/>
                </a:ln>
                <a:solidFill>
                  <a:srgbClr val="FF0000"/>
                </a:solidFill>
                <a:effectLst/>
                <a:uLnTx/>
                <a:uFillTx/>
                <a:latin typeface="Calibri"/>
                <a:ea typeface="+mn-ea"/>
                <a:cs typeface="+mn-cs"/>
              </a:rPr>
              <a:t> and </a:t>
            </a:r>
            <a:r>
              <a:rPr kumimoji="0" lang="en-US" sz="2200" b="1" i="0" u="none" strike="noStrike" kern="1200" cap="none" spc="0" normalizeH="0" baseline="0" noProof="0" dirty="0">
                <a:ln>
                  <a:noFill/>
                </a:ln>
                <a:solidFill>
                  <a:srgbClr val="FF0000"/>
                </a:solidFill>
                <a:effectLst/>
                <a:uLnTx/>
                <a:uFillTx/>
                <a:latin typeface="Calibri"/>
                <a:ea typeface="+mn-ea"/>
                <a:cs typeface="+mn-cs"/>
              </a:rPr>
              <a:t>sufficient</a:t>
            </a:r>
            <a:r>
              <a:rPr kumimoji="0" lang="en-US" sz="2200" b="0" i="0" u="none" strike="noStrike" kern="1200" cap="none" spc="0" normalizeH="0" baseline="0" noProof="0" dirty="0">
                <a:ln>
                  <a:noFill/>
                </a:ln>
                <a:solidFill>
                  <a:srgbClr val="FF0000"/>
                </a:solidFill>
                <a:effectLst/>
                <a:uLnTx/>
                <a:uFillTx/>
                <a:latin typeface="Calibri"/>
                <a:ea typeface="+mn-ea"/>
                <a:cs typeface="+mn-cs"/>
              </a:rPr>
              <a:t> criteria for the existence of Hamilton circuits. </a:t>
            </a:r>
            <a:r>
              <a:rPr kumimoji="0" lang="en-US" sz="2200" b="0" i="0" u="none" strike="noStrike" kern="1200" cap="none" spc="0" normalizeH="0" baseline="0" noProof="0" dirty="0">
                <a:ln>
                  <a:noFill/>
                </a:ln>
                <a:solidFill>
                  <a:srgbClr val="0000FF"/>
                </a:solidFill>
                <a:effectLst/>
                <a:uLnTx/>
                <a:uFillTx/>
                <a:latin typeface="Calibri"/>
                <a:ea typeface="+mn-ea"/>
                <a:cs typeface="+mn-cs"/>
              </a:rPr>
              <a:t>However</a:t>
            </a:r>
            <a:r>
              <a:rPr kumimoji="0" lang="en-US" sz="2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2200" b="0" i="0" u="none" strike="noStrike" kern="1200" cap="none" spc="0" normalizeH="0" baseline="0" noProof="0" dirty="0">
                <a:ln>
                  <a:noFill/>
                </a:ln>
                <a:solidFill>
                  <a:srgbClr val="0000FF"/>
                </a:solidFill>
                <a:effectLst/>
                <a:uLnTx/>
                <a:uFillTx/>
                <a:latin typeface="Calibri"/>
                <a:ea typeface="+mn-ea"/>
                <a:cs typeface="+mn-cs"/>
              </a:rPr>
              <a:t>many theorems are known that give </a:t>
            </a:r>
            <a:r>
              <a:rPr kumimoji="0" lang="en-US" sz="2200" b="1" i="0" u="none" strike="noStrike" kern="1200" cap="none" spc="0" normalizeH="0" baseline="0" noProof="0" dirty="0">
                <a:ln>
                  <a:noFill/>
                </a:ln>
                <a:solidFill>
                  <a:srgbClr val="0000FF"/>
                </a:solidFill>
                <a:effectLst/>
                <a:uLnTx/>
                <a:uFillTx/>
                <a:latin typeface="Calibri"/>
                <a:ea typeface="+mn-ea"/>
                <a:cs typeface="+mn-cs"/>
              </a:rPr>
              <a:t>sufficient</a:t>
            </a:r>
            <a:r>
              <a:rPr kumimoji="0" lang="en-US" sz="2200" b="0" i="0" u="none" strike="noStrike" kern="1200" cap="none" spc="0" normalizeH="0" baseline="0" noProof="0" dirty="0">
                <a:ln>
                  <a:noFill/>
                </a:ln>
                <a:solidFill>
                  <a:srgbClr val="0000FF"/>
                </a:solidFill>
                <a:effectLst/>
                <a:uLnTx/>
                <a:uFillTx/>
                <a:latin typeface="Calibri"/>
                <a:ea typeface="+mn-ea"/>
                <a:cs typeface="+mn-cs"/>
              </a:rPr>
              <a:t> </a:t>
            </a:r>
            <a:r>
              <a:rPr kumimoji="0" lang="en-US" sz="2200" b="1" i="0" u="none" strike="noStrike" kern="1200" cap="none" spc="0" normalizeH="0" baseline="0" noProof="0" dirty="0">
                <a:ln>
                  <a:noFill/>
                </a:ln>
                <a:solidFill>
                  <a:srgbClr val="0000FF"/>
                </a:solidFill>
                <a:effectLst/>
                <a:uLnTx/>
                <a:uFillTx/>
                <a:latin typeface="Calibri"/>
                <a:ea typeface="+mn-ea"/>
                <a:cs typeface="+mn-cs"/>
              </a:rPr>
              <a:t>conditions</a:t>
            </a:r>
            <a:r>
              <a:rPr kumimoji="0" lang="en-US" sz="2200" b="0" i="0" u="none" strike="noStrike" kern="1200" cap="none" spc="0" normalizeH="0" baseline="0" noProof="0" dirty="0">
                <a:ln>
                  <a:noFill/>
                </a:ln>
                <a:solidFill>
                  <a:srgbClr val="0000FF"/>
                </a:solidFill>
                <a:effectLst/>
                <a:uLnTx/>
                <a:uFillTx/>
                <a:latin typeface="Calibri"/>
                <a:ea typeface="+mn-ea"/>
                <a:cs typeface="+mn-cs"/>
              </a:rPr>
              <a:t> for the existence of Hamilton circuits.</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kumimoji="0" lang="en-US" sz="2200" b="0" i="0" u="none" strike="noStrike" kern="1200" cap="none" spc="0" normalizeH="0" baseline="0" noProof="0" dirty="0">
                <a:ln>
                  <a:noFill/>
                </a:ln>
                <a:solidFill>
                  <a:sysClr val="windowText" lastClr="000000"/>
                </a:solidFill>
                <a:effectLst/>
                <a:uLnTx/>
                <a:uFillTx/>
                <a:latin typeface="Calibri"/>
                <a:ea typeface="+mn-ea"/>
                <a:cs typeface="+mn-cs"/>
              </a:rPr>
              <a:t>Certain properties can be used to show that a graph has no Hamilton circuit. For instance, </a:t>
            </a:r>
            <a:r>
              <a:rPr kumimoji="0" lang="en-US" sz="2200" b="0" i="0" u="none" strike="noStrike" kern="1200" cap="none" spc="0" normalizeH="0" baseline="0" noProof="0" dirty="0">
                <a:ln>
                  <a:noFill/>
                </a:ln>
                <a:solidFill>
                  <a:sysClr val="windowText" lastClr="000000"/>
                </a:solidFill>
                <a:effectLst/>
                <a:highlight>
                  <a:srgbClr val="00FFFF"/>
                </a:highlight>
                <a:uLnTx/>
                <a:uFillTx/>
                <a:latin typeface="Calibri"/>
                <a:ea typeface="+mn-ea"/>
                <a:cs typeface="+mn-cs"/>
              </a:rPr>
              <a:t>a graph with a vertex of degree one cannot have a Hamilton circuit, because in a Hamilton circuit, each vertex is incident with two edges in the circuit</a:t>
            </a:r>
            <a:r>
              <a:rPr kumimoji="0" lang="en-US" sz="2200" b="0" i="0" u="none" strike="noStrike" kern="1200" cap="none" spc="0" normalizeH="0" baseline="0" noProof="0" dirty="0">
                <a:ln>
                  <a:noFill/>
                </a:ln>
                <a:solidFill>
                  <a:sysClr val="windowText" lastClr="000000"/>
                </a:solidFill>
                <a:effectLst/>
                <a:uLnTx/>
                <a:uFillTx/>
                <a:latin typeface="Calibri"/>
                <a:ea typeface="+mn-ea"/>
                <a:cs typeface="+mn-cs"/>
              </a:rPr>
              <a:t>. Moreover, if a vertex in the graph has degree two, then both edges that are incident with this vertex must be part of any Hamilton circuit.</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kumimoji="0" lang="en-US" sz="2200" b="0" i="0" u="none" strike="noStrike" kern="1200" cap="none" spc="0" normalizeH="0" baseline="0" noProof="0" dirty="0">
                <a:ln>
                  <a:noFill/>
                </a:ln>
                <a:solidFill>
                  <a:sysClr val="windowText" lastClr="000000"/>
                </a:solidFill>
                <a:effectLst/>
                <a:uLnTx/>
                <a:uFillTx/>
                <a:latin typeface="Calibri"/>
                <a:ea typeface="+mn-ea"/>
                <a:cs typeface="+mn-cs"/>
              </a:rPr>
              <a:t>When a Hamilton circuit is being constructed and this circuit has passed through a vertex, then all remaining edges incident with this vertex, other than the two used in the circuit, can be removed from consideration.</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kumimoji="0" lang="en-US" sz="2200" b="0" i="0" u="none" strike="noStrike" kern="1200" cap="none" spc="0" normalizeH="0" baseline="0" noProof="0" dirty="0">
                <a:ln>
                  <a:noFill/>
                </a:ln>
                <a:solidFill>
                  <a:sysClr val="windowText" lastClr="000000"/>
                </a:solidFill>
                <a:effectLst/>
                <a:highlight>
                  <a:srgbClr val="FFFF00"/>
                </a:highlight>
                <a:uLnTx/>
                <a:uFillTx/>
                <a:latin typeface="Calibri"/>
                <a:ea typeface="+mn-ea"/>
                <a:cs typeface="+mn-cs"/>
              </a:rPr>
              <a:t>A Hamilton circuit cannot contain a smaller circuit within it.</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endParaRPr kumimoji="0" lang="en-US" sz="22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2962669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1"/>
            <a:ext cx="7162586" cy="698627"/>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b="1" dirty="0">
                <a:solidFill>
                  <a:schemeClr val="tx1"/>
                </a:solidFill>
              </a:rPr>
              <a:t>Hamilton</a:t>
            </a:r>
            <a:r>
              <a:rPr lang="en-US" sz="2800" dirty="0"/>
              <a:t> </a:t>
            </a:r>
            <a:r>
              <a:rPr lang="en-US" b="1" dirty="0">
                <a:solidFill>
                  <a:schemeClr val="tx1"/>
                </a:solidFill>
              </a:rPr>
              <a:t>Paths</a:t>
            </a:r>
            <a:r>
              <a:rPr lang="en-US" sz="2800" dirty="0"/>
              <a:t> </a:t>
            </a:r>
            <a:r>
              <a:rPr lang="en-US" b="1" dirty="0">
                <a:solidFill>
                  <a:schemeClr val="tx1"/>
                </a:solidFill>
              </a:rPr>
              <a:t>and</a:t>
            </a:r>
            <a:r>
              <a:rPr lang="en-US" sz="2800" dirty="0"/>
              <a:t> </a:t>
            </a:r>
            <a:r>
              <a:rPr lang="en-US" b="1" dirty="0">
                <a:solidFill>
                  <a:schemeClr val="tx1"/>
                </a:solidFill>
              </a:rPr>
              <a:t>Circuits</a:t>
            </a:r>
          </a:p>
        </p:txBody>
      </p:sp>
      <p:sp>
        <p:nvSpPr>
          <p:cNvPr id="11" name="Content Placeholder 2">
            <a:extLst>
              <a:ext uri="{FF2B5EF4-FFF2-40B4-BE49-F238E27FC236}">
                <a16:creationId xmlns:a16="http://schemas.microsoft.com/office/drawing/2014/main" id="{0583CE16-0643-4039-8513-DFF451197FA6}"/>
              </a:ext>
            </a:extLst>
          </p:cNvPr>
          <p:cNvSpPr txBox="1">
            <a:spLocks/>
          </p:cNvSpPr>
          <p:nvPr/>
        </p:nvSpPr>
        <p:spPr bwMode="auto">
          <a:xfrm>
            <a:off x="335494" y="1579418"/>
            <a:ext cx="8351306" cy="454674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2000" b="1" i="0" u="sng" strike="noStrike" kern="1200" cap="none" spc="0" normalizeH="0" baseline="0" noProof="0" dirty="0">
                <a:ln>
                  <a:noFill/>
                </a:ln>
                <a:solidFill>
                  <a:srgbClr val="FF0000"/>
                </a:solidFill>
                <a:effectLst/>
                <a:uLnTx/>
                <a:uFillTx/>
                <a:latin typeface="Calibri"/>
                <a:ea typeface="+mn-ea"/>
                <a:cs typeface="+mn-cs"/>
              </a:rPr>
              <a:t>EXAMPLE 6</a:t>
            </a:r>
            <a:r>
              <a:rPr kumimoji="0" lang="en-US" sz="2000" b="1" i="0" u="none" strike="noStrike" kern="1200" cap="none" spc="0" normalizeH="0" baseline="0" noProof="0" dirty="0">
                <a:ln>
                  <a:noFill/>
                </a:ln>
                <a:solidFill>
                  <a:srgbClr val="FF0000"/>
                </a:solidFill>
                <a:effectLst/>
                <a:uLnTx/>
                <a:uFillTx/>
                <a:latin typeface="Calibri"/>
                <a:ea typeface="+mn-ea"/>
                <a:cs typeface="+mn-cs"/>
              </a:rPr>
              <a:t> (p.577): Show that neither graph displayed in Figure 11 has a </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2000" b="1" i="0" u="none" strike="noStrike" kern="1200" cap="none" spc="0" normalizeH="0" baseline="0" noProof="0" dirty="0">
                <a:ln>
                  <a:noFill/>
                </a:ln>
                <a:solidFill>
                  <a:srgbClr val="FF0000"/>
                </a:solidFill>
                <a:effectLst/>
                <a:uLnTx/>
                <a:uFillTx/>
                <a:latin typeface="Calibri"/>
                <a:ea typeface="+mn-ea"/>
                <a:cs typeface="+mn-cs"/>
              </a:rPr>
              <a:t>Hamilton circuit.</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None/>
              <a:tabLst/>
              <a:defRPr/>
            </a:pPr>
            <a:endParaRPr kumimoji="0" lang="en-US" sz="2000" b="1" i="0" u="none" strike="noStrike" kern="1200" cap="none" spc="0" normalizeH="0" baseline="0" noProof="0" dirty="0">
              <a:ln>
                <a:noFill/>
              </a:ln>
              <a:solidFill>
                <a:sysClr val="windowText" lastClr="000000"/>
              </a:solidFill>
              <a:effectLst/>
              <a:uLnTx/>
              <a:uFillTx/>
              <a:latin typeface="Calibri"/>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None/>
              <a:tabLst/>
              <a:defRPr/>
            </a:pPr>
            <a:endParaRPr kumimoji="0" lang="en-US" sz="2000" b="1" i="0" u="none" strike="noStrike" kern="1200" cap="none" spc="0" normalizeH="0" baseline="0" noProof="0" dirty="0">
              <a:ln>
                <a:noFill/>
              </a:ln>
              <a:solidFill>
                <a:sysClr val="windowText" lastClr="000000"/>
              </a:solidFill>
              <a:effectLst/>
              <a:uLnTx/>
              <a:uFillTx/>
              <a:latin typeface="Calibri"/>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endParaRPr kumimoji="0" lang="en-US" sz="2000" b="0" i="0" u="none" strike="noStrike" kern="1200" cap="none" spc="0" normalizeH="0" baseline="0" noProof="0" dirty="0">
              <a:ln>
                <a:noFill/>
              </a:ln>
              <a:solidFill>
                <a:sysClr val="windowText" lastClr="000000"/>
              </a:solidFill>
              <a:effectLst/>
              <a:uLnTx/>
              <a:uFillTx/>
              <a:latin typeface="Calibri"/>
              <a:ea typeface="+mn-ea"/>
              <a:cs typeface="+mn-cs"/>
            </a:endParaRPr>
          </a:p>
        </p:txBody>
      </p:sp>
      <p:pic>
        <p:nvPicPr>
          <p:cNvPr id="13" name="Picture 2">
            <a:extLst>
              <a:ext uri="{FF2B5EF4-FFF2-40B4-BE49-F238E27FC236}">
                <a16:creationId xmlns:a16="http://schemas.microsoft.com/office/drawing/2014/main" id="{C718295D-7CB1-46ED-9101-1F6F22ACD079}"/>
              </a:ext>
            </a:extLst>
          </p:cNvPr>
          <p:cNvPicPr>
            <a:picLocks noChangeAspect="1" noChangeArrowheads="1"/>
          </p:cNvPicPr>
          <p:nvPr/>
        </p:nvPicPr>
        <p:blipFill>
          <a:blip r:embed="rId2" cstate="print"/>
          <a:srcRect/>
          <a:stretch>
            <a:fillRect/>
          </a:stretch>
        </p:blipFill>
        <p:spPr bwMode="auto">
          <a:xfrm>
            <a:off x="457200" y="2362200"/>
            <a:ext cx="7707313" cy="3200400"/>
          </a:xfrm>
          <a:prstGeom prst="rect">
            <a:avLst/>
          </a:prstGeom>
          <a:noFill/>
          <a:ln w="9525">
            <a:noFill/>
            <a:miter lim="800000"/>
            <a:headEnd/>
            <a:tailEnd/>
          </a:ln>
        </p:spPr>
      </p:pic>
      <p:sp>
        <p:nvSpPr>
          <p:cNvPr id="14" name="TextBox 5">
            <a:extLst>
              <a:ext uri="{FF2B5EF4-FFF2-40B4-BE49-F238E27FC236}">
                <a16:creationId xmlns:a16="http://schemas.microsoft.com/office/drawing/2014/main" id="{1FD754DB-23A8-4C37-B967-ACF534568E80}"/>
              </a:ext>
            </a:extLst>
          </p:cNvPr>
          <p:cNvSpPr txBox="1">
            <a:spLocks noChangeArrowheads="1"/>
          </p:cNvSpPr>
          <p:nvPr/>
        </p:nvSpPr>
        <p:spPr bwMode="auto">
          <a:xfrm>
            <a:off x="2895600" y="5486400"/>
            <a:ext cx="1535113" cy="461962"/>
          </a:xfrm>
          <a:prstGeom prst="rect">
            <a:avLst/>
          </a:prstGeom>
          <a:noFill/>
          <a:ln w="9525">
            <a:noFill/>
            <a:miter lim="800000"/>
            <a:headEnd/>
            <a:tailEnd/>
          </a:ln>
        </p:spPr>
        <p:txBody>
          <a:bodyPr wrap="none">
            <a:spAutoFit/>
          </a:bodyPr>
          <a:lstStyle/>
          <a:p>
            <a:pPr fontAlgn="base">
              <a:spcBef>
                <a:spcPct val="0"/>
              </a:spcBef>
              <a:spcAft>
                <a:spcPct val="0"/>
              </a:spcAft>
            </a:pPr>
            <a:r>
              <a:rPr lang="en-US" sz="2400" b="1" dirty="0">
                <a:solidFill>
                  <a:srgbClr val="C00000"/>
                </a:solidFill>
                <a:latin typeface="Arial" pitchFamily="34" charset="0"/>
                <a:cs typeface="Arial" pitchFamily="34" charset="0"/>
              </a:rPr>
              <a:t>Figure 11</a:t>
            </a:r>
          </a:p>
        </p:txBody>
      </p:sp>
    </p:spTree>
    <p:extLst>
      <p:ext uri="{BB962C8B-B14F-4D97-AF65-F5344CB8AC3E}">
        <p14:creationId xmlns:p14="http://schemas.microsoft.com/office/powerpoint/2010/main" val="38565750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1"/>
            <a:ext cx="7162586" cy="698627"/>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b="1" dirty="0">
                <a:solidFill>
                  <a:schemeClr val="tx1"/>
                </a:solidFill>
              </a:rPr>
              <a:t>Hamilton</a:t>
            </a:r>
            <a:r>
              <a:rPr lang="en-US" sz="2800" dirty="0"/>
              <a:t> </a:t>
            </a:r>
            <a:r>
              <a:rPr lang="en-US" b="1" dirty="0">
                <a:solidFill>
                  <a:schemeClr val="tx1"/>
                </a:solidFill>
              </a:rPr>
              <a:t>Paths</a:t>
            </a:r>
            <a:r>
              <a:rPr lang="en-US" sz="2800" dirty="0"/>
              <a:t> </a:t>
            </a:r>
            <a:r>
              <a:rPr lang="en-US" b="1" dirty="0">
                <a:solidFill>
                  <a:schemeClr val="tx1"/>
                </a:solidFill>
              </a:rPr>
              <a:t>and</a:t>
            </a:r>
            <a:r>
              <a:rPr lang="en-US" sz="2800" dirty="0"/>
              <a:t> </a:t>
            </a:r>
            <a:r>
              <a:rPr lang="en-US" b="1" dirty="0">
                <a:solidFill>
                  <a:schemeClr val="tx1"/>
                </a:solidFill>
              </a:rPr>
              <a:t>Circuits</a:t>
            </a:r>
          </a:p>
        </p:txBody>
      </p:sp>
      <p:sp>
        <p:nvSpPr>
          <p:cNvPr id="7" name="Content Placeholder 2">
            <a:extLst>
              <a:ext uri="{FF2B5EF4-FFF2-40B4-BE49-F238E27FC236}">
                <a16:creationId xmlns:a16="http://schemas.microsoft.com/office/drawing/2014/main" id="{16B530A1-8D44-4824-A6F3-3D5EA2C35A98}"/>
              </a:ext>
            </a:extLst>
          </p:cNvPr>
          <p:cNvSpPr txBox="1">
            <a:spLocks/>
          </p:cNvSpPr>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b="1" i="1" u="sng" strike="noStrike" kern="1200" cap="none" spc="0" normalizeH="0" baseline="0" noProof="0">
                <a:ln>
                  <a:noFill/>
                </a:ln>
                <a:solidFill>
                  <a:srgbClr val="0000FF"/>
                </a:solidFill>
                <a:effectLst/>
                <a:uLnTx/>
                <a:uFillTx/>
                <a:latin typeface="Calibri"/>
                <a:ea typeface="+mn-ea"/>
                <a:cs typeface="+mn-cs"/>
              </a:rPr>
              <a:t>Solution:</a:t>
            </a:r>
            <a:endParaRPr kumimoji="0" lang="en-US" sz="2800" b="0" i="1"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b="0" i="1" u="none" strike="noStrike" kern="1200" cap="none" spc="0" normalizeH="0" baseline="0" noProof="0">
                <a:ln>
                  <a:noFill/>
                </a:ln>
                <a:solidFill>
                  <a:sysClr val="windowText" lastClr="000000"/>
                </a:solidFill>
                <a:effectLst/>
                <a:uLnTx/>
                <a:uFillTx/>
                <a:latin typeface="Calibri"/>
                <a:ea typeface="+mn-ea"/>
                <a:cs typeface="+mn-cs"/>
              </a:rPr>
              <a:t>There is </a:t>
            </a:r>
            <a:r>
              <a:rPr kumimoji="0" lang="en-US" sz="2800" b="0" i="1" u="none" strike="noStrike" kern="1200" cap="none" spc="0" normalizeH="0" baseline="0" noProof="0">
                <a:ln>
                  <a:noFill/>
                </a:ln>
                <a:solidFill>
                  <a:srgbClr val="FF0000"/>
                </a:solidFill>
                <a:effectLst/>
                <a:uLnTx/>
                <a:uFillTx/>
                <a:latin typeface="Calibri"/>
                <a:ea typeface="+mn-ea"/>
                <a:cs typeface="+mn-cs"/>
              </a:rPr>
              <a:t>no Hamilton circuit in G </a:t>
            </a:r>
            <a:r>
              <a:rPr kumimoji="0" lang="en-US" sz="2800" b="0" i="1" u="none" strike="noStrike" kern="1200" cap="none" spc="0" normalizeH="0" baseline="0" noProof="0">
                <a:ln>
                  <a:noFill/>
                </a:ln>
                <a:solidFill>
                  <a:sysClr val="windowText" lastClr="000000"/>
                </a:solidFill>
                <a:effectLst/>
                <a:uLnTx/>
                <a:uFillTx/>
                <a:latin typeface="Calibri"/>
                <a:ea typeface="+mn-ea"/>
                <a:cs typeface="+mn-cs"/>
              </a:rPr>
              <a:t>because G has a vertex of degree one, namely, e. </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Now consider </a:t>
            </a:r>
            <a:r>
              <a:rPr kumimoji="0" lang="en-US" sz="2800" b="0" i="1" u="none" strike="noStrike" kern="1200" cap="none" spc="0" normalizeH="0" baseline="0" noProof="0">
                <a:ln>
                  <a:noFill/>
                </a:ln>
                <a:solidFill>
                  <a:sysClr val="windowText" lastClr="000000"/>
                </a:solidFill>
                <a:effectLst/>
                <a:uLnTx/>
                <a:uFillTx/>
                <a:latin typeface="Calibri"/>
                <a:ea typeface="+mn-ea"/>
                <a:cs typeface="+mn-cs"/>
              </a:rPr>
              <a:t>H. Because the degrees of the vertices a, b, d, and e are all two, every edge </a:t>
            </a: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incident with these vertices must be part of any Hamilton circuit. It is now easy to see that </a:t>
            </a:r>
            <a:r>
              <a:rPr kumimoji="0" lang="en-US" sz="2800" b="0" i="0" u="none" strike="noStrike" kern="1200" cap="none" spc="0" normalizeH="0" baseline="0" noProof="0">
                <a:ln>
                  <a:noFill/>
                </a:ln>
                <a:solidFill>
                  <a:srgbClr val="FF0000"/>
                </a:solidFill>
                <a:effectLst/>
                <a:uLnTx/>
                <a:uFillTx/>
                <a:latin typeface="Calibri"/>
                <a:ea typeface="+mn-ea"/>
                <a:cs typeface="+mn-cs"/>
              </a:rPr>
              <a:t>no Hamilton circuit can exist in </a:t>
            </a:r>
            <a:r>
              <a:rPr kumimoji="0" lang="en-US" sz="2800" b="0" i="1" u="none" strike="noStrike" kern="1200" cap="none" spc="0" normalizeH="0" baseline="0" noProof="0">
                <a:ln>
                  <a:noFill/>
                </a:ln>
                <a:solidFill>
                  <a:srgbClr val="FF0000"/>
                </a:solidFill>
                <a:effectLst/>
                <a:uLnTx/>
                <a:uFillTx/>
                <a:latin typeface="Calibri"/>
                <a:ea typeface="+mn-ea"/>
                <a:cs typeface="+mn-cs"/>
              </a:rPr>
              <a:t>H</a:t>
            </a:r>
            <a:r>
              <a:rPr kumimoji="0" lang="en-US" sz="2800" b="0" i="1" u="none" strike="noStrike" kern="1200" cap="none" spc="0" normalizeH="0" baseline="0" noProof="0">
                <a:ln>
                  <a:noFill/>
                </a:ln>
                <a:solidFill>
                  <a:sysClr val="windowText" lastClr="000000"/>
                </a:solidFill>
                <a:effectLst/>
                <a:uLnTx/>
                <a:uFillTx/>
                <a:latin typeface="Calibri"/>
                <a:ea typeface="+mn-ea"/>
                <a:cs typeface="+mn-cs"/>
              </a:rPr>
              <a:t>, for any Hamilton circuit would have to contain four edges </a:t>
            </a: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incident with </a:t>
            </a:r>
            <a:r>
              <a:rPr kumimoji="0" lang="en-US" sz="2800" b="0" i="1" u="none" strike="noStrike" kern="1200" cap="none" spc="0" normalizeH="0" baseline="0" noProof="0">
                <a:ln>
                  <a:noFill/>
                </a:ln>
                <a:solidFill>
                  <a:sysClr val="windowText" lastClr="000000"/>
                </a:solidFill>
                <a:effectLst/>
                <a:uLnTx/>
                <a:uFillTx/>
                <a:latin typeface="Calibri"/>
                <a:ea typeface="+mn-ea"/>
                <a:cs typeface="+mn-cs"/>
              </a:rPr>
              <a:t>c, which is impossible.</a:t>
            </a: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17186157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1"/>
            <a:ext cx="7162586" cy="698627"/>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b="1" dirty="0">
                <a:solidFill>
                  <a:schemeClr val="tx1"/>
                </a:solidFill>
              </a:rPr>
              <a:t>Hamilton</a:t>
            </a:r>
            <a:r>
              <a:rPr lang="en-US" sz="2800" dirty="0"/>
              <a:t> </a:t>
            </a:r>
            <a:r>
              <a:rPr lang="en-US" b="1" dirty="0">
                <a:solidFill>
                  <a:schemeClr val="tx1"/>
                </a:solidFill>
              </a:rPr>
              <a:t>Paths</a:t>
            </a:r>
            <a:r>
              <a:rPr lang="en-US" sz="2800" dirty="0"/>
              <a:t> </a:t>
            </a:r>
            <a:r>
              <a:rPr lang="en-US" b="1" dirty="0">
                <a:solidFill>
                  <a:schemeClr val="tx1"/>
                </a:solidFill>
              </a:rPr>
              <a:t>and</a:t>
            </a:r>
            <a:r>
              <a:rPr lang="en-US" sz="2800" dirty="0"/>
              <a:t> </a:t>
            </a:r>
            <a:r>
              <a:rPr lang="en-US" b="1" dirty="0">
                <a:solidFill>
                  <a:schemeClr val="tx1"/>
                </a:solidFill>
              </a:rPr>
              <a:t>Circuits</a:t>
            </a:r>
          </a:p>
        </p:txBody>
      </p:sp>
      <p:sp>
        <p:nvSpPr>
          <p:cNvPr id="9" name="Content Placeholder 2">
            <a:extLst>
              <a:ext uri="{FF2B5EF4-FFF2-40B4-BE49-F238E27FC236}">
                <a16:creationId xmlns:a16="http://schemas.microsoft.com/office/drawing/2014/main" id="{8738AA61-23C5-4A45-B636-A9AA4777F3A4}"/>
              </a:ext>
            </a:extLst>
          </p:cNvPr>
          <p:cNvSpPr txBox="1">
            <a:spLocks/>
          </p:cNvSpPr>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b="0" i="0" u="sng" strike="noStrike" kern="1200" cap="none" spc="0" normalizeH="0" baseline="0" noProof="0" dirty="0">
                <a:ln>
                  <a:noFill/>
                </a:ln>
                <a:solidFill>
                  <a:srgbClr val="FF0000"/>
                </a:solidFill>
                <a:effectLst/>
                <a:uLnTx/>
                <a:uFillTx/>
                <a:latin typeface="Calibri"/>
                <a:ea typeface="+mn-ea"/>
                <a:cs typeface="+mn-cs"/>
              </a:rPr>
              <a:t>Extra Question</a:t>
            </a:r>
            <a:r>
              <a:rPr kumimoji="0" lang="en-US" sz="2800" b="0" i="0" u="none" strike="noStrike" kern="1200" cap="none" spc="0" normalizeH="0" baseline="0" noProof="0" dirty="0">
                <a:ln>
                  <a:noFill/>
                </a:ln>
                <a:solidFill>
                  <a:srgbClr val="FF0000"/>
                </a:solidFill>
                <a:effectLst/>
                <a:uLnTx/>
                <a:uFillTx/>
                <a:latin typeface="Calibri"/>
                <a:ea typeface="+mn-ea"/>
                <a:cs typeface="+mn-cs"/>
              </a:rPr>
              <a:t>: Is there any Hamilton paths in the graphs of Example 6?</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b="1" i="0" u="sng" strike="noStrike" kern="1200" cap="none" spc="0" normalizeH="0" baseline="0" noProof="0" dirty="0">
                <a:ln>
                  <a:noFill/>
                </a:ln>
                <a:solidFill>
                  <a:srgbClr val="0000FF"/>
                </a:solidFill>
                <a:effectLst/>
                <a:uLnTx/>
                <a:uFillTx/>
                <a:latin typeface="Calibri"/>
                <a:ea typeface="+mn-ea"/>
                <a:cs typeface="+mn-cs"/>
              </a:rPr>
              <a:t>Answer</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 Yes, both graph contains Hamilton paths.</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In graph G </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sym typeface="Wingdings" pitchFamily="2" charset="2"/>
              </a:rPr>
              <a:t> </a:t>
            </a:r>
            <a:r>
              <a:rPr kumimoji="0" lang="en-US" sz="2800" b="0" i="1" u="none" strike="noStrike" kern="1200" cap="none" spc="0" normalizeH="0" baseline="0" noProof="0" dirty="0">
                <a:ln>
                  <a:noFill/>
                </a:ln>
                <a:solidFill>
                  <a:sysClr val="windowText" lastClr="000000"/>
                </a:solidFill>
                <a:effectLst/>
                <a:uLnTx/>
                <a:uFillTx/>
                <a:latin typeface="Calibri"/>
                <a:ea typeface="+mn-ea"/>
                <a:cs typeface="+mn-cs"/>
                <a:sym typeface="Wingdings" pitchFamily="2" charset="2"/>
              </a:rPr>
              <a:t>e, d, a, b, c</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sym typeface="Wingdings" pitchFamily="2" charset="2"/>
              </a:rPr>
              <a:t>In graph H  </a:t>
            </a:r>
            <a:r>
              <a:rPr kumimoji="0" lang="en-US" sz="2800" b="0" i="1" u="none" strike="noStrike" kern="1200" cap="none" spc="0" normalizeH="0" baseline="0" noProof="0" dirty="0">
                <a:ln>
                  <a:noFill/>
                </a:ln>
                <a:solidFill>
                  <a:sysClr val="windowText" lastClr="000000"/>
                </a:solidFill>
                <a:effectLst/>
                <a:uLnTx/>
                <a:uFillTx/>
                <a:latin typeface="Calibri"/>
                <a:ea typeface="+mn-ea"/>
                <a:cs typeface="+mn-cs"/>
                <a:sym typeface="Wingdings" pitchFamily="2" charset="2"/>
              </a:rPr>
              <a:t>a, b, c, d, e</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b="1" i="0" u="sng" strike="noStrike" kern="1200" cap="none" spc="0" normalizeH="0" baseline="0" noProof="0" dirty="0">
                <a:ln>
                  <a:noFill/>
                </a:ln>
                <a:solidFill>
                  <a:srgbClr val="FF0000"/>
                </a:solidFill>
                <a:effectLst/>
                <a:uLnTx/>
                <a:uFillTx/>
                <a:latin typeface="Calibri"/>
                <a:ea typeface="+mn-ea"/>
                <a:cs typeface="+mn-cs"/>
              </a:rPr>
              <a:t>Question</a:t>
            </a:r>
            <a:r>
              <a:rPr kumimoji="0" lang="en-US" sz="2800" b="0" i="0" u="none" strike="noStrike" kern="1200" cap="none" spc="0" normalizeH="0" baseline="0" noProof="0" dirty="0">
                <a:ln>
                  <a:noFill/>
                </a:ln>
                <a:solidFill>
                  <a:srgbClr val="FF0000"/>
                </a:solidFill>
                <a:effectLst/>
                <a:uLnTx/>
                <a:uFillTx/>
                <a:latin typeface="Calibri"/>
                <a:ea typeface="+mn-ea"/>
                <a:cs typeface="+mn-cs"/>
              </a:rPr>
              <a:t>: What are other answers (Hamilton paths)?</a:t>
            </a:r>
          </a:p>
        </p:txBody>
      </p:sp>
    </p:spTree>
    <p:extLst>
      <p:ext uri="{BB962C8B-B14F-4D97-AF65-F5344CB8AC3E}">
        <p14:creationId xmlns:p14="http://schemas.microsoft.com/office/powerpoint/2010/main" val="4131467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1"/>
            <a:ext cx="7162586" cy="698627"/>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b="1" dirty="0">
                <a:solidFill>
                  <a:schemeClr val="tx1"/>
                </a:solidFill>
              </a:rPr>
              <a:t>Hamilton</a:t>
            </a:r>
            <a:r>
              <a:rPr lang="en-US" sz="2800" dirty="0"/>
              <a:t> </a:t>
            </a:r>
            <a:r>
              <a:rPr lang="en-US" b="1" dirty="0">
                <a:solidFill>
                  <a:schemeClr val="tx1"/>
                </a:solidFill>
              </a:rPr>
              <a:t>Paths</a:t>
            </a:r>
            <a:r>
              <a:rPr lang="en-US" sz="2800" dirty="0"/>
              <a:t> </a:t>
            </a:r>
            <a:r>
              <a:rPr lang="en-US" b="1" dirty="0">
                <a:solidFill>
                  <a:schemeClr val="tx1"/>
                </a:solidFill>
              </a:rPr>
              <a:t>and</a:t>
            </a:r>
            <a:r>
              <a:rPr lang="en-US" sz="2800" dirty="0"/>
              <a:t> </a:t>
            </a:r>
            <a:r>
              <a:rPr lang="en-US" b="1" dirty="0">
                <a:solidFill>
                  <a:schemeClr val="tx1"/>
                </a:solidFill>
              </a:rPr>
              <a:t>Circuits</a:t>
            </a:r>
          </a:p>
        </p:txBody>
      </p:sp>
      <p:sp>
        <p:nvSpPr>
          <p:cNvPr id="5" name="Content Placeholder 2">
            <a:extLst>
              <a:ext uri="{FF2B5EF4-FFF2-40B4-BE49-F238E27FC236}">
                <a16:creationId xmlns:a16="http://schemas.microsoft.com/office/drawing/2014/main" id="{75281076-6EB8-4F17-A166-CC6B7588AB2A}"/>
              </a:ext>
            </a:extLst>
          </p:cNvPr>
          <p:cNvSpPr txBox="1">
            <a:spLocks/>
          </p:cNvSpPr>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kumimoji="0" lang="en-US" sz="2200" b="1" i="0" u="none" strike="noStrike" kern="1200" cap="none" spc="0" normalizeH="0" baseline="0" noProof="0" dirty="0">
                <a:ln>
                  <a:noFill/>
                </a:ln>
                <a:solidFill>
                  <a:srgbClr val="FF0000"/>
                </a:solidFill>
                <a:effectLst/>
                <a:uLnTx/>
                <a:uFillTx/>
                <a:latin typeface="Calibri"/>
                <a:ea typeface="+mn-ea"/>
                <a:cs typeface="+mn-cs"/>
              </a:rPr>
              <a:t>Theorem 3</a:t>
            </a:r>
            <a:r>
              <a:rPr kumimoji="0" lang="en-US" sz="2200" b="1" i="0" u="none" strike="noStrike" kern="1200" cap="none" spc="0" normalizeH="0" baseline="0" noProof="0" dirty="0">
                <a:ln>
                  <a:noFill/>
                </a:ln>
                <a:solidFill>
                  <a:srgbClr val="C00000"/>
                </a:solidFill>
                <a:effectLst/>
                <a:uLnTx/>
                <a:uFillTx/>
                <a:latin typeface="Calibri"/>
                <a:ea typeface="+mn-ea"/>
                <a:cs typeface="+mn-cs"/>
              </a:rPr>
              <a:t> </a:t>
            </a:r>
            <a:r>
              <a:rPr kumimoji="0" lang="en-US" sz="2200" b="1" i="0" u="none" strike="noStrike" kern="1200" cap="none" spc="0" normalizeH="0" baseline="0" noProof="0" dirty="0">
                <a:ln>
                  <a:noFill/>
                </a:ln>
                <a:solidFill>
                  <a:srgbClr val="0000FF"/>
                </a:solidFill>
                <a:effectLst/>
                <a:uLnTx/>
                <a:uFillTx/>
                <a:latin typeface="Calibri"/>
                <a:ea typeface="+mn-ea"/>
                <a:cs typeface="+mn-cs"/>
              </a:rPr>
              <a:t>(DIRAC’S THEOREM</a:t>
            </a:r>
            <a:r>
              <a:rPr kumimoji="0" lang="en-US" sz="2200" b="0" i="0" u="none" strike="noStrike" kern="1200" cap="none" spc="0" normalizeH="0" baseline="0" noProof="0" dirty="0">
                <a:ln>
                  <a:noFill/>
                </a:ln>
                <a:solidFill>
                  <a:srgbClr val="0000FF"/>
                </a:solidFill>
                <a:effectLst/>
                <a:uLnTx/>
                <a:uFillTx/>
                <a:latin typeface="Calibri"/>
                <a:ea typeface="+mn-ea"/>
                <a:cs typeface="+mn-cs"/>
              </a:rPr>
              <a:t>):</a:t>
            </a:r>
            <a:r>
              <a:rPr kumimoji="0" lang="en-US" sz="2200" b="0" i="0" u="none" strike="noStrike" kern="1200" cap="none" spc="0" normalizeH="0" baseline="0" noProof="0" dirty="0">
                <a:ln>
                  <a:noFill/>
                </a:ln>
                <a:solidFill>
                  <a:srgbClr val="C00000"/>
                </a:solidFill>
                <a:effectLst/>
                <a:uLnTx/>
                <a:uFillTx/>
                <a:latin typeface="Calibri"/>
                <a:ea typeface="+mn-ea"/>
                <a:cs typeface="+mn-cs"/>
              </a:rPr>
              <a:t> </a:t>
            </a:r>
            <a:r>
              <a:rPr kumimoji="0" lang="en-US" sz="2200" b="0" i="0" u="none" strike="noStrike" kern="1200" cap="none" spc="0" normalizeH="0" baseline="0" noProof="0" dirty="0">
                <a:ln>
                  <a:noFill/>
                </a:ln>
                <a:solidFill>
                  <a:sysClr val="windowText" lastClr="000000"/>
                </a:solidFill>
                <a:effectLst/>
                <a:uLnTx/>
                <a:uFillTx/>
                <a:latin typeface="Calibri"/>
                <a:ea typeface="+mn-ea"/>
                <a:cs typeface="+mn-cs"/>
              </a:rPr>
              <a:t>If G is a simple graph with </a:t>
            </a:r>
            <a:r>
              <a:rPr kumimoji="0" lang="en-US" sz="2200" b="0" i="1" u="none" strike="noStrike" kern="1200" cap="none" spc="0" normalizeH="0" baseline="0" noProof="0" dirty="0">
                <a:ln>
                  <a:noFill/>
                </a:ln>
                <a:solidFill>
                  <a:sysClr val="windowText" lastClr="000000"/>
                </a:solidFill>
                <a:effectLst/>
                <a:uLnTx/>
                <a:uFillTx/>
                <a:latin typeface="Calibri"/>
                <a:ea typeface="+mn-ea"/>
                <a:cs typeface="+mn-cs"/>
              </a:rPr>
              <a:t>n</a:t>
            </a:r>
            <a:r>
              <a:rPr kumimoji="0" lang="en-US" sz="2200" b="0" i="0" u="none" strike="noStrike" kern="1200" cap="none" spc="0" normalizeH="0" baseline="0" noProof="0" dirty="0">
                <a:ln>
                  <a:noFill/>
                </a:ln>
                <a:solidFill>
                  <a:sysClr val="windowText" lastClr="000000"/>
                </a:solidFill>
                <a:effectLst/>
                <a:uLnTx/>
                <a:uFillTx/>
                <a:latin typeface="Calibri"/>
                <a:ea typeface="+mn-ea"/>
                <a:cs typeface="+mn-cs"/>
              </a:rPr>
              <a:t> vertices with </a:t>
            </a:r>
            <a:r>
              <a:rPr kumimoji="0" lang="en-US" sz="2200" b="0" i="1" u="none" strike="noStrike" kern="1200" cap="none" spc="0" normalizeH="0" baseline="0" noProof="0" dirty="0">
                <a:ln>
                  <a:noFill/>
                </a:ln>
                <a:solidFill>
                  <a:sysClr val="windowText" lastClr="000000"/>
                </a:solidFill>
                <a:effectLst/>
                <a:uLnTx/>
                <a:uFillTx/>
                <a:latin typeface="Calibri"/>
                <a:ea typeface="+mn-ea"/>
                <a:cs typeface="+mn-cs"/>
              </a:rPr>
              <a:t>n</a:t>
            </a:r>
            <a:r>
              <a:rPr kumimoji="0" lang="en-US" sz="2200" b="0" i="0" u="none" strike="noStrike" kern="1200" cap="none" spc="0" normalizeH="0" baseline="0" noProof="0" dirty="0">
                <a:ln>
                  <a:noFill/>
                </a:ln>
                <a:solidFill>
                  <a:sysClr val="windowText" lastClr="000000"/>
                </a:solidFill>
                <a:effectLst/>
                <a:uLnTx/>
                <a:uFillTx/>
                <a:latin typeface="Calibri"/>
                <a:ea typeface="+mn-ea"/>
                <a:cs typeface="+mn-cs"/>
              </a:rPr>
              <a:t>&gt;=3 such that </a:t>
            </a:r>
            <a:r>
              <a:rPr kumimoji="0" lang="en-US" sz="2200" b="0" i="0" u="none" strike="noStrike" kern="1200" cap="none" spc="0" normalizeH="0" baseline="0" noProof="0" dirty="0">
                <a:ln>
                  <a:noFill/>
                </a:ln>
                <a:solidFill>
                  <a:sysClr val="windowText" lastClr="000000"/>
                </a:solidFill>
                <a:effectLst/>
                <a:highlight>
                  <a:srgbClr val="00FFFF"/>
                </a:highlight>
                <a:uLnTx/>
                <a:uFillTx/>
                <a:latin typeface="Calibri"/>
                <a:ea typeface="+mn-ea"/>
                <a:cs typeface="+mn-cs"/>
              </a:rPr>
              <a:t>the degree of every vertex in G is at least </a:t>
            </a:r>
            <a:r>
              <a:rPr kumimoji="0" lang="en-US" sz="2200" b="0" i="1" u="none" strike="noStrike" kern="1200" cap="none" spc="0" normalizeH="0" baseline="0" noProof="0" dirty="0">
                <a:ln>
                  <a:noFill/>
                </a:ln>
                <a:solidFill>
                  <a:sysClr val="windowText" lastClr="000000"/>
                </a:solidFill>
                <a:effectLst/>
                <a:highlight>
                  <a:srgbClr val="00FFFF"/>
                </a:highlight>
                <a:uLnTx/>
                <a:uFillTx/>
                <a:latin typeface="Calibri"/>
                <a:ea typeface="+mn-ea"/>
                <a:cs typeface="+mn-cs"/>
              </a:rPr>
              <a:t>n</a:t>
            </a:r>
            <a:r>
              <a:rPr kumimoji="0" lang="en-US" sz="2200" b="0" i="0" u="none" strike="noStrike" kern="1200" cap="none" spc="0" normalizeH="0" baseline="0" noProof="0" dirty="0">
                <a:ln>
                  <a:noFill/>
                </a:ln>
                <a:solidFill>
                  <a:sysClr val="windowText" lastClr="000000"/>
                </a:solidFill>
                <a:effectLst/>
                <a:highlight>
                  <a:srgbClr val="00FFFF"/>
                </a:highlight>
                <a:uLnTx/>
                <a:uFillTx/>
                <a:latin typeface="Calibri"/>
                <a:ea typeface="+mn-ea"/>
                <a:cs typeface="+mn-cs"/>
              </a:rPr>
              <a:t>/2,</a:t>
            </a:r>
            <a:r>
              <a:rPr kumimoji="0" lang="en-US" sz="2200" b="0" i="0" u="none" strike="noStrike" kern="1200" cap="none" spc="0" normalizeH="0" baseline="0" noProof="0" dirty="0">
                <a:ln>
                  <a:noFill/>
                </a:ln>
                <a:solidFill>
                  <a:sysClr val="windowText" lastClr="000000"/>
                </a:solidFill>
                <a:effectLst/>
                <a:uLnTx/>
                <a:uFillTx/>
                <a:latin typeface="Calibri"/>
                <a:ea typeface="+mn-ea"/>
                <a:cs typeface="+mn-cs"/>
              </a:rPr>
              <a:t> then G has a Hamilton circuit.</a:t>
            </a:r>
          </a:p>
          <a:p>
            <a:pPr>
              <a:defRPr/>
            </a:pPr>
            <a:r>
              <a:rPr lang="en-US" sz="2200" dirty="0"/>
              <a:t>Let G = (V, E) be a graph with n vertices in which each vertex has degree at least n/2. Then G has a Hamiltonian cycle. </a:t>
            </a:r>
          </a:p>
          <a:p>
            <a:pPr marL="0" marR="0" lvl="0" indent="0" algn="l" defTabSz="914400" rtl="0" eaLnBrk="0" fontAlgn="base" latinLnBrk="0" hangingPunct="0">
              <a:lnSpc>
                <a:spcPct val="100000"/>
              </a:lnSpc>
              <a:spcBef>
                <a:spcPct val="20000"/>
              </a:spcBef>
              <a:spcAft>
                <a:spcPct val="0"/>
              </a:spcAft>
              <a:buClrTx/>
              <a:buSzTx/>
              <a:buNone/>
              <a:tabLst/>
              <a:defRPr/>
            </a:pPr>
            <a:endParaRPr kumimoji="0" lang="en-US" sz="2200" b="0" i="0" u="none" strike="noStrike" kern="1200" cap="none" spc="0" normalizeH="0" baseline="0" noProof="0" dirty="0">
              <a:ln>
                <a:noFill/>
              </a:ln>
              <a:solidFill>
                <a:sysClr val="windowText" lastClr="000000"/>
              </a:solidFill>
              <a:effectLst/>
              <a:uLnTx/>
              <a:uFillTx/>
              <a:latin typeface="Calibri"/>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kumimoji="0" lang="en-US" sz="2200" b="1" i="0" u="none" strike="noStrike" kern="1200" cap="none" spc="0" normalizeH="0" baseline="0" noProof="0" dirty="0">
                <a:ln>
                  <a:noFill/>
                </a:ln>
                <a:solidFill>
                  <a:srgbClr val="FF0000"/>
                </a:solidFill>
                <a:effectLst/>
                <a:uLnTx/>
                <a:uFillTx/>
                <a:latin typeface="Calibri"/>
                <a:ea typeface="+mn-ea"/>
                <a:cs typeface="+mn-cs"/>
              </a:rPr>
              <a:t>Theorem 4</a:t>
            </a:r>
            <a:r>
              <a:rPr kumimoji="0" lang="en-US" sz="2200" b="1" i="0" u="none" strike="noStrike" kern="1200" cap="none" spc="0" normalizeH="0" baseline="0" noProof="0" dirty="0">
                <a:ln>
                  <a:noFill/>
                </a:ln>
                <a:solidFill>
                  <a:srgbClr val="C00000"/>
                </a:solidFill>
                <a:effectLst/>
                <a:uLnTx/>
                <a:uFillTx/>
                <a:latin typeface="Calibri"/>
                <a:ea typeface="+mn-ea"/>
                <a:cs typeface="+mn-cs"/>
              </a:rPr>
              <a:t> </a:t>
            </a:r>
            <a:r>
              <a:rPr kumimoji="0" lang="en-US" sz="2200" b="1" i="0" u="none" strike="noStrike" kern="1200" cap="none" spc="0" normalizeH="0" baseline="0" noProof="0" dirty="0">
                <a:ln>
                  <a:noFill/>
                </a:ln>
                <a:solidFill>
                  <a:srgbClr val="0000FF"/>
                </a:solidFill>
                <a:effectLst/>
                <a:uLnTx/>
                <a:uFillTx/>
                <a:latin typeface="Calibri"/>
                <a:ea typeface="+mn-ea"/>
                <a:cs typeface="+mn-cs"/>
              </a:rPr>
              <a:t>(ORE’S THEOREM)</a:t>
            </a:r>
            <a:r>
              <a:rPr kumimoji="0" lang="en-US" sz="2200" b="0" i="0" u="none" strike="noStrike" kern="1200" cap="none" spc="0" normalizeH="0" baseline="0" noProof="0" dirty="0">
                <a:ln>
                  <a:noFill/>
                </a:ln>
                <a:solidFill>
                  <a:sysClr val="windowText" lastClr="000000"/>
                </a:solidFill>
                <a:effectLst/>
                <a:uLnTx/>
                <a:uFillTx/>
                <a:latin typeface="Calibri"/>
                <a:ea typeface="+mn-ea"/>
                <a:cs typeface="+mn-cs"/>
              </a:rPr>
              <a:t>: if G is a simple graph with </a:t>
            </a:r>
            <a:r>
              <a:rPr kumimoji="0" lang="en-US" sz="2200" b="0" i="1" u="none" strike="noStrike" kern="1200" cap="none" spc="0" normalizeH="0" baseline="0" noProof="0" dirty="0">
                <a:ln>
                  <a:noFill/>
                </a:ln>
                <a:solidFill>
                  <a:sysClr val="windowText" lastClr="000000"/>
                </a:solidFill>
                <a:effectLst/>
                <a:uLnTx/>
                <a:uFillTx/>
                <a:latin typeface="Calibri"/>
                <a:ea typeface="+mn-ea"/>
                <a:cs typeface="+mn-cs"/>
              </a:rPr>
              <a:t>n</a:t>
            </a:r>
            <a:r>
              <a:rPr kumimoji="0" lang="en-US" sz="2200" b="0" i="0" u="none" strike="noStrike" kern="1200" cap="none" spc="0" normalizeH="0" baseline="0" noProof="0" dirty="0">
                <a:ln>
                  <a:noFill/>
                </a:ln>
                <a:solidFill>
                  <a:sysClr val="windowText" lastClr="000000"/>
                </a:solidFill>
                <a:effectLst/>
                <a:uLnTx/>
                <a:uFillTx/>
                <a:latin typeface="Calibri"/>
                <a:ea typeface="+mn-ea"/>
                <a:cs typeface="+mn-cs"/>
              </a:rPr>
              <a:t> vertices with </a:t>
            </a:r>
            <a:r>
              <a:rPr kumimoji="0" lang="en-US" sz="2200" b="0" i="1" u="none" strike="noStrike" kern="1200" cap="none" spc="0" normalizeH="0" baseline="0" noProof="0" dirty="0">
                <a:ln>
                  <a:noFill/>
                </a:ln>
                <a:solidFill>
                  <a:sysClr val="windowText" lastClr="000000"/>
                </a:solidFill>
                <a:effectLst/>
                <a:uLnTx/>
                <a:uFillTx/>
                <a:latin typeface="Calibri"/>
                <a:ea typeface="+mn-ea"/>
                <a:cs typeface="+mn-cs"/>
              </a:rPr>
              <a:t>n</a:t>
            </a:r>
            <a:r>
              <a:rPr kumimoji="0" lang="en-US" sz="2200" b="0" i="0" u="none" strike="noStrike" kern="1200" cap="none" spc="0" normalizeH="0" baseline="0" noProof="0" dirty="0">
                <a:ln>
                  <a:noFill/>
                </a:ln>
                <a:solidFill>
                  <a:sysClr val="windowText" lastClr="000000"/>
                </a:solidFill>
                <a:effectLst/>
                <a:uLnTx/>
                <a:uFillTx/>
                <a:latin typeface="Calibri"/>
                <a:ea typeface="+mn-ea"/>
                <a:cs typeface="+mn-cs"/>
              </a:rPr>
              <a:t>&gt;=3 such that </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2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2200" b="0" i="0" u="none" strike="noStrike" kern="1200" cap="none" spc="0" normalizeH="0" baseline="0" noProof="0" dirty="0">
                <a:ln>
                  <a:noFill/>
                </a:ln>
                <a:solidFill>
                  <a:sysClr val="windowText" lastClr="000000"/>
                </a:solidFill>
                <a:effectLst/>
                <a:highlight>
                  <a:srgbClr val="00FFFF"/>
                </a:highlight>
                <a:uLnTx/>
                <a:uFillTx/>
                <a:latin typeface="Calibri"/>
                <a:ea typeface="+mn-ea"/>
                <a:cs typeface="+mn-cs"/>
              </a:rPr>
              <a:t>deg(</a:t>
            </a:r>
            <a:r>
              <a:rPr kumimoji="0" lang="en-US" sz="2200" b="0" i="1" u="none" strike="noStrike" kern="1200" cap="none" spc="0" normalizeH="0" baseline="0" noProof="0" dirty="0">
                <a:ln>
                  <a:noFill/>
                </a:ln>
                <a:solidFill>
                  <a:sysClr val="windowText" lastClr="000000"/>
                </a:solidFill>
                <a:effectLst/>
                <a:highlight>
                  <a:srgbClr val="00FFFF"/>
                </a:highlight>
                <a:uLnTx/>
                <a:uFillTx/>
                <a:latin typeface="Calibri"/>
                <a:ea typeface="+mn-ea"/>
                <a:cs typeface="+mn-cs"/>
              </a:rPr>
              <a:t>u</a:t>
            </a:r>
            <a:r>
              <a:rPr kumimoji="0" lang="en-US" sz="2200" b="0" i="0" u="none" strike="noStrike" kern="1200" cap="none" spc="0" normalizeH="0" baseline="0" noProof="0" dirty="0">
                <a:ln>
                  <a:noFill/>
                </a:ln>
                <a:solidFill>
                  <a:sysClr val="windowText" lastClr="000000"/>
                </a:solidFill>
                <a:effectLst/>
                <a:highlight>
                  <a:srgbClr val="00FFFF"/>
                </a:highlight>
                <a:uLnTx/>
                <a:uFillTx/>
                <a:latin typeface="Calibri"/>
                <a:ea typeface="+mn-ea"/>
                <a:cs typeface="+mn-cs"/>
              </a:rPr>
              <a:t>) + deg(</a:t>
            </a:r>
            <a:r>
              <a:rPr kumimoji="0" lang="en-US" sz="2200" b="0" i="1" u="none" strike="noStrike" kern="1200" cap="none" spc="0" normalizeH="0" baseline="0" noProof="0" dirty="0">
                <a:ln>
                  <a:noFill/>
                </a:ln>
                <a:solidFill>
                  <a:sysClr val="windowText" lastClr="000000"/>
                </a:solidFill>
                <a:effectLst/>
                <a:highlight>
                  <a:srgbClr val="00FFFF"/>
                </a:highlight>
                <a:uLnTx/>
                <a:uFillTx/>
                <a:latin typeface="Calibri"/>
                <a:ea typeface="+mn-ea"/>
                <a:cs typeface="+mn-cs"/>
              </a:rPr>
              <a:t>v</a:t>
            </a:r>
            <a:r>
              <a:rPr kumimoji="0" lang="en-US" sz="2200" b="0" i="0" u="none" strike="noStrike" kern="1200" cap="none" spc="0" normalizeH="0" baseline="0" noProof="0" dirty="0">
                <a:ln>
                  <a:noFill/>
                </a:ln>
                <a:solidFill>
                  <a:sysClr val="windowText" lastClr="000000"/>
                </a:solidFill>
                <a:effectLst/>
                <a:highlight>
                  <a:srgbClr val="00FFFF"/>
                </a:highlight>
                <a:uLnTx/>
                <a:uFillTx/>
                <a:latin typeface="Calibri"/>
                <a:ea typeface="+mn-ea"/>
                <a:cs typeface="+mn-cs"/>
              </a:rPr>
              <a:t>) &gt;= </a:t>
            </a:r>
            <a:r>
              <a:rPr kumimoji="0" lang="en-US" sz="2200" b="0" i="1" u="none" strike="noStrike" kern="1200" cap="none" spc="0" normalizeH="0" baseline="0" noProof="0" dirty="0">
                <a:ln>
                  <a:noFill/>
                </a:ln>
                <a:solidFill>
                  <a:sysClr val="windowText" lastClr="000000"/>
                </a:solidFill>
                <a:effectLst/>
                <a:highlight>
                  <a:srgbClr val="00FFFF"/>
                </a:highlight>
                <a:uLnTx/>
                <a:uFillTx/>
                <a:latin typeface="Calibri"/>
                <a:ea typeface="+mn-ea"/>
                <a:cs typeface="+mn-cs"/>
              </a:rPr>
              <a:t>n</a:t>
            </a:r>
            <a:r>
              <a:rPr kumimoji="0" lang="en-US" sz="2200" b="0" i="0" u="none" strike="noStrike" kern="1200" cap="none" spc="0" normalizeH="0" baseline="0" noProof="0" dirty="0">
                <a:ln>
                  <a:noFill/>
                </a:ln>
                <a:solidFill>
                  <a:sysClr val="windowText" lastClr="000000"/>
                </a:solidFill>
                <a:effectLst/>
                <a:highlight>
                  <a:srgbClr val="00FFFF"/>
                </a:highlight>
                <a:uLnTx/>
                <a:uFillTx/>
                <a:latin typeface="Calibri"/>
                <a:ea typeface="+mn-ea"/>
                <a:cs typeface="+mn-cs"/>
              </a:rPr>
              <a:t> for every pair of non-adjacent vertices </a:t>
            </a:r>
            <a:r>
              <a:rPr kumimoji="0" lang="en-US" sz="2200" b="0" i="1" u="none" strike="noStrike" kern="1200" cap="none" spc="0" normalizeH="0" baseline="0" noProof="0" dirty="0">
                <a:ln>
                  <a:noFill/>
                </a:ln>
                <a:solidFill>
                  <a:sysClr val="windowText" lastClr="000000"/>
                </a:solidFill>
                <a:effectLst/>
                <a:highlight>
                  <a:srgbClr val="00FFFF"/>
                </a:highlight>
                <a:uLnTx/>
                <a:uFillTx/>
                <a:latin typeface="Calibri"/>
                <a:ea typeface="+mn-ea"/>
                <a:cs typeface="+mn-cs"/>
              </a:rPr>
              <a:t>u</a:t>
            </a:r>
            <a:r>
              <a:rPr kumimoji="0" lang="en-US" sz="2200" b="0" i="0" u="none" strike="noStrike" kern="1200" cap="none" spc="0" normalizeH="0" baseline="0" noProof="0" dirty="0">
                <a:ln>
                  <a:noFill/>
                </a:ln>
                <a:solidFill>
                  <a:sysClr val="windowText" lastClr="000000"/>
                </a:solidFill>
                <a:effectLst/>
                <a:highlight>
                  <a:srgbClr val="00FFFF"/>
                </a:highlight>
                <a:uLnTx/>
                <a:uFillTx/>
                <a:latin typeface="Calibri"/>
                <a:ea typeface="+mn-ea"/>
                <a:cs typeface="+mn-cs"/>
              </a:rPr>
              <a:t> and </a:t>
            </a:r>
            <a:r>
              <a:rPr kumimoji="0" lang="en-US" sz="2200" b="0" i="1" u="none" strike="noStrike" kern="1200" cap="none" spc="0" normalizeH="0" baseline="0" noProof="0" dirty="0">
                <a:ln>
                  <a:noFill/>
                </a:ln>
                <a:solidFill>
                  <a:sysClr val="windowText" lastClr="000000"/>
                </a:solidFill>
                <a:effectLst/>
                <a:highlight>
                  <a:srgbClr val="00FFFF"/>
                </a:highlight>
                <a:uLnTx/>
                <a:uFillTx/>
                <a:latin typeface="Calibri"/>
                <a:ea typeface="+mn-ea"/>
                <a:cs typeface="+mn-cs"/>
              </a:rPr>
              <a:t>v</a:t>
            </a:r>
            <a:r>
              <a:rPr kumimoji="0" lang="en-US" sz="2200" b="0" i="0" u="none" strike="noStrike" kern="1200" cap="none" spc="0" normalizeH="0" baseline="0" noProof="0" dirty="0">
                <a:ln>
                  <a:noFill/>
                </a:ln>
                <a:solidFill>
                  <a:sysClr val="windowText" lastClr="000000"/>
                </a:solidFill>
                <a:effectLst/>
                <a:highlight>
                  <a:srgbClr val="00FFFF"/>
                </a:highlight>
                <a:uLnTx/>
                <a:uFillTx/>
                <a:latin typeface="Calibri"/>
                <a:ea typeface="+mn-ea"/>
                <a:cs typeface="+mn-cs"/>
              </a:rPr>
              <a:t> in G, then G has a Hamilton circuit</a:t>
            </a:r>
            <a:r>
              <a:rPr kumimoji="0" lang="en-US" sz="2200" b="0" i="0" u="none" strike="noStrike" kern="1200" cap="none" spc="0" normalizeH="0" baseline="0" noProof="0" dirty="0">
                <a:ln>
                  <a:noFill/>
                </a:ln>
                <a:solidFill>
                  <a:sysClr val="windowText" lastClr="000000"/>
                </a:solidFill>
                <a:effectLst/>
                <a:uLnTx/>
                <a:uFillTx/>
                <a:latin typeface="Calibri"/>
                <a:ea typeface="+mn-ea"/>
                <a:cs typeface="+mn-cs"/>
              </a:rPr>
              <a:t>.</a:t>
            </a:r>
          </a:p>
        </p:txBody>
      </p:sp>
    </p:spTree>
    <p:extLst>
      <p:ext uri="{BB962C8B-B14F-4D97-AF65-F5344CB8AC3E}">
        <p14:creationId xmlns:p14="http://schemas.microsoft.com/office/powerpoint/2010/main" val="1838893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F78A5E-98D1-8C4C-8A90-2FFCDA097C8E}"/>
              </a:ext>
            </a:extLst>
          </p:cNvPr>
          <p:cNvSpPr/>
          <p:nvPr/>
        </p:nvSpPr>
        <p:spPr>
          <a:xfrm>
            <a:off x="445008" y="1030665"/>
            <a:ext cx="7345680" cy="4524315"/>
          </a:xfrm>
          <a:prstGeom prst="rect">
            <a:avLst/>
          </a:prstGeom>
        </p:spPr>
        <p:txBody>
          <a:bodyPr wrap="square">
            <a:spAutoFit/>
          </a:bodyPr>
          <a:lstStyle/>
          <a:p>
            <a:r>
              <a:rPr lang="en-US" b="1" dirty="0">
                <a:solidFill>
                  <a:srgbClr val="202124"/>
                </a:solidFill>
                <a:latin typeface="arial" panose="020B0604020202020204" pitchFamily="34" charset="0"/>
              </a:rPr>
              <a:t>A necessary condition is a condition that must be present for an event to occur.</a:t>
            </a:r>
            <a:r>
              <a:rPr lang="en-US" dirty="0">
                <a:solidFill>
                  <a:srgbClr val="202124"/>
                </a:solidFill>
                <a:latin typeface="arial" panose="020B0604020202020204" pitchFamily="34" charset="0"/>
              </a:rPr>
              <a:t> </a:t>
            </a:r>
          </a:p>
          <a:p>
            <a:endParaRPr lang="en-US" b="1" dirty="0">
              <a:solidFill>
                <a:srgbClr val="202124"/>
              </a:solidFill>
              <a:latin typeface="arial" panose="020B0604020202020204" pitchFamily="34" charset="0"/>
            </a:endParaRPr>
          </a:p>
          <a:p>
            <a:r>
              <a:rPr lang="en-US" b="1" dirty="0">
                <a:solidFill>
                  <a:srgbClr val="202124"/>
                </a:solidFill>
                <a:latin typeface="arial" panose="020B0604020202020204" pitchFamily="34" charset="0"/>
              </a:rPr>
              <a:t>A sufficient condition is a condition or set of conditions that will produce the event</a:t>
            </a:r>
            <a:r>
              <a:rPr lang="en-US" dirty="0">
                <a:solidFill>
                  <a:srgbClr val="202124"/>
                </a:solidFill>
                <a:latin typeface="arial" panose="020B0604020202020204" pitchFamily="34" charset="0"/>
              </a:rPr>
              <a:t>.</a:t>
            </a:r>
          </a:p>
          <a:p>
            <a:endParaRPr lang="en-US" dirty="0">
              <a:solidFill>
                <a:srgbClr val="202124"/>
              </a:solidFill>
              <a:latin typeface="arial" panose="020B0604020202020204" pitchFamily="34" charset="0"/>
            </a:endParaRPr>
          </a:p>
          <a:p>
            <a:endParaRPr lang="en-US" dirty="0">
              <a:solidFill>
                <a:srgbClr val="202124"/>
              </a:solidFill>
              <a:latin typeface="arial" panose="020B0604020202020204" pitchFamily="34" charset="0"/>
            </a:endParaRPr>
          </a:p>
          <a:p>
            <a:endParaRPr lang="en-US" dirty="0">
              <a:solidFill>
                <a:srgbClr val="202124"/>
              </a:solidFill>
              <a:latin typeface="arial" panose="020B0604020202020204" pitchFamily="34" charset="0"/>
            </a:endParaRPr>
          </a:p>
          <a:p>
            <a:r>
              <a:rPr lang="en-US" dirty="0">
                <a:solidFill>
                  <a:srgbClr val="202124"/>
                </a:solidFill>
                <a:latin typeface="arial" panose="020B0604020202020204" pitchFamily="34" charset="0"/>
              </a:rPr>
              <a:t>When sufficient condition is satisfied the event will happen in the graph. But every time when the event happens it is not necessary the the sufficient condition will be full filled. </a:t>
            </a:r>
          </a:p>
          <a:p>
            <a:endParaRPr lang="en-US" dirty="0">
              <a:solidFill>
                <a:srgbClr val="202124"/>
              </a:solidFill>
              <a:latin typeface="arial" panose="020B0604020202020204" pitchFamily="34" charset="0"/>
            </a:endParaRPr>
          </a:p>
          <a:p>
            <a:endParaRPr lang="en-US" dirty="0">
              <a:solidFill>
                <a:srgbClr val="202124"/>
              </a:solidFill>
              <a:latin typeface="arial" panose="020B0604020202020204" pitchFamily="34" charset="0"/>
            </a:endParaRPr>
          </a:p>
          <a:p>
            <a:r>
              <a:rPr lang="en-US" dirty="0">
                <a:solidFill>
                  <a:srgbClr val="202124"/>
                </a:solidFill>
                <a:latin typeface="arial" panose="020B0604020202020204" pitchFamily="34" charset="0"/>
              </a:rPr>
              <a:t>In necessary condition: every time when the event happens the necessary condition will be full filled. </a:t>
            </a:r>
          </a:p>
          <a:p>
            <a:endParaRPr lang="en-US" dirty="0">
              <a:solidFill>
                <a:srgbClr val="202124"/>
              </a:solidFill>
              <a:latin typeface="arial" panose="020B0604020202020204" pitchFamily="34" charset="0"/>
            </a:endParaRPr>
          </a:p>
        </p:txBody>
      </p:sp>
    </p:spTree>
    <p:extLst>
      <p:ext uri="{BB962C8B-B14F-4D97-AF65-F5344CB8AC3E}">
        <p14:creationId xmlns:p14="http://schemas.microsoft.com/office/powerpoint/2010/main" val="9950139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1"/>
            <a:ext cx="7162586" cy="698627"/>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b="1" dirty="0">
                <a:solidFill>
                  <a:schemeClr val="tx1"/>
                </a:solidFill>
              </a:rPr>
              <a:t>Hamilton</a:t>
            </a:r>
            <a:r>
              <a:rPr lang="en-US" sz="2800" dirty="0"/>
              <a:t> </a:t>
            </a:r>
            <a:r>
              <a:rPr lang="en-US" b="1" dirty="0">
                <a:solidFill>
                  <a:schemeClr val="tx1"/>
                </a:solidFill>
              </a:rPr>
              <a:t>Paths</a:t>
            </a:r>
            <a:r>
              <a:rPr lang="en-US" sz="2800" dirty="0"/>
              <a:t> </a:t>
            </a:r>
            <a:r>
              <a:rPr lang="en-US" b="1" dirty="0">
                <a:solidFill>
                  <a:schemeClr val="tx1"/>
                </a:solidFill>
              </a:rPr>
              <a:t>and</a:t>
            </a:r>
            <a:r>
              <a:rPr lang="en-US" sz="2800" dirty="0"/>
              <a:t> </a:t>
            </a:r>
            <a:r>
              <a:rPr lang="en-US" b="1" dirty="0">
                <a:solidFill>
                  <a:schemeClr val="tx1"/>
                </a:solidFill>
              </a:rPr>
              <a:t>Circuits</a:t>
            </a:r>
          </a:p>
        </p:txBody>
      </p:sp>
      <p:sp>
        <p:nvSpPr>
          <p:cNvPr id="6" name="Content Placeholder 2">
            <a:extLst>
              <a:ext uri="{FF2B5EF4-FFF2-40B4-BE49-F238E27FC236}">
                <a16:creationId xmlns:a16="http://schemas.microsoft.com/office/drawing/2014/main" id="{CF99919E-7A5E-43BE-A47D-DB0EF2E2952E}"/>
              </a:ext>
            </a:extLst>
          </p:cNvPr>
          <p:cNvSpPr txBox="1">
            <a:spLocks/>
          </p:cNvSpPr>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0" i="0" u="none" strike="noStrike" kern="1200" cap="none" spc="0" normalizeH="0" baseline="0" noProof="0">
                <a:ln>
                  <a:noFill/>
                </a:ln>
                <a:solidFill>
                  <a:sysClr val="windowText" lastClr="000000"/>
                </a:solidFill>
                <a:effectLst/>
                <a:uLnTx/>
                <a:uFillTx/>
                <a:latin typeface="Calibri"/>
                <a:ea typeface="+mn-ea"/>
                <a:cs typeface="+mn-cs"/>
              </a:rPr>
              <a:t>Both </a:t>
            </a:r>
            <a:r>
              <a:rPr kumimoji="0" lang="en-US" sz="3200" b="1" i="0" u="none" strike="noStrike" kern="1200" cap="none" spc="0" normalizeH="0" baseline="0" noProof="0">
                <a:ln>
                  <a:noFill/>
                </a:ln>
                <a:solidFill>
                  <a:srgbClr val="FF0000"/>
                </a:solidFill>
                <a:effectLst/>
                <a:uLnTx/>
                <a:uFillTx/>
                <a:latin typeface="Calibri"/>
                <a:ea typeface="+mn-ea"/>
                <a:cs typeface="+mn-cs"/>
              </a:rPr>
              <a:t>Ore’s Theorem</a:t>
            </a:r>
            <a:r>
              <a:rPr kumimoji="0" lang="en-US" sz="3200" b="1" i="0" u="none" strike="noStrike" kern="1200" cap="none" spc="0" normalizeH="0" baseline="0" noProof="0">
                <a:ln>
                  <a:noFill/>
                </a:ln>
                <a:solidFill>
                  <a:srgbClr val="C00000"/>
                </a:solidFill>
                <a:effectLst/>
                <a:uLnTx/>
                <a:uFillTx/>
                <a:latin typeface="Calibri"/>
                <a:ea typeface="+mn-ea"/>
                <a:cs typeface="+mn-cs"/>
              </a:rPr>
              <a:t> </a:t>
            </a:r>
            <a:r>
              <a:rPr kumimoji="0" lang="en-US" sz="3200" b="0" i="0" u="none" strike="noStrike" kern="1200" cap="none" spc="0" normalizeH="0" baseline="0" noProof="0">
                <a:ln>
                  <a:noFill/>
                </a:ln>
                <a:solidFill>
                  <a:sysClr val="windowText" lastClr="000000"/>
                </a:solidFill>
                <a:effectLst/>
                <a:uLnTx/>
                <a:uFillTx/>
                <a:latin typeface="Calibri"/>
                <a:ea typeface="+mn-ea"/>
                <a:cs typeface="+mn-cs"/>
              </a:rPr>
              <a:t>and </a:t>
            </a:r>
            <a:r>
              <a:rPr kumimoji="0" lang="en-US" sz="3200" b="1" i="0" u="none" strike="noStrike" kern="1200" cap="none" spc="0" normalizeH="0" baseline="0" noProof="0">
                <a:ln>
                  <a:noFill/>
                </a:ln>
                <a:solidFill>
                  <a:srgbClr val="FF0000"/>
                </a:solidFill>
                <a:effectLst/>
                <a:uLnTx/>
                <a:uFillTx/>
                <a:latin typeface="Calibri"/>
                <a:ea typeface="+mn-ea"/>
                <a:cs typeface="+mn-cs"/>
              </a:rPr>
              <a:t>Dirac’s Theorem </a:t>
            </a:r>
            <a:r>
              <a:rPr kumimoji="0" lang="en-US" sz="3200" b="0" i="0" u="none" strike="noStrike" kern="1200" cap="none" spc="0" normalizeH="0" baseline="0" noProof="0">
                <a:ln>
                  <a:noFill/>
                </a:ln>
                <a:solidFill>
                  <a:sysClr val="windowText" lastClr="000000"/>
                </a:solidFill>
                <a:effectLst/>
                <a:uLnTx/>
                <a:uFillTx/>
                <a:latin typeface="Calibri"/>
                <a:ea typeface="+mn-ea"/>
                <a:cs typeface="+mn-cs"/>
              </a:rPr>
              <a:t>provide </a:t>
            </a:r>
            <a:r>
              <a:rPr kumimoji="0" lang="en-US" sz="3200" b="1" i="0" u="none" strike="noStrike" kern="1200" cap="none" spc="0" normalizeH="0" baseline="0" noProof="0">
                <a:ln>
                  <a:noFill/>
                </a:ln>
                <a:solidFill>
                  <a:sysClr val="windowText" lastClr="000000"/>
                </a:solidFill>
                <a:effectLst/>
                <a:uLnTx/>
                <a:uFillTx/>
                <a:latin typeface="Calibri"/>
                <a:ea typeface="+mn-ea"/>
                <a:cs typeface="+mn-cs"/>
              </a:rPr>
              <a:t>sufficient</a:t>
            </a:r>
            <a:r>
              <a:rPr kumimoji="0" lang="en-US" sz="3200" b="0" i="0" u="none" strike="noStrike" kern="1200" cap="none" spc="0" normalizeH="0" baseline="0" noProof="0">
                <a:ln>
                  <a:noFill/>
                </a:ln>
                <a:solidFill>
                  <a:sysClr val="windowText" lastClr="000000"/>
                </a:solidFill>
                <a:effectLst/>
                <a:uLnTx/>
                <a:uFillTx/>
                <a:latin typeface="Calibri"/>
                <a:ea typeface="+mn-ea"/>
                <a:cs typeface="+mn-cs"/>
              </a:rPr>
              <a:t> </a:t>
            </a:r>
            <a:r>
              <a:rPr kumimoji="0" lang="en-US" sz="3200" b="1" i="0" u="none" strike="noStrike" kern="1200" cap="none" spc="0" normalizeH="0" baseline="0" noProof="0">
                <a:ln>
                  <a:noFill/>
                </a:ln>
                <a:solidFill>
                  <a:sysClr val="windowText" lastClr="000000"/>
                </a:solidFill>
                <a:effectLst/>
                <a:uLnTx/>
                <a:uFillTx/>
                <a:latin typeface="Calibri"/>
                <a:ea typeface="+mn-ea"/>
                <a:cs typeface="+mn-cs"/>
              </a:rPr>
              <a:t>conditions</a:t>
            </a:r>
            <a:r>
              <a:rPr kumimoji="0" lang="en-US" sz="3200" b="0" i="0" u="none" strike="noStrike" kern="1200" cap="none" spc="0" normalizeH="0" baseline="0" noProof="0">
                <a:ln>
                  <a:noFill/>
                </a:ln>
                <a:solidFill>
                  <a:sysClr val="windowText" lastClr="000000"/>
                </a:solidFill>
                <a:effectLst/>
                <a:uLnTx/>
                <a:uFillTx/>
                <a:latin typeface="Calibri"/>
                <a:ea typeface="+mn-ea"/>
                <a:cs typeface="+mn-cs"/>
              </a:rPr>
              <a:t> for a connected simple graph to have a Hamilton circuit. However, </a:t>
            </a:r>
            <a:r>
              <a:rPr kumimoji="0" lang="en-US" sz="3200" b="0" i="0" u="none" strike="noStrike" kern="1200" cap="none" spc="0" normalizeH="0" baseline="0" noProof="0">
                <a:ln>
                  <a:noFill/>
                </a:ln>
                <a:solidFill>
                  <a:srgbClr val="FF0000"/>
                </a:solidFill>
                <a:effectLst/>
                <a:uLnTx/>
                <a:uFillTx/>
                <a:latin typeface="Calibri"/>
                <a:ea typeface="+mn-ea"/>
                <a:cs typeface="+mn-cs"/>
              </a:rPr>
              <a:t>these theorems do not provide </a:t>
            </a:r>
            <a:r>
              <a:rPr kumimoji="0" lang="en-US" sz="3200" b="1" i="0" u="none" strike="noStrike" kern="1200" cap="none" spc="0" normalizeH="0" baseline="0" noProof="0">
                <a:ln>
                  <a:noFill/>
                </a:ln>
                <a:solidFill>
                  <a:srgbClr val="FF0000"/>
                </a:solidFill>
                <a:effectLst/>
                <a:uLnTx/>
                <a:uFillTx/>
                <a:latin typeface="Calibri"/>
                <a:ea typeface="+mn-ea"/>
                <a:cs typeface="+mn-cs"/>
              </a:rPr>
              <a:t>necessary</a:t>
            </a:r>
            <a:r>
              <a:rPr kumimoji="0" lang="en-US" sz="3200" b="0" i="0" u="none" strike="noStrike" kern="1200" cap="none" spc="0" normalizeH="0" baseline="0" noProof="0">
                <a:ln>
                  <a:noFill/>
                </a:ln>
                <a:solidFill>
                  <a:srgbClr val="FF0000"/>
                </a:solidFill>
                <a:effectLst/>
                <a:uLnTx/>
                <a:uFillTx/>
                <a:latin typeface="Calibri"/>
                <a:ea typeface="+mn-ea"/>
                <a:cs typeface="+mn-cs"/>
              </a:rPr>
              <a:t> </a:t>
            </a:r>
            <a:r>
              <a:rPr kumimoji="0" lang="en-US" sz="3200" b="1" i="0" u="none" strike="noStrike" kern="1200" cap="none" spc="0" normalizeH="0" baseline="0" noProof="0">
                <a:ln>
                  <a:noFill/>
                </a:ln>
                <a:solidFill>
                  <a:srgbClr val="FF0000"/>
                </a:solidFill>
                <a:effectLst/>
                <a:uLnTx/>
                <a:uFillTx/>
                <a:latin typeface="Calibri"/>
                <a:ea typeface="+mn-ea"/>
                <a:cs typeface="+mn-cs"/>
              </a:rPr>
              <a:t>conditions</a:t>
            </a:r>
            <a:r>
              <a:rPr kumimoji="0" lang="en-US" sz="3200" b="0" i="0" u="none" strike="noStrike" kern="1200" cap="none" spc="0" normalizeH="0" baseline="0" noProof="0">
                <a:ln>
                  <a:noFill/>
                </a:ln>
                <a:solidFill>
                  <a:srgbClr val="FF0000"/>
                </a:solidFill>
                <a:effectLst/>
                <a:uLnTx/>
                <a:uFillTx/>
                <a:latin typeface="Calibri"/>
                <a:ea typeface="+mn-ea"/>
                <a:cs typeface="+mn-cs"/>
              </a:rPr>
              <a:t> for the existence of a Hamilton circuit.</a:t>
            </a:r>
          </a:p>
          <a:p>
            <a:pPr marL="742950" marR="0" lvl="1" indent="-285750" algn="l" defTabSz="9144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b="0" i="0" u="sng" strike="noStrike" kern="1200" cap="none" spc="0" normalizeH="0" baseline="0" noProof="0">
                <a:ln>
                  <a:noFill/>
                </a:ln>
                <a:solidFill>
                  <a:srgbClr val="0000FF"/>
                </a:solidFill>
                <a:effectLst/>
                <a:uLnTx/>
                <a:uFillTx/>
                <a:latin typeface="Calibri"/>
                <a:ea typeface="+mn-ea"/>
                <a:cs typeface="+mn-cs"/>
              </a:rPr>
              <a:t>For example</a:t>
            </a: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 the graph C</a:t>
            </a:r>
            <a:r>
              <a:rPr kumimoji="0" lang="en-US" sz="2800" b="0" i="0" u="none" strike="noStrike" kern="1200" cap="none" spc="0" normalizeH="0" baseline="-25000" noProof="0">
                <a:ln>
                  <a:noFill/>
                </a:ln>
                <a:solidFill>
                  <a:sysClr val="windowText" lastClr="000000"/>
                </a:solidFill>
                <a:effectLst/>
                <a:uLnTx/>
                <a:uFillTx/>
                <a:latin typeface="Calibri"/>
                <a:ea typeface="+mn-ea"/>
                <a:cs typeface="+mn-cs"/>
              </a:rPr>
              <a:t>5</a:t>
            </a: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 has a Hamilton circuit but does not satisfy the hypotheses of either Ore’s Theorem or Dirac’s Theorem</a:t>
            </a: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41233254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1"/>
            <a:ext cx="7162586" cy="698627"/>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b="1" dirty="0">
                <a:solidFill>
                  <a:schemeClr val="tx1"/>
                </a:solidFill>
              </a:rPr>
              <a:t>Exercise 37 (p.583)</a:t>
            </a:r>
          </a:p>
        </p:txBody>
      </p:sp>
      <p:sp>
        <p:nvSpPr>
          <p:cNvPr id="20" name="Content Placeholder 2">
            <a:extLst>
              <a:ext uri="{FF2B5EF4-FFF2-40B4-BE49-F238E27FC236}">
                <a16:creationId xmlns:a16="http://schemas.microsoft.com/office/drawing/2014/main" id="{4C3CA2E2-2AED-4C09-BB96-8543422163AF}"/>
              </a:ext>
            </a:extLst>
          </p:cNvPr>
          <p:cNvSpPr txBox="1">
            <a:spLocks/>
          </p:cNvSpPr>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kumimoji="0" lang="en-US" sz="2400" b="0" i="0" u="none" strike="noStrike" kern="1200" cap="none" spc="0" normalizeH="0" baseline="0" noProof="0" dirty="0">
                <a:ln>
                  <a:noFill/>
                </a:ln>
                <a:solidFill>
                  <a:srgbClr val="FF0000"/>
                </a:solidFill>
                <a:effectLst/>
                <a:uLnTx/>
                <a:uFillTx/>
                <a:latin typeface="Calibri"/>
                <a:ea typeface="+mn-ea"/>
                <a:cs typeface="+mn-cs"/>
              </a:rPr>
              <a:t>Does the following graph have a </a:t>
            </a:r>
            <a:r>
              <a:rPr kumimoji="0" lang="en-US" sz="2400" b="1" i="0" u="none" strike="noStrike" kern="1200" cap="none" spc="0" normalizeH="0" baseline="0" noProof="0" dirty="0">
                <a:ln>
                  <a:noFill/>
                </a:ln>
                <a:solidFill>
                  <a:srgbClr val="FF0000"/>
                </a:solidFill>
                <a:effectLst/>
                <a:uLnTx/>
                <a:uFillTx/>
                <a:latin typeface="Calibri"/>
                <a:ea typeface="+mn-ea"/>
                <a:cs typeface="+mn-cs"/>
              </a:rPr>
              <a:t>Hamilton path</a:t>
            </a:r>
            <a:r>
              <a:rPr kumimoji="0" lang="en-US" sz="2400" b="0" i="0" u="none" strike="noStrike" kern="1200" cap="none" spc="0" normalizeH="0" baseline="0" noProof="0" dirty="0">
                <a:ln>
                  <a:noFill/>
                </a:ln>
                <a:solidFill>
                  <a:srgbClr val="FF0000"/>
                </a:solidFill>
                <a:effectLst/>
                <a:uLnTx/>
                <a:uFillTx/>
                <a:latin typeface="Calibri"/>
                <a:ea typeface="+mn-ea"/>
                <a:cs typeface="+mn-cs"/>
              </a:rPr>
              <a:t>? If so, find such a path. If it does not, give an argument to show why no such path exists.</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endParaRPr kumimoji="0" lang="en-US" sz="2400" b="0" i="0" u="none" strike="noStrike" kern="1200" cap="none" spc="0" normalizeH="0" baseline="0" noProof="0" dirty="0">
              <a:ln>
                <a:noFill/>
              </a:ln>
              <a:solidFill>
                <a:sysClr val="windowText" lastClr="000000"/>
              </a:solidFill>
              <a:effectLst/>
              <a:uLnTx/>
              <a:uFillTx/>
              <a:latin typeface="Calibri"/>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     a				     d</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                         c            f</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None/>
              <a:tabLst/>
              <a:defRPr/>
            </a:pPr>
            <a:endParaRPr kumimoji="0" lang="en-US" sz="2400" b="0" i="0" u="none" strike="noStrike" kern="1200" cap="none" spc="0" normalizeH="0" baseline="0" noProof="0" dirty="0">
              <a:ln>
                <a:noFill/>
              </a:ln>
              <a:solidFill>
                <a:sysClr val="windowText" lastClr="000000"/>
              </a:solidFill>
              <a:effectLst/>
              <a:uLnTx/>
              <a:uFillTx/>
              <a:latin typeface="Calibri"/>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  </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       b 				e</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None/>
              <a:tabLst/>
              <a:defRPr/>
            </a:pPr>
            <a:endParaRPr kumimoji="0" lang="en-US" sz="2400" b="0" i="0" u="none" strike="noStrike" kern="1200" cap="none" spc="0" normalizeH="0" baseline="0" noProof="0" dirty="0">
              <a:ln>
                <a:noFill/>
              </a:ln>
              <a:solidFill>
                <a:sysClr val="windowText" lastClr="000000"/>
              </a:solidFill>
              <a:effectLst/>
              <a:uLnTx/>
              <a:uFillTx/>
              <a:latin typeface="Calibri"/>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               </a:t>
            </a:r>
          </a:p>
        </p:txBody>
      </p:sp>
      <p:cxnSp>
        <p:nvCxnSpPr>
          <p:cNvPr id="22" name="Straight Connector 21">
            <a:extLst>
              <a:ext uri="{FF2B5EF4-FFF2-40B4-BE49-F238E27FC236}">
                <a16:creationId xmlns:a16="http://schemas.microsoft.com/office/drawing/2014/main" id="{996C8477-B28A-4BAF-B877-71314770DF67}"/>
              </a:ext>
            </a:extLst>
          </p:cNvPr>
          <p:cNvCxnSpPr/>
          <p:nvPr/>
        </p:nvCxnSpPr>
        <p:spPr>
          <a:xfrm>
            <a:off x="1295400" y="3505200"/>
            <a:ext cx="0" cy="1524000"/>
          </a:xfrm>
          <a:prstGeom prst="line">
            <a:avLst/>
          </a:prstGeom>
          <a:noFill/>
          <a:ln w="9525" cap="flat" cmpd="sng" algn="ctr">
            <a:solidFill>
              <a:sysClr val="windowText" lastClr="000000">
                <a:alpha val="96000"/>
              </a:sysClr>
            </a:solidFill>
            <a:prstDash val="solid"/>
          </a:ln>
          <a:effectLst/>
        </p:spPr>
      </p:cxnSp>
      <p:cxnSp>
        <p:nvCxnSpPr>
          <p:cNvPr id="23" name="Straight Connector 22">
            <a:extLst>
              <a:ext uri="{FF2B5EF4-FFF2-40B4-BE49-F238E27FC236}">
                <a16:creationId xmlns:a16="http://schemas.microsoft.com/office/drawing/2014/main" id="{8419C1FB-087B-46E3-8BCB-2E78BB766911}"/>
              </a:ext>
            </a:extLst>
          </p:cNvPr>
          <p:cNvCxnSpPr/>
          <p:nvPr/>
        </p:nvCxnSpPr>
        <p:spPr>
          <a:xfrm>
            <a:off x="1295400" y="3505200"/>
            <a:ext cx="990600" cy="685800"/>
          </a:xfrm>
          <a:prstGeom prst="line">
            <a:avLst/>
          </a:prstGeom>
          <a:noFill/>
          <a:ln w="9525" cap="flat" cmpd="sng" algn="ctr">
            <a:solidFill>
              <a:sysClr val="windowText" lastClr="000000">
                <a:alpha val="96000"/>
              </a:sysClr>
            </a:solidFill>
            <a:prstDash val="solid"/>
          </a:ln>
          <a:effectLst/>
        </p:spPr>
      </p:cxnSp>
      <p:cxnSp>
        <p:nvCxnSpPr>
          <p:cNvPr id="24" name="Straight Connector 23">
            <a:extLst>
              <a:ext uri="{FF2B5EF4-FFF2-40B4-BE49-F238E27FC236}">
                <a16:creationId xmlns:a16="http://schemas.microsoft.com/office/drawing/2014/main" id="{4875FF49-EBA6-4BF8-BBBE-EFDBE90B24FA}"/>
              </a:ext>
            </a:extLst>
          </p:cNvPr>
          <p:cNvCxnSpPr/>
          <p:nvPr/>
        </p:nvCxnSpPr>
        <p:spPr>
          <a:xfrm flipH="1">
            <a:off x="1295400" y="4191000"/>
            <a:ext cx="990600" cy="838200"/>
          </a:xfrm>
          <a:prstGeom prst="line">
            <a:avLst/>
          </a:prstGeom>
          <a:noFill/>
          <a:ln w="9525" cap="flat" cmpd="sng" algn="ctr">
            <a:solidFill>
              <a:sysClr val="windowText" lastClr="000000">
                <a:alpha val="96000"/>
              </a:sysClr>
            </a:solidFill>
            <a:prstDash val="solid"/>
          </a:ln>
          <a:effectLst/>
        </p:spPr>
      </p:cxnSp>
      <p:cxnSp>
        <p:nvCxnSpPr>
          <p:cNvPr id="25" name="Straight Connector 24">
            <a:extLst>
              <a:ext uri="{FF2B5EF4-FFF2-40B4-BE49-F238E27FC236}">
                <a16:creationId xmlns:a16="http://schemas.microsoft.com/office/drawing/2014/main" id="{4626089B-6DC3-4F3A-AE52-D64F45960836}"/>
              </a:ext>
            </a:extLst>
          </p:cNvPr>
          <p:cNvCxnSpPr/>
          <p:nvPr/>
        </p:nvCxnSpPr>
        <p:spPr>
          <a:xfrm>
            <a:off x="4343400" y="3505200"/>
            <a:ext cx="0" cy="1524000"/>
          </a:xfrm>
          <a:prstGeom prst="line">
            <a:avLst/>
          </a:prstGeom>
          <a:noFill/>
          <a:ln w="9525" cap="flat" cmpd="sng" algn="ctr">
            <a:solidFill>
              <a:sysClr val="windowText" lastClr="000000">
                <a:alpha val="96000"/>
              </a:sysClr>
            </a:solidFill>
            <a:prstDash val="solid"/>
          </a:ln>
          <a:effectLst/>
        </p:spPr>
      </p:cxnSp>
      <p:cxnSp>
        <p:nvCxnSpPr>
          <p:cNvPr id="26" name="Straight Connector 25">
            <a:extLst>
              <a:ext uri="{FF2B5EF4-FFF2-40B4-BE49-F238E27FC236}">
                <a16:creationId xmlns:a16="http://schemas.microsoft.com/office/drawing/2014/main" id="{EE14051C-9CD7-4569-BF06-C22F1DD48A17}"/>
              </a:ext>
            </a:extLst>
          </p:cNvPr>
          <p:cNvCxnSpPr/>
          <p:nvPr/>
        </p:nvCxnSpPr>
        <p:spPr>
          <a:xfrm flipH="1">
            <a:off x="2286000" y="4191000"/>
            <a:ext cx="990600" cy="0"/>
          </a:xfrm>
          <a:prstGeom prst="line">
            <a:avLst/>
          </a:prstGeom>
          <a:noFill/>
          <a:ln w="9525" cap="flat" cmpd="sng" algn="ctr">
            <a:solidFill>
              <a:sysClr val="windowText" lastClr="000000">
                <a:alpha val="96000"/>
              </a:sysClr>
            </a:solidFill>
            <a:prstDash val="solid"/>
          </a:ln>
          <a:effectLst/>
        </p:spPr>
      </p:cxnSp>
      <p:cxnSp>
        <p:nvCxnSpPr>
          <p:cNvPr id="27" name="Straight Connector 26">
            <a:extLst>
              <a:ext uri="{FF2B5EF4-FFF2-40B4-BE49-F238E27FC236}">
                <a16:creationId xmlns:a16="http://schemas.microsoft.com/office/drawing/2014/main" id="{DCBBB45A-B1FA-4EBA-807E-131C1B022C30}"/>
              </a:ext>
            </a:extLst>
          </p:cNvPr>
          <p:cNvCxnSpPr/>
          <p:nvPr/>
        </p:nvCxnSpPr>
        <p:spPr>
          <a:xfrm flipH="1">
            <a:off x="3276600" y="3505200"/>
            <a:ext cx="1066800" cy="685800"/>
          </a:xfrm>
          <a:prstGeom prst="line">
            <a:avLst/>
          </a:prstGeom>
          <a:noFill/>
          <a:ln w="9525" cap="flat" cmpd="sng" algn="ctr">
            <a:solidFill>
              <a:sysClr val="windowText" lastClr="000000">
                <a:alpha val="96000"/>
              </a:sysClr>
            </a:solidFill>
            <a:prstDash val="solid"/>
          </a:ln>
          <a:effectLst/>
        </p:spPr>
      </p:cxnSp>
      <p:cxnSp>
        <p:nvCxnSpPr>
          <p:cNvPr id="28" name="Straight Connector 27">
            <a:extLst>
              <a:ext uri="{FF2B5EF4-FFF2-40B4-BE49-F238E27FC236}">
                <a16:creationId xmlns:a16="http://schemas.microsoft.com/office/drawing/2014/main" id="{3094B1C4-DE6E-4C95-8AC1-DAFD79860DD6}"/>
              </a:ext>
            </a:extLst>
          </p:cNvPr>
          <p:cNvCxnSpPr/>
          <p:nvPr/>
        </p:nvCxnSpPr>
        <p:spPr>
          <a:xfrm>
            <a:off x="3276600" y="4191000"/>
            <a:ext cx="1066800" cy="838200"/>
          </a:xfrm>
          <a:prstGeom prst="line">
            <a:avLst/>
          </a:prstGeom>
          <a:noFill/>
          <a:ln w="9525" cap="flat" cmpd="sng" algn="ctr">
            <a:solidFill>
              <a:sysClr val="windowText" lastClr="000000">
                <a:alpha val="96000"/>
              </a:sysClr>
            </a:solidFill>
            <a:prstDash val="solid"/>
          </a:ln>
          <a:effectLst/>
        </p:spPr>
      </p:cxnSp>
      <p:sp>
        <p:nvSpPr>
          <p:cNvPr id="29" name="Flowchart: Connector 28">
            <a:extLst>
              <a:ext uri="{FF2B5EF4-FFF2-40B4-BE49-F238E27FC236}">
                <a16:creationId xmlns:a16="http://schemas.microsoft.com/office/drawing/2014/main" id="{F3608BE3-4BC7-4ABF-9027-512CC6BE4C4F}"/>
              </a:ext>
            </a:extLst>
          </p:cNvPr>
          <p:cNvSpPr/>
          <p:nvPr/>
        </p:nvSpPr>
        <p:spPr>
          <a:xfrm>
            <a:off x="1219200" y="3429000"/>
            <a:ext cx="152400" cy="152400"/>
          </a:xfrm>
          <a:prstGeom prst="flowChartConnector">
            <a:avLst/>
          </a:prstGeom>
          <a:solidFill>
            <a:sysClr val="windowText" lastClr="000000"/>
          </a:solidFill>
          <a:ln w="25400" cap="flat" cmpd="sng" algn="ctr">
            <a:solidFill>
              <a:srgbClr val="4F81BD">
                <a:shade val="5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30" name="Flowchart: Connector 29">
            <a:extLst>
              <a:ext uri="{FF2B5EF4-FFF2-40B4-BE49-F238E27FC236}">
                <a16:creationId xmlns:a16="http://schemas.microsoft.com/office/drawing/2014/main" id="{906D28CB-182A-41D4-89BD-1412C08A75E3}"/>
              </a:ext>
            </a:extLst>
          </p:cNvPr>
          <p:cNvSpPr/>
          <p:nvPr/>
        </p:nvSpPr>
        <p:spPr>
          <a:xfrm>
            <a:off x="1219200" y="4876800"/>
            <a:ext cx="152400" cy="152400"/>
          </a:xfrm>
          <a:prstGeom prst="flowChartConnector">
            <a:avLst/>
          </a:prstGeom>
          <a:solidFill>
            <a:sysClr val="windowText" lastClr="000000"/>
          </a:solidFill>
          <a:ln w="25400" cap="flat" cmpd="sng" algn="ctr">
            <a:solidFill>
              <a:srgbClr val="4F81BD">
                <a:shade val="5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31" name="Flowchart: Connector 30">
            <a:extLst>
              <a:ext uri="{FF2B5EF4-FFF2-40B4-BE49-F238E27FC236}">
                <a16:creationId xmlns:a16="http://schemas.microsoft.com/office/drawing/2014/main" id="{192F40D5-A9AF-4B80-8467-1C586425A898}"/>
              </a:ext>
            </a:extLst>
          </p:cNvPr>
          <p:cNvSpPr/>
          <p:nvPr/>
        </p:nvSpPr>
        <p:spPr>
          <a:xfrm>
            <a:off x="2133600" y="4114800"/>
            <a:ext cx="152400" cy="152400"/>
          </a:xfrm>
          <a:prstGeom prst="flowChartConnector">
            <a:avLst/>
          </a:prstGeom>
          <a:solidFill>
            <a:sysClr val="windowText" lastClr="000000"/>
          </a:solidFill>
          <a:ln w="25400" cap="flat" cmpd="sng" algn="ctr">
            <a:solidFill>
              <a:srgbClr val="4F81BD">
                <a:shade val="5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32" name="Flowchart: Connector 31">
            <a:extLst>
              <a:ext uri="{FF2B5EF4-FFF2-40B4-BE49-F238E27FC236}">
                <a16:creationId xmlns:a16="http://schemas.microsoft.com/office/drawing/2014/main" id="{C498FA43-5D89-454A-9655-84D51C937342}"/>
              </a:ext>
            </a:extLst>
          </p:cNvPr>
          <p:cNvSpPr/>
          <p:nvPr/>
        </p:nvSpPr>
        <p:spPr>
          <a:xfrm>
            <a:off x="4267200" y="3429000"/>
            <a:ext cx="152400" cy="152400"/>
          </a:xfrm>
          <a:prstGeom prst="flowChartConnector">
            <a:avLst/>
          </a:prstGeom>
          <a:solidFill>
            <a:sysClr val="windowText" lastClr="000000"/>
          </a:solidFill>
          <a:ln w="25400" cap="flat" cmpd="sng" algn="ctr">
            <a:solidFill>
              <a:srgbClr val="4F81BD">
                <a:shade val="5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33" name="Flowchart: Connector 32">
            <a:extLst>
              <a:ext uri="{FF2B5EF4-FFF2-40B4-BE49-F238E27FC236}">
                <a16:creationId xmlns:a16="http://schemas.microsoft.com/office/drawing/2014/main" id="{87E1957C-21B0-4BD8-98FB-2671FFA42DFD}"/>
              </a:ext>
            </a:extLst>
          </p:cNvPr>
          <p:cNvSpPr/>
          <p:nvPr/>
        </p:nvSpPr>
        <p:spPr>
          <a:xfrm>
            <a:off x="4267200" y="4953000"/>
            <a:ext cx="152400" cy="152400"/>
          </a:xfrm>
          <a:prstGeom prst="flowChartConnector">
            <a:avLst/>
          </a:prstGeom>
          <a:solidFill>
            <a:sysClr val="windowText" lastClr="000000"/>
          </a:solidFill>
          <a:ln w="25400" cap="flat" cmpd="sng" algn="ctr">
            <a:solidFill>
              <a:srgbClr val="4F81BD">
                <a:shade val="5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34" name="Flowchart: Connector 33">
            <a:extLst>
              <a:ext uri="{FF2B5EF4-FFF2-40B4-BE49-F238E27FC236}">
                <a16:creationId xmlns:a16="http://schemas.microsoft.com/office/drawing/2014/main" id="{208AD6A2-7B03-4012-B695-E9EB9475AF47}"/>
              </a:ext>
            </a:extLst>
          </p:cNvPr>
          <p:cNvSpPr/>
          <p:nvPr/>
        </p:nvSpPr>
        <p:spPr>
          <a:xfrm>
            <a:off x="3200400" y="4114800"/>
            <a:ext cx="152400" cy="152400"/>
          </a:xfrm>
          <a:prstGeom prst="flowChartConnector">
            <a:avLst/>
          </a:prstGeom>
          <a:solidFill>
            <a:sysClr val="windowText" lastClr="000000"/>
          </a:solidFill>
          <a:ln w="25400" cap="flat" cmpd="sng" algn="ctr">
            <a:solidFill>
              <a:srgbClr val="4F81BD">
                <a:shade val="5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6281693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1"/>
            <a:ext cx="7162586" cy="698627"/>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b="1" dirty="0">
                <a:solidFill>
                  <a:schemeClr val="tx1"/>
                </a:solidFill>
              </a:rPr>
              <a:t>Exercise 37 (p.645)</a:t>
            </a:r>
          </a:p>
        </p:txBody>
      </p:sp>
      <p:sp>
        <p:nvSpPr>
          <p:cNvPr id="49" name="Content Placeholder 2">
            <a:extLst>
              <a:ext uri="{FF2B5EF4-FFF2-40B4-BE49-F238E27FC236}">
                <a16:creationId xmlns:a16="http://schemas.microsoft.com/office/drawing/2014/main" id="{37A2C3EE-E1F1-49A5-8C0F-04E0CDAC303B}"/>
              </a:ext>
            </a:extLst>
          </p:cNvPr>
          <p:cNvSpPr txBox="1">
            <a:spLocks/>
          </p:cNvSpPr>
          <p:nvPr/>
        </p:nvSpPr>
        <p:spPr bwMode="auto">
          <a:xfrm>
            <a:off x="457200" y="1371600"/>
            <a:ext cx="8229600" cy="4876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kumimoji="0" lang="en-US" sz="2400" b="1" i="0" u="sng" strike="noStrike" kern="1200" cap="none" spc="0" normalizeH="0" baseline="0" noProof="0">
                <a:ln>
                  <a:noFill/>
                </a:ln>
                <a:solidFill>
                  <a:srgbClr val="FF0000"/>
                </a:solidFill>
                <a:effectLst/>
                <a:uLnTx/>
                <a:uFillTx/>
                <a:latin typeface="Calibri"/>
                <a:ea typeface="+mn-ea"/>
                <a:cs typeface="+mn-cs"/>
              </a:rPr>
              <a:t>Solution</a:t>
            </a:r>
            <a:r>
              <a:rPr kumimoji="0" lang="en-US" sz="2400" b="1" i="0" u="sng" strike="noStrike" kern="1200" cap="none" spc="0" normalizeH="0" baseline="0" noProof="0">
                <a:ln>
                  <a:noFill/>
                </a:ln>
                <a:solidFill>
                  <a:srgbClr val="C00000"/>
                </a:solidFill>
                <a:effectLst/>
                <a:uLnTx/>
                <a:uFillTx/>
                <a:latin typeface="Calibri"/>
                <a:ea typeface="+mn-ea"/>
                <a:cs typeface="+mn-cs"/>
              </a:rPr>
              <a:t>:</a:t>
            </a:r>
            <a:endParaRPr kumimoji="0" lang="en-US" sz="24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kumimoji="0" lang="en-US" sz="2400" b="0" i="0" u="none" strike="noStrike" kern="1200" cap="none" spc="0" normalizeH="0" baseline="0" noProof="0">
                <a:ln>
                  <a:noFill/>
                </a:ln>
                <a:solidFill>
                  <a:srgbClr val="0000FF"/>
                </a:solidFill>
                <a:effectLst/>
                <a:uLnTx/>
                <a:uFillTx/>
                <a:latin typeface="Calibri"/>
                <a:ea typeface="+mn-ea"/>
                <a:cs typeface="+mn-cs"/>
              </a:rPr>
              <a:t>This graph has the Hamilton path </a:t>
            </a:r>
            <a:r>
              <a:rPr kumimoji="0" lang="en-US" sz="2400" b="0" i="1" u="none" strike="noStrike" kern="1200" cap="none" spc="0" normalizeH="0" baseline="0" noProof="0">
                <a:ln>
                  <a:noFill/>
                </a:ln>
                <a:solidFill>
                  <a:srgbClr val="0000FF"/>
                </a:solidFill>
                <a:effectLst/>
                <a:uLnTx/>
                <a:uFillTx/>
                <a:latin typeface="Calibri"/>
                <a:ea typeface="+mn-ea"/>
                <a:cs typeface="+mn-cs"/>
              </a:rPr>
              <a:t>a, b, c, f, d, e</a:t>
            </a:r>
            <a:r>
              <a:rPr kumimoji="0" lang="en-US" sz="2400" b="0" i="0" u="none" strike="noStrike" kern="1200" cap="none" spc="0" normalizeH="0" baseline="0" noProof="0">
                <a:ln>
                  <a:noFill/>
                </a:ln>
                <a:solidFill>
                  <a:srgbClr val="0000FF"/>
                </a:solidFill>
                <a:effectLst/>
                <a:uLnTx/>
                <a:uFillTx/>
                <a:latin typeface="Calibri"/>
                <a:ea typeface="+mn-ea"/>
                <a:cs typeface="+mn-cs"/>
              </a:rPr>
              <a:t>. </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2400" b="0" i="0" u="none" strike="noStrike" kern="1200" cap="none" spc="0" normalizeH="0" baseline="0" noProof="0">
                <a:ln>
                  <a:noFill/>
                </a:ln>
                <a:solidFill>
                  <a:srgbClr val="0000FF"/>
                </a:solidFill>
                <a:effectLst/>
                <a:uLnTx/>
                <a:uFillTx/>
                <a:latin typeface="Calibri"/>
                <a:ea typeface="+mn-ea"/>
                <a:cs typeface="+mn-cs"/>
              </a:rPr>
              <a:t>	This simple path hits each vertex once.</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None/>
              <a:tabLst/>
              <a:defRPr/>
            </a:pPr>
            <a:endParaRPr kumimoji="0" lang="en-US" sz="24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     a				     d</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                        c             f</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None/>
              <a:tabLst/>
              <a:defRPr/>
            </a:pPr>
            <a:endParaRPr kumimoji="0" lang="en-US" sz="24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  </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       b 			         e</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None/>
              <a:tabLst/>
              <a:defRPr/>
            </a:pPr>
            <a:endParaRPr kumimoji="0" lang="en-US" sz="24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               </a:t>
            </a:r>
            <a:endParaRPr kumimoji="0" lang="en-US" sz="24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50" name="Slide Number Placeholder 3">
            <a:extLst>
              <a:ext uri="{FF2B5EF4-FFF2-40B4-BE49-F238E27FC236}">
                <a16:creationId xmlns:a16="http://schemas.microsoft.com/office/drawing/2014/main" id="{110742D3-36EC-45AE-8B9C-E5E5A7721F23}"/>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algn="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ACC317B0-948B-421C-82FD-F997D3AA0F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cxnSp>
        <p:nvCxnSpPr>
          <p:cNvPr id="51" name="Straight Connector 50">
            <a:extLst>
              <a:ext uri="{FF2B5EF4-FFF2-40B4-BE49-F238E27FC236}">
                <a16:creationId xmlns:a16="http://schemas.microsoft.com/office/drawing/2014/main" id="{16A569D9-36E1-4EB8-8C54-B6B9321BDC68}"/>
              </a:ext>
            </a:extLst>
          </p:cNvPr>
          <p:cNvCxnSpPr/>
          <p:nvPr/>
        </p:nvCxnSpPr>
        <p:spPr>
          <a:xfrm>
            <a:off x="1295400" y="3505200"/>
            <a:ext cx="0" cy="1524000"/>
          </a:xfrm>
          <a:prstGeom prst="line">
            <a:avLst/>
          </a:prstGeom>
          <a:noFill/>
          <a:ln w="9525" cap="flat" cmpd="sng" algn="ctr">
            <a:solidFill>
              <a:sysClr val="windowText" lastClr="000000">
                <a:alpha val="96000"/>
              </a:sysClr>
            </a:solidFill>
            <a:prstDash val="solid"/>
          </a:ln>
          <a:effectLst/>
        </p:spPr>
      </p:cxnSp>
      <p:cxnSp>
        <p:nvCxnSpPr>
          <p:cNvPr id="52" name="Straight Connector 51">
            <a:extLst>
              <a:ext uri="{FF2B5EF4-FFF2-40B4-BE49-F238E27FC236}">
                <a16:creationId xmlns:a16="http://schemas.microsoft.com/office/drawing/2014/main" id="{DCA4076C-9BA6-4D8A-B398-4254F83A4660}"/>
              </a:ext>
            </a:extLst>
          </p:cNvPr>
          <p:cNvCxnSpPr/>
          <p:nvPr/>
        </p:nvCxnSpPr>
        <p:spPr>
          <a:xfrm>
            <a:off x="1295400" y="3505200"/>
            <a:ext cx="990600" cy="685800"/>
          </a:xfrm>
          <a:prstGeom prst="line">
            <a:avLst/>
          </a:prstGeom>
          <a:noFill/>
          <a:ln w="9525" cap="flat" cmpd="sng" algn="ctr">
            <a:solidFill>
              <a:sysClr val="windowText" lastClr="000000">
                <a:alpha val="96000"/>
              </a:sysClr>
            </a:solidFill>
            <a:prstDash val="solid"/>
          </a:ln>
          <a:effectLst/>
        </p:spPr>
      </p:cxnSp>
      <p:cxnSp>
        <p:nvCxnSpPr>
          <p:cNvPr id="53" name="Straight Connector 52">
            <a:extLst>
              <a:ext uri="{FF2B5EF4-FFF2-40B4-BE49-F238E27FC236}">
                <a16:creationId xmlns:a16="http://schemas.microsoft.com/office/drawing/2014/main" id="{0F20E9BE-07A6-4A2B-9EB9-EC2DAC501787}"/>
              </a:ext>
            </a:extLst>
          </p:cNvPr>
          <p:cNvCxnSpPr/>
          <p:nvPr/>
        </p:nvCxnSpPr>
        <p:spPr>
          <a:xfrm flipH="1">
            <a:off x="1295400" y="4191000"/>
            <a:ext cx="990600" cy="838200"/>
          </a:xfrm>
          <a:prstGeom prst="line">
            <a:avLst/>
          </a:prstGeom>
          <a:noFill/>
          <a:ln w="9525" cap="flat" cmpd="sng" algn="ctr">
            <a:solidFill>
              <a:sysClr val="windowText" lastClr="000000">
                <a:alpha val="96000"/>
              </a:sysClr>
            </a:solidFill>
            <a:prstDash val="solid"/>
          </a:ln>
          <a:effectLst/>
        </p:spPr>
      </p:cxnSp>
      <p:cxnSp>
        <p:nvCxnSpPr>
          <p:cNvPr id="54" name="Straight Connector 53">
            <a:extLst>
              <a:ext uri="{FF2B5EF4-FFF2-40B4-BE49-F238E27FC236}">
                <a16:creationId xmlns:a16="http://schemas.microsoft.com/office/drawing/2014/main" id="{A0165036-EB41-4F77-A296-2E818C193571}"/>
              </a:ext>
            </a:extLst>
          </p:cNvPr>
          <p:cNvCxnSpPr/>
          <p:nvPr/>
        </p:nvCxnSpPr>
        <p:spPr>
          <a:xfrm>
            <a:off x="4343400" y="3505200"/>
            <a:ext cx="0" cy="1524000"/>
          </a:xfrm>
          <a:prstGeom prst="line">
            <a:avLst/>
          </a:prstGeom>
          <a:noFill/>
          <a:ln w="9525" cap="flat" cmpd="sng" algn="ctr">
            <a:solidFill>
              <a:sysClr val="windowText" lastClr="000000">
                <a:alpha val="96000"/>
              </a:sysClr>
            </a:solidFill>
            <a:prstDash val="solid"/>
          </a:ln>
          <a:effectLst/>
        </p:spPr>
      </p:cxnSp>
      <p:cxnSp>
        <p:nvCxnSpPr>
          <p:cNvPr id="55" name="Straight Connector 54">
            <a:extLst>
              <a:ext uri="{FF2B5EF4-FFF2-40B4-BE49-F238E27FC236}">
                <a16:creationId xmlns:a16="http://schemas.microsoft.com/office/drawing/2014/main" id="{15D471F0-29D5-407D-A006-E60E66FBC801}"/>
              </a:ext>
            </a:extLst>
          </p:cNvPr>
          <p:cNvCxnSpPr/>
          <p:nvPr/>
        </p:nvCxnSpPr>
        <p:spPr>
          <a:xfrm flipH="1">
            <a:off x="2286000" y="4191000"/>
            <a:ext cx="990600" cy="0"/>
          </a:xfrm>
          <a:prstGeom prst="line">
            <a:avLst/>
          </a:prstGeom>
          <a:noFill/>
          <a:ln w="9525" cap="flat" cmpd="sng" algn="ctr">
            <a:solidFill>
              <a:sysClr val="windowText" lastClr="000000">
                <a:alpha val="96000"/>
              </a:sysClr>
            </a:solidFill>
            <a:prstDash val="solid"/>
          </a:ln>
          <a:effectLst/>
        </p:spPr>
      </p:cxnSp>
      <p:cxnSp>
        <p:nvCxnSpPr>
          <p:cNvPr id="56" name="Straight Connector 55">
            <a:extLst>
              <a:ext uri="{FF2B5EF4-FFF2-40B4-BE49-F238E27FC236}">
                <a16:creationId xmlns:a16="http://schemas.microsoft.com/office/drawing/2014/main" id="{80FE2A30-9CEC-4D17-8721-E0A3284B30A3}"/>
              </a:ext>
            </a:extLst>
          </p:cNvPr>
          <p:cNvCxnSpPr/>
          <p:nvPr/>
        </p:nvCxnSpPr>
        <p:spPr>
          <a:xfrm flipH="1">
            <a:off x="3276600" y="3505200"/>
            <a:ext cx="1066800" cy="685800"/>
          </a:xfrm>
          <a:prstGeom prst="line">
            <a:avLst/>
          </a:prstGeom>
          <a:noFill/>
          <a:ln w="9525" cap="flat" cmpd="sng" algn="ctr">
            <a:solidFill>
              <a:sysClr val="windowText" lastClr="000000">
                <a:alpha val="96000"/>
              </a:sysClr>
            </a:solidFill>
            <a:prstDash val="solid"/>
          </a:ln>
          <a:effectLst/>
        </p:spPr>
      </p:cxnSp>
      <p:cxnSp>
        <p:nvCxnSpPr>
          <p:cNvPr id="57" name="Straight Connector 56">
            <a:extLst>
              <a:ext uri="{FF2B5EF4-FFF2-40B4-BE49-F238E27FC236}">
                <a16:creationId xmlns:a16="http://schemas.microsoft.com/office/drawing/2014/main" id="{DD20FD89-840C-4083-80A5-8395448F3AE1}"/>
              </a:ext>
            </a:extLst>
          </p:cNvPr>
          <p:cNvCxnSpPr/>
          <p:nvPr/>
        </p:nvCxnSpPr>
        <p:spPr>
          <a:xfrm>
            <a:off x="3276600" y="4191000"/>
            <a:ext cx="1066800" cy="838200"/>
          </a:xfrm>
          <a:prstGeom prst="line">
            <a:avLst/>
          </a:prstGeom>
          <a:noFill/>
          <a:ln w="9525" cap="flat" cmpd="sng" algn="ctr">
            <a:solidFill>
              <a:sysClr val="windowText" lastClr="000000">
                <a:alpha val="96000"/>
              </a:sysClr>
            </a:solidFill>
            <a:prstDash val="solid"/>
          </a:ln>
          <a:effectLst/>
        </p:spPr>
      </p:cxnSp>
      <p:sp>
        <p:nvSpPr>
          <p:cNvPr id="58" name="Flowchart: Connector 57">
            <a:extLst>
              <a:ext uri="{FF2B5EF4-FFF2-40B4-BE49-F238E27FC236}">
                <a16:creationId xmlns:a16="http://schemas.microsoft.com/office/drawing/2014/main" id="{5B0BE8BB-7113-4046-A24A-DF1B8986623B}"/>
              </a:ext>
            </a:extLst>
          </p:cNvPr>
          <p:cNvSpPr/>
          <p:nvPr/>
        </p:nvSpPr>
        <p:spPr>
          <a:xfrm>
            <a:off x="1219200" y="3429000"/>
            <a:ext cx="152400" cy="152400"/>
          </a:xfrm>
          <a:prstGeom prst="flowChartConnector">
            <a:avLst/>
          </a:prstGeom>
          <a:solidFill>
            <a:sysClr val="windowText" lastClr="000000"/>
          </a:solidFill>
          <a:ln w="25400" cap="flat" cmpd="sng" algn="ctr">
            <a:solidFill>
              <a:srgbClr val="4F81BD">
                <a:shade val="5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9" name="Flowchart: Connector 58">
            <a:extLst>
              <a:ext uri="{FF2B5EF4-FFF2-40B4-BE49-F238E27FC236}">
                <a16:creationId xmlns:a16="http://schemas.microsoft.com/office/drawing/2014/main" id="{0EDDC819-0A2F-4E95-9F3F-EED038CFDAD0}"/>
              </a:ext>
            </a:extLst>
          </p:cNvPr>
          <p:cNvSpPr/>
          <p:nvPr/>
        </p:nvSpPr>
        <p:spPr>
          <a:xfrm>
            <a:off x="1219200" y="4876800"/>
            <a:ext cx="152400" cy="152400"/>
          </a:xfrm>
          <a:prstGeom prst="flowChartConnector">
            <a:avLst/>
          </a:prstGeom>
          <a:solidFill>
            <a:sysClr val="windowText" lastClr="000000"/>
          </a:solidFill>
          <a:ln w="25400" cap="flat" cmpd="sng" algn="ctr">
            <a:solidFill>
              <a:srgbClr val="4F81BD">
                <a:shade val="5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60" name="Flowchart: Connector 59">
            <a:extLst>
              <a:ext uri="{FF2B5EF4-FFF2-40B4-BE49-F238E27FC236}">
                <a16:creationId xmlns:a16="http://schemas.microsoft.com/office/drawing/2014/main" id="{02FEEC7C-1749-4510-8A97-7E5AC81BD82E}"/>
              </a:ext>
            </a:extLst>
          </p:cNvPr>
          <p:cNvSpPr/>
          <p:nvPr/>
        </p:nvSpPr>
        <p:spPr>
          <a:xfrm>
            <a:off x="2133600" y="4114800"/>
            <a:ext cx="152400" cy="152400"/>
          </a:xfrm>
          <a:prstGeom prst="flowChartConnector">
            <a:avLst/>
          </a:prstGeom>
          <a:solidFill>
            <a:sysClr val="windowText" lastClr="000000"/>
          </a:solidFill>
          <a:ln w="25400" cap="flat" cmpd="sng" algn="ctr">
            <a:solidFill>
              <a:srgbClr val="4F81BD">
                <a:shade val="5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61" name="Flowchart: Connector 60">
            <a:extLst>
              <a:ext uri="{FF2B5EF4-FFF2-40B4-BE49-F238E27FC236}">
                <a16:creationId xmlns:a16="http://schemas.microsoft.com/office/drawing/2014/main" id="{0714D430-E578-4715-8A95-9542603DFC13}"/>
              </a:ext>
            </a:extLst>
          </p:cNvPr>
          <p:cNvSpPr/>
          <p:nvPr/>
        </p:nvSpPr>
        <p:spPr>
          <a:xfrm>
            <a:off x="4267200" y="3429000"/>
            <a:ext cx="152400" cy="152400"/>
          </a:xfrm>
          <a:prstGeom prst="flowChartConnector">
            <a:avLst/>
          </a:prstGeom>
          <a:solidFill>
            <a:sysClr val="windowText" lastClr="000000"/>
          </a:solidFill>
          <a:ln w="25400" cap="flat" cmpd="sng" algn="ctr">
            <a:solidFill>
              <a:srgbClr val="4F81BD">
                <a:shade val="5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62" name="Flowchart: Connector 61">
            <a:extLst>
              <a:ext uri="{FF2B5EF4-FFF2-40B4-BE49-F238E27FC236}">
                <a16:creationId xmlns:a16="http://schemas.microsoft.com/office/drawing/2014/main" id="{C0CC5A4E-7925-4709-9FBC-182B6474DF57}"/>
              </a:ext>
            </a:extLst>
          </p:cNvPr>
          <p:cNvSpPr/>
          <p:nvPr/>
        </p:nvSpPr>
        <p:spPr>
          <a:xfrm>
            <a:off x="4267200" y="4953000"/>
            <a:ext cx="152400" cy="152400"/>
          </a:xfrm>
          <a:prstGeom prst="flowChartConnector">
            <a:avLst/>
          </a:prstGeom>
          <a:solidFill>
            <a:sysClr val="windowText" lastClr="000000"/>
          </a:solidFill>
          <a:ln w="25400" cap="flat" cmpd="sng" algn="ctr">
            <a:solidFill>
              <a:srgbClr val="4F81BD">
                <a:shade val="5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63" name="Flowchart: Connector 62">
            <a:extLst>
              <a:ext uri="{FF2B5EF4-FFF2-40B4-BE49-F238E27FC236}">
                <a16:creationId xmlns:a16="http://schemas.microsoft.com/office/drawing/2014/main" id="{F6020299-3BB1-48F7-98A5-8E9CEF980FD5}"/>
              </a:ext>
            </a:extLst>
          </p:cNvPr>
          <p:cNvSpPr/>
          <p:nvPr/>
        </p:nvSpPr>
        <p:spPr>
          <a:xfrm>
            <a:off x="3200400" y="4114800"/>
            <a:ext cx="152400" cy="152400"/>
          </a:xfrm>
          <a:prstGeom prst="flowChartConnector">
            <a:avLst/>
          </a:prstGeom>
          <a:solidFill>
            <a:sysClr val="windowText" lastClr="000000"/>
          </a:solidFill>
          <a:ln w="25400" cap="flat" cmpd="sng" algn="ctr">
            <a:solidFill>
              <a:srgbClr val="4F81BD">
                <a:shade val="5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64" name="TextBox 18">
            <a:extLst>
              <a:ext uri="{FF2B5EF4-FFF2-40B4-BE49-F238E27FC236}">
                <a16:creationId xmlns:a16="http://schemas.microsoft.com/office/drawing/2014/main" id="{3CF25FE0-80DA-4B69-B6E1-846C203CF857}"/>
              </a:ext>
            </a:extLst>
          </p:cNvPr>
          <p:cNvSpPr txBox="1">
            <a:spLocks noChangeArrowheads="1"/>
          </p:cNvSpPr>
          <p:nvPr/>
        </p:nvSpPr>
        <p:spPr bwMode="auto">
          <a:xfrm>
            <a:off x="644525" y="5638800"/>
            <a:ext cx="7594600" cy="400050"/>
          </a:xfrm>
          <a:prstGeom prst="rect">
            <a:avLst/>
          </a:prstGeom>
          <a:noFill/>
          <a:ln w="9525">
            <a:noFill/>
            <a:miter lim="800000"/>
            <a:headEnd/>
            <a:tailEnd/>
          </a:ln>
        </p:spPr>
        <p:txBody>
          <a:bodyPr wrap="none">
            <a:spAutoFit/>
          </a:bodyPr>
          <a:lstStyle/>
          <a:p>
            <a:pPr fontAlgn="base">
              <a:spcBef>
                <a:spcPct val="0"/>
              </a:spcBef>
              <a:spcAft>
                <a:spcPct val="0"/>
              </a:spcAft>
            </a:pPr>
            <a:r>
              <a:rPr lang="en-US" sz="2000" b="1" u="sng" dirty="0">
                <a:solidFill>
                  <a:srgbClr val="FF0000"/>
                </a:solidFill>
                <a:latin typeface="Arial" pitchFamily="34" charset="0"/>
                <a:cs typeface="Arial" pitchFamily="34" charset="0"/>
              </a:rPr>
              <a:t>Question</a:t>
            </a:r>
            <a:r>
              <a:rPr lang="en-US" sz="2000" dirty="0">
                <a:solidFill>
                  <a:srgbClr val="FF0000"/>
                </a:solidFill>
                <a:latin typeface="Arial" pitchFamily="34" charset="0"/>
                <a:cs typeface="Arial" pitchFamily="34" charset="0"/>
              </a:rPr>
              <a:t>: Does the above graph have Hamilton Circuit? Explain.</a:t>
            </a:r>
          </a:p>
        </p:txBody>
      </p:sp>
    </p:spTree>
    <p:extLst>
      <p:ext uri="{BB962C8B-B14F-4D97-AF65-F5344CB8AC3E}">
        <p14:creationId xmlns:p14="http://schemas.microsoft.com/office/powerpoint/2010/main" val="28598565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1"/>
            <a:ext cx="7162586" cy="698627"/>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fr-FR" sz="2800" b="1" dirty="0">
                <a:solidFill>
                  <a:schemeClr val="tx1"/>
                </a:solidFill>
              </a:rPr>
              <a:t>Euler vs. Hamilton </a:t>
            </a:r>
            <a:r>
              <a:rPr lang="fr-FR" sz="2800" b="1" dirty="0" err="1">
                <a:solidFill>
                  <a:schemeClr val="tx1"/>
                </a:solidFill>
              </a:rPr>
              <a:t>Paths</a:t>
            </a:r>
            <a:r>
              <a:rPr lang="fr-FR" sz="2800" b="1" dirty="0">
                <a:solidFill>
                  <a:schemeClr val="tx1"/>
                </a:solidFill>
              </a:rPr>
              <a:t>  &amp; Circuits</a:t>
            </a:r>
            <a:endParaRPr lang="en-US" sz="2800" b="1" dirty="0">
              <a:solidFill>
                <a:schemeClr val="tx1"/>
              </a:solidFill>
            </a:endParaRPr>
          </a:p>
        </p:txBody>
      </p:sp>
      <p:sp>
        <p:nvSpPr>
          <p:cNvPr id="50" name="Slide Number Placeholder 3">
            <a:extLst>
              <a:ext uri="{FF2B5EF4-FFF2-40B4-BE49-F238E27FC236}">
                <a16:creationId xmlns:a16="http://schemas.microsoft.com/office/drawing/2014/main" id="{110742D3-36EC-45AE-8B9C-E5E5A7721F23}"/>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algn="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ACC317B0-948B-421C-82FD-F997D3AA0F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9" name="Content Placeholder 2">
            <a:extLst>
              <a:ext uri="{FF2B5EF4-FFF2-40B4-BE49-F238E27FC236}">
                <a16:creationId xmlns:a16="http://schemas.microsoft.com/office/drawing/2014/main" id="{3DDFDA88-8B4D-441B-BA8F-4CB89F33F80C}"/>
              </a:ext>
            </a:extLst>
          </p:cNvPr>
          <p:cNvSpPr txBox="1">
            <a:spLocks/>
          </p:cNvSpPr>
          <p:nvPr/>
        </p:nvSpPr>
        <p:spPr>
          <a:xfrm>
            <a:off x="457200" y="1600200"/>
            <a:ext cx="8229600" cy="4525963"/>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274320" indent="-274320">
              <a:spcBef>
                <a:spcPts val="600"/>
              </a:spcBef>
              <a:buClrTx/>
              <a:buFont typeface="Arial" pitchFamily="34" charset="0"/>
              <a:buChar char="•"/>
              <a:defRPr/>
            </a:pPr>
            <a:r>
              <a:rPr lang="en-US" dirty="0"/>
              <a:t>On the surface, there is a one-word difference between </a:t>
            </a:r>
            <a:r>
              <a:rPr lang="en-US" b="1" dirty="0">
                <a:solidFill>
                  <a:srgbClr val="FF0000"/>
                </a:solidFill>
              </a:rPr>
              <a:t>Euler paths/circuits</a:t>
            </a:r>
            <a:r>
              <a:rPr lang="en-US" b="1" dirty="0">
                <a:solidFill>
                  <a:srgbClr val="FF0000"/>
                </a:solidFill>
                <a:latin typeface="Helvetica" pitchFamily="1" charset="0"/>
              </a:rPr>
              <a:t> </a:t>
            </a:r>
            <a:r>
              <a:rPr lang="en-US" dirty="0"/>
              <a:t>and </a:t>
            </a:r>
            <a:r>
              <a:rPr lang="en-US" b="1" dirty="0">
                <a:solidFill>
                  <a:srgbClr val="0000FF"/>
                </a:solidFill>
              </a:rPr>
              <a:t>Hamilton</a:t>
            </a:r>
            <a:r>
              <a:rPr lang="en-US" dirty="0"/>
              <a:t> </a:t>
            </a:r>
            <a:r>
              <a:rPr lang="en-US" b="1" dirty="0">
                <a:solidFill>
                  <a:srgbClr val="0000FF"/>
                </a:solidFill>
              </a:rPr>
              <a:t>paths/circuits</a:t>
            </a:r>
            <a:r>
              <a:rPr lang="en-US" dirty="0"/>
              <a:t>: The former covers </a:t>
            </a:r>
            <a:r>
              <a:rPr lang="en-US" b="1" i="1" dirty="0">
                <a:solidFill>
                  <a:srgbClr val="FF0000"/>
                </a:solidFill>
              </a:rPr>
              <a:t>all edges</a:t>
            </a:r>
            <a:r>
              <a:rPr lang="en-US" dirty="0"/>
              <a:t>; the latter covers </a:t>
            </a:r>
            <a:r>
              <a:rPr lang="en-US" b="1" i="1" dirty="0">
                <a:solidFill>
                  <a:srgbClr val="0000FF"/>
                </a:solidFill>
              </a:rPr>
              <a:t>all vertices</a:t>
            </a:r>
            <a:r>
              <a:rPr lang="en-US" dirty="0"/>
              <a:t>.</a:t>
            </a:r>
          </a:p>
          <a:p>
            <a:pPr marL="274320" indent="-274320">
              <a:spcBef>
                <a:spcPts val="600"/>
              </a:spcBef>
              <a:buClrTx/>
              <a:buFont typeface="Arial" pitchFamily="34" charset="0"/>
              <a:buChar char="•"/>
              <a:defRPr/>
            </a:pPr>
            <a:endParaRPr lang="en-US" dirty="0"/>
          </a:p>
          <a:p>
            <a:pPr marL="274320" indent="-274320">
              <a:spcBef>
                <a:spcPts val="600"/>
              </a:spcBef>
              <a:buClrTx/>
              <a:buFont typeface="Arial" pitchFamily="34" charset="0"/>
              <a:buChar char="•"/>
              <a:defRPr/>
            </a:pPr>
            <a:r>
              <a:rPr lang="en-US" b="1" dirty="0">
                <a:solidFill>
                  <a:srgbClr val="0000FF"/>
                </a:solidFill>
              </a:rPr>
              <a:t>Euler</a:t>
            </a:r>
            <a:r>
              <a:rPr lang="en-US" dirty="0"/>
              <a:t> path/circuit  == &gt;  main concern </a:t>
            </a:r>
            <a:r>
              <a:rPr lang="en-US" b="1" dirty="0">
                <a:solidFill>
                  <a:srgbClr val="0000FF"/>
                </a:solidFill>
              </a:rPr>
              <a:t>Edge</a:t>
            </a:r>
          </a:p>
          <a:p>
            <a:pPr marL="734695" lvl="1" indent="-274320">
              <a:buClrTx/>
              <a:buFont typeface="Arial" pitchFamily="34" charset="0"/>
              <a:buChar char="•"/>
              <a:defRPr/>
            </a:pPr>
            <a:r>
              <a:rPr lang="en-US" dirty="0">
                <a:solidFill>
                  <a:srgbClr val="0000FF"/>
                </a:solidFill>
              </a:rPr>
              <a:t>ALL the EDGES must be visited exactly ONCE</a:t>
            </a:r>
          </a:p>
          <a:p>
            <a:pPr marL="734695" lvl="1" indent="-274320">
              <a:buClrTx/>
              <a:buNone/>
              <a:defRPr/>
            </a:pPr>
            <a:endParaRPr lang="en-US" b="1" dirty="0">
              <a:solidFill>
                <a:srgbClr val="0000FF"/>
              </a:solidFill>
            </a:endParaRPr>
          </a:p>
          <a:p>
            <a:pPr marL="274320" indent="-274320">
              <a:spcBef>
                <a:spcPts val="600"/>
              </a:spcBef>
              <a:buClrTx/>
              <a:buFont typeface="Arial" pitchFamily="34" charset="0"/>
              <a:buChar char="•"/>
              <a:defRPr/>
            </a:pPr>
            <a:r>
              <a:rPr lang="en-US" b="1" dirty="0">
                <a:solidFill>
                  <a:srgbClr val="FF0000"/>
                </a:solidFill>
              </a:rPr>
              <a:t>Hamilton</a:t>
            </a:r>
            <a:r>
              <a:rPr lang="en-US" dirty="0"/>
              <a:t> path/circuit  </a:t>
            </a:r>
            <a:r>
              <a:rPr lang="en-US" dirty="0">
                <a:sym typeface="Wingdings" pitchFamily="2" charset="2"/>
              </a:rPr>
              <a:t>==&gt; main concern </a:t>
            </a:r>
            <a:r>
              <a:rPr lang="en-US" b="1" dirty="0">
                <a:solidFill>
                  <a:srgbClr val="FF0000"/>
                </a:solidFill>
                <a:sym typeface="Wingdings" pitchFamily="2" charset="2"/>
              </a:rPr>
              <a:t>Vertex</a:t>
            </a:r>
          </a:p>
          <a:p>
            <a:pPr marL="734695" lvl="1" indent="-274320">
              <a:buClrTx/>
              <a:buFont typeface="Arial" pitchFamily="34" charset="0"/>
              <a:buChar char="•"/>
              <a:defRPr/>
            </a:pPr>
            <a:r>
              <a:rPr lang="en-US" dirty="0">
                <a:solidFill>
                  <a:srgbClr val="FF0000"/>
                </a:solidFill>
                <a:sym typeface="Wingdings" pitchFamily="2" charset="2"/>
              </a:rPr>
              <a:t>ALL the VERTICES must be visited exactly ONCE</a:t>
            </a:r>
            <a:endParaRPr lang="en-US" dirty="0">
              <a:solidFill>
                <a:srgbClr val="FF0000"/>
              </a:solidFill>
            </a:endParaRPr>
          </a:p>
          <a:p>
            <a:pPr>
              <a:buFont typeface="Arial" pitchFamily="34" charset="0"/>
              <a:buNone/>
              <a:defRPr/>
            </a:pPr>
            <a:endParaRPr lang="en-US" dirty="0"/>
          </a:p>
        </p:txBody>
      </p:sp>
    </p:spTree>
    <p:extLst>
      <p:ext uri="{BB962C8B-B14F-4D97-AF65-F5344CB8AC3E}">
        <p14:creationId xmlns:p14="http://schemas.microsoft.com/office/powerpoint/2010/main" val="22335108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1"/>
            <a:ext cx="7162586" cy="698627"/>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fr-FR" sz="2800" b="1" dirty="0">
                <a:solidFill>
                  <a:schemeClr val="tx1"/>
                </a:solidFill>
              </a:rPr>
              <a:t>Euler vs. Hamilton </a:t>
            </a:r>
            <a:r>
              <a:rPr lang="fr-FR" sz="2800" b="1" dirty="0" err="1">
                <a:solidFill>
                  <a:schemeClr val="tx1"/>
                </a:solidFill>
              </a:rPr>
              <a:t>Paths</a:t>
            </a:r>
            <a:r>
              <a:rPr lang="fr-FR" sz="2800" b="1" dirty="0">
                <a:solidFill>
                  <a:schemeClr val="tx1"/>
                </a:solidFill>
              </a:rPr>
              <a:t> &amp; Circuits</a:t>
            </a:r>
            <a:endParaRPr lang="en-US" sz="2800" b="1" dirty="0">
              <a:solidFill>
                <a:schemeClr val="tx1"/>
              </a:solidFill>
            </a:endParaRPr>
          </a:p>
        </p:txBody>
      </p:sp>
      <p:sp>
        <p:nvSpPr>
          <p:cNvPr id="50" name="Slide Number Placeholder 3">
            <a:extLst>
              <a:ext uri="{FF2B5EF4-FFF2-40B4-BE49-F238E27FC236}">
                <a16:creationId xmlns:a16="http://schemas.microsoft.com/office/drawing/2014/main" id="{110742D3-36EC-45AE-8B9C-E5E5A7721F23}"/>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algn="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ACC317B0-948B-421C-82FD-F997D3AA0F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Content Placeholder 2">
            <a:extLst>
              <a:ext uri="{FF2B5EF4-FFF2-40B4-BE49-F238E27FC236}">
                <a16:creationId xmlns:a16="http://schemas.microsoft.com/office/drawing/2014/main" id="{6C2D6969-DC99-445D-81AF-4A94BEA61772}"/>
              </a:ext>
            </a:extLst>
          </p:cNvPr>
          <p:cNvSpPr txBox="1">
            <a:spLocks/>
          </p:cNvSpPr>
          <p:nvPr/>
        </p:nvSpPr>
        <p:spPr bwMode="auto">
          <a:xfrm>
            <a:off x="304800" y="1524000"/>
            <a:ext cx="8534400" cy="4602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kumimoji="0" lang="en-US" sz="2400" b="1" i="0" u="sng" strike="noStrike" kern="1200" cap="none" spc="0" normalizeH="0" baseline="0" noProof="0" dirty="0">
                <a:ln>
                  <a:noFill/>
                </a:ln>
                <a:solidFill>
                  <a:srgbClr val="FF0000"/>
                </a:solidFill>
                <a:effectLst/>
                <a:uLnTx/>
                <a:uFillTx/>
                <a:latin typeface="Calibri"/>
                <a:ea typeface="+mn-ea"/>
                <a:cs typeface="+mn-cs"/>
              </a:rPr>
              <a:t>Note:</a:t>
            </a:r>
            <a:r>
              <a:rPr kumimoji="0" lang="en-US" sz="2400" b="0" i="0" u="none" strike="noStrike" kern="1200" cap="none" spc="0" normalizeH="0" baseline="0" noProof="0" dirty="0">
                <a:ln>
                  <a:noFill/>
                </a:ln>
                <a:solidFill>
                  <a:srgbClr val="FF0000"/>
                </a:solidFill>
                <a:effectLst/>
                <a:uLnTx/>
                <a:uFillTx/>
                <a:latin typeface="Calibri"/>
                <a:ea typeface="+mn-ea"/>
                <a:cs typeface="+mn-cs"/>
              </a:rPr>
              <a:t> </a:t>
            </a:r>
            <a:r>
              <a:rPr kumimoji="0" lang="en-US" sz="2400" b="1" i="0" u="none" strike="noStrike" kern="1200" cap="none" spc="0" normalizeH="0" baseline="0" noProof="0" dirty="0">
                <a:ln>
                  <a:noFill/>
                </a:ln>
                <a:solidFill>
                  <a:srgbClr val="FF0000"/>
                </a:solidFill>
                <a:effectLst/>
                <a:highlight>
                  <a:srgbClr val="00FFFF"/>
                </a:highlight>
                <a:uLnTx/>
                <a:uFillTx/>
                <a:latin typeface="Calibri"/>
                <a:ea typeface="+mn-ea"/>
                <a:cs typeface="+mn-cs"/>
              </a:rPr>
              <a:t>I</a:t>
            </a:r>
            <a:r>
              <a:rPr kumimoji="0" lang="en-US" sz="2400" b="1" i="1" u="none" strike="noStrike" kern="1200" cap="none" spc="0" normalizeH="0" baseline="0" noProof="0" dirty="0">
                <a:ln>
                  <a:noFill/>
                </a:ln>
                <a:solidFill>
                  <a:srgbClr val="FF0000"/>
                </a:solidFill>
                <a:effectLst/>
                <a:highlight>
                  <a:srgbClr val="00FFFF"/>
                </a:highlight>
                <a:uLnTx/>
                <a:uFillTx/>
                <a:latin typeface="Calibri"/>
                <a:ea typeface="+mn-ea"/>
                <a:cs typeface="+mn-cs"/>
              </a:rPr>
              <a:t>f a graph has a Hamilton circuit, then it automatically has a Hamilton path</a:t>
            </a:r>
            <a:r>
              <a:rPr kumimoji="0" lang="en-US" sz="2400" b="0" i="0" u="none" strike="noStrike" kern="1200" cap="none" spc="0" normalizeH="0" baseline="0" noProof="0" dirty="0">
                <a:ln>
                  <a:noFill/>
                </a:ln>
                <a:solidFill>
                  <a:srgbClr val="FF0000"/>
                </a:solidFill>
                <a:effectLst/>
                <a:uLnTx/>
                <a:uFillTx/>
                <a:latin typeface="Calibri"/>
                <a:ea typeface="+mn-ea"/>
                <a:cs typeface="+mn-cs"/>
              </a:rPr>
              <a:t>–the Hamilton circuit can</a:t>
            </a:r>
            <a:r>
              <a:rPr kumimoji="0" lang="en-US" sz="2400" b="0" i="0" u="none" strike="noStrike" kern="1200" cap="none" spc="0" normalizeH="0" baseline="0" noProof="0" dirty="0">
                <a:ln>
                  <a:noFill/>
                </a:ln>
                <a:solidFill>
                  <a:srgbClr val="FF0000"/>
                </a:solidFill>
                <a:effectLst/>
                <a:uLnTx/>
                <a:uFillTx/>
                <a:latin typeface="Helvetica"/>
                <a:ea typeface="+mn-ea"/>
                <a:cs typeface="+mn-cs"/>
              </a:rPr>
              <a:t> </a:t>
            </a:r>
            <a:r>
              <a:rPr kumimoji="0" lang="en-US" sz="2400" b="0" i="0" u="none" strike="noStrike" kern="1200" cap="none" spc="0" normalizeH="0" baseline="0" noProof="0" dirty="0">
                <a:ln>
                  <a:noFill/>
                </a:ln>
                <a:solidFill>
                  <a:srgbClr val="FF0000"/>
                </a:solidFill>
                <a:effectLst/>
                <a:uLnTx/>
                <a:uFillTx/>
                <a:latin typeface="Calibri"/>
                <a:ea typeface="+mn-ea"/>
                <a:cs typeface="+mn-cs"/>
              </a:rPr>
              <a:t>always be truncated into a Hamilton path by dropping the last vertex of the</a:t>
            </a:r>
            <a:r>
              <a:rPr kumimoji="0" lang="en-US" sz="2400" b="0" i="0" u="none" strike="noStrike" kern="1200" cap="none" spc="0" normalizeH="0" baseline="0" noProof="0" dirty="0">
                <a:ln>
                  <a:noFill/>
                </a:ln>
                <a:solidFill>
                  <a:srgbClr val="FF0000"/>
                </a:solidFill>
                <a:effectLst/>
                <a:uLnTx/>
                <a:uFillTx/>
                <a:latin typeface="Helvetica"/>
                <a:ea typeface="+mn-ea"/>
                <a:cs typeface="+mn-cs"/>
              </a:rPr>
              <a:t> </a:t>
            </a:r>
            <a:r>
              <a:rPr kumimoji="0" lang="en-US" sz="2400" b="0" i="0" u="none" strike="noStrike" kern="1200" cap="none" spc="0" normalizeH="0" baseline="0" noProof="0" dirty="0">
                <a:ln>
                  <a:noFill/>
                </a:ln>
                <a:solidFill>
                  <a:srgbClr val="FF0000"/>
                </a:solidFill>
                <a:effectLst/>
                <a:uLnTx/>
                <a:uFillTx/>
                <a:latin typeface="Calibri"/>
                <a:ea typeface="+mn-ea"/>
                <a:cs typeface="+mn-cs"/>
              </a:rPr>
              <a:t>circuit. (For example, the Hamilton circuit </a:t>
            </a:r>
            <a:r>
              <a:rPr kumimoji="0" lang="en-US" sz="2400" b="0" i="1" u="none" strike="noStrike" kern="1200" cap="none" spc="0" normalizeH="0" baseline="0" noProof="0" dirty="0">
                <a:ln>
                  <a:noFill/>
                </a:ln>
                <a:solidFill>
                  <a:srgbClr val="FF0000"/>
                </a:solidFill>
                <a:effectLst/>
                <a:uLnTx/>
                <a:uFillTx/>
                <a:latin typeface="Calibri"/>
                <a:ea typeface="+mn-ea"/>
                <a:cs typeface="+mn-cs"/>
              </a:rPr>
              <a:t>A</a:t>
            </a:r>
            <a:r>
              <a:rPr kumimoji="0" lang="en-US" sz="2400" b="0" i="0" u="none" strike="noStrike" kern="1200" cap="none" spc="0" normalizeH="0" baseline="0" noProof="0" dirty="0">
                <a:ln>
                  <a:noFill/>
                </a:ln>
                <a:solidFill>
                  <a:srgbClr val="FF0000"/>
                </a:solidFill>
                <a:effectLst/>
                <a:uLnTx/>
                <a:uFillTx/>
                <a:latin typeface="Calibri"/>
                <a:ea typeface="+mn-ea"/>
                <a:cs typeface="+mn-cs"/>
              </a:rPr>
              <a:t>, </a:t>
            </a:r>
            <a:r>
              <a:rPr kumimoji="0" lang="en-US" sz="2400" b="0" i="1" u="none" strike="noStrike" kern="1200" cap="none" spc="0" normalizeH="0" baseline="0" noProof="0" dirty="0">
                <a:ln>
                  <a:noFill/>
                </a:ln>
                <a:solidFill>
                  <a:srgbClr val="FF0000"/>
                </a:solidFill>
                <a:effectLst/>
                <a:uLnTx/>
                <a:uFillTx/>
                <a:latin typeface="Calibri"/>
                <a:ea typeface="+mn-ea"/>
                <a:cs typeface="+mn-cs"/>
              </a:rPr>
              <a:t>F</a:t>
            </a:r>
            <a:r>
              <a:rPr kumimoji="0" lang="en-US" sz="2400" b="0" i="0" u="none" strike="noStrike" kern="1200" cap="none" spc="0" normalizeH="0" baseline="0" noProof="0" dirty="0">
                <a:ln>
                  <a:noFill/>
                </a:ln>
                <a:solidFill>
                  <a:srgbClr val="FF0000"/>
                </a:solidFill>
                <a:effectLst/>
                <a:uLnTx/>
                <a:uFillTx/>
                <a:latin typeface="Calibri"/>
                <a:ea typeface="+mn-ea"/>
                <a:cs typeface="+mn-cs"/>
              </a:rPr>
              <a:t>, </a:t>
            </a:r>
            <a:r>
              <a:rPr kumimoji="0" lang="en-US" sz="2400" b="0" i="1" u="none" strike="noStrike" kern="1200" cap="none" spc="0" normalizeH="0" baseline="0" noProof="0" dirty="0">
                <a:ln>
                  <a:noFill/>
                </a:ln>
                <a:solidFill>
                  <a:srgbClr val="FF0000"/>
                </a:solidFill>
                <a:effectLst/>
                <a:uLnTx/>
                <a:uFillTx/>
                <a:latin typeface="Calibri"/>
                <a:ea typeface="+mn-ea"/>
                <a:cs typeface="+mn-cs"/>
              </a:rPr>
              <a:t>B</a:t>
            </a:r>
            <a:r>
              <a:rPr kumimoji="0" lang="en-US" sz="2400" b="0" i="0" u="none" strike="noStrike" kern="1200" cap="none" spc="0" normalizeH="0" baseline="0" noProof="0" dirty="0">
                <a:ln>
                  <a:noFill/>
                </a:ln>
                <a:solidFill>
                  <a:srgbClr val="FF0000"/>
                </a:solidFill>
                <a:effectLst/>
                <a:uLnTx/>
                <a:uFillTx/>
                <a:latin typeface="Calibri"/>
                <a:ea typeface="+mn-ea"/>
                <a:cs typeface="+mn-cs"/>
              </a:rPr>
              <a:t>, </a:t>
            </a:r>
            <a:r>
              <a:rPr kumimoji="0" lang="en-US" sz="2400" b="0" i="1" u="none" strike="noStrike" kern="1200" cap="none" spc="0" normalizeH="0" baseline="0" noProof="0" dirty="0">
                <a:ln>
                  <a:noFill/>
                </a:ln>
                <a:solidFill>
                  <a:srgbClr val="FF0000"/>
                </a:solidFill>
                <a:effectLst/>
                <a:uLnTx/>
                <a:uFillTx/>
                <a:latin typeface="Calibri"/>
                <a:ea typeface="+mn-ea"/>
                <a:cs typeface="+mn-cs"/>
              </a:rPr>
              <a:t>C</a:t>
            </a:r>
            <a:r>
              <a:rPr kumimoji="0" lang="en-US" sz="2400" b="0" i="0" u="none" strike="noStrike" kern="1200" cap="none" spc="0" normalizeH="0" baseline="0" noProof="0" dirty="0">
                <a:ln>
                  <a:noFill/>
                </a:ln>
                <a:solidFill>
                  <a:srgbClr val="FF0000"/>
                </a:solidFill>
                <a:effectLst/>
                <a:uLnTx/>
                <a:uFillTx/>
                <a:latin typeface="Calibri"/>
                <a:ea typeface="+mn-ea"/>
                <a:cs typeface="+mn-cs"/>
              </a:rPr>
              <a:t>, </a:t>
            </a:r>
            <a:r>
              <a:rPr kumimoji="0" lang="en-US" sz="2400" b="0" i="1" u="none" strike="noStrike" kern="1200" cap="none" spc="0" normalizeH="0" baseline="0" noProof="0" dirty="0">
                <a:ln>
                  <a:noFill/>
                </a:ln>
                <a:solidFill>
                  <a:srgbClr val="FF0000"/>
                </a:solidFill>
                <a:effectLst/>
                <a:uLnTx/>
                <a:uFillTx/>
                <a:latin typeface="Calibri"/>
                <a:ea typeface="+mn-ea"/>
                <a:cs typeface="+mn-cs"/>
              </a:rPr>
              <a:t>G</a:t>
            </a:r>
            <a:r>
              <a:rPr kumimoji="0" lang="en-US" sz="2400" b="0" i="0" u="none" strike="noStrike" kern="1200" cap="none" spc="0" normalizeH="0" baseline="0" noProof="0" dirty="0">
                <a:ln>
                  <a:noFill/>
                </a:ln>
                <a:solidFill>
                  <a:srgbClr val="FF0000"/>
                </a:solidFill>
                <a:effectLst/>
                <a:uLnTx/>
                <a:uFillTx/>
                <a:latin typeface="Calibri"/>
                <a:ea typeface="+mn-ea"/>
                <a:cs typeface="+mn-cs"/>
              </a:rPr>
              <a:t>, </a:t>
            </a:r>
            <a:r>
              <a:rPr kumimoji="0" lang="en-US" sz="2400" b="0" i="1" u="none" strike="noStrike" kern="1200" cap="none" spc="0" normalizeH="0" baseline="0" noProof="0" dirty="0">
                <a:ln>
                  <a:noFill/>
                </a:ln>
                <a:solidFill>
                  <a:srgbClr val="FF0000"/>
                </a:solidFill>
                <a:effectLst/>
                <a:uLnTx/>
                <a:uFillTx/>
                <a:latin typeface="Calibri"/>
                <a:ea typeface="+mn-ea"/>
                <a:cs typeface="+mn-cs"/>
              </a:rPr>
              <a:t>D</a:t>
            </a:r>
            <a:r>
              <a:rPr kumimoji="0" lang="en-US" sz="2400" b="0" i="0" u="none" strike="noStrike" kern="1200" cap="none" spc="0" normalizeH="0" baseline="0" noProof="0" dirty="0">
                <a:ln>
                  <a:noFill/>
                </a:ln>
                <a:solidFill>
                  <a:srgbClr val="FF0000"/>
                </a:solidFill>
                <a:effectLst/>
                <a:uLnTx/>
                <a:uFillTx/>
                <a:latin typeface="Calibri"/>
                <a:ea typeface="+mn-ea"/>
                <a:cs typeface="+mn-cs"/>
              </a:rPr>
              <a:t>, </a:t>
            </a:r>
            <a:r>
              <a:rPr kumimoji="0" lang="en-US" sz="2400" b="0" i="1" u="none" strike="noStrike" kern="1200" cap="none" spc="0" normalizeH="0" baseline="0" noProof="0" dirty="0">
                <a:ln>
                  <a:noFill/>
                </a:ln>
                <a:solidFill>
                  <a:srgbClr val="FF0000"/>
                </a:solidFill>
                <a:effectLst/>
                <a:uLnTx/>
                <a:uFillTx/>
                <a:latin typeface="Calibri"/>
                <a:ea typeface="+mn-ea"/>
                <a:cs typeface="+mn-cs"/>
              </a:rPr>
              <a:t>E</a:t>
            </a:r>
            <a:r>
              <a:rPr kumimoji="0" lang="en-US" sz="2400" b="0" i="0" u="none" strike="noStrike" kern="1200" cap="none" spc="0" normalizeH="0" baseline="0" noProof="0" dirty="0">
                <a:ln>
                  <a:noFill/>
                </a:ln>
                <a:solidFill>
                  <a:srgbClr val="FF0000"/>
                </a:solidFill>
                <a:effectLst/>
                <a:uLnTx/>
                <a:uFillTx/>
                <a:latin typeface="Calibri"/>
                <a:ea typeface="+mn-ea"/>
                <a:cs typeface="+mn-cs"/>
              </a:rPr>
              <a:t>, </a:t>
            </a:r>
            <a:r>
              <a:rPr kumimoji="0" lang="en-US" sz="2400" b="0" i="1" u="none" strike="noStrike" kern="1200" cap="none" spc="0" normalizeH="0" baseline="0" noProof="0" dirty="0">
                <a:ln>
                  <a:noFill/>
                </a:ln>
                <a:solidFill>
                  <a:srgbClr val="FF0000"/>
                </a:solidFill>
                <a:effectLst/>
                <a:uLnTx/>
                <a:uFillTx/>
                <a:latin typeface="Calibri"/>
                <a:ea typeface="+mn-ea"/>
                <a:cs typeface="+mn-cs"/>
              </a:rPr>
              <a:t>A</a:t>
            </a:r>
            <a:r>
              <a:rPr kumimoji="0" lang="en-US" sz="2400" b="0" i="0" u="none" strike="noStrike" kern="1200" cap="none" spc="0" normalizeH="0" baseline="0" noProof="0" dirty="0">
                <a:ln>
                  <a:noFill/>
                </a:ln>
                <a:solidFill>
                  <a:srgbClr val="FF0000"/>
                </a:solidFill>
                <a:effectLst/>
                <a:uLnTx/>
                <a:uFillTx/>
                <a:latin typeface="Calibri"/>
                <a:ea typeface="+mn-ea"/>
                <a:cs typeface="+mn-cs"/>
              </a:rPr>
              <a:t> can be truncated into the Hamilton path </a:t>
            </a:r>
            <a:r>
              <a:rPr kumimoji="0" lang="en-US" sz="2400" b="0" i="1" u="none" strike="noStrike" kern="1200" cap="none" spc="0" normalizeH="0" baseline="0" noProof="0" dirty="0">
                <a:ln>
                  <a:noFill/>
                </a:ln>
                <a:solidFill>
                  <a:srgbClr val="FF0000"/>
                </a:solidFill>
                <a:effectLst/>
                <a:uLnTx/>
                <a:uFillTx/>
                <a:latin typeface="Calibri"/>
                <a:ea typeface="+mn-ea"/>
                <a:cs typeface="+mn-cs"/>
              </a:rPr>
              <a:t>A</a:t>
            </a:r>
            <a:r>
              <a:rPr kumimoji="0" lang="en-US" sz="2400" b="0" i="0" u="none" strike="noStrike" kern="1200" cap="none" spc="0" normalizeH="0" baseline="0" noProof="0" dirty="0">
                <a:ln>
                  <a:noFill/>
                </a:ln>
                <a:solidFill>
                  <a:srgbClr val="FF0000"/>
                </a:solidFill>
                <a:effectLst/>
                <a:uLnTx/>
                <a:uFillTx/>
                <a:latin typeface="Calibri"/>
                <a:ea typeface="+mn-ea"/>
                <a:cs typeface="+mn-cs"/>
              </a:rPr>
              <a:t>, </a:t>
            </a:r>
            <a:r>
              <a:rPr kumimoji="0" lang="en-US" sz="2400" b="0" i="1" u="none" strike="noStrike" kern="1200" cap="none" spc="0" normalizeH="0" baseline="0" noProof="0" dirty="0">
                <a:ln>
                  <a:noFill/>
                </a:ln>
                <a:solidFill>
                  <a:srgbClr val="FF0000"/>
                </a:solidFill>
                <a:effectLst/>
                <a:uLnTx/>
                <a:uFillTx/>
                <a:latin typeface="Calibri"/>
                <a:ea typeface="+mn-ea"/>
                <a:cs typeface="+mn-cs"/>
              </a:rPr>
              <a:t>F</a:t>
            </a:r>
            <a:r>
              <a:rPr kumimoji="0" lang="en-US" sz="2400" b="0" i="0" u="none" strike="noStrike" kern="1200" cap="none" spc="0" normalizeH="0" baseline="0" noProof="0" dirty="0">
                <a:ln>
                  <a:noFill/>
                </a:ln>
                <a:solidFill>
                  <a:srgbClr val="FF0000"/>
                </a:solidFill>
                <a:effectLst/>
                <a:uLnTx/>
                <a:uFillTx/>
                <a:latin typeface="Calibri"/>
                <a:ea typeface="+mn-ea"/>
                <a:cs typeface="+mn-cs"/>
              </a:rPr>
              <a:t>, </a:t>
            </a:r>
            <a:r>
              <a:rPr kumimoji="0" lang="en-US" sz="2400" b="0" i="1" u="none" strike="noStrike" kern="1200" cap="none" spc="0" normalizeH="0" baseline="0" noProof="0" dirty="0">
                <a:ln>
                  <a:noFill/>
                </a:ln>
                <a:solidFill>
                  <a:srgbClr val="FF0000"/>
                </a:solidFill>
                <a:effectLst/>
                <a:uLnTx/>
                <a:uFillTx/>
                <a:latin typeface="Calibri"/>
                <a:ea typeface="+mn-ea"/>
                <a:cs typeface="+mn-cs"/>
              </a:rPr>
              <a:t>B</a:t>
            </a:r>
            <a:r>
              <a:rPr kumimoji="0" lang="en-US" sz="2400" b="0" i="0" u="none" strike="noStrike" kern="1200" cap="none" spc="0" normalizeH="0" baseline="0" noProof="0" dirty="0">
                <a:ln>
                  <a:noFill/>
                </a:ln>
                <a:solidFill>
                  <a:srgbClr val="FF0000"/>
                </a:solidFill>
                <a:effectLst/>
                <a:uLnTx/>
                <a:uFillTx/>
                <a:latin typeface="Calibri"/>
                <a:ea typeface="+mn-ea"/>
                <a:cs typeface="+mn-cs"/>
              </a:rPr>
              <a:t>, </a:t>
            </a:r>
            <a:r>
              <a:rPr kumimoji="0" lang="en-US" sz="2400" b="0" i="1" u="none" strike="noStrike" kern="1200" cap="none" spc="0" normalizeH="0" baseline="0" noProof="0" dirty="0">
                <a:ln>
                  <a:noFill/>
                </a:ln>
                <a:solidFill>
                  <a:srgbClr val="FF0000"/>
                </a:solidFill>
                <a:effectLst/>
                <a:uLnTx/>
                <a:uFillTx/>
                <a:latin typeface="Calibri"/>
                <a:ea typeface="+mn-ea"/>
                <a:cs typeface="+mn-cs"/>
              </a:rPr>
              <a:t>C</a:t>
            </a:r>
            <a:r>
              <a:rPr kumimoji="0" lang="en-US" sz="2400" b="0" i="0" u="none" strike="noStrike" kern="1200" cap="none" spc="0" normalizeH="0" baseline="0" noProof="0" dirty="0">
                <a:ln>
                  <a:noFill/>
                </a:ln>
                <a:solidFill>
                  <a:srgbClr val="FF0000"/>
                </a:solidFill>
                <a:effectLst/>
                <a:uLnTx/>
                <a:uFillTx/>
                <a:latin typeface="Calibri"/>
                <a:ea typeface="+mn-ea"/>
                <a:cs typeface="+mn-cs"/>
              </a:rPr>
              <a:t>, </a:t>
            </a:r>
            <a:r>
              <a:rPr kumimoji="0" lang="en-US" sz="2400" b="0" i="1" u="none" strike="noStrike" kern="1200" cap="none" spc="0" normalizeH="0" baseline="0" noProof="0" dirty="0">
                <a:ln>
                  <a:noFill/>
                </a:ln>
                <a:solidFill>
                  <a:srgbClr val="FF0000"/>
                </a:solidFill>
                <a:effectLst/>
                <a:uLnTx/>
                <a:uFillTx/>
                <a:latin typeface="Calibri"/>
                <a:ea typeface="+mn-ea"/>
                <a:cs typeface="+mn-cs"/>
              </a:rPr>
              <a:t>G</a:t>
            </a:r>
            <a:r>
              <a:rPr kumimoji="0" lang="en-US" sz="2400" b="0" i="0" u="none" strike="noStrike" kern="1200" cap="none" spc="0" normalizeH="0" baseline="0" noProof="0" dirty="0">
                <a:ln>
                  <a:noFill/>
                </a:ln>
                <a:solidFill>
                  <a:srgbClr val="FF0000"/>
                </a:solidFill>
                <a:effectLst/>
                <a:uLnTx/>
                <a:uFillTx/>
                <a:latin typeface="Calibri"/>
                <a:ea typeface="+mn-ea"/>
                <a:cs typeface="+mn-cs"/>
              </a:rPr>
              <a:t>, </a:t>
            </a:r>
            <a:r>
              <a:rPr kumimoji="0" lang="en-US" sz="2400" b="0" i="1" u="none" strike="noStrike" kern="1200" cap="none" spc="0" normalizeH="0" baseline="0" noProof="0" dirty="0">
                <a:ln>
                  <a:noFill/>
                </a:ln>
                <a:solidFill>
                  <a:srgbClr val="FF0000"/>
                </a:solidFill>
                <a:effectLst/>
                <a:uLnTx/>
                <a:uFillTx/>
                <a:latin typeface="Calibri"/>
                <a:ea typeface="+mn-ea"/>
                <a:cs typeface="+mn-cs"/>
              </a:rPr>
              <a:t>D</a:t>
            </a:r>
            <a:r>
              <a:rPr kumimoji="0" lang="en-US" sz="2400" b="0" i="0" u="none" strike="noStrike" kern="1200" cap="none" spc="0" normalizeH="0" baseline="0" noProof="0" dirty="0">
                <a:ln>
                  <a:noFill/>
                </a:ln>
                <a:solidFill>
                  <a:srgbClr val="FF0000"/>
                </a:solidFill>
                <a:effectLst/>
                <a:uLnTx/>
                <a:uFillTx/>
                <a:latin typeface="Calibri"/>
                <a:ea typeface="+mn-ea"/>
                <a:cs typeface="+mn-cs"/>
              </a:rPr>
              <a:t>, </a:t>
            </a:r>
            <a:r>
              <a:rPr kumimoji="0" lang="en-US" sz="2400" b="0" i="1" u="none" strike="noStrike" kern="1200" cap="none" spc="0" normalizeH="0" baseline="0" noProof="0" dirty="0">
                <a:ln>
                  <a:noFill/>
                </a:ln>
                <a:solidFill>
                  <a:srgbClr val="FF0000"/>
                </a:solidFill>
                <a:effectLst/>
                <a:uLnTx/>
                <a:uFillTx/>
                <a:latin typeface="Calibri"/>
                <a:ea typeface="+mn-ea"/>
                <a:cs typeface="+mn-cs"/>
              </a:rPr>
              <a:t>E</a:t>
            </a:r>
            <a:r>
              <a:rPr kumimoji="0" lang="en-US" sz="2400" b="0" i="0" u="none" strike="noStrike" kern="1200" cap="none" spc="0" normalizeH="0" baseline="0" noProof="0" dirty="0">
                <a:ln>
                  <a:noFill/>
                </a:ln>
                <a:solidFill>
                  <a:srgbClr val="FF0000"/>
                </a:solidFill>
                <a:effectLst/>
                <a:uLnTx/>
                <a:uFillTx/>
                <a:latin typeface="Calibri"/>
                <a:ea typeface="+mn-ea"/>
                <a:cs typeface="+mn-cs"/>
              </a:rPr>
              <a:t>.) </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2400" b="0" i="0" u="none" strike="noStrike" kern="1200" cap="none" spc="0" normalizeH="0" baseline="0" noProof="0" dirty="0">
                <a:ln>
                  <a:noFill/>
                </a:ln>
                <a:solidFill>
                  <a:srgbClr val="FF0000"/>
                </a:solidFill>
                <a:effectLst/>
                <a:uLnTx/>
                <a:uFillTx/>
                <a:latin typeface="Calibri"/>
                <a:ea typeface="+mn-ea"/>
                <a:cs typeface="+mn-cs"/>
                <a:sym typeface="Wingdings" pitchFamily="2" charset="2"/>
              </a:rPr>
              <a:t>							  ==&gt; See next slide</a:t>
            </a:r>
            <a:r>
              <a:rPr kumimoji="0" lang="en-US" sz="2400" b="0" i="0" u="none" strike="noStrike" kern="1200" cap="none" spc="0" normalizeH="0" baseline="0" noProof="0" dirty="0">
                <a:ln>
                  <a:noFill/>
                </a:ln>
                <a:solidFill>
                  <a:srgbClr val="FF0000"/>
                </a:solidFill>
                <a:effectLst/>
                <a:uLnTx/>
                <a:uFillTx/>
                <a:latin typeface="Calibri"/>
                <a:ea typeface="+mn-ea"/>
                <a:cs typeface="+mn-cs"/>
              </a:rPr>
              <a:t> </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kumimoji="0" lang="en-US" sz="2400" b="1" i="0" u="none" strike="noStrike" kern="1200" cap="none" spc="0" normalizeH="0" baseline="0" noProof="0" dirty="0">
                <a:ln>
                  <a:noFill/>
                </a:ln>
                <a:solidFill>
                  <a:srgbClr val="FF0000"/>
                </a:solidFill>
                <a:effectLst/>
                <a:uLnTx/>
                <a:uFillTx/>
                <a:latin typeface="Calibri"/>
                <a:ea typeface="+mn-ea"/>
                <a:cs typeface="+mn-cs"/>
              </a:rPr>
              <a:t>Contrast</a:t>
            </a:r>
            <a:r>
              <a:rPr kumimoji="0" lang="en-US" sz="2400" b="0" i="0" u="none" strike="noStrike" kern="1200" cap="none" spc="0" normalizeH="0" baseline="0" noProof="0" dirty="0">
                <a:ln>
                  <a:noFill/>
                </a:ln>
                <a:solidFill>
                  <a:srgbClr val="0000FF"/>
                </a:solidFill>
                <a:effectLst/>
                <a:uLnTx/>
                <a:uFillTx/>
                <a:latin typeface="Calibri"/>
                <a:ea typeface="+mn-ea"/>
                <a:cs typeface="+mn-cs"/>
              </a:rPr>
              <a:t> this with the </a:t>
            </a:r>
            <a:r>
              <a:rPr kumimoji="0" lang="en-US" sz="2400" b="1" i="0" u="none" strike="noStrike" kern="1200" cap="none" spc="0" normalizeH="0" baseline="0" noProof="0" dirty="0">
                <a:ln>
                  <a:noFill/>
                </a:ln>
                <a:solidFill>
                  <a:srgbClr val="0000FF"/>
                </a:solidFill>
                <a:effectLst/>
                <a:uLnTx/>
                <a:uFillTx/>
                <a:latin typeface="Calibri"/>
                <a:ea typeface="+mn-ea"/>
                <a:cs typeface="+mn-cs"/>
              </a:rPr>
              <a:t>mutually exclusive relationship between Euler circuits and Euler paths</a:t>
            </a:r>
            <a:r>
              <a:rPr kumimoji="0" lang="en-US" sz="2400" b="0" i="0" u="none" strike="noStrike" kern="1200" cap="none" spc="0" normalizeH="0" baseline="0" noProof="0" dirty="0">
                <a:ln>
                  <a:noFill/>
                </a:ln>
                <a:solidFill>
                  <a:srgbClr val="0000FF"/>
                </a:solidFill>
                <a:effectLst/>
                <a:uLnTx/>
                <a:uFillTx/>
                <a:latin typeface="Calibri"/>
                <a:ea typeface="+mn-ea"/>
                <a:cs typeface="+mn-cs"/>
              </a:rPr>
              <a:t>: </a:t>
            </a:r>
            <a:r>
              <a:rPr kumimoji="0" lang="en-US" sz="2400" b="0" i="0" u="none" strike="noStrike" kern="1200" cap="none" spc="0" normalizeH="0" baseline="0" noProof="0" dirty="0">
                <a:ln>
                  <a:noFill/>
                </a:ln>
                <a:solidFill>
                  <a:srgbClr val="0000FF"/>
                </a:solidFill>
                <a:effectLst/>
                <a:highlight>
                  <a:srgbClr val="00FFFF"/>
                </a:highlight>
                <a:uLnTx/>
                <a:uFillTx/>
                <a:latin typeface="Calibri"/>
                <a:ea typeface="+mn-ea"/>
                <a:cs typeface="+mn-cs"/>
              </a:rPr>
              <a:t>If a graph has</a:t>
            </a:r>
            <a:r>
              <a:rPr kumimoji="0" lang="en-US" sz="2400" b="0" i="0" u="none" strike="noStrike" kern="1200" cap="none" spc="0" normalizeH="0" baseline="0" noProof="0" dirty="0">
                <a:ln>
                  <a:noFill/>
                </a:ln>
                <a:solidFill>
                  <a:srgbClr val="0000FF"/>
                </a:solidFill>
                <a:effectLst/>
                <a:highlight>
                  <a:srgbClr val="00FFFF"/>
                </a:highlight>
                <a:uLnTx/>
                <a:uFillTx/>
                <a:latin typeface="Helvetica"/>
                <a:ea typeface="+mn-ea"/>
                <a:cs typeface="+mn-cs"/>
              </a:rPr>
              <a:t> </a:t>
            </a:r>
            <a:r>
              <a:rPr kumimoji="0" lang="en-US" sz="2400" b="0" i="0" u="none" strike="noStrike" kern="1200" cap="none" spc="0" normalizeH="0" baseline="0" noProof="0" dirty="0">
                <a:ln>
                  <a:noFill/>
                </a:ln>
                <a:solidFill>
                  <a:srgbClr val="0000FF"/>
                </a:solidFill>
                <a:effectLst/>
                <a:highlight>
                  <a:srgbClr val="00FFFF"/>
                </a:highlight>
                <a:uLnTx/>
                <a:uFillTx/>
                <a:latin typeface="Calibri"/>
                <a:ea typeface="+mn-ea"/>
                <a:cs typeface="+mn-cs"/>
              </a:rPr>
              <a:t>an Euler circuit it cannot have an Euler path and vice versa</a:t>
            </a:r>
            <a:r>
              <a:rPr kumimoji="0" lang="en-US" sz="2400" b="0" i="0" u="none" strike="noStrike" kern="1200" cap="none" spc="0" normalizeH="0" baseline="0" noProof="0" dirty="0">
                <a:ln>
                  <a:noFill/>
                </a:ln>
                <a:solidFill>
                  <a:srgbClr val="0000FF"/>
                </a:solidFill>
                <a:effectLst/>
                <a:uLnTx/>
                <a:uFillTx/>
                <a:latin typeface="Calibri"/>
                <a:ea typeface="+mn-ea"/>
                <a:cs typeface="+mn-cs"/>
              </a:rPr>
              <a:t>.</a:t>
            </a:r>
            <a:r>
              <a:rPr kumimoji="0" lang="en-US" sz="2400" b="0" i="0" u="none" strike="noStrike" kern="1200" cap="none" spc="0" normalizeH="0" baseline="0" noProof="0" dirty="0">
                <a:ln>
                  <a:noFill/>
                </a:ln>
                <a:solidFill>
                  <a:srgbClr val="0000FF"/>
                </a:solidFill>
                <a:effectLst/>
                <a:uLnTx/>
                <a:uFillTx/>
                <a:latin typeface="Helvetica"/>
                <a:ea typeface="+mn-ea"/>
                <a:cs typeface="+mn-cs"/>
              </a:rPr>
              <a:t> </a:t>
            </a:r>
            <a:endParaRPr kumimoji="0" lang="en-US" sz="24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22590684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208882" y="632685"/>
            <a:ext cx="7162586" cy="698627"/>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solidFill>
                  <a:srgbClr val="FF0000"/>
                </a:solidFill>
              </a:rPr>
              <a:t>Example</a:t>
            </a:r>
            <a:endParaRPr lang="en-US" sz="2800" b="1" dirty="0">
              <a:solidFill>
                <a:schemeClr val="tx1"/>
              </a:solidFill>
            </a:endParaRPr>
          </a:p>
        </p:txBody>
      </p:sp>
      <p:sp>
        <p:nvSpPr>
          <p:cNvPr id="9" name="Slide Number Placeholder 3">
            <a:extLst>
              <a:ext uri="{FF2B5EF4-FFF2-40B4-BE49-F238E27FC236}">
                <a16:creationId xmlns:a16="http://schemas.microsoft.com/office/drawing/2014/main" id="{A45A12B1-FB3A-489D-8AD3-340BAC7C9C7E}"/>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algn="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A1FCCD8-2212-429A-82F1-477B852D9125}"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0" name="Picture 8" descr="Picture 16">
            <a:extLst>
              <a:ext uri="{FF2B5EF4-FFF2-40B4-BE49-F238E27FC236}">
                <a16:creationId xmlns:a16="http://schemas.microsoft.com/office/drawing/2014/main" id="{BDBDF30A-2B17-4B0E-BCB6-D8E16465008C}"/>
              </a:ext>
            </a:extLst>
          </p:cNvPr>
          <p:cNvPicPr>
            <a:picLocks noChangeAspect="1" noChangeArrowheads="1"/>
          </p:cNvPicPr>
          <p:nvPr/>
        </p:nvPicPr>
        <p:blipFill>
          <a:blip r:embed="rId2" cstate="print"/>
          <a:srcRect/>
          <a:stretch>
            <a:fillRect/>
          </a:stretch>
        </p:blipFill>
        <p:spPr bwMode="auto">
          <a:xfrm>
            <a:off x="5962650" y="1600200"/>
            <a:ext cx="3028950" cy="4525963"/>
          </a:xfrm>
          <a:prstGeom prst="rect">
            <a:avLst/>
          </a:prstGeom>
          <a:noFill/>
          <a:ln w="9525">
            <a:noFill/>
            <a:miter lim="800000"/>
            <a:headEnd/>
            <a:tailEnd/>
          </a:ln>
        </p:spPr>
      </p:pic>
      <p:sp>
        <p:nvSpPr>
          <p:cNvPr id="11" name="Rectangle 2">
            <a:extLst>
              <a:ext uri="{FF2B5EF4-FFF2-40B4-BE49-F238E27FC236}">
                <a16:creationId xmlns:a16="http://schemas.microsoft.com/office/drawing/2014/main" id="{79D3F579-ABB7-4AFB-9136-83F0918E693B}"/>
              </a:ext>
            </a:extLst>
          </p:cNvPr>
          <p:cNvSpPr txBox="1">
            <a:spLocks noChangeArrowheads="1"/>
          </p:cNvSpPr>
          <p:nvPr/>
        </p:nvSpPr>
        <p:spPr bwMode="auto">
          <a:xfrm>
            <a:off x="457200" y="1143000"/>
            <a:ext cx="5181600" cy="2133600"/>
          </a:xfrm>
          <a:prstGeom prst="rect">
            <a:avLst/>
          </a:prstGeom>
          <a:noFill/>
          <a:ln w="9525">
            <a:noFill/>
            <a:miter lim="800000"/>
            <a:headEnd/>
            <a:tailEnd/>
          </a:ln>
        </p:spPr>
        <p:txBody>
          <a:bodyPr/>
          <a:lstStyle/>
          <a:p>
            <a:pPr eaLnBrk="0" fontAlgn="base" hangingPunct="0">
              <a:lnSpc>
                <a:spcPct val="90000"/>
              </a:lnSpc>
              <a:spcBef>
                <a:spcPct val="20000"/>
              </a:spcBef>
              <a:spcAft>
                <a:spcPct val="0"/>
              </a:spcAft>
              <a:defRPr/>
            </a:pPr>
            <a:r>
              <a:rPr lang="en-US" sz="3200" dirty="0">
                <a:solidFill>
                  <a:prstClr val="black"/>
                </a:solidFill>
                <a:cs typeface="Arial" pitchFamily="34" charset="0"/>
              </a:rPr>
              <a:t>The figure shows a graph that (1) has Euler circuits (the vertices are all</a:t>
            </a:r>
            <a:r>
              <a:rPr lang="en-US" sz="3200" dirty="0">
                <a:solidFill>
                  <a:prstClr val="black"/>
                </a:solidFill>
                <a:latin typeface="Helvetica" pitchFamily="1" charset="0"/>
                <a:cs typeface="Arial" pitchFamily="34" charset="0"/>
              </a:rPr>
              <a:t> </a:t>
            </a:r>
            <a:r>
              <a:rPr lang="en-US" sz="3200" dirty="0">
                <a:solidFill>
                  <a:prstClr val="black"/>
                </a:solidFill>
                <a:cs typeface="Arial" pitchFamily="34" charset="0"/>
              </a:rPr>
              <a:t>even-degree) and (2) has Hamilton circuits. </a:t>
            </a:r>
          </a:p>
        </p:txBody>
      </p:sp>
      <p:sp>
        <p:nvSpPr>
          <p:cNvPr id="12" name="Rectangle 7">
            <a:extLst>
              <a:ext uri="{FF2B5EF4-FFF2-40B4-BE49-F238E27FC236}">
                <a16:creationId xmlns:a16="http://schemas.microsoft.com/office/drawing/2014/main" id="{F6E79C28-4AEC-4169-98D1-6FCF4F2C9746}"/>
              </a:ext>
            </a:extLst>
          </p:cNvPr>
          <p:cNvSpPr>
            <a:spLocks noChangeArrowheads="1"/>
          </p:cNvSpPr>
          <p:nvPr/>
        </p:nvSpPr>
        <p:spPr bwMode="auto">
          <a:xfrm>
            <a:off x="457200" y="3429000"/>
            <a:ext cx="4648200" cy="2438400"/>
          </a:xfrm>
          <a:prstGeom prst="rect">
            <a:avLst/>
          </a:prstGeom>
          <a:noFill/>
          <a:ln w="9525">
            <a:noFill/>
            <a:miter lim="800000"/>
            <a:headEnd/>
            <a:tailEnd/>
          </a:ln>
        </p:spPr>
        <p:txBody>
          <a:bodyPr/>
          <a:lstStyle/>
          <a:p>
            <a:pPr fontAlgn="base">
              <a:spcBef>
                <a:spcPct val="20000"/>
              </a:spcBef>
              <a:spcAft>
                <a:spcPct val="0"/>
              </a:spcAft>
            </a:pPr>
            <a:r>
              <a:rPr lang="en-US" sz="2800" dirty="0">
                <a:solidFill>
                  <a:prstClr val="black"/>
                </a:solidFill>
                <a:cs typeface="Arial" pitchFamily="34" charset="0"/>
              </a:rPr>
              <a:t>One such Hamilton circuit is </a:t>
            </a:r>
          </a:p>
          <a:p>
            <a:pPr fontAlgn="base">
              <a:spcBef>
                <a:spcPct val="20000"/>
              </a:spcBef>
              <a:spcAft>
                <a:spcPct val="0"/>
              </a:spcAft>
            </a:pPr>
            <a:r>
              <a:rPr lang="en-US" sz="2800" i="1" dirty="0">
                <a:solidFill>
                  <a:prstClr val="black"/>
                </a:solidFill>
                <a:cs typeface="Arial" pitchFamily="34" charset="0"/>
              </a:rPr>
              <a:t>A</a:t>
            </a:r>
            <a:r>
              <a:rPr lang="en-US" sz="2800" dirty="0">
                <a:solidFill>
                  <a:prstClr val="black"/>
                </a:solidFill>
                <a:cs typeface="Arial" pitchFamily="34" charset="0"/>
              </a:rPr>
              <a:t>, </a:t>
            </a:r>
            <a:r>
              <a:rPr lang="en-US" sz="2800" i="1" dirty="0">
                <a:solidFill>
                  <a:prstClr val="black"/>
                </a:solidFill>
                <a:cs typeface="Arial" pitchFamily="34" charset="0"/>
              </a:rPr>
              <a:t>F</a:t>
            </a:r>
            <a:r>
              <a:rPr lang="en-US" sz="2800" dirty="0">
                <a:solidFill>
                  <a:prstClr val="black"/>
                </a:solidFill>
                <a:cs typeface="Arial" pitchFamily="34" charset="0"/>
              </a:rPr>
              <a:t>, </a:t>
            </a:r>
            <a:r>
              <a:rPr lang="en-US" sz="2800" i="1" dirty="0">
                <a:solidFill>
                  <a:prstClr val="black"/>
                </a:solidFill>
                <a:cs typeface="Arial" pitchFamily="34" charset="0"/>
              </a:rPr>
              <a:t>B</a:t>
            </a:r>
            <a:r>
              <a:rPr lang="en-US" sz="2800" dirty="0">
                <a:solidFill>
                  <a:prstClr val="black"/>
                </a:solidFill>
                <a:cs typeface="Arial" pitchFamily="34" charset="0"/>
              </a:rPr>
              <a:t>, </a:t>
            </a:r>
            <a:r>
              <a:rPr lang="en-US" sz="2800" i="1" dirty="0">
                <a:solidFill>
                  <a:prstClr val="black"/>
                </a:solidFill>
                <a:cs typeface="Arial" pitchFamily="34" charset="0"/>
              </a:rPr>
              <a:t>C</a:t>
            </a:r>
            <a:r>
              <a:rPr lang="en-US" sz="2800" dirty="0">
                <a:solidFill>
                  <a:prstClr val="black"/>
                </a:solidFill>
                <a:cs typeface="Arial" pitchFamily="34" charset="0"/>
              </a:rPr>
              <a:t>, </a:t>
            </a:r>
            <a:r>
              <a:rPr lang="en-US" sz="2800" i="1" dirty="0">
                <a:solidFill>
                  <a:prstClr val="black"/>
                </a:solidFill>
                <a:cs typeface="Arial" pitchFamily="34" charset="0"/>
              </a:rPr>
              <a:t>G</a:t>
            </a:r>
            <a:r>
              <a:rPr lang="en-US" sz="2800" dirty="0">
                <a:solidFill>
                  <a:prstClr val="black"/>
                </a:solidFill>
                <a:cs typeface="Arial" pitchFamily="34" charset="0"/>
              </a:rPr>
              <a:t>, </a:t>
            </a:r>
            <a:r>
              <a:rPr lang="en-US" sz="2800" i="1" dirty="0">
                <a:solidFill>
                  <a:prstClr val="black"/>
                </a:solidFill>
                <a:cs typeface="Arial" pitchFamily="34" charset="0"/>
              </a:rPr>
              <a:t>D</a:t>
            </a:r>
            <a:r>
              <a:rPr lang="en-US" sz="2800" dirty="0">
                <a:solidFill>
                  <a:prstClr val="black"/>
                </a:solidFill>
                <a:cs typeface="Arial" pitchFamily="34" charset="0"/>
              </a:rPr>
              <a:t>, </a:t>
            </a:r>
            <a:r>
              <a:rPr lang="en-US" sz="2800" i="1" dirty="0">
                <a:solidFill>
                  <a:prstClr val="black"/>
                </a:solidFill>
                <a:cs typeface="Arial" pitchFamily="34" charset="0"/>
              </a:rPr>
              <a:t>E</a:t>
            </a:r>
            <a:r>
              <a:rPr lang="en-US" sz="2800" dirty="0">
                <a:solidFill>
                  <a:prstClr val="black"/>
                </a:solidFill>
                <a:cs typeface="Arial" pitchFamily="34" charset="0"/>
              </a:rPr>
              <a:t>, </a:t>
            </a:r>
            <a:r>
              <a:rPr lang="en-US" sz="2800" i="1" dirty="0">
                <a:solidFill>
                  <a:prstClr val="black"/>
                </a:solidFill>
                <a:cs typeface="Arial" pitchFamily="34" charset="0"/>
              </a:rPr>
              <a:t>A </a:t>
            </a:r>
            <a:r>
              <a:rPr lang="en-US" sz="2800" dirty="0">
                <a:solidFill>
                  <a:prstClr val="black"/>
                </a:solidFill>
                <a:cs typeface="Arial" pitchFamily="34" charset="0"/>
              </a:rPr>
              <a:t>– there are plenty more. </a:t>
            </a:r>
          </a:p>
          <a:p>
            <a:pPr fontAlgn="base">
              <a:spcBef>
                <a:spcPct val="20000"/>
              </a:spcBef>
              <a:spcAft>
                <a:spcPct val="0"/>
              </a:spcAft>
            </a:pPr>
            <a:r>
              <a:rPr lang="en-US" sz="2800" dirty="0">
                <a:solidFill>
                  <a:srgbClr val="FF0000"/>
                </a:solidFill>
                <a:cs typeface="Arial" pitchFamily="34" charset="0"/>
              </a:rPr>
              <a:t>Can you identify an Euler circuit in this graph?</a:t>
            </a:r>
          </a:p>
        </p:txBody>
      </p:sp>
    </p:spTree>
    <p:extLst>
      <p:ext uri="{BB962C8B-B14F-4D97-AF65-F5344CB8AC3E}">
        <p14:creationId xmlns:p14="http://schemas.microsoft.com/office/powerpoint/2010/main" val="39302413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solidFill>
                  <a:srgbClr val="FF0000"/>
                </a:solidFill>
              </a:rPr>
              <a:t>Practice @ Home</a:t>
            </a:r>
            <a:endParaRPr lang="en-US" sz="2600" b="1" dirty="0">
              <a:solidFill>
                <a:schemeClr val="tx1"/>
              </a:solidFill>
            </a:endParaRPr>
          </a:p>
        </p:txBody>
      </p:sp>
      <p:sp>
        <p:nvSpPr>
          <p:cNvPr id="7" name="Content Placeholder 2">
            <a:extLst>
              <a:ext uri="{FF2B5EF4-FFF2-40B4-BE49-F238E27FC236}">
                <a16:creationId xmlns:a16="http://schemas.microsoft.com/office/drawing/2014/main" id="{F6937A84-DC73-47DD-84B7-971193C3437A}"/>
              </a:ext>
            </a:extLst>
          </p:cNvPr>
          <p:cNvSpPr txBox="1">
            <a:spLocks/>
          </p:cNvSpPr>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b="1" i="0" u="none" strike="noStrike" kern="1200" cap="none" spc="0" normalizeH="0" baseline="0" noProof="0" dirty="0">
                <a:ln>
                  <a:noFill/>
                </a:ln>
                <a:solidFill>
                  <a:srgbClr val="FF0000"/>
                </a:solidFill>
                <a:effectLst/>
                <a:uLnTx/>
                <a:uFillTx/>
                <a:latin typeface="Calibri"/>
                <a:ea typeface="+mn-ea"/>
                <a:cs typeface="+mn-cs"/>
              </a:rPr>
              <a:t>Relevant Odd-Numbered Exercises</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b="0" i="0" u="none" strike="noStrike" kern="1200" cap="none" spc="0" normalizeH="0" baseline="0" noProof="0" dirty="0">
                <a:ln>
                  <a:noFill/>
                </a:ln>
                <a:solidFill>
                  <a:srgbClr val="FF0000"/>
                </a:solidFill>
                <a:effectLst/>
                <a:uLnTx/>
                <a:uFillTx/>
                <a:latin typeface="Calibri"/>
                <a:ea typeface="+mn-ea"/>
                <a:cs typeface="+mn-cs"/>
              </a:rPr>
              <a:t>19, 21, 31, 35, 37, 39, 43, 47</a:t>
            </a:r>
          </a:p>
        </p:txBody>
      </p:sp>
    </p:spTree>
    <p:extLst>
      <p:ext uri="{BB962C8B-B14F-4D97-AF65-F5344CB8AC3E}">
        <p14:creationId xmlns:p14="http://schemas.microsoft.com/office/powerpoint/2010/main" val="19233823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6" name="Rectangle 5">
            <a:extLst>
              <a:ext uri="{FF2B5EF4-FFF2-40B4-BE49-F238E27FC236}">
                <a16:creationId xmlns:a16="http://schemas.microsoft.com/office/drawing/2014/main" id="{74D4C03A-E8EF-4A32-8E65-D1DF5EC3C2DF}"/>
              </a:ext>
            </a:extLst>
          </p:cNvPr>
          <p:cNvSpPr/>
          <p:nvPr/>
        </p:nvSpPr>
        <p:spPr>
          <a:xfrm>
            <a:off x="562707" y="1767006"/>
            <a:ext cx="7891975" cy="1200329"/>
          </a:xfrm>
          <a:prstGeom prst="rect">
            <a:avLst/>
          </a:prstGeom>
        </p:spPr>
        <p:txBody>
          <a:bodyPr wrap="square">
            <a:spAutoFit/>
          </a:bodyPr>
          <a:lstStyle/>
          <a:p>
            <a:pPr marL="285750" indent="-285750">
              <a:buFont typeface="Arial" panose="020B0604020202020204" pitchFamily="34" charset="0"/>
              <a:buChar char="•"/>
            </a:pPr>
            <a:r>
              <a:rPr lang="en-US" b="1" dirty="0"/>
              <a:t>Rosen, K. H., &amp; </a:t>
            </a:r>
            <a:r>
              <a:rPr lang="en-US" b="1" dirty="0" err="1"/>
              <a:t>Krithivasan</a:t>
            </a:r>
            <a:r>
              <a:rPr lang="en-US" b="1" dirty="0"/>
              <a:t>, K. (2012). Discrete mathematics and its applications: with combinatorics and graph theory. Tata McGraw-Hill Education. (7</a:t>
            </a:r>
            <a:r>
              <a:rPr lang="en-US" b="1" baseline="30000" dirty="0"/>
              <a:t>th</a:t>
            </a:r>
            <a:r>
              <a:rPr lang="en-US" b="1" dirty="0"/>
              <a:t> Edition)</a:t>
            </a:r>
          </a:p>
          <a:p>
            <a:pPr marL="285750" indent="-285750">
              <a:buFont typeface="Arial" panose="020B0604020202020204" pitchFamily="34" charset="0"/>
              <a:buChar char="•"/>
            </a:pPr>
            <a:r>
              <a:rPr lang="en-US" dirty="0"/>
              <a:t>Liu, C. L. (1986). Elements of discrete mathematics. Tata McGraw-Hill Education.</a:t>
            </a:r>
          </a:p>
        </p:txBody>
      </p:sp>
    </p:spTree>
    <p:extLst>
      <p:ext uri="{BB962C8B-B14F-4D97-AF65-F5344CB8AC3E}">
        <p14:creationId xmlns:p14="http://schemas.microsoft.com/office/powerpoint/2010/main" val="10887172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335494" y="1789566"/>
            <a:ext cx="8583423" cy="3693319"/>
          </a:xfrm>
          <a:prstGeom prst="rect">
            <a:avLst/>
          </a:prstGeom>
          <a:noFill/>
        </p:spPr>
        <p:txBody>
          <a:bodyPr wrap="square" rtlCol="0">
            <a:spAutoFit/>
          </a:bodyPr>
          <a:lstStyle/>
          <a:p>
            <a:pPr marL="285750" indent="-285750">
              <a:buFont typeface="Arial" panose="020B0604020202020204" pitchFamily="34" charset="0"/>
              <a:buChar char="•"/>
            </a:pPr>
            <a:endParaRPr lang="en-US" dirty="0"/>
          </a:p>
          <a:p>
            <a:pPr marL="457200" lvl="0" indent="-457200">
              <a:buFont typeface="+mj-lt"/>
              <a:buAutoNum type="arabicPeriod"/>
            </a:pPr>
            <a:r>
              <a:rPr lang="en-US" dirty="0"/>
              <a:t>Discrete Mathematics, </a:t>
            </a:r>
            <a:r>
              <a:rPr lang="en-US" i="1" dirty="0"/>
              <a:t>Richard</a:t>
            </a:r>
            <a:r>
              <a:rPr lang="en-US" dirty="0"/>
              <a:t> </a:t>
            </a:r>
            <a:r>
              <a:rPr lang="en-US" i="1" dirty="0" err="1"/>
              <a:t>Johnsonbaugh</a:t>
            </a:r>
            <a:r>
              <a:rPr lang="en-US" dirty="0"/>
              <a:t>, Pearson education, Inc.</a:t>
            </a:r>
          </a:p>
          <a:p>
            <a:pPr marL="457200" lvl="0" indent="-457200">
              <a:buFont typeface="+mj-lt"/>
              <a:buAutoNum type="arabicPeriod"/>
            </a:pPr>
            <a:r>
              <a:rPr lang="en-US" dirty="0"/>
              <a:t>Discrete Mathematical Structures, </a:t>
            </a:r>
            <a:r>
              <a:rPr lang="en-US" i="1" dirty="0"/>
              <a:t>Bernard</a:t>
            </a:r>
            <a:r>
              <a:rPr lang="en-US" dirty="0"/>
              <a:t> </a:t>
            </a:r>
            <a:r>
              <a:rPr lang="en-US" i="1" dirty="0" err="1"/>
              <a:t>Kolman</a:t>
            </a:r>
            <a:r>
              <a:rPr lang="en-US" dirty="0"/>
              <a:t>, </a:t>
            </a:r>
            <a:r>
              <a:rPr lang="en-US" i="1" dirty="0"/>
              <a:t>Robert C. Busby</a:t>
            </a:r>
            <a:r>
              <a:rPr lang="en-US" dirty="0"/>
              <a:t>, </a:t>
            </a:r>
            <a:r>
              <a:rPr lang="en-US" i="1" dirty="0"/>
              <a:t>Sharon</a:t>
            </a:r>
            <a:r>
              <a:rPr lang="en-US" dirty="0"/>
              <a:t> </a:t>
            </a:r>
            <a:r>
              <a:rPr lang="en-US" i="1" dirty="0"/>
              <a:t>Ross, </a:t>
            </a:r>
            <a:r>
              <a:rPr lang="en-US" dirty="0"/>
              <a:t>Prentice-Hall, Inc.</a:t>
            </a:r>
          </a:p>
          <a:p>
            <a:pPr marL="457200" lvl="0" indent="-457200">
              <a:buFont typeface="+mj-lt"/>
              <a:buAutoNum type="arabicPeriod"/>
            </a:pPr>
            <a:r>
              <a:rPr lang="en-US" i="1" dirty="0"/>
              <a:t>SCHAUM’S  outlines Discrete Mathematics(2</a:t>
            </a:r>
            <a:r>
              <a:rPr lang="en-US" i="1" baseline="30000" dirty="0"/>
              <a:t>nd</a:t>
            </a:r>
            <a:r>
              <a:rPr lang="en-US" i="1" dirty="0"/>
              <a:t> edition)</a:t>
            </a:r>
            <a:r>
              <a:rPr lang="en-US" dirty="0"/>
              <a:t>, by </a:t>
            </a:r>
            <a:r>
              <a:rPr lang="en-US" i="1" dirty="0"/>
              <a:t>Seymour</a:t>
            </a:r>
            <a:r>
              <a:rPr lang="en-US" dirty="0"/>
              <a:t> </a:t>
            </a:r>
            <a:r>
              <a:rPr lang="en-US" i="1" dirty="0" err="1"/>
              <a:t>Lipschutz</a:t>
            </a:r>
            <a:r>
              <a:rPr lang="en-US" dirty="0"/>
              <a:t>, </a:t>
            </a:r>
            <a:r>
              <a:rPr lang="en-US" i="1" dirty="0"/>
              <a:t>Marc</a:t>
            </a:r>
            <a:r>
              <a:rPr lang="en-US" dirty="0"/>
              <a:t> </a:t>
            </a:r>
            <a:r>
              <a:rPr lang="en-US" i="1" dirty="0"/>
              <a:t>Lipson</a:t>
            </a:r>
          </a:p>
          <a:p>
            <a:pPr marL="457200" lvl="0" indent="-457200"/>
            <a:endParaRPr lang="en-US" dirty="0"/>
          </a:p>
          <a:p>
            <a:pPr marL="285750" indent="-285750">
              <a:buFont typeface="Arial" panose="020B0604020202020204" pitchFamily="34" charset="0"/>
              <a:buChar char="•"/>
            </a:pPr>
            <a:r>
              <a:rPr lang="en-US" dirty="0"/>
              <a:t>Online learning platform</a:t>
            </a:r>
          </a:p>
          <a:p>
            <a:r>
              <a:rPr lang="en-US" dirty="0">
                <a:hlinkClick r:id="rId2"/>
              </a:rPr>
              <a:t>https://courses.lumenlearning.com/math4liberalarts/chapter/introduction-euler-paths/</a:t>
            </a:r>
            <a:endParaRPr lang="en-US" dirty="0"/>
          </a:p>
          <a:p>
            <a:pPr marL="285750" indent="-285750">
              <a:buFont typeface="Arial" panose="020B0604020202020204" pitchFamily="34" charset="0"/>
              <a:buChar char="•"/>
            </a:pPr>
            <a:r>
              <a:rPr lang="en-US" dirty="0"/>
              <a:t>University of Hawaii materials</a:t>
            </a:r>
          </a:p>
          <a:p>
            <a:r>
              <a:rPr lang="en-US" dirty="0">
                <a:hlinkClick r:id="rId3"/>
              </a:rPr>
              <a:t>http://courses.ics.hawaii.edu/ReviewICS241/morea/graphs/Graphs5-QA.pdf</a:t>
            </a:r>
            <a:endParaRPr lang="en-US" dirty="0"/>
          </a:p>
          <a:p>
            <a:pPr marL="285750" indent="-285750">
              <a:buFont typeface="Arial" panose="020B0604020202020204" pitchFamily="34" charset="0"/>
              <a:buChar char="•"/>
            </a:pPr>
            <a:r>
              <a:rPr lang="en-US" dirty="0"/>
              <a:t>Online learning </a:t>
            </a:r>
          </a:p>
          <a:p>
            <a:r>
              <a:rPr lang="en-US" dirty="0">
                <a:hlinkClick r:id="rId4"/>
              </a:rPr>
              <a:t>https://www.geeksforgeeks.org/mathematics-euler-hamiltonian-paths/</a:t>
            </a:r>
            <a:endParaRPr lang="x-none" dirty="0"/>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358</TotalTime>
  <Words>2299</Words>
  <Application>Microsoft Office PowerPoint</Application>
  <PresentationFormat>On-screen Show (4:3)</PresentationFormat>
  <Paragraphs>182</Paragraphs>
  <Slides>32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vt:lpstr>
      <vt:lpstr>Arial</vt:lpstr>
      <vt:lpstr>Calibri</vt:lpstr>
      <vt:lpstr>Corbel</vt:lpstr>
      <vt:lpstr>Helvetica</vt:lpstr>
      <vt:lpstr>Wingdings</vt:lpstr>
      <vt:lpstr>Spectrum</vt:lpstr>
      <vt:lpstr>Euler and Hamilton Paths</vt:lpstr>
      <vt:lpstr>Lecture Outline</vt:lpstr>
      <vt:lpstr>Objectives and Outcomes</vt:lpstr>
      <vt:lpstr>Euler paths and circuits</vt:lpstr>
      <vt:lpstr>Euler paths and circuits</vt:lpstr>
      <vt:lpstr>Euler paths and circuits</vt:lpstr>
      <vt:lpstr>Euler paths and circuits </vt:lpstr>
      <vt:lpstr>Euler paths and circuits</vt:lpstr>
      <vt:lpstr>Euler paths and circuits</vt:lpstr>
      <vt:lpstr>PowerPoint Presentation</vt:lpstr>
      <vt:lpstr>PowerPoint Presentation</vt:lpstr>
      <vt:lpstr>PowerPoint Presentation</vt:lpstr>
      <vt:lpstr>PowerPoint Presentation</vt:lpstr>
      <vt:lpstr>PowerPoint Presentation</vt:lpstr>
      <vt:lpstr>Hamilton Paths and Circuits</vt:lpstr>
      <vt:lpstr>Hamilton Paths and Circuits</vt:lpstr>
      <vt:lpstr>Hamilton Paths and Circuits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Dr. Ashraf Uddin</cp:lastModifiedBy>
  <cp:revision>88</cp:revision>
  <dcterms:created xsi:type="dcterms:W3CDTF">2018-12-10T17:20:29Z</dcterms:created>
  <dcterms:modified xsi:type="dcterms:W3CDTF">2023-08-06T06:46:56Z</dcterms:modified>
</cp:coreProperties>
</file>