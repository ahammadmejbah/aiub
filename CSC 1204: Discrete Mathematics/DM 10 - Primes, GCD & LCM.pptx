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308" r:id="rId4"/>
    <p:sldId id="357" r:id="rId5"/>
    <p:sldId id="370" r:id="rId6"/>
    <p:sldId id="358" r:id="rId7"/>
    <p:sldId id="371" r:id="rId8"/>
    <p:sldId id="359" r:id="rId9"/>
    <p:sldId id="372" r:id="rId10"/>
    <p:sldId id="373" r:id="rId11"/>
    <p:sldId id="360" r:id="rId12"/>
    <p:sldId id="361" r:id="rId13"/>
    <p:sldId id="374" r:id="rId14"/>
    <p:sldId id="362" r:id="rId15"/>
    <p:sldId id="363" r:id="rId16"/>
    <p:sldId id="375" r:id="rId17"/>
    <p:sldId id="364" r:id="rId18"/>
    <p:sldId id="365" r:id="rId19"/>
    <p:sldId id="378" r:id="rId20"/>
    <p:sldId id="379" r:id="rId21"/>
    <p:sldId id="366" r:id="rId22"/>
    <p:sldId id="369" r:id="rId23"/>
    <p:sldId id="367" r:id="rId24"/>
    <p:sldId id="356" r:id="rId25"/>
    <p:sldId id="277" r:id="rId26"/>
    <p:sldId id="265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820" autoAdjust="0"/>
  </p:normalViewPr>
  <p:slideViewPr>
    <p:cSldViewPr snapToGrid="0" snapToObjects="1">
      <p:cViewPr varScale="1">
        <p:scale>
          <a:sx n="114" d="100"/>
          <a:sy n="114" d="100"/>
        </p:scale>
        <p:origin x="152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13DDF-8C9F-41ED-BCA0-DFAC852E1B28}" type="datetimeFigureOut">
              <a:rPr lang="en-US" smtClean="0"/>
              <a:pPr/>
              <a:t>21-Feb-23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1CEC4-8705-463B-9A79-B2018D538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4630E-50CB-41D4-B880-9F9D7FA7BA29}" type="datetime1">
              <a:rPr lang="en-US" smtClean="0"/>
              <a:pPr/>
              <a:t>21-Feb-23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E53B5-49FB-46D3-8DDC-FF194BFECA44}" type="datetime1">
              <a:rPr lang="en-US" smtClean="0"/>
              <a:pPr/>
              <a:t>21-Feb-23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B3357-3270-44AD-8313-0626A2642B80}" type="datetime1">
              <a:rPr lang="en-US" smtClean="0"/>
              <a:pPr/>
              <a:t>21-Feb-23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85F5-738C-480D-8B46-1B1B3DA4FF26}" type="datetime1">
              <a:rPr lang="en-US" smtClean="0"/>
              <a:pPr/>
              <a:t>21-Feb-23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20414-9D97-4B74-A477-A764E0D269A0}" type="datetime1">
              <a:rPr lang="en-US" smtClean="0"/>
              <a:pPr/>
              <a:t>21-Feb-23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F015-530B-454C-ADA2-7F2157207175}" type="datetime1">
              <a:rPr lang="en-US" smtClean="0"/>
              <a:pPr/>
              <a:t>21-Feb-23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8430-5DBF-4BDF-AAA2-FD9FC4A2D81F}" type="datetime1">
              <a:rPr lang="en-US" smtClean="0"/>
              <a:pPr/>
              <a:t>21-Feb-23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C2E2-3F23-42C1-AFF2-4509F057067A}" type="datetime1">
              <a:rPr lang="en-US" smtClean="0"/>
              <a:pPr/>
              <a:t>21-Feb-23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D1CE5-8CD7-468E-85A4-78CEAD3625E5}" type="datetime1">
              <a:rPr lang="en-US" smtClean="0"/>
              <a:pPr/>
              <a:t>21-Feb-23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DB23-474F-49A8-A23D-7A0E84AD2BE6}" type="datetime1">
              <a:rPr lang="en-US" smtClean="0"/>
              <a:pPr/>
              <a:t>21-Feb-23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55E30-D25B-4216-A7A0-BE8AD9B7E327}" type="datetime1">
              <a:rPr lang="en-US" smtClean="0"/>
              <a:pPr/>
              <a:t>21-Feb-23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8EFD5-F0AF-4965-A66C-E35F81ABEC91}" type="datetime1">
              <a:rPr lang="en-US" smtClean="0"/>
              <a:pPr/>
              <a:t>21-Feb-23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A2D2-B87B-4847-9811-8BF83A23C0A4}" type="datetime1">
              <a:rPr lang="en-US" smtClean="0"/>
              <a:pPr/>
              <a:t>21-Feb-23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62871-21BD-4EDE-AE57-59E17BF237ED}" type="datetime1">
              <a:rPr lang="en-US" smtClean="0"/>
              <a:pPr/>
              <a:t>21-Feb-23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F78AD-1CB0-4608-B3A1-669F93264AC6}" type="datetime1">
              <a:rPr lang="en-US" smtClean="0"/>
              <a:pPr/>
              <a:t>21-Feb-23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542CD-9A58-4A2A-A626-496AF398B07A}" type="datetime1">
              <a:rPr lang="en-US" smtClean="0"/>
              <a:pPr/>
              <a:t>21-Feb-23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54EAB5B0-AB84-48D4-BAFB-665F1E7B35E0}" type="datetime1">
              <a:rPr lang="en-US" smtClean="0"/>
              <a:pPr/>
              <a:t>21-Feb-23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wilsons-theorem/" TargetMode="External"/><Relationship Id="rId2" Type="http://schemas.openxmlformats.org/officeDocument/2006/relationships/hyperlink" Target="https://en.wikipedia.org/wiki/Goldbach%27s_conjectur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21709"/>
            <a:ext cx="7808976" cy="1088136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+mn-lt"/>
              </a:rPr>
              <a:t>Primes and Greatest Common Divisors </a:t>
            </a:r>
            <a:endParaRPr lang="en-US" sz="3200" b="1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1204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936963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Discrete Mathematics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2920" y="2320124"/>
            <a:ext cx="8234223" cy="3889612"/>
          </a:xfrm>
        </p:spPr>
        <p:txBody>
          <a:bodyPr>
            <a:noAutofit/>
          </a:bodyPr>
          <a:lstStyle/>
          <a:p>
            <a:pPr marL="274320" indent="-274320">
              <a:spcBef>
                <a:spcPts val="600"/>
              </a:spcBef>
            </a:pPr>
            <a:r>
              <a:rPr lang="en-US" altLang="zh-TW" sz="2800" b="1" dirty="0">
                <a:solidFill>
                  <a:schemeClr val="tx1"/>
                </a:solidFill>
              </a:rPr>
              <a:t>3.5 Primes and Greatest Common Divisors </a:t>
            </a:r>
            <a:endParaRPr lang="en-US" sz="2800" b="1" dirty="0">
              <a:solidFill>
                <a:schemeClr val="tx1"/>
              </a:solidFill>
            </a:endParaRPr>
          </a:p>
          <a:p>
            <a:pPr marL="548640" indent="-274320">
              <a:buClrTx/>
              <a:buFont typeface="Arial" pitchFamily="34" charset="0"/>
              <a:buChar char="•"/>
            </a:pPr>
            <a:r>
              <a:rPr lang="en-US" altLang="zh-TW" sz="2800" dirty="0">
                <a:solidFill>
                  <a:schemeClr val="tx1"/>
                </a:solidFill>
              </a:rPr>
              <a:t>Prime and Composite numbers</a:t>
            </a:r>
          </a:p>
          <a:p>
            <a:pPr marL="548640" indent="-274320">
              <a:buClrTx/>
              <a:buFont typeface="Arial" pitchFamily="34" charset="0"/>
              <a:buChar char="•"/>
            </a:pPr>
            <a:r>
              <a:rPr lang="en-US" altLang="zh-TW" sz="2800" dirty="0">
                <a:solidFill>
                  <a:schemeClr val="tx1"/>
                </a:solidFill>
              </a:rPr>
              <a:t>Fundamental Theorem of Arithmetic</a:t>
            </a:r>
          </a:p>
          <a:p>
            <a:pPr marL="548640" indent="-274320">
              <a:buClrTx/>
              <a:buFont typeface="Arial" pitchFamily="34" charset="0"/>
              <a:buChar char="•"/>
            </a:pPr>
            <a:r>
              <a:rPr lang="en-US" altLang="zh-TW" sz="2800" dirty="0">
                <a:solidFill>
                  <a:schemeClr val="tx1"/>
                </a:solidFill>
              </a:rPr>
              <a:t>Greatest Common Divisors (gcd)</a:t>
            </a:r>
          </a:p>
          <a:p>
            <a:pPr marL="548640" indent="-274320">
              <a:buClrTx/>
              <a:buFont typeface="Arial" pitchFamily="34" charset="0"/>
              <a:buChar char="•"/>
            </a:pPr>
            <a:r>
              <a:rPr lang="en-US" altLang="zh-TW" sz="2800" dirty="0">
                <a:solidFill>
                  <a:schemeClr val="tx1"/>
                </a:solidFill>
              </a:rPr>
              <a:t>Least Common Multiple (lcm)</a:t>
            </a:r>
          </a:p>
          <a:p>
            <a:pPr marL="548640" indent="-274320">
              <a:buClrTx/>
              <a:buFont typeface="Arial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Finding gcd &amp; lcm of two integers using Prime Factorization </a:t>
            </a:r>
            <a:endParaRPr lang="en-US" altLang="zh-TW" sz="2800" dirty="0">
              <a:solidFill>
                <a:schemeClr val="tx1"/>
              </a:solidFill>
            </a:endParaRPr>
          </a:p>
          <a:p>
            <a:pPr marL="274320" indent="-274320">
              <a:spcBef>
                <a:spcPts val="600"/>
              </a:spcBef>
              <a:buClrTx/>
            </a:pPr>
            <a:endParaRPr lang="en-US" altLang="zh-TW" sz="28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Objectives and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213" y="2156348"/>
            <a:ext cx="8665867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Bef>
                <a:spcPts val="6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Objectives</a:t>
            </a:r>
            <a:r>
              <a:rPr lang="en-US" sz="2400" dirty="0"/>
              <a:t>: To understand prime and composite numbers, greatest common divisor (gcd) and least common multiple (lcm), how to find gcd and lcm of two integers using prime factorization.</a:t>
            </a:r>
          </a:p>
          <a:p>
            <a:pPr marL="274320" indent="-274320">
              <a:spcBef>
                <a:spcPts val="600"/>
              </a:spcBef>
              <a:buClr>
                <a:srgbClr val="FF0000"/>
              </a:buClr>
            </a:pPr>
            <a:endParaRPr lang="en-US" sz="24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Outcomes</a:t>
            </a:r>
            <a:r>
              <a:rPr lang="en-US" sz="2400" dirty="0"/>
              <a:t>: Students are expected to be able explain the terms prime number, composite number, greatest common divisor, least common multiple; be able to determine whether an integer is prime or composite; be able to find the greatest common divisor and least common multiple of two integers using prime factorization.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12157" y="530893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Primes and Composite Numbers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A81312-5C4B-7848-B3B4-24870DFAA4C5}"/>
              </a:ext>
            </a:extLst>
          </p:cNvPr>
          <p:cNvSpPr/>
          <p:nvPr/>
        </p:nvSpPr>
        <p:spPr>
          <a:xfrm>
            <a:off x="507441" y="527107"/>
            <a:ext cx="77990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prime number </a:t>
            </a:r>
            <a:r>
              <a:rPr lang="en-US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an </a:t>
            </a:r>
            <a:r>
              <a:rPr lang="en-US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integer number above 1 that </a:t>
            </a:r>
            <a:r>
              <a:rPr lang="en-US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cannot</a:t>
            </a:r>
            <a:r>
              <a:rPr lang="en-US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be made by multiplying other integer numbers expect 1 and that number.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first few prime numbers are: 2, 3, 5, 7, 11, 13, 17, 19 and 23</a:t>
            </a:r>
          </a:p>
        </p:txBody>
      </p:sp>
      <p:pic>
        <p:nvPicPr>
          <p:cNvPr id="7" name="Picture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691E0071-E816-0346-8DB8-7718FDCC3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5636" y="1574977"/>
            <a:ext cx="8312727" cy="3105144"/>
          </a:xfrm>
          <a:prstGeom prst="rect">
            <a:avLst/>
          </a:prstGeom>
        </p:spPr>
      </p:pic>
      <p:pic>
        <p:nvPicPr>
          <p:cNvPr id="9" name="Picture 8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1745DCFC-495C-B641-A57E-BF921CDB5B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119" y="5111873"/>
            <a:ext cx="8312728" cy="10957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12157" y="530893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Primes and Composite Numbers</a:t>
            </a:r>
            <a:endParaRPr lang="en-US" sz="40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9453" y="2052848"/>
            <a:ext cx="8515739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u="sng" dirty="0">
                <a:solidFill>
                  <a:srgbClr val="FF0000"/>
                </a:solidFill>
              </a:rPr>
              <a:t>Definition 1</a:t>
            </a:r>
            <a:r>
              <a:rPr lang="en-US" altLang="zh-TW" sz="2800" dirty="0">
                <a:solidFill>
                  <a:srgbClr val="FF0000"/>
                </a:solidFill>
              </a:rPr>
              <a:t>: </a:t>
            </a:r>
            <a:r>
              <a:rPr lang="en-US" altLang="zh-TW" sz="2800" dirty="0"/>
              <a:t>A positive integer </a:t>
            </a:r>
            <a:r>
              <a:rPr lang="en-US" altLang="zh-TW" sz="2800" i="1" dirty="0"/>
              <a:t>p</a:t>
            </a:r>
            <a:r>
              <a:rPr lang="en-US" altLang="zh-TW" sz="2800" dirty="0"/>
              <a:t> greater than 1 is called </a:t>
            </a:r>
            <a:r>
              <a:rPr lang="en-US" altLang="zh-TW" sz="2800" b="1" i="1" dirty="0"/>
              <a:t>prime</a:t>
            </a:r>
            <a:r>
              <a:rPr lang="en-US" altLang="zh-TW" sz="2800" dirty="0"/>
              <a:t> if the only positive factors of </a:t>
            </a:r>
            <a:r>
              <a:rPr lang="en-US" altLang="zh-TW" sz="2800" i="1" dirty="0"/>
              <a:t>p</a:t>
            </a:r>
            <a:r>
              <a:rPr lang="en-US" altLang="zh-TW" sz="2800" dirty="0"/>
              <a:t> are 1 and </a:t>
            </a:r>
            <a:r>
              <a:rPr lang="en-US" altLang="zh-TW" sz="2800" i="1" dirty="0"/>
              <a:t>p</a:t>
            </a:r>
            <a:r>
              <a:rPr lang="en-US" altLang="zh-TW" sz="2800" dirty="0"/>
              <a:t>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A positive integer that is greater than 1 and is not prime is called </a:t>
            </a:r>
            <a:r>
              <a:rPr lang="en-US" altLang="zh-TW" sz="2800" b="1" i="1" dirty="0"/>
              <a:t>composite</a:t>
            </a:r>
            <a:r>
              <a:rPr lang="en-US" altLang="zh-TW" sz="2800" dirty="0"/>
              <a:t>.</a:t>
            </a:r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800" dirty="0">
              <a:solidFill>
                <a:srgbClr val="0000FF"/>
              </a:solidFill>
            </a:endParaRPr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u="sng" dirty="0">
                <a:solidFill>
                  <a:srgbClr val="FF0000"/>
                </a:solidFill>
              </a:rPr>
              <a:t>Note: </a:t>
            </a:r>
            <a:r>
              <a:rPr lang="en-US" altLang="zh-TW" sz="2800" dirty="0">
                <a:solidFill>
                  <a:srgbClr val="0000FF"/>
                </a:solidFill>
              </a:rPr>
              <a:t>The integer </a:t>
            </a:r>
            <a:r>
              <a:rPr lang="en-US" altLang="zh-TW" sz="2800" i="1" dirty="0">
                <a:solidFill>
                  <a:srgbClr val="0000FF"/>
                </a:solidFill>
              </a:rPr>
              <a:t>n</a:t>
            </a:r>
            <a:r>
              <a:rPr lang="en-US" altLang="zh-TW" sz="2800" dirty="0">
                <a:solidFill>
                  <a:srgbClr val="0000FF"/>
                </a:solidFill>
              </a:rPr>
              <a:t> is composite if and only if there exists an integer </a:t>
            </a:r>
            <a:r>
              <a:rPr lang="en-US" altLang="zh-TW" sz="2800" i="1" dirty="0">
                <a:solidFill>
                  <a:srgbClr val="0000FF"/>
                </a:solidFill>
              </a:rPr>
              <a:t>a</a:t>
            </a:r>
            <a:r>
              <a:rPr lang="en-US" altLang="zh-TW" sz="2800" dirty="0">
                <a:solidFill>
                  <a:srgbClr val="0000FF"/>
                </a:solidFill>
              </a:rPr>
              <a:t> such that </a:t>
            </a:r>
            <a:r>
              <a:rPr lang="en-US" altLang="zh-TW" sz="2800" i="1" dirty="0" err="1">
                <a:solidFill>
                  <a:srgbClr val="0000FF"/>
                </a:solidFill>
              </a:rPr>
              <a:t>a</a:t>
            </a:r>
            <a:r>
              <a:rPr lang="en-US" altLang="zh-TW" sz="2800" dirty="0" err="1">
                <a:solidFill>
                  <a:srgbClr val="0000FF"/>
                </a:solidFill>
              </a:rPr>
              <a:t>|</a:t>
            </a:r>
            <a:r>
              <a:rPr lang="en-US" altLang="zh-TW" sz="2800" i="1" dirty="0" err="1">
                <a:solidFill>
                  <a:srgbClr val="0000FF"/>
                </a:solidFill>
              </a:rPr>
              <a:t>n</a:t>
            </a:r>
            <a:r>
              <a:rPr lang="en-US" altLang="zh-TW" sz="2800" dirty="0">
                <a:solidFill>
                  <a:srgbClr val="0000FF"/>
                </a:solidFill>
              </a:rPr>
              <a:t> and 1 &lt; </a:t>
            </a:r>
            <a:r>
              <a:rPr lang="en-US" altLang="zh-TW" sz="2800" i="1" dirty="0">
                <a:solidFill>
                  <a:srgbClr val="0000FF"/>
                </a:solidFill>
              </a:rPr>
              <a:t>a </a:t>
            </a:r>
            <a:r>
              <a:rPr lang="en-US" altLang="zh-TW" sz="2800" dirty="0">
                <a:solidFill>
                  <a:srgbClr val="0000FF"/>
                </a:solidFill>
              </a:rPr>
              <a:t>&lt; </a:t>
            </a:r>
            <a:r>
              <a:rPr lang="en-US" altLang="zh-TW" sz="2800" i="1" dirty="0">
                <a:solidFill>
                  <a:srgbClr val="0000FF"/>
                </a:solidFill>
              </a:rPr>
              <a:t>n.</a:t>
            </a:r>
            <a:endParaRPr lang="en-US" altLang="zh-TW" sz="2800" i="1" u="sng" dirty="0">
              <a:solidFill>
                <a:srgbClr val="0000FF"/>
              </a:solidFill>
            </a:endParaRP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u="sng" dirty="0">
                <a:solidFill>
                  <a:srgbClr val="FF0000"/>
                </a:solidFill>
              </a:rPr>
              <a:t>Theorem 3</a:t>
            </a:r>
            <a:r>
              <a:rPr lang="en-US" altLang="zh-TW" sz="2800" dirty="0">
                <a:solidFill>
                  <a:srgbClr val="FF0000"/>
                </a:solidFill>
              </a:rPr>
              <a:t>: </a:t>
            </a:r>
            <a:r>
              <a:rPr lang="en-US" altLang="zh-TW" sz="2800" dirty="0"/>
              <a:t>There are infinitely many primes. </a:t>
            </a:r>
            <a:endParaRPr lang="en-US" altLang="zh-TW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593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b="1" dirty="0">
                <a:latin typeface="+mn-lt"/>
              </a:rPr>
              <a:t>Example 1 (p. 223)</a:t>
            </a:r>
            <a:endParaRPr lang="en-US" sz="4000" b="1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4861" y="2210637"/>
            <a:ext cx="8515739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The integer 7 is prime because its only positive factors are 1 and 7, whereas the integer 9 is composite because it is divisible by 3.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>
                <a:solidFill>
                  <a:srgbClr val="FF0000"/>
                </a:solidFill>
              </a:rPr>
              <a:t>Question: What are the primes less than 100?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12157" y="530893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Primes and Composite Numbers</a:t>
            </a:r>
            <a:endParaRPr lang="en-US" sz="4000" dirty="0">
              <a:latin typeface="+mn-lt"/>
            </a:endParaRPr>
          </a:p>
        </p:txBody>
      </p:sp>
      <p:pic>
        <p:nvPicPr>
          <p:cNvPr id="6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5E204DE7-3ADA-6945-A33C-D8E43C24FB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466" y="159559"/>
            <a:ext cx="7130885" cy="624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860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43917" y="571837"/>
            <a:ext cx="7808976" cy="1088136"/>
          </a:xfrm>
        </p:spPr>
        <p:txBody>
          <a:bodyPr>
            <a:normAutofit/>
          </a:bodyPr>
          <a:lstStyle/>
          <a:p>
            <a:r>
              <a:rPr lang="en-US" altLang="zh-TW" sz="3600" b="1" dirty="0">
                <a:latin typeface="+mn-lt"/>
              </a:rPr>
              <a:t>Fundamental Theorem of Arithmetic</a:t>
            </a:r>
            <a:endParaRPr lang="en-US" sz="3600" b="1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3917" y="2102378"/>
            <a:ext cx="8693163" cy="43581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u="sng" dirty="0">
                <a:solidFill>
                  <a:srgbClr val="FF0000"/>
                </a:solidFill>
              </a:rPr>
              <a:t>Theorem 1</a:t>
            </a:r>
            <a:r>
              <a:rPr lang="en-US" altLang="zh-TW" sz="2400" dirty="0">
                <a:solidFill>
                  <a:srgbClr val="FF0000"/>
                </a:solidFill>
              </a:rPr>
              <a:t>(Fundamental Theorem of Arithmetic): </a:t>
            </a:r>
            <a:r>
              <a:rPr lang="en-US" altLang="zh-TW" sz="2400" dirty="0"/>
              <a:t>Every positive integer greater than 1 can be written uniquely as a prime or as the product of two or more primes where the prime factors are written in order of non-decreasing size.</a:t>
            </a:r>
          </a:p>
          <a:p>
            <a:pPr marL="274320" indent="-274320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endParaRPr lang="en-US" altLang="en-US" sz="2400" dirty="0">
              <a:solidFill>
                <a:srgbClr val="FF0000"/>
              </a:solidFill>
            </a:endParaRPr>
          </a:p>
          <a:p>
            <a:pPr marL="274320" indent="-274320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en-US" sz="2400" dirty="0">
                <a:solidFill>
                  <a:srgbClr val="FF0000"/>
                </a:solidFill>
              </a:rPr>
              <a:t>Example 2 (p.224) : Prime factorization of 100, 641, 999, and 1024 are given by</a:t>
            </a:r>
          </a:p>
          <a:p>
            <a:pPr marL="731520" lvl="1" indent="-274320">
              <a:lnSpc>
                <a:spcPct val="90000"/>
              </a:lnSpc>
              <a:spcBef>
                <a:spcPts val="600"/>
              </a:spcBef>
            </a:pPr>
            <a:r>
              <a:rPr lang="en-US" altLang="en-US" sz="2400" dirty="0">
                <a:solidFill>
                  <a:srgbClr val="0000FF"/>
                </a:solidFill>
              </a:rPr>
              <a:t>	</a:t>
            </a:r>
            <a:r>
              <a:rPr lang="en-US" altLang="en-US" sz="2000" dirty="0"/>
              <a:t>100 = 2.2.5.5 = 2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.5</a:t>
            </a:r>
            <a:r>
              <a:rPr lang="en-US" altLang="en-US" sz="2000" baseline="30000" dirty="0"/>
              <a:t>2</a:t>
            </a:r>
            <a:endParaRPr lang="en-US" altLang="en-US" sz="2000" dirty="0"/>
          </a:p>
          <a:p>
            <a:pPr marL="731520" lvl="1" indent="-274320">
              <a:lnSpc>
                <a:spcPct val="90000"/>
              </a:lnSpc>
              <a:spcBef>
                <a:spcPts val="600"/>
              </a:spcBef>
            </a:pPr>
            <a:r>
              <a:rPr lang="en-US" altLang="en-US" sz="2000" dirty="0"/>
              <a:t>	641 = 641</a:t>
            </a:r>
          </a:p>
          <a:p>
            <a:pPr marL="731520" lvl="1" indent="-274320">
              <a:lnSpc>
                <a:spcPct val="90000"/>
              </a:lnSpc>
              <a:spcBef>
                <a:spcPts val="600"/>
              </a:spcBef>
            </a:pPr>
            <a:r>
              <a:rPr lang="en-US" altLang="en-US" sz="2000" dirty="0"/>
              <a:t>	999 = 3.3.3.37 = 3</a:t>
            </a:r>
            <a:r>
              <a:rPr lang="en-US" altLang="en-US" sz="2000" baseline="30000" dirty="0"/>
              <a:t>3</a:t>
            </a:r>
            <a:r>
              <a:rPr lang="en-US" altLang="en-US" sz="2000" dirty="0"/>
              <a:t>.37</a:t>
            </a:r>
          </a:p>
          <a:p>
            <a:pPr marL="731520" lvl="1" indent="-274320">
              <a:lnSpc>
                <a:spcPct val="90000"/>
              </a:lnSpc>
              <a:spcBef>
                <a:spcPts val="600"/>
              </a:spcBef>
            </a:pPr>
            <a:r>
              <a:rPr lang="en-US" altLang="en-US" sz="2000" dirty="0"/>
              <a:t>	1024 = 2.2.2.2.2.2.2.2.2.2 = 2</a:t>
            </a:r>
            <a:r>
              <a:rPr lang="en-US" altLang="en-US" sz="2000" baseline="30000" dirty="0"/>
              <a:t>10 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5E3EB-25C3-9F43-8B2E-4D2A9587D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432F8C-C105-F249-B009-151BCC63D920}"/>
              </a:ext>
            </a:extLst>
          </p:cNvPr>
          <p:cNvSpPr/>
          <p:nvPr/>
        </p:nvSpPr>
        <p:spPr>
          <a:xfrm>
            <a:off x="296114" y="949855"/>
            <a:ext cx="832565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73239"/>
                </a:solidFill>
                <a:latin typeface="urw-din"/>
              </a:rPr>
              <a:t>Two is the </a:t>
            </a:r>
            <a:r>
              <a:rPr lang="en-US" sz="2000" dirty="0">
                <a:solidFill>
                  <a:srgbClr val="273239"/>
                </a:solidFill>
                <a:highlight>
                  <a:srgbClr val="FFFF00"/>
                </a:highlight>
                <a:latin typeface="urw-din"/>
              </a:rPr>
              <a:t>only even Prime </a:t>
            </a:r>
            <a:r>
              <a:rPr lang="en-US" sz="2000" dirty="0">
                <a:solidFill>
                  <a:srgbClr val="273239"/>
                </a:solidFill>
                <a:latin typeface="urw-din"/>
              </a:rPr>
              <a:t>number.</a:t>
            </a:r>
          </a:p>
          <a:p>
            <a:pPr marL="342900" indent="-34290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73239"/>
                </a:solidFill>
                <a:latin typeface="urw-din"/>
              </a:rPr>
              <a:t>Every prime number can be </a:t>
            </a:r>
            <a:r>
              <a:rPr lang="en-US" sz="2000" dirty="0">
                <a:solidFill>
                  <a:srgbClr val="273239"/>
                </a:solidFill>
                <a:highlight>
                  <a:srgbClr val="FFFF00"/>
                </a:highlight>
                <a:latin typeface="urw-din"/>
              </a:rPr>
              <a:t>represented in form of 6n+1 or 6n-1 </a:t>
            </a:r>
            <a:r>
              <a:rPr lang="en-US" sz="2000" dirty="0">
                <a:solidFill>
                  <a:srgbClr val="273239"/>
                </a:solidFill>
                <a:latin typeface="urw-din"/>
              </a:rPr>
              <a:t>except the prime number 2 and 3, where n is a natural number.</a:t>
            </a:r>
          </a:p>
          <a:p>
            <a:pPr marL="342900" indent="-34290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73239"/>
                </a:solidFill>
                <a:highlight>
                  <a:srgbClr val="FFFF00"/>
                </a:highlight>
                <a:latin typeface="urw-din"/>
              </a:rPr>
              <a:t>Two and Three are only two consecutive </a:t>
            </a:r>
            <a:r>
              <a:rPr lang="en-US" sz="2000" dirty="0">
                <a:solidFill>
                  <a:srgbClr val="273239"/>
                </a:solidFill>
                <a:latin typeface="urw-din"/>
              </a:rPr>
              <a:t>natural numbers that are prime.</a:t>
            </a:r>
          </a:p>
          <a:p>
            <a:pPr marL="342900" indent="-34290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u="sng" dirty="0">
                <a:solidFill>
                  <a:srgbClr val="EC4E20"/>
                </a:solidFill>
                <a:latin typeface="urw-din"/>
                <a:hlinkClick r:id="rId2"/>
              </a:rPr>
              <a:t>Goldbach Conjecture: </a:t>
            </a:r>
            <a:r>
              <a:rPr lang="en-US" sz="2000" dirty="0">
                <a:solidFill>
                  <a:srgbClr val="273239"/>
                </a:solidFill>
                <a:latin typeface="urw-din"/>
              </a:rPr>
              <a:t>Every even </a:t>
            </a:r>
            <a:r>
              <a:rPr lang="en-US" sz="2000" dirty="0">
                <a:solidFill>
                  <a:srgbClr val="273239"/>
                </a:solidFill>
                <a:highlight>
                  <a:srgbClr val="FFFF00"/>
                </a:highlight>
                <a:latin typeface="urw-din"/>
              </a:rPr>
              <a:t>integer greater than 2 can be expressed as the sum of two primes</a:t>
            </a:r>
            <a:r>
              <a:rPr lang="en-US" sz="2000" dirty="0">
                <a:solidFill>
                  <a:srgbClr val="273239"/>
                </a:solidFill>
                <a:latin typeface="urw-din"/>
              </a:rPr>
              <a:t>. - </a:t>
            </a:r>
            <a:r>
              <a:rPr lang="en-US" dirty="0"/>
              <a:t>but remains unproven despite considerable effort</a:t>
            </a:r>
            <a:endParaRPr lang="en-US" sz="2000" dirty="0">
              <a:solidFill>
                <a:srgbClr val="273239"/>
              </a:solidFill>
              <a:latin typeface="urw-din"/>
            </a:endParaRPr>
          </a:p>
          <a:p>
            <a:pPr marL="342900" indent="-34290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u="sng" dirty="0">
                <a:solidFill>
                  <a:srgbClr val="EC4E20"/>
                </a:solidFill>
                <a:latin typeface="urw-din"/>
                <a:hlinkClick r:id="rId3"/>
              </a:rPr>
              <a:t>Wilson Theorem</a:t>
            </a:r>
            <a:r>
              <a:rPr lang="en-US" sz="2000" dirty="0">
                <a:solidFill>
                  <a:srgbClr val="273239"/>
                </a:solidFill>
                <a:latin typeface="urw-din"/>
              </a:rPr>
              <a:t>: Wilson’s theorem states that a natural number p &gt; 1 is a prime number if and only if</a:t>
            </a:r>
            <a:endParaRPr lang="en-US" sz="2000" b="0" i="0" u="none" strike="noStrike" dirty="0">
              <a:solidFill>
                <a:srgbClr val="273239"/>
              </a:solidFill>
              <a:effectLst/>
              <a:latin typeface="urw-di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7A8827-9F63-9D43-92C1-A807C95823EE}"/>
              </a:ext>
            </a:extLst>
          </p:cNvPr>
          <p:cNvSpPr txBox="1"/>
          <p:nvPr/>
        </p:nvSpPr>
        <p:spPr>
          <a:xfrm>
            <a:off x="697765" y="234719"/>
            <a:ext cx="7843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Interesting facts about prime numbers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5F646B-9E84-D140-8544-56C43565FBD5}"/>
              </a:ext>
            </a:extLst>
          </p:cNvPr>
          <p:cNvSpPr/>
          <p:nvPr/>
        </p:nvSpPr>
        <p:spPr>
          <a:xfrm>
            <a:off x="391587" y="5137159"/>
            <a:ext cx="84556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73239"/>
                </a:solidFill>
                <a:latin typeface="urw-din"/>
              </a:rPr>
              <a:t>How we check whether a number is Prime or not?</a:t>
            </a:r>
            <a:r>
              <a:rPr lang="en-US" dirty="0">
                <a:solidFill>
                  <a:srgbClr val="273239"/>
                </a:solidFill>
                <a:latin typeface="urw-din"/>
              </a:rPr>
              <a:t>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73239"/>
                </a:solidFill>
                <a:latin typeface="urw-din"/>
              </a:rPr>
              <a:t>Naive solution: </a:t>
            </a:r>
            <a:r>
              <a:rPr lang="en-US" dirty="0">
                <a:solidFill>
                  <a:srgbClr val="273239"/>
                </a:solidFill>
                <a:latin typeface="urw-din"/>
              </a:rPr>
              <a:t>A naive solution is to iterate through all numbers from 2 to sqrt(n) and for every number check if it divides n. If we find any number that divides, we return false.</a:t>
            </a:r>
            <a:endParaRPr lang="en-US" b="0" i="0" u="none" strike="noStrike" dirty="0">
              <a:solidFill>
                <a:srgbClr val="273239"/>
              </a:solidFill>
              <a:effectLst/>
              <a:latin typeface="urw-di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853F17-0D44-7741-A7FF-19B5CDA0DF55}"/>
              </a:ext>
            </a:extLst>
          </p:cNvPr>
          <p:cNvSpPr/>
          <p:nvPr/>
        </p:nvSpPr>
        <p:spPr>
          <a:xfrm>
            <a:off x="2980540" y="3880982"/>
            <a:ext cx="3430307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(p - 1) ! ≡ -1 mod p </a:t>
            </a:r>
          </a:p>
          <a:p>
            <a:r>
              <a:rPr lang="en-US" sz="2000" dirty="0"/>
              <a:t>OR (p - 1) ! ≡ (p-1) mod p</a:t>
            </a:r>
          </a:p>
        </p:txBody>
      </p:sp>
    </p:spTree>
    <p:extLst>
      <p:ext uri="{BB962C8B-B14F-4D97-AF65-F5344CB8AC3E}">
        <p14:creationId xmlns:p14="http://schemas.microsoft.com/office/powerpoint/2010/main" val="866647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7147B-8DFB-8D4B-AD18-A64E0AEA3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F64189-3EA1-BF4E-9785-DFB89A49D43F}"/>
              </a:ext>
            </a:extLst>
          </p:cNvPr>
          <p:cNvSpPr/>
          <p:nvPr/>
        </p:nvSpPr>
        <p:spPr>
          <a:xfrm>
            <a:off x="206920" y="347227"/>
            <a:ext cx="8730160" cy="5863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are some </a:t>
            </a:r>
            <a:r>
              <a:rPr lang="en-US" sz="2000" dirty="0">
                <a:solidFill>
                  <a:srgbClr val="73AD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formulas </a:t>
            </a:r>
            <a:r>
              <a:rPr lang="en-US" sz="20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which can be used to find the primes. To 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 whether a large number is a prime number or not</a:t>
            </a:r>
            <a:r>
              <a:rPr lang="en-US" sz="20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follow the steps given below:</a:t>
            </a:r>
          </a:p>
          <a:p>
            <a:pPr>
              <a:spcBef>
                <a:spcPts val="600"/>
              </a:spcBef>
            </a:pPr>
            <a:endParaRPr lang="en-US" sz="2000" dirty="0">
              <a:solidFill>
                <a:srgbClr val="33333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Step 1: </a:t>
            </a:r>
            <a:r>
              <a:rPr lang="en-US" sz="19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 the units place of that number. If it ends with 0, 2, 4, 6 and 8, it is not a prime number.</a:t>
            </a:r>
            <a:r>
              <a:rPr lang="en-US" sz="19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/>
              <a:t>Note: “</a:t>
            </a:r>
            <a:r>
              <a:rPr lang="en-US" sz="1900" dirty="0"/>
              <a:t>Numbers ending with 0, 2, 4, 6 and 8 are never prime numbers.</a:t>
            </a:r>
            <a:r>
              <a:rPr lang="en-US" sz="1900" b="1" dirty="0"/>
              <a:t>”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b="1" dirty="0"/>
              <a:t>Step 2: </a:t>
            </a:r>
            <a:r>
              <a:rPr lang="en-US" sz="1900" dirty="0"/>
              <a:t>Take the sum of the digits of that number. If the sum is divisible by 3, the number is not a prime number. </a:t>
            </a:r>
            <a:r>
              <a:rPr lang="en-US" sz="1900" b="1" dirty="0"/>
              <a:t>Note: “</a:t>
            </a:r>
            <a:r>
              <a:rPr lang="en-US" sz="1900" dirty="0"/>
              <a:t>Numbers whose sum of digits are divisible by 3 are never prime numbers.</a:t>
            </a:r>
            <a:r>
              <a:rPr lang="en-US" sz="1900" b="1" dirty="0"/>
              <a:t>”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b="1" dirty="0"/>
              <a:t>Step 3: </a:t>
            </a:r>
            <a:r>
              <a:rPr lang="en-US" sz="1900" dirty="0"/>
              <a:t>After confirming the falsity of steps 1 and 2, find the square root of the given number.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b="1" dirty="0"/>
              <a:t>Step 4: </a:t>
            </a:r>
            <a:r>
              <a:rPr lang="en-US" sz="1900" dirty="0"/>
              <a:t>Divide the given number by all the prime numbers below its square root value.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b="1" dirty="0"/>
              <a:t>Step 5: </a:t>
            </a:r>
            <a:r>
              <a:rPr lang="en-US" sz="1900" dirty="0"/>
              <a:t>If the number is divisible by any of the prime numbers less than its square root, it is not a prime number; otherwise, it is prime.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b="1" dirty="0"/>
              <a:t>Exception:</a:t>
            </a:r>
            <a:r>
              <a:rPr lang="en-US" sz="1900" dirty="0"/>
              <a:t> If a large number is ending with 5, then it is always divisible by 5. Hence, it is not a prime number</a:t>
            </a:r>
            <a:endParaRPr lang="en-US" sz="1900" b="1" i="0" u="none" strike="noStrike" dirty="0">
              <a:solidFill>
                <a:srgbClr val="333333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851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53101" y="612781"/>
            <a:ext cx="7808976" cy="1088136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+mn-lt"/>
              </a:rPr>
              <a:t>Determining whether a given </a:t>
            </a:r>
            <a:br>
              <a:rPr lang="en-US" sz="3600" b="1" dirty="0">
                <a:latin typeface="+mn-lt"/>
              </a:rPr>
            </a:br>
            <a:r>
              <a:rPr lang="en-US" sz="3600" b="1" dirty="0">
                <a:latin typeface="+mn-lt"/>
              </a:rPr>
              <a:t>integer is Prime or Composite</a:t>
            </a:r>
            <a:endParaRPr lang="en-US" sz="36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3101" y="2119140"/>
            <a:ext cx="8583979" cy="3339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u="sng" dirty="0">
                <a:solidFill>
                  <a:srgbClr val="FF0000"/>
                </a:solidFill>
              </a:rPr>
              <a:t>Theorem 2</a:t>
            </a:r>
            <a:r>
              <a:rPr lang="en-US" altLang="zh-TW" sz="2800" dirty="0"/>
              <a:t>: If </a:t>
            </a:r>
            <a:r>
              <a:rPr lang="en-US" altLang="zh-TW" sz="2800" i="1" dirty="0"/>
              <a:t>n</a:t>
            </a:r>
            <a:r>
              <a:rPr lang="en-US" altLang="zh-TW" sz="2800" dirty="0"/>
              <a:t> is a </a:t>
            </a:r>
            <a:r>
              <a:rPr lang="en-US" altLang="zh-TW" sz="2800" b="1" dirty="0"/>
              <a:t>composite</a:t>
            </a:r>
            <a:r>
              <a:rPr lang="en-US" altLang="zh-TW" sz="2800" dirty="0"/>
              <a:t> integer, then </a:t>
            </a:r>
            <a:r>
              <a:rPr lang="en-US" altLang="zh-TW" sz="2800" i="1" dirty="0"/>
              <a:t>n</a:t>
            </a:r>
            <a:r>
              <a:rPr lang="en-US" altLang="zh-TW" sz="2800" dirty="0"/>
              <a:t> has a prime divisor less than or equal to √</a:t>
            </a:r>
            <a:r>
              <a:rPr lang="en-US" altLang="zh-TW" sz="2800" i="1" dirty="0"/>
              <a:t>n</a:t>
            </a:r>
            <a:r>
              <a:rPr lang="en-US" altLang="zh-TW" sz="2800" dirty="0"/>
              <a:t>.</a:t>
            </a:r>
            <a:endParaRPr lang="en-US" altLang="zh-TW" sz="2800" dirty="0">
              <a:solidFill>
                <a:srgbClr val="0000FF"/>
              </a:solidFill>
            </a:endParaRP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800" dirty="0">
              <a:solidFill>
                <a:srgbClr val="0000FF"/>
              </a:solidFill>
            </a:endParaRP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800" dirty="0">
              <a:solidFill>
                <a:srgbClr val="0000FF"/>
              </a:solidFill>
            </a:endParaRP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 From Theorem 2, it follows that </a:t>
            </a:r>
            <a:r>
              <a:rPr lang="en-US" sz="2800" u="sng" dirty="0"/>
              <a:t>an integer is prime if it is not divisible by any prime less than or equal to its square root.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12157" y="626429"/>
            <a:ext cx="7808976" cy="1088136"/>
          </a:xfrm>
        </p:spPr>
        <p:txBody>
          <a:bodyPr>
            <a:noAutofit/>
          </a:bodyPr>
          <a:lstStyle/>
          <a:p>
            <a:r>
              <a:rPr lang="en-US" sz="3600" b="1" dirty="0"/>
              <a:t>Determining whether a given </a:t>
            </a:r>
            <a:br>
              <a:rPr lang="en-US" sz="3600" b="1" dirty="0"/>
            </a:br>
            <a:r>
              <a:rPr lang="en-US" sz="3600" b="1" dirty="0"/>
              <a:t>integer is Prime or Composite</a:t>
            </a:r>
            <a:endParaRPr 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298509" y="2055982"/>
            <a:ext cx="8515739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Example 3 [p.224]: Show that 101 is prime.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200" b="1" u="sng" dirty="0">
                <a:solidFill>
                  <a:srgbClr val="0000FF"/>
                </a:solidFill>
              </a:rPr>
              <a:t>Solution</a:t>
            </a:r>
            <a:r>
              <a:rPr lang="en-US" sz="2200" dirty="0"/>
              <a:t>: The only primes not exceeding </a:t>
            </a:r>
            <a:r>
              <a:rPr lang="en-US" altLang="zh-TW" sz="2200" dirty="0"/>
              <a:t>√101 are 2, 3, 5, 7. Because 101 is not divisible by 2, 3, 5, or 7, it follows that </a:t>
            </a:r>
            <a:r>
              <a:rPr lang="en-US" altLang="zh-TW" sz="2200" b="1" dirty="0"/>
              <a:t>101 is prime</a:t>
            </a:r>
            <a:r>
              <a:rPr lang="en-US" altLang="zh-TW" sz="2200" dirty="0"/>
              <a:t>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200" dirty="0">
                <a:solidFill>
                  <a:srgbClr val="FF0000"/>
                </a:solidFill>
              </a:rPr>
              <a:t>Exercise 1(e)[p.230]: Determine whether 111 is prime.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200" b="1" u="sng" dirty="0">
                <a:solidFill>
                  <a:srgbClr val="0000FF"/>
                </a:solidFill>
              </a:rPr>
              <a:t>Solution</a:t>
            </a:r>
            <a:r>
              <a:rPr lang="en-US" sz="2200" dirty="0"/>
              <a:t>: The only primes not exceeding </a:t>
            </a:r>
            <a:r>
              <a:rPr lang="en-US" altLang="zh-TW" sz="2200" dirty="0"/>
              <a:t>√111 are 2, 3, 5, 7. Because 111 is divisible by 3, it follows that </a:t>
            </a:r>
            <a:r>
              <a:rPr lang="en-US" altLang="zh-TW" sz="2200" b="1" dirty="0"/>
              <a:t>111 is not prime</a:t>
            </a:r>
            <a:r>
              <a:rPr lang="en-US" altLang="zh-TW" sz="2200" dirty="0"/>
              <a:t>.</a:t>
            </a:r>
            <a:endParaRPr lang="en-US" altLang="zh-TW" sz="2200" dirty="0">
              <a:solidFill>
                <a:srgbClr val="FF0000"/>
              </a:solidFill>
            </a:endParaRP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200" dirty="0">
                <a:solidFill>
                  <a:srgbClr val="FF0000"/>
                </a:solidFill>
              </a:rPr>
              <a:t>Exercise 1(f)[p.230]: Determine whether 143 is prime.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zh-TW" sz="2200" b="1" u="sng" dirty="0">
                <a:solidFill>
                  <a:srgbClr val="0000FF"/>
                </a:solidFill>
              </a:rPr>
              <a:t>Solution</a:t>
            </a:r>
            <a:r>
              <a:rPr lang="en-US" altLang="zh-TW" sz="2200" b="1" dirty="0">
                <a:solidFill>
                  <a:srgbClr val="0000FF"/>
                </a:solidFill>
              </a:rPr>
              <a:t>: </a:t>
            </a:r>
            <a:r>
              <a:rPr lang="en-US" altLang="zh-TW" sz="2200" dirty="0"/>
              <a:t>The</a:t>
            </a:r>
            <a:r>
              <a:rPr lang="en-US" altLang="zh-TW" sz="2200" b="1" dirty="0"/>
              <a:t> </a:t>
            </a:r>
            <a:r>
              <a:rPr lang="en-US" sz="2200" dirty="0"/>
              <a:t>only primes not exceeding </a:t>
            </a:r>
            <a:r>
              <a:rPr lang="en-US" altLang="zh-TW" sz="2200" dirty="0"/>
              <a:t>√143 are 2, 3, 5, 7,11. Because 143 is divisible by 11, it follows that </a:t>
            </a:r>
            <a:r>
              <a:rPr lang="en-US" altLang="zh-TW" sz="2200" b="1" dirty="0"/>
              <a:t>143 is not prime</a:t>
            </a:r>
            <a:r>
              <a:rPr lang="en-US" altLang="zh-TW" sz="2200" dirty="0"/>
              <a:t>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200" u="sng" dirty="0">
                <a:solidFill>
                  <a:srgbClr val="FF0000"/>
                </a:solidFill>
              </a:rPr>
              <a:t>Extra example</a:t>
            </a:r>
            <a:r>
              <a:rPr lang="en-US" altLang="zh-TW" sz="2200" dirty="0">
                <a:solidFill>
                  <a:srgbClr val="FF0000"/>
                </a:solidFill>
              </a:rPr>
              <a:t>: Test if 139 is prime. </a:t>
            </a:r>
            <a:endParaRPr lang="en-US" altLang="zh-TW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7147B-8DFB-8D4B-AD18-A64E0AEA3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4F4678BC-2BB9-6343-80D5-00C900A83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615" y="347227"/>
            <a:ext cx="6870023" cy="2959260"/>
          </a:xfrm>
          <a:prstGeom prst="rect">
            <a:avLst/>
          </a:prstGeom>
        </p:spPr>
      </p:pic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CCA8628-3FE0-B747-8AAB-52BDFFAFE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5636" y="3850543"/>
            <a:ext cx="8312727" cy="236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715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39453" y="585485"/>
            <a:ext cx="7808976" cy="1088136"/>
          </a:xfrm>
        </p:spPr>
        <p:txBody>
          <a:bodyPr>
            <a:normAutofit/>
          </a:bodyPr>
          <a:lstStyle/>
          <a:p>
            <a:r>
              <a:rPr lang="en-US" altLang="zh-TW" sz="4000" b="1" dirty="0">
                <a:latin typeface="+mn-lt"/>
              </a:rPr>
              <a:t>Greatest Common Divisor(gcd)</a:t>
            </a:r>
            <a:endParaRPr lang="en-US" sz="4000" b="1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4861" y="2045049"/>
            <a:ext cx="859762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b="1" u="sng" dirty="0">
                <a:solidFill>
                  <a:srgbClr val="FF0000"/>
                </a:solidFill>
              </a:rPr>
              <a:t>Definition 2</a:t>
            </a:r>
            <a:r>
              <a:rPr lang="en-US" altLang="zh-TW" sz="2800" dirty="0"/>
              <a:t>: Let a and b be integers, not both zero. The </a:t>
            </a:r>
            <a:r>
              <a:rPr lang="en-US" altLang="zh-TW" sz="2800" dirty="0">
                <a:solidFill>
                  <a:srgbClr val="0000FF"/>
                </a:solidFill>
              </a:rPr>
              <a:t>largest integer </a:t>
            </a:r>
            <a:r>
              <a:rPr lang="en-US" altLang="zh-TW" sz="2800" i="1" dirty="0">
                <a:solidFill>
                  <a:srgbClr val="0000FF"/>
                </a:solidFill>
              </a:rPr>
              <a:t>d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dirty="0"/>
              <a:t>such that </a:t>
            </a:r>
            <a:r>
              <a:rPr lang="en-US" altLang="zh-TW" sz="2800" i="1" dirty="0"/>
              <a:t>d </a:t>
            </a:r>
            <a:r>
              <a:rPr lang="en-US" altLang="zh-TW" sz="2800" dirty="0"/>
              <a:t>| </a:t>
            </a:r>
            <a:r>
              <a:rPr lang="en-US" altLang="zh-TW" sz="2800" i="1" dirty="0"/>
              <a:t>a</a:t>
            </a:r>
            <a:r>
              <a:rPr lang="en-US" altLang="zh-TW" sz="2800" dirty="0"/>
              <a:t> and </a:t>
            </a:r>
            <a:r>
              <a:rPr lang="en-US" altLang="zh-TW" sz="2800" i="1" dirty="0"/>
              <a:t>d </a:t>
            </a:r>
            <a:r>
              <a:rPr lang="en-US" altLang="zh-TW" sz="2800" dirty="0"/>
              <a:t>| </a:t>
            </a:r>
            <a:r>
              <a:rPr lang="en-US" altLang="zh-TW" sz="2800" i="1" dirty="0"/>
              <a:t>b</a:t>
            </a:r>
            <a:r>
              <a:rPr lang="en-US" altLang="zh-TW" sz="2800" dirty="0"/>
              <a:t> is called the </a:t>
            </a:r>
            <a:r>
              <a:rPr lang="en-US" altLang="zh-TW" sz="2800" i="1" dirty="0">
                <a:solidFill>
                  <a:srgbClr val="0000FF"/>
                </a:solidFill>
              </a:rPr>
              <a:t>greatest common divisor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dirty="0"/>
              <a:t>of </a:t>
            </a:r>
            <a:r>
              <a:rPr lang="en-US" altLang="zh-TW" sz="2800" i="1" dirty="0"/>
              <a:t>a</a:t>
            </a:r>
            <a:r>
              <a:rPr lang="en-US" altLang="zh-TW" sz="2800" dirty="0"/>
              <a:t> and </a:t>
            </a:r>
            <a:r>
              <a:rPr lang="en-US" altLang="zh-TW" sz="2800" i="1" dirty="0"/>
              <a:t>b</a:t>
            </a:r>
            <a:r>
              <a:rPr lang="en-US" altLang="zh-TW" sz="2800" dirty="0"/>
              <a:t>. 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dirty="0"/>
              <a:t>The </a:t>
            </a:r>
            <a:r>
              <a:rPr lang="en-US" altLang="zh-TW" sz="2400" i="1" dirty="0"/>
              <a:t>greatest common divisor</a:t>
            </a:r>
            <a:r>
              <a:rPr lang="en-US" altLang="zh-TW" sz="2400" dirty="0"/>
              <a:t> of </a:t>
            </a:r>
            <a:r>
              <a:rPr lang="en-US" altLang="zh-TW" sz="2400" i="1" dirty="0"/>
              <a:t>a</a:t>
            </a:r>
            <a:r>
              <a:rPr lang="en-US" altLang="zh-TW" sz="2400" dirty="0"/>
              <a:t> and </a:t>
            </a:r>
            <a:r>
              <a:rPr lang="en-US" altLang="zh-TW" sz="2400" i="1" dirty="0"/>
              <a:t>b</a:t>
            </a:r>
            <a:r>
              <a:rPr lang="en-US" altLang="zh-TW" sz="2400" dirty="0"/>
              <a:t> is denoted by </a:t>
            </a:r>
            <a:r>
              <a:rPr lang="en-US" altLang="zh-TW" sz="2400" dirty="0">
                <a:solidFill>
                  <a:srgbClr val="0000FF"/>
                </a:solidFill>
              </a:rPr>
              <a:t>gcd(</a:t>
            </a:r>
            <a:r>
              <a:rPr lang="en-US" altLang="zh-TW" sz="2400" i="1" dirty="0">
                <a:solidFill>
                  <a:srgbClr val="0000FF"/>
                </a:solidFill>
              </a:rPr>
              <a:t>a</a:t>
            </a:r>
            <a:r>
              <a:rPr lang="en-US" altLang="zh-TW" sz="2400" dirty="0">
                <a:solidFill>
                  <a:srgbClr val="0000FF"/>
                </a:solidFill>
              </a:rPr>
              <a:t>, </a:t>
            </a:r>
            <a:r>
              <a:rPr lang="en-US" altLang="zh-TW" sz="2400" i="1" dirty="0">
                <a:solidFill>
                  <a:srgbClr val="0000FF"/>
                </a:solidFill>
              </a:rPr>
              <a:t>b</a:t>
            </a:r>
            <a:r>
              <a:rPr lang="en-US" altLang="zh-TW" sz="2400" dirty="0">
                <a:solidFill>
                  <a:srgbClr val="0000FF"/>
                </a:solidFill>
              </a:rPr>
              <a:t>)</a:t>
            </a:r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400" dirty="0">
              <a:solidFill>
                <a:srgbClr val="0000FF"/>
              </a:solidFill>
            </a:endParaRP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u="sng" dirty="0">
                <a:solidFill>
                  <a:srgbClr val="FF3300"/>
                </a:solidFill>
              </a:rPr>
              <a:t>Example 10 (p.228)</a:t>
            </a:r>
            <a:r>
              <a:rPr lang="en-US" sz="2800" dirty="0">
                <a:solidFill>
                  <a:srgbClr val="FF3300"/>
                </a:solidFill>
              </a:rPr>
              <a:t>: What is the</a:t>
            </a:r>
            <a:r>
              <a:rPr lang="en-US" altLang="zh-TW" sz="2800" dirty="0">
                <a:solidFill>
                  <a:srgbClr val="FF3300"/>
                </a:solidFill>
              </a:rPr>
              <a:t> greatest common divisor of 24 and 36?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u="sng" dirty="0">
                <a:solidFill>
                  <a:srgbClr val="0000FF"/>
                </a:solidFill>
                <a:ea typeface="新細明體" pitchFamily="18" charset="-120"/>
              </a:rPr>
              <a:t>Solution</a:t>
            </a:r>
            <a:r>
              <a:rPr lang="en-US" sz="2800" dirty="0">
                <a:ea typeface="新細明體" pitchFamily="18" charset="-120"/>
              </a:rPr>
              <a:t>: </a:t>
            </a:r>
            <a:r>
              <a:rPr lang="en-US" sz="2800" dirty="0"/>
              <a:t> The positive common divisors of 24 and 36 are 1, 2, 3, 4, 6, and 12. Hence </a:t>
            </a:r>
            <a:r>
              <a:rPr lang="en-US" sz="2800" b="1" dirty="0"/>
              <a:t>gcd(24,36) = 12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Relatively Prime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3899" y="2038783"/>
            <a:ext cx="8529851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zh-TW" sz="2800" u="sng" dirty="0">
                <a:solidFill>
                  <a:srgbClr val="FF0000"/>
                </a:solidFill>
              </a:rPr>
              <a:t>Definition 3</a:t>
            </a:r>
            <a:r>
              <a:rPr lang="en-US" altLang="zh-TW" sz="2800" dirty="0"/>
              <a:t>: The integers </a:t>
            </a:r>
            <a:r>
              <a:rPr lang="en-US" altLang="zh-TW" sz="2800" i="1" dirty="0"/>
              <a:t>a</a:t>
            </a:r>
            <a:r>
              <a:rPr lang="en-US" altLang="zh-TW" sz="2800" dirty="0"/>
              <a:t> and </a:t>
            </a:r>
            <a:r>
              <a:rPr lang="en-US" altLang="zh-TW" sz="2800" i="1" dirty="0"/>
              <a:t>b</a:t>
            </a:r>
            <a:r>
              <a:rPr lang="en-US" altLang="zh-TW" sz="2800" dirty="0"/>
              <a:t> are </a:t>
            </a:r>
            <a:r>
              <a:rPr lang="en-US" altLang="zh-TW" sz="2800" b="1" i="1" dirty="0"/>
              <a:t>relatively</a:t>
            </a:r>
            <a:r>
              <a:rPr lang="en-US" altLang="zh-TW" sz="2800" i="1" dirty="0"/>
              <a:t> </a:t>
            </a:r>
            <a:r>
              <a:rPr lang="en-US" altLang="zh-TW" sz="2800" b="1" i="1" dirty="0"/>
              <a:t>prime</a:t>
            </a:r>
            <a:r>
              <a:rPr lang="en-US" altLang="zh-TW" sz="2800" dirty="0"/>
              <a:t> if their gcd is 1.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Example 11 (p.228): What is the gcd of 17 and 22?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u="sng" dirty="0">
                <a:solidFill>
                  <a:srgbClr val="0000FF"/>
                </a:solidFill>
              </a:rPr>
              <a:t>Solution</a:t>
            </a:r>
            <a:r>
              <a:rPr lang="en-US" sz="2800" dirty="0">
                <a:solidFill>
                  <a:srgbClr val="C00000"/>
                </a:solidFill>
              </a:rPr>
              <a:t>: </a:t>
            </a:r>
            <a:r>
              <a:rPr lang="en-US" sz="2800" dirty="0"/>
              <a:t>The integers 17 and 22 have no positive common divisors other than 1, so that gcd(17,22) = 1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By Example 11, it follows that the integers </a:t>
            </a:r>
            <a:r>
              <a:rPr lang="en-US" sz="2800" dirty="0">
                <a:solidFill>
                  <a:srgbClr val="0000FF"/>
                </a:solidFill>
              </a:rPr>
              <a:t>17 &amp; 22 are </a:t>
            </a:r>
            <a:r>
              <a:rPr lang="en-US" sz="2800" b="1" dirty="0">
                <a:solidFill>
                  <a:srgbClr val="0000FF"/>
                </a:solidFill>
              </a:rPr>
              <a:t>relatively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b="1" dirty="0">
                <a:solidFill>
                  <a:srgbClr val="0000FF"/>
                </a:solidFill>
              </a:rPr>
              <a:t>prime</a:t>
            </a:r>
            <a:r>
              <a:rPr lang="en-US" sz="2800" dirty="0"/>
              <a:t>, because gcd(17,22) = 1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14A24-123B-9B46-BABA-103E8A399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3316A73C-AAE4-4E4D-9D56-BE4CC8B87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5636" y="347227"/>
            <a:ext cx="8312728" cy="2505647"/>
          </a:xfrm>
          <a:prstGeom prst="rect">
            <a:avLst/>
          </a:prstGeom>
        </p:spPr>
      </p:pic>
      <p:pic>
        <p:nvPicPr>
          <p:cNvPr id="8" name="Picture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13700507-68BE-6748-9379-DF01A2989F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9694" y="3121315"/>
            <a:ext cx="7557025" cy="2036784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47ECA71-4CF0-2147-ADE0-C98A8662F5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9695" y="4891652"/>
            <a:ext cx="7557025" cy="103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41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39453" y="544541"/>
            <a:ext cx="7808976" cy="1088136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b="1" dirty="0">
                <a:latin typeface="+mn-lt"/>
              </a:rPr>
              <a:t>Least Common Multiple(lcm)</a:t>
            </a:r>
            <a:endParaRPr lang="en-US" sz="4000" b="1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4733" y="2159108"/>
            <a:ext cx="859762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zh-TW" sz="2800" u="sng" dirty="0">
                <a:solidFill>
                  <a:srgbClr val="FF0000"/>
                </a:solidFill>
              </a:rPr>
              <a:t>Definition 5</a:t>
            </a:r>
            <a:r>
              <a:rPr lang="en-US" altLang="zh-TW" sz="2800" dirty="0"/>
              <a:t>: The </a:t>
            </a:r>
            <a:r>
              <a:rPr lang="en-US" altLang="zh-TW" sz="2800" i="1" dirty="0">
                <a:solidFill>
                  <a:srgbClr val="0000FF"/>
                </a:solidFill>
              </a:rPr>
              <a:t>least common multiple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dirty="0"/>
              <a:t>of positive integers </a:t>
            </a:r>
            <a:r>
              <a:rPr lang="en-US" altLang="zh-TW" sz="2800" i="1" dirty="0"/>
              <a:t>a</a:t>
            </a:r>
            <a:r>
              <a:rPr lang="en-US" altLang="zh-TW" sz="2800" dirty="0"/>
              <a:t> and </a:t>
            </a:r>
            <a:r>
              <a:rPr lang="en-US" altLang="zh-TW" sz="2800" i="1" dirty="0"/>
              <a:t>b</a:t>
            </a:r>
            <a:r>
              <a:rPr lang="en-US" altLang="zh-TW" sz="2800" dirty="0"/>
              <a:t> is the </a:t>
            </a:r>
            <a:r>
              <a:rPr lang="en-US" altLang="zh-TW" sz="2800" dirty="0">
                <a:solidFill>
                  <a:srgbClr val="0000FF"/>
                </a:solidFill>
              </a:rPr>
              <a:t>smallest positive integer </a:t>
            </a:r>
            <a:r>
              <a:rPr lang="en-US" altLang="zh-TW" sz="2800" dirty="0"/>
              <a:t>that is divisible by both </a:t>
            </a:r>
            <a:r>
              <a:rPr lang="en-US" altLang="zh-TW" sz="2800" i="1" dirty="0"/>
              <a:t>a</a:t>
            </a:r>
            <a:r>
              <a:rPr lang="en-US" altLang="zh-TW" sz="2800" dirty="0"/>
              <a:t> and </a:t>
            </a:r>
            <a:r>
              <a:rPr lang="en-US" altLang="zh-TW" sz="2800" i="1" dirty="0"/>
              <a:t>b</a:t>
            </a:r>
            <a:r>
              <a:rPr lang="en-US" altLang="zh-TW" sz="2800" dirty="0"/>
              <a:t>. 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dirty="0"/>
              <a:t>The least common multiple of </a:t>
            </a:r>
            <a:r>
              <a:rPr lang="en-US" altLang="zh-TW" sz="2400" i="1" dirty="0"/>
              <a:t>a</a:t>
            </a:r>
            <a:r>
              <a:rPr lang="en-US" altLang="zh-TW" sz="2400" dirty="0"/>
              <a:t> and </a:t>
            </a:r>
            <a:r>
              <a:rPr lang="en-US" altLang="zh-TW" sz="2400" i="1" dirty="0"/>
              <a:t>b</a:t>
            </a:r>
            <a:r>
              <a:rPr lang="en-US" altLang="zh-TW" sz="2400" dirty="0"/>
              <a:t> is denoted by </a:t>
            </a:r>
            <a:r>
              <a:rPr lang="en-US" altLang="zh-TW" sz="2400" b="1" dirty="0">
                <a:solidFill>
                  <a:srgbClr val="0000FF"/>
                </a:solidFill>
              </a:rPr>
              <a:t>lcm(</a:t>
            </a:r>
            <a:r>
              <a:rPr lang="en-US" altLang="zh-TW" sz="2400" b="1" i="1" dirty="0">
                <a:solidFill>
                  <a:srgbClr val="0000FF"/>
                </a:solidFill>
              </a:rPr>
              <a:t>a</a:t>
            </a:r>
            <a:r>
              <a:rPr lang="en-US" altLang="zh-TW" sz="2400" b="1" dirty="0">
                <a:solidFill>
                  <a:srgbClr val="0000FF"/>
                </a:solidFill>
              </a:rPr>
              <a:t>, </a:t>
            </a:r>
            <a:r>
              <a:rPr lang="en-US" altLang="zh-TW" sz="2400" b="1" i="1" dirty="0">
                <a:solidFill>
                  <a:srgbClr val="0000FF"/>
                </a:solidFill>
              </a:rPr>
              <a:t>b</a:t>
            </a:r>
            <a:r>
              <a:rPr lang="en-US" altLang="zh-TW" sz="2400" b="1" dirty="0">
                <a:solidFill>
                  <a:srgbClr val="0000FF"/>
                </a:solidFill>
              </a:rPr>
              <a:t>)</a:t>
            </a:r>
          </a:p>
          <a:p>
            <a:pPr marL="274320" indent="-274320">
              <a:spcBef>
                <a:spcPts val="600"/>
              </a:spcBef>
            </a:pPr>
            <a:endParaRPr lang="en-US" altLang="zh-TW" sz="2800" dirty="0"/>
          </a:p>
          <a:p>
            <a:pPr marL="274320" indent="-274320">
              <a:spcBef>
                <a:spcPts val="600"/>
              </a:spcBef>
            </a:pPr>
            <a:endParaRPr lang="en-US" altLang="zh-TW" sz="2800" dirty="0"/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zh-TW" sz="2800" u="sng" dirty="0">
                <a:solidFill>
                  <a:srgbClr val="FF0000"/>
                </a:solidFill>
              </a:rPr>
              <a:t>Theorem 5</a:t>
            </a:r>
            <a:r>
              <a:rPr lang="en-US" altLang="zh-TW" sz="2800" dirty="0"/>
              <a:t>: </a:t>
            </a:r>
            <a:r>
              <a:rPr lang="en-US" altLang="zh-TW" sz="2800" dirty="0">
                <a:solidFill>
                  <a:srgbClr val="0000FF"/>
                </a:solidFill>
              </a:rPr>
              <a:t>Let </a:t>
            </a:r>
            <a:r>
              <a:rPr lang="en-US" altLang="zh-TW" sz="2800" i="1" dirty="0">
                <a:solidFill>
                  <a:srgbClr val="0000FF"/>
                </a:solidFill>
              </a:rPr>
              <a:t>a</a:t>
            </a:r>
            <a:r>
              <a:rPr lang="en-US" altLang="zh-TW" sz="2800" dirty="0">
                <a:solidFill>
                  <a:srgbClr val="0000FF"/>
                </a:solidFill>
              </a:rPr>
              <a:t> and </a:t>
            </a:r>
            <a:r>
              <a:rPr lang="en-US" altLang="zh-TW" sz="2800" i="1" dirty="0">
                <a:solidFill>
                  <a:srgbClr val="0000FF"/>
                </a:solidFill>
              </a:rPr>
              <a:t>b</a:t>
            </a:r>
            <a:r>
              <a:rPr lang="en-US" altLang="zh-TW" sz="2800" dirty="0">
                <a:solidFill>
                  <a:srgbClr val="0000FF"/>
                </a:solidFill>
              </a:rPr>
              <a:t> be positive integers. Then</a:t>
            </a:r>
            <a:br>
              <a:rPr lang="en-US" altLang="zh-TW" sz="2800" dirty="0">
                <a:solidFill>
                  <a:srgbClr val="0000FF"/>
                </a:solidFill>
              </a:rPr>
            </a:br>
            <a:r>
              <a:rPr lang="en-US" altLang="zh-TW" sz="2800" dirty="0">
                <a:solidFill>
                  <a:srgbClr val="0000FF"/>
                </a:solidFill>
              </a:rPr>
              <a:t>   	</a:t>
            </a:r>
            <a:r>
              <a:rPr lang="en-US" altLang="zh-TW" sz="2800" b="1" i="1" dirty="0" err="1">
                <a:solidFill>
                  <a:srgbClr val="0000FF"/>
                </a:solidFill>
              </a:rPr>
              <a:t>ab</a:t>
            </a:r>
            <a:r>
              <a:rPr lang="en-US" altLang="zh-TW" sz="2800" b="1" dirty="0">
                <a:solidFill>
                  <a:srgbClr val="0000FF"/>
                </a:solidFill>
              </a:rPr>
              <a:t> = gcd(</a:t>
            </a:r>
            <a:r>
              <a:rPr lang="en-US" altLang="zh-TW" sz="2800" b="1" i="1" dirty="0">
                <a:solidFill>
                  <a:srgbClr val="0000FF"/>
                </a:solidFill>
              </a:rPr>
              <a:t>a</a:t>
            </a:r>
            <a:r>
              <a:rPr lang="en-US" altLang="zh-TW" sz="2800" b="1" dirty="0">
                <a:solidFill>
                  <a:srgbClr val="0000FF"/>
                </a:solidFill>
              </a:rPr>
              <a:t>, </a:t>
            </a:r>
            <a:r>
              <a:rPr lang="en-US" altLang="zh-TW" sz="2800" b="1" i="1" dirty="0">
                <a:solidFill>
                  <a:srgbClr val="0000FF"/>
                </a:solidFill>
              </a:rPr>
              <a:t>b</a:t>
            </a:r>
            <a:r>
              <a:rPr lang="en-US" altLang="zh-TW" sz="2800" b="1" dirty="0">
                <a:solidFill>
                  <a:srgbClr val="0000FF"/>
                </a:solidFill>
              </a:rPr>
              <a:t>) . lcm(</a:t>
            </a:r>
            <a:r>
              <a:rPr lang="en-US" altLang="zh-TW" sz="2800" b="1" i="1" dirty="0">
                <a:solidFill>
                  <a:srgbClr val="0000FF"/>
                </a:solidFill>
              </a:rPr>
              <a:t>a</a:t>
            </a:r>
            <a:r>
              <a:rPr lang="en-US" altLang="zh-TW" sz="2800" b="1" dirty="0">
                <a:solidFill>
                  <a:srgbClr val="0000FF"/>
                </a:solidFill>
              </a:rPr>
              <a:t>, </a:t>
            </a:r>
            <a:r>
              <a:rPr lang="en-US" altLang="zh-TW" sz="2800" b="1" i="1" dirty="0">
                <a:solidFill>
                  <a:srgbClr val="0000FF"/>
                </a:solidFill>
              </a:rPr>
              <a:t>b</a:t>
            </a:r>
            <a:r>
              <a:rPr lang="en-US" altLang="zh-TW" sz="2800" b="1" dirty="0">
                <a:solidFill>
                  <a:srgbClr val="0000FF"/>
                </a:solidFill>
              </a:rPr>
              <a:t>) 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12157" y="571837"/>
            <a:ext cx="7808976" cy="1088136"/>
          </a:xfrm>
        </p:spPr>
        <p:txBody>
          <a:bodyPr>
            <a:noAutofit/>
          </a:bodyPr>
          <a:lstStyle/>
          <a:p>
            <a:r>
              <a:rPr lang="en-US" sz="4000" dirty="0">
                <a:latin typeface="+mn-lt"/>
              </a:rPr>
              <a:t>Finding </a:t>
            </a:r>
            <a:r>
              <a:rPr lang="en-US" sz="4000" b="1" dirty="0">
                <a:latin typeface="+mn-lt"/>
              </a:rPr>
              <a:t>gcd</a:t>
            </a:r>
            <a:r>
              <a:rPr lang="en-US" sz="4000" dirty="0">
                <a:latin typeface="+mn-lt"/>
              </a:rPr>
              <a:t> &amp; </a:t>
            </a:r>
            <a:r>
              <a:rPr lang="en-US" sz="4000" b="1" dirty="0">
                <a:latin typeface="+mn-lt"/>
              </a:rPr>
              <a:t>lcm</a:t>
            </a:r>
            <a:r>
              <a:rPr lang="en-US" sz="4000" dirty="0">
                <a:latin typeface="+mn-lt"/>
              </a:rPr>
              <a:t> of two integers</a:t>
            </a:r>
            <a:br>
              <a:rPr lang="en-US" sz="4000" dirty="0">
                <a:latin typeface="+mn-lt"/>
              </a:rPr>
            </a:br>
            <a:r>
              <a:rPr lang="en-US" sz="4000" dirty="0">
                <a:latin typeface="+mn-lt"/>
              </a:rPr>
              <a:t>using </a:t>
            </a:r>
            <a:r>
              <a:rPr lang="en-US" sz="4000" b="1" dirty="0">
                <a:latin typeface="+mn-lt"/>
              </a:rPr>
              <a:t>Prime Factorization</a:t>
            </a:r>
            <a:endParaRPr lang="en-US" sz="40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2157" y="2075479"/>
            <a:ext cx="8624923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/>
              <a:t>We can find the greatest common divisor (gcd), or least common multiple (lcm) of two integers using the prime factorization of these integers.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/>
              <a:t>Let prime factorization of the integers </a:t>
            </a:r>
            <a:r>
              <a:rPr lang="en-US" sz="2400" i="1" dirty="0"/>
              <a:t>a</a:t>
            </a:r>
            <a:r>
              <a:rPr lang="en-US" sz="2400" dirty="0"/>
              <a:t> and </a:t>
            </a:r>
            <a:r>
              <a:rPr lang="en-US" sz="2400" i="1" dirty="0"/>
              <a:t>b</a:t>
            </a:r>
            <a:r>
              <a:rPr lang="en-US" sz="2400" dirty="0"/>
              <a:t>, neither equal to zero, are  </a:t>
            </a:r>
            <a:r>
              <a:rPr lang="en-US" sz="2400" i="1" dirty="0"/>
              <a:t>a</a:t>
            </a:r>
            <a:r>
              <a:rPr lang="en-US" sz="2400" dirty="0"/>
              <a:t> = </a:t>
            </a:r>
            <a:r>
              <a:rPr lang="en-US" sz="2400" i="1" dirty="0"/>
              <a:t>p</a:t>
            </a:r>
            <a:r>
              <a:rPr lang="en-US" sz="2400" baseline="-25000" dirty="0"/>
              <a:t>1</a:t>
            </a:r>
            <a:r>
              <a:rPr lang="en-US" sz="2400" baseline="30000" dirty="0"/>
              <a:t>a1 </a:t>
            </a:r>
            <a:r>
              <a:rPr lang="en-US" sz="2400" i="1" dirty="0"/>
              <a:t>p</a:t>
            </a:r>
            <a:r>
              <a:rPr lang="en-US" sz="2400" baseline="-25000" dirty="0"/>
              <a:t>2</a:t>
            </a:r>
            <a:r>
              <a:rPr lang="en-US" sz="2400" baseline="30000" dirty="0"/>
              <a:t>a2  </a:t>
            </a:r>
            <a:r>
              <a:rPr lang="en-US" sz="2400" dirty="0"/>
              <a:t>….. </a:t>
            </a:r>
            <a:r>
              <a:rPr lang="en-US" sz="2400" i="1" dirty="0" err="1"/>
              <a:t>p</a:t>
            </a:r>
            <a:r>
              <a:rPr lang="en-US" sz="2400" baseline="-25000" dirty="0" err="1"/>
              <a:t>n</a:t>
            </a:r>
            <a:r>
              <a:rPr lang="en-US" sz="2400" baseline="30000" dirty="0" err="1"/>
              <a:t>a</a:t>
            </a:r>
            <a:r>
              <a:rPr lang="en-US" sz="2400" baseline="30000" dirty="0"/>
              <a:t> </a:t>
            </a:r>
            <a:r>
              <a:rPr lang="en-US" sz="2400" baseline="-10000" dirty="0"/>
              <a:t>n</a:t>
            </a:r>
            <a:r>
              <a:rPr lang="en-US" sz="2400" baseline="30000" dirty="0"/>
              <a:t>  </a:t>
            </a:r>
            <a:r>
              <a:rPr lang="en-US" sz="2400" dirty="0"/>
              <a:t> , 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dirty="0"/>
              <a:t>		        </a:t>
            </a:r>
            <a:r>
              <a:rPr lang="en-US" sz="2400" i="1" dirty="0"/>
              <a:t>b</a:t>
            </a:r>
            <a:r>
              <a:rPr lang="en-US" sz="2400" dirty="0"/>
              <a:t> = </a:t>
            </a:r>
            <a:r>
              <a:rPr lang="en-US" sz="2400" i="1" dirty="0"/>
              <a:t>p</a:t>
            </a:r>
            <a:r>
              <a:rPr lang="en-US" sz="2400" baseline="-25000" dirty="0"/>
              <a:t>1</a:t>
            </a:r>
            <a:r>
              <a:rPr lang="en-US" sz="2400" baseline="30000" dirty="0"/>
              <a:t>b1 </a:t>
            </a:r>
            <a:r>
              <a:rPr lang="en-US" sz="2400" i="1" dirty="0"/>
              <a:t>p</a:t>
            </a:r>
            <a:r>
              <a:rPr lang="en-US" sz="2400" baseline="-25000" dirty="0"/>
              <a:t>2</a:t>
            </a:r>
            <a:r>
              <a:rPr lang="en-US" sz="2400" baseline="30000" dirty="0"/>
              <a:t>b2  </a:t>
            </a:r>
            <a:r>
              <a:rPr lang="en-US" sz="2400" dirty="0"/>
              <a:t>…... </a:t>
            </a:r>
            <a:r>
              <a:rPr lang="en-US" sz="2400" i="1" dirty="0" err="1"/>
              <a:t>p</a:t>
            </a:r>
            <a:r>
              <a:rPr lang="en-US" sz="2400" baseline="-25000" dirty="0" err="1"/>
              <a:t>n</a:t>
            </a:r>
            <a:r>
              <a:rPr lang="en-US" sz="2400" baseline="30000" dirty="0" err="1"/>
              <a:t>b</a:t>
            </a:r>
            <a:r>
              <a:rPr lang="en-US" sz="2400" baseline="30000" dirty="0"/>
              <a:t> </a:t>
            </a:r>
            <a:r>
              <a:rPr lang="en-US" sz="2400" baseline="-10000" dirty="0"/>
              <a:t>n 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dirty="0">
                <a:solidFill>
                  <a:srgbClr val="0000FF"/>
                </a:solidFill>
              </a:rPr>
              <a:t>	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b="1" dirty="0">
                <a:solidFill>
                  <a:srgbClr val="0000FF"/>
                </a:solidFill>
              </a:rPr>
              <a:t>	</a:t>
            </a:r>
            <a:r>
              <a:rPr lang="en-US" sz="2400" b="1" dirty="0" err="1">
                <a:solidFill>
                  <a:srgbClr val="FF0000"/>
                </a:solidFill>
              </a:rPr>
              <a:t>gcd</a:t>
            </a:r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i="1" dirty="0">
                <a:solidFill>
                  <a:srgbClr val="FF0000"/>
                </a:solidFill>
              </a:rPr>
              <a:t>a</a:t>
            </a:r>
            <a:r>
              <a:rPr lang="en-US" sz="2400" b="1" dirty="0">
                <a:solidFill>
                  <a:srgbClr val="FF0000"/>
                </a:solidFill>
              </a:rPr>
              <a:t>, </a:t>
            </a:r>
            <a:r>
              <a:rPr lang="en-US" sz="2400" b="1" i="1" dirty="0">
                <a:solidFill>
                  <a:srgbClr val="FF0000"/>
                </a:solidFill>
              </a:rPr>
              <a:t>b</a:t>
            </a:r>
            <a:r>
              <a:rPr lang="en-US" sz="2400" b="1" dirty="0">
                <a:solidFill>
                  <a:srgbClr val="FF0000"/>
                </a:solidFill>
              </a:rPr>
              <a:t>) = </a:t>
            </a:r>
            <a:r>
              <a:rPr lang="en-US" sz="2400" b="1" i="1" dirty="0">
                <a:solidFill>
                  <a:srgbClr val="FF0000"/>
                </a:solidFill>
              </a:rPr>
              <a:t>p</a:t>
            </a:r>
            <a:r>
              <a:rPr lang="en-US" sz="2400" b="1" baseline="-25000" dirty="0">
                <a:solidFill>
                  <a:srgbClr val="FF0000"/>
                </a:solidFill>
              </a:rPr>
              <a:t>1</a:t>
            </a:r>
            <a:r>
              <a:rPr lang="en-US" sz="2400" b="1" baseline="30000" dirty="0">
                <a:solidFill>
                  <a:srgbClr val="FF0000"/>
                </a:solidFill>
              </a:rPr>
              <a:t>min(</a:t>
            </a:r>
            <a:r>
              <a:rPr lang="en-US" sz="2400" b="1" i="1" baseline="30000" dirty="0">
                <a:solidFill>
                  <a:srgbClr val="FF0000"/>
                </a:solidFill>
              </a:rPr>
              <a:t>a1, b1</a:t>
            </a:r>
            <a:r>
              <a:rPr lang="en-US" sz="2400" b="1" baseline="30000" dirty="0">
                <a:solidFill>
                  <a:srgbClr val="FF0000"/>
                </a:solidFill>
              </a:rPr>
              <a:t>)   </a:t>
            </a:r>
            <a:r>
              <a:rPr lang="en-US" sz="2400" b="1" i="1" dirty="0">
                <a:solidFill>
                  <a:srgbClr val="FF0000"/>
                </a:solidFill>
              </a:rPr>
              <a:t>p</a:t>
            </a:r>
            <a:r>
              <a:rPr lang="en-US" sz="2400" b="1" baseline="-25000" dirty="0">
                <a:solidFill>
                  <a:srgbClr val="FF0000"/>
                </a:solidFill>
              </a:rPr>
              <a:t>2</a:t>
            </a:r>
            <a:r>
              <a:rPr lang="en-US" sz="2400" b="1" baseline="30000" dirty="0">
                <a:solidFill>
                  <a:srgbClr val="FF0000"/>
                </a:solidFill>
              </a:rPr>
              <a:t>min(</a:t>
            </a:r>
            <a:r>
              <a:rPr lang="en-US" sz="2400" b="1" i="1" baseline="30000" dirty="0">
                <a:solidFill>
                  <a:srgbClr val="FF0000"/>
                </a:solidFill>
              </a:rPr>
              <a:t>a2, b2</a:t>
            </a:r>
            <a:r>
              <a:rPr lang="en-US" sz="2400" b="1" baseline="30000" dirty="0">
                <a:solidFill>
                  <a:srgbClr val="FF0000"/>
                </a:solidFill>
              </a:rPr>
              <a:t>)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baseline="30000" dirty="0">
                <a:solidFill>
                  <a:srgbClr val="FF0000"/>
                </a:solidFill>
              </a:rPr>
              <a:t>………</a:t>
            </a:r>
            <a:r>
              <a:rPr lang="en-US" sz="2400" b="1" i="1" dirty="0" err="1">
                <a:solidFill>
                  <a:srgbClr val="FF0000"/>
                </a:solidFill>
              </a:rPr>
              <a:t>p</a:t>
            </a:r>
            <a:r>
              <a:rPr lang="en-US" sz="2400" b="1" baseline="-25000" dirty="0" err="1">
                <a:solidFill>
                  <a:srgbClr val="FF0000"/>
                </a:solidFill>
              </a:rPr>
              <a:t>n</a:t>
            </a:r>
            <a:r>
              <a:rPr lang="en-US" sz="2400" b="1" baseline="30000" dirty="0" err="1">
                <a:solidFill>
                  <a:srgbClr val="FF0000"/>
                </a:solidFill>
              </a:rPr>
              <a:t>min</a:t>
            </a:r>
            <a:r>
              <a:rPr lang="en-US" sz="2400" b="1" baseline="30000" dirty="0">
                <a:solidFill>
                  <a:srgbClr val="FF0000"/>
                </a:solidFill>
              </a:rPr>
              <a:t>(</a:t>
            </a:r>
            <a:r>
              <a:rPr lang="en-US" sz="2400" b="1" i="1" baseline="30000" dirty="0">
                <a:solidFill>
                  <a:srgbClr val="FF0000"/>
                </a:solidFill>
              </a:rPr>
              <a:t>a</a:t>
            </a:r>
            <a:r>
              <a:rPr lang="en-US" sz="2400" b="1" i="1" baseline="20000" dirty="0">
                <a:solidFill>
                  <a:srgbClr val="FF0000"/>
                </a:solidFill>
              </a:rPr>
              <a:t>n ,</a:t>
            </a:r>
            <a:r>
              <a:rPr lang="en-US" sz="2400" b="1" i="1" baseline="30000" dirty="0">
                <a:solidFill>
                  <a:srgbClr val="FF0000"/>
                </a:solidFill>
              </a:rPr>
              <a:t> </a:t>
            </a:r>
            <a:r>
              <a:rPr lang="en-US" sz="2400" b="1" i="1" baseline="30000" dirty="0" err="1">
                <a:solidFill>
                  <a:srgbClr val="FF0000"/>
                </a:solidFill>
              </a:rPr>
              <a:t>b</a:t>
            </a:r>
            <a:r>
              <a:rPr lang="en-US" sz="2400" b="1" i="1" baseline="20000" dirty="0" err="1">
                <a:solidFill>
                  <a:srgbClr val="FF0000"/>
                </a:solidFill>
              </a:rPr>
              <a:t>n</a:t>
            </a:r>
            <a:r>
              <a:rPr lang="en-US" sz="2400" b="1" baseline="30000" dirty="0">
                <a:solidFill>
                  <a:srgbClr val="FF0000"/>
                </a:solidFill>
              </a:rPr>
              <a:t>)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400" baseline="20000" dirty="0">
              <a:solidFill>
                <a:srgbClr val="FF0000"/>
              </a:solidFill>
            </a:endParaRPr>
          </a:p>
          <a:p>
            <a:pPr marL="274320" indent="-274320">
              <a:spcBef>
                <a:spcPts val="600"/>
              </a:spcBef>
            </a:pPr>
            <a:r>
              <a:rPr lang="en-US" sz="2400" dirty="0">
                <a:solidFill>
                  <a:srgbClr val="FF0000"/>
                </a:solidFill>
              </a:rPr>
              <a:t>	</a:t>
            </a:r>
            <a:r>
              <a:rPr lang="en-US" sz="2400" b="1" dirty="0">
                <a:solidFill>
                  <a:srgbClr val="FF0000"/>
                </a:solidFill>
              </a:rPr>
              <a:t>lcm(</a:t>
            </a:r>
            <a:r>
              <a:rPr lang="en-US" sz="2400" b="1" i="1" dirty="0">
                <a:solidFill>
                  <a:srgbClr val="FF0000"/>
                </a:solidFill>
              </a:rPr>
              <a:t>a</a:t>
            </a:r>
            <a:r>
              <a:rPr lang="en-US" sz="2400" b="1" dirty="0">
                <a:solidFill>
                  <a:srgbClr val="FF0000"/>
                </a:solidFill>
              </a:rPr>
              <a:t>, </a:t>
            </a:r>
            <a:r>
              <a:rPr lang="en-US" sz="2400" b="1" i="1" dirty="0">
                <a:solidFill>
                  <a:srgbClr val="FF0000"/>
                </a:solidFill>
              </a:rPr>
              <a:t>b</a:t>
            </a:r>
            <a:r>
              <a:rPr lang="en-US" sz="2400" b="1" dirty="0">
                <a:solidFill>
                  <a:srgbClr val="FF0000"/>
                </a:solidFill>
              </a:rPr>
              <a:t>) = </a:t>
            </a:r>
            <a:r>
              <a:rPr lang="en-US" sz="2400" b="1" i="1" dirty="0">
                <a:solidFill>
                  <a:srgbClr val="FF0000"/>
                </a:solidFill>
              </a:rPr>
              <a:t>p</a:t>
            </a:r>
            <a:r>
              <a:rPr lang="en-US" sz="2400" b="1" baseline="-25000" dirty="0">
                <a:solidFill>
                  <a:srgbClr val="FF0000"/>
                </a:solidFill>
              </a:rPr>
              <a:t>1</a:t>
            </a:r>
            <a:r>
              <a:rPr lang="en-US" sz="2400" b="1" baseline="30000" dirty="0">
                <a:solidFill>
                  <a:srgbClr val="FF0000"/>
                </a:solidFill>
              </a:rPr>
              <a:t>max(</a:t>
            </a:r>
            <a:r>
              <a:rPr lang="en-US" sz="2400" b="1" i="1" baseline="30000" dirty="0">
                <a:solidFill>
                  <a:srgbClr val="FF0000"/>
                </a:solidFill>
              </a:rPr>
              <a:t>a1, b1</a:t>
            </a:r>
            <a:r>
              <a:rPr lang="en-US" sz="2400" b="1" baseline="30000" dirty="0">
                <a:solidFill>
                  <a:srgbClr val="FF0000"/>
                </a:solidFill>
              </a:rPr>
              <a:t>)   </a:t>
            </a:r>
            <a:r>
              <a:rPr lang="en-US" sz="2400" b="1" i="1" dirty="0">
                <a:solidFill>
                  <a:srgbClr val="FF0000"/>
                </a:solidFill>
              </a:rPr>
              <a:t>p</a:t>
            </a:r>
            <a:r>
              <a:rPr lang="en-US" sz="2400" b="1" baseline="-25000" dirty="0">
                <a:solidFill>
                  <a:srgbClr val="FF0000"/>
                </a:solidFill>
              </a:rPr>
              <a:t>2</a:t>
            </a:r>
            <a:r>
              <a:rPr lang="en-US" sz="2400" b="1" baseline="30000" dirty="0">
                <a:solidFill>
                  <a:srgbClr val="FF0000"/>
                </a:solidFill>
              </a:rPr>
              <a:t>max(</a:t>
            </a:r>
            <a:r>
              <a:rPr lang="en-US" sz="2400" b="1" i="1" baseline="30000" dirty="0">
                <a:solidFill>
                  <a:srgbClr val="FF0000"/>
                </a:solidFill>
              </a:rPr>
              <a:t>a2, b2</a:t>
            </a:r>
            <a:r>
              <a:rPr lang="en-US" sz="2400" b="1" baseline="30000" dirty="0">
                <a:solidFill>
                  <a:srgbClr val="FF0000"/>
                </a:solidFill>
              </a:rPr>
              <a:t>)       ………</a:t>
            </a:r>
            <a:r>
              <a:rPr lang="en-US" sz="2400" b="1" i="1" dirty="0" err="1">
                <a:solidFill>
                  <a:srgbClr val="FF0000"/>
                </a:solidFill>
              </a:rPr>
              <a:t>p</a:t>
            </a:r>
            <a:r>
              <a:rPr lang="en-US" sz="2400" b="1" baseline="-25000" dirty="0" err="1">
                <a:solidFill>
                  <a:srgbClr val="FF0000"/>
                </a:solidFill>
              </a:rPr>
              <a:t>n</a:t>
            </a:r>
            <a:r>
              <a:rPr lang="en-US" sz="2400" b="1" baseline="30000" dirty="0" err="1">
                <a:solidFill>
                  <a:srgbClr val="FF0000"/>
                </a:solidFill>
              </a:rPr>
              <a:t>max</a:t>
            </a:r>
            <a:r>
              <a:rPr lang="en-US" sz="2400" b="1" baseline="30000" dirty="0">
                <a:solidFill>
                  <a:srgbClr val="FF0000"/>
                </a:solidFill>
              </a:rPr>
              <a:t>(</a:t>
            </a:r>
            <a:r>
              <a:rPr lang="en-US" sz="2400" b="1" i="1" baseline="30000" dirty="0">
                <a:solidFill>
                  <a:srgbClr val="FF0000"/>
                </a:solidFill>
              </a:rPr>
              <a:t>a</a:t>
            </a:r>
            <a:r>
              <a:rPr lang="en-US" sz="2400" b="1" i="1" baseline="20000" dirty="0">
                <a:solidFill>
                  <a:srgbClr val="FF0000"/>
                </a:solidFill>
              </a:rPr>
              <a:t>n ,</a:t>
            </a:r>
            <a:r>
              <a:rPr lang="en-US" sz="2400" b="1" i="1" baseline="30000" dirty="0">
                <a:solidFill>
                  <a:srgbClr val="FF0000"/>
                </a:solidFill>
              </a:rPr>
              <a:t> </a:t>
            </a:r>
            <a:r>
              <a:rPr lang="en-US" sz="2400" b="1" i="1" baseline="30000" dirty="0" err="1">
                <a:solidFill>
                  <a:srgbClr val="FF0000"/>
                </a:solidFill>
              </a:rPr>
              <a:t>b</a:t>
            </a:r>
            <a:r>
              <a:rPr lang="en-US" sz="2400" b="1" i="1" baseline="20000" dirty="0" err="1">
                <a:solidFill>
                  <a:srgbClr val="FF0000"/>
                </a:solidFill>
              </a:rPr>
              <a:t>n</a:t>
            </a:r>
            <a:r>
              <a:rPr lang="en-US" sz="2400" b="1" baseline="30000" dirty="0">
                <a:solidFill>
                  <a:srgbClr val="FF0000"/>
                </a:solidFill>
              </a:rPr>
              <a:t>)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9" name="Picture 8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88AF9C64-F161-4049-A3BC-DDFF3366C4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152" y="1282308"/>
            <a:ext cx="5385128" cy="4229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09C8B0B-FDC1-5047-A1DA-3AB6B80BD4FE}"/>
              </a:ext>
            </a:extLst>
          </p:cNvPr>
          <p:cNvSpPr/>
          <p:nvPr/>
        </p:nvSpPr>
        <p:spPr>
          <a:xfrm>
            <a:off x="551657" y="5657671"/>
            <a:ext cx="80701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open-sans"/>
              </a:rPr>
              <a:t>As you can see, the numbers 2 and 7 are common factors of all three numbers, so multiply these two numbers as follows: </a:t>
            </a:r>
            <a:r>
              <a:rPr lang="en-US" dirty="0"/>
              <a:t>2 × 7 = 14</a:t>
            </a:r>
          </a:p>
          <a:p>
            <a:r>
              <a:rPr lang="en-US" dirty="0">
                <a:latin typeface="open-sans"/>
              </a:rPr>
              <a:t>Thus, the GCD of 28, 42, and 70 is 14.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CA0744-0AC8-F94B-AB72-3F36A094A4FC}"/>
              </a:ext>
            </a:extLst>
          </p:cNvPr>
          <p:cNvSpPr txBox="1"/>
          <p:nvPr/>
        </p:nvSpPr>
        <p:spPr>
          <a:xfrm>
            <a:off x="1977656" y="393405"/>
            <a:ext cx="56032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Finding GCD using prime factors</a:t>
            </a:r>
          </a:p>
        </p:txBody>
      </p:sp>
    </p:spTree>
    <p:extLst>
      <p:ext uri="{BB962C8B-B14F-4D97-AF65-F5344CB8AC3E}">
        <p14:creationId xmlns:p14="http://schemas.microsoft.com/office/powerpoint/2010/main" val="3091603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ED166-32F0-CC45-A40D-FA7A55E04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20</a:t>
            </a:fld>
            <a:endParaRPr lang="en-US"/>
          </a:p>
        </p:txBody>
      </p:sp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A6686EF5-CC1B-BF40-A935-2509F5AFBFDC}"/>
              </a:ext>
            </a:extLst>
          </p:cNvPr>
          <p:cNvSpPr/>
          <p:nvPr/>
        </p:nvSpPr>
        <p:spPr>
          <a:xfrm>
            <a:off x="637954" y="934356"/>
            <a:ext cx="71131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open-sans"/>
              </a:rPr>
              <a:t>Step 1: List the prime factors of each number. Suppose you want to find the LCM of 18 and 24. List the prime factors of each number:</a:t>
            </a:r>
          </a:p>
          <a:p>
            <a:r>
              <a:rPr lang="en-US" dirty="0">
                <a:latin typeface="open-sans"/>
              </a:rPr>
              <a:t>18 = 2 × 3 × 3</a:t>
            </a:r>
          </a:p>
          <a:p>
            <a:r>
              <a:rPr lang="en-US" dirty="0">
                <a:latin typeface="open-sans"/>
              </a:rPr>
              <a:t>24 = 2 × 2 × 2 × 3</a:t>
            </a:r>
          </a:p>
          <a:p>
            <a:endParaRPr lang="en-US" b="0" i="0" u="none" strike="noStrike" dirty="0">
              <a:effectLst/>
              <a:latin typeface="open-san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77F3F0-FD00-4C44-979A-335299146CE4}"/>
              </a:ext>
            </a:extLst>
          </p:cNvPr>
          <p:cNvSpPr/>
          <p:nvPr/>
        </p:nvSpPr>
        <p:spPr>
          <a:xfrm>
            <a:off x="637954" y="2411684"/>
            <a:ext cx="823533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open-sans"/>
              </a:rPr>
              <a:t>Step 2.For each prime number listed, underline the most repeated occurrence of this number in any prime factorization. The number 2 appears once in the prime factorization of 18 but three times in that of 24, so underline the three 2s:</a:t>
            </a:r>
          </a:p>
          <a:p>
            <a:r>
              <a:rPr lang="en-US" dirty="0">
                <a:latin typeface="open-sans"/>
              </a:rPr>
              <a:t>18 = 2 × 3 × 3</a:t>
            </a:r>
          </a:p>
          <a:p>
            <a:r>
              <a:rPr lang="en-US" dirty="0">
                <a:latin typeface="open-sans"/>
              </a:rPr>
              <a:t>24 = </a:t>
            </a:r>
            <a:r>
              <a:rPr lang="en-US" u="sng" dirty="0">
                <a:latin typeface="open-sans"/>
              </a:rPr>
              <a:t>2</a:t>
            </a:r>
            <a:r>
              <a:rPr lang="en-US" dirty="0">
                <a:latin typeface="open-sans"/>
              </a:rPr>
              <a:t> × </a:t>
            </a:r>
            <a:r>
              <a:rPr lang="en-US" u="sng" dirty="0">
                <a:latin typeface="open-sans"/>
              </a:rPr>
              <a:t>2</a:t>
            </a:r>
            <a:r>
              <a:rPr lang="en-US" dirty="0">
                <a:latin typeface="open-sans"/>
              </a:rPr>
              <a:t> × </a:t>
            </a:r>
            <a:r>
              <a:rPr lang="en-US" u="sng" dirty="0">
                <a:latin typeface="open-sans"/>
              </a:rPr>
              <a:t>2</a:t>
            </a:r>
            <a:r>
              <a:rPr lang="en-US" dirty="0">
                <a:latin typeface="open-sans"/>
              </a:rPr>
              <a:t> × 3</a:t>
            </a:r>
          </a:p>
          <a:p>
            <a:r>
              <a:rPr lang="en-US" dirty="0">
                <a:latin typeface="open-sans"/>
              </a:rPr>
              <a:t>Similarly, the number 3 appears twice in the prime factorization of 18 but only once in that of 24, so underline the two 3s:</a:t>
            </a:r>
          </a:p>
          <a:p>
            <a:r>
              <a:rPr lang="en-US" dirty="0">
                <a:latin typeface="open-sans"/>
              </a:rPr>
              <a:t>18 = 2 × </a:t>
            </a:r>
            <a:r>
              <a:rPr lang="en-US" u="sng" dirty="0">
                <a:latin typeface="open-sans"/>
              </a:rPr>
              <a:t>3</a:t>
            </a:r>
            <a:r>
              <a:rPr lang="en-US" dirty="0">
                <a:latin typeface="open-sans"/>
              </a:rPr>
              <a:t> × </a:t>
            </a:r>
            <a:r>
              <a:rPr lang="en-US" u="sng" dirty="0">
                <a:latin typeface="open-sans"/>
              </a:rPr>
              <a:t>3</a:t>
            </a:r>
            <a:endParaRPr lang="en-US" dirty="0">
              <a:latin typeface="open-sans"/>
            </a:endParaRPr>
          </a:p>
          <a:p>
            <a:r>
              <a:rPr lang="en-US" dirty="0">
                <a:latin typeface="open-sans"/>
              </a:rPr>
              <a:t>24 = 2 × 2 × 2 × 3</a:t>
            </a:r>
            <a:endParaRPr lang="en-US" b="0" i="0" u="none" strike="noStrike" dirty="0">
              <a:effectLst/>
              <a:latin typeface="open-sa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64D3D8-37BC-C24E-95B0-164F457187A4}"/>
              </a:ext>
            </a:extLst>
          </p:cNvPr>
          <p:cNvSpPr/>
          <p:nvPr/>
        </p:nvSpPr>
        <p:spPr>
          <a:xfrm>
            <a:off x="627319" y="4997007"/>
            <a:ext cx="657092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open-sans"/>
              </a:rPr>
              <a:t>Step 3. Multiply all the underlined numbers. Here’s the product:</a:t>
            </a:r>
          </a:p>
          <a:p>
            <a:r>
              <a:rPr lang="en-US" dirty="0">
                <a:latin typeface="open-sans"/>
              </a:rPr>
              <a:t>2 × 2 × 2 × 3 × 3 = 72</a:t>
            </a:r>
          </a:p>
          <a:p>
            <a:r>
              <a:rPr lang="en-US" dirty="0">
                <a:latin typeface="open-sans"/>
              </a:rPr>
              <a:t>So the LCM of 18 and 24 is 72. This solution checks out because</a:t>
            </a:r>
          </a:p>
          <a:p>
            <a:r>
              <a:rPr lang="en-US" dirty="0">
                <a:latin typeface="open-sans"/>
              </a:rPr>
              <a:t>18 × 4 = 72</a:t>
            </a:r>
          </a:p>
          <a:p>
            <a:r>
              <a:rPr lang="en-US" dirty="0">
                <a:latin typeface="open-sans"/>
              </a:rPr>
              <a:t>24 × 3 = 72</a:t>
            </a:r>
            <a:endParaRPr lang="en-US" b="0" i="0" u="none" strike="noStrike" dirty="0">
              <a:effectLst/>
              <a:latin typeface="open-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23BA7B-08E8-F548-AF5A-FF3547B1A088}"/>
              </a:ext>
            </a:extLst>
          </p:cNvPr>
          <p:cNvSpPr txBox="1"/>
          <p:nvPr/>
        </p:nvSpPr>
        <p:spPr>
          <a:xfrm>
            <a:off x="1977656" y="393405"/>
            <a:ext cx="56110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Finding LCM using prime factors</a:t>
            </a:r>
          </a:p>
        </p:txBody>
      </p:sp>
    </p:spTree>
    <p:extLst>
      <p:ext uri="{BB962C8B-B14F-4D97-AF65-F5344CB8AC3E}">
        <p14:creationId xmlns:p14="http://schemas.microsoft.com/office/powerpoint/2010/main" val="633024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Example 14(p. 229)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251" y="1967409"/>
            <a:ext cx="8516203" cy="3954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What is the gcd of 120 and 500?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u="sng" dirty="0">
                <a:solidFill>
                  <a:srgbClr val="0000FF"/>
                </a:solidFill>
              </a:rPr>
              <a:t>Solution</a:t>
            </a:r>
            <a:r>
              <a:rPr lang="en-US" sz="2400" dirty="0"/>
              <a:t>: Because the prime factorization of 120 and 500 are  120 = 2</a:t>
            </a:r>
            <a:r>
              <a:rPr lang="en-US" sz="2400" baseline="30000" dirty="0"/>
              <a:t>3</a:t>
            </a:r>
            <a:r>
              <a:rPr lang="en-US" sz="2400" dirty="0"/>
              <a:t>.3.5 and 500 = 2</a:t>
            </a:r>
            <a:r>
              <a:rPr lang="en-US" sz="2400" baseline="30000" dirty="0"/>
              <a:t>2</a:t>
            </a:r>
            <a:r>
              <a:rPr lang="en-US" sz="2400" dirty="0"/>
              <a:t>.5</a:t>
            </a:r>
            <a:r>
              <a:rPr lang="en-US" sz="2400" baseline="30000" dirty="0"/>
              <a:t>3 </a:t>
            </a:r>
            <a:r>
              <a:rPr lang="en-US" sz="2400" dirty="0"/>
              <a:t> , the greatest common divisor is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baseline="30000" dirty="0"/>
              <a:t>	</a:t>
            </a:r>
            <a:r>
              <a:rPr lang="en-US" sz="2400" dirty="0"/>
              <a:t>gcd(120,500) = 2</a:t>
            </a:r>
            <a:r>
              <a:rPr lang="en-US" sz="2400" baseline="30000" dirty="0"/>
              <a:t>min(3,2) </a:t>
            </a:r>
            <a:r>
              <a:rPr lang="en-US" sz="2400" dirty="0"/>
              <a:t> 3</a:t>
            </a:r>
            <a:r>
              <a:rPr lang="en-US" sz="2400" baseline="30000" dirty="0"/>
              <a:t>min(1,0)</a:t>
            </a:r>
            <a:r>
              <a:rPr lang="en-US" sz="2400" dirty="0"/>
              <a:t> 5</a:t>
            </a:r>
            <a:r>
              <a:rPr lang="en-US" sz="2400" baseline="30000" dirty="0"/>
              <a:t>min(1,3)     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baseline="30000" dirty="0"/>
              <a:t>		</a:t>
            </a:r>
            <a:r>
              <a:rPr lang="en-US" sz="2400" dirty="0"/>
              <a:t>	   = 2</a:t>
            </a:r>
            <a:r>
              <a:rPr lang="en-US" sz="2400" baseline="30000" dirty="0"/>
              <a:t>2 </a:t>
            </a:r>
            <a:r>
              <a:rPr lang="en-US" sz="2400" dirty="0"/>
              <a:t> 3</a:t>
            </a:r>
            <a:r>
              <a:rPr lang="en-US" sz="2400" baseline="30000" dirty="0"/>
              <a:t>0</a:t>
            </a:r>
            <a:r>
              <a:rPr lang="en-US" sz="2400" dirty="0"/>
              <a:t> 5</a:t>
            </a:r>
            <a:r>
              <a:rPr lang="en-US" sz="2400" baseline="30000" dirty="0"/>
              <a:t>1    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baseline="30000" dirty="0"/>
              <a:t>			   </a:t>
            </a:r>
            <a:r>
              <a:rPr lang="en-US" sz="2400" dirty="0"/>
              <a:t>= 20</a:t>
            </a:r>
            <a:r>
              <a:rPr lang="en-US" sz="2400" baseline="30000" dirty="0"/>
              <a:t>  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dirty="0"/>
              <a:t>			</a:t>
            </a:r>
            <a:r>
              <a:rPr lang="en-US" sz="2400" dirty="0">
                <a:solidFill>
                  <a:srgbClr val="0000FF"/>
                </a:solidFill>
              </a:rPr>
              <a:t>[Note: 500 = 2</a:t>
            </a:r>
            <a:r>
              <a:rPr lang="en-US" sz="2400" baseline="30000" dirty="0">
                <a:solidFill>
                  <a:srgbClr val="0000FF"/>
                </a:solidFill>
              </a:rPr>
              <a:t>2</a:t>
            </a:r>
            <a:r>
              <a:rPr lang="en-US" sz="2400" dirty="0">
                <a:solidFill>
                  <a:srgbClr val="0000FF"/>
                </a:solidFill>
              </a:rPr>
              <a:t>. 3</a:t>
            </a:r>
            <a:r>
              <a:rPr lang="en-US" sz="2400" baseline="30000" dirty="0">
                <a:solidFill>
                  <a:srgbClr val="0000FF"/>
                </a:solidFill>
              </a:rPr>
              <a:t>0</a:t>
            </a:r>
            <a:r>
              <a:rPr lang="en-US" sz="2400" dirty="0">
                <a:solidFill>
                  <a:srgbClr val="0000FF"/>
                </a:solidFill>
              </a:rPr>
              <a:t>.5</a:t>
            </a:r>
            <a:r>
              <a:rPr lang="en-US" sz="2400" baseline="30000" dirty="0">
                <a:solidFill>
                  <a:srgbClr val="0000FF"/>
                </a:solidFill>
              </a:rPr>
              <a:t>3 </a:t>
            </a:r>
            <a:r>
              <a:rPr lang="en-US" sz="2400" dirty="0">
                <a:solidFill>
                  <a:srgbClr val="0000FF"/>
                </a:solidFill>
              </a:rPr>
              <a:t>]</a:t>
            </a:r>
          </a:p>
          <a:p>
            <a:pPr marL="274320" indent="-274320">
              <a:spcBef>
                <a:spcPts val="600"/>
              </a:spcBef>
            </a:pPr>
            <a:endParaRPr lang="en-US" sz="2400" dirty="0">
              <a:solidFill>
                <a:srgbClr val="0000FF"/>
              </a:solidFill>
            </a:endParaRPr>
          </a:p>
          <a:p>
            <a:pPr marL="274320" indent="-274320">
              <a:spcBef>
                <a:spcPts val="600"/>
              </a:spcBef>
            </a:pPr>
            <a:endParaRPr lang="en-US" sz="24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Class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5805" y="2271740"/>
            <a:ext cx="8515739" cy="3062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+mj-lt"/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 Find the </a:t>
            </a:r>
            <a:r>
              <a:rPr lang="en-US" sz="2800" b="1" dirty="0">
                <a:solidFill>
                  <a:srgbClr val="FF0000"/>
                </a:solidFill>
              </a:rPr>
              <a:t>lcm(120,500)</a:t>
            </a:r>
            <a:r>
              <a:rPr lang="en-US" sz="2800" dirty="0">
                <a:solidFill>
                  <a:srgbClr val="FF0000"/>
                </a:solidFill>
              </a:rPr>
              <a:t>, and then prove the theorem </a:t>
            </a:r>
          </a:p>
          <a:p>
            <a:pPr marL="274320" indent="-274320">
              <a:spcBef>
                <a:spcPts val="600"/>
              </a:spcBef>
            </a:pPr>
            <a:r>
              <a:rPr lang="en-US" sz="2800" dirty="0">
                <a:solidFill>
                  <a:srgbClr val="FF0000"/>
                </a:solidFill>
              </a:rPr>
              <a:t>	</a:t>
            </a:r>
            <a:r>
              <a:rPr lang="en-US" altLang="zh-TW" sz="2800" i="1" dirty="0" err="1">
                <a:solidFill>
                  <a:srgbClr val="FF0000"/>
                </a:solidFill>
              </a:rPr>
              <a:t>ab</a:t>
            </a:r>
            <a:r>
              <a:rPr lang="en-US" altLang="zh-TW" sz="2800" dirty="0">
                <a:solidFill>
                  <a:srgbClr val="FF0000"/>
                </a:solidFill>
              </a:rPr>
              <a:t> = gcd(</a:t>
            </a:r>
            <a:r>
              <a:rPr lang="en-US" altLang="zh-TW" sz="2800" i="1" dirty="0">
                <a:solidFill>
                  <a:srgbClr val="FF0000"/>
                </a:solidFill>
              </a:rPr>
              <a:t>a</a:t>
            </a:r>
            <a:r>
              <a:rPr lang="en-US" altLang="zh-TW" sz="2800" dirty="0">
                <a:solidFill>
                  <a:srgbClr val="FF0000"/>
                </a:solidFill>
              </a:rPr>
              <a:t>, </a:t>
            </a:r>
            <a:r>
              <a:rPr lang="en-US" altLang="zh-TW" sz="2800" i="1" dirty="0">
                <a:solidFill>
                  <a:srgbClr val="FF0000"/>
                </a:solidFill>
              </a:rPr>
              <a:t>b</a:t>
            </a:r>
            <a:r>
              <a:rPr lang="en-US" altLang="zh-TW" sz="2800" dirty="0">
                <a:solidFill>
                  <a:srgbClr val="FF0000"/>
                </a:solidFill>
              </a:rPr>
              <a:t>) . lcm(</a:t>
            </a:r>
            <a:r>
              <a:rPr lang="en-US" altLang="zh-TW" sz="2800" i="1" dirty="0">
                <a:solidFill>
                  <a:srgbClr val="FF0000"/>
                </a:solidFill>
              </a:rPr>
              <a:t>a</a:t>
            </a:r>
            <a:r>
              <a:rPr lang="en-US" altLang="zh-TW" sz="2800" dirty="0">
                <a:solidFill>
                  <a:srgbClr val="FF0000"/>
                </a:solidFill>
              </a:rPr>
              <a:t>, </a:t>
            </a:r>
            <a:r>
              <a:rPr lang="en-US" altLang="zh-TW" sz="2800" i="1" dirty="0">
                <a:solidFill>
                  <a:srgbClr val="FF0000"/>
                </a:solidFill>
              </a:rPr>
              <a:t>b</a:t>
            </a:r>
            <a:r>
              <a:rPr lang="en-US" altLang="zh-TW" sz="2800" dirty="0">
                <a:solidFill>
                  <a:srgbClr val="FF0000"/>
                </a:solidFill>
              </a:rPr>
              <a:t>) , where </a:t>
            </a:r>
            <a:r>
              <a:rPr lang="en-US" altLang="zh-TW" sz="2800" i="1" dirty="0">
                <a:solidFill>
                  <a:srgbClr val="FF0000"/>
                </a:solidFill>
              </a:rPr>
              <a:t>a</a:t>
            </a:r>
            <a:r>
              <a:rPr lang="en-US" altLang="zh-TW" sz="2800" dirty="0">
                <a:solidFill>
                  <a:srgbClr val="FF0000"/>
                </a:solidFill>
              </a:rPr>
              <a:t> =120, and </a:t>
            </a:r>
            <a:r>
              <a:rPr lang="en-US" altLang="zh-TW" sz="2800" i="1" dirty="0">
                <a:solidFill>
                  <a:srgbClr val="FF0000"/>
                </a:solidFill>
              </a:rPr>
              <a:t>b</a:t>
            </a:r>
            <a:r>
              <a:rPr lang="en-US" altLang="zh-TW" sz="2800" dirty="0">
                <a:solidFill>
                  <a:srgbClr val="FF0000"/>
                </a:solidFill>
              </a:rPr>
              <a:t> = 500.</a:t>
            </a:r>
          </a:p>
          <a:p>
            <a:pPr marL="514350" indent="-514350">
              <a:spcBef>
                <a:spcPts val="600"/>
              </a:spcBef>
              <a:buFont typeface="+mj-lt"/>
              <a:buAutoNum type="arabicPeriod"/>
            </a:pPr>
            <a:endParaRPr lang="en-US" altLang="zh-TW" sz="2800" dirty="0">
              <a:solidFill>
                <a:srgbClr val="FF0000"/>
              </a:solidFill>
            </a:endParaRPr>
          </a:p>
          <a:p>
            <a:pPr marL="514350" indent="-514350">
              <a:spcBef>
                <a:spcPts val="600"/>
              </a:spcBef>
              <a:buFont typeface="+mj-lt"/>
              <a:buAutoNum type="arabicPeriod"/>
            </a:pPr>
            <a:endParaRPr lang="en-US" altLang="zh-TW" sz="2800" dirty="0">
              <a:solidFill>
                <a:srgbClr val="FF0000"/>
              </a:solidFill>
            </a:endParaRPr>
          </a:p>
          <a:p>
            <a:pPr marL="514350" indent="-514350">
              <a:spcBef>
                <a:spcPts val="60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2. Find the gcd and lcm of 200 and 700 using prime </a:t>
            </a:r>
          </a:p>
          <a:p>
            <a:pPr marL="514350" indent="-514350">
              <a:spcBef>
                <a:spcPts val="60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     factorization.  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Example 15(p. 230)</a:t>
            </a:r>
          </a:p>
        </p:txBody>
      </p:sp>
      <p:sp>
        <p:nvSpPr>
          <p:cNvPr id="5" name="Rectangle 4"/>
          <p:cNvSpPr/>
          <p:nvPr/>
        </p:nvSpPr>
        <p:spPr>
          <a:xfrm>
            <a:off x="312157" y="2142745"/>
            <a:ext cx="8515739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What is the least common multiple(lcm) of 2</a:t>
            </a:r>
            <a:r>
              <a:rPr lang="en-US" sz="2800" baseline="30000" dirty="0">
                <a:solidFill>
                  <a:srgbClr val="FF0000"/>
                </a:solidFill>
              </a:rPr>
              <a:t>3</a:t>
            </a:r>
            <a:r>
              <a:rPr lang="en-US" sz="2800" dirty="0">
                <a:solidFill>
                  <a:srgbClr val="FF0000"/>
                </a:solidFill>
              </a:rPr>
              <a:t>3</a:t>
            </a:r>
            <a:r>
              <a:rPr lang="en-US" sz="2800" baseline="30000" dirty="0">
                <a:solidFill>
                  <a:srgbClr val="FF0000"/>
                </a:solidFill>
              </a:rPr>
              <a:t>5</a:t>
            </a:r>
            <a:r>
              <a:rPr lang="en-US" sz="2800" dirty="0">
                <a:solidFill>
                  <a:srgbClr val="FF0000"/>
                </a:solidFill>
              </a:rPr>
              <a:t>7</a:t>
            </a:r>
            <a:r>
              <a:rPr lang="en-US" sz="2800" baseline="30000" dirty="0">
                <a:solidFill>
                  <a:srgbClr val="FF0000"/>
                </a:solidFill>
              </a:rPr>
              <a:t>2</a:t>
            </a:r>
            <a:r>
              <a:rPr lang="en-US" sz="2800" dirty="0">
                <a:solidFill>
                  <a:srgbClr val="FF0000"/>
                </a:solidFill>
              </a:rPr>
              <a:t> and 2</a:t>
            </a:r>
            <a:r>
              <a:rPr lang="en-US" sz="2800" baseline="30000" dirty="0">
                <a:solidFill>
                  <a:srgbClr val="FF0000"/>
                </a:solidFill>
              </a:rPr>
              <a:t>4</a:t>
            </a:r>
            <a:r>
              <a:rPr lang="en-US" sz="2800" dirty="0">
                <a:solidFill>
                  <a:srgbClr val="FF0000"/>
                </a:solidFill>
              </a:rPr>
              <a:t>3</a:t>
            </a:r>
            <a:r>
              <a:rPr lang="en-US" sz="2800" baseline="30000" dirty="0">
                <a:solidFill>
                  <a:srgbClr val="FF0000"/>
                </a:solidFill>
              </a:rPr>
              <a:t>3</a:t>
            </a:r>
            <a:r>
              <a:rPr lang="en-US" sz="2800" dirty="0">
                <a:solidFill>
                  <a:srgbClr val="FF0000"/>
                </a:solidFill>
              </a:rPr>
              <a:t>?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800" dirty="0">
              <a:solidFill>
                <a:srgbClr val="FF0000"/>
              </a:solidFill>
            </a:endParaRP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 </a:t>
            </a:r>
            <a:r>
              <a:rPr lang="en-US" sz="2800" b="1" u="sng" dirty="0">
                <a:solidFill>
                  <a:srgbClr val="0000FF"/>
                </a:solidFill>
              </a:rPr>
              <a:t>Solution</a:t>
            </a:r>
            <a:r>
              <a:rPr lang="en-US" sz="2800" dirty="0"/>
              <a:t>: </a:t>
            </a:r>
          </a:p>
          <a:p>
            <a:pPr marL="274320" indent="-274320">
              <a:spcBef>
                <a:spcPts val="600"/>
              </a:spcBef>
            </a:pPr>
            <a:r>
              <a:rPr lang="en-US" sz="2800" dirty="0"/>
              <a:t>	lcm (2</a:t>
            </a:r>
            <a:r>
              <a:rPr lang="en-US" sz="2800" baseline="30000" dirty="0"/>
              <a:t>3</a:t>
            </a:r>
            <a:r>
              <a:rPr lang="en-US" sz="2800" dirty="0"/>
              <a:t>3</a:t>
            </a:r>
            <a:r>
              <a:rPr lang="en-US" sz="2800" baseline="30000" dirty="0"/>
              <a:t>5</a:t>
            </a:r>
            <a:r>
              <a:rPr lang="en-US" sz="2800" dirty="0"/>
              <a:t>7</a:t>
            </a:r>
            <a:r>
              <a:rPr lang="en-US" sz="2800" baseline="30000" dirty="0"/>
              <a:t>2</a:t>
            </a:r>
            <a:r>
              <a:rPr lang="en-US" sz="2800" dirty="0"/>
              <a:t> , 2</a:t>
            </a:r>
            <a:r>
              <a:rPr lang="en-US" sz="2800" baseline="30000" dirty="0"/>
              <a:t>4</a:t>
            </a:r>
            <a:r>
              <a:rPr lang="en-US" sz="2800" dirty="0"/>
              <a:t>3</a:t>
            </a:r>
            <a:r>
              <a:rPr lang="en-US" sz="2800" baseline="30000" dirty="0"/>
              <a:t>3)</a:t>
            </a:r>
            <a:r>
              <a:rPr lang="en-US" sz="2800" dirty="0"/>
              <a:t> = 2</a:t>
            </a:r>
            <a:r>
              <a:rPr lang="en-US" sz="2800" baseline="30000" dirty="0"/>
              <a:t>max(3,4)</a:t>
            </a:r>
            <a:r>
              <a:rPr lang="en-US" sz="2800" dirty="0"/>
              <a:t>3</a:t>
            </a:r>
            <a:r>
              <a:rPr lang="en-US" sz="2800" baseline="30000" dirty="0"/>
              <a:t>max(5,3)</a:t>
            </a:r>
            <a:r>
              <a:rPr lang="en-US" sz="2800" dirty="0"/>
              <a:t>7</a:t>
            </a:r>
            <a:r>
              <a:rPr lang="en-US" sz="2800" baseline="30000" dirty="0"/>
              <a:t>max(2,0)</a:t>
            </a:r>
          </a:p>
          <a:p>
            <a:pPr marL="274320" indent="-274320">
              <a:spcBef>
                <a:spcPts val="600"/>
              </a:spcBef>
            </a:pPr>
            <a:r>
              <a:rPr lang="en-US" sz="2800" dirty="0"/>
              <a:t>				  = 2</a:t>
            </a:r>
            <a:r>
              <a:rPr lang="en-US" sz="2800" baseline="30000" dirty="0"/>
              <a:t>4</a:t>
            </a:r>
            <a:r>
              <a:rPr lang="en-US" sz="2800" dirty="0"/>
              <a:t>3</a:t>
            </a:r>
            <a:r>
              <a:rPr lang="en-US" sz="2800" baseline="30000" dirty="0"/>
              <a:t>5</a:t>
            </a:r>
            <a:r>
              <a:rPr lang="en-US" sz="2800" dirty="0"/>
              <a:t>7</a:t>
            </a:r>
            <a:r>
              <a:rPr lang="en-US" sz="2800" baseline="30000" dirty="0"/>
              <a:t>2 </a:t>
            </a:r>
          </a:p>
          <a:p>
            <a:pPr marL="274320" indent="-274320">
              <a:spcBef>
                <a:spcPts val="600"/>
              </a:spcBef>
            </a:pPr>
            <a:r>
              <a:rPr lang="en-US" sz="2800" dirty="0">
                <a:solidFill>
                  <a:srgbClr val="0000FF"/>
                </a:solidFill>
              </a:rPr>
              <a:t>				</a:t>
            </a:r>
            <a:r>
              <a:rPr lang="en-US" sz="2800" b="1" dirty="0">
                <a:solidFill>
                  <a:srgbClr val="FF0000"/>
                </a:solidFill>
              </a:rPr>
              <a:t>[Note: 7</a:t>
            </a:r>
            <a:r>
              <a:rPr lang="en-US" sz="2800" b="1" baseline="30000" dirty="0">
                <a:solidFill>
                  <a:srgbClr val="FF0000"/>
                </a:solidFill>
              </a:rPr>
              <a:t>0 </a:t>
            </a:r>
            <a:r>
              <a:rPr lang="en-US" sz="2800" b="1" dirty="0">
                <a:solidFill>
                  <a:srgbClr val="FF0000"/>
                </a:solidFill>
              </a:rPr>
              <a:t>= 1]</a:t>
            </a:r>
            <a:endParaRPr lang="en-US" sz="2800" baseline="30000" dirty="0"/>
          </a:p>
          <a:p>
            <a:pPr marL="274320" indent="-274320">
              <a:spcBef>
                <a:spcPts val="600"/>
              </a:spcBef>
            </a:pPr>
            <a:r>
              <a:rPr lang="en-US" sz="2800" dirty="0"/>
              <a:t>			  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Practice @ Home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93789" y="2828836"/>
            <a:ext cx="88864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Relevant odd-numbered Exercises </a:t>
            </a:r>
            <a:r>
              <a:rPr lang="en-US" sz="2800" dirty="0">
                <a:solidFill>
                  <a:srgbClr val="FF0000"/>
                </a:solidFill>
              </a:rPr>
              <a:t>from your text book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61732" y="1802837"/>
            <a:ext cx="80648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400" i="1" dirty="0"/>
              <a:t>Discrete Mathematics and its applications with </a:t>
            </a:r>
            <a:r>
              <a:rPr lang="en-US" sz="2400" i="1" dirty="0" err="1"/>
              <a:t>combinatorics</a:t>
            </a:r>
            <a:r>
              <a:rPr lang="en-US" sz="2400" i="1" dirty="0"/>
              <a:t> and graph theory (7</a:t>
            </a:r>
            <a:r>
              <a:rPr lang="en-US" sz="2400" i="1" baseline="30000" dirty="0"/>
              <a:t>th</a:t>
            </a:r>
            <a:r>
              <a:rPr lang="en-US" sz="2400" i="1" dirty="0"/>
              <a:t> edition) </a:t>
            </a:r>
            <a:r>
              <a:rPr lang="en-US" sz="2400" dirty="0"/>
              <a:t>by Kenneth H. Rosen [Indian Adaptation by KAMALA KRITHIVASAN], published by McGraw-Hill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32072" y="1800664"/>
            <a:ext cx="81773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Discrete Mathematics, </a:t>
            </a:r>
            <a:r>
              <a:rPr lang="en-US" sz="2000" i="1" dirty="0"/>
              <a:t>Richard</a:t>
            </a:r>
            <a:r>
              <a:rPr lang="en-US" sz="2000" dirty="0"/>
              <a:t> </a:t>
            </a:r>
            <a:r>
              <a:rPr lang="en-US" sz="2000" i="1" dirty="0" err="1"/>
              <a:t>Johnsonbaugh</a:t>
            </a:r>
            <a:r>
              <a:rPr lang="en-US" sz="2000" dirty="0"/>
              <a:t>, Pearson education,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Discrete Mathematical Structures, </a:t>
            </a:r>
            <a:r>
              <a:rPr lang="en-US" sz="2000" i="1" dirty="0"/>
              <a:t>Bernard</a:t>
            </a:r>
            <a:r>
              <a:rPr lang="en-US" sz="2000" dirty="0"/>
              <a:t> </a:t>
            </a:r>
            <a:r>
              <a:rPr lang="en-US" sz="2000" i="1" dirty="0" err="1"/>
              <a:t>Kolman</a:t>
            </a:r>
            <a:r>
              <a:rPr lang="en-US" sz="2000" dirty="0"/>
              <a:t>, </a:t>
            </a:r>
            <a:r>
              <a:rPr lang="en-US" sz="2000" i="1" dirty="0"/>
              <a:t>Robert C. Busby</a:t>
            </a:r>
            <a:r>
              <a:rPr lang="en-US" sz="2000" dirty="0"/>
              <a:t>, </a:t>
            </a:r>
            <a:r>
              <a:rPr lang="en-US" sz="2000" i="1" dirty="0"/>
              <a:t>Sharon</a:t>
            </a:r>
            <a:r>
              <a:rPr lang="en-US" sz="2000" dirty="0"/>
              <a:t> </a:t>
            </a:r>
            <a:r>
              <a:rPr lang="en-US" sz="2000" i="1" dirty="0"/>
              <a:t>Ross, </a:t>
            </a:r>
            <a:r>
              <a:rPr lang="en-US" sz="2000" dirty="0"/>
              <a:t>Prentice-Hall,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i="1" dirty="0"/>
              <a:t>SCHAUM’S  outlines Discrete Mathematics(2</a:t>
            </a:r>
            <a:r>
              <a:rPr lang="en-US" sz="2000" i="1" baseline="30000" dirty="0"/>
              <a:t>nd</a:t>
            </a:r>
            <a:r>
              <a:rPr lang="en-US" sz="2000" i="1" dirty="0"/>
              <a:t> edition)</a:t>
            </a:r>
            <a:r>
              <a:rPr lang="en-US" sz="2000" dirty="0"/>
              <a:t>, by </a:t>
            </a:r>
            <a:r>
              <a:rPr lang="en-US" sz="2000" i="1" dirty="0"/>
              <a:t>Seymour</a:t>
            </a:r>
            <a:r>
              <a:rPr lang="en-US" sz="2000" dirty="0"/>
              <a:t> </a:t>
            </a:r>
            <a:r>
              <a:rPr lang="en-US" sz="2000" i="1" dirty="0" err="1"/>
              <a:t>Lipschutz</a:t>
            </a:r>
            <a:r>
              <a:rPr lang="en-US" sz="2000" dirty="0"/>
              <a:t>, </a:t>
            </a:r>
            <a:r>
              <a:rPr lang="en-US" sz="2000" i="1" dirty="0"/>
              <a:t>Marc</a:t>
            </a:r>
            <a:r>
              <a:rPr lang="en-US" sz="2000" dirty="0"/>
              <a:t> </a:t>
            </a:r>
            <a:r>
              <a:rPr lang="en-US" sz="2000" i="1" dirty="0"/>
              <a:t>Lipson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3550</TotalTime>
  <Words>2053</Words>
  <Application>Microsoft Office PowerPoint</Application>
  <PresentationFormat>On-screen Show (4:3)</PresentationFormat>
  <Paragraphs>174</Paragraphs>
  <Slides>26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Corbel</vt:lpstr>
      <vt:lpstr>open-sans</vt:lpstr>
      <vt:lpstr>urw-din</vt:lpstr>
      <vt:lpstr>Wingdings</vt:lpstr>
      <vt:lpstr>Spectrum</vt:lpstr>
      <vt:lpstr>Primes and Greatest Common Divisors </vt:lpstr>
      <vt:lpstr>Lecture Outline</vt:lpstr>
      <vt:lpstr>Objectives and Outcomes</vt:lpstr>
      <vt:lpstr>Primes and Composite Numbers</vt:lpstr>
      <vt:lpstr>Primes and Composite Numbers</vt:lpstr>
      <vt:lpstr>Example 1 (p. 223)</vt:lpstr>
      <vt:lpstr>Primes and Composite Numbers</vt:lpstr>
      <vt:lpstr>Fundamental Theorem of Arithmetic</vt:lpstr>
      <vt:lpstr>PowerPoint Presentation</vt:lpstr>
      <vt:lpstr>PowerPoint Presentation</vt:lpstr>
      <vt:lpstr>Determining whether a given  integer is Prime or Composite</vt:lpstr>
      <vt:lpstr>Determining whether a given  integer is Prime or Composite</vt:lpstr>
      <vt:lpstr>PowerPoint Presentation</vt:lpstr>
      <vt:lpstr>Greatest Common Divisor(gcd)</vt:lpstr>
      <vt:lpstr>Relatively Prime</vt:lpstr>
      <vt:lpstr>PowerPoint Presentation</vt:lpstr>
      <vt:lpstr>Least Common Multiple(lcm)</vt:lpstr>
      <vt:lpstr>Finding gcd &amp; lcm of two integers using Prime Factorization</vt:lpstr>
      <vt:lpstr>PowerPoint Presentation</vt:lpstr>
      <vt:lpstr>PowerPoint Presentation</vt:lpstr>
      <vt:lpstr>Example 14(p. 229)</vt:lpstr>
      <vt:lpstr>Class Work</vt:lpstr>
      <vt:lpstr>Example 15(p. 230)</vt:lpstr>
      <vt:lpstr>Practice @ Home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Ashraf Uddin</cp:lastModifiedBy>
  <cp:revision>91</cp:revision>
  <dcterms:created xsi:type="dcterms:W3CDTF">2018-12-10T17:20:29Z</dcterms:created>
  <dcterms:modified xsi:type="dcterms:W3CDTF">2023-02-21T14:39:11Z</dcterms:modified>
</cp:coreProperties>
</file>