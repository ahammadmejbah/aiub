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sldIdLst>
    <p:sldId id="256" r:id="rId2"/>
    <p:sldId id="313" r:id="rId3"/>
    <p:sldId id="293" r:id="rId4"/>
    <p:sldId id="295" r:id="rId5"/>
    <p:sldId id="297" r:id="rId6"/>
    <p:sldId id="314" r:id="rId7"/>
    <p:sldId id="299" r:id="rId8"/>
    <p:sldId id="300" r:id="rId9"/>
    <p:sldId id="298" r:id="rId10"/>
    <p:sldId id="307" r:id="rId11"/>
    <p:sldId id="308" r:id="rId12"/>
    <p:sldId id="309" r:id="rId13"/>
    <p:sldId id="310" r:id="rId14"/>
    <p:sldId id="312" r:id="rId15"/>
    <p:sldId id="31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3447" autoAdjust="0"/>
  </p:normalViewPr>
  <p:slideViewPr>
    <p:cSldViewPr snapToGrid="0">
      <p:cViewPr varScale="1">
        <p:scale>
          <a:sx n="62" d="100"/>
          <a:sy n="62" d="100"/>
        </p:scale>
        <p:origin x="42" y="3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7AF214CD-E0DE-48B8-8F33-85F80140BCFB}"/>
    <pc:docChg chg="modSld sldOrd">
      <pc:chgData name="Saikat Baul" userId="dae859d7-ea3e-4a5d-83a1-d953f3940120" providerId="ADAL" clId="{7AF214CD-E0DE-48B8-8F33-85F80140BCFB}" dt="2025-03-15T14:35:10.931" v="1"/>
      <pc:docMkLst>
        <pc:docMk/>
      </pc:docMkLst>
      <pc:sldChg chg="ord">
        <pc:chgData name="Saikat Baul" userId="dae859d7-ea3e-4a5d-83a1-d953f3940120" providerId="ADAL" clId="{7AF214CD-E0DE-48B8-8F33-85F80140BCFB}" dt="2025-03-15T14:35:10.931" v="1"/>
        <pc:sldMkLst>
          <pc:docMk/>
          <pc:sldMk cId="3411684674" sldId="310"/>
        </pc:sldMkLst>
      </pc:sldChg>
    </pc:docChg>
  </pc:docChgLst>
  <pc:docChgLst>
    <pc:chgData name="MD. RAIHAN MAHMUD" userId="4a62f7df-4410-48f1-90fd-18890a1620a6" providerId="ADAL" clId="{E6A9731B-BF73-4583-80A8-4A1CA11ACDE6}"/>
    <pc:docChg chg="custSel modSld">
      <pc:chgData name="MD. RAIHAN MAHMUD" userId="4a62f7df-4410-48f1-90fd-18890a1620a6" providerId="ADAL" clId="{E6A9731B-BF73-4583-80A8-4A1CA11ACDE6}" dt="2025-10-29T09:24:26.751" v="35" actId="1076"/>
      <pc:docMkLst>
        <pc:docMk/>
      </pc:docMkLst>
      <pc:sldChg chg="delSp modSp mod">
        <pc:chgData name="MD. RAIHAN MAHMUD" userId="4a62f7df-4410-48f1-90fd-18890a1620a6" providerId="ADAL" clId="{E6A9731B-BF73-4583-80A8-4A1CA11ACDE6}" dt="2025-10-29T09:24:26.751" v="35" actId="1076"/>
        <pc:sldMkLst>
          <pc:docMk/>
          <pc:sldMk cId="2664565021" sldId="256"/>
        </pc:sldMkLst>
        <pc:spChg chg="del">
          <ac:chgData name="MD. RAIHAN MAHMUD" userId="4a62f7df-4410-48f1-90fd-18890a1620a6" providerId="ADAL" clId="{E6A9731B-BF73-4583-80A8-4A1CA11ACDE6}" dt="2025-10-29T09:24:20.469" v="33" actId="478"/>
          <ac:spMkLst>
            <pc:docMk/>
            <pc:sldMk cId="2664565021" sldId="256"/>
            <ac:spMk id="4" creationId="{A777D435-A5B1-F296-B90B-4CE6D7D1AC8D}"/>
          </ac:spMkLst>
        </pc:spChg>
        <pc:spChg chg="mod">
          <ac:chgData name="MD. RAIHAN MAHMUD" userId="4a62f7df-4410-48f1-90fd-18890a1620a6" providerId="ADAL" clId="{E6A9731B-BF73-4583-80A8-4A1CA11ACDE6}" dt="2025-10-29T09:24:26.751" v="35" actId="1076"/>
          <ac:spMkLst>
            <pc:docMk/>
            <pc:sldMk cId="2664565021" sldId="256"/>
            <ac:spMk id="24" creationId="{C2082529-78D7-4EA7-BFF9-A1D1F62040C8}"/>
          </ac:spMkLst>
        </pc:spChg>
        <pc:picChg chg="del">
          <ac:chgData name="MD. RAIHAN MAHMUD" userId="4a62f7df-4410-48f1-90fd-18890a1620a6" providerId="ADAL" clId="{E6A9731B-BF73-4583-80A8-4A1CA11ACDE6}" dt="2025-10-29T09:24:21.218" v="34" actId="478"/>
          <ac:picMkLst>
            <pc:docMk/>
            <pc:sldMk cId="2664565021" sldId="256"/>
            <ac:picMk id="2" creationId="{344270E6-900A-ECC5-70F8-9779BC90F146}"/>
          </ac:picMkLst>
        </pc:pic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293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293"/>
            <ac:spMk id="4" creationId="{97933A36-B0B5-9997-56BC-6D0BBA0D031E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295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295"/>
            <ac:spMk id="4" creationId="{1761616C-BB6C-0C2A-8ED0-3C10F599C6DD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297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297"/>
            <ac:spMk id="4" creationId="{68BC0F1A-8886-94B9-3267-48CF1CC23CFD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298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298"/>
            <ac:spMk id="7" creationId="{BA1A92BF-C439-B5DA-6DA8-60F0A561BFD3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299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299"/>
            <ac:spMk id="4" creationId="{443F4437-BB4E-D0B6-96B1-1E9871A28BF5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300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300"/>
            <ac:spMk id="4" creationId="{71A5527B-1A92-9FCD-F5D8-1A8423289D66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307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307"/>
            <ac:spMk id="4" creationId="{F6A708E2-E46B-4881-38E6-B24187D0FB1B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308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308"/>
            <ac:spMk id="4" creationId="{886BA8D7-B2BF-878A-7F0C-E10F2B006CC1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309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309"/>
            <ac:spMk id="4" creationId="{0DC9FB57-00F2-D2E7-4EC6-9EE8E146CDE7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3411684674" sldId="310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3411684674" sldId="310"/>
            <ac:spMk id="4" creationId="{6BDEC8BA-A092-BA65-E675-604AB01E18B5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64039236" sldId="311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64039236" sldId="311"/>
            <ac:spMk id="4" creationId="{25312C3B-B9B9-5739-8FF4-272BFD29E158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2980895392" sldId="312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2980895392" sldId="312"/>
            <ac:spMk id="6" creationId="{00000000-0000-0000-0000-000000000000}"/>
          </ac:spMkLst>
        </pc:spChg>
      </pc:sldChg>
      <pc:sldChg chg="modSp">
        <pc:chgData name="MD. RAIHAN MAHMUD" userId="4a62f7df-4410-48f1-90fd-18890a1620a6" providerId="ADAL" clId="{E6A9731B-BF73-4583-80A8-4A1CA11ACDE6}" dt="2025-10-29T09:22:32.887" v="32"/>
        <pc:sldMkLst>
          <pc:docMk/>
          <pc:sldMk cId="1641042918" sldId="313"/>
        </pc:sldMkLst>
        <pc:spChg chg="mod">
          <ac:chgData name="MD. RAIHAN MAHMUD" userId="4a62f7df-4410-48f1-90fd-18890a1620a6" providerId="ADAL" clId="{E6A9731B-BF73-4583-80A8-4A1CA11ACDE6}" dt="2025-10-29T09:22:32.887" v="32"/>
          <ac:spMkLst>
            <pc:docMk/>
            <pc:sldMk cId="1641042918" sldId="313"/>
            <ac:spMk id="4" creationId="{EB11A590-4A62-E828-3EFD-C053B34D4D04}"/>
          </ac:spMkLst>
        </pc:spChg>
      </pc:sldChg>
    </pc:docChg>
  </pc:docChgLst>
  <pc:docChgLst>
    <pc:chgData name="Saikat Baul" userId="dae859d7-ea3e-4a5d-83a1-d953f3940120" providerId="ADAL" clId="{C6A6FCEC-4417-450F-BCDE-5CA5509732F0}"/>
    <pc:docChg chg="undo redo custSel modSld">
      <pc:chgData name="Saikat Baul" userId="dae859d7-ea3e-4a5d-83a1-d953f3940120" providerId="ADAL" clId="{C6A6FCEC-4417-450F-BCDE-5CA5509732F0}" dt="2025-03-03T14:04:58.450" v="149"/>
      <pc:docMkLst>
        <pc:docMk/>
      </pc:docMkLst>
      <pc:sldChg chg="modSp mod">
        <pc:chgData name="Saikat Baul" userId="dae859d7-ea3e-4a5d-83a1-d953f3940120" providerId="ADAL" clId="{C6A6FCEC-4417-450F-BCDE-5CA5509732F0}" dt="2025-03-01T08:35:44.127" v="22" actId="120"/>
        <pc:sldMkLst>
          <pc:docMk/>
          <pc:sldMk cId="2664565021" sldId="256"/>
        </pc:sldMkLst>
        <pc:spChg chg="mod">
          <ac:chgData name="Saikat Baul" userId="dae859d7-ea3e-4a5d-83a1-d953f3940120" providerId="ADAL" clId="{C6A6FCEC-4417-450F-BCDE-5CA5509732F0}" dt="2025-03-01T08:35:44.127" v="22" actId="120"/>
          <ac:spMkLst>
            <pc:docMk/>
            <pc:sldMk cId="2664565021" sldId="256"/>
            <ac:spMk id="24" creationId="{C2082529-78D7-4EA7-BFF9-A1D1F62040C8}"/>
          </ac:spMkLst>
        </pc:spChg>
      </pc:sldChg>
      <pc:sldChg chg="delSp mod">
        <pc:chgData name="Saikat Baul" userId="dae859d7-ea3e-4a5d-83a1-d953f3940120" providerId="ADAL" clId="{C6A6FCEC-4417-450F-BCDE-5CA5509732F0}" dt="2025-03-02T07:29:06.968" v="24" actId="478"/>
        <pc:sldMkLst>
          <pc:docMk/>
          <pc:sldMk cId="3411684674" sldId="298"/>
        </pc:sldMkLst>
      </pc:sldChg>
      <pc:sldChg chg="delSp mod">
        <pc:chgData name="Saikat Baul" userId="dae859d7-ea3e-4a5d-83a1-d953f3940120" providerId="ADAL" clId="{C6A6FCEC-4417-450F-BCDE-5CA5509732F0}" dt="2025-03-02T07:28:42.103" v="23" actId="478"/>
        <pc:sldMkLst>
          <pc:docMk/>
          <pc:sldMk cId="3411684674" sldId="301"/>
        </pc:sldMkLst>
      </pc:sldChg>
      <pc:sldChg chg="delSp mod">
        <pc:chgData name="Saikat Baul" userId="dae859d7-ea3e-4a5d-83a1-d953f3940120" providerId="ADAL" clId="{C6A6FCEC-4417-450F-BCDE-5CA5509732F0}" dt="2025-03-02T07:29:12.017" v="25" actId="478"/>
        <pc:sldMkLst>
          <pc:docMk/>
          <pc:sldMk cId="3411684674" sldId="302"/>
        </pc:sldMkLst>
      </pc:sldChg>
      <pc:sldChg chg="delSp mod">
        <pc:chgData name="Saikat Baul" userId="dae859d7-ea3e-4a5d-83a1-d953f3940120" providerId="ADAL" clId="{C6A6FCEC-4417-450F-BCDE-5CA5509732F0}" dt="2025-03-02T07:29:16.114" v="26" actId="478"/>
        <pc:sldMkLst>
          <pc:docMk/>
          <pc:sldMk cId="3411684674" sldId="303"/>
        </pc:sldMkLst>
      </pc:sldChg>
      <pc:sldChg chg="delSp mod">
        <pc:chgData name="Saikat Baul" userId="dae859d7-ea3e-4a5d-83a1-d953f3940120" providerId="ADAL" clId="{C6A6FCEC-4417-450F-BCDE-5CA5509732F0}" dt="2025-03-02T07:29:20.617" v="27" actId="478"/>
        <pc:sldMkLst>
          <pc:docMk/>
          <pc:sldMk cId="3411684674" sldId="305"/>
        </pc:sldMkLst>
      </pc:sldChg>
      <pc:sldChg chg="modSp mod">
        <pc:chgData name="Saikat Baul" userId="dae859d7-ea3e-4a5d-83a1-d953f3940120" providerId="ADAL" clId="{C6A6FCEC-4417-450F-BCDE-5CA5509732F0}" dt="2025-03-03T13:51:46.327" v="97" actId="20577"/>
        <pc:sldMkLst>
          <pc:docMk/>
          <pc:sldMk cId="3411684674" sldId="306"/>
        </pc:sldMkLst>
        <pc:spChg chg="mod">
          <ac:chgData name="Saikat Baul" userId="dae859d7-ea3e-4a5d-83a1-d953f3940120" providerId="ADAL" clId="{C6A6FCEC-4417-450F-BCDE-5CA5509732F0}" dt="2025-03-03T13:51:46.327" v="97" actId="20577"/>
          <ac:spMkLst>
            <pc:docMk/>
            <pc:sldMk cId="3411684674" sldId="306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3:59:08.010" v="135" actId="20577"/>
        <pc:sldMkLst>
          <pc:docMk/>
          <pc:sldMk cId="3411684674" sldId="307"/>
        </pc:sldMkLst>
        <pc:spChg chg="mod">
          <ac:chgData name="Saikat Baul" userId="dae859d7-ea3e-4a5d-83a1-d953f3940120" providerId="ADAL" clId="{C6A6FCEC-4417-450F-BCDE-5CA5509732F0}" dt="2025-03-03T13:59:08.010" v="135" actId="20577"/>
          <ac:spMkLst>
            <pc:docMk/>
            <pc:sldMk cId="3411684674" sldId="307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4:00:11.833" v="137" actId="20577"/>
        <pc:sldMkLst>
          <pc:docMk/>
          <pc:sldMk cId="3411684674" sldId="308"/>
        </pc:sldMkLst>
        <pc:spChg chg="mod">
          <ac:chgData name="Saikat Baul" userId="dae859d7-ea3e-4a5d-83a1-d953f3940120" providerId="ADAL" clId="{C6A6FCEC-4417-450F-BCDE-5CA5509732F0}" dt="2025-03-03T14:00:11.833" v="137" actId="20577"/>
          <ac:spMkLst>
            <pc:docMk/>
            <pc:sldMk cId="3411684674" sldId="308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4:04:58.450" v="149"/>
        <pc:sldMkLst>
          <pc:docMk/>
          <pc:sldMk cId="3411684674" sldId="310"/>
        </pc:sldMkLst>
        <pc:spChg chg="mod">
          <ac:chgData name="Saikat Baul" userId="dae859d7-ea3e-4a5d-83a1-d953f3940120" providerId="ADAL" clId="{C6A6FCEC-4417-450F-BCDE-5CA5509732F0}" dt="2025-03-03T14:02:44.495" v="148" actId="313"/>
          <ac:spMkLst>
            <pc:docMk/>
            <pc:sldMk cId="3411684674" sldId="310"/>
            <ac:spMk id="2" creationId="{00000000-0000-0000-0000-000000000000}"/>
          </ac:spMkLst>
        </pc:spChg>
        <pc:spChg chg="mod">
          <ac:chgData name="Saikat Baul" userId="dae859d7-ea3e-4a5d-83a1-d953f3940120" providerId="ADAL" clId="{C6A6FCEC-4417-450F-BCDE-5CA5509732F0}" dt="2025-03-03T14:04:58.450" v="149"/>
          <ac:spMkLst>
            <pc:docMk/>
            <pc:sldMk cId="3411684674" sldId="31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07/02/2026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23E7-B30D-2BFF-95D0-3721675F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119FA-F709-49A8-A58E-F227B09E9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ED91D-882A-8595-E3DC-70CF9729F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044CF-4768-6FA5-EB94-97DB7CC1B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808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795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321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hammadmejbah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1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&amp; software engineering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8143811" y="4493223"/>
            <a:ext cx="4896908" cy="1646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Mejbah Ahammad</a:t>
            </a:r>
          </a:p>
          <a:p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Lecturer, CS,  AIUB</a:t>
            </a:r>
          </a:p>
          <a:p>
            <a:r>
              <a:rPr 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+8801308757586</a:t>
            </a:r>
          </a:p>
          <a:p>
            <a:r>
              <a:rPr lang="en-US" sz="2400" cap="none" dirty="0">
                <a:solidFill>
                  <a:srgbClr val="F49100"/>
                </a:solidFill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ahammadmejbah@aiub.</a:t>
            </a:r>
            <a:r>
              <a:rPr lang="en-US" sz="2400" cap="none" dirty="0">
                <a:solidFill>
                  <a:schemeClr val="tx1"/>
                </a:solidFill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edu</a:t>
            </a:r>
            <a:endParaRPr lang="en-US" sz="2400" cap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r>
              <a:rPr lang="en-US" sz="2400" cap="none" dirty="0">
                <a:solidFill>
                  <a:schemeClr val="tx1"/>
                </a:solidFill>
                <a:latin typeface="Georgia" panose="02040502050405020303" pitchFamily="18" charset="0"/>
              </a:rPr>
              <a:t>Room Number: DN0922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8EEF3-BAF9-3363-7CAE-476D516A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DC0F2-2ED6-9CFB-DE25-415A2DAC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5F9D-97A7-3ABA-651D-45BB16B88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36" y="2063932"/>
            <a:ext cx="10953310" cy="431074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Technologies that make it easier, faster, and less expensive to build high-quality computer programs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A discipline aiming at producing fault-free software, delivered on time and within budget, that satisfies the users’ needs.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en-US" altLang="zh-TW" sz="2200" dirty="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An engineering:  </a:t>
            </a:r>
            <a:r>
              <a:rPr lang="en-US" altLang="zh-TW" sz="2200" dirty="0">
                <a:latin typeface="+mj-lt"/>
              </a:rPr>
              <a:t>A set of activities in software production 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The philosophy of established engineering disciplines to solve what are termed software crisis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endParaRPr lang="en-US" altLang="zh-TW" sz="2200" dirty="0">
              <a:latin typeface="+mj-lt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F69B8F5-4CB5-7998-D2D4-ED83013D3973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11A590-4A62-E828-3EFD-C053B34D4D04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164104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of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57550"/>
            <a:ext cx="10652865" cy="32734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The aim of Software Engineering is to solve Software Crisis: 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Late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Over budget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Low quality with lots of faults</a:t>
            </a: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Software crisis is still present over 35 years later!</a:t>
            </a:r>
            <a:endParaRPr lang="en-US" altLang="zh-TW" sz="2000" dirty="0">
              <a:latin typeface="+mj-lt"/>
              <a:ea typeface="PMingLiU" pitchFamily="18" charset="-120"/>
            </a:endParaRP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933A36-B0B5-9997-56BC-6D0BBA0D031E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070" y="1928753"/>
            <a:ext cx="11186738" cy="429831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logical</a:t>
            </a:r>
            <a:r>
              <a:rPr lang="en-US" altLang="zh-TW" sz="2200" dirty="0">
                <a:latin typeface="+mj-lt"/>
              </a:rPr>
              <a:t> (intangible) rather than a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physical</a:t>
            </a:r>
            <a:r>
              <a:rPr lang="en-US" altLang="zh-TW" sz="2200" dirty="0">
                <a:latin typeface="+mj-lt"/>
              </a:rPr>
              <a:t> system element 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Being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developed or engineered</a:t>
            </a:r>
            <a:r>
              <a:rPr lang="en-US" altLang="zh-TW" sz="2200" dirty="0">
                <a:latin typeface="+mj-lt"/>
              </a:rPr>
              <a:t> but not being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manufactured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cost concentrating in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engineering</a:t>
            </a:r>
            <a:r>
              <a:rPr lang="en-US" altLang="zh-TW" sz="2200" dirty="0">
                <a:latin typeface="+mj-lt"/>
              </a:rPr>
              <a:t>, not in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materials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does not “wearing out”</a:t>
            </a:r>
            <a:r>
              <a:rPr lang="en-US" altLang="zh-TW" sz="2200" dirty="0">
                <a:latin typeface="+mj-lt"/>
              </a:rPr>
              <a:t> but “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deteriorating</a:t>
            </a:r>
            <a:r>
              <a:rPr lang="en-US" altLang="zh-TW" sz="2200" dirty="0">
                <a:latin typeface="+mj-lt"/>
              </a:rPr>
              <a:t>”(not destroyed after lifetime like hardware, but backdated by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aging </a:t>
            </a:r>
            <a:r>
              <a:rPr lang="en-US" altLang="zh-TW" sz="2200" dirty="0">
                <a:latin typeface="+mj-lt"/>
              </a:rPr>
              <a:t>that needs to update)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ea typeface="PMingLiU" pitchFamily="18" charset="-120"/>
              </a:rPr>
              <a:t>Software is a ‘</a:t>
            </a:r>
            <a:r>
              <a:rPr lang="en-US" altLang="zh-TW" sz="2200" dirty="0">
                <a:solidFill>
                  <a:srgbClr val="00B050"/>
                </a:solidFill>
                <a:ea typeface="PMingLiU" pitchFamily="18" charset="-120"/>
              </a:rPr>
              <a:t>differentiator</a:t>
            </a:r>
            <a:r>
              <a:rPr lang="en-US" altLang="zh-TW" sz="2200" dirty="0">
                <a:ea typeface="PMingLiU" pitchFamily="18" charset="-120"/>
              </a:rPr>
              <a:t>’ (different sub-systems, e.g. </a:t>
            </a:r>
            <a:r>
              <a:rPr lang="en-GB" sz="2200" dirty="0">
                <a:solidFill>
                  <a:srgbClr val="0070C0"/>
                </a:solidFill>
              </a:rPr>
              <a:t>cashier’s workstation in a supermarket</a:t>
            </a:r>
            <a:r>
              <a:rPr lang="en-US" altLang="zh-TW" sz="2200" dirty="0">
                <a:ea typeface="PMingLiU" pitchFamily="18" charset="-120"/>
              </a:rPr>
              <a:t>)</a:t>
            </a:r>
            <a:endParaRPr lang="en-US" altLang="zh-TW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Without “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spare parts</a:t>
            </a:r>
            <a:r>
              <a:rPr lang="en-US" altLang="zh-TW" sz="2200" dirty="0">
                <a:latin typeface="+mj-lt"/>
              </a:rPr>
              <a:t>” in software maintenance (no extra useless features in software)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Most software continues to be custom-built (based on the requirements)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4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61616C-BB6C-0C2A-8ED0-3C10F599C6D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development life cycle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19317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GB" sz="2000" dirty="0">
                <a:latin typeface="+mj-lt"/>
              </a:rPr>
              <a:t>A structured set of activities required to develop a software system</a:t>
            </a:r>
            <a:endParaRPr lang="en-US" sz="20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The way we produce software, including:</a:t>
            </a:r>
            <a:br>
              <a:rPr lang="en-US" altLang="zh-TW" sz="2000" dirty="0">
                <a:latin typeface="+mj-lt"/>
                <a:ea typeface="PMingLiU" pitchFamily="18" charset="-120"/>
              </a:rPr>
            </a:b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Planning 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Requirements Analysis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Design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Development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Testing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Final release / Deployment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Maintenance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5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BC0F1A-8886-94B9-3267-48CF1CC23CF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923D-EB03-790F-A064-D7DDBF94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Software development life cycle (SDLC)</a:t>
            </a:r>
            <a:endParaRPr lang="en-US" sz="3200" b="1" dirty="0"/>
          </a:p>
        </p:txBody>
      </p:sp>
      <p:pic>
        <p:nvPicPr>
          <p:cNvPr id="6" name="Content Placeholder 5" descr="A circular chart with text&#10;&#10;AI-generated content may be incorrect.">
            <a:extLst>
              <a:ext uri="{FF2B5EF4-FFF2-40B4-BE49-F238E27FC236}">
                <a16:creationId xmlns:a16="http://schemas.microsoft.com/office/drawing/2014/main" id="{0FBC46FD-FB6C-4C71-9FB7-1D8057520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2288" y="1832817"/>
            <a:ext cx="4807424" cy="502518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01CA5-6A70-2EED-5DD8-4AE08FA8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1A4ACF4-C431-6144-17A3-68B42B5E7210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- 6</a:t>
            </a:r>
          </a:p>
        </p:txBody>
      </p:sp>
    </p:spTree>
    <p:extLst>
      <p:ext uri="{BB962C8B-B14F-4D97-AF65-F5344CB8AC3E}">
        <p14:creationId xmlns:p14="http://schemas.microsoft.com/office/powerpoint/2010/main" val="204604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&amp; bad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33303"/>
            <a:ext cx="10652865" cy="45458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Good software is maintained—bad software is discarded</a:t>
            </a:r>
            <a:br>
              <a:rPr lang="en-US" altLang="zh-TW" sz="2200" dirty="0">
                <a:latin typeface="+mj-lt"/>
                <a:ea typeface="PMingLiU" pitchFamily="18" charset="-120"/>
              </a:rPr>
            </a:br>
            <a:endParaRPr lang="en-US" altLang="zh-TW" sz="22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 Different types of maintenance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Corrective maintenance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Modification to fix a problem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Enhancement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80%]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latin typeface="+mj-lt"/>
                <a:ea typeface="PMingLiU" pitchFamily="18" charset="-120"/>
              </a:rPr>
              <a:t>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Perfective maintenance (modification to improve usability,…)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60%]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Adaptive maintenance (modification to keep up-to-date)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20%]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Preventive maintenance (modification to avoid any future error)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- 7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3F4437-BB4E-D0B6-96B1-1E9871A28BF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Faults in software development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1998618"/>
            <a:ext cx="10953310" cy="451974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zh-TW" altLang="en-US" sz="2600" dirty="0">
                <a:latin typeface="+mj-lt"/>
                <a:ea typeface="PMingLiU" pitchFamily="18" charset="-120"/>
              </a:rPr>
              <a:t>60 </a:t>
            </a:r>
            <a:r>
              <a:rPr lang="en-US" altLang="zh-TW" sz="2600" dirty="0">
                <a:latin typeface="+mj-lt"/>
                <a:ea typeface="PMingLiU" pitchFamily="18" charset="-120"/>
              </a:rPr>
              <a:t>to 70 percent of faults are specification and design  faults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Data of Kelly, </a:t>
            </a:r>
            <a:r>
              <a:rPr lang="en-US" altLang="zh-TW" sz="2600" dirty="0" err="1">
                <a:solidFill>
                  <a:srgbClr val="0070C0"/>
                </a:solidFill>
                <a:latin typeface="+mj-lt"/>
                <a:ea typeface="PMingLiU" pitchFamily="18" charset="-120"/>
              </a:rPr>
              <a:t>Sherif</a:t>
            </a: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, and Hops [1992]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1.9 faults per page of specification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0.9 faults per page of design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0.3 faults per page of code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Data of Bhandari et al. [1994]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600" b="1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    </a:t>
            </a:r>
            <a:r>
              <a:rPr lang="en-US" altLang="zh-TW" sz="2600" dirty="0">
                <a:latin typeface="+mj-lt"/>
                <a:ea typeface="PMingLiU" pitchFamily="18" charset="-120"/>
              </a:rPr>
              <a:t>Faults at end of the design phase of the new version of the product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13% of faults from previous version of product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16% of faults in new specifications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71% of faults in new design</a:t>
            </a: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- 8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A5527B-1A92-9FCD-F5D8-1A8423289D66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of detection &amp; correction of a fault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038496" y="2022566"/>
          <a:ext cx="10182497" cy="458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4809524" imgH="3734321" progId="">
                  <p:embed/>
                </p:oleObj>
              </mc:Choice>
              <mc:Fallback>
                <p:oleObj name="Photo Editor Photo" r:id="rId2" imgW="4809524" imgH="3734321" progId="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496" y="2022566"/>
                        <a:ext cx="10182497" cy="4587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9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1A92BF-C439-B5DA-6DA8-60F0A561BFD3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36" y="2103121"/>
            <a:ext cx="10953310" cy="4310742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C00000"/>
                </a:solidFill>
                <a:latin typeface="Bell MT" pitchFamily="18" charset="0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System software </a:t>
            </a:r>
            <a:r>
              <a:rPr lang="en-US" altLang="zh-TW" sz="2200" dirty="0">
                <a:latin typeface="+mj-lt"/>
              </a:rPr>
              <a:t>(control computer hardware such as OS)</a:t>
            </a:r>
          </a:p>
          <a:p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   Business software</a:t>
            </a:r>
            <a:r>
              <a:rPr lang="en-US" altLang="zh-TW" sz="2200" dirty="0">
                <a:latin typeface="+mj-lt"/>
              </a:rPr>
              <a:t> (commercial application for business users [SAP, ERP])</a:t>
            </a:r>
          </a:p>
          <a:p>
            <a:pPr lvl="8"/>
            <a:r>
              <a:rPr lang="en-US" altLang="zh-TW" sz="1600" dirty="0">
                <a:latin typeface="+mj-lt"/>
              </a:rPr>
              <a:t>Systems, Applications, and Products</a:t>
            </a:r>
          </a:p>
          <a:p>
            <a:pPr lvl="8"/>
            <a:r>
              <a:rPr lang="en-US" altLang="zh-TW" sz="1600" dirty="0">
                <a:latin typeface="+mj-lt"/>
              </a:rPr>
              <a:t>Enterprise Resource Planning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Engineering and scientific software </a:t>
            </a:r>
            <a:r>
              <a:rPr lang="en-US" altLang="zh-TW" sz="2200" dirty="0">
                <a:latin typeface="+mj-lt"/>
              </a:rPr>
              <a:t>(e.g. statistical analysis-SPSS, </a:t>
            </a:r>
            <a:r>
              <a:rPr lang="en-US" altLang="zh-TW" sz="2200" dirty="0" err="1">
                <a:latin typeface="+mj-lt"/>
              </a:rPr>
              <a:t>Matlab</a:t>
            </a:r>
            <a:r>
              <a:rPr lang="en-US" altLang="zh-TW" sz="2200" dirty="0">
                <a:latin typeface="+mj-lt"/>
              </a:rPr>
              <a:t>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Embedded software </a:t>
            </a:r>
            <a:r>
              <a:rPr lang="en-US" altLang="zh-TW" sz="2200" dirty="0">
                <a:latin typeface="+mj-lt"/>
              </a:rPr>
              <a:t>(e.g. biometric device)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Personal computer software </a:t>
            </a:r>
            <a:r>
              <a:rPr lang="en-US" altLang="zh-TW" sz="2200" dirty="0">
                <a:latin typeface="+mj-lt"/>
              </a:rPr>
              <a:t>(e.g. Microsoft Office)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Web-based software </a:t>
            </a:r>
            <a:r>
              <a:rPr lang="en-US" altLang="zh-TW" sz="2200" dirty="0">
                <a:latin typeface="+mj-lt"/>
              </a:rPr>
              <a:t>(use over the internet with a browser, e.g. Gmail) 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Artificial intelligence software </a:t>
            </a:r>
            <a:r>
              <a:rPr lang="en-US" altLang="zh-TW" sz="2200" dirty="0">
                <a:latin typeface="+mj-lt"/>
              </a:rPr>
              <a:t>(e.g. HCI, Google AI)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A708E2-E46B-4881-38E6-B24187D0FB1B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(management)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420624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</a:rPr>
              <a:t>Myth 1:</a:t>
            </a:r>
            <a:r>
              <a:rPr lang="en-US" altLang="zh-TW" sz="2200" i="1" dirty="0"/>
              <a:t> </a:t>
            </a:r>
            <a:r>
              <a:rPr lang="en-US" altLang="zh-TW" sz="2200" dirty="0">
                <a:latin typeface="+mj-lt"/>
              </a:rPr>
              <a:t>We already have a book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full of standards and procedures </a:t>
            </a:r>
            <a:r>
              <a:rPr lang="en-US" altLang="zh-TW" sz="2200" dirty="0">
                <a:latin typeface="+mj-lt"/>
              </a:rPr>
              <a:t>for building software. Wouldn’t that provide my people with everything they need to know?</a:t>
            </a: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dirty="0">
                <a:latin typeface="+mj-lt"/>
              </a:rPr>
              <a:t> My people have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state-of-the-art software development tools; </a:t>
            </a:r>
            <a:r>
              <a:rPr lang="en-US" altLang="zh-TW" sz="2200" dirty="0">
                <a:latin typeface="+mj-lt"/>
              </a:rPr>
              <a:t>we buy them the newest computers.</a:t>
            </a:r>
            <a:br>
              <a:rPr lang="en-US" altLang="zh-TW" sz="2200" dirty="0">
                <a:latin typeface="+mj-lt"/>
              </a:rPr>
            </a:br>
            <a:endParaRPr lang="zh-TW" altLang="en-US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</a:t>
            </a:r>
            <a:r>
              <a:rPr lang="en-US" altLang="zh-TW" sz="2200" dirty="0">
                <a:solidFill>
                  <a:srgbClr val="FF0000"/>
                </a:solidFill>
              </a:rPr>
              <a:t>: </a:t>
            </a:r>
            <a:r>
              <a:rPr lang="en-US" altLang="zh-TW" sz="2200" dirty="0">
                <a:latin typeface="+mj-lt"/>
              </a:rPr>
              <a:t>If we get behind schedule, we can add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more programmers </a:t>
            </a:r>
            <a:r>
              <a:rPr lang="en-US" altLang="zh-TW" sz="2200" dirty="0">
                <a:latin typeface="+mj-lt"/>
              </a:rPr>
              <a:t>and catch up.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If I outsource the software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project to a third party, </a:t>
            </a:r>
            <a:r>
              <a:rPr lang="en-US" altLang="zh-TW" sz="2200" dirty="0">
                <a:latin typeface="+mj-lt"/>
              </a:rPr>
              <a:t>I can relax and let that firm build it.</a:t>
            </a:r>
          </a:p>
          <a:p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6BA8D7-B2BF-878A-7F0C-E10F2B006CC1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</a:t>
            </a:r>
            <a:r>
              <a:rPr lang="en-GB"/>
              <a:t>(client)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3004457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 </a:t>
            </a: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general statement </a:t>
            </a:r>
            <a:r>
              <a:rPr lang="en-US" altLang="zh-TW" sz="2200" dirty="0">
                <a:latin typeface="+mj-lt"/>
              </a:rPr>
              <a:t>of objectives is sufficient to begin writing programs – we can fill in the details later.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</a:t>
            </a:r>
            <a:r>
              <a:rPr lang="en-US" altLang="zh-TW" sz="2200" dirty="0">
                <a:latin typeface="+mj-lt"/>
              </a:rPr>
              <a:t> Project requirements continually change, but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change can be easily accommodated </a:t>
            </a:r>
            <a:r>
              <a:rPr lang="en-US" altLang="zh-TW" sz="2200" dirty="0">
                <a:latin typeface="+mj-lt"/>
              </a:rPr>
              <a:t>because software is flexible.</a:t>
            </a: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C9FB57-00F2-D2E7-4EC6-9EE8E146CDE7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(professional)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42062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</a:t>
            </a:r>
            <a:r>
              <a:rPr lang="en-US" altLang="zh-TW" sz="2200" dirty="0">
                <a:latin typeface="+mj-lt"/>
              </a:rPr>
              <a:t> Our job is done once we write the program and get it to work.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2200" i="1" dirty="0">
                <a:latin typeface="+mj-lt"/>
              </a:rPr>
              <a:t>Fact: 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the sooner you begin writing code, the longer it will take you to get done.</a:t>
            </a:r>
            <a:br>
              <a:rPr lang="en-US" altLang="zh-TW" sz="2200" i="1" dirty="0">
                <a:solidFill>
                  <a:srgbClr val="FF0000"/>
                </a:solidFill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 </a:t>
            </a:r>
            <a:r>
              <a:rPr lang="en-US" altLang="zh-TW" sz="2200" dirty="0">
                <a:latin typeface="+mj-lt"/>
              </a:rPr>
              <a:t>I cannot assess the program's quality until it is “running. "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3:</a:t>
            </a:r>
            <a:r>
              <a:rPr lang="en-US" altLang="zh-TW" sz="2200" dirty="0">
                <a:latin typeface="+mj-lt"/>
              </a:rPr>
              <a:t> The working program is the only deliverable work product for a successful project.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4:</a:t>
            </a:r>
            <a:r>
              <a:rPr lang="en-US" altLang="zh-TW" sz="2200" i="1" dirty="0"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Software engineering will make us </a:t>
            </a:r>
            <a:r>
              <a:rPr lang="en-US" altLang="zh-TW" sz="2200">
                <a:latin typeface="+mj-lt"/>
              </a:rPr>
              <a:t>create very large </a:t>
            </a:r>
            <a:r>
              <a:rPr lang="en-US" altLang="zh-TW" sz="2200" dirty="0">
                <a:latin typeface="+mj-lt"/>
              </a:rPr>
              <a:t>and unnecessary documentation, invariably slowing us down.</a:t>
            </a:r>
            <a:endParaRPr lang="zh-TW" altLang="en-US" sz="2200" dirty="0">
              <a:latin typeface="+mj-lt"/>
            </a:endParaRP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- 13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DEC8BA-A092-BA65-E675-604AB01E18B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system fails?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631" y="2131518"/>
            <a:ext cx="11051177" cy="347471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 system fails to meet the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business requirements </a:t>
            </a:r>
            <a:r>
              <a:rPr lang="en-GB" altLang="en-US" sz="2000" dirty="0">
                <a:latin typeface="+mj-lt"/>
              </a:rPr>
              <a:t>for which it was developed. The system is either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abandoned</a:t>
            </a:r>
            <a:r>
              <a:rPr lang="en-GB" altLang="en-US" sz="2000" dirty="0">
                <a:latin typeface="+mj-lt"/>
              </a:rPr>
              <a:t> or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expensive adaptive maintenance </a:t>
            </a:r>
            <a:r>
              <a:rPr lang="en-GB" altLang="en-US" sz="2000" dirty="0">
                <a:latin typeface="+mj-lt"/>
              </a:rPr>
              <a:t>is undertaken.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There are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performance shortcomings </a:t>
            </a:r>
            <a:r>
              <a:rPr lang="en-GB" altLang="en-US" sz="2000" dirty="0">
                <a:latin typeface="+mj-lt"/>
              </a:rPr>
              <a:t>in the system, which make it inadequate for the users’ needs. Again, it is either abandoned or amended incurring extra costs.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Errors</a:t>
            </a:r>
            <a:r>
              <a:rPr lang="en-GB" altLang="en-US" sz="2000" dirty="0">
                <a:latin typeface="+mj-lt"/>
              </a:rPr>
              <a:t> appear in the developed system causing unexpected problems.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Patches </a:t>
            </a:r>
            <a:r>
              <a:rPr lang="en-GB" altLang="en-US" sz="2000" dirty="0">
                <a:latin typeface="+mj-lt"/>
              </a:rPr>
              <a:t>have to be applied at extra cost.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Users reject </a:t>
            </a:r>
            <a:r>
              <a:rPr lang="en-GB" altLang="en-US" sz="2000" dirty="0">
                <a:latin typeface="+mj-lt"/>
              </a:rPr>
              <a:t>the implemented system, lack of involvement in its development or lack of commitment to it.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Systems are initially accepted but over time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become un-maintainable </a:t>
            </a:r>
            <a:r>
              <a:rPr lang="en-GB" altLang="en-US" sz="2000" dirty="0">
                <a:latin typeface="+mj-lt"/>
              </a:rPr>
              <a:t>and so pass into disuse.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42047" cy="774419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2980895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312C3B-B9B9-5739-8FF4-272BFD29E158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1110</Words>
  <Application>Microsoft Office PowerPoint</Application>
  <PresentationFormat>Widescreen</PresentationFormat>
  <Paragraphs>132</Paragraphs>
  <Slides>15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ＭＳ Ｐゴシック</vt:lpstr>
      <vt:lpstr>PMingLiU</vt:lpstr>
      <vt:lpstr>Bell MT</vt:lpstr>
      <vt:lpstr>Calibri</vt:lpstr>
      <vt:lpstr>Georgia</vt:lpstr>
      <vt:lpstr>Gill Sans MT</vt:lpstr>
      <vt:lpstr>Wingdings</vt:lpstr>
      <vt:lpstr>Wingdings 2</vt:lpstr>
      <vt:lpstr>Dividend</vt:lpstr>
      <vt:lpstr>Photo Editor Photo</vt:lpstr>
      <vt:lpstr>PowerPoint Presentation</vt:lpstr>
      <vt:lpstr>what is Software engineering?</vt:lpstr>
      <vt:lpstr>Scope of software Engineering</vt:lpstr>
      <vt:lpstr>Software characteristics</vt:lpstr>
      <vt:lpstr>Software development life cycle (SDLC)</vt:lpstr>
      <vt:lpstr>Software development life cycle (SDLC)</vt:lpstr>
      <vt:lpstr>Good &amp; bad software</vt:lpstr>
      <vt:lpstr>Faults in software development phases</vt:lpstr>
      <vt:lpstr>Cost of detection &amp; correction of a fault</vt:lpstr>
      <vt:lpstr>Software application</vt:lpstr>
      <vt:lpstr>Software Myths (management)</vt:lpstr>
      <vt:lpstr>Software Myths (client)</vt:lpstr>
      <vt:lpstr>Software Myths (professional)</vt:lpstr>
      <vt:lpstr>Why system fails?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Ch.01 - Software and Software Engineering</dc:title>
  <dc:subject>Software Engineering</dc:subject>
  <dc:creator>M. Mahmudul Hasan</dc:creator>
  <cp:lastModifiedBy>MEJBAH AHAMMAD</cp:lastModifiedBy>
  <cp:revision>51</cp:revision>
  <dcterms:created xsi:type="dcterms:W3CDTF">2019-05-13T08:37:20Z</dcterms:created>
  <dcterms:modified xsi:type="dcterms:W3CDTF">2026-02-07T11:06:27Z</dcterms:modified>
</cp:coreProperties>
</file>