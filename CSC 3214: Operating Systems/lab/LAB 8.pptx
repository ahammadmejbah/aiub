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0" d="100"/>
          <a:sy n="90" d="100"/>
        </p:scale>
        <p:origin x="90" y="2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hammadmejbah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8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575451"/>
              </p:ext>
            </p:extLst>
          </p:nvPr>
        </p:nvGraphicFramePr>
        <p:xfrm>
          <a:off x="476205" y="5186042"/>
          <a:ext cx="8335798" cy="12931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Mejbah Ahammad, Lecturer, CS,  AIUB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+8801308757586 </a:t>
                      </a:r>
                      <a:r>
                        <a:rPr lang="en-US" sz="1800" cap="none" dirty="0">
                          <a:solidFill>
                            <a:srgbClr val="F49100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ahammadmejbah@aiub.</a:t>
                      </a:r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  <a:p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Room Number: DN0922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First Shell Program 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Running First Program 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Shell Variables 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Shell Variables Rules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Comments and Escape Characters 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Reading User Input 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Operators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Floating Point Calculation </a:t>
            </a:r>
          </a:p>
          <a:p>
            <a:pPr marL="457200" indent="-457200">
              <a:buAutoNum type="arabicPeriod"/>
            </a:pP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First Shell Program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22220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b="1" dirty="0"/>
              <a:t>At first create a file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touch hello.sh [</a:t>
            </a:r>
            <a:r>
              <a:rPr lang="en-US" dirty="0" err="1"/>
              <a:t>sh</a:t>
            </a:r>
            <a:r>
              <a:rPr lang="en-US" dirty="0"/>
              <a:t> is not mandatory it helps text editors to differentiate shell scripts from others]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Open the file with any text editor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vi filename.sh [here using vi text editor]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Print Hello World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Start with #! /bin/bash [location of bash]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echo Hello World or echo “Hello World”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Save Code</a:t>
            </a:r>
          </a:p>
        </p:txBody>
      </p:sp>
    </p:spTree>
    <p:extLst>
      <p:ext uri="{BB962C8B-B14F-4D97-AF65-F5344CB8AC3E}">
        <p14:creationId xmlns:p14="http://schemas.microsoft.com/office/powerpoint/2010/main" val="2356883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Running First Program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222207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sz="2000" b="1" dirty="0"/>
              <a:t>To run a program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./filename.sh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sz="2000" b="1" dirty="0"/>
              <a:t>Permission denied right?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Check the permission details of that file</a:t>
            </a:r>
          </a:p>
          <a:p>
            <a:pPr lvl="2">
              <a:buFont typeface="Wingdings" pitchFamily="2" charset="2"/>
              <a:buChar char="q"/>
            </a:pPr>
            <a:r>
              <a:rPr lang="en-US" dirty="0" err="1"/>
              <a:t>ls</a:t>
            </a:r>
            <a:r>
              <a:rPr lang="en-US" dirty="0"/>
              <a:t> –l filename.sh [user don’t have execute permission by default]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Change Permission</a:t>
            </a:r>
          </a:p>
          <a:p>
            <a:pPr lvl="2">
              <a:buFont typeface="Wingdings" pitchFamily="2" charset="2"/>
              <a:buChar char="q"/>
            </a:pPr>
            <a:r>
              <a:rPr lang="en-US" dirty="0" err="1"/>
              <a:t>chmod</a:t>
            </a:r>
            <a:r>
              <a:rPr lang="en-US" dirty="0"/>
              <a:t> </a:t>
            </a:r>
            <a:r>
              <a:rPr lang="en-US" dirty="0" err="1"/>
              <a:t>u+x</a:t>
            </a:r>
            <a:r>
              <a:rPr lang="en-US" dirty="0"/>
              <a:t> filename.sh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sz="2000" b="1" dirty="0"/>
              <a:t>Now run the program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bash filename.sh [No Permission Needed]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or ./filename.sh [Now it will work]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sz="2000" b="1" dirty="0"/>
              <a:t>Now its running fine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93350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Shell Variables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222207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sz="2200" b="1" dirty="0"/>
              <a:t>While using variable use $ sign before the name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Don’t need declaration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There are two types of shell variables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System Variables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User defined Variables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System Variables: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Usually maintained by Operating systems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Written in all capitals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Examples: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$BASH [knowing the bash location]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$BASH_VERSION [knowing the bash version]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$HOME [knowing the home directory]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$PWD [present working directory]</a:t>
            </a:r>
          </a:p>
        </p:txBody>
      </p:sp>
    </p:spTree>
    <p:extLst>
      <p:ext uri="{BB962C8B-B14F-4D97-AF65-F5344CB8AC3E}">
        <p14:creationId xmlns:p14="http://schemas.microsoft.com/office/powerpoint/2010/main" val="3547039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Shell Variables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222207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sz="2200" b="1" dirty="0"/>
              <a:t>User defined variables Syntax</a:t>
            </a:r>
          </a:p>
          <a:p>
            <a:pPr marL="0" indent="0">
              <a:buNone/>
            </a:pPr>
            <a:r>
              <a:rPr lang="en-US" sz="2200" b="1" dirty="0"/>
              <a:t>	</a:t>
            </a:r>
            <a:r>
              <a:rPr lang="en-US" sz="2200" dirty="0"/>
              <a:t>Name=Alex [here Name is the variable name and Alex is value]</a:t>
            </a:r>
          </a:p>
          <a:p>
            <a:pPr marL="0" indent="0">
              <a:buNone/>
            </a:pPr>
            <a:r>
              <a:rPr lang="en-US" sz="2200" dirty="0"/>
              <a:t>	</a:t>
            </a:r>
            <a:r>
              <a:rPr lang="en-US" sz="2200" dirty="0">
                <a:solidFill>
                  <a:srgbClr val="FF0000"/>
                </a:solidFill>
              </a:rPr>
              <a:t>***** Don’t Use Space in variable assignment like below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FF0000"/>
                </a:solidFill>
              </a:rPr>
              <a:t>		Name = Alex or Name =Alex or Name= Alex *****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Using the variable</a:t>
            </a:r>
          </a:p>
          <a:p>
            <a:pPr marL="0" indent="0">
              <a:buNone/>
            </a:pPr>
            <a:r>
              <a:rPr lang="en-US" sz="2200" b="1" dirty="0"/>
              <a:t>	</a:t>
            </a:r>
            <a:r>
              <a:rPr lang="en-US" sz="2200" dirty="0"/>
              <a:t>echo $Name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Try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echo My name is $Name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echo “My name is ”$Name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echo “This is ”$Name“ Who did this!”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625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Shell Variables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22220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/>
              <a:t>The shell does not care about types of variables; they may store strings, integers, real numbers - anything you like.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/>
              <a:t>Loosely coupled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/>
              <a:t>Variables in the Bourne shell do not have to be declared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/>
              <a:t>Variable Name cannot be started with numeric values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/>
              <a:t>Space is not allowed in name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128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Comments and Escape Characters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22220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b="1" dirty="0"/>
              <a:t>Comments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Comments are used for documentation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It’s a good programming practice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# is used comment any line in shell script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Example: # This is a comment</a:t>
            </a:r>
          </a:p>
          <a:p>
            <a:pPr marL="0" indent="0">
              <a:buNone/>
            </a:pPr>
            <a:r>
              <a:rPr lang="en-US" sz="2200" dirty="0"/>
              <a:t>		echo hello # this is a comment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Escape Characters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\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Example: Hello \”World\” to print Hello “world”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218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Reading User Input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read command takes input from the keyboard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Syntax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read </a:t>
            </a:r>
            <a:r>
              <a:rPr lang="en-US" sz="2000" dirty="0" err="1"/>
              <a:t>variablename</a:t>
            </a:r>
            <a:r>
              <a:rPr lang="en-US" sz="2000" dirty="0"/>
              <a:t> [input will be saved in </a:t>
            </a:r>
            <a:r>
              <a:rPr lang="en-US" sz="2000" dirty="0" err="1"/>
              <a:t>variablename</a:t>
            </a:r>
            <a:r>
              <a:rPr lang="en-US" sz="2000" dirty="0"/>
              <a:t>]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Using the taken input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Use the </a:t>
            </a:r>
            <a:r>
              <a:rPr lang="en-US" sz="2000" dirty="0" err="1"/>
              <a:t>variablename</a:t>
            </a:r>
            <a:r>
              <a:rPr lang="en-US" sz="2000" dirty="0"/>
              <a:t> with $ sign like $</a:t>
            </a:r>
            <a:r>
              <a:rPr lang="en-US" sz="2000" dirty="0" err="1"/>
              <a:t>variablename</a:t>
            </a:r>
            <a:endParaRPr lang="en-US" sz="2000" dirty="0"/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Example: The entered value is $</a:t>
            </a:r>
            <a:r>
              <a:rPr lang="en-US" sz="2000" dirty="0" err="1"/>
              <a:t>variablename</a:t>
            </a:r>
            <a:endParaRPr lang="en-US" sz="2000" dirty="0"/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Multiple values input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read variablename1 variablename2 …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While giving multiple input use space to separate don’t press enter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Taking input in same line (not in next line)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read –p “Enter Variable” </a:t>
            </a:r>
            <a:r>
              <a:rPr lang="en-US" sz="2000" dirty="0" err="1"/>
              <a:t>variablename</a:t>
            </a:r>
            <a:endParaRPr lang="en-US" sz="2000" dirty="0"/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Taking silent input like password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read –s “Enter Variable” </a:t>
            </a:r>
            <a:r>
              <a:rPr lang="en-US" sz="2000" dirty="0" err="1"/>
              <a:t>variablename</a:t>
            </a:r>
            <a:r>
              <a:rPr lang="en-US" sz="2000" dirty="0"/>
              <a:t> [silent in new line]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read –</a:t>
            </a:r>
            <a:r>
              <a:rPr lang="en-US" sz="2000" dirty="0" err="1"/>
              <a:t>sp</a:t>
            </a:r>
            <a:r>
              <a:rPr lang="en-US" sz="2000" dirty="0"/>
              <a:t> “Enter Variable” </a:t>
            </a:r>
            <a:r>
              <a:rPr lang="en-US" sz="2000" dirty="0" err="1"/>
              <a:t>variablename</a:t>
            </a:r>
            <a:r>
              <a:rPr lang="en-US" sz="2000" dirty="0"/>
              <a:t> [silent in same line]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851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Arithmetic Operator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BASH don’t have any mechanism to perform arithmetic operations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It uses </a:t>
            </a:r>
            <a:r>
              <a:rPr lang="en-US" sz="2000" dirty="0" err="1"/>
              <a:t>expr</a:t>
            </a:r>
            <a:r>
              <a:rPr lang="en-US" sz="2000" dirty="0"/>
              <a:t> [external program] to perform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 err="1"/>
              <a:t>expr</a:t>
            </a:r>
            <a:r>
              <a:rPr lang="en-US" sz="2000" dirty="0"/>
              <a:t> only performs integer operations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Floating value calculations are discussed later</a:t>
            </a:r>
          </a:p>
          <a:p>
            <a:pPr marL="457200" lvl="1" indent="0">
              <a:spcBef>
                <a:spcPts val="100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	****Most Important Things to Remember****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There must be spaces between operators and expressions</a:t>
            </a:r>
          </a:p>
          <a:p>
            <a:pPr marL="457200" lvl="1" indent="0">
              <a:spcBef>
                <a:spcPts val="1000"/>
              </a:spcBef>
              <a:buNone/>
            </a:pPr>
            <a:r>
              <a:rPr lang="en-US" sz="2000" dirty="0"/>
              <a:t>	2+2 is not correct it should be 2 + 2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It should be written like `</a:t>
            </a:r>
            <a:r>
              <a:rPr lang="en-US" sz="2000" dirty="0" err="1"/>
              <a:t>expr</a:t>
            </a:r>
            <a:r>
              <a:rPr lang="en-US" sz="2000" dirty="0"/>
              <a:t> 2 + 2` or $(</a:t>
            </a:r>
            <a:r>
              <a:rPr lang="en-US" sz="2000" dirty="0" err="1"/>
              <a:t>expr</a:t>
            </a:r>
            <a:r>
              <a:rPr lang="en-US" sz="2000" dirty="0"/>
              <a:t> 2 + 2)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` This symbol is called </a:t>
            </a:r>
            <a:r>
              <a:rPr lang="en-US" sz="2000" dirty="0" err="1"/>
              <a:t>backtick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528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Some Examples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 lnSpcReduction="1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b="1" dirty="0"/>
              <a:t>Assuming a=20 b=10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b="1" dirty="0"/>
              <a:t>Addition will be sum=$(</a:t>
            </a:r>
            <a:r>
              <a:rPr lang="en-US" sz="2000" b="1" dirty="0" err="1"/>
              <a:t>expr</a:t>
            </a:r>
            <a:r>
              <a:rPr lang="en-US" sz="2000" b="1" dirty="0"/>
              <a:t> $a + $b) or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dirty="0"/>
              <a:t>	sum=`</a:t>
            </a:r>
            <a:r>
              <a:rPr lang="en-US" sz="2000" dirty="0" err="1"/>
              <a:t>expr</a:t>
            </a:r>
            <a:r>
              <a:rPr lang="en-US" sz="2000" dirty="0"/>
              <a:t> $a + $b`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b="1" dirty="0"/>
              <a:t>Subtraction will be sub=$(</a:t>
            </a:r>
            <a:r>
              <a:rPr lang="en-US" sz="2000" b="1" dirty="0" err="1"/>
              <a:t>expr</a:t>
            </a:r>
            <a:r>
              <a:rPr lang="en-US" sz="2000" b="1" dirty="0"/>
              <a:t> $a - $b) or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dirty="0"/>
              <a:t>	sub=`</a:t>
            </a:r>
            <a:r>
              <a:rPr lang="en-US" sz="2000" dirty="0" err="1"/>
              <a:t>expr</a:t>
            </a:r>
            <a:r>
              <a:rPr lang="en-US" sz="2000" dirty="0"/>
              <a:t> $a - $b`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b="1" dirty="0"/>
              <a:t>Multiplication will be multi=$(</a:t>
            </a:r>
            <a:r>
              <a:rPr lang="en-US" sz="2000" b="1" dirty="0" err="1"/>
              <a:t>expr</a:t>
            </a:r>
            <a:r>
              <a:rPr lang="en-US" sz="2000" b="1" dirty="0"/>
              <a:t> $a \* $b) or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dirty="0"/>
              <a:t>	multi=`</a:t>
            </a:r>
            <a:r>
              <a:rPr lang="en-US" sz="2000" dirty="0" err="1"/>
              <a:t>expr</a:t>
            </a:r>
            <a:r>
              <a:rPr lang="en-US" sz="2000" dirty="0"/>
              <a:t> $a \* $b`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b="1" dirty="0"/>
              <a:t>Division will be div=$(</a:t>
            </a:r>
            <a:r>
              <a:rPr lang="en-US" sz="2000" b="1" dirty="0" err="1"/>
              <a:t>expr</a:t>
            </a:r>
            <a:r>
              <a:rPr lang="en-US" sz="2000" b="1" dirty="0"/>
              <a:t> $a / $b) or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dirty="0"/>
              <a:t>	div=`</a:t>
            </a:r>
            <a:r>
              <a:rPr lang="en-US" sz="2000" dirty="0" err="1"/>
              <a:t>expr</a:t>
            </a:r>
            <a:r>
              <a:rPr lang="en-US" sz="2000" dirty="0"/>
              <a:t> $a / $b`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b="1" dirty="0"/>
              <a:t>Modulus will be mod==$(</a:t>
            </a:r>
            <a:r>
              <a:rPr lang="en-US" sz="2000" b="1" dirty="0" err="1"/>
              <a:t>expr</a:t>
            </a:r>
            <a:r>
              <a:rPr lang="en-US" sz="2000" b="1" dirty="0"/>
              <a:t> $a % $b) or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dirty="0"/>
              <a:t>	mod=`</a:t>
            </a:r>
            <a:r>
              <a:rPr lang="en-US" sz="2000" dirty="0" err="1"/>
              <a:t>expr</a:t>
            </a:r>
            <a:r>
              <a:rPr lang="en-US" sz="2000" dirty="0"/>
              <a:t> $a % $b`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516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Relational Operators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1800" dirty="0"/>
              <a:t>Bourne Shell supports the following relational operators that are specific to numeric values.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1800" dirty="0"/>
              <a:t>Following operators will not work for strings.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*All relational operators must be inside square braces with spaces around them*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1800" dirty="0"/>
              <a:t>[ $a == $b ] [CORRECT]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1800" dirty="0"/>
              <a:t>[$a == $b] [WRONG]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1800" dirty="0"/>
              <a:t>[$a==$b] [WRONG]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100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Relational operators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</a:t>
            </a:r>
            <a:r>
              <a:rPr lang="en-US" dirty="0" err="1"/>
              <a:t>eq</a:t>
            </a:r>
            <a:r>
              <a:rPr lang="en-US" dirty="0"/>
              <a:t> or == to check equality of 2 number [ $a -</a:t>
            </a:r>
            <a:r>
              <a:rPr lang="en-US" dirty="0" err="1"/>
              <a:t>eq</a:t>
            </a:r>
            <a:r>
              <a:rPr lang="en-US" dirty="0"/>
              <a:t>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-ne or != to check inequality of 2 number [ $a -ne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</a:t>
            </a:r>
            <a:r>
              <a:rPr lang="en-US" dirty="0" err="1"/>
              <a:t>gt</a:t>
            </a:r>
            <a:r>
              <a:rPr lang="en-US" dirty="0"/>
              <a:t> or &gt; to check left operand is greater or not [ $a -</a:t>
            </a:r>
            <a:r>
              <a:rPr lang="en-US" dirty="0" err="1"/>
              <a:t>gt</a:t>
            </a:r>
            <a:r>
              <a:rPr lang="en-US" dirty="0"/>
              <a:t>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</a:t>
            </a:r>
            <a:r>
              <a:rPr lang="en-US" dirty="0" err="1"/>
              <a:t>lt</a:t>
            </a:r>
            <a:r>
              <a:rPr lang="en-US" dirty="0"/>
              <a:t> or &lt; to check left operand is greater or not [ $a -</a:t>
            </a:r>
            <a:r>
              <a:rPr lang="en-US" dirty="0" err="1"/>
              <a:t>lt</a:t>
            </a:r>
            <a:r>
              <a:rPr lang="en-US" dirty="0"/>
              <a:t>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</a:t>
            </a:r>
            <a:r>
              <a:rPr lang="en-US" dirty="0" err="1"/>
              <a:t>ge</a:t>
            </a:r>
            <a:r>
              <a:rPr lang="en-US" dirty="0"/>
              <a:t> or &gt;= to check left operand is greater or equal [ $a -</a:t>
            </a:r>
            <a:r>
              <a:rPr lang="en-US" dirty="0" err="1"/>
              <a:t>gt</a:t>
            </a:r>
            <a:r>
              <a:rPr lang="en-US" dirty="0"/>
              <a:t>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-le or &lt;= to check left operand is lesser or equal [ $a -le $b ] </a:t>
            </a:r>
          </a:p>
        </p:txBody>
      </p:sp>
    </p:spTree>
    <p:extLst>
      <p:ext uri="{BB962C8B-B14F-4D97-AF65-F5344CB8AC3E}">
        <p14:creationId xmlns:p14="http://schemas.microsoft.com/office/powerpoint/2010/main" val="1436851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String Operators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= checks the equality [ $a =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!= checks the inequality [ $a !=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-z Checks if the given string operand size is zero; if it is zero length, then it returns true. [ -z $a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-n Checks if the given string operand size is non-zero; if it is nonzero length, then it returns true. [ -n $a ]</a:t>
            </a:r>
          </a:p>
        </p:txBody>
      </p:sp>
    </p:spTree>
    <p:extLst>
      <p:ext uri="{BB962C8B-B14F-4D97-AF65-F5344CB8AC3E}">
        <p14:creationId xmlns:p14="http://schemas.microsoft.com/office/powerpoint/2010/main" val="1032679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Floating Point Calculation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dirty="0"/>
              <a:t>Floating points can not be evaluated with </a:t>
            </a:r>
            <a:r>
              <a:rPr lang="en-US" sz="2200" dirty="0" err="1"/>
              <a:t>expr</a:t>
            </a:r>
            <a:r>
              <a:rPr lang="en-US" sz="2200" dirty="0"/>
              <a:t> it can be calculated with a </a:t>
            </a:r>
            <a:r>
              <a:rPr lang="en-US" sz="2200" dirty="0" err="1"/>
              <a:t>bc</a:t>
            </a:r>
            <a:r>
              <a:rPr lang="en-US" sz="2200" dirty="0"/>
              <a:t> utility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dirty="0"/>
              <a:t>num1=20.5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dirty="0"/>
              <a:t>num2=10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dirty="0"/>
              <a:t>echo “$num1+$num2” | </a:t>
            </a:r>
            <a:r>
              <a:rPr lang="en-US" sz="2200" dirty="0" err="1"/>
              <a:t>bc</a:t>
            </a:r>
            <a:endParaRPr lang="en-US" sz="2200" dirty="0"/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dirty="0"/>
              <a:t>For storing values into a variable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dirty="0"/>
              <a:t>num3=$(</a:t>
            </a:r>
            <a:r>
              <a:rPr lang="en-US" sz="2200" dirty="0" err="1"/>
              <a:t>bc</a:t>
            </a:r>
            <a:r>
              <a:rPr lang="en-US" sz="2200" dirty="0"/>
              <a:t> &lt;&lt;&lt; “$num1+num2”)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*****Remember the spaces and \* will not be applicable here*****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		It uses simple equation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2264607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180</TotalTime>
  <Words>1146</Words>
  <Application>Microsoft Office PowerPoint</Application>
  <PresentationFormat>On-screen Show (4:3)</PresentationFormat>
  <Paragraphs>157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Corbel</vt:lpstr>
      <vt:lpstr>Georgia</vt:lpstr>
      <vt:lpstr>Wingdings</vt:lpstr>
      <vt:lpstr>Spectrum</vt:lpstr>
      <vt:lpstr>LAB 8</vt:lpstr>
      <vt:lpstr>Lecture Outline</vt:lpstr>
      <vt:lpstr>First Shell Program </vt:lpstr>
      <vt:lpstr>Running First Program </vt:lpstr>
      <vt:lpstr>Shell Variables </vt:lpstr>
      <vt:lpstr>Shell Variables (cont’d)</vt:lpstr>
      <vt:lpstr>Shell Variables Rules</vt:lpstr>
      <vt:lpstr>Comments and Escape Characters </vt:lpstr>
      <vt:lpstr>Reading User Input </vt:lpstr>
      <vt:lpstr>Operators</vt:lpstr>
      <vt:lpstr>Some Examples </vt:lpstr>
      <vt:lpstr>Operators</vt:lpstr>
      <vt:lpstr>Operators</vt:lpstr>
      <vt:lpstr>Operators</vt:lpstr>
      <vt:lpstr>Floating Point Calculation 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MEJBAH AHAMMAD</cp:lastModifiedBy>
  <cp:revision>34</cp:revision>
  <dcterms:created xsi:type="dcterms:W3CDTF">2018-12-10T17:20:29Z</dcterms:created>
  <dcterms:modified xsi:type="dcterms:W3CDTF">2026-02-08T13:09:51Z</dcterms:modified>
</cp:coreProperties>
</file>