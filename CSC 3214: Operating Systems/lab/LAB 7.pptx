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5E8905-3A9F-4DF8-BE85-8764B14DC0D4}" v="1" dt="2019-04-17T04:06:04.6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90" d="100"/>
          <a:sy n="90" d="100"/>
        </p:scale>
        <p:origin x="90" y="28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C62E78-F200-4C4C-BC42-C27AC9E77916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6B0FEB-E303-4A4A-A013-42557A45CD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7202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ahammadmejbah@aiub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LAB 7 </a:t>
            </a:r>
            <a:endParaRPr lang="en-US" sz="1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 2209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8596969"/>
              </p:ext>
            </p:extLst>
          </p:nvPr>
        </p:nvGraphicFramePr>
        <p:xfrm>
          <a:off x="476205" y="5186042"/>
          <a:ext cx="8335798" cy="129313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Mejbah Ahammad, Lecturer, CS,  AIUB</a:t>
                      </a:r>
                    </a:p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+8801308757586 </a:t>
                      </a:r>
                      <a:r>
                        <a:rPr lang="en-US" sz="1800" cap="none" dirty="0">
                          <a:solidFill>
                            <a:srgbClr val="F49100"/>
                          </a:solidFill>
                          <a:latin typeface="Georgia" panose="02040502050405020303" pitchFamily="18" charset="0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ahammadmejbah@aiub.</a:t>
                      </a:r>
                      <a:r>
                        <a:rPr lang="en-US" sz="1800" cap="none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edu</a:t>
                      </a:r>
                      <a:endParaRPr lang="en-US" sz="1800" cap="none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  <a:p>
                      <a:r>
                        <a:rPr lang="en-US" sz="1800" cap="none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Room Number: DN0922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Operating Systems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886560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vi Editor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Modes of vi Editor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Create, Save, and Quit in vi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Vi Commands to Start Typing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Vi Commands to Move Around a File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Vi Commands to Delete Character and Line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Vi Commands to cut, copy, and paste</a:t>
            </a:r>
          </a:p>
          <a:p>
            <a:pPr marL="457200" indent="-457200">
              <a:buAutoNum type="arabicPeriod"/>
            </a:pPr>
            <a:endParaRPr lang="en-US" sz="20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vi Editor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2022" y="1895605"/>
            <a:ext cx="8546228" cy="399256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What is vi editor?</a:t>
            </a:r>
          </a:p>
          <a:p>
            <a:pPr marL="0" indent="0" algn="just">
              <a:buNone/>
            </a:pPr>
            <a:r>
              <a:rPr lang="en-US" dirty="0"/>
              <a:t>The vi editor is elaborated as visual editor. It is installed in every Unix system. It is a very powerful application. An improved version of vi editor is vim but most Linux systems have vi editor installed.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877791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Modes of vi Editor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2022" y="1895605"/>
            <a:ext cx="8546228" cy="399256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vi editor has two modes: </a:t>
            </a:r>
          </a:p>
          <a:p>
            <a:pPr marL="0" indent="0">
              <a:buNone/>
            </a:pPr>
            <a:r>
              <a:rPr lang="en-US" b="1" dirty="0"/>
              <a:t>Command Mode: </a:t>
            </a:r>
            <a:r>
              <a:rPr lang="en-US" dirty="0"/>
              <a:t>In command mode, actions are taken on the file. The vi editor starts in command mode. Typed words will act as commands in vi editor. To pass a command you have to be in command mode. </a:t>
            </a:r>
          </a:p>
          <a:p>
            <a:pPr marL="0" indent="0">
              <a:buNone/>
            </a:pPr>
            <a:r>
              <a:rPr lang="en-US" b="1" dirty="0"/>
              <a:t>Insert Mode: </a:t>
            </a:r>
            <a:r>
              <a:rPr lang="en-US" dirty="0"/>
              <a:t>In insert mode, entered text will be inserted into the file. Esc key will take you to the command mode from insert mode. 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9284493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Modes of vi Editor </a:t>
            </a:r>
            <a:r>
              <a:rPr lang="en-US" altLang="en-US" sz="1600" dirty="0">
                <a:solidFill>
                  <a:prstClr val="white"/>
                </a:solidFill>
              </a:rPr>
              <a:t>(cont’d)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2022" y="1895605"/>
            <a:ext cx="8546228" cy="4555299"/>
          </a:xfrm>
        </p:spPr>
        <p:txBody>
          <a:bodyPr>
            <a:normAutofit fontScale="92500" lnSpcReduction="10000"/>
          </a:bodyPr>
          <a:lstStyle/>
          <a:p>
            <a:pPr marL="0" indent="0">
              <a:spcBef>
                <a:spcPts val="1000"/>
              </a:spcBef>
              <a:buNone/>
            </a:pPr>
            <a:r>
              <a:rPr lang="en-US" dirty="0"/>
              <a:t>• By default, vi editor starts in command mode. To enter text, you have to be in insert mode, just type i and you'll be in insert mode. Although, after typing I nothing will appear on the screen but you'll be in insert mode. Now you can type anything.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• To exit from insert mode press Esc key, you'll be directed to command mode.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• The vi editor tool is an interactive tool as it displays changes made in the file on the screen while you edit the file.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• In vi editor you can insert, edit or remove a word as cursor moves throughout the file.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• Commands are specified for each function like to delete it's x or </a:t>
            </a:r>
            <a:r>
              <a:rPr lang="en-US" dirty="0" err="1"/>
              <a:t>dd</a:t>
            </a:r>
            <a:endParaRPr lang="en-US" dirty="0"/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• The vi editor is case-sensitive</a:t>
            </a:r>
          </a:p>
        </p:txBody>
      </p:sp>
    </p:spTree>
    <p:extLst>
      <p:ext uri="{BB962C8B-B14F-4D97-AF65-F5344CB8AC3E}">
        <p14:creationId xmlns:p14="http://schemas.microsoft.com/office/powerpoint/2010/main" val="32418440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Create, Save, and Quit in </a:t>
            </a:r>
            <a:r>
              <a:rPr lang="en-US" sz="4400" b="1" dirty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vi</a:t>
            </a:r>
            <a:endParaRPr lang="en-US" sz="1800" b="1" dirty="0">
              <a:solidFill>
                <a:schemeClr val="bg1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8307014"/>
              </p:ext>
            </p:extLst>
          </p:nvPr>
        </p:nvGraphicFramePr>
        <p:xfrm>
          <a:off x="1917244" y="2686110"/>
          <a:ext cx="5336500" cy="29667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8041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32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Commands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:</a:t>
                      </a:r>
                      <a:r>
                        <a:rPr lang="en-US" b="1" dirty="0" err="1">
                          <a:solidFill>
                            <a:srgbClr val="C00000"/>
                          </a:solidFill>
                        </a:rPr>
                        <a:t>wq</a:t>
                      </a:r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Save and quit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:w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Save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:q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Quit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:w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fname</a:t>
                      </a:r>
                      <a:r>
                        <a:rPr lang="en-US" dirty="0"/>
                        <a:t> Save as </a:t>
                      </a:r>
                      <a:r>
                        <a:rPr lang="en-US" dirty="0" err="1"/>
                        <a:t>fname</a:t>
                      </a:r>
                      <a:r>
                        <a:rPr lang="en-US" dirty="0"/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:ZZ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Save and quit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:q!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Quit discarding changes made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:w!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Save (and write to non-writable file)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312738" y="5935291"/>
            <a:ext cx="854551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To exit from vi, first ensure that you are in command mode. Now, type :</a:t>
            </a:r>
            <a:r>
              <a:rPr lang="en-US" dirty="0" err="1"/>
              <a:t>wq</a:t>
            </a:r>
            <a:r>
              <a:rPr lang="en-US" dirty="0"/>
              <a:t> and press enter. It will save and quit vi editor Type </a:t>
            </a:r>
            <a:r>
              <a:rPr lang="en-US" b="1" dirty="0">
                <a:solidFill>
                  <a:srgbClr val="C00000"/>
                </a:solidFill>
              </a:rPr>
              <a:t>:</a:t>
            </a:r>
            <a:r>
              <a:rPr lang="en-US" b="1" dirty="0" err="1">
                <a:solidFill>
                  <a:srgbClr val="C00000"/>
                </a:solidFill>
              </a:rPr>
              <a:t>wq</a:t>
            </a:r>
            <a:r>
              <a:rPr lang="en-US" dirty="0"/>
              <a:t> to save and exit the file. </a:t>
            </a:r>
          </a:p>
        </p:txBody>
      </p:sp>
      <p:sp>
        <p:nvSpPr>
          <p:cNvPr id="6" name="Rectangle 5"/>
          <p:cNvSpPr/>
          <p:nvPr/>
        </p:nvSpPr>
        <p:spPr>
          <a:xfrm>
            <a:off x="312738" y="1791315"/>
            <a:ext cx="437786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vi syntax to create or open a file: </a:t>
            </a:r>
            <a:r>
              <a:rPr lang="en-US" sz="2000" b="1" dirty="0">
                <a:solidFill>
                  <a:srgbClr val="C00000"/>
                </a:solidFill>
              </a:rPr>
              <a:t>vi</a:t>
            </a:r>
            <a:r>
              <a:rPr lang="en-US" b="1" dirty="0">
                <a:solidFill>
                  <a:srgbClr val="002060"/>
                </a:solidFill>
              </a:rPr>
              <a:t> </a:t>
            </a:r>
            <a:r>
              <a:rPr lang="en-US" dirty="0" err="1"/>
              <a:t>fileName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84163" y="2216570"/>
            <a:ext cx="67827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To save file and quit vi editor you can use the given commands below</a:t>
            </a:r>
          </a:p>
        </p:txBody>
      </p:sp>
    </p:spTree>
    <p:extLst>
      <p:ext uri="{BB962C8B-B14F-4D97-AF65-F5344CB8AC3E}">
        <p14:creationId xmlns:p14="http://schemas.microsoft.com/office/powerpoint/2010/main" val="16212085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Vi Commands to Start Typing</a:t>
            </a:r>
            <a:endParaRPr lang="en-US" sz="1800" b="1" dirty="0">
              <a:solidFill>
                <a:schemeClr val="bg1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70139122"/>
              </p:ext>
            </p:extLst>
          </p:nvPr>
        </p:nvGraphicFramePr>
        <p:xfrm>
          <a:off x="1178208" y="2115824"/>
          <a:ext cx="6813397" cy="25958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6246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87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Commands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Start typing before the current character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Start typing at the start of current line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Start typing after the current character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Start typing at the end of current line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Start typing on a new line after the current line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Start typing on a new line before the current line.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8296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/>
              <a:t>Vi Commands to Move Around a File</a:t>
            </a:r>
            <a:endParaRPr lang="en-US" sz="1800" b="1" dirty="0">
              <a:solidFill>
                <a:schemeClr val="bg1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48222139"/>
              </p:ext>
            </p:extLst>
          </p:nvPr>
        </p:nvGraphicFramePr>
        <p:xfrm>
          <a:off x="2568597" y="2316240"/>
          <a:ext cx="3531578" cy="18542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6246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6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commands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j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To move down 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 move up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 move left 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 move right 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41437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600" dirty="0"/>
              <a:t>Vi Commands to Delete Character and Line</a:t>
            </a:r>
            <a:endParaRPr lang="en-US" sz="1400" b="1" dirty="0">
              <a:solidFill>
                <a:schemeClr val="bg1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55556007"/>
              </p:ext>
            </p:extLst>
          </p:nvPr>
        </p:nvGraphicFramePr>
        <p:xfrm>
          <a:off x="1528937" y="2265061"/>
          <a:ext cx="6525299" cy="28651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3645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607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commands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Delete the current character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Delete the character before the cursor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Replace the current character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err="1">
                          <a:solidFill>
                            <a:srgbClr val="C00000"/>
                          </a:solidFill>
                        </a:rPr>
                        <a:t>xp</a:t>
                      </a:r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Switch two characters 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err="1">
                          <a:solidFill>
                            <a:srgbClr val="C00000"/>
                          </a:solidFill>
                        </a:rPr>
                        <a:t>dd</a:t>
                      </a:r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Delete the current line 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Delete the current line from current character to the end of the line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1843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/>
              <a:t>Vi Commands to cut, copy, and paste</a:t>
            </a:r>
            <a:endParaRPr lang="en-US" sz="1800" b="1" dirty="0">
              <a:solidFill>
                <a:schemeClr val="bg1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94330632"/>
              </p:ext>
            </p:extLst>
          </p:nvPr>
        </p:nvGraphicFramePr>
        <p:xfrm>
          <a:off x="2004926" y="2265061"/>
          <a:ext cx="4809233" cy="18542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3645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446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commands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err="1">
                          <a:solidFill>
                            <a:srgbClr val="C00000"/>
                          </a:solidFill>
                        </a:rPr>
                        <a:t>dd</a:t>
                      </a:r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Delete a line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err="1">
                          <a:solidFill>
                            <a:srgbClr val="C00000"/>
                          </a:solidFill>
                        </a:rPr>
                        <a:t>yy</a:t>
                      </a:r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(yank yank) copy a line 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Paste after the current line 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Paste before the current line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48312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7F4BAFD-2E76-4ABD-8010-F76016C90307}"/>
              </a:ext>
            </a:extLst>
          </p:cNvPr>
          <p:cNvSpPr txBox="1">
            <a:spLocks/>
          </p:cNvSpPr>
          <p:nvPr/>
        </p:nvSpPr>
        <p:spPr>
          <a:xfrm>
            <a:off x="335494" y="1203272"/>
            <a:ext cx="8229600" cy="3775604"/>
          </a:xfrm>
          <a:prstGeom prst="rect">
            <a:avLst/>
          </a:prstGeom>
        </p:spPr>
        <p:txBody>
          <a:bodyPr/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q"/>
            </a:pPr>
            <a:r>
              <a:rPr lang="en-US" dirty="0"/>
              <a:t>Unix Shell Programming</a:t>
            </a:r>
          </a:p>
          <a:p>
            <a:pPr lvl="1">
              <a:buFont typeface="Wingdings" pitchFamily="2" charset="2"/>
              <a:buChar char="q"/>
            </a:pPr>
            <a:r>
              <a:rPr lang="en-US" dirty="0"/>
              <a:t>Written by </a:t>
            </a:r>
            <a:r>
              <a:rPr lang="en-US" dirty="0" err="1"/>
              <a:t>Yashavant</a:t>
            </a:r>
            <a:r>
              <a:rPr lang="en-US" dirty="0"/>
              <a:t> P. </a:t>
            </a:r>
            <a:r>
              <a:rPr lang="en-US" dirty="0" err="1"/>
              <a:t>Kanetkar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2848095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175</TotalTime>
  <Words>671</Words>
  <Application>Microsoft Office PowerPoint</Application>
  <PresentationFormat>On-screen Show (4:3)</PresentationFormat>
  <Paragraphs>111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Corbel</vt:lpstr>
      <vt:lpstr>Georgia</vt:lpstr>
      <vt:lpstr>Wingdings</vt:lpstr>
      <vt:lpstr>Spectrum</vt:lpstr>
      <vt:lpstr>LAB 7 </vt:lpstr>
      <vt:lpstr>Lecture Outline</vt:lpstr>
      <vt:lpstr>vi Editor</vt:lpstr>
      <vt:lpstr>Modes of vi Editor</vt:lpstr>
      <vt:lpstr>Modes of vi Editor (cont’d)</vt:lpstr>
      <vt:lpstr>Create, Save, and Quit in vi</vt:lpstr>
      <vt:lpstr>Vi Commands to Start Typing</vt:lpstr>
      <vt:lpstr>Vi Commands to Move Around a File</vt:lpstr>
      <vt:lpstr>Vi Commands to Delete Character and Line</vt:lpstr>
      <vt:lpstr>Vi Commands to cut, copy, and paste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MEJBAH AHAMMAD</cp:lastModifiedBy>
  <cp:revision>36</cp:revision>
  <dcterms:created xsi:type="dcterms:W3CDTF">2018-12-10T17:20:29Z</dcterms:created>
  <dcterms:modified xsi:type="dcterms:W3CDTF">2026-02-08T13:06:56Z</dcterms:modified>
</cp:coreProperties>
</file>