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64" r:id="rId17"/>
    <p:sldId id="265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90" d="100"/>
          <a:sy n="90" d="100"/>
        </p:scale>
        <p:origin x="90" y="28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A ANIKA TASNIM" userId="8fb70a1d-16e3-4c86-a699-7b87e9bfa60b" providerId="ADAL" clId="{D2ED5BB7-A52A-41CE-85D1-9FA6D8D45699}"/>
    <pc:docChg chg="modSld">
      <pc:chgData name="SYEDA ANIKA TASNIM" userId="8fb70a1d-16e3-4c86-a699-7b87e9bfa60b" providerId="ADAL" clId="{D2ED5BB7-A52A-41CE-85D1-9FA6D8D45699}" dt="2024-01-28T06:12:27.981" v="9" actId="20577"/>
      <pc:docMkLst>
        <pc:docMk/>
      </pc:docMkLst>
      <pc:sldChg chg="modSp mod">
        <pc:chgData name="SYEDA ANIKA TASNIM" userId="8fb70a1d-16e3-4c86-a699-7b87e9bfa60b" providerId="ADAL" clId="{D2ED5BB7-A52A-41CE-85D1-9FA6D8D45699}" dt="2024-01-28T06:12:27.981" v="9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D2ED5BB7-A52A-41CE-85D1-9FA6D8D45699}" dt="2024-01-28T06:12:27.981" v="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D735DD22-C76F-49A8-B234-7A8AA5DD8AC7}"/>
    <pc:docChg chg="custSel modSld">
      <pc:chgData name="SYEDA ANIKA TASNIM" userId="8fb70a1d-16e3-4c86-a699-7b87e9bfa60b" providerId="ADAL" clId="{D735DD22-C76F-49A8-B234-7A8AA5DD8AC7}" dt="2020-07-05T16:04:38.704" v="70" actId="20577"/>
      <pc:docMkLst>
        <pc:docMk/>
      </pc:docMkLst>
      <pc:sldChg chg="modSp mod">
        <pc:chgData name="SYEDA ANIKA TASNIM" userId="8fb70a1d-16e3-4c86-a699-7b87e9bfa60b" providerId="ADAL" clId="{D735DD22-C76F-49A8-B234-7A8AA5DD8AC7}" dt="2020-07-05T16:04:38.704" v="70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D735DD22-C76F-49A8-B234-7A8AA5DD8AC7}" dt="2020-07-05T16:04:38.704" v="7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AC14BCA8-5D65-4760-8FDB-5F2B10EAC602}"/>
    <pc:docChg chg="modSld">
      <pc:chgData name="SYEDA ANIKA TASNIM" userId="8fb70a1d-16e3-4c86-a699-7b87e9bfa60b" providerId="ADAL" clId="{AC14BCA8-5D65-4760-8FDB-5F2B10EAC602}" dt="2021-09-15T02:06:20.383" v="5" actId="20577"/>
      <pc:docMkLst>
        <pc:docMk/>
      </pc:docMkLst>
      <pc:sldChg chg="modSp mod">
        <pc:chgData name="SYEDA ANIKA TASNIM" userId="8fb70a1d-16e3-4c86-a699-7b87e9bfa60b" providerId="ADAL" clId="{AC14BCA8-5D65-4760-8FDB-5F2B10EAC602}" dt="2021-09-15T02:06:20.383" v="5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AC14BCA8-5D65-4760-8FDB-5F2B10EAC602}" dt="2021-09-15T02:06:20.383" v="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33DCBCEC-9B9F-48F9-A30C-01F3BD67A2C1}"/>
    <pc:docChg chg="modSld">
      <pc:chgData name="SYEDA ANIKA TASNIM" userId="8fb70a1d-16e3-4c86-a699-7b87e9bfa60b" providerId="ADAL" clId="{33DCBCEC-9B9F-48F9-A30C-01F3BD67A2C1}" dt="2020-10-12T07:48:46.510" v="9" actId="20577"/>
      <pc:docMkLst>
        <pc:docMk/>
      </pc:docMkLst>
      <pc:sldChg chg="modSp mod">
        <pc:chgData name="SYEDA ANIKA TASNIM" userId="8fb70a1d-16e3-4c86-a699-7b87e9bfa60b" providerId="ADAL" clId="{33DCBCEC-9B9F-48F9-A30C-01F3BD67A2C1}" dt="2020-10-12T07:48:46.510" v="9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33DCBCEC-9B9F-48F9-A30C-01F3BD67A2C1}" dt="2020-10-12T07:48:46.510" v="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6CFE72D9-87DE-4F43-A043-B145548794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2290" name="Rectangle 3">
            <a:extLst>
              <a:ext uri="{FF2B5EF4-FFF2-40B4-BE49-F238E27FC236}">
                <a16:creationId xmlns:a16="http://schemas.microsoft.com/office/drawing/2014/main" id="{19DB2FDD-51AF-F246-A747-854A1D2F81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12EF7B3B-4A14-F149-90FF-644577A9EA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4A181E86-776C-614F-9E04-4617BD74D9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525D0F57-130F-EE4F-B362-2D174DE2B2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22937FD4-B937-F646-9F3F-6CDF8D32E5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620A7FE6-277E-254C-BEC0-B729D4BF17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1E5FB7E9-C7C7-864E-84F3-EA705ED2D7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3E1E0E51-AF1D-4241-B8E1-6C1C67E3BF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F58D2D17-BD15-B64C-931F-60C6387D38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D7617ADE-2466-B940-AEFA-9D7931288C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CF5D9498-9C6A-A643-9D62-D13461AC44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B23F9F0E-E2B5-B049-A86D-6AD3AE9D11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B85339BC-3D65-F54E-BF51-217EA0DAB4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510DFD1B-38E8-4845-83BE-278214E25E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FE4041AE-B3FC-DA4D-B79F-F951EDAE9E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9ED55C67-DBF1-E740-A272-21EEFAA0C8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8C6B886F-39D9-9747-B1FE-D5FC2A9F9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660D52C1-091C-C34B-8688-084AC0B480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CDEFB69B-02E3-E04C-B4CF-9A2B160723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2B8664DB-76A4-1B41-9A1C-13068F9631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67069B54-0B6B-E84F-9890-F574C0F54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hammadmejbah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Operating System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009436"/>
              </p:ext>
            </p:extLst>
          </p:nvPr>
        </p:nvGraphicFramePr>
        <p:xfrm>
          <a:off x="476205" y="5186042"/>
          <a:ext cx="8335798" cy="12931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25802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6836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3277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/>
                        <a:t>Lecturer No: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Week No: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Semester: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Spring 23-24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Mejbah Ahammad, Lecturer, CS,  AIUB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+8801308757586 </a:t>
                      </a:r>
                      <a:r>
                        <a:rPr lang="en-US" sz="1800" cap="none" dirty="0">
                          <a:solidFill>
                            <a:srgbClr val="F49100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ahammadmejbah@aiub.</a:t>
                      </a:r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edu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  <a:p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Room Number: DN0922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Computer System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Abstract View of Computer Components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What Operating Systems Do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Defining Operating Systems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Computer System Organization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Computer-System Operation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Interrupt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Computer Startup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Interrupt Handling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Interrupt-drive I/O Cycle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CB2F8AEF-6638-474E-A15F-3BC2DA0BB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Computer System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092864E3-6570-724A-8309-ED38FBEC3B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2008339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Computer system can be divided into four components: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Hardware – provides basic computing resources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CPU, memory, I/O devices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Operating system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Controls and coordinates use of hardware among various applications and users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Application programs – define the ways in which the system resources are used to solve the computing problems of the users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Word processors, compilers, web browsers, database systems, video games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Users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People, machines, other computers</a:t>
            </a:r>
          </a:p>
        </p:txBody>
      </p:sp>
    </p:spTree>
    <p:extLst>
      <p:ext uri="{BB962C8B-B14F-4D97-AF65-F5344CB8AC3E}">
        <p14:creationId xmlns:p14="http://schemas.microsoft.com/office/powerpoint/2010/main" val="375604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D54C0494-1329-BB4E-BD16-172A6948C8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3600" dirty="0"/>
              <a:t>Abstract View of Computer Components</a:t>
            </a:r>
          </a:p>
        </p:txBody>
      </p:sp>
      <p:pic>
        <p:nvPicPr>
          <p:cNvPr id="13314" name="Picture 4">
            <a:extLst>
              <a:ext uri="{FF2B5EF4-FFF2-40B4-BE49-F238E27FC236}">
                <a16:creationId xmlns:a16="http://schemas.microsoft.com/office/drawing/2014/main" id="{5E1ED625-81AD-C640-AEF4-F83A6EBEF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992" y="2133600"/>
            <a:ext cx="4221272" cy="3591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0482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43A6DF2C-BA7E-6645-B421-4399F6A81B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What Operating Systems Do</a:t>
            </a:r>
          </a:p>
        </p:txBody>
      </p:sp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51891E43-CE2F-F741-BAEF-E3312A222A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Depends on the point of view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Users want convenience, </a:t>
            </a:r>
            <a:r>
              <a:rPr lang="en-US" altLang="en-US" b="1" dirty="0">
                <a:solidFill>
                  <a:srgbClr val="3366FF"/>
                </a:solidFill>
              </a:rPr>
              <a:t>ease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of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use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good performance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care about </a:t>
            </a:r>
            <a:r>
              <a:rPr lang="en-US" altLang="ja-JP" b="1" dirty="0">
                <a:solidFill>
                  <a:srgbClr val="3366FF"/>
                </a:solidFill>
              </a:rPr>
              <a:t>resource</a:t>
            </a:r>
            <a:r>
              <a:rPr lang="en-US" altLang="ja-JP" dirty="0">
                <a:solidFill>
                  <a:srgbClr val="3366FF"/>
                </a:solidFill>
              </a:rPr>
              <a:t> </a:t>
            </a:r>
            <a:r>
              <a:rPr lang="en-US" altLang="ja-JP" b="1" dirty="0">
                <a:solidFill>
                  <a:srgbClr val="3366FF"/>
                </a:solidFill>
              </a:rPr>
              <a:t>utilization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But shared computer such as </a:t>
            </a:r>
            <a:r>
              <a:rPr lang="en-US" altLang="en-US" b="1" dirty="0">
                <a:solidFill>
                  <a:srgbClr val="3366FF"/>
                </a:solidFill>
              </a:rPr>
              <a:t>mainframe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3366FF"/>
                </a:solidFill>
              </a:rPr>
              <a:t>minicomputer</a:t>
            </a:r>
            <a:r>
              <a:rPr lang="en-US" altLang="en-US" dirty="0"/>
              <a:t> must keep all users happy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Operating system is a </a:t>
            </a:r>
            <a:r>
              <a:rPr lang="en-US" altLang="en-US" b="1" dirty="0">
                <a:solidFill>
                  <a:srgbClr val="3366FF"/>
                </a:solidFill>
              </a:rPr>
              <a:t>resource allocator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3366FF"/>
                </a:solidFill>
              </a:rPr>
              <a:t>control program </a:t>
            </a:r>
            <a:r>
              <a:rPr lang="en-US" altLang="en-US" dirty="0"/>
              <a:t>making efficient use of Hardware and managing execution of user programs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Users of dedicate systems such as </a:t>
            </a:r>
            <a:r>
              <a:rPr lang="en-US" altLang="en-US" b="1" dirty="0">
                <a:solidFill>
                  <a:srgbClr val="3366FF"/>
                </a:solidFill>
              </a:rPr>
              <a:t>workstations</a:t>
            </a:r>
            <a:r>
              <a:rPr lang="en-US" altLang="en-US" dirty="0"/>
              <a:t> have dedicated resources but frequently use shared resources from </a:t>
            </a:r>
            <a:r>
              <a:rPr lang="en-US" altLang="en-US" b="1" dirty="0">
                <a:solidFill>
                  <a:srgbClr val="3366FF"/>
                </a:solidFill>
              </a:rPr>
              <a:t>servers</a:t>
            </a:r>
          </a:p>
        </p:txBody>
      </p:sp>
    </p:spTree>
    <p:extLst>
      <p:ext uri="{BB962C8B-B14F-4D97-AF65-F5344CB8AC3E}">
        <p14:creationId xmlns:p14="http://schemas.microsoft.com/office/powerpoint/2010/main" val="1263545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43A6DF2C-BA7E-6645-B421-4399F6A81B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What Operating Systems Do</a:t>
            </a:r>
            <a:r>
              <a:rPr lang="en-US" altLang="en-US" sz="1600" dirty="0"/>
              <a:t> (cont’d)</a:t>
            </a:r>
          </a:p>
        </p:txBody>
      </p:sp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51891E43-CE2F-F741-BAEF-E3312A222A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2008339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</a:rPr>
              <a:t>Mobile devices like smartphones and tables are resource poor,  optimized for usability and battery life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</a:rPr>
              <a:t>Mobile user interfaces such as touch screens, voice recognition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</a:rPr>
              <a:t>Some computers have little or no user interface, such as embedded computers in devices and automobiles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</a:rPr>
              <a:t>Run primarily without user intervention</a:t>
            </a:r>
          </a:p>
        </p:txBody>
      </p:sp>
    </p:spTree>
    <p:extLst>
      <p:ext uri="{BB962C8B-B14F-4D97-AF65-F5344CB8AC3E}">
        <p14:creationId xmlns:p14="http://schemas.microsoft.com/office/powerpoint/2010/main" val="619543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34F73E07-A97C-C746-9862-7665679508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Defining Operating Systems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9FA4C04D-68B5-064B-BB58-8D939AB957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695189"/>
            <a:ext cx="7076747" cy="3992563"/>
          </a:xfrm>
        </p:spPr>
        <p:txBody>
          <a:bodyPr/>
          <a:lstStyle/>
          <a:p>
            <a:pPr marL="0" indent="0">
              <a:buNone/>
            </a:pPr>
            <a:endParaRPr lang="en-US" altLang="en-US" dirty="0"/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Term OS covers many roles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Because of myriad designs and uses of OSes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Present in toasters through ships, spacecraft, game machines, TVs and industrial control systems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Born when fixed use computers for military became more general purpose and needed resource management and program control</a:t>
            </a:r>
          </a:p>
        </p:txBody>
      </p:sp>
    </p:spTree>
    <p:extLst>
      <p:ext uri="{BB962C8B-B14F-4D97-AF65-F5344CB8AC3E}">
        <p14:creationId xmlns:p14="http://schemas.microsoft.com/office/powerpoint/2010/main" val="3298312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16DFB4B-CB48-A543-8F6B-BCFE439BA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Operating System Definition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ACDE966C-E86B-EA4A-8BBA-82270233C3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887254"/>
            <a:ext cx="8574087" cy="3992563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No universally accepted definition</a:t>
            </a:r>
          </a:p>
          <a:p>
            <a:pPr>
              <a:buFont typeface="Wingdings" pitchFamily="2" charset="2"/>
              <a:buChar char="q"/>
            </a:pPr>
            <a:r>
              <a:rPr lang="ja-JP" altLang="en-US" dirty="0"/>
              <a:t>“</a:t>
            </a:r>
            <a:r>
              <a:rPr lang="en-US" altLang="ja-JP" dirty="0"/>
              <a:t>Everything a vendor ships when you order an operating system</a:t>
            </a:r>
            <a:r>
              <a:rPr lang="ja-JP" altLang="en-US" dirty="0"/>
              <a:t>”</a:t>
            </a:r>
            <a:r>
              <a:rPr lang="en-US" altLang="ja-JP" dirty="0"/>
              <a:t> is a good approximation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But varies wildly</a:t>
            </a:r>
          </a:p>
          <a:p>
            <a:pPr>
              <a:buFont typeface="Wingdings" pitchFamily="2" charset="2"/>
              <a:buChar char="q"/>
            </a:pPr>
            <a:r>
              <a:rPr lang="ja-JP" altLang="en-US" dirty="0"/>
              <a:t>“</a:t>
            </a:r>
            <a:r>
              <a:rPr lang="en-US" altLang="ja-JP" dirty="0"/>
              <a:t>The one program running at all times on the computer</a:t>
            </a:r>
            <a:r>
              <a:rPr lang="ja-JP" altLang="en-US" dirty="0"/>
              <a:t>”</a:t>
            </a:r>
            <a:r>
              <a:rPr lang="en-US" altLang="ja-JP" dirty="0"/>
              <a:t> is the </a:t>
            </a:r>
            <a:r>
              <a:rPr lang="en-US" altLang="ja-JP" b="1" dirty="0">
                <a:solidFill>
                  <a:srgbClr val="3366FF"/>
                </a:solidFill>
              </a:rPr>
              <a:t>kernel, </a:t>
            </a:r>
            <a:r>
              <a:rPr lang="en-US" altLang="ja-JP" dirty="0"/>
              <a:t>part of the operating system</a:t>
            </a:r>
          </a:p>
          <a:p>
            <a:pPr>
              <a:buFont typeface="Wingdings" pitchFamily="2" charset="2"/>
              <a:buChar char="q"/>
            </a:pPr>
            <a:r>
              <a:rPr lang="en-US" altLang="ja-JP" dirty="0"/>
              <a:t>Everything else is either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ja-JP" dirty="0"/>
              <a:t>a </a:t>
            </a:r>
            <a:r>
              <a:rPr lang="en-US" altLang="ja-JP" b="1" dirty="0">
                <a:solidFill>
                  <a:srgbClr val="3366FF"/>
                </a:solidFill>
              </a:rPr>
              <a:t>system program </a:t>
            </a:r>
            <a:r>
              <a:rPr lang="en-US" altLang="ja-JP" dirty="0"/>
              <a:t>(ships with the operating system, but not part of the kernel) , or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ja-JP" dirty="0"/>
              <a:t>an </a:t>
            </a:r>
            <a:r>
              <a:rPr lang="en-US" altLang="ja-JP" b="1" dirty="0">
                <a:solidFill>
                  <a:srgbClr val="3366FF"/>
                </a:solidFill>
              </a:rPr>
              <a:t>application program</a:t>
            </a:r>
            <a:r>
              <a:rPr lang="en-US" altLang="ja-JP" dirty="0"/>
              <a:t>, all programs not associated with the operating system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Today’s OSes for general purpose and mobile computing also include </a:t>
            </a:r>
            <a:r>
              <a:rPr lang="en-US" altLang="en-US" b="1" dirty="0">
                <a:solidFill>
                  <a:srgbClr val="3366FF"/>
                </a:solidFill>
              </a:rPr>
              <a:t>middleware</a:t>
            </a:r>
            <a:r>
              <a:rPr lang="en-US" altLang="en-US" dirty="0"/>
              <a:t> – a set of software frameworks that provide addition services to application developers such as databases, multimedia, graphics </a:t>
            </a:r>
          </a:p>
        </p:txBody>
      </p:sp>
    </p:spTree>
    <p:extLst>
      <p:ext uri="{BB962C8B-B14F-4D97-AF65-F5344CB8AC3E}">
        <p14:creationId xmlns:p14="http://schemas.microsoft.com/office/powerpoint/2010/main" val="2253690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86F3E3CC-2C4C-ED4D-A572-9791AB794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Computer System Organization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699047BA-71E4-7D47-91E2-D283AC42FC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849676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Computer-system operation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One or more CPUs, device controllers connect through common </a:t>
            </a:r>
            <a:r>
              <a:rPr lang="en-US" altLang="en-US" b="1" dirty="0">
                <a:solidFill>
                  <a:srgbClr val="3366FF"/>
                </a:solidFill>
              </a:rPr>
              <a:t>bus</a:t>
            </a:r>
            <a:r>
              <a:rPr lang="en-US" altLang="en-US" dirty="0"/>
              <a:t> providing access to shared memory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Concurrent execution of CPUs and devices competing for memory cycles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  <p:pic>
        <p:nvPicPr>
          <p:cNvPr id="20483" name="Picture 2">
            <a:extLst>
              <a:ext uri="{FF2B5EF4-FFF2-40B4-BE49-F238E27FC236}">
                <a16:creationId xmlns:a16="http://schemas.microsoft.com/office/drawing/2014/main" id="{BAEB135C-9FB0-6B47-8B4E-57E9796F2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702" y="3832966"/>
            <a:ext cx="5486400" cy="2442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9535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199E40AA-35EB-A442-8BAB-6E0126710B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Computer-System Operation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A9B78357-7B36-6D4C-961C-4DBB0B8596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I/O devices and the CPU can execute </a:t>
            </a:r>
            <a:r>
              <a:rPr lang="en-US" altLang="en-US" b="1" dirty="0"/>
              <a:t>concurrently</a:t>
            </a:r>
            <a:endParaRPr lang="en-US" altLang="en-US" sz="667" b="1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Each </a:t>
            </a:r>
            <a:r>
              <a:rPr lang="en-US" altLang="en-US" b="1" dirty="0">
                <a:solidFill>
                  <a:srgbClr val="9437FF"/>
                </a:solidFill>
              </a:rPr>
              <a:t>device controller</a:t>
            </a:r>
            <a:r>
              <a:rPr lang="en-US" altLang="en-US" dirty="0"/>
              <a:t> is in charge of a particular device type</a:t>
            </a:r>
            <a:endParaRPr lang="en-US" altLang="en-US" sz="667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Each device controller has a local buffer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Each device controller type has an operating system </a:t>
            </a:r>
            <a:r>
              <a:rPr lang="en-US" altLang="en-US" b="1" dirty="0">
                <a:solidFill>
                  <a:srgbClr val="3366FF"/>
                </a:solidFill>
              </a:rPr>
              <a:t>device driver</a:t>
            </a:r>
            <a:r>
              <a:rPr lang="en-US" altLang="en-US" dirty="0"/>
              <a:t> to manage it</a:t>
            </a:r>
            <a:endParaRPr lang="en-US" altLang="en-US" sz="667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CPU moves data from/to main memory to/from local buffers</a:t>
            </a:r>
            <a:endParaRPr lang="en-US" altLang="en-US" sz="667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I/O is from the device to </a:t>
            </a:r>
            <a:r>
              <a:rPr lang="en-US" altLang="en-US" b="1" dirty="0"/>
              <a:t>local buffer of controller</a:t>
            </a:r>
            <a:endParaRPr lang="en-US" altLang="en-US" sz="667" b="1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Device controller informs CPU that it has finished its operation by causing an </a:t>
            </a:r>
            <a:r>
              <a:rPr lang="en-US" altLang="en-US" b="1" dirty="0">
                <a:solidFill>
                  <a:srgbClr val="3366FF"/>
                </a:solidFill>
              </a:rPr>
              <a:t>interrupt</a:t>
            </a:r>
          </a:p>
        </p:txBody>
      </p:sp>
    </p:spTree>
    <p:extLst>
      <p:ext uri="{BB962C8B-B14F-4D97-AF65-F5344CB8AC3E}">
        <p14:creationId xmlns:p14="http://schemas.microsoft.com/office/powerpoint/2010/main" val="976908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2B597B69-96BD-D941-BEAC-7CF1656A32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Common Functions of Interrupts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E84F798E-E5C1-6E46-9E4D-51F1B43271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Interrupt transfers control to the interrupt service routine generally, through the </a:t>
            </a:r>
            <a:r>
              <a:rPr lang="en-US" altLang="en-US" b="1" dirty="0">
                <a:solidFill>
                  <a:srgbClr val="3366FF"/>
                </a:solidFill>
              </a:rPr>
              <a:t>interrupt</a:t>
            </a:r>
            <a:r>
              <a:rPr lang="en-US" altLang="en-US" i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vector</a:t>
            </a:r>
            <a:r>
              <a:rPr lang="en-US" altLang="en-US" dirty="0"/>
              <a:t>, which contains the addresses of all the service routines</a:t>
            </a:r>
            <a:endParaRPr lang="en-US" altLang="en-US" sz="667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Interrupt architecture must save the address of the interrupted instruction</a:t>
            </a:r>
            <a:endParaRPr lang="en-US" altLang="en-US" sz="667" i="1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 </a:t>
            </a:r>
            <a:r>
              <a:rPr lang="en-US" altLang="en-US" b="1" dirty="0">
                <a:solidFill>
                  <a:srgbClr val="3366FF"/>
                </a:solidFill>
              </a:rPr>
              <a:t>trap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3366FF"/>
                </a:solidFill>
              </a:rPr>
              <a:t>exception</a:t>
            </a:r>
            <a:r>
              <a:rPr lang="en-US" altLang="en-US" dirty="0"/>
              <a:t> is a software-generated interrupt caused either by an error or a user request</a:t>
            </a:r>
            <a:endParaRPr lang="en-US" altLang="en-US" sz="667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An operating system is </a:t>
            </a:r>
            <a:r>
              <a:rPr lang="en-US" altLang="en-US" b="1" dirty="0">
                <a:solidFill>
                  <a:srgbClr val="3366FF"/>
                </a:solidFill>
              </a:rPr>
              <a:t>interrupt driven</a:t>
            </a:r>
          </a:p>
          <a:p>
            <a:pPr>
              <a:buFont typeface="Wingdings" pitchFamily="2" charset="2"/>
              <a:buChar char="q"/>
            </a:pPr>
            <a:endParaRPr lang="en-US" altLang="en-US" b="1" dirty="0">
              <a:solidFill>
                <a:srgbClr val="33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674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A1C22BAF-A169-AC4F-A7E2-FAAE6A5FAD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Interrupt Timeline</a:t>
            </a:r>
          </a:p>
        </p:txBody>
      </p:sp>
      <p:pic>
        <p:nvPicPr>
          <p:cNvPr id="26626" name="Picture 2">
            <a:extLst>
              <a:ext uri="{FF2B5EF4-FFF2-40B4-BE49-F238E27FC236}">
                <a16:creationId xmlns:a16="http://schemas.microsoft.com/office/drawing/2014/main" id="{10B5A11B-63D4-934D-A6B9-90055BC04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41" y="1925709"/>
            <a:ext cx="8244209" cy="4062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8630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CDAB64CA-2D3C-4746-8523-CE72CA23E4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Computer Startup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8C974116-BE25-7D41-8B66-284F547299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bootstrap program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loaded at power-up or reboot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Typically stored in </a:t>
            </a:r>
            <a:r>
              <a:rPr lang="en-US" altLang="en-US" b="1" dirty="0"/>
              <a:t>ROM</a:t>
            </a:r>
            <a:r>
              <a:rPr lang="en-US" altLang="en-US" dirty="0"/>
              <a:t> or </a:t>
            </a:r>
            <a:r>
              <a:rPr lang="en-US" altLang="en-US" b="1" dirty="0"/>
              <a:t>EPROM</a:t>
            </a:r>
            <a:r>
              <a:rPr lang="en-US" altLang="en-US" dirty="0"/>
              <a:t>, generally known as </a:t>
            </a:r>
            <a:r>
              <a:rPr lang="en-US" altLang="en-US" b="1" dirty="0">
                <a:solidFill>
                  <a:srgbClr val="3366FF"/>
                </a:solidFill>
              </a:rPr>
              <a:t>firmware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Initializes all aspects of system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Loads operating system kernel and starts execution</a:t>
            </a:r>
          </a:p>
          <a:p>
            <a:pPr marL="723885" lvl="1" indent="-342900">
              <a:buFont typeface="Wingdings" pitchFamily="2" charset="2"/>
              <a:buChar char="q"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3978562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E326D081-B83F-0742-972E-1ACF13D096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Interrupt Handling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9F155575-9620-C244-8302-C35D746D62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95814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The operating system preserves the state of the CPU by storing registers and the program counter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Determines which type of interrupt has occurred: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Polling </a:t>
            </a:r>
            <a:r>
              <a:rPr lang="en-US" altLang="en-US" dirty="0"/>
              <a:t>interrupt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(CPU keeps polling at regular intervals if a device is ready)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vectored</a:t>
            </a:r>
            <a:r>
              <a:rPr lang="en-US" altLang="en-US" dirty="0"/>
              <a:t> interrupt (I/O device requests for attention)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Separate segments of code determine what action should be taken (for each type of interrupt)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44278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41B331F2-2109-C347-9FD9-D0B16F8EE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Interrupt-drive I/O Cycle</a:t>
            </a:r>
          </a:p>
        </p:txBody>
      </p:sp>
      <p:pic>
        <p:nvPicPr>
          <p:cNvPr id="32770" name="Picture 3">
            <a:extLst>
              <a:ext uri="{FF2B5EF4-FFF2-40B4-BE49-F238E27FC236}">
                <a16:creationId xmlns:a16="http://schemas.microsoft.com/office/drawing/2014/main" id="{6A2F530F-EA78-E74F-8EF1-F0F685B03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795" y="1941534"/>
            <a:ext cx="5015298" cy="4496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5246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147</TotalTime>
  <Words>776</Words>
  <Application>Microsoft Office PowerPoint</Application>
  <PresentationFormat>On-screen Show (4:3)</PresentationFormat>
  <Paragraphs>102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Corbel</vt:lpstr>
      <vt:lpstr>Georgia</vt:lpstr>
      <vt:lpstr>Times New Roman</vt:lpstr>
      <vt:lpstr>Wingdings</vt:lpstr>
      <vt:lpstr>Spectrum</vt:lpstr>
      <vt:lpstr>Operating System Concepts</vt:lpstr>
      <vt:lpstr>Lecture Outline</vt:lpstr>
      <vt:lpstr>Computer System</vt:lpstr>
      <vt:lpstr>Abstract View of Computer Components</vt:lpstr>
      <vt:lpstr>What Operating Systems Do</vt:lpstr>
      <vt:lpstr>What Operating Systems Do (cont’d)</vt:lpstr>
      <vt:lpstr>Defining Operating Systems</vt:lpstr>
      <vt:lpstr>Operating System Definition (cont’d)</vt:lpstr>
      <vt:lpstr>Computer System Organization</vt:lpstr>
      <vt:lpstr>Computer-System Operation</vt:lpstr>
      <vt:lpstr>Common Functions of Interrupts</vt:lpstr>
      <vt:lpstr>Interrupt Timeline</vt:lpstr>
      <vt:lpstr>Computer Startup</vt:lpstr>
      <vt:lpstr>Interrupt Handling</vt:lpstr>
      <vt:lpstr>Interrupt-drive I/O Cycle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MEJBAH AHAMMAD</cp:lastModifiedBy>
  <cp:revision>17</cp:revision>
  <dcterms:created xsi:type="dcterms:W3CDTF">2018-12-10T17:20:29Z</dcterms:created>
  <dcterms:modified xsi:type="dcterms:W3CDTF">2026-02-08T12:07:52Z</dcterms:modified>
</cp:coreProperties>
</file>