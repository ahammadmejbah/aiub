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6"/>
  </p:notesMasterIdLst>
  <p:sldIdLst>
    <p:sldId id="256" r:id="rId2"/>
    <p:sldId id="257" r:id="rId3"/>
    <p:sldId id="274" r:id="rId4"/>
    <p:sldId id="275" r:id="rId5"/>
    <p:sldId id="276" r:id="rId6"/>
    <p:sldId id="277" r:id="rId7"/>
    <p:sldId id="278" r:id="rId8"/>
    <p:sldId id="279" r:id="rId9"/>
    <p:sldId id="280" r:id="rId10"/>
    <p:sldId id="281" r:id="rId11"/>
    <p:sldId id="282" r:id="rId12"/>
    <p:sldId id="283" r:id="rId13"/>
    <p:sldId id="284" r:id="rId14"/>
    <p:sldId id="285" r:id="rId15"/>
    <p:sldId id="286" r:id="rId16"/>
    <p:sldId id="287" r:id="rId17"/>
    <p:sldId id="288" r:id="rId18"/>
    <p:sldId id="289" r:id="rId19"/>
    <p:sldId id="290" r:id="rId20"/>
    <p:sldId id="291" r:id="rId21"/>
    <p:sldId id="292" r:id="rId22"/>
    <p:sldId id="293" r:id="rId23"/>
    <p:sldId id="264" r:id="rId24"/>
    <p:sldId id="265" r:id="rId2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724"/>
  </p:normalViewPr>
  <p:slideViewPr>
    <p:cSldViewPr snapToGrid="0" snapToObjects="1">
      <p:cViewPr varScale="1">
        <p:scale>
          <a:sx n="90" d="100"/>
          <a:sy n="90" d="100"/>
        </p:scale>
        <p:origin x="90" y="28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YEDA ANIKA TASNIM" userId="8fb70a1d-16e3-4c86-a699-7b87e9bfa60b" providerId="ADAL" clId="{64525DB7-AA75-4025-99DF-596549783144}"/>
    <pc:docChg chg="custSel modSld">
      <pc:chgData name="SYEDA ANIKA TASNIM" userId="8fb70a1d-16e3-4c86-a699-7b87e9bfa60b" providerId="ADAL" clId="{64525DB7-AA75-4025-99DF-596549783144}" dt="2020-09-07T09:17:34.025" v="58" actId="20577"/>
      <pc:docMkLst>
        <pc:docMk/>
      </pc:docMkLst>
      <pc:sldChg chg="modSp mod">
        <pc:chgData name="SYEDA ANIKA TASNIM" userId="8fb70a1d-16e3-4c86-a699-7b87e9bfa60b" providerId="ADAL" clId="{64525DB7-AA75-4025-99DF-596549783144}" dt="2020-09-07T09:17:34.025" v="58" actId="20577"/>
        <pc:sldMkLst>
          <pc:docMk/>
          <pc:sldMk cId="700707328" sldId="256"/>
        </pc:sldMkLst>
        <pc:graphicFrameChg chg="modGraphic">
          <ac:chgData name="SYEDA ANIKA TASNIM" userId="8fb70a1d-16e3-4c86-a699-7b87e9bfa60b" providerId="ADAL" clId="{64525DB7-AA75-4025-99DF-596549783144}" dt="2020-09-07T09:17:34.025" v="58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</pc:docChg>
  </pc:docChgLst>
  <pc:docChgLst>
    <pc:chgData name="SYEDA ANIKA TASNIM" userId="8fb70a1d-16e3-4c86-a699-7b87e9bfa60b" providerId="ADAL" clId="{9DAC5537-A66D-4373-8398-4331B5E8C630}"/>
    <pc:docChg chg="modSld">
      <pc:chgData name="SYEDA ANIKA TASNIM" userId="8fb70a1d-16e3-4c86-a699-7b87e9bfa60b" providerId="ADAL" clId="{9DAC5537-A66D-4373-8398-4331B5E8C630}" dt="2021-11-30T05:50:03.603" v="3" actId="20577"/>
      <pc:docMkLst>
        <pc:docMk/>
      </pc:docMkLst>
      <pc:sldChg chg="modSp mod">
        <pc:chgData name="SYEDA ANIKA TASNIM" userId="8fb70a1d-16e3-4c86-a699-7b87e9bfa60b" providerId="ADAL" clId="{9DAC5537-A66D-4373-8398-4331B5E8C630}" dt="2021-11-30T05:50:03.603" v="3" actId="20577"/>
        <pc:sldMkLst>
          <pc:docMk/>
          <pc:sldMk cId="700707328" sldId="256"/>
        </pc:sldMkLst>
        <pc:graphicFrameChg chg="modGraphic">
          <ac:chgData name="SYEDA ANIKA TASNIM" userId="8fb70a1d-16e3-4c86-a699-7b87e9bfa60b" providerId="ADAL" clId="{9DAC5537-A66D-4373-8398-4331B5E8C630}" dt="2021-11-30T05:50:03.603" v="3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</pc:docChg>
  </pc:docChgLst>
  <pc:docChgLst>
    <pc:chgData name="SYEDA ANIKA TASNIM" userId="8fb70a1d-16e3-4c86-a699-7b87e9bfa60b" providerId="ADAL" clId="{FDA437C6-EC53-4D91-BC4C-97E3CD23094B}"/>
    <pc:docChg chg="modSld">
      <pc:chgData name="SYEDA ANIKA TASNIM" userId="8fb70a1d-16e3-4c86-a699-7b87e9bfa60b" providerId="ADAL" clId="{FDA437C6-EC53-4D91-BC4C-97E3CD23094B}" dt="2020-12-12T03:15:54.820" v="25" actId="20577"/>
      <pc:docMkLst>
        <pc:docMk/>
      </pc:docMkLst>
      <pc:sldChg chg="modSp mod">
        <pc:chgData name="SYEDA ANIKA TASNIM" userId="8fb70a1d-16e3-4c86-a699-7b87e9bfa60b" providerId="ADAL" clId="{FDA437C6-EC53-4D91-BC4C-97E3CD23094B}" dt="2020-12-12T03:15:54.820" v="25" actId="20577"/>
        <pc:sldMkLst>
          <pc:docMk/>
          <pc:sldMk cId="700707328" sldId="256"/>
        </pc:sldMkLst>
        <pc:graphicFrameChg chg="modGraphic">
          <ac:chgData name="SYEDA ANIKA TASNIM" userId="8fb70a1d-16e3-4c86-a699-7b87e9bfa60b" providerId="ADAL" clId="{FDA437C6-EC53-4D91-BC4C-97E3CD23094B}" dt="2020-12-12T03:15:54.820" v="25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</pc:docChg>
  </pc:docChgLst>
  <pc:docChgLst>
    <pc:chgData name=" " userId="7df7294e-d88c-40ba-90e5-79451dd84eeb" providerId="ADAL" clId="{865E8905-3A9F-4DF8-BE85-8764B14DC0D4}"/>
    <pc:docChg chg="modSld">
      <pc:chgData name=" " userId="7df7294e-d88c-40ba-90e5-79451dd84eeb" providerId="ADAL" clId="{865E8905-3A9F-4DF8-BE85-8764B14DC0D4}" dt="2019-04-17T04:06:04.677" v="0" actId="1076"/>
      <pc:docMkLst>
        <pc:docMk/>
      </pc:docMkLst>
      <pc:sldChg chg="modSp">
        <pc:chgData name=" " userId="7df7294e-d88c-40ba-90e5-79451dd84eeb" providerId="ADAL" clId="{865E8905-3A9F-4DF8-BE85-8764B14DC0D4}" dt="2019-04-17T04:06:04.677" v="0" actId="1076"/>
        <pc:sldMkLst>
          <pc:docMk/>
          <pc:sldMk cId="3716353229" sldId="259"/>
        </pc:sldMkLst>
        <pc:spChg chg="mod">
          <ac:chgData name=" " userId="7df7294e-d88c-40ba-90e5-79451dd84eeb" providerId="ADAL" clId="{865E8905-3A9F-4DF8-BE85-8764B14DC0D4}" dt="2019-04-17T04:06:04.677" v="0" actId="1076"/>
          <ac:spMkLst>
            <pc:docMk/>
            <pc:sldMk cId="3716353229" sldId="259"/>
            <ac:spMk id="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C62E78-F200-4C4C-BC42-C27AC9E77916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6B0FEB-E303-4A4A-A013-42557A45CD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7202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0834843D-2B26-413A-AC04-711100EC9511}" type="slidenum">
              <a:rPr lang="en-US" altLang="en-US" sz="1300">
                <a:latin typeface="Helvetica" pitchFamily="-84" charset="0"/>
              </a:rPr>
              <a:pPr/>
              <a:t>3</a:t>
            </a:fld>
            <a:endParaRPr lang="en-US" altLang="en-US" sz="1300">
              <a:latin typeface="Helvetica" pitchFamily="-84" charset="0"/>
            </a:endParaRPr>
          </a:p>
        </p:txBody>
      </p:sp>
      <p:sp>
        <p:nvSpPr>
          <p:cNvPr id="12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03679397-B6AF-487D-9447-41E068DD74B5}" type="slidenum">
              <a:rPr lang="en-US" altLang="en-US" sz="1300">
                <a:latin typeface="Helvetica" pitchFamily="-84" charset="0"/>
              </a:rPr>
              <a:pPr/>
              <a:t>4</a:t>
            </a:fld>
            <a:endParaRPr lang="en-US" altLang="en-US" sz="1300">
              <a:latin typeface="Helvetica" pitchFamily="-84" charset="0"/>
            </a:endParaRPr>
          </a:p>
        </p:txBody>
      </p:sp>
      <p:sp>
        <p:nvSpPr>
          <p:cNvPr id="14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F28228B7-68C6-40F1-8304-B8FFCCBFCCE2}" type="slidenum">
              <a:rPr lang="en-US" altLang="en-US" sz="1300">
                <a:latin typeface="Helvetica" pitchFamily="-84" charset="0"/>
              </a:rPr>
              <a:pPr/>
              <a:t>6</a:t>
            </a:fld>
            <a:endParaRPr lang="en-US" altLang="en-US" sz="1300">
              <a:latin typeface="Helvetica" pitchFamily="-84" charset="0"/>
            </a:endParaRPr>
          </a:p>
        </p:txBody>
      </p:sp>
      <p:sp>
        <p:nvSpPr>
          <p:cNvPr id="174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FB3EBBE3-E32F-4D0E-ACBF-B34E5187043B}" type="slidenum">
              <a:rPr lang="en-US" altLang="en-US" sz="1300">
                <a:latin typeface="Helvetica" pitchFamily="-84" charset="0"/>
              </a:rPr>
              <a:pPr/>
              <a:t>7</a:t>
            </a:fld>
            <a:endParaRPr lang="en-US" altLang="en-US" sz="1300">
              <a:latin typeface="Helvetica" pitchFamily="-84" charset="0"/>
            </a:endParaRPr>
          </a:p>
        </p:txBody>
      </p:sp>
      <p:sp>
        <p:nvSpPr>
          <p:cNvPr id="194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375F3F04-2E12-465E-A57D-A1442CE410B9}" type="slidenum">
              <a:rPr lang="en-US" altLang="en-US" sz="1300">
                <a:latin typeface="Helvetica" pitchFamily="-84" charset="0"/>
              </a:rPr>
              <a:pPr/>
              <a:t>8</a:t>
            </a:fld>
            <a:endParaRPr lang="en-US" altLang="en-US" sz="1300">
              <a:latin typeface="Helvetica" pitchFamily="-84" charset="0"/>
            </a:endParaRPr>
          </a:p>
        </p:txBody>
      </p:sp>
      <p:sp>
        <p:nvSpPr>
          <p:cNvPr id="215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960F86FD-61CA-414D-B262-2536D28E6B52}" type="slidenum">
              <a:rPr lang="en-US" altLang="en-US" sz="1300">
                <a:latin typeface="Helvetica" pitchFamily="-84" charset="0"/>
              </a:rPr>
              <a:pPr/>
              <a:t>10</a:t>
            </a:fld>
            <a:endParaRPr lang="en-US" altLang="en-US" sz="1300">
              <a:latin typeface="Helvetica" pitchFamily="-84" charset="0"/>
            </a:endParaRPr>
          </a:p>
        </p:txBody>
      </p:sp>
      <p:sp>
        <p:nvSpPr>
          <p:cNvPr id="24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7CE364ED-53A2-4937-9A53-7DAA0D77437D}" type="slidenum">
              <a:rPr lang="en-US" altLang="en-US" sz="1300">
                <a:latin typeface="Helvetica" pitchFamily="-84" charset="0"/>
              </a:rPr>
              <a:pPr/>
              <a:t>11</a:t>
            </a:fld>
            <a:endParaRPr lang="en-US" altLang="en-US" sz="1300">
              <a:latin typeface="Helvetica" pitchFamily="-84" charset="0"/>
            </a:endParaRPr>
          </a:p>
        </p:txBody>
      </p:sp>
      <p:sp>
        <p:nvSpPr>
          <p:cNvPr id="26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95D5664B-EBE6-496D-961E-469F18EE1B41}" type="slidenum">
              <a:rPr lang="en-US" altLang="en-US" sz="1300">
                <a:latin typeface="Helvetica" pitchFamily="-84" charset="0"/>
              </a:rPr>
              <a:pPr/>
              <a:t>12</a:t>
            </a:fld>
            <a:endParaRPr lang="en-US" altLang="en-US" sz="1300">
              <a:latin typeface="Helvetica" pitchFamily="-84" charset="0"/>
            </a:endParaRPr>
          </a:p>
        </p:txBody>
      </p:sp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F60444F0-A71E-4B9C-A35F-17B9B530A3C7}" type="slidenum">
              <a:rPr lang="en-US" altLang="en-US" sz="1300">
                <a:latin typeface="Helvetica" pitchFamily="-84" charset="0"/>
              </a:rPr>
              <a:pPr/>
              <a:t>14</a:t>
            </a:fld>
            <a:endParaRPr lang="en-US" altLang="en-US" sz="1300">
              <a:latin typeface="Helvetica" pitchFamily="-84" charset="0"/>
            </a:endParaRPr>
          </a:p>
        </p:txBody>
      </p:sp>
      <p:sp>
        <p:nvSpPr>
          <p:cNvPr id="31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99465E5F-DA13-48AB-A9A5-A01899F9A38B}" type="slidenum">
              <a:rPr lang="en-US" altLang="en-US" sz="1300">
                <a:latin typeface="Helvetica" pitchFamily="-84" charset="0"/>
              </a:rPr>
              <a:pPr/>
              <a:t>15</a:t>
            </a:fld>
            <a:endParaRPr lang="en-US" altLang="en-US" sz="1300">
              <a:latin typeface="Helvetica" pitchFamily="-84" charset="0"/>
            </a:endParaRPr>
          </a:p>
        </p:txBody>
      </p:sp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BD1B2BB1-B471-4692-B2D0-7FC6E62D8209}" type="slidenum">
              <a:rPr lang="en-US" altLang="en-US" sz="1300">
                <a:latin typeface="Helvetica" pitchFamily="-84" charset="0"/>
              </a:rPr>
              <a:pPr/>
              <a:t>16</a:t>
            </a:fld>
            <a:endParaRPr lang="en-US" altLang="en-US" sz="1300">
              <a:latin typeface="Helvetica" pitchFamily="-84" charset="0"/>
            </a:endParaRPr>
          </a:p>
        </p:txBody>
      </p:sp>
      <p:sp>
        <p:nvSpPr>
          <p:cNvPr id="35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6B1496BA-3CAF-4060-A036-92808E546899}" type="slidenum">
              <a:rPr lang="en-US" altLang="en-US" sz="1300">
                <a:latin typeface="Helvetica" pitchFamily="-84" charset="0"/>
              </a:rPr>
              <a:pPr/>
              <a:t>18</a:t>
            </a:fld>
            <a:endParaRPr lang="en-US" altLang="en-US" sz="1300">
              <a:latin typeface="Helvetica" pitchFamily="-84" charset="0"/>
            </a:endParaRPr>
          </a:p>
        </p:txBody>
      </p:sp>
      <p:sp>
        <p:nvSpPr>
          <p:cNvPr id="389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E2F85EED-DD2F-4389-BFB5-E9067CA36609}" type="slidenum">
              <a:rPr lang="en-US" altLang="en-US" sz="1300">
                <a:latin typeface="Helvetica" pitchFamily="-84" charset="0"/>
              </a:rPr>
              <a:pPr/>
              <a:t>19</a:t>
            </a:fld>
            <a:endParaRPr lang="en-US" altLang="en-US" sz="1300">
              <a:latin typeface="Helvetica" pitchFamily="-84" charset="0"/>
            </a:endParaRPr>
          </a:p>
        </p:txBody>
      </p:sp>
      <p:sp>
        <p:nvSpPr>
          <p:cNvPr id="40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ahammadmejbah@aiub.ed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Security</a:t>
            </a:r>
            <a:endParaRPr lang="en-US" sz="1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CSC 2209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8278226"/>
              </p:ext>
            </p:extLst>
          </p:nvPr>
        </p:nvGraphicFramePr>
        <p:xfrm>
          <a:off x="476205" y="5186042"/>
          <a:ext cx="8335798" cy="1293136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241306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336431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649203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Lecturer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Fall 21-22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Mejbah Ahammad, Lecturer, CS,  AIUB</a:t>
                      </a:r>
                    </a:p>
                    <a:p>
                      <a:r>
                        <a:rPr lang="en-US" sz="18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+8801308757586 </a:t>
                      </a:r>
                      <a:r>
                        <a:rPr lang="en-US" sz="1800" cap="none" dirty="0">
                          <a:solidFill>
                            <a:srgbClr val="F49100"/>
                          </a:solidFill>
                          <a:latin typeface="Georgia" panose="02040502050405020303" pitchFamily="18" charset="0"/>
                          <a:hlinkClick r:id="rId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ahammadmejbah@aiub.</a:t>
                      </a:r>
                      <a:r>
                        <a:rPr lang="en-US" sz="1800" cap="none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  <a:hlinkClick r:id="rId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edu</a:t>
                      </a:r>
                      <a:endParaRPr lang="en-US" sz="1800" cap="none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  <a:p>
                      <a:r>
                        <a:rPr lang="en-US" sz="1800" cap="none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Room Number: DN0922</a:t>
                      </a:r>
                      <a:endParaRPr lang="en-US" sz="1800" cap="none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Operating Systems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8"/>
            <a:ext cx="7754112" cy="3886560"/>
          </a:xfrm>
        </p:spPr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The Security Problem</a:t>
            </a:r>
          </a:p>
          <a:p>
            <a:pPr marL="457200" indent="-4572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Program Threats</a:t>
            </a:r>
          </a:p>
          <a:p>
            <a:pPr marL="457200" indent="-4572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System and Network Threats</a:t>
            </a:r>
          </a:p>
          <a:p>
            <a:pPr marL="342900" indent="-342900">
              <a:buAutoNum type="arabicPeriod"/>
            </a:pPr>
            <a:endParaRPr lang="en-US" sz="2000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en-US"/>
              <a:t>The Security Problem</a:t>
            </a:r>
          </a:p>
        </p:txBody>
      </p:sp>
      <p:sp>
        <p:nvSpPr>
          <p:cNvPr id="11266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2008339"/>
            <a:ext cx="8574087" cy="3992563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System </a:t>
            </a:r>
            <a:r>
              <a:rPr lang="en-US" altLang="en-US" b="1" dirty="0">
                <a:solidFill>
                  <a:srgbClr val="3366FF"/>
                </a:solidFill>
              </a:rPr>
              <a:t>secure</a:t>
            </a:r>
            <a:r>
              <a:rPr lang="en-US" altLang="en-US" dirty="0"/>
              <a:t> if resources used and accessed as intended under all circumstances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Unachievable</a:t>
            </a:r>
          </a:p>
          <a:p>
            <a:pPr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3366FF"/>
                </a:solidFill>
              </a:rPr>
              <a:t>Intruders</a:t>
            </a:r>
            <a:r>
              <a:rPr lang="en-US" altLang="en-US" dirty="0"/>
              <a:t> (</a:t>
            </a:r>
            <a:r>
              <a:rPr lang="en-US" altLang="en-US" b="1" dirty="0">
                <a:solidFill>
                  <a:srgbClr val="3366FF"/>
                </a:solidFill>
              </a:rPr>
              <a:t>crackers</a:t>
            </a:r>
            <a:r>
              <a:rPr lang="en-US" altLang="en-US" dirty="0"/>
              <a:t>) attempt to breach security</a:t>
            </a:r>
          </a:p>
          <a:p>
            <a:pPr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3366FF"/>
                </a:solidFill>
              </a:rPr>
              <a:t>Threat </a:t>
            </a:r>
            <a:r>
              <a:rPr lang="en-US" altLang="en-US" dirty="0"/>
              <a:t>is potential security violation</a:t>
            </a:r>
          </a:p>
          <a:p>
            <a:pPr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3366FF"/>
                </a:solidFill>
              </a:rPr>
              <a:t>Attack</a:t>
            </a:r>
            <a:r>
              <a:rPr lang="en-US" altLang="en-US" dirty="0"/>
              <a:t> is attempt to breach security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Attack can be accidental or malicious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Easier to protect against accidental than malicious misuse</a:t>
            </a:r>
          </a:p>
        </p:txBody>
      </p:sp>
    </p:spTree>
    <p:extLst>
      <p:ext uri="{BB962C8B-B14F-4D97-AF65-F5344CB8AC3E}">
        <p14:creationId xmlns:p14="http://schemas.microsoft.com/office/powerpoint/2010/main" val="67570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/>
              <a:t>Security Violation Categories</a:t>
            </a:r>
          </a:p>
        </p:txBody>
      </p:sp>
      <p:sp>
        <p:nvSpPr>
          <p:cNvPr id="13314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2045918"/>
            <a:ext cx="8574087" cy="3992563"/>
          </a:xfrm>
        </p:spPr>
        <p:txBody>
          <a:bodyPr>
            <a:normAutofit fontScale="85000" lnSpcReduction="200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b="1" dirty="0"/>
              <a:t>Breach of confidentiality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Unauthorized reading of data</a:t>
            </a:r>
          </a:p>
          <a:p>
            <a:pPr>
              <a:buFont typeface="Wingdings" pitchFamily="2" charset="2"/>
              <a:buChar char="q"/>
            </a:pPr>
            <a:r>
              <a:rPr lang="en-US" altLang="en-US" b="1" dirty="0"/>
              <a:t>Breach of integrity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Unauthorized modification of data</a:t>
            </a:r>
          </a:p>
          <a:p>
            <a:pPr>
              <a:buFont typeface="Wingdings" pitchFamily="2" charset="2"/>
              <a:buChar char="q"/>
            </a:pPr>
            <a:r>
              <a:rPr lang="en-US" altLang="en-US" b="1" dirty="0"/>
              <a:t>Breach of availability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Unauthorized destruction of data</a:t>
            </a:r>
          </a:p>
          <a:p>
            <a:pPr>
              <a:buFont typeface="Wingdings" pitchFamily="2" charset="2"/>
              <a:buChar char="q"/>
            </a:pPr>
            <a:r>
              <a:rPr lang="en-US" altLang="en-US" b="1" dirty="0"/>
              <a:t>Theft of service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Unauthorized use of resources</a:t>
            </a:r>
          </a:p>
          <a:p>
            <a:pPr>
              <a:buFont typeface="Wingdings" pitchFamily="2" charset="2"/>
              <a:buChar char="q"/>
            </a:pPr>
            <a:r>
              <a:rPr lang="en-US" altLang="en-US" b="1" dirty="0"/>
              <a:t>Denial of service (</a:t>
            </a:r>
            <a:r>
              <a:rPr lang="en-US" altLang="en-US" b="1" dirty="0">
                <a:solidFill>
                  <a:srgbClr val="3366FF"/>
                </a:solidFill>
              </a:rPr>
              <a:t>DOS</a:t>
            </a:r>
            <a:r>
              <a:rPr lang="en-US" altLang="en-US" b="1" dirty="0"/>
              <a:t>)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Prevention of legitimate use</a:t>
            </a:r>
          </a:p>
        </p:txBody>
      </p:sp>
    </p:spTree>
    <p:extLst>
      <p:ext uri="{BB962C8B-B14F-4D97-AF65-F5344CB8AC3E}">
        <p14:creationId xmlns:p14="http://schemas.microsoft.com/office/powerpoint/2010/main" val="1245754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en-US"/>
              <a:t>Security Violation Methods</a:t>
            </a:r>
          </a:p>
        </p:txBody>
      </p:sp>
      <p:sp>
        <p:nvSpPr>
          <p:cNvPr id="15362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284163" y="1727657"/>
            <a:ext cx="8574087" cy="3992563"/>
          </a:xfrm>
        </p:spPr>
        <p:txBody>
          <a:bodyPr>
            <a:normAutofit fontScale="85000" lnSpcReduction="10000"/>
          </a:bodyPr>
          <a:lstStyle/>
          <a:p>
            <a:pPr marL="457200" lvl="1" indent="0">
              <a:spcBef>
                <a:spcPts val="500"/>
              </a:spcBef>
              <a:buNone/>
            </a:pPr>
            <a:endParaRPr lang="en-US" altLang="en-US" b="1" dirty="0"/>
          </a:p>
          <a:p>
            <a:pPr>
              <a:spcBef>
                <a:spcPts val="500"/>
              </a:spcBef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3366FF"/>
                </a:solidFill>
              </a:rPr>
              <a:t>Masquerading </a:t>
            </a:r>
            <a:r>
              <a:rPr lang="en-US" altLang="en-US" dirty="0"/>
              <a:t>(breach </a:t>
            </a:r>
            <a:r>
              <a:rPr lang="en-US" altLang="en-US" b="1" dirty="0">
                <a:solidFill>
                  <a:srgbClr val="3366FF"/>
                </a:solidFill>
              </a:rPr>
              <a:t>authentication</a:t>
            </a:r>
            <a:r>
              <a:rPr lang="en-US" altLang="en-US" dirty="0"/>
              <a:t>)</a:t>
            </a:r>
          </a:p>
          <a:p>
            <a:pPr lvl="1">
              <a:spcBef>
                <a:spcPts val="500"/>
              </a:spcBef>
              <a:buFont typeface="Wingdings" pitchFamily="2" charset="2"/>
              <a:buChar char="q"/>
            </a:pPr>
            <a:r>
              <a:rPr lang="en-US" altLang="en-US" dirty="0"/>
              <a:t>Pretending to be an authorized user to escalate privileges</a:t>
            </a:r>
          </a:p>
          <a:p>
            <a:pPr>
              <a:spcBef>
                <a:spcPts val="500"/>
              </a:spcBef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3366FF"/>
                </a:solidFill>
              </a:rPr>
              <a:t>Replay attack</a:t>
            </a:r>
          </a:p>
          <a:p>
            <a:pPr lvl="1">
              <a:spcBef>
                <a:spcPts val="500"/>
              </a:spcBef>
              <a:buFont typeface="Wingdings" pitchFamily="2" charset="2"/>
              <a:buChar char="q"/>
            </a:pPr>
            <a:r>
              <a:rPr lang="en-US" altLang="en-US" dirty="0"/>
              <a:t>As is or with </a:t>
            </a:r>
            <a:r>
              <a:rPr lang="en-US" altLang="en-US" b="1" dirty="0">
                <a:solidFill>
                  <a:srgbClr val="3366FF"/>
                </a:solidFill>
              </a:rPr>
              <a:t>message modification</a:t>
            </a:r>
          </a:p>
          <a:p>
            <a:pPr>
              <a:spcBef>
                <a:spcPts val="500"/>
              </a:spcBef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3366FF"/>
                </a:solidFill>
              </a:rPr>
              <a:t>Man-in-the-middle attack</a:t>
            </a:r>
          </a:p>
          <a:p>
            <a:pPr lvl="1">
              <a:spcBef>
                <a:spcPts val="500"/>
              </a:spcBef>
              <a:buFont typeface="Wingdings" pitchFamily="2" charset="2"/>
              <a:buChar char="q"/>
            </a:pPr>
            <a:r>
              <a:rPr lang="en-US" altLang="en-US" dirty="0"/>
              <a:t>Intruder sits in data flow, masquerading as sender to receiver and vice versa</a:t>
            </a:r>
          </a:p>
          <a:p>
            <a:pPr>
              <a:spcBef>
                <a:spcPts val="500"/>
              </a:spcBef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3366FF"/>
                </a:solidFill>
              </a:rPr>
              <a:t>Session hijacking</a:t>
            </a:r>
          </a:p>
          <a:p>
            <a:pPr lvl="1">
              <a:spcBef>
                <a:spcPts val="500"/>
              </a:spcBef>
              <a:buFont typeface="Wingdings" pitchFamily="2" charset="2"/>
              <a:buChar char="q"/>
            </a:pPr>
            <a:r>
              <a:rPr lang="en-US" altLang="en-US" dirty="0"/>
              <a:t>Intercept an already-established session to bypass authentication</a:t>
            </a:r>
          </a:p>
          <a:p>
            <a:pPr>
              <a:spcBef>
                <a:spcPts val="500"/>
              </a:spcBef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3366FF"/>
                </a:solidFill>
              </a:rPr>
              <a:t>Privilege escalation</a:t>
            </a:r>
          </a:p>
          <a:p>
            <a:pPr lvl="1">
              <a:spcBef>
                <a:spcPts val="500"/>
              </a:spcBef>
              <a:buFont typeface="Wingdings" pitchFamily="2" charset="2"/>
              <a:buChar char="q"/>
            </a:pPr>
            <a:r>
              <a:rPr lang="en-US" altLang="en-US" dirty="0"/>
              <a:t>Common attack type with access beyond what a user or resource is supposed to have</a:t>
            </a:r>
          </a:p>
          <a:p>
            <a:pPr lvl="1">
              <a:spcBef>
                <a:spcPts val="500"/>
              </a:spcBef>
              <a:buFont typeface="Wingdings" pitchFamily="2" charset="2"/>
              <a:buChar char="q"/>
            </a:pPr>
            <a:endParaRPr lang="en-US" altLang="en-US" dirty="0"/>
          </a:p>
          <a:p>
            <a:pPr lvl="1">
              <a:spcBef>
                <a:spcPts val="500"/>
              </a:spcBef>
              <a:buFont typeface="Wingdings" pitchFamily="2" charset="2"/>
              <a:buChar char="q"/>
            </a:pPr>
            <a:endParaRPr lang="en-US" altLang="en-US" b="1" dirty="0"/>
          </a:p>
          <a:p>
            <a:pPr>
              <a:spcBef>
                <a:spcPts val="500"/>
              </a:spcBef>
              <a:buFont typeface="Wingdings" pitchFamily="2" charset="2"/>
              <a:buChar char="q"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1058096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/>
              <a:t>Security Measure Levels</a:t>
            </a:r>
          </a:p>
        </p:txBody>
      </p:sp>
      <p:sp>
        <p:nvSpPr>
          <p:cNvPr id="16386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895605"/>
            <a:ext cx="8574087" cy="3992563"/>
          </a:xfrm>
        </p:spPr>
        <p:txBody>
          <a:bodyPr>
            <a:normAutofit fontScale="77500" lnSpcReduction="20000"/>
          </a:bodyPr>
          <a:lstStyle/>
          <a:p>
            <a:pPr>
              <a:spcBef>
                <a:spcPts val="500"/>
              </a:spcBef>
              <a:buFont typeface="Wingdings" pitchFamily="2" charset="2"/>
              <a:buChar char="q"/>
            </a:pPr>
            <a:r>
              <a:rPr lang="en-US" altLang="en-US" dirty="0"/>
              <a:t>Impossible to have absolute security, but make cost to perpetrator sufficiently high to deter most intruders</a:t>
            </a:r>
          </a:p>
          <a:p>
            <a:pPr>
              <a:spcBef>
                <a:spcPts val="500"/>
              </a:spcBef>
              <a:buFont typeface="Wingdings" pitchFamily="2" charset="2"/>
              <a:buChar char="q"/>
            </a:pPr>
            <a:r>
              <a:rPr lang="en-US" altLang="en-US" dirty="0"/>
              <a:t>Security must occur at four levels to be effective:</a:t>
            </a:r>
          </a:p>
          <a:p>
            <a:pPr lvl="1">
              <a:spcBef>
                <a:spcPts val="500"/>
              </a:spcBef>
              <a:buFont typeface="Wingdings" pitchFamily="2" charset="2"/>
              <a:buChar char="q"/>
            </a:pPr>
            <a:r>
              <a:rPr lang="en-US" altLang="en-US" b="1" dirty="0"/>
              <a:t>Physical</a:t>
            </a:r>
          </a:p>
          <a:p>
            <a:pPr lvl="2">
              <a:spcBef>
                <a:spcPts val="500"/>
              </a:spcBef>
              <a:buFont typeface="Wingdings" pitchFamily="2" charset="2"/>
              <a:buChar char="q"/>
            </a:pPr>
            <a:r>
              <a:rPr lang="en-US" altLang="en-US" dirty="0"/>
              <a:t>Data centers, servers, connected terminals</a:t>
            </a:r>
          </a:p>
          <a:p>
            <a:pPr lvl="1">
              <a:spcBef>
                <a:spcPts val="500"/>
              </a:spcBef>
              <a:buFont typeface="Wingdings" pitchFamily="2" charset="2"/>
              <a:buChar char="q"/>
            </a:pPr>
            <a:r>
              <a:rPr lang="en-US" altLang="en-US" b="1" dirty="0"/>
              <a:t>Application</a:t>
            </a:r>
          </a:p>
          <a:p>
            <a:pPr lvl="2">
              <a:spcBef>
                <a:spcPts val="500"/>
              </a:spcBef>
              <a:buFont typeface="Wingdings" pitchFamily="2" charset="2"/>
              <a:buChar char="q"/>
            </a:pPr>
            <a:r>
              <a:rPr lang="en-US" altLang="en-US" dirty="0"/>
              <a:t>Benign or malicious apps can cause security problems</a:t>
            </a:r>
          </a:p>
          <a:p>
            <a:pPr lvl="1">
              <a:spcBef>
                <a:spcPts val="500"/>
              </a:spcBef>
              <a:buFont typeface="Wingdings" pitchFamily="2" charset="2"/>
              <a:buChar char="q"/>
            </a:pPr>
            <a:r>
              <a:rPr lang="en-US" altLang="en-US" b="1" dirty="0"/>
              <a:t>Operating System</a:t>
            </a:r>
          </a:p>
          <a:p>
            <a:pPr lvl="2">
              <a:spcBef>
                <a:spcPts val="500"/>
              </a:spcBef>
              <a:buFont typeface="Wingdings" pitchFamily="2" charset="2"/>
              <a:buChar char="q"/>
            </a:pPr>
            <a:r>
              <a:rPr lang="en-US" altLang="en-US" dirty="0"/>
              <a:t>Protection mechanisms, debugging</a:t>
            </a:r>
          </a:p>
          <a:p>
            <a:pPr lvl="1">
              <a:spcBef>
                <a:spcPts val="500"/>
              </a:spcBef>
              <a:buFont typeface="Wingdings" pitchFamily="2" charset="2"/>
              <a:buChar char="q"/>
            </a:pPr>
            <a:r>
              <a:rPr lang="en-US" altLang="en-US" b="1" dirty="0"/>
              <a:t>Network</a:t>
            </a:r>
          </a:p>
          <a:p>
            <a:pPr lvl="2">
              <a:spcBef>
                <a:spcPts val="500"/>
              </a:spcBef>
              <a:buFont typeface="Wingdings" pitchFamily="2" charset="2"/>
              <a:buChar char="q"/>
            </a:pPr>
            <a:r>
              <a:rPr lang="en-US" altLang="en-US" dirty="0"/>
              <a:t>Intercepted communications, interruption, DOS</a:t>
            </a:r>
          </a:p>
          <a:p>
            <a:pPr>
              <a:spcBef>
                <a:spcPts val="500"/>
              </a:spcBef>
              <a:buFont typeface="Wingdings" pitchFamily="2" charset="2"/>
              <a:buChar char="q"/>
            </a:pPr>
            <a:r>
              <a:rPr lang="en-US" altLang="en-US" dirty="0"/>
              <a:t>Security is as weak as the weakest link in the chain</a:t>
            </a:r>
          </a:p>
          <a:p>
            <a:pPr>
              <a:spcBef>
                <a:spcPts val="500"/>
              </a:spcBef>
              <a:buFont typeface="Wingdings" pitchFamily="2" charset="2"/>
              <a:buChar char="q"/>
            </a:pPr>
            <a:r>
              <a:rPr lang="en-US" altLang="en-US" dirty="0"/>
              <a:t>Humans a risk too via </a:t>
            </a:r>
            <a:r>
              <a:rPr lang="en-US" altLang="en-US" b="1" dirty="0">
                <a:solidFill>
                  <a:srgbClr val="3366FF"/>
                </a:solidFill>
              </a:rPr>
              <a:t>phishing</a:t>
            </a:r>
            <a:r>
              <a:rPr lang="en-US" altLang="en-US" dirty="0"/>
              <a:t> and </a:t>
            </a:r>
            <a:r>
              <a:rPr lang="en-US" altLang="en-US" b="1" dirty="0">
                <a:solidFill>
                  <a:srgbClr val="3366FF"/>
                </a:solidFill>
              </a:rPr>
              <a:t>social-engineering</a:t>
            </a:r>
            <a:r>
              <a:rPr lang="en-US" altLang="en-US" dirty="0"/>
              <a:t> attacks</a:t>
            </a:r>
          </a:p>
          <a:p>
            <a:pPr>
              <a:spcBef>
                <a:spcPts val="500"/>
              </a:spcBef>
              <a:buFont typeface="Wingdings" pitchFamily="2" charset="2"/>
              <a:buChar char="q"/>
            </a:pPr>
            <a:r>
              <a:rPr lang="en-US" altLang="en-US" dirty="0"/>
              <a:t>But can too much security be a problem?</a:t>
            </a:r>
          </a:p>
          <a:p>
            <a:pPr>
              <a:spcBef>
                <a:spcPts val="500"/>
              </a:spcBef>
              <a:buFont typeface="Wingdings" pitchFamily="2" charset="2"/>
              <a:buChar char="q"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7901608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/>
              <a:t>Program Threats</a:t>
            </a:r>
          </a:p>
        </p:txBody>
      </p:sp>
      <p:sp>
        <p:nvSpPr>
          <p:cNvPr id="18434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83287"/>
            <a:ext cx="8574087" cy="3992563"/>
          </a:xfrm>
        </p:spPr>
        <p:txBody>
          <a:bodyPr>
            <a:normAutofit fontScale="85000" lnSpcReduction="200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>
                <a:solidFill>
                  <a:srgbClr val="000000"/>
                </a:solidFill>
              </a:rPr>
              <a:t>Many variations, many names</a:t>
            </a:r>
          </a:p>
          <a:p>
            <a:pPr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3366FF"/>
                </a:solidFill>
              </a:rPr>
              <a:t>Trojan Horse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Code segment that misuses its environment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Exploits mechanisms for allowing programs written by users to be executed by other users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3366FF"/>
                </a:solidFill>
              </a:rPr>
              <a:t>Spyware</a:t>
            </a:r>
            <a:r>
              <a:rPr lang="en-US" altLang="en-US" dirty="0"/>
              <a:t>,</a:t>
            </a:r>
            <a:r>
              <a:rPr lang="en-US" altLang="en-US" b="1" dirty="0">
                <a:solidFill>
                  <a:srgbClr val="3366FF"/>
                </a:solidFill>
              </a:rPr>
              <a:t> pop-up browser windows</a:t>
            </a:r>
            <a:r>
              <a:rPr lang="en-US" altLang="en-US" dirty="0"/>
              <a:t>,</a:t>
            </a:r>
            <a:r>
              <a:rPr lang="en-US" altLang="en-US" b="1" dirty="0">
                <a:solidFill>
                  <a:srgbClr val="3366FF"/>
                </a:solidFill>
              </a:rPr>
              <a:t> covert channels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Up to 80% of spam delivered by spyware-infected systems</a:t>
            </a:r>
          </a:p>
          <a:p>
            <a:pPr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3366FF"/>
                </a:solidFill>
              </a:rPr>
              <a:t>Trap Door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Specific user identifier or password that circumvents normal security procedures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Could be included in a compiler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How to detect them?</a:t>
            </a:r>
          </a:p>
        </p:txBody>
      </p:sp>
    </p:spTree>
    <p:extLst>
      <p:ext uri="{BB962C8B-B14F-4D97-AF65-F5344CB8AC3E}">
        <p14:creationId xmlns:p14="http://schemas.microsoft.com/office/powerpoint/2010/main" val="33451483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/>
              <a:t>Four-layered Model of Security</a:t>
            </a:r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538" y="2671436"/>
            <a:ext cx="8640762" cy="172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040193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Title 1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en-US" dirty="0"/>
              <a:t>Program Threats </a:t>
            </a:r>
            <a:r>
              <a:rPr lang="en-US" altLang="en-US" sz="1600" dirty="0">
                <a:solidFill>
                  <a:prstClr val="white"/>
                </a:solidFill>
              </a:rPr>
              <a:t>(cont’d)</a:t>
            </a:r>
            <a:endParaRPr lang="en-US" altLang="en-US" dirty="0"/>
          </a:p>
        </p:txBody>
      </p:sp>
      <p:sp>
        <p:nvSpPr>
          <p:cNvPr id="22530" name="Content Placeholder 2">
            <a:extLst>
              <a:ext uri="{FF2B5EF4-FFF2-40B4-BE49-F238E27FC236}">
                <a16:creationId xmlns:a16="http://schemas.microsoft.com/office/drawing/2014/main" id="{08374DCB-D565-FB4A-8EE6-1DB943EB0BF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84163" y="1810543"/>
            <a:ext cx="8574087" cy="3992563"/>
          </a:xfrm>
        </p:spPr>
        <p:txBody>
          <a:bodyPr>
            <a:normAutofit fontScale="62500" lnSpcReduction="20000"/>
          </a:bodyPr>
          <a:lstStyle/>
          <a:p>
            <a:pPr>
              <a:spcBef>
                <a:spcPts val="1000"/>
              </a:spcBef>
              <a:buFont typeface="Wingdings" pitchFamily="2" charset="2"/>
              <a:buChar char="q"/>
              <a:defRPr/>
            </a:pPr>
            <a:r>
              <a:rPr lang="en-US" altLang="en-US" b="1" dirty="0">
                <a:solidFill>
                  <a:srgbClr val="3366FF"/>
                </a:solidFill>
              </a:rPr>
              <a:t>Malware - </a:t>
            </a:r>
            <a:r>
              <a:rPr lang="en-US" altLang="en-US" dirty="0"/>
              <a:t>Software designed to exploit, disable, or damage computer</a:t>
            </a:r>
          </a:p>
          <a:p>
            <a:pPr>
              <a:spcBef>
                <a:spcPts val="1000"/>
              </a:spcBef>
              <a:buFont typeface="Wingdings" pitchFamily="2" charset="2"/>
              <a:buChar char="q"/>
              <a:defRPr/>
            </a:pPr>
            <a:r>
              <a:rPr lang="en-US" altLang="en-US" b="1" dirty="0">
                <a:solidFill>
                  <a:srgbClr val="3366FF"/>
                </a:solidFill>
              </a:rPr>
              <a:t>Trojan Horse </a:t>
            </a:r>
            <a:r>
              <a:rPr lang="en-US" altLang="en-US" dirty="0"/>
              <a:t>– Program that acts in a clandestine manner</a:t>
            </a:r>
          </a:p>
          <a:p>
            <a:pPr lvl="1">
              <a:spcBef>
                <a:spcPts val="1000"/>
              </a:spcBef>
              <a:buFont typeface="Wingdings" pitchFamily="2" charset="2"/>
              <a:buChar char="q"/>
              <a:defRPr/>
            </a:pPr>
            <a:r>
              <a:rPr lang="en-US" altLang="en-US" b="1" dirty="0">
                <a:solidFill>
                  <a:srgbClr val="3366FF"/>
                </a:solidFill>
              </a:rPr>
              <a:t>Spyware </a:t>
            </a:r>
            <a:r>
              <a:rPr lang="en-US" altLang="en-US" dirty="0"/>
              <a:t>– Program frequently installed with legitimate software to display adds, capture user data</a:t>
            </a:r>
          </a:p>
          <a:p>
            <a:pPr lvl="1">
              <a:spcBef>
                <a:spcPts val="1000"/>
              </a:spcBef>
              <a:buFont typeface="Wingdings" pitchFamily="2" charset="2"/>
              <a:buChar char="q"/>
              <a:defRPr/>
            </a:pPr>
            <a:r>
              <a:rPr lang="en-US" altLang="en-US" b="1" dirty="0">
                <a:solidFill>
                  <a:srgbClr val="3366FF"/>
                </a:solidFill>
              </a:rPr>
              <a:t>Ransomware</a:t>
            </a:r>
            <a:r>
              <a:rPr lang="en-US" altLang="en-US" dirty="0"/>
              <a:t> – locks up data via encryption, demanding payment to unlock it</a:t>
            </a:r>
          </a:p>
          <a:p>
            <a:pPr>
              <a:spcBef>
                <a:spcPts val="1000"/>
              </a:spcBef>
              <a:buFont typeface="Wingdings" pitchFamily="2" charset="2"/>
              <a:buChar char="q"/>
              <a:defRPr/>
            </a:pPr>
            <a:r>
              <a:rPr lang="en-US" altLang="en-US" dirty="0"/>
              <a:t>Others include trap doors, logic </a:t>
            </a:r>
            <a:r>
              <a:rPr lang="en-US" altLang="en-US" dirty="0" err="1"/>
              <a:t>boms</a:t>
            </a:r>
            <a:endParaRPr lang="en-US" altLang="en-US" dirty="0"/>
          </a:p>
          <a:p>
            <a:pPr>
              <a:spcBef>
                <a:spcPts val="1000"/>
              </a:spcBef>
              <a:buFont typeface="Wingdings" pitchFamily="2" charset="2"/>
              <a:buChar char="q"/>
              <a:defRPr/>
            </a:pPr>
            <a:r>
              <a:rPr lang="en-US" altLang="en-US" dirty="0"/>
              <a:t>All try to violate the Principle of Least Privilege</a:t>
            </a:r>
          </a:p>
          <a:p>
            <a:pPr>
              <a:spcBef>
                <a:spcPts val="1000"/>
              </a:spcBef>
              <a:buFont typeface="Wingdings" pitchFamily="2" charset="2"/>
              <a:buChar char="q"/>
              <a:defRPr/>
            </a:pPr>
            <a:endParaRPr lang="en-US" altLang="en-US" dirty="0"/>
          </a:p>
          <a:p>
            <a:pPr>
              <a:spcBef>
                <a:spcPts val="1000"/>
              </a:spcBef>
              <a:buFont typeface="Wingdings" pitchFamily="2" charset="2"/>
              <a:buChar char="q"/>
              <a:defRPr/>
            </a:pPr>
            <a:endParaRPr lang="en-US" altLang="en-US" dirty="0"/>
          </a:p>
          <a:p>
            <a:pPr>
              <a:spcBef>
                <a:spcPts val="1000"/>
              </a:spcBef>
              <a:buFont typeface="Wingdings" pitchFamily="2" charset="2"/>
              <a:buChar char="q"/>
              <a:defRPr/>
            </a:pPr>
            <a:endParaRPr lang="en-US" altLang="en-US" dirty="0"/>
          </a:p>
          <a:p>
            <a:pPr>
              <a:spcBef>
                <a:spcPts val="1000"/>
              </a:spcBef>
              <a:buFont typeface="Wingdings" pitchFamily="2" charset="2"/>
              <a:buChar char="q"/>
              <a:defRPr/>
            </a:pPr>
            <a:endParaRPr lang="en-US" altLang="en-US" dirty="0"/>
          </a:p>
          <a:p>
            <a:pPr>
              <a:spcBef>
                <a:spcPts val="1000"/>
              </a:spcBef>
              <a:buFont typeface="Wingdings" pitchFamily="2" charset="2"/>
              <a:buChar char="q"/>
              <a:defRPr/>
            </a:pPr>
            <a:endParaRPr lang="en-US" altLang="en-US" dirty="0"/>
          </a:p>
          <a:p>
            <a:pPr>
              <a:spcBef>
                <a:spcPts val="1000"/>
              </a:spcBef>
              <a:buFont typeface="Wingdings" pitchFamily="2" charset="2"/>
              <a:buChar char="q"/>
              <a:defRPr/>
            </a:pPr>
            <a:r>
              <a:rPr lang="en-US" altLang="en-US" dirty="0"/>
              <a:t>Goal frequently is to leave behind Remote Access Tool (RAT) for repeated access</a:t>
            </a:r>
          </a:p>
          <a:p>
            <a:pPr>
              <a:spcBef>
                <a:spcPts val="1000"/>
              </a:spcBef>
              <a:buFont typeface="Wingdings" pitchFamily="2" charset="2"/>
              <a:buChar char="q"/>
              <a:defRPr/>
            </a:pPr>
            <a:endParaRPr lang="en-US" altLang="en-US" dirty="0"/>
          </a:p>
        </p:txBody>
      </p:sp>
      <p:pic>
        <p:nvPicPr>
          <p:cNvPr id="22531" name="Picture 2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9322" y="3593883"/>
            <a:ext cx="4784942" cy="15646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676547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sz="3600"/>
              <a:t>C Program with Buffer-overflow Condition</a:t>
            </a:r>
          </a:p>
        </p:txBody>
      </p:sp>
      <p:sp>
        <p:nvSpPr>
          <p:cNvPr id="23554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858027"/>
            <a:ext cx="7076747" cy="3992563"/>
          </a:xfrm>
        </p:spPr>
        <p:txBody>
          <a:bodyPr>
            <a:normAutofit fontScale="85000" lnSpcReduction="20000"/>
          </a:bodyPr>
          <a:lstStyle/>
          <a:p>
            <a:pPr>
              <a:spcBef>
                <a:spcPts val="500"/>
              </a:spcBef>
              <a:buFont typeface="Monotype Sorts" pitchFamily="-84" charset="2"/>
              <a:buNone/>
            </a:pPr>
            <a:r>
              <a:rPr lang="en-US" altLang="en-US" dirty="0">
                <a:latin typeface="Courier New" pitchFamily="49" charset="0"/>
              </a:rPr>
              <a:t>#include </a:t>
            </a:r>
            <a:r>
              <a:rPr lang="en-US" altLang="en-US" i="1" dirty="0">
                <a:latin typeface="Courier New" pitchFamily="49" charset="0"/>
              </a:rPr>
              <a:t>&lt;</a:t>
            </a:r>
            <a:r>
              <a:rPr lang="en-US" altLang="en-US" dirty="0" err="1">
                <a:latin typeface="Courier New" pitchFamily="49" charset="0"/>
              </a:rPr>
              <a:t>stdio.h</a:t>
            </a:r>
            <a:r>
              <a:rPr lang="en-US" altLang="en-US" i="1" dirty="0">
                <a:latin typeface="Courier New" pitchFamily="49" charset="0"/>
              </a:rPr>
              <a:t>&gt;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</a:pPr>
            <a:r>
              <a:rPr lang="en-US" altLang="en-US" dirty="0">
                <a:latin typeface="Courier New" pitchFamily="49" charset="0"/>
              </a:rPr>
              <a:t>#define BUFFER SIZE 256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</a:pPr>
            <a:r>
              <a:rPr lang="en-US" altLang="en-US" dirty="0" err="1">
                <a:latin typeface="Courier New" pitchFamily="49" charset="0"/>
              </a:rPr>
              <a:t>int</a:t>
            </a:r>
            <a:r>
              <a:rPr lang="en-US" altLang="en-US" dirty="0">
                <a:latin typeface="Courier New" pitchFamily="49" charset="0"/>
              </a:rPr>
              <a:t> main(</a:t>
            </a:r>
            <a:r>
              <a:rPr lang="en-US" altLang="en-US" dirty="0" err="1">
                <a:latin typeface="Courier New" pitchFamily="49" charset="0"/>
              </a:rPr>
              <a:t>int</a:t>
            </a:r>
            <a:r>
              <a:rPr lang="en-US" altLang="en-US" dirty="0">
                <a:latin typeface="Courier New" pitchFamily="49" charset="0"/>
              </a:rPr>
              <a:t> </a:t>
            </a:r>
            <a:r>
              <a:rPr lang="en-US" altLang="en-US" dirty="0" err="1">
                <a:latin typeface="Courier New" pitchFamily="49" charset="0"/>
              </a:rPr>
              <a:t>argc</a:t>
            </a:r>
            <a:r>
              <a:rPr lang="en-US" altLang="en-US" dirty="0">
                <a:latin typeface="Courier New" pitchFamily="49" charset="0"/>
              </a:rPr>
              <a:t>, char *</a:t>
            </a:r>
            <a:r>
              <a:rPr lang="en-US" altLang="en-US" dirty="0" err="1">
                <a:latin typeface="Courier New" pitchFamily="49" charset="0"/>
              </a:rPr>
              <a:t>argv</a:t>
            </a:r>
            <a:r>
              <a:rPr lang="en-US" altLang="en-US" dirty="0">
                <a:latin typeface="Courier New" pitchFamily="49" charset="0"/>
              </a:rPr>
              <a:t>[])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</a:pPr>
            <a:r>
              <a:rPr lang="en-US" altLang="en-US" dirty="0">
                <a:latin typeface="Courier New" pitchFamily="49" charset="0"/>
              </a:rPr>
              <a:t>{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</a:pPr>
            <a:r>
              <a:rPr lang="en-US" altLang="en-US" dirty="0">
                <a:latin typeface="Courier New" pitchFamily="49" charset="0"/>
              </a:rPr>
              <a:t>	char buffer[BUFFER SIZE];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</a:pPr>
            <a:r>
              <a:rPr lang="en-US" altLang="en-US" dirty="0">
                <a:latin typeface="Courier New" pitchFamily="49" charset="0"/>
              </a:rPr>
              <a:t>	if (</a:t>
            </a:r>
            <a:r>
              <a:rPr lang="en-US" altLang="en-US" dirty="0" err="1">
                <a:latin typeface="Courier New" pitchFamily="49" charset="0"/>
              </a:rPr>
              <a:t>argc</a:t>
            </a:r>
            <a:r>
              <a:rPr lang="en-US" altLang="en-US" dirty="0">
                <a:latin typeface="Courier New" pitchFamily="49" charset="0"/>
              </a:rPr>
              <a:t> &lt; 2)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</a:pPr>
            <a:r>
              <a:rPr lang="en-US" altLang="en-US" dirty="0">
                <a:latin typeface="Courier New" pitchFamily="49" charset="0"/>
              </a:rPr>
              <a:t>		return -1;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</a:pPr>
            <a:r>
              <a:rPr lang="en-US" altLang="en-US" dirty="0">
                <a:latin typeface="Courier New" pitchFamily="49" charset="0"/>
              </a:rPr>
              <a:t>	else {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</a:pPr>
            <a:r>
              <a:rPr lang="en-US" altLang="en-US" dirty="0">
                <a:latin typeface="Courier New" pitchFamily="49" charset="0"/>
              </a:rPr>
              <a:t>		</a:t>
            </a:r>
            <a:r>
              <a:rPr lang="en-US" altLang="en-US" dirty="0" err="1">
                <a:latin typeface="Courier New" pitchFamily="49" charset="0"/>
              </a:rPr>
              <a:t>strcpy</a:t>
            </a:r>
            <a:r>
              <a:rPr lang="en-US" altLang="en-US" dirty="0">
                <a:latin typeface="Courier New" pitchFamily="49" charset="0"/>
              </a:rPr>
              <a:t>(</a:t>
            </a:r>
            <a:r>
              <a:rPr lang="en-US" altLang="en-US" dirty="0" err="1">
                <a:latin typeface="Courier New" pitchFamily="49" charset="0"/>
              </a:rPr>
              <a:t>buffer,argv</a:t>
            </a:r>
            <a:r>
              <a:rPr lang="en-US" altLang="en-US" dirty="0">
                <a:latin typeface="Courier New" pitchFamily="49" charset="0"/>
              </a:rPr>
              <a:t>[1]);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</a:pPr>
            <a:r>
              <a:rPr lang="en-US" altLang="en-US" dirty="0">
                <a:latin typeface="Courier New" pitchFamily="49" charset="0"/>
              </a:rPr>
              <a:t>		return 0;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</a:pPr>
            <a:r>
              <a:rPr lang="en-US" altLang="en-US" dirty="0">
                <a:latin typeface="Courier New" pitchFamily="49" charset="0"/>
              </a:rPr>
              <a:t>	}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</a:pPr>
            <a:r>
              <a:rPr lang="en-US" altLang="en-US" dirty="0">
                <a:latin typeface="Courier New" pitchFamily="49" charset="0"/>
              </a:rPr>
              <a:t>}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039503C-37B6-2445-89F2-2A502EB502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163" y="5473397"/>
            <a:ext cx="8574087" cy="9274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Monotype Sorts" pitchFamily="2" charset="2"/>
              <a:buChar char="n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  <a:cs typeface="ＭＳ Ｐゴシック" charset="-128"/>
              </a:defRPr>
            </a:lvl1pPr>
            <a:lvl2pPr marL="742950" indent="-2857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Monotype Sorts" pitchFamily="2" charset="2"/>
              <a:buChar char="l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</a:defRPr>
            </a:lvl2pPr>
            <a:lvl3pPr marL="1085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2" charset="2"/>
              <a:buChar char="4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</a:defRPr>
            </a:lvl3pPr>
            <a:lvl4pPr marL="14287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</a:defRPr>
            </a:lvl4pPr>
            <a:lvl5pPr marL="17716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>
              <a:buFont typeface="Wingdings" pitchFamily="2" charset="2"/>
              <a:buChar char="q"/>
              <a:defRPr/>
            </a:pPr>
            <a:r>
              <a:rPr lang="en-US" altLang="en-US" b="1" dirty="0">
                <a:solidFill>
                  <a:srgbClr val="3366FF"/>
                </a:solidFill>
              </a:rPr>
              <a:t>Code review </a:t>
            </a:r>
            <a:r>
              <a:rPr lang="en-US" altLang="en-US" kern="0" dirty="0"/>
              <a:t>can help – programmers review each other’s code, looking for logic flows, programming flaws</a:t>
            </a:r>
          </a:p>
          <a:p>
            <a:pPr lvl="1">
              <a:defRPr/>
            </a:pPr>
            <a:endParaRPr lang="en-US" altLang="en-US" kern="0" dirty="0"/>
          </a:p>
        </p:txBody>
      </p:sp>
    </p:spTree>
    <p:extLst>
      <p:ext uri="{BB962C8B-B14F-4D97-AF65-F5344CB8AC3E}">
        <p14:creationId xmlns:p14="http://schemas.microsoft.com/office/powerpoint/2010/main" val="21385372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/>
              <a:t>Code Injection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D6B197A-5CC2-8749-A5BB-00C2753F7EEE}"/>
              </a:ext>
            </a:extLst>
          </p:cNvPr>
          <p:cNvSpPr txBox="1">
            <a:spLocks noChangeArrowheads="1"/>
          </p:cNvSpPr>
          <p:nvPr/>
        </p:nvSpPr>
        <p:spPr>
          <a:xfrm>
            <a:off x="386198" y="1896693"/>
            <a:ext cx="8472052" cy="4530725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Monotype Sorts" pitchFamily="2" charset="2"/>
              <a:buChar char="n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  <a:cs typeface="ＭＳ Ｐゴシック" charset="-128"/>
              </a:defRPr>
            </a:lvl1pPr>
            <a:lvl2pPr marL="742950" indent="-2857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Monotype Sorts" pitchFamily="2" charset="2"/>
              <a:buChar char="l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</a:defRPr>
            </a:lvl2pPr>
            <a:lvl3pPr marL="1085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2" charset="2"/>
              <a:buChar char="4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</a:defRPr>
            </a:lvl3pPr>
            <a:lvl4pPr marL="14287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</a:defRPr>
            </a:lvl4pPr>
            <a:lvl5pPr marL="17716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>
              <a:buFont typeface="Wingdings" pitchFamily="2" charset="2"/>
              <a:buChar char="q"/>
              <a:defRPr/>
            </a:pPr>
            <a:r>
              <a:rPr lang="en-US" altLang="en-US" b="1" kern="0" dirty="0">
                <a:solidFill>
                  <a:srgbClr val="3366FF"/>
                </a:solidFill>
              </a:rPr>
              <a:t>Code-injection attack </a:t>
            </a:r>
            <a:r>
              <a:rPr lang="en-US" altLang="en-US" dirty="0"/>
              <a:t>occurs when system code is not malicious but has bugs allowing executable code to be added or modified</a:t>
            </a:r>
          </a:p>
          <a:p>
            <a:pPr lvl="1">
              <a:buFont typeface="Wingdings" pitchFamily="2" charset="2"/>
              <a:buChar char="q"/>
              <a:defRPr/>
            </a:pPr>
            <a:r>
              <a:rPr lang="en-US" altLang="en-US" dirty="0"/>
              <a:t>Results from poor or insecure programming paradigms, commonly in low level languages like C or C++ which allow for direct memory access through pointers</a:t>
            </a:r>
          </a:p>
          <a:p>
            <a:pPr lvl="1">
              <a:buFont typeface="Wingdings" pitchFamily="2" charset="2"/>
              <a:buChar char="q"/>
              <a:defRPr/>
            </a:pPr>
            <a:r>
              <a:rPr lang="en-US" altLang="en-US" dirty="0"/>
              <a:t>Goal is a buffer overflow in which code is placed in a buffer and execution caused by the attack</a:t>
            </a:r>
          </a:p>
          <a:p>
            <a:pPr lvl="1">
              <a:buFont typeface="Wingdings" pitchFamily="2" charset="2"/>
              <a:buChar char="q"/>
              <a:defRPr/>
            </a:pPr>
            <a:r>
              <a:rPr lang="en-US" altLang="en-US" dirty="0"/>
              <a:t>Can be run by script kiddies – use tools written but exploit identifiers</a:t>
            </a:r>
          </a:p>
          <a:p>
            <a:pPr>
              <a:buFont typeface="Wingdings" pitchFamily="2" charset="2"/>
              <a:buChar char="q"/>
              <a:defRPr/>
            </a:pPr>
            <a:endParaRPr lang="en-US" altLang="en-US" kern="0" dirty="0"/>
          </a:p>
        </p:txBody>
      </p:sp>
    </p:spTree>
    <p:extLst>
      <p:ext uri="{BB962C8B-B14F-4D97-AF65-F5344CB8AC3E}">
        <p14:creationId xmlns:p14="http://schemas.microsoft.com/office/powerpoint/2010/main" val="6476308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en-US" dirty="0"/>
              <a:t>Code Injection </a:t>
            </a:r>
            <a:r>
              <a:rPr lang="en-US" altLang="en-US" sz="1600" dirty="0">
                <a:solidFill>
                  <a:prstClr val="white"/>
                </a:solidFill>
              </a:rPr>
              <a:t>(cont’d)</a:t>
            </a:r>
            <a:endParaRPr lang="en-US" alt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D6B197A-5CC2-8749-A5BB-00C2753F7EEE}"/>
              </a:ext>
            </a:extLst>
          </p:cNvPr>
          <p:cNvSpPr txBox="1">
            <a:spLocks noChangeArrowheads="1"/>
          </p:cNvSpPr>
          <p:nvPr/>
        </p:nvSpPr>
        <p:spPr>
          <a:xfrm>
            <a:off x="284163" y="1797050"/>
            <a:ext cx="4919662" cy="4530725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Monotype Sorts" pitchFamily="2" charset="2"/>
              <a:buChar char="n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  <a:cs typeface="ＭＳ Ｐゴシック" charset="-128"/>
              </a:defRPr>
            </a:lvl1pPr>
            <a:lvl2pPr marL="742950" indent="-2857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Monotype Sorts" pitchFamily="2" charset="2"/>
              <a:buChar char="l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</a:defRPr>
            </a:lvl2pPr>
            <a:lvl3pPr marL="1085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2" charset="2"/>
              <a:buChar char="4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</a:defRPr>
            </a:lvl3pPr>
            <a:lvl4pPr marL="14287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</a:defRPr>
            </a:lvl4pPr>
            <a:lvl5pPr marL="17716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lvl="1">
              <a:buFont typeface="Wingdings" pitchFamily="2" charset="2"/>
              <a:buChar char="q"/>
              <a:defRPr/>
            </a:pPr>
            <a:r>
              <a:rPr lang="en-US" altLang="en-US" dirty="0"/>
              <a:t>Outcomes from code injection include:</a:t>
            </a:r>
          </a:p>
          <a:p>
            <a:pPr lvl="1">
              <a:buFont typeface="Wingdings" pitchFamily="2" charset="2"/>
              <a:buChar char="q"/>
              <a:defRPr/>
            </a:pPr>
            <a:endParaRPr lang="en-US" altLang="en-US" dirty="0"/>
          </a:p>
          <a:p>
            <a:pPr lvl="1">
              <a:buFont typeface="Wingdings" pitchFamily="2" charset="2"/>
              <a:buChar char="q"/>
              <a:defRPr/>
            </a:pPr>
            <a:endParaRPr lang="en-US" altLang="en-US" dirty="0"/>
          </a:p>
          <a:p>
            <a:pPr lvl="1">
              <a:buFont typeface="Wingdings" pitchFamily="2" charset="2"/>
              <a:buChar char="q"/>
              <a:defRPr/>
            </a:pPr>
            <a:endParaRPr lang="en-US" altLang="en-US" dirty="0"/>
          </a:p>
          <a:p>
            <a:pPr lvl="1">
              <a:buFont typeface="Wingdings" pitchFamily="2" charset="2"/>
              <a:buChar char="q"/>
              <a:defRPr/>
            </a:pPr>
            <a:endParaRPr lang="en-US" altLang="en-US" dirty="0"/>
          </a:p>
          <a:p>
            <a:pPr lvl="1">
              <a:buFont typeface="Wingdings" pitchFamily="2" charset="2"/>
              <a:buChar char="q"/>
              <a:defRPr/>
            </a:pPr>
            <a:endParaRPr lang="en-US" altLang="en-US" dirty="0"/>
          </a:p>
          <a:p>
            <a:pPr lvl="1">
              <a:buFont typeface="Wingdings" pitchFamily="2" charset="2"/>
              <a:buChar char="q"/>
              <a:defRPr/>
            </a:pPr>
            <a:endParaRPr lang="en-US" altLang="en-US" dirty="0"/>
          </a:p>
          <a:p>
            <a:pPr lvl="1">
              <a:buFont typeface="Wingdings" pitchFamily="2" charset="2"/>
              <a:buChar char="q"/>
              <a:defRPr/>
            </a:pPr>
            <a:endParaRPr lang="en-US" altLang="en-US" dirty="0"/>
          </a:p>
          <a:p>
            <a:pPr lvl="1">
              <a:buFont typeface="Wingdings" pitchFamily="2" charset="2"/>
              <a:buChar char="q"/>
              <a:defRPr/>
            </a:pPr>
            <a:endParaRPr lang="en-US" altLang="en-US" dirty="0"/>
          </a:p>
          <a:p>
            <a:pPr lvl="1">
              <a:buFont typeface="Wingdings" pitchFamily="2" charset="2"/>
              <a:buChar char="q"/>
              <a:defRPr/>
            </a:pPr>
            <a:r>
              <a:rPr lang="en-US" altLang="en-US" dirty="0"/>
              <a:t>Frequently use trampoline to code execution to exploit buffer overflow: </a:t>
            </a:r>
          </a:p>
          <a:p>
            <a:pPr>
              <a:buFont typeface="Wingdings" pitchFamily="2" charset="2"/>
              <a:buChar char="q"/>
              <a:defRPr/>
            </a:pPr>
            <a:endParaRPr lang="en-US" altLang="en-US" kern="0" dirty="0"/>
          </a:p>
        </p:txBody>
      </p:sp>
      <p:pic>
        <p:nvPicPr>
          <p:cNvPr id="27651" name="Picture 2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935" y="2106048"/>
            <a:ext cx="6211431" cy="268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52" name="Picture 5"/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9936" y="4788922"/>
            <a:ext cx="2214430" cy="200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421927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Title 1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en-US"/>
              <a:t>Great Programming Required?</a:t>
            </a:r>
          </a:p>
        </p:txBody>
      </p:sp>
      <p:sp>
        <p:nvSpPr>
          <p:cNvPr id="29698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284163" y="1958235"/>
            <a:ext cx="8574087" cy="3992563"/>
          </a:xfrm>
        </p:spPr>
        <p:txBody>
          <a:bodyPr>
            <a:normAutofit fontScale="85000" lnSpcReduction="200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For the first step of determining the bug, and second step of writing exploit code, yes</a:t>
            </a:r>
          </a:p>
          <a:p>
            <a:pPr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3366FF"/>
                </a:solidFill>
              </a:rPr>
              <a:t>Script kiddies </a:t>
            </a:r>
            <a:r>
              <a:rPr lang="en-US" altLang="en-US" dirty="0"/>
              <a:t>can run pre-written exploit code to attack a given system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Attack code can get a shell with the processes</a:t>
            </a:r>
            <a:r>
              <a:rPr lang="ja-JP" altLang="en-US" dirty="0"/>
              <a:t>’</a:t>
            </a:r>
            <a:r>
              <a:rPr lang="en-US" altLang="ja-JP" dirty="0"/>
              <a:t> owner</a:t>
            </a:r>
            <a:r>
              <a:rPr lang="ja-JP" altLang="en-US" dirty="0"/>
              <a:t>’</a:t>
            </a:r>
            <a:r>
              <a:rPr lang="en-US" altLang="ja-JP" dirty="0"/>
              <a:t>s permissions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Or open a network port, delete files, download a program, </a:t>
            </a:r>
            <a:r>
              <a:rPr lang="en-US" altLang="en-US" dirty="0" err="1"/>
              <a:t>etc</a:t>
            </a:r>
            <a:endParaRPr lang="en-US" altLang="en-US" dirty="0"/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Depending on bug, attack can be executed across a network using allowed connections, bypassing firewalls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Buffer overflow can be disabled by disabling stack execution or adding bit to page table to indicate </a:t>
            </a:r>
            <a:r>
              <a:rPr lang="ja-JP" altLang="en-US" dirty="0"/>
              <a:t>“</a:t>
            </a:r>
            <a:r>
              <a:rPr lang="en-US" altLang="ja-JP" dirty="0"/>
              <a:t>non-executable</a:t>
            </a:r>
            <a:r>
              <a:rPr lang="ja-JP" altLang="en-US" dirty="0"/>
              <a:t>”</a:t>
            </a:r>
            <a:r>
              <a:rPr lang="en-US" altLang="ja-JP" dirty="0"/>
              <a:t> state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Available in SPARC and x86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But still have security exploits</a:t>
            </a:r>
          </a:p>
        </p:txBody>
      </p:sp>
    </p:spTree>
    <p:extLst>
      <p:ext uri="{BB962C8B-B14F-4D97-AF65-F5344CB8AC3E}">
        <p14:creationId xmlns:p14="http://schemas.microsoft.com/office/powerpoint/2010/main" val="6661259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en-US" dirty="0"/>
              <a:t>Program Threats </a:t>
            </a:r>
            <a:r>
              <a:rPr lang="en-US" altLang="en-US" sz="1600" dirty="0">
                <a:solidFill>
                  <a:prstClr val="white"/>
                </a:solidFill>
              </a:rPr>
              <a:t>(cont’d)</a:t>
            </a:r>
            <a:endParaRPr lang="en-US" altLang="en-US" dirty="0"/>
          </a:p>
        </p:txBody>
      </p:sp>
      <p:sp>
        <p:nvSpPr>
          <p:cNvPr id="30722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45709"/>
            <a:ext cx="8574087" cy="3992563"/>
          </a:xfrm>
        </p:spPr>
        <p:txBody>
          <a:bodyPr>
            <a:normAutofit fontScale="925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3366FF"/>
                </a:solidFill>
              </a:rPr>
              <a:t>Viruses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Code fragment embedded in legitimate program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Self-replicating, designed to infect other computers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Very specific to CPU architecture, operating system, applications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Usually borne via email or as a macro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Visual Basic Macro to reformat hard drive</a:t>
            </a:r>
          </a:p>
          <a:p>
            <a:pPr marL="914400" lvl="2" indent="0">
              <a:buNone/>
            </a:pPr>
            <a:r>
              <a:rPr lang="en-US" altLang="en-US" sz="1600" dirty="0">
                <a:latin typeface="Courier New" pitchFamily="49" charset="0"/>
              </a:rPr>
              <a:t>Sub AutoOpen()</a:t>
            </a:r>
          </a:p>
          <a:p>
            <a:pPr marL="914400" lvl="2" indent="0">
              <a:buNone/>
            </a:pPr>
            <a:r>
              <a:rPr lang="en-US" altLang="en-US" sz="1600" dirty="0">
                <a:latin typeface="Courier New" pitchFamily="49" charset="0"/>
              </a:rPr>
              <a:t>Dim </a:t>
            </a:r>
            <a:r>
              <a:rPr lang="en-US" altLang="en-US" sz="1600" dirty="0" err="1">
                <a:latin typeface="Courier New" pitchFamily="49" charset="0"/>
              </a:rPr>
              <a:t>oFS</a:t>
            </a:r>
            <a:endParaRPr lang="en-US" altLang="en-US" sz="1600" dirty="0">
              <a:latin typeface="Courier New" pitchFamily="49" charset="0"/>
            </a:endParaRPr>
          </a:p>
          <a:p>
            <a:pPr marL="914400" lvl="2" indent="0">
              <a:buNone/>
            </a:pPr>
            <a:r>
              <a:rPr lang="en-US" altLang="en-US" sz="1600" dirty="0">
                <a:latin typeface="Courier New" pitchFamily="49" charset="0"/>
              </a:rPr>
              <a:t>	Set </a:t>
            </a:r>
            <a:r>
              <a:rPr lang="en-US" altLang="en-US" sz="1600" dirty="0" err="1">
                <a:latin typeface="Courier New" pitchFamily="49" charset="0"/>
              </a:rPr>
              <a:t>oFS</a:t>
            </a:r>
            <a:r>
              <a:rPr lang="en-US" altLang="en-US" sz="1600" dirty="0">
                <a:latin typeface="Courier New" pitchFamily="49" charset="0"/>
              </a:rPr>
              <a:t> = </a:t>
            </a:r>
            <a:r>
              <a:rPr lang="en-US" altLang="en-US" sz="1600" dirty="0" err="1">
                <a:latin typeface="Courier New" pitchFamily="49" charset="0"/>
              </a:rPr>
              <a:t>CreateObject</a:t>
            </a:r>
            <a:r>
              <a:rPr lang="en-US" altLang="en-US" sz="1600" dirty="0">
                <a:latin typeface="Courier New" pitchFamily="49" charset="0"/>
              </a:rPr>
              <a:t>(</a:t>
            </a:r>
            <a:r>
              <a:rPr lang="ja-JP" altLang="en-US" sz="1600" dirty="0">
                <a:latin typeface="Courier New" pitchFamily="49" charset="0"/>
              </a:rPr>
              <a:t>’’</a:t>
            </a:r>
            <a:r>
              <a:rPr lang="en-US" altLang="ja-JP" sz="1600" dirty="0" err="1">
                <a:latin typeface="Courier New" pitchFamily="49" charset="0"/>
              </a:rPr>
              <a:t>Scripting.FileSystemObject</a:t>
            </a:r>
            <a:r>
              <a:rPr lang="ja-JP" altLang="en-US" sz="1600" dirty="0">
                <a:latin typeface="Courier New" pitchFamily="49" charset="0"/>
              </a:rPr>
              <a:t>’’</a:t>
            </a:r>
            <a:r>
              <a:rPr lang="en-US" altLang="ja-JP" sz="1600" dirty="0">
                <a:latin typeface="Courier New" pitchFamily="49" charset="0"/>
              </a:rPr>
              <a:t>)</a:t>
            </a:r>
          </a:p>
          <a:p>
            <a:pPr marL="914400" lvl="2" indent="0">
              <a:buNone/>
            </a:pPr>
            <a:r>
              <a:rPr lang="en-US" altLang="en-US" sz="1600" dirty="0">
                <a:latin typeface="Courier New" pitchFamily="49" charset="0"/>
              </a:rPr>
              <a:t>	</a:t>
            </a:r>
            <a:r>
              <a:rPr lang="en-US" altLang="en-US" sz="1600" dirty="0" err="1">
                <a:latin typeface="Courier New" pitchFamily="49" charset="0"/>
              </a:rPr>
              <a:t>vs</a:t>
            </a:r>
            <a:r>
              <a:rPr lang="en-US" altLang="en-US" sz="1600" dirty="0">
                <a:latin typeface="Courier New" pitchFamily="49" charset="0"/>
              </a:rPr>
              <a:t> = Shell(</a:t>
            </a:r>
            <a:r>
              <a:rPr lang="ja-JP" altLang="en-US" sz="1600" dirty="0">
                <a:latin typeface="Courier New" pitchFamily="49" charset="0"/>
              </a:rPr>
              <a:t>’’</a:t>
            </a:r>
            <a:r>
              <a:rPr lang="en-US" altLang="ja-JP" sz="1600" dirty="0">
                <a:latin typeface="Courier New" pitchFamily="49" charset="0"/>
              </a:rPr>
              <a:t>c:command.com /k format c:</a:t>
            </a:r>
            <a:r>
              <a:rPr lang="ja-JP" altLang="en-US" sz="1600" dirty="0">
                <a:latin typeface="Courier New" pitchFamily="49" charset="0"/>
              </a:rPr>
              <a:t>’’</a:t>
            </a:r>
            <a:r>
              <a:rPr lang="en-US" altLang="ja-JP" sz="1600" dirty="0">
                <a:latin typeface="Courier New" pitchFamily="49" charset="0"/>
              </a:rPr>
              <a:t>,</a:t>
            </a:r>
            <a:r>
              <a:rPr lang="en-US" altLang="ja-JP" sz="1600" dirty="0" err="1">
                <a:latin typeface="Courier New" pitchFamily="49" charset="0"/>
              </a:rPr>
              <a:t>vbHide</a:t>
            </a:r>
            <a:r>
              <a:rPr lang="en-US" altLang="ja-JP" sz="1600" dirty="0">
                <a:latin typeface="Courier New" pitchFamily="49" charset="0"/>
              </a:rPr>
              <a:t>)</a:t>
            </a:r>
          </a:p>
          <a:p>
            <a:pPr marL="914400" lvl="2" indent="0">
              <a:buNone/>
            </a:pPr>
            <a:r>
              <a:rPr lang="en-US" altLang="en-US" sz="1600" dirty="0">
                <a:latin typeface="Courier New" pitchFamily="49" charset="0"/>
              </a:rPr>
              <a:t>End Sub</a:t>
            </a:r>
          </a:p>
          <a:p>
            <a:pPr lvl="1">
              <a:buFont typeface="Wingdings" pitchFamily="2" charset="2"/>
              <a:buChar char="q"/>
            </a:pPr>
            <a:endParaRPr lang="en-US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9064358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en-US" dirty="0"/>
              <a:t>Program Threats </a:t>
            </a:r>
            <a:r>
              <a:rPr lang="en-US" altLang="en-US" sz="1600" dirty="0">
                <a:solidFill>
                  <a:prstClr val="white"/>
                </a:solidFill>
              </a:rPr>
              <a:t>(cont’d)</a:t>
            </a:r>
            <a:endParaRPr lang="en-US" altLang="en-US" dirty="0"/>
          </a:p>
        </p:txBody>
      </p:sp>
      <p:sp>
        <p:nvSpPr>
          <p:cNvPr id="32770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83287"/>
            <a:ext cx="8574087" cy="3992563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3366FF"/>
                </a:solidFill>
              </a:rPr>
              <a:t>Virus dropper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inserts virus onto the system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en-US" dirty="0"/>
              <a:t>Many categories of viruses, literally many thousands of viruses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en-US" dirty="0"/>
              <a:t>File / parasitic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en-US" dirty="0"/>
              <a:t>Boot / memory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en-US" dirty="0"/>
              <a:t>Macro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en-US" dirty="0"/>
              <a:t>Source code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en-US" dirty="0"/>
              <a:t>Polymorphic to avoid having a </a:t>
            </a:r>
            <a:r>
              <a:rPr lang="en-US" altLang="en-US" b="1" dirty="0">
                <a:solidFill>
                  <a:srgbClr val="3366FF"/>
                </a:solidFill>
              </a:rPr>
              <a:t>virus signature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en-US" dirty="0"/>
              <a:t>Encrypted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en-US" dirty="0"/>
              <a:t>Stealth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en-US" dirty="0"/>
              <a:t>Tunneling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en-US" dirty="0"/>
              <a:t>Multipartite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en-US" dirty="0"/>
              <a:t>Armored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0533019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/>
              <a:t>A Boot-sector Computer Virus</a:t>
            </a:r>
          </a:p>
        </p:txBody>
      </p:sp>
      <p:pic>
        <p:nvPicPr>
          <p:cNvPr id="34818" name="Picture 2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2576" y="1968821"/>
            <a:ext cx="4507978" cy="47839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741613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Title 1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en-US"/>
              <a:t>The Threat Continues</a:t>
            </a:r>
          </a:p>
        </p:txBody>
      </p:sp>
      <p:sp>
        <p:nvSpPr>
          <p:cNvPr id="36866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284163" y="1920657"/>
            <a:ext cx="8574087" cy="3992563"/>
          </a:xfrm>
        </p:spPr>
        <p:txBody>
          <a:bodyPr>
            <a:normAutofit fontScale="85000" lnSpcReduction="200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Attacks still common, still occurring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Attacks moved over time from science experiments to tools of organized crime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Targeting specific companies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Creating botnets to use as tool for spam and DDOS delivery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3366FF"/>
                </a:solidFill>
              </a:rPr>
              <a:t>Keystroke logger </a:t>
            </a:r>
            <a:r>
              <a:rPr lang="en-US" altLang="en-US" dirty="0"/>
              <a:t>to grab passwords, credit card numbers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Why is Windows the target for most attacks?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Most common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Everyone is an administrator</a:t>
            </a:r>
          </a:p>
          <a:p>
            <a:pPr lvl="2">
              <a:buFont typeface="Wingdings" pitchFamily="2" charset="2"/>
              <a:buChar char="q"/>
            </a:pPr>
            <a:r>
              <a:rPr lang="en-US" altLang="en-US" dirty="0"/>
              <a:t>Licensing required?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3366FF"/>
                </a:solidFill>
              </a:rPr>
              <a:t>Monoculture</a:t>
            </a:r>
            <a:r>
              <a:rPr lang="en-US" altLang="en-US" dirty="0"/>
              <a:t> considered harmful</a:t>
            </a:r>
          </a:p>
          <a:p>
            <a:pPr lvl="1">
              <a:buFont typeface="Wingdings" pitchFamily="2" charset="2"/>
              <a:buChar char="q"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100878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/>
              <a:t>System and Network Threats</a:t>
            </a:r>
          </a:p>
        </p:txBody>
      </p:sp>
      <p:sp>
        <p:nvSpPr>
          <p:cNvPr id="37890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83287"/>
            <a:ext cx="8574087" cy="3992563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>
                <a:solidFill>
                  <a:srgbClr val="000000"/>
                </a:solidFill>
              </a:rPr>
              <a:t>Some systems </a:t>
            </a:r>
            <a:r>
              <a:rPr lang="ja-JP" altLang="en-US" dirty="0">
                <a:solidFill>
                  <a:srgbClr val="000000"/>
                </a:solidFill>
              </a:rPr>
              <a:t>“</a:t>
            </a:r>
            <a:r>
              <a:rPr lang="en-US" altLang="ja-JP" dirty="0">
                <a:solidFill>
                  <a:srgbClr val="000000"/>
                </a:solidFill>
              </a:rPr>
              <a:t>open</a:t>
            </a:r>
            <a:r>
              <a:rPr lang="ja-JP" altLang="en-US" dirty="0">
                <a:solidFill>
                  <a:srgbClr val="000000"/>
                </a:solidFill>
              </a:rPr>
              <a:t>”</a:t>
            </a:r>
            <a:r>
              <a:rPr lang="en-US" altLang="ja-JP" dirty="0">
                <a:solidFill>
                  <a:srgbClr val="000000"/>
                </a:solidFill>
              </a:rPr>
              <a:t> rather than </a:t>
            </a:r>
            <a:r>
              <a:rPr lang="en-US" altLang="ja-JP" b="1" dirty="0">
                <a:solidFill>
                  <a:srgbClr val="3366FF"/>
                </a:solidFill>
              </a:rPr>
              <a:t>secure by default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>
                <a:solidFill>
                  <a:srgbClr val="000000"/>
                </a:solidFill>
              </a:rPr>
              <a:t>Reduce </a:t>
            </a:r>
            <a:r>
              <a:rPr lang="en-US" altLang="en-US" b="1" dirty="0">
                <a:solidFill>
                  <a:srgbClr val="3366FF"/>
                </a:solidFill>
              </a:rPr>
              <a:t>attack surface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>
                <a:solidFill>
                  <a:srgbClr val="000000"/>
                </a:solidFill>
              </a:rPr>
              <a:t>But harder to use, more knowledge needed to administer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>
                <a:solidFill>
                  <a:srgbClr val="000000"/>
                </a:solidFill>
              </a:rPr>
              <a:t>Network threats harder to detect, prevent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>
                <a:solidFill>
                  <a:srgbClr val="000000"/>
                </a:solidFill>
              </a:rPr>
              <a:t>Protection systems weaker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>
                <a:solidFill>
                  <a:srgbClr val="000000"/>
                </a:solidFill>
              </a:rPr>
              <a:t>More difficult to have a shared secret on which to base access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>
                <a:solidFill>
                  <a:srgbClr val="000000"/>
                </a:solidFill>
              </a:rPr>
              <a:t>No physical limits once system attached to internet</a:t>
            </a:r>
          </a:p>
          <a:p>
            <a:pPr lvl="2">
              <a:buFont typeface="Wingdings" pitchFamily="2" charset="2"/>
              <a:buChar char="q"/>
            </a:pPr>
            <a:r>
              <a:rPr lang="en-US" altLang="en-US" dirty="0">
                <a:solidFill>
                  <a:srgbClr val="000000"/>
                </a:solidFill>
              </a:rPr>
              <a:t>Or on network with system attached to internet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>
                <a:solidFill>
                  <a:srgbClr val="000000"/>
                </a:solidFill>
              </a:rPr>
              <a:t>Even determining location of connecting system difficult</a:t>
            </a:r>
          </a:p>
          <a:p>
            <a:pPr lvl="2">
              <a:buFont typeface="Wingdings" pitchFamily="2" charset="2"/>
              <a:buChar char="q"/>
            </a:pPr>
            <a:r>
              <a:rPr lang="en-US" altLang="en-US" dirty="0">
                <a:solidFill>
                  <a:srgbClr val="000000"/>
                </a:solidFill>
              </a:rPr>
              <a:t>IP address is only knowledge</a:t>
            </a:r>
          </a:p>
        </p:txBody>
      </p:sp>
    </p:spTree>
    <p:extLst>
      <p:ext uri="{BB962C8B-B14F-4D97-AF65-F5344CB8AC3E}">
        <p14:creationId xmlns:p14="http://schemas.microsoft.com/office/powerpoint/2010/main" val="9120256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en-US" dirty="0"/>
              <a:t>System and Network Threats </a:t>
            </a:r>
            <a:r>
              <a:rPr lang="en-US" altLang="en-US" sz="1600" dirty="0">
                <a:solidFill>
                  <a:prstClr val="white"/>
                </a:solidFill>
              </a:rPr>
              <a:t>(cont’d)</a:t>
            </a:r>
            <a:endParaRPr lang="en-US" altLang="en-US" dirty="0"/>
          </a:p>
        </p:txBody>
      </p:sp>
      <p:sp>
        <p:nvSpPr>
          <p:cNvPr id="39938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2045917"/>
            <a:ext cx="8574087" cy="3992563"/>
          </a:xfrm>
        </p:spPr>
        <p:txBody>
          <a:bodyPr>
            <a:normAutofit fontScale="85000" lnSpcReduction="200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000000"/>
                </a:solidFill>
              </a:rPr>
              <a:t>Worms</a:t>
            </a:r>
            <a:r>
              <a:rPr lang="en-US" altLang="en-US" dirty="0"/>
              <a:t> – use </a:t>
            </a:r>
            <a:r>
              <a:rPr lang="en-US" altLang="en-US" b="1" dirty="0">
                <a:solidFill>
                  <a:srgbClr val="3366FF"/>
                </a:solidFill>
              </a:rPr>
              <a:t>spawn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mechanism; standalone program</a:t>
            </a:r>
            <a:endParaRPr lang="en-US" altLang="en-US" sz="800" dirty="0"/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Internet worm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Exploited UNIX networking features (remote access) and bugs in </a:t>
            </a:r>
            <a:r>
              <a:rPr lang="en-US" altLang="en-US" i="1" dirty="0"/>
              <a:t>finger</a:t>
            </a:r>
            <a:r>
              <a:rPr lang="en-US" altLang="en-US" dirty="0"/>
              <a:t> and </a:t>
            </a:r>
            <a:r>
              <a:rPr lang="en-US" altLang="en-US" i="1" dirty="0" err="1"/>
              <a:t>sendmail</a:t>
            </a:r>
            <a:r>
              <a:rPr lang="en-US" altLang="en-US" dirty="0"/>
              <a:t> programs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Exploited trust-relationship mechanism used by </a:t>
            </a:r>
            <a:r>
              <a:rPr lang="en-US" altLang="en-US" i="1" dirty="0" err="1"/>
              <a:t>rsh</a:t>
            </a:r>
            <a:r>
              <a:rPr lang="en-US" altLang="en-US" i="1" dirty="0"/>
              <a:t> </a:t>
            </a:r>
            <a:r>
              <a:rPr lang="en-US" altLang="en-US" dirty="0"/>
              <a:t>to access friendly systems without use of password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3366FF"/>
                </a:solidFill>
              </a:rPr>
              <a:t>Grappling hook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program uploaded main worm program</a:t>
            </a:r>
          </a:p>
          <a:p>
            <a:pPr lvl="2">
              <a:buFont typeface="Wingdings" pitchFamily="2" charset="2"/>
              <a:buChar char="q"/>
            </a:pPr>
            <a:r>
              <a:rPr lang="en-US" altLang="en-US" dirty="0"/>
              <a:t>99 lines of C code 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Hooked system then uploaded main code, tried to attack connected systems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Also tried to break into other users accounts on local system via password guessing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If target system already infected, abort, except for every 7</a:t>
            </a:r>
            <a:r>
              <a:rPr lang="en-US" altLang="en-US" baseline="30000" dirty="0"/>
              <a:t>th</a:t>
            </a:r>
            <a:r>
              <a:rPr lang="en-US" altLang="en-US" dirty="0"/>
              <a:t> time</a:t>
            </a:r>
          </a:p>
          <a:p>
            <a:pPr lvl="1">
              <a:buFont typeface="Wingdings" pitchFamily="2" charset="2"/>
              <a:buChar char="q"/>
            </a:pPr>
            <a:endParaRPr lang="en-US" altLang="en-US" dirty="0"/>
          </a:p>
          <a:p>
            <a:pPr lvl="1">
              <a:buFont typeface="Wingdings" pitchFamily="2" charset="2"/>
              <a:buChar char="q"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625483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Title 1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en-US" dirty="0"/>
              <a:t>System and Network Threats </a:t>
            </a:r>
            <a:r>
              <a:rPr lang="en-US" altLang="en-US" sz="1600" dirty="0">
                <a:solidFill>
                  <a:prstClr val="white"/>
                </a:solidFill>
              </a:rPr>
              <a:t>(cont’d)</a:t>
            </a:r>
            <a:endParaRPr lang="en-US" altLang="en-US" dirty="0"/>
          </a:p>
        </p:txBody>
      </p:sp>
      <p:sp>
        <p:nvSpPr>
          <p:cNvPr id="41986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284163" y="1933183"/>
            <a:ext cx="8574087" cy="3992563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b="1" dirty="0"/>
              <a:t>Port scanning</a:t>
            </a:r>
            <a:endParaRPr lang="en-US" altLang="en-US" dirty="0"/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Automated attempt to connect to a range of ports on one or a range of IP addresses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Detection of answering service protocol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Detection of OS and version running on system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 err="1">
                <a:latin typeface="Courier New" pitchFamily="49" charset="0"/>
                <a:cs typeface="Courier New" pitchFamily="49" charset="0"/>
              </a:rPr>
              <a:t>nmap</a:t>
            </a:r>
            <a:r>
              <a:rPr lang="en-US" alt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en-US" dirty="0"/>
              <a:t>scans all ports in a given IP range for a response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 err="1">
                <a:latin typeface="Courier New" pitchFamily="49" charset="0"/>
                <a:cs typeface="Courier New" pitchFamily="49" charset="0"/>
              </a:rPr>
              <a:t>nessus</a:t>
            </a:r>
            <a:r>
              <a:rPr lang="en-US" altLang="en-US" dirty="0"/>
              <a:t> has a database of protocols and bugs (and exploits) to apply against a system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Frequently launched from </a:t>
            </a:r>
            <a:r>
              <a:rPr lang="en-US" altLang="en-US" b="1" dirty="0">
                <a:solidFill>
                  <a:srgbClr val="3366FF"/>
                </a:solidFill>
              </a:rPr>
              <a:t>zombie systems</a:t>
            </a:r>
            <a:r>
              <a:rPr lang="en-US" altLang="en-US" dirty="0"/>
              <a:t> </a:t>
            </a:r>
          </a:p>
          <a:p>
            <a:pPr lvl="2">
              <a:buFont typeface="Wingdings" pitchFamily="2" charset="2"/>
              <a:buChar char="q"/>
            </a:pPr>
            <a:r>
              <a:rPr lang="en-US" altLang="en-US" dirty="0"/>
              <a:t>To decrease trace-ability	</a:t>
            </a:r>
          </a:p>
        </p:txBody>
      </p:sp>
    </p:spTree>
    <p:extLst>
      <p:ext uri="{BB962C8B-B14F-4D97-AF65-F5344CB8AC3E}">
        <p14:creationId xmlns:p14="http://schemas.microsoft.com/office/powerpoint/2010/main" val="29174635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Title 1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en-US" dirty="0"/>
              <a:t>System and Network Threats </a:t>
            </a:r>
            <a:r>
              <a:rPr lang="en-US" altLang="en-US" sz="1600" dirty="0">
                <a:solidFill>
                  <a:prstClr val="white"/>
                </a:solidFill>
              </a:rPr>
              <a:t>(cont’d)</a:t>
            </a:r>
            <a:endParaRPr lang="en-US" altLang="en-US" dirty="0"/>
          </a:p>
        </p:txBody>
      </p:sp>
      <p:sp>
        <p:nvSpPr>
          <p:cNvPr id="43010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284163" y="1970761"/>
            <a:ext cx="8574087" cy="3992563"/>
          </a:xfrm>
        </p:spPr>
        <p:txBody>
          <a:bodyPr>
            <a:normAutofit fontScale="85000" lnSpcReduction="200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b="1" dirty="0"/>
              <a:t>Denial of Service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Overload the targeted computer preventing it from doing any useful work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3366FF"/>
                </a:solidFill>
              </a:rPr>
              <a:t>Distributed Denial-of-Service</a:t>
            </a:r>
            <a:r>
              <a:rPr lang="en-US" altLang="en-US" dirty="0"/>
              <a:t> (</a:t>
            </a:r>
            <a:r>
              <a:rPr lang="en-US" altLang="en-US" b="1" dirty="0" err="1">
                <a:solidFill>
                  <a:srgbClr val="3366FF"/>
                </a:solidFill>
              </a:rPr>
              <a:t>DDoS</a:t>
            </a:r>
            <a:r>
              <a:rPr lang="en-US" altLang="en-US" dirty="0"/>
              <a:t>) come from multiple sites at once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Consider the start of the IP-connection handshake (SYN)</a:t>
            </a:r>
          </a:p>
          <a:p>
            <a:pPr lvl="2">
              <a:buFont typeface="Wingdings" pitchFamily="2" charset="2"/>
              <a:buChar char="q"/>
            </a:pPr>
            <a:r>
              <a:rPr lang="en-US" altLang="en-US" dirty="0"/>
              <a:t>How many started-connections can the OS handle?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Consider traffic to a web site</a:t>
            </a:r>
          </a:p>
          <a:p>
            <a:pPr lvl="2">
              <a:buFont typeface="Wingdings" pitchFamily="2" charset="2"/>
              <a:buChar char="q"/>
            </a:pPr>
            <a:r>
              <a:rPr lang="en-US" altLang="en-US" dirty="0"/>
              <a:t>How can you tell the difference between being a target and being really popular?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Accidental – CS students writing bad </a:t>
            </a:r>
            <a:r>
              <a:rPr lang="en-US" altLang="en-US" dirty="0">
                <a:latin typeface="Courier New" pitchFamily="49" charset="0"/>
                <a:cs typeface="Courier New" pitchFamily="49" charset="0"/>
              </a:rPr>
              <a:t>fork() </a:t>
            </a:r>
            <a:r>
              <a:rPr lang="en-US" altLang="en-US" dirty="0"/>
              <a:t>code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Purposeful – extortion, punishment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Port scanning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Automated tool to look for network ports accepting connections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Used for good and evil</a:t>
            </a:r>
          </a:p>
          <a:p>
            <a:pPr>
              <a:buFont typeface="Wingdings" pitchFamily="2" charset="2"/>
              <a:buChar char="q"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9200634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Title 1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en-US"/>
              <a:t>Standard Security Attacks</a:t>
            </a:r>
          </a:p>
        </p:txBody>
      </p:sp>
      <p:pic>
        <p:nvPicPr>
          <p:cNvPr id="44034" name="Picture 2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4275" y="1881644"/>
            <a:ext cx="4572000" cy="5092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065879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7F4BAFD-2E76-4ABD-8010-F76016C90307}"/>
              </a:ext>
            </a:extLst>
          </p:cNvPr>
          <p:cNvSpPr txBox="1">
            <a:spLocks/>
          </p:cNvSpPr>
          <p:nvPr/>
        </p:nvSpPr>
        <p:spPr>
          <a:xfrm>
            <a:off x="335494" y="1203272"/>
            <a:ext cx="8229600" cy="3775604"/>
          </a:xfrm>
          <a:prstGeom prst="rect">
            <a:avLst/>
          </a:prstGeom>
        </p:spPr>
        <p:txBody>
          <a:bodyPr/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q"/>
            </a:pPr>
            <a:r>
              <a:rPr lang="en-US" dirty="0"/>
              <a:t>Operating Systems Concept</a:t>
            </a:r>
          </a:p>
          <a:p>
            <a:pPr lvl="1">
              <a:buFont typeface="Wingdings" pitchFamily="2" charset="2"/>
              <a:buChar char="q"/>
            </a:pPr>
            <a:r>
              <a:rPr lang="en-US" dirty="0"/>
              <a:t>Written by Galvin and </a:t>
            </a:r>
            <a:r>
              <a:rPr lang="en-US" dirty="0" err="1"/>
              <a:t>Silberschatz</a:t>
            </a:r>
            <a:endParaRPr lang="en-US" dirty="0"/>
          </a:p>
          <a:p>
            <a:pPr lvl="1">
              <a:buFont typeface="Wingdings" pitchFamily="2" charset="2"/>
              <a:buChar char="q"/>
            </a:pPr>
            <a:r>
              <a:rPr lang="en-US" dirty="0"/>
              <a:t>Edition: 9</a:t>
            </a:r>
            <a:r>
              <a:rPr lang="en-US" baseline="30000" dirty="0"/>
              <a:t>th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233823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7F4BAFD-2E76-4ABD-8010-F76016C90307}"/>
              </a:ext>
            </a:extLst>
          </p:cNvPr>
          <p:cNvSpPr txBox="1">
            <a:spLocks/>
          </p:cNvSpPr>
          <p:nvPr/>
        </p:nvSpPr>
        <p:spPr>
          <a:xfrm>
            <a:off x="430669" y="1114339"/>
            <a:ext cx="8229600" cy="3775604"/>
          </a:xfrm>
          <a:prstGeom prst="rect">
            <a:avLst/>
          </a:prstGeom>
        </p:spPr>
        <p:txBody>
          <a:bodyPr/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q"/>
            </a:pPr>
            <a:r>
              <a:rPr lang="en-US" dirty="0"/>
              <a:t>Operating Systems Concept</a:t>
            </a:r>
          </a:p>
          <a:p>
            <a:pPr lvl="1">
              <a:buFont typeface="Wingdings" pitchFamily="2" charset="2"/>
              <a:buChar char="q"/>
            </a:pPr>
            <a:r>
              <a:rPr lang="en-US" dirty="0"/>
              <a:t>Written by Galvin and </a:t>
            </a:r>
            <a:r>
              <a:rPr lang="en-US" dirty="0" err="1"/>
              <a:t>Silberschatz</a:t>
            </a:r>
            <a:endParaRPr lang="en-US" dirty="0"/>
          </a:p>
          <a:p>
            <a:pPr lvl="1">
              <a:buFont typeface="Wingdings" pitchFamily="2" charset="2"/>
              <a:buChar char="q"/>
            </a:pPr>
            <a:r>
              <a:rPr lang="en-US" dirty="0"/>
              <a:t>Edition: 9</a:t>
            </a:r>
            <a:r>
              <a:rPr lang="en-US" baseline="30000" dirty="0"/>
              <a:t>th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24969828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228</TotalTime>
  <Words>1361</Words>
  <Application>Microsoft Office PowerPoint</Application>
  <PresentationFormat>On-screen Show (4:3)</PresentationFormat>
  <Paragraphs>231</Paragraphs>
  <Slides>24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4" baseType="lpstr">
      <vt:lpstr>Arial</vt:lpstr>
      <vt:lpstr>Calibri</vt:lpstr>
      <vt:lpstr>Corbel</vt:lpstr>
      <vt:lpstr>Courier New</vt:lpstr>
      <vt:lpstr>Georgia</vt:lpstr>
      <vt:lpstr>Helvetica</vt:lpstr>
      <vt:lpstr>Monotype Sorts</vt:lpstr>
      <vt:lpstr>Times New Roman</vt:lpstr>
      <vt:lpstr>Wingdings</vt:lpstr>
      <vt:lpstr>Spectrum</vt:lpstr>
      <vt:lpstr>Security</vt:lpstr>
      <vt:lpstr>Lecture Outline</vt:lpstr>
      <vt:lpstr>The Security Problem</vt:lpstr>
      <vt:lpstr>Security Violation Categories</vt:lpstr>
      <vt:lpstr>Security Violation Methods</vt:lpstr>
      <vt:lpstr>Security Measure Levels</vt:lpstr>
      <vt:lpstr>Program Threats</vt:lpstr>
      <vt:lpstr>Four-layered Model of Security</vt:lpstr>
      <vt:lpstr>Program Threats (cont’d)</vt:lpstr>
      <vt:lpstr>C Program with Buffer-overflow Condition</vt:lpstr>
      <vt:lpstr>Code Injection</vt:lpstr>
      <vt:lpstr>Code Injection (cont’d)</vt:lpstr>
      <vt:lpstr>Great Programming Required?</vt:lpstr>
      <vt:lpstr>Program Threats (cont’d)</vt:lpstr>
      <vt:lpstr>Program Threats (cont’d)</vt:lpstr>
      <vt:lpstr>A Boot-sector Computer Virus</vt:lpstr>
      <vt:lpstr>The Threat Continues</vt:lpstr>
      <vt:lpstr>System and Network Threats</vt:lpstr>
      <vt:lpstr>System and Network Threats (cont’d)</vt:lpstr>
      <vt:lpstr>System and Network Threats (cont’d)</vt:lpstr>
      <vt:lpstr>System and Network Threats (cont’d)</vt:lpstr>
      <vt:lpstr>Standard Security Attacks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MEJBAH AHAMMAD</cp:lastModifiedBy>
  <cp:revision>20</cp:revision>
  <dcterms:created xsi:type="dcterms:W3CDTF">2018-12-10T17:20:29Z</dcterms:created>
  <dcterms:modified xsi:type="dcterms:W3CDTF">2026-02-08T12:10:54Z</dcterms:modified>
</cp:coreProperties>
</file>