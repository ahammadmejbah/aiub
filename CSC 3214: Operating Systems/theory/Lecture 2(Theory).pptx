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5" r:id="rId20"/>
    <p:sldId id="290" r:id="rId21"/>
    <p:sldId id="291" r:id="rId22"/>
    <p:sldId id="292" r:id="rId23"/>
    <p:sldId id="293" r:id="rId24"/>
    <p:sldId id="294" r:id="rId25"/>
    <p:sldId id="264" r:id="rId26"/>
    <p:sldId id="265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B33E6F88-4477-4D0A-BE44-207326EB83C2}"/>
    <pc:docChg chg="modSld">
      <pc:chgData name="SYEDA ANIKA TASNIM" userId="8fb70a1d-16e3-4c86-a699-7b87e9bfa60b" providerId="ADAL" clId="{B33E6F88-4477-4D0A-BE44-207326EB83C2}" dt="2021-09-22T02:02:49.739" v="3" actId="20577"/>
      <pc:docMkLst>
        <pc:docMk/>
      </pc:docMkLst>
      <pc:sldChg chg="modSp mod">
        <pc:chgData name="SYEDA ANIKA TASNIM" userId="8fb70a1d-16e3-4c86-a699-7b87e9bfa60b" providerId="ADAL" clId="{B33E6F88-4477-4D0A-BE44-207326EB83C2}" dt="2021-09-22T02:02:49.739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B33E6F88-4477-4D0A-BE44-207326EB83C2}" dt="2021-09-22T02:02:49.73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2866CF3D-9FB2-41B1-84EF-D730975CF388}"/>
    <pc:docChg chg="modSld">
      <pc:chgData name="SYEDA ANIKA TASNIM" userId="8fb70a1d-16e3-4c86-a699-7b87e9bfa60b" providerId="ADAL" clId="{2866CF3D-9FB2-41B1-84EF-D730975CF388}" dt="2020-10-13T14:15:07.346" v="9" actId="20577"/>
      <pc:docMkLst>
        <pc:docMk/>
      </pc:docMkLst>
      <pc:sldChg chg="modSp mod">
        <pc:chgData name="SYEDA ANIKA TASNIM" userId="8fb70a1d-16e3-4c86-a699-7b87e9bfa60b" providerId="ADAL" clId="{2866CF3D-9FB2-41B1-84EF-D730975CF388}" dt="2020-10-13T14:15:07.346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2866CF3D-9FB2-41B1-84EF-D730975CF388}" dt="2020-10-13T14:15:07.346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4C380A72-E1EB-42AB-8313-ED8A0E3BB131}"/>
    <pc:docChg chg="custSel modSld">
      <pc:chgData name="SYEDA ANIKA TASNIM" userId="8fb70a1d-16e3-4c86-a699-7b87e9bfa60b" providerId="ADAL" clId="{4C380A72-E1EB-42AB-8313-ED8A0E3BB131}" dt="2020-07-05T16:22:08.847" v="70" actId="20577"/>
      <pc:docMkLst>
        <pc:docMk/>
      </pc:docMkLst>
      <pc:sldChg chg="modSp mod">
        <pc:chgData name="SYEDA ANIKA TASNIM" userId="8fb70a1d-16e3-4c86-a699-7b87e9bfa60b" providerId="ADAL" clId="{4C380A72-E1EB-42AB-8313-ED8A0E3BB131}" dt="2020-07-05T16:22:08.847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4C380A72-E1EB-42AB-8313-ED8A0E3BB131}" dt="2020-07-05T16:22:08.847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8A6F7A34-ABE9-1E40-85F5-8C4431999E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EC68E35E-81B0-D249-B74C-22A642A16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36C83237-E5D5-6B4C-858F-09D6D029C5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4913759A-7495-804B-8AB8-02C44669B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47643A85-49B9-134A-A24C-858AEAFEB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F36347D4-A7FD-C94B-986C-2642C64D7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531EA42-8C32-AB49-8337-686313F12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30E995F2-D14A-AA43-85F3-ADD99AA4BE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765D3643-356D-5A46-8C50-0E4767B84A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02411B3-5FCD-7D44-8A45-F5E0A79792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6445FD6D-9B1B-4440-9B5D-B54FB2DE2F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478C66A9-9722-304C-BD2B-1841632C7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C47A6785-75BF-7142-8DEA-654B272113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3A06F031-58FB-804C-9BCA-58509AE98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DBA947BE-FB84-7D42-8DC9-97704A2F2B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1FEE3161-4D36-9E40-983E-3FE268BC20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735502CA-F728-6D44-9E5D-12EAD4869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5A848763-6D55-184A-9398-6955045EA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E1B2F710-AA64-2C42-AD30-BA6A9C3E9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8EC7D067-7935-8E44-A8B4-F37243E7CC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A59558DB-AC20-F143-8421-97D4F3936B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CA49ADA8-9BD9-EC46-A865-C0524B65D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32E2C85F-AFCC-E749-BDB1-3C32225BEB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FFEC1E1A-FA33-1A40-B2C0-17E521A70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23D39AC-1F68-634A-B5C0-C0CF273DE9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F1593C20-A255-7F45-863A-55BD03A10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97116F2F-EB60-3C4F-8C30-5613FA86BF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92978029-BD8A-0C43-8CAF-3163D8DD3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D2DD298A-1DF8-3C47-9440-0600316D2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8E2A844-2683-3B47-A5A5-47A0ABC93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D2DD298A-1DF8-3C47-9440-0600316D23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88E2A844-2683-3B47-A5A5-47A0ABC93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DB5E821C-AB50-274A-BD58-6376AF4737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B4E90D7E-4B28-9347-A3F2-9E94A0EE48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905EECBD-94C2-8A46-9104-F8B166072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9323CCA7-F979-0444-B0BC-B48A3FAB8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7EE8BFC8-C2F7-DF4C-B00C-CBFDB644E5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9417CC1D-00A8-F24F-B647-3753B6813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D361B4E0-350D-3747-994A-E9897DEC57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CF6AC8FC-D5CD-9E46-80C3-FFA2F6354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3718A27B-597F-BB4C-8DC7-1391F9574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3588" cy="3429000"/>
          </a:xfrm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B60AC6B1-897E-8648-8A5E-6A4846618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6591" y="4344025"/>
            <a:ext cx="5486400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0" tIns="45715" rIns="91430" bIns="45715" anchor="t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System Concepts </a:t>
            </a:r>
            <a:r>
              <a:rPr lang="en-US" altLang="en-US" sz="1800" dirty="0"/>
              <a:t>(cont’d)</a:t>
            </a:r>
            <a:r>
              <a:rPr lang="en-US" sz="1800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250117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84795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311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5903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088356"/>
            <a:ext cx="7754112" cy="388656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I/O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Storage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How a Modern Computer Works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Direct Memory Access Structure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Computer-System Architecture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 Dual-Core Design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Clustered Systems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Operating-System Operations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Multiprogramming and Multitasking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Dual-mode and Multimode Operation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Process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Memory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File-system Management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Caching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7F62A2A-94A6-7B47-9702-784BF557B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I/O Structure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725D350E-D4C1-6B4C-B91C-0D6DE209D6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20656"/>
            <a:ext cx="707674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After I/O starts, control returns to user program only upon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Wait instruction idles the CPU until the next interrupt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Wait loop (contention for memory access)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At most one I/O request is outstanding at a time, no simultaneous I/O processing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After I/O starts, control returns to user program without waiting for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System call </a:t>
            </a:r>
            <a:r>
              <a:rPr lang="en-US" altLang="en-US" dirty="0"/>
              <a:t>– request to the OS to allow user to wait for I/O completion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Device-status table </a:t>
            </a:r>
            <a:r>
              <a:rPr lang="en-US" altLang="en-US" dirty="0"/>
              <a:t>contains entry for each I/O device indicating its type, address, and state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OS indexes into I/O device table to determine device status and to modify table entry to include interrupt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5144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D7E146AD-FE2B-4841-853B-3080689FC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 Structure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AA01396F-940C-C24B-989D-FA721D42DF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757819"/>
            <a:ext cx="8574087" cy="481834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Main memory – only large storage media that the CPU can access directly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Random</a:t>
            </a:r>
            <a:r>
              <a:rPr lang="en-US" altLang="en-US" sz="1900" dirty="0">
                <a:solidFill>
                  <a:srgbClr val="0000FF"/>
                </a:solidFill>
              </a:rPr>
              <a:t> </a:t>
            </a:r>
            <a:r>
              <a:rPr lang="en-US" altLang="en-US" sz="1900" b="1" dirty="0">
                <a:solidFill>
                  <a:srgbClr val="3366FF"/>
                </a:solidFill>
              </a:rPr>
              <a:t>access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Typically </a:t>
            </a:r>
            <a:r>
              <a:rPr lang="en-US" altLang="en-US" sz="1900" b="1" dirty="0">
                <a:solidFill>
                  <a:srgbClr val="3366FF"/>
                </a:solidFill>
              </a:rPr>
              <a:t>volatile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Typically</a:t>
            </a:r>
            <a:r>
              <a:rPr lang="en-US" altLang="en-US" sz="1900" b="1" dirty="0">
                <a:solidFill>
                  <a:srgbClr val="3366FF"/>
                </a:solidFill>
              </a:rPr>
              <a:t> random-access memory </a:t>
            </a:r>
            <a:r>
              <a:rPr lang="en-US" altLang="en-US" sz="1900" dirty="0"/>
              <a:t>in the form of </a:t>
            </a:r>
            <a:r>
              <a:rPr lang="en-US" altLang="en-US" sz="1900" b="1" dirty="0">
                <a:solidFill>
                  <a:srgbClr val="3366FF"/>
                </a:solidFill>
              </a:rPr>
              <a:t>Dynamic Random-access Memory (DRAM)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Secondary storage – extension of main memory that provides large </a:t>
            </a:r>
            <a:r>
              <a:rPr lang="en-US" altLang="en-US" sz="1900" b="1" dirty="0">
                <a:solidFill>
                  <a:srgbClr val="3366FF"/>
                </a:solidFill>
              </a:rPr>
              <a:t>nonvolatile</a:t>
            </a:r>
            <a:r>
              <a:rPr lang="en-US" altLang="en-US" sz="1900" dirty="0">
                <a:solidFill>
                  <a:srgbClr val="0000FF"/>
                </a:solidFill>
              </a:rPr>
              <a:t> </a:t>
            </a:r>
            <a:r>
              <a:rPr lang="en-US" altLang="en-US" sz="1900" dirty="0"/>
              <a:t>storage capacity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Hard Disk Drives </a:t>
            </a:r>
            <a:r>
              <a:rPr lang="en-US" altLang="en-US" sz="1900" dirty="0"/>
              <a:t>(</a:t>
            </a:r>
            <a:r>
              <a:rPr lang="en-US" altLang="en-US" sz="1900" b="1" dirty="0">
                <a:solidFill>
                  <a:srgbClr val="3366FF"/>
                </a:solidFill>
              </a:rPr>
              <a:t>HDD</a:t>
            </a:r>
            <a:r>
              <a:rPr lang="en-US" altLang="en-US" sz="1900" dirty="0"/>
              <a:t>) – rigid metal or glass platters covered with magnetic recording material 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Disk surface is logically divided into </a:t>
            </a:r>
            <a:r>
              <a:rPr lang="en-US" altLang="en-US" sz="1900" b="1" dirty="0">
                <a:solidFill>
                  <a:srgbClr val="3366FF"/>
                </a:solidFill>
              </a:rPr>
              <a:t>tracks</a:t>
            </a:r>
            <a:r>
              <a:rPr lang="en-US" altLang="en-US" sz="1900" dirty="0"/>
              <a:t>, which are subdivided into </a:t>
            </a:r>
            <a:r>
              <a:rPr lang="en-US" altLang="en-US" sz="1900" b="1" dirty="0">
                <a:solidFill>
                  <a:srgbClr val="3366FF"/>
                </a:solidFill>
              </a:rPr>
              <a:t>sectors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The </a:t>
            </a:r>
            <a:r>
              <a:rPr lang="en-US" altLang="en-US" sz="1900" b="1" dirty="0">
                <a:solidFill>
                  <a:srgbClr val="3366FF"/>
                </a:solidFill>
              </a:rPr>
              <a:t>disk controller </a:t>
            </a:r>
            <a:r>
              <a:rPr lang="en-US" altLang="en-US" sz="1900" dirty="0"/>
              <a:t>determines the logical interaction between the device and the computer 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b="1" dirty="0">
                <a:solidFill>
                  <a:srgbClr val="3366FF"/>
                </a:solidFill>
              </a:rPr>
              <a:t>Non-volatile memory (NVM) </a:t>
            </a:r>
            <a:r>
              <a:rPr lang="en-US" altLang="en-US" sz="1900" dirty="0"/>
              <a:t>devices– faster than hard disks, nonvolatile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Various technologies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1900" dirty="0"/>
              <a:t>Becoming more popular as capacity and performance increases, price drops</a:t>
            </a:r>
          </a:p>
        </p:txBody>
      </p:sp>
    </p:spTree>
    <p:extLst>
      <p:ext uri="{BB962C8B-B14F-4D97-AF65-F5344CB8AC3E}">
        <p14:creationId xmlns:p14="http://schemas.microsoft.com/office/powerpoint/2010/main" val="2296267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4F5F4D05-4C79-434D-A140-278C98904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 Hierarchy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98D96D30-8DCF-8E46-961C-C67B9161F3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707674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Storage systems organized in hierarchy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Speed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Cost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Volatility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Caching</a:t>
            </a:r>
            <a:r>
              <a:rPr lang="en-US" altLang="en-US" dirty="0"/>
              <a:t> – copying information into faster storage system; main memory can be viewed as a cache for secondary storage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Device Driver </a:t>
            </a:r>
            <a:r>
              <a:rPr lang="en-US" altLang="en-US" dirty="0"/>
              <a:t>for each device controller to manage I/O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Provides uniform interface between controller and kernel</a:t>
            </a:r>
          </a:p>
        </p:txBody>
      </p:sp>
    </p:spTree>
    <p:extLst>
      <p:ext uri="{BB962C8B-B14F-4D97-AF65-F5344CB8AC3E}">
        <p14:creationId xmlns:p14="http://schemas.microsoft.com/office/powerpoint/2010/main" val="152315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140FA89C-B033-774E-BE29-D54150512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Storage-Device Hierarchy</a:t>
            </a:r>
          </a:p>
        </p:txBody>
      </p:sp>
      <p:pic>
        <p:nvPicPr>
          <p:cNvPr id="41986" name="Picture 2">
            <a:extLst>
              <a:ext uri="{FF2B5EF4-FFF2-40B4-BE49-F238E27FC236}">
                <a16:creationId xmlns:a16="http://schemas.microsoft.com/office/drawing/2014/main" id="{6615CA44-6ED8-2446-AA3F-6D3C509A0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318" y="1979112"/>
            <a:ext cx="7420297" cy="478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710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6E94B4D2-5ADA-8D47-A8C4-CE05C4BF7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How a Modern Computer Works</a:t>
            </a:r>
          </a:p>
        </p:txBody>
      </p:sp>
      <p:sp>
        <p:nvSpPr>
          <p:cNvPr id="44034" name="TextBox 3">
            <a:extLst>
              <a:ext uri="{FF2B5EF4-FFF2-40B4-BE49-F238E27FC236}">
                <a16:creationId xmlns:a16="http://schemas.microsoft.com/office/drawing/2014/main" id="{193B8596-4020-E248-B598-8876939F6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129" y="6239377"/>
            <a:ext cx="2395803" cy="271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2" charset="2"/>
              <a:buChar char="4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2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167" i="1" dirty="0">
                <a:latin typeface="Verdana" panose="020B0604030504040204" pitchFamily="34" charset="0"/>
              </a:rPr>
              <a:t>A von Neumann architecture</a:t>
            </a:r>
          </a:p>
        </p:txBody>
      </p:sp>
      <p:pic>
        <p:nvPicPr>
          <p:cNvPr id="44035" name="Picture 2">
            <a:extLst>
              <a:ext uri="{FF2B5EF4-FFF2-40B4-BE49-F238E27FC236}">
                <a16:creationId xmlns:a16="http://schemas.microsoft.com/office/drawing/2014/main" id="{58B7F53F-CDFA-4144-93D6-D31981843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679" y="1916480"/>
            <a:ext cx="6112701" cy="4757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186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DC6CD40-10B7-1444-A8A0-048D0CE13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Direct Memory Access Structure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660D6ADC-A3F8-1C40-BA7D-56DBA347D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83079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Used for high-speed I/O devices able to transmit information at close to memory speeds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Device controller transfers blocks of data from buffer storage directly to main memory without CPU intervention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Only one interrupt is generated per block, rather than the one interrupt per byte</a:t>
            </a:r>
          </a:p>
        </p:txBody>
      </p:sp>
    </p:spTree>
    <p:extLst>
      <p:ext uri="{BB962C8B-B14F-4D97-AF65-F5344CB8AC3E}">
        <p14:creationId xmlns:p14="http://schemas.microsoft.com/office/powerpoint/2010/main" val="251889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9FD586C3-31A7-8242-8174-E80080DD22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Computer-System Architecture</a:t>
            </a:r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082A3CBA-60D0-AC4D-94BC-5FE4EEAFAA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459004" cy="4467617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systems use a single general-purpose processor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Most systems have special-purpose processors as well</a:t>
            </a:r>
            <a:endParaRPr lang="en-US" altLang="en-US" sz="667" dirty="0"/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Multiprocessors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systems growing in use and importance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Also known as </a:t>
            </a:r>
            <a:r>
              <a:rPr lang="en-US" altLang="en-US" b="1" dirty="0">
                <a:solidFill>
                  <a:srgbClr val="3366FF"/>
                </a:solidFill>
              </a:rPr>
              <a:t>parallel 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tightly-coupled systems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Advantages include: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Increased throughput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Economy of scale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Increased reliability </a:t>
            </a:r>
            <a:r>
              <a:rPr lang="en-US" altLang="en-US" dirty="0"/>
              <a:t>– graceful degradation or fault tolerance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Two types: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Asymmetric Multiprocessing </a:t>
            </a:r>
            <a:r>
              <a:rPr lang="en-US" altLang="en-US" dirty="0"/>
              <a:t>– each processor is assigned a specie task.</a:t>
            </a:r>
          </a:p>
          <a:p>
            <a:pPr marL="1171546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3366FF"/>
                </a:solidFill>
              </a:rPr>
              <a:t>Symmetric Multiprocessing </a:t>
            </a:r>
            <a:r>
              <a:rPr lang="en-US" altLang="en-US" dirty="0"/>
              <a:t>– each processor performs all tasks</a:t>
            </a:r>
          </a:p>
          <a:p>
            <a:pPr marL="1057246" lvl="2" indent="-342900">
              <a:buFont typeface="Wingdings" pitchFamily="2" charset="2"/>
              <a:buChar char="q"/>
            </a:pPr>
            <a:endParaRPr lang="en-US" altLang="en-US" dirty="0">
              <a:solidFill>
                <a:srgbClr val="33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253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87BDE424-1E58-9848-B0E7-5DB0371E3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Symmetric Multiprocessing Architecture</a:t>
            </a:r>
          </a:p>
        </p:txBody>
      </p:sp>
      <p:pic>
        <p:nvPicPr>
          <p:cNvPr id="50178" name="Picture 2">
            <a:extLst>
              <a:ext uri="{FF2B5EF4-FFF2-40B4-BE49-F238E27FC236}">
                <a16:creationId xmlns:a16="http://schemas.microsoft.com/office/drawing/2014/main" id="{7D538832-0CFE-3247-8650-DEB206B86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168" y="1841326"/>
            <a:ext cx="6189812" cy="4675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526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5A90C9B8-4AFE-B745-8211-38B5E163AC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A Dual-Core Design</a:t>
            </a:r>
          </a:p>
        </p:txBody>
      </p:sp>
      <p:sp>
        <p:nvSpPr>
          <p:cNvPr id="52226" name="Content Placeholder 1">
            <a:extLst>
              <a:ext uri="{FF2B5EF4-FFF2-40B4-BE49-F238E27FC236}">
                <a16:creationId xmlns:a16="http://schemas.microsoft.com/office/drawing/2014/main" id="{6041F654-7BDE-2C49-91AD-6B0341FABA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707674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/>
              <a:t>Multi-chip and </a:t>
            </a:r>
            <a:r>
              <a:rPr lang="en-US" altLang="en-US" sz="2000" b="1" dirty="0">
                <a:solidFill>
                  <a:srgbClr val="3366FF"/>
                </a:solidFill>
              </a:rPr>
              <a:t>multicore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/>
              <a:t>Systems containing all  chips</a:t>
            </a:r>
            <a:endParaRPr lang="en-US" altLang="en-US" sz="2000" b="1" dirty="0">
              <a:solidFill>
                <a:srgbClr val="3366FF"/>
              </a:solidFill>
            </a:endParaRPr>
          </a:p>
          <a:p>
            <a:pPr lvl="1">
              <a:buFont typeface="Wingdings" pitchFamily="2" charset="2"/>
              <a:buChar char="q"/>
            </a:pPr>
            <a:r>
              <a:rPr lang="en-US" altLang="en-US" sz="2000" dirty="0"/>
              <a:t>Chassis containing multiple separate systems</a:t>
            </a:r>
          </a:p>
          <a:p>
            <a:pPr lvl="1">
              <a:buFont typeface="Wingdings" pitchFamily="2" charset="2"/>
              <a:buChar char="q"/>
            </a:pPr>
            <a:endParaRPr lang="en-US" altLang="en-US" sz="3200" dirty="0"/>
          </a:p>
        </p:txBody>
      </p:sp>
      <p:pic>
        <p:nvPicPr>
          <p:cNvPr id="52227" name="Picture 2">
            <a:extLst>
              <a:ext uri="{FF2B5EF4-FFF2-40B4-BE49-F238E27FC236}">
                <a16:creationId xmlns:a16="http://schemas.microsoft.com/office/drawing/2014/main" id="{FA14F8C4-29A9-3243-B52E-8E0D6BA9E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159" y="3254200"/>
            <a:ext cx="4327131" cy="324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5614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A426FB6E-8902-0C42-A5D2-9B2340F4B7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Clustered Systems</a:t>
            </a:r>
          </a:p>
        </p:txBody>
      </p:sp>
      <p:sp>
        <p:nvSpPr>
          <p:cNvPr id="55298" name="Content Placeholder 2">
            <a:extLst>
              <a:ext uri="{FF2B5EF4-FFF2-40B4-BE49-F238E27FC236}">
                <a16:creationId xmlns:a16="http://schemas.microsoft.com/office/drawing/2014/main" id="{33C49232-746C-A646-B2EB-8E28673C02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759629" cy="465550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Like multiprocessor systems, but multiple systems working together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sharing storage via a </a:t>
            </a:r>
            <a:r>
              <a:rPr lang="en-US" altLang="en-US" b="1" dirty="0">
                <a:solidFill>
                  <a:srgbClr val="3366FF"/>
                </a:solidFill>
              </a:rPr>
              <a:t>storage-area network (SAN)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3366FF"/>
                </a:solidFill>
              </a:rPr>
              <a:t>high-availability</a:t>
            </a:r>
            <a:r>
              <a:rPr lang="en-US" altLang="en-US" b="1" dirty="0"/>
              <a:t> </a:t>
            </a:r>
            <a:r>
              <a:rPr lang="en-US" altLang="en-US" dirty="0"/>
              <a:t>service which survives failures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Asymmetric clustering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has one machine in hot-standby mode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Symmetric clustering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has multiple nodes running applications, monitoring each other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clusters are for </a:t>
            </a:r>
            <a:r>
              <a:rPr lang="en-US" altLang="en-US" b="1" dirty="0">
                <a:solidFill>
                  <a:srgbClr val="3366FF"/>
                </a:solidFill>
              </a:rPr>
              <a:t>high-performance computing (HPC)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Applications must be written to use </a:t>
            </a:r>
            <a:r>
              <a:rPr lang="en-US" altLang="en-US" b="1" dirty="0">
                <a:solidFill>
                  <a:srgbClr val="3366FF"/>
                </a:solidFill>
              </a:rPr>
              <a:t>parallelization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 have</a:t>
            </a:r>
            <a:r>
              <a:rPr lang="en-US" altLang="en-US" b="1" dirty="0">
                <a:solidFill>
                  <a:srgbClr val="3366FF"/>
                </a:solidFill>
              </a:rPr>
              <a:t> distributed lock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DLM</a:t>
            </a:r>
            <a:r>
              <a:rPr lang="en-US" altLang="en-US" dirty="0"/>
              <a:t>) to avoid conflicting operations</a:t>
            </a:r>
          </a:p>
        </p:txBody>
      </p:sp>
    </p:spTree>
    <p:extLst>
      <p:ext uri="{BB962C8B-B14F-4D97-AF65-F5344CB8AC3E}">
        <p14:creationId xmlns:p14="http://schemas.microsoft.com/office/powerpoint/2010/main" val="60694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5F26C661-036E-304F-9838-7ECA02722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Clustered Systems</a:t>
            </a:r>
          </a:p>
        </p:txBody>
      </p:sp>
      <p:pic>
        <p:nvPicPr>
          <p:cNvPr id="57346" name="Picture 2">
            <a:extLst>
              <a:ext uri="{FF2B5EF4-FFF2-40B4-BE49-F238E27FC236}">
                <a16:creationId xmlns:a16="http://schemas.microsoft.com/office/drawing/2014/main" id="{F479AE86-B191-8849-B2F6-1F5472653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337" y="2004672"/>
            <a:ext cx="6693710" cy="412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9268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108795FE-C9D4-774D-97E3-D3B9D0DD3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Operating-System Operations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3C4E2C9C-4DA3-014B-9730-A4E18A1031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707674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Bootstrap program – simple code to initialize the system, load the kernel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Kernel loads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Starts </a:t>
            </a:r>
            <a:r>
              <a:rPr lang="en-US" altLang="en-US" b="1" dirty="0">
                <a:solidFill>
                  <a:srgbClr val="3366FF"/>
                </a:solidFill>
              </a:rPr>
              <a:t>system daemons </a:t>
            </a:r>
            <a:r>
              <a:rPr lang="en-US" altLang="en-US" dirty="0"/>
              <a:t>(services provided outside of the kernel)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Kernel</a:t>
            </a:r>
            <a:r>
              <a:rPr lang="en-US" altLang="en-US" b="1" dirty="0">
                <a:solidFill>
                  <a:srgbClr val="3366FF"/>
                </a:solidFill>
              </a:rPr>
              <a:t> interrupt driven </a:t>
            </a:r>
            <a:r>
              <a:rPr lang="en-US" altLang="en-US" dirty="0"/>
              <a:t>(hardware and software)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Hardware interrupt by one of the devices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Software interrupt (</a:t>
            </a:r>
            <a:r>
              <a:rPr lang="en-US" altLang="en-US" b="1" dirty="0">
                <a:solidFill>
                  <a:srgbClr val="3366FF"/>
                </a:solidFill>
              </a:rPr>
              <a:t>exception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trap):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Software error (e.g., division by zero)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Request for operating system service – </a:t>
            </a:r>
            <a:r>
              <a:rPr lang="en-US" altLang="en-US" b="1" dirty="0">
                <a:solidFill>
                  <a:srgbClr val="3366FF"/>
                </a:solidFill>
              </a:rPr>
              <a:t>system call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Other process problems include infinite loop, processes modifying each other or the operating system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6202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23A73D6E-5475-C34F-99E7-237CB88A2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Multiprogramming and Multitasking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8A16376E-2E63-CC4A-889A-0DA1568E4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9110" y="1870553"/>
            <a:ext cx="8884890" cy="461792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Multiprogramming</a:t>
            </a:r>
            <a:r>
              <a:rPr lang="en-US" altLang="en-US" sz="2000" dirty="0"/>
              <a:t> (</a:t>
            </a:r>
            <a:r>
              <a:rPr lang="en-US" altLang="en-US" sz="2000" b="1" dirty="0">
                <a:solidFill>
                  <a:srgbClr val="3366FF"/>
                </a:solidFill>
              </a:rPr>
              <a:t>Batch system</a:t>
            </a:r>
            <a:r>
              <a:rPr lang="en-US" altLang="en-US" sz="2000" dirty="0"/>
              <a:t>) needed for efficiency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Single user cannot keep CPU and I/O devices busy at all times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Multiprogramming organizes jobs (code and data) so CPU always has one to execute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A subset of total jobs in system is kept in memory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One job selected and run via </a:t>
            </a:r>
            <a:r>
              <a:rPr lang="en-US" altLang="en-US" sz="2000" b="1" dirty="0">
                <a:solidFill>
                  <a:srgbClr val="3366FF"/>
                </a:solidFill>
              </a:rPr>
              <a:t>job scheduling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When it has to wait (for I/O for example), OS switches to another job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Timesharing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3366FF"/>
                </a:solidFill>
              </a:rPr>
              <a:t>multitasking</a:t>
            </a:r>
            <a:r>
              <a:rPr lang="en-US" altLang="en-US" sz="2000" dirty="0"/>
              <a:t>)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logical extension in which CPU switches jobs so frequently that users can interact with each job while it is running, creating </a:t>
            </a:r>
            <a:r>
              <a:rPr lang="en-US" altLang="en-US" sz="2000" b="1" dirty="0">
                <a:solidFill>
                  <a:srgbClr val="3366FF"/>
                </a:solidFill>
              </a:rPr>
              <a:t>interactive</a:t>
            </a:r>
            <a:r>
              <a:rPr lang="en-US" altLang="en-US" sz="2000" dirty="0"/>
              <a:t> computing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</a:rPr>
              <a:t>Response time </a:t>
            </a:r>
            <a:r>
              <a:rPr lang="en-US" altLang="en-US" sz="2000" dirty="0"/>
              <a:t>should be &lt; 1 second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/>
              <a:t>Each user has at least one program executing in memory </a:t>
            </a:r>
            <a:r>
              <a:rPr lang="en-US" altLang="en-US" sz="2000" dirty="0">
                <a:sym typeface="Wingdings 3" pitchFamily="2" charset="2"/>
              </a:rPr>
              <a:t></a:t>
            </a: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process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>
                <a:sym typeface="Wingdings 3" pitchFamily="2" charset="2"/>
              </a:rPr>
              <a:t>If several jobs ready to run at the same time  </a:t>
            </a: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CPU scheduling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dirty="0">
                <a:sym typeface="Wingdings 3" pitchFamily="2" charset="2"/>
              </a:rPr>
              <a:t>If processes doesn't</a:t>
            </a:r>
            <a:r>
              <a:rPr lang="en-US" altLang="ja-JP" sz="2000" dirty="0">
                <a:sym typeface="Wingdings 3" pitchFamily="2" charset="2"/>
              </a:rPr>
              <a:t> fit in memory, </a:t>
            </a:r>
            <a:r>
              <a:rPr lang="en-US" altLang="ja-JP" sz="2000" b="1" dirty="0">
                <a:solidFill>
                  <a:srgbClr val="3366FF"/>
                </a:solidFill>
                <a:sym typeface="Wingdings 3" pitchFamily="2" charset="2"/>
              </a:rPr>
              <a:t>swapping</a:t>
            </a:r>
            <a:r>
              <a:rPr lang="en-US" altLang="ja-JP" sz="2000" dirty="0">
                <a:sym typeface="Wingdings 3" pitchFamily="2" charset="2"/>
              </a:rPr>
              <a:t> moves them in and out to run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sz="2000" b="1" dirty="0">
                <a:solidFill>
                  <a:srgbClr val="3366FF"/>
                </a:solidFill>
                <a:sym typeface="Wingdings 3" pitchFamily="2" charset="2"/>
              </a:rPr>
              <a:t>Virtual memory </a:t>
            </a:r>
            <a:r>
              <a:rPr lang="en-US" altLang="en-US" sz="2000" dirty="0">
                <a:sym typeface="Wingdings 3" pitchFamily="2" charset="2"/>
              </a:rPr>
              <a:t>allows execution of processes not completely in memory</a:t>
            </a:r>
          </a:p>
        </p:txBody>
      </p:sp>
    </p:spTree>
    <p:extLst>
      <p:ext uri="{BB962C8B-B14F-4D97-AF65-F5344CB8AC3E}">
        <p14:creationId xmlns:p14="http://schemas.microsoft.com/office/powerpoint/2010/main" val="267991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E851B7BB-B608-6344-A291-2DD272508A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200" dirty="0"/>
              <a:t>Memory Layout for Multiprogrammed System</a:t>
            </a:r>
          </a:p>
        </p:txBody>
      </p:sp>
      <p:pic>
        <p:nvPicPr>
          <p:cNvPr id="63490" name="Picture 2">
            <a:extLst>
              <a:ext uri="{FF2B5EF4-FFF2-40B4-BE49-F238E27FC236}">
                <a16:creationId xmlns:a16="http://schemas.microsoft.com/office/drawing/2014/main" id="{D8F96091-87BE-364D-B720-D083DB48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586" y="1878903"/>
            <a:ext cx="2720898" cy="445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0319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6F6EC4D4-FDCE-AB4D-8A52-C188BDAEC2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Dual-mode and Multimode Operation</a:t>
            </a:r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7C1F1C00-181B-F04B-B10B-E0CA20C7BE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445509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Dual-mode </a:t>
            </a:r>
            <a:r>
              <a:rPr lang="en-US" altLang="en-US" dirty="0"/>
              <a:t>operation allows OS to protect itself and other system components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User mode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3366FF"/>
                </a:solidFill>
              </a:rPr>
              <a:t>kernel mode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Mode bit </a:t>
            </a:r>
            <a:r>
              <a:rPr lang="en-US" altLang="en-US" dirty="0"/>
              <a:t>provided by hardware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Provides ability to distinguish when system is running user code or kernel code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Some instructions designated as </a:t>
            </a:r>
            <a:r>
              <a:rPr lang="en-US" altLang="en-US" b="1" dirty="0">
                <a:solidFill>
                  <a:srgbClr val="3366FF"/>
                </a:solidFill>
              </a:rPr>
              <a:t>privileged</a:t>
            </a:r>
            <a:r>
              <a:rPr lang="en-US" altLang="en-US" dirty="0"/>
              <a:t>, only executable in kernel mode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System call changes mode to kernel, return from call resets it to user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Increasingly CPUs support multi-mode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en-US" dirty="0"/>
              <a:t>i.e. </a:t>
            </a:r>
            <a:r>
              <a:rPr lang="en-US" altLang="en-US" b="1" dirty="0">
                <a:solidFill>
                  <a:srgbClr val="3366FF"/>
                </a:solidFill>
              </a:rPr>
              <a:t>virtual machine manager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VMM</a:t>
            </a:r>
            <a:r>
              <a:rPr lang="en-US" altLang="en-US" dirty="0"/>
              <a:t>) mode for guest </a:t>
            </a:r>
            <a:r>
              <a:rPr lang="en-US" altLang="en-US" b="1" dirty="0">
                <a:solidFill>
                  <a:srgbClr val="3366FF"/>
                </a:solidFill>
              </a:rPr>
              <a:t>VMs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</a:pPr>
            <a:endParaRPr lang="en-US" altLang="en-US" sz="1333" dirty="0"/>
          </a:p>
        </p:txBody>
      </p:sp>
    </p:spTree>
    <p:extLst>
      <p:ext uri="{BB962C8B-B14F-4D97-AF65-F5344CB8AC3E}">
        <p14:creationId xmlns:p14="http://schemas.microsoft.com/office/powerpoint/2010/main" val="3519631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5B51BE0E-98DB-2D4C-80F7-AA6AFB5BA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Transition from User to Kernel Mode</a:t>
            </a:r>
          </a:p>
        </p:txBody>
      </p:sp>
      <p:sp>
        <p:nvSpPr>
          <p:cNvPr id="67586" name="Rectangle 4">
            <a:extLst>
              <a:ext uri="{FF2B5EF4-FFF2-40B4-BE49-F238E27FC236}">
                <a16:creationId xmlns:a16="http://schemas.microsoft.com/office/drawing/2014/main" id="{E18F500D-EAEF-8446-82EA-B8C8726248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4" y="1787236"/>
            <a:ext cx="8574086" cy="48075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Timer to prevent infinite loop / process hogging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Timer is set to interrupt the computer after some time period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Keep a counter that is decremented by the physical clock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Operating system set the counter (privileged instruction)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When counter zero generate an interrupt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Set up before scheduling process to regain control or terminate program that exceeds allotted time</a:t>
            </a:r>
          </a:p>
        </p:txBody>
      </p:sp>
    </p:spTree>
    <p:extLst>
      <p:ext uri="{BB962C8B-B14F-4D97-AF65-F5344CB8AC3E}">
        <p14:creationId xmlns:p14="http://schemas.microsoft.com/office/powerpoint/2010/main" val="1088709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5B51BE0E-98DB-2D4C-80F7-AA6AFB5BA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Transition from User to Kernel Mode</a:t>
            </a:r>
          </a:p>
        </p:txBody>
      </p:sp>
      <p:pic>
        <p:nvPicPr>
          <p:cNvPr id="67587" name="Picture 2">
            <a:extLst>
              <a:ext uri="{FF2B5EF4-FFF2-40B4-BE49-F238E27FC236}">
                <a16:creationId xmlns:a16="http://schemas.microsoft.com/office/drawing/2014/main" id="{21DE3228-82BD-8D4F-AA28-C01459AEE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9974" y="2647647"/>
            <a:ext cx="6939418" cy="25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8351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0E603B29-58FB-BC4B-8B7D-F10163F630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Management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F3B9BE2C-AEC0-4347-B548-DA7BB7587F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70364"/>
            <a:ext cx="8574087" cy="468283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 process is a program in execution. It is a unit of work within the system. Program is a </a:t>
            </a:r>
            <a:r>
              <a:rPr lang="en-US" altLang="en-US" b="1" i="1" dirty="0"/>
              <a:t>passive entity</a:t>
            </a:r>
            <a:r>
              <a:rPr lang="en-US" altLang="en-US" dirty="0"/>
              <a:t>, process is </a:t>
            </a:r>
            <a:r>
              <a:rPr lang="en-US" altLang="en-US" dirty="0">
                <a:solidFill>
                  <a:srgbClr val="000000"/>
                </a:solidFill>
              </a:rPr>
              <a:t>an </a:t>
            </a:r>
            <a:r>
              <a:rPr lang="en-US" altLang="en-US" b="1" i="1" dirty="0">
                <a:solidFill>
                  <a:srgbClr val="000000"/>
                </a:solidFill>
              </a:rPr>
              <a:t>active entity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needs resources to accomplish its task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CPU, memory, I/O, files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Initialization data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termination requires reclaim of any reusable resources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Single-threaded process has one </a:t>
            </a:r>
            <a:r>
              <a:rPr lang="en-US" altLang="en-US" b="1" dirty="0">
                <a:solidFill>
                  <a:srgbClr val="3366FF"/>
                </a:solidFill>
              </a:rPr>
              <a:t>program counter</a:t>
            </a:r>
            <a:r>
              <a:rPr lang="en-US" altLang="en-US" sz="1667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specifying location of next instruction to execute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Process executes instructions sequentially, one at a time, until completion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Multi-threaded process has one program counter per thread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Typically system has many processes, some user, some operating system running concurrently on one or more CPUs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Concurrency by multiplexing the CPUs among the processes / threads</a:t>
            </a:r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641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>
            <a:extLst>
              <a:ext uri="{FF2B5EF4-FFF2-40B4-BE49-F238E27FC236}">
                <a16:creationId xmlns:a16="http://schemas.microsoft.com/office/drawing/2014/main" id="{AC337685-E822-BA42-9712-E81FC156E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Process Management Activities</a:t>
            </a:r>
          </a:p>
        </p:txBody>
      </p:sp>
      <p:sp>
        <p:nvSpPr>
          <p:cNvPr id="71682" name="Rectangle 3">
            <a:extLst>
              <a:ext uri="{FF2B5EF4-FFF2-40B4-BE49-F238E27FC236}">
                <a16:creationId xmlns:a16="http://schemas.microsoft.com/office/drawing/2014/main" id="{72546C89-E47D-7341-81A5-D9EF7521CD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2008910"/>
            <a:ext cx="8574087" cy="4336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The operating system is responsible for the following activities in connection with process management: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Creating and deleting both user and system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Suspending and resuming processes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process synchronization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process communication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Providing mechanisms for deadlock handling</a:t>
            </a:r>
          </a:p>
        </p:txBody>
      </p:sp>
    </p:spTree>
    <p:extLst>
      <p:ext uri="{BB962C8B-B14F-4D97-AF65-F5344CB8AC3E}">
        <p14:creationId xmlns:p14="http://schemas.microsoft.com/office/powerpoint/2010/main" val="2258352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>
            <a:extLst>
              <a:ext uri="{FF2B5EF4-FFF2-40B4-BE49-F238E27FC236}">
                <a16:creationId xmlns:a16="http://schemas.microsoft.com/office/drawing/2014/main" id="{5C5EF227-2B21-134D-945A-996AA55E9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Memory Management</a:t>
            </a:r>
          </a:p>
        </p:txBody>
      </p:sp>
      <p:sp>
        <p:nvSpPr>
          <p:cNvPr id="73730" name="Rectangle 3">
            <a:extLst>
              <a:ext uri="{FF2B5EF4-FFF2-40B4-BE49-F238E27FC236}">
                <a16:creationId xmlns:a16="http://schemas.microsoft.com/office/drawing/2014/main" id="{03ABB2CF-21DC-AA4B-88BA-FBDC9B0FA9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11928"/>
            <a:ext cx="8574087" cy="45165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To execute a program all (or part) of the instructions must be in memory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All  (or part) of the data that is needed by the program must be in memory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Memory management determines what is in memory and when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Optimizing CPU utilization and computer response to users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Memory management activities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Keeping track of which parts of memory are currently being used and by whom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Deciding which processes (or parts thereof) and data to move into and out of memory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Allocating and deallocating memory space as needed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193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9EEA98BC-1F57-044F-8266-178383D464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File-system Management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81F4C4CD-8CCD-1240-A45C-221BA1F410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828800"/>
            <a:ext cx="8574087" cy="47521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OS provides uniform, logical view of information storage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Abstracts physical properties to logical storage unit  - </a:t>
            </a:r>
            <a:r>
              <a:rPr lang="en-US" altLang="en-US" b="1" dirty="0">
                <a:solidFill>
                  <a:srgbClr val="3366FF"/>
                </a:solidFill>
              </a:rPr>
              <a:t>file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Each medium is controlled by device (i.e., disk drive, tape drive)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Varying properties include access speed, capacity, data-transfer rate, access method (sequential or random)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endParaRPr lang="en-US" altLang="en-US" sz="667" dirty="0"/>
          </a:p>
          <a:p>
            <a:pPr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File-System management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Files usually organized into directories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Access control on most systems to determine who can access what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OS activities include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Creating and deleting files and directories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Primitives to manipulate files and directories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Mapping files onto secondary storage</a:t>
            </a:r>
          </a:p>
          <a:p>
            <a:pPr lvl="2">
              <a:lnSpc>
                <a:spcPct val="90000"/>
              </a:lnSpc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Backup files onto stable (non-volatile) storage media</a:t>
            </a:r>
          </a:p>
        </p:txBody>
      </p:sp>
    </p:spTree>
    <p:extLst>
      <p:ext uri="{BB962C8B-B14F-4D97-AF65-F5344CB8AC3E}">
        <p14:creationId xmlns:p14="http://schemas.microsoft.com/office/powerpoint/2010/main" val="1178802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4927F283-055A-BB43-A8DD-FC72C01ED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Caching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D9D62F99-F266-194E-802D-0A7BAC5B3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4163" y="1911927"/>
            <a:ext cx="8574087" cy="465512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Important principle, performed at many levels in a computer (in hardware, operating system, software)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Information in use copied from slower to faster storage temporarily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Faster storage (cache) checked first to determine if information is there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If it is, information used directly from the cache (fast)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If not, data copied to cache and used there</a:t>
            </a:r>
            <a:endParaRPr lang="en-US" altLang="en-US" sz="667" dirty="0"/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smaller than storage being cached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management important design problem</a:t>
            </a:r>
          </a:p>
          <a:p>
            <a:pPr lvl="1">
              <a:spcBef>
                <a:spcPts val="0"/>
              </a:spcBef>
              <a:buFont typeface="Wingdings" pitchFamily="2" charset="2"/>
              <a:buChar char="q"/>
            </a:pPr>
            <a:r>
              <a:rPr lang="en-US" altLang="en-US" dirty="0"/>
              <a:t>Cache size and replacement policy</a:t>
            </a:r>
          </a:p>
          <a:p>
            <a:pPr>
              <a:spcBef>
                <a:spcPts val="0"/>
              </a:spcBef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99807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176</TotalTime>
  <Words>1490</Words>
  <Application>Microsoft Office PowerPoint</Application>
  <PresentationFormat>On-screen Show (4:3)</PresentationFormat>
  <Paragraphs>193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Corbel</vt:lpstr>
      <vt:lpstr>Georgia</vt:lpstr>
      <vt:lpstr>Times New Roman</vt:lpstr>
      <vt:lpstr>Verdana</vt:lpstr>
      <vt:lpstr>Wingdings</vt:lpstr>
      <vt:lpstr>Wingdings 3</vt:lpstr>
      <vt:lpstr>Spectrum</vt:lpstr>
      <vt:lpstr>Operating System Concepts (cont’d) </vt:lpstr>
      <vt:lpstr>Lecture Outline</vt:lpstr>
      <vt:lpstr>I/O Structure</vt:lpstr>
      <vt:lpstr>Storage Structure</vt:lpstr>
      <vt:lpstr>Storage Hierarchy</vt:lpstr>
      <vt:lpstr>Storage-Device Hierarchy</vt:lpstr>
      <vt:lpstr>How a Modern Computer Works</vt:lpstr>
      <vt:lpstr>Direct Memory Access Structure</vt:lpstr>
      <vt:lpstr>Computer-System Architecture</vt:lpstr>
      <vt:lpstr>Symmetric Multiprocessing Architecture</vt:lpstr>
      <vt:lpstr>A Dual-Core Design</vt:lpstr>
      <vt:lpstr>Clustered Systems</vt:lpstr>
      <vt:lpstr>Clustered Systems</vt:lpstr>
      <vt:lpstr>Operating-System Operations</vt:lpstr>
      <vt:lpstr>Multiprogramming and Multitasking</vt:lpstr>
      <vt:lpstr>Memory Layout for Multiprogrammed System</vt:lpstr>
      <vt:lpstr>Dual-mode and Multimode Operation</vt:lpstr>
      <vt:lpstr>Transition from User to Kernel Mode</vt:lpstr>
      <vt:lpstr>Transition from User to Kernel Mode</vt:lpstr>
      <vt:lpstr>Process Management</vt:lpstr>
      <vt:lpstr>Process Management Activities</vt:lpstr>
      <vt:lpstr>Memory Management</vt:lpstr>
      <vt:lpstr>File-system Management</vt:lpstr>
      <vt:lpstr>Caching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26</cp:revision>
  <dcterms:created xsi:type="dcterms:W3CDTF">2018-12-10T17:20:29Z</dcterms:created>
  <dcterms:modified xsi:type="dcterms:W3CDTF">2026-02-08T12:08:25Z</dcterms:modified>
</cp:coreProperties>
</file>