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A4594D79-7C96-4DDA-89A7-6BB6A7AE46EA}"/>
    <pc:docChg chg="undo custSel modSld">
      <pc:chgData name="SYEDA ANIKA TASNIM" userId="8fb70a1d-16e3-4c86-a699-7b87e9bfa60b" providerId="ADAL" clId="{A4594D79-7C96-4DDA-89A7-6BB6A7AE46EA}" dt="2020-07-19T09:17:46.299" v="342" actId="20577"/>
      <pc:docMkLst>
        <pc:docMk/>
      </pc:docMkLst>
      <pc:sldChg chg="modSp mod">
        <pc:chgData name="SYEDA ANIKA TASNIM" userId="8fb70a1d-16e3-4c86-a699-7b87e9bfa60b" providerId="ADAL" clId="{A4594D79-7C96-4DDA-89A7-6BB6A7AE46EA}" dt="2020-07-19T09:17:46.299" v="342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A4594D79-7C96-4DDA-89A7-6BB6A7AE46EA}" dt="2020-07-19T09:17:46.299" v="34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A4594D79-7C96-4DDA-89A7-6BB6A7AE46EA}" dt="2020-07-17T16:01:31.435" v="10" actId="20577"/>
        <pc:sldMkLst>
          <pc:docMk/>
          <pc:sldMk cId="542991971" sldId="276"/>
        </pc:sldMkLst>
        <pc:spChg chg="mod">
          <ac:chgData name="SYEDA ANIKA TASNIM" userId="8fb70a1d-16e3-4c86-a699-7b87e9bfa60b" providerId="ADAL" clId="{A4594D79-7C96-4DDA-89A7-6BB6A7AE46EA}" dt="2020-07-17T16:01:31.435" v="10" actId="20577"/>
          <ac:spMkLst>
            <pc:docMk/>
            <pc:sldMk cId="542991971" sldId="276"/>
            <ac:spMk id="27651" creationId="{00000000-0000-0000-0000-000000000000}"/>
          </ac:spMkLst>
        </pc:spChg>
      </pc:sldChg>
      <pc:sldChg chg="modSp mod">
        <pc:chgData name="SYEDA ANIKA TASNIM" userId="8fb70a1d-16e3-4c86-a699-7b87e9bfa60b" providerId="ADAL" clId="{A4594D79-7C96-4DDA-89A7-6BB6A7AE46EA}" dt="2020-07-18T05:47:37.772" v="127" actId="20577"/>
        <pc:sldMkLst>
          <pc:docMk/>
          <pc:sldMk cId="1609436057" sldId="279"/>
        </pc:sldMkLst>
        <pc:spChg chg="mod">
          <ac:chgData name="SYEDA ANIKA TASNIM" userId="8fb70a1d-16e3-4c86-a699-7b87e9bfa60b" providerId="ADAL" clId="{A4594D79-7C96-4DDA-89A7-6BB6A7AE46EA}" dt="2020-07-18T05:47:37.772" v="127" actId="20577"/>
          <ac:spMkLst>
            <pc:docMk/>
            <pc:sldMk cId="1609436057" sldId="279"/>
            <ac:spMk id="21507" creationId="{00000000-0000-0000-0000-000000000000}"/>
          </ac:spMkLst>
        </pc:spChg>
      </pc:sldChg>
      <pc:sldChg chg="modSp mod">
        <pc:chgData name="SYEDA ANIKA TASNIM" userId="8fb70a1d-16e3-4c86-a699-7b87e9bfa60b" providerId="ADAL" clId="{A4594D79-7C96-4DDA-89A7-6BB6A7AE46EA}" dt="2020-07-18T05:51:07.820" v="209" actId="20577"/>
        <pc:sldMkLst>
          <pc:docMk/>
          <pc:sldMk cId="1515103864" sldId="282"/>
        </pc:sldMkLst>
        <pc:spChg chg="mod">
          <ac:chgData name="SYEDA ANIKA TASNIM" userId="8fb70a1d-16e3-4c86-a699-7b87e9bfa60b" providerId="ADAL" clId="{A4594D79-7C96-4DDA-89A7-6BB6A7AE46EA}" dt="2020-07-18T05:51:07.820" v="209" actId="20577"/>
          <ac:spMkLst>
            <pc:docMk/>
            <pc:sldMk cId="1515103864" sldId="282"/>
            <ac:spMk id="27651" creationId="{00000000-0000-0000-0000-000000000000}"/>
          </ac:spMkLst>
        </pc:spChg>
      </pc:sldChg>
      <pc:sldChg chg="modSp mod">
        <pc:chgData name="SYEDA ANIKA TASNIM" userId="8fb70a1d-16e3-4c86-a699-7b87e9bfa60b" providerId="ADAL" clId="{A4594D79-7C96-4DDA-89A7-6BB6A7AE46EA}" dt="2020-07-18T06:13:37.498" v="285" actId="20577"/>
        <pc:sldMkLst>
          <pc:docMk/>
          <pc:sldMk cId="2469925789" sldId="286"/>
        </pc:sldMkLst>
        <pc:spChg chg="mod">
          <ac:chgData name="SYEDA ANIKA TASNIM" userId="8fb70a1d-16e3-4c86-a699-7b87e9bfa60b" providerId="ADAL" clId="{A4594D79-7C96-4DDA-89A7-6BB6A7AE46EA}" dt="2020-07-18T06:13:37.498" v="285" actId="20577"/>
          <ac:spMkLst>
            <pc:docMk/>
            <pc:sldMk cId="2469925789" sldId="286"/>
            <ac:spMk id="19459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4696AB21-5CB9-490A-97AF-303622703C56}"/>
    <pc:docChg chg="modSld">
      <pc:chgData name="SYEDA ANIKA TASNIM" userId="8fb70a1d-16e3-4c86-a699-7b87e9bfa60b" providerId="ADAL" clId="{4696AB21-5CB9-490A-97AF-303622703C56}" dt="2020-10-31T03:15:45.791" v="23" actId="20577"/>
      <pc:docMkLst>
        <pc:docMk/>
      </pc:docMkLst>
      <pc:sldChg chg="modSp mod">
        <pc:chgData name="SYEDA ANIKA TASNIM" userId="8fb70a1d-16e3-4c86-a699-7b87e9bfa60b" providerId="ADAL" clId="{4696AB21-5CB9-490A-97AF-303622703C56}" dt="2020-10-31T03:15:45.791" v="2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4696AB21-5CB9-490A-97AF-303622703C56}" dt="2020-10-31T03:15:45.791" v="2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9461B953-EF95-41F4-A725-637613BA8321}"/>
    <pc:docChg chg="custSel modSld">
      <pc:chgData name="SYEDA ANIKA TASNIM" userId="8fb70a1d-16e3-4c86-a699-7b87e9bfa60b" providerId="ADAL" clId="{9461B953-EF95-41F4-A725-637613BA8321}" dt="2021-10-03T15:49:05.322" v="0" actId="33524"/>
      <pc:docMkLst>
        <pc:docMk/>
      </pc:docMkLst>
      <pc:sldChg chg="modSp mod">
        <pc:chgData name="SYEDA ANIKA TASNIM" userId="8fb70a1d-16e3-4c86-a699-7b87e9bfa60b" providerId="ADAL" clId="{9461B953-EF95-41F4-A725-637613BA8321}" dt="2021-10-03T15:49:05.322" v="0" actId="33524"/>
        <pc:sldMkLst>
          <pc:docMk/>
          <pc:sldMk cId="542991971" sldId="276"/>
        </pc:sldMkLst>
        <pc:spChg chg="mod">
          <ac:chgData name="SYEDA ANIKA TASNIM" userId="8fb70a1d-16e3-4c86-a699-7b87e9bfa60b" providerId="ADAL" clId="{9461B953-EF95-41F4-A725-637613BA8321}" dt="2021-10-03T15:49:05.322" v="0" actId="33524"/>
          <ac:spMkLst>
            <pc:docMk/>
            <pc:sldMk cId="542991971" sldId="276"/>
            <ac:spMk id="27651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7867A1F-CDA5-438A-B49D-E718E7CA7771}"/>
    <pc:docChg chg="modSld">
      <pc:chgData name="SYEDA ANIKA TASNIM" userId="8fb70a1d-16e3-4c86-a699-7b87e9bfa60b" providerId="ADAL" clId="{C7867A1F-CDA5-438A-B49D-E718E7CA7771}" dt="2021-10-04T01:59:43.286" v="3" actId="20577"/>
      <pc:docMkLst>
        <pc:docMk/>
      </pc:docMkLst>
      <pc:sldChg chg="modSp mod">
        <pc:chgData name="SYEDA ANIKA TASNIM" userId="8fb70a1d-16e3-4c86-a699-7b87e9bfa60b" providerId="ADAL" clId="{C7867A1F-CDA5-438A-B49D-E718E7CA7771}" dt="2021-10-04T01:59:43.286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7867A1F-CDA5-438A-B49D-E718E7CA7771}" dt="2021-10-04T01:59:43.286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D9A475-44EA-4441-AAA1-0487C94B0670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0CC773-C317-49AE-923F-D11706D4F319}" type="slidenum">
              <a:rPr lang="en-US" altLang="en-US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1B9FF16-3E4D-46FB-A183-C7385F1CB08A}" type="slidenum">
              <a:rPr lang="en-US" altLang="en-US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30B7B81-6003-4724-8969-ADE303B7CE9B}" type="slidenum">
              <a:rPr lang="en-US" altLang="en-US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60DF40D-2884-46B0-8B4F-3556764DC764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A6F1A8C-83BE-4066-BD6A-1D42C821E108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CDFF68-C980-4467-8BD4-513950C19742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47C7F8-6880-4505-94E9-18FA2B33E176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F7BD8A0-515D-490B-AAAD-398F2BC7039D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562B0CB-D559-4F76-BF52-B03C8413B55F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5D22E61-82A9-4DD6-9502-3FAF692B98B5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4C9A83A-5FB2-4975-AA8C-E568E280FE96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4F18C6-2B38-4F87-9FFF-0299D7747CAE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F0827A-D7D6-46B4-A378-B795C7CAB1A8}" type="slidenum">
              <a:rPr lang="en-US" altLang="en-US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0EA47AA-38D3-447C-8C19-72E027AEB5AA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04526D-4BF5-4012-9A0A-191AFB226365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58E55A-3B72-4809-9359-3F00A60987BA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540EEC-93CE-44AB-A57C-CC970A8D6B63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4286EF6-8F10-41B9-8833-DD61F2B8C5C2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F850618-ABCC-4B80-90F4-73497C16370D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CPU Scheduling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050359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0613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8437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Basic Concepts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Scheduling Criteria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Scheduling Algorithms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Basic Concepts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2024062"/>
            <a:ext cx="6223455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Maximum CPU utilization obtained with multiprogramming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CPU–I/O Burst Cycle – Process execution consists of a </a:t>
            </a:r>
            <a:r>
              <a:rPr lang="en-US" altLang="en-US" b="1" dirty="0">
                <a:solidFill>
                  <a:srgbClr val="3366FF"/>
                </a:solidFill>
              </a:rPr>
              <a:t>cycle</a:t>
            </a:r>
            <a:r>
              <a:rPr lang="en-US" altLang="en-US" dirty="0"/>
              <a:t> of CPU execution and I/O wait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CPU burst </a:t>
            </a:r>
            <a:r>
              <a:rPr lang="en-US" altLang="en-US" dirty="0"/>
              <a:t>followed by </a:t>
            </a:r>
            <a:r>
              <a:rPr lang="en-US" altLang="en-US" b="1" dirty="0">
                <a:solidFill>
                  <a:srgbClr val="3366FF"/>
                </a:solidFill>
              </a:rPr>
              <a:t>I/O burst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CPU burst distribution is of main concern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1126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619" y="1886321"/>
            <a:ext cx="2350631" cy="437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927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Histogram of CPU-burst Times</a:t>
            </a: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284163" y="1912698"/>
            <a:ext cx="37258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dirty="0">
                <a:latin typeface="Verdana" pitchFamily="34" charset="0"/>
              </a:rPr>
              <a:t>Large number of short bursts</a:t>
            </a:r>
          </a:p>
          <a:p>
            <a:endParaRPr kumimoji="0" lang="en-US" altLang="en-US" dirty="0">
              <a:latin typeface="Verdana" pitchFamily="34" charset="0"/>
            </a:endParaRPr>
          </a:p>
          <a:p>
            <a:r>
              <a:rPr kumimoji="0" lang="en-US" altLang="en-US" dirty="0">
                <a:latin typeface="Verdana" pitchFamily="34" charset="0"/>
              </a:rPr>
              <a:t>Small number of longer bursts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976" y="3018294"/>
            <a:ext cx="4922837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26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The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CPU scheduler </a:t>
            </a:r>
            <a:r>
              <a:rPr lang="en-US" dirty="0">
                <a:ea typeface="ＭＳ Ｐゴシック" charset="-128"/>
                <a:cs typeface="ＭＳ Ｐゴシック" charset="-128"/>
              </a:rPr>
              <a:t>selects from among the processes in ready queue, and allocates a CPU core to one of them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Queue may be ordered in various ways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CPU scheduling decisions may take place when a process: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Switches from running to waiting state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Switches from running to ready state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Switches from waiting to ready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Terminates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Scheduling under 1 and 4 is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All other scheduling is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Consider access to shared data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Consider preemption while in kernel mode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Consider interrupts occurring during crucial OS activities</a:t>
            </a:r>
          </a:p>
        </p:txBody>
      </p:sp>
    </p:spTree>
    <p:extLst>
      <p:ext uri="{BB962C8B-B14F-4D97-AF65-F5344CB8AC3E}">
        <p14:creationId xmlns:p14="http://schemas.microsoft.com/office/powerpoint/2010/main" val="54299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Scheduling Criteria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CPU utilization </a:t>
            </a:r>
            <a:r>
              <a:rPr lang="en-US" altLang="en-US" dirty="0"/>
              <a:t>– keep the CPU as busy as possible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Throughput</a:t>
            </a:r>
            <a:r>
              <a:rPr lang="en-US" altLang="en-US" dirty="0"/>
              <a:t> – # of processes that complete their execution per time unit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Turnaround time </a:t>
            </a:r>
            <a:r>
              <a:rPr lang="en-US" altLang="en-US" dirty="0"/>
              <a:t>– amount of time to execute a particular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Completion time-Arrival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Waiting time </a:t>
            </a:r>
            <a:r>
              <a:rPr lang="en-US" altLang="en-US" dirty="0"/>
              <a:t>– amount of time a process has been waiting in the ready queue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Response time </a:t>
            </a:r>
            <a:r>
              <a:rPr lang="en-US" altLang="en-US" dirty="0"/>
              <a:t>– amount of time it takes from when a request was submitted until the first response is produced, not output  (for time-sharing environment)</a:t>
            </a:r>
          </a:p>
        </p:txBody>
      </p:sp>
    </p:spTree>
    <p:extLst>
      <p:ext uri="{BB962C8B-B14F-4D97-AF65-F5344CB8AC3E}">
        <p14:creationId xmlns:p14="http://schemas.microsoft.com/office/powerpoint/2010/main" val="287315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Scheduling Algorithm Optimization Criteria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 CPU utilization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Max throughput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Min turnaround time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Min waiting time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Min response time</a:t>
            </a:r>
          </a:p>
        </p:txBody>
      </p:sp>
    </p:spTree>
    <p:extLst>
      <p:ext uri="{BB962C8B-B14F-4D97-AF65-F5344CB8AC3E}">
        <p14:creationId xmlns:p14="http://schemas.microsoft.com/office/powerpoint/2010/main" val="255577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 dirty="0"/>
              <a:t>First- Come, First-Served (FCFS) Scheduling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84362"/>
            <a:ext cx="8574087" cy="4856407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100" dirty="0"/>
              <a:t>		</a:t>
            </a:r>
            <a:r>
              <a:rPr lang="en-US" altLang="en-US" sz="1600" u="sng" dirty="0"/>
              <a:t>Process</a:t>
            </a:r>
            <a:r>
              <a:rPr lang="en-US" altLang="en-US" sz="1600" dirty="0"/>
              <a:t>	</a:t>
            </a:r>
            <a:r>
              <a:rPr lang="en-US" altLang="en-US" sz="1600" u="sng" dirty="0"/>
              <a:t>Burst Time	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	24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	3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	 </a:t>
            </a:r>
            <a:r>
              <a:rPr lang="en-US" altLang="en-US" sz="1600" dirty="0"/>
              <a:t>3</a:t>
            </a:r>
            <a:r>
              <a:rPr lang="en-US" altLang="en-US" sz="1600" i="1" baseline="-250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Suppose that the processes arrive in the order: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 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  </a:t>
            </a:r>
            <a:br>
              <a:rPr lang="en-US" altLang="en-US" sz="1600" i="1" baseline="-25000" dirty="0"/>
            </a:br>
            <a:r>
              <a:rPr lang="en-US" altLang="en-US" sz="1600" dirty="0"/>
              <a:t>The Gantt Chart for the schedule is:</a:t>
            </a:r>
            <a:br>
              <a:rPr lang="en-US" altLang="en-US" sz="1600" dirty="0"/>
            </a:br>
            <a:br>
              <a:rPr lang="en-US" altLang="en-US" sz="1100" dirty="0"/>
            </a:br>
            <a:br>
              <a:rPr lang="en-US" altLang="en-US" sz="1100" dirty="0"/>
            </a:br>
            <a:br>
              <a:rPr lang="en-US" altLang="en-US" sz="1100" dirty="0"/>
            </a:br>
            <a:endParaRPr lang="en-US" altLang="en-US" sz="11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Waiting time for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  = 0;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 = 24;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 </a:t>
            </a:r>
            <a:r>
              <a:rPr lang="en-US" altLang="en-US" sz="1600" dirty="0"/>
              <a:t>= 27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Average waiting time:  (0 + 24 + 27)/3 = 17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Turnaround time= waiting time + burst time=(0+24)+(24+3)+(27+3)=81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Average turnaround time=81/3=27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endParaRPr lang="en-US" altLang="en-US" sz="1600" dirty="0"/>
          </a:p>
        </p:txBody>
      </p:sp>
      <p:pic>
        <p:nvPicPr>
          <p:cNvPr id="2150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4268940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43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FCFS Scheduling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Suppose that the processes arrive in the order: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		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2</a:t>
            </a:r>
            <a:r>
              <a:rPr lang="en-US" altLang="en-US" sz="1600" dirty="0">
                <a:cs typeface="ＭＳ Ｐゴシック" charset="-128"/>
              </a:rPr>
              <a:t> ,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3</a:t>
            </a:r>
            <a:r>
              <a:rPr lang="en-US" altLang="en-US" sz="1600" dirty="0">
                <a:cs typeface="ＭＳ Ｐゴシック" charset="-128"/>
              </a:rPr>
              <a:t> ,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1</a:t>
            </a:r>
            <a:r>
              <a:rPr lang="en-US" altLang="en-US" sz="1600" dirty="0">
                <a:cs typeface="ＭＳ Ｐゴシック" charset="-128"/>
              </a:rPr>
              <a:t> 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The Gantt chart for the schedule is:</a:t>
            </a:r>
            <a:br>
              <a:rPr lang="en-US" altLang="en-US" sz="1600" dirty="0">
                <a:cs typeface="ＭＳ Ｐゴシック" charset="-128"/>
              </a:rPr>
            </a:br>
            <a:endParaRPr lang="en-US" altLang="en-US" sz="1600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endParaRPr lang="en-US" altLang="en-US" sz="1600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Waiting time for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1 </a:t>
            </a:r>
            <a:r>
              <a:rPr lang="en-US" altLang="en-US" sz="1600" i="1" dirty="0">
                <a:cs typeface="ＭＳ Ｐゴシック" charset="-128"/>
              </a:rPr>
              <a:t>=</a:t>
            </a:r>
            <a:r>
              <a:rPr lang="en-US" altLang="en-US" sz="1600" dirty="0">
                <a:cs typeface="ＭＳ Ｐゴシック" charset="-128"/>
              </a:rPr>
              <a:t> 6</a:t>
            </a:r>
            <a:r>
              <a:rPr lang="en-US" altLang="en-US" sz="1600" i="1" dirty="0">
                <a:cs typeface="ＭＳ Ｐゴシック" charset="-128"/>
              </a:rPr>
              <a:t>;</a:t>
            </a:r>
            <a:r>
              <a:rPr lang="en-US" altLang="en-US" sz="1600" i="1" baseline="-25000" dirty="0">
                <a:cs typeface="ＭＳ Ｐゴシック" charset="-128"/>
              </a:rPr>
              <a:t>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2</a:t>
            </a:r>
            <a:r>
              <a:rPr lang="en-US" altLang="en-US" sz="1600" dirty="0">
                <a:cs typeface="ＭＳ Ｐゴシック" charset="-128"/>
              </a:rPr>
              <a:t> = 0</a:t>
            </a:r>
            <a:r>
              <a:rPr lang="en-US" altLang="en-US" sz="1600" i="1" baseline="-25000" dirty="0">
                <a:cs typeface="ＭＳ Ｐゴシック" charset="-128"/>
              </a:rPr>
              <a:t>;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3 </a:t>
            </a:r>
            <a:r>
              <a:rPr lang="en-US" altLang="en-US" sz="1600" i="1" dirty="0">
                <a:cs typeface="ＭＳ Ｐゴシック" charset="-128"/>
              </a:rPr>
              <a:t>= </a:t>
            </a:r>
            <a:r>
              <a:rPr lang="en-US" altLang="en-US" sz="1600" dirty="0">
                <a:cs typeface="ＭＳ Ｐゴシック" charset="-128"/>
              </a:rPr>
              <a:t>3</a:t>
            </a:r>
            <a:endParaRPr lang="en-US" altLang="en-US" sz="1600" i="1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Average waiting time:   (6 + 0 + 3)/3 = 3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Much better than previous case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b="1" dirty="0">
                <a:solidFill>
                  <a:srgbClr val="3366FF"/>
                </a:solidFill>
                <a:cs typeface="ＭＳ Ｐゴシック" charset="-128"/>
              </a:rPr>
              <a:t>Convoy effect </a:t>
            </a:r>
            <a:r>
              <a:rPr lang="en-US" altLang="en-US" sz="1600" dirty="0">
                <a:cs typeface="ＭＳ Ｐゴシック" charset="-128"/>
              </a:rPr>
              <a:t>- short process behind long process</a:t>
            </a:r>
          </a:p>
          <a:p>
            <a:pPr lvl="1"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200" dirty="0"/>
              <a:t>Consider one CPU-bound and many I/O-bound processes</a:t>
            </a:r>
          </a:p>
        </p:txBody>
      </p:sp>
      <p:pic>
        <p:nvPicPr>
          <p:cNvPr id="2355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79" y="3436937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251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Associate with each process the length of its next CPU burst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Use these lengths to schedule the process with the shortest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SJF is optimal – gives minimum average waiting time for a given set of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difficulty is knowing the length of the next CPU request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Could ask the user</a:t>
            </a:r>
          </a:p>
        </p:txBody>
      </p:sp>
    </p:spTree>
    <p:extLst>
      <p:ext uri="{BB962C8B-B14F-4D97-AF65-F5344CB8AC3E}">
        <p14:creationId xmlns:p14="http://schemas.microsoft.com/office/powerpoint/2010/main" val="173582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SJF</a:t>
            </a:r>
          </a:p>
        </p:txBody>
      </p:sp>
      <p:sp>
        <p:nvSpPr>
          <p:cNvPr id="27651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4422331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      	                </a:t>
            </a:r>
            <a:r>
              <a:rPr lang="en-US" altLang="en-US" sz="1800" u="sng" dirty="0" err="1"/>
              <a:t>Process</a:t>
            </a:r>
            <a:r>
              <a:rPr lang="en-US" altLang="en-US" sz="1800" u="sng" dirty="0" err="1">
                <a:solidFill>
                  <a:schemeClr val="bg1"/>
                </a:solidFill>
              </a:rPr>
              <a:t>Arriva</a:t>
            </a:r>
            <a:r>
              <a:rPr lang="en-US" altLang="en-US" sz="1800" u="sng" dirty="0">
                <a:solidFill>
                  <a:schemeClr val="bg1"/>
                </a:solidFill>
              </a:rPr>
              <a:t>	l Time</a:t>
            </a:r>
            <a:r>
              <a:rPr lang="en-US" altLang="en-US" sz="1800" dirty="0"/>
              <a:t>	</a:t>
            </a:r>
            <a:r>
              <a:rPr lang="en-US" altLang="en-US" sz="1800" u="sng" dirty="0"/>
              <a:t>Burst Time</a:t>
            </a:r>
            <a:endParaRPr lang="en-US" altLang="en-US" sz="1800" dirty="0"/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chemeClr val="bg1"/>
                </a:solidFill>
              </a:rPr>
              <a:t>0.0</a:t>
            </a:r>
            <a:r>
              <a:rPr lang="en-US" altLang="en-US" sz="1800" dirty="0"/>
              <a:t>	6</a:t>
            </a:r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 	</a:t>
            </a:r>
            <a:r>
              <a:rPr lang="en-US" altLang="en-US" sz="1800" dirty="0">
                <a:solidFill>
                  <a:schemeClr val="bg1"/>
                </a:solidFill>
              </a:rPr>
              <a:t>2.0</a:t>
            </a:r>
            <a:r>
              <a:rPr lang="en-US" altLang="en-US" sz="1800" dirty="0"/>
              <a:t>	8</a:t>
            </a:r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chemeClr val="bg1"/>
                </a:solidFill>
              </a:rPr>
              <a:t>4.0</a:t>
            </a:r>
            <a:r>
              <a:rPr lang="en-US" altLang="en-US" sz="1800" dirty="0"/>
              <a:t>	7</a:t>
            </a:r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4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chemeClr val="bg1"/>
                </a:solidFill>
              </a:rPr>
              <a:t>5.0</a:t>
            </a:r>
            <a:r>
              <a:rPr lang="en-US" altLang="en-US" sz="1800" dirty="0"/>
              <a:t>	3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SJF scheduling chart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Average waiting time = (3 + 16 + 9 + 0) / 4 = 7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Average turnaround time = {(3+6)+(16+8)+(9+7)+(0+3)}/4 = 13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i="1" baseline="-25000" dirty="0"/>
          </a:p>
        </p:txBody>
      </p:sp>
      <p:pic>
        <p:nvPicPr>
          <p:cNvPr id="2765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98" y="4176908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10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4000"/>
              <a:t>Determining Length of Next CPU Burst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Can only estimate the length – should be similar to the previous one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Then pick process with shortest predicted next CPU burst</a:t>
            </a: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Can be done by using the length of previous CPU bursts, using exponential averaging</a:t>
            </a: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Commonly, </a:t>
            </a:r>
            <a:r>
              <a:rPr lang="en-US" altLang="en-US" dirty="0">
                <a:latin typeface="Lucida Grande" pitchFamily="-84" charset="0"/>
                <a:cs typeface="ＭＳ Ｐゴシック" charset="-128"/>
              </a:rPr>
              <a:t>α </a:t>
            </a:r>
            <a:r>
              <a:rPr lang="en-US" altLang="en-US" dirty="0">
                <a:cs typeface="ＭＳ Ｐゴシック" charset="-128"/>
              </a:rPr>
              <a:t>set to ½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Preemptive version called </a:t>
            </a:r>
            <a:r>
              <a:rPr lang="en-US" altLang="en-US" b="1" dirty="0">
                <a:solidFill>
                  <a:srgbClr val="3366FF"/>
                </a:solidFill>
                <a:cs typeface="ＭＳ Ｐゴシック" charset="-128"/>
              </a:rPr>
              <a:t>shortest-remaining-time-first</a:t>
            </a:r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116772"/>
              </p:ext>
            </p:extLst>
          </p:nvPr>
        </p:nvGraphicFramePr>
        <p:xfrm>
          <a:off x="1741619" y="3303980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1778000" progId="Equation.3">
                  <p:embed/>
                </p:oleObj>
              </mc:Choice>
              <mc:Fallback>
                <p:oleObj name="Equation" r:id="rId3" imgW="6400800" imgH="1778000" progId="Equation.3">
                  <p:embed/>
                  <p:pic>
                    <p:nvPicPr>
                      <p:cNvPr id="2970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619" y="3303980"/>
                        <a:ext cx="442753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/>
          <p:cNvGraphicFramePr>
            <a:graphicFrameLocks noChangeAspect="1"/>
          </p:cNvGraphicFramePr>
          <p:nvPr/>
        </p:nvGraphicFramePr>
        <p:xfrm>
          <a:off x="3228975" y="4068763"/>
          <a:ext cx="22225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1536" imgH="317362" progId="Equation.3">
                  <p:embed/>
                </p:oleObj>
              </mc:Choice>
              <mc:Fallback>
                <p:oleObj name="Equation" r:id="rId5" imgW="2221536" imgH="317362" progId="Equation.3">
                  <p:embed/>
                  <p:pic>
                    <p:nvPicPr>
                      <p:cNvPr id="2970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4068763"/>
                        <a:ext cx="22225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04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Prediction of the Length of the Next CPU Burst</a:t>
            </a:r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824" y="1974393"/>
            <a:ext cx="5470525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164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</a:t>
            </a:r>
            <a:r>
              <a:rPr lang="en-US" altLang="en-US" baseline="-25000" dirty="0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 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n</a:t>
            </a:r>
            <a:endParaRPr lang="en-US" altLang="en-US" baseline="-25000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we expand the formula, we get: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+(1</a:t>
            </a:r>
            <a:r>
              <a:rPr lang="en-US" altLang="en-US" i="1" dirty="0">
                <a:sym typeface="Symbol" pitchFamily="18" charset="2"/>
              </a:rPr>
              <a:t> - </a:t>
            </a:r>
            <a:r>
              <a:rPr lang="en-US" altLang="en-US" dirty="0">
                <a:sym typeface="Symbol" pitchFamily="18" charset="2"/>
              </a:rPr>
              <a:t>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-1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j</a:t>
            </a:r>
            <a:r>
              <a:rPr lang="en-US" altLang="en-US" baseline="30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</a:t>
            </a:r>
            <a:r>
              <a:rPr lang="en-US" altLang="en-US" i="1" baseline="-25000" dirty="0">
                <a:sym typeface="Symbol" pitchFamily="18" charset="2"/>
              </a:rPr>
              <a:t>j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n</a:t>
            </a:r>
            <a:r>
              <a:rPr lang="en-US" altLang="en-US" baseline="30000" dirty="0">
                <a:sym typeface="Symbol" pitchFamily="18" charset="2"/>
              </a:rPr>
              <a:t> +1 </a:t>
            </a: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0</a:t>
            </a:r>
            <a:br>
              <a:rPr lang="en-US" altLang="en-US" baseline="-25000" dirty="0">
                <a:sym typeface="Symbol" pitchFamily="18" charset="2"/>
              </a:rPr>
            </a:br>
            <a:endParaRPr lang="en-US" altLang="en-US" baseline="-250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7058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895606"/>
            <a:ext cx="8574087" cy="464587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Now we add the concepts of varying arrival times and preemption to the analysis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        </a:t>
            </a:r>
            <a:r>
              <a:rPr lang="en-US" altLang="en-US" u="sng" dirty="0" err="1">
                <a:cs typeface="ＭＳ Ｐゴシック" charset="-128"/>
              </a:rPr>
              <a:t>Process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A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arri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 </a:t>
            </a:r>
            <a:r>
              <a:rPr lang="en-US" altLang="en-US" i="1" u="sng" dirty="0">
                <a:cs typeface="ＭＳ Ｐゴシック" charset="-128"/>
              </a:rPr>
              <a:t>Arrival </a:t>
            </a:r>
            <a:r>
              <a:rPr lang="en-US" altLang="en-US" u="sng" dirty="0" err="1">
                <a:cs typeface="ＭＳ Ｐゴシック" charset="-128"/>
              </a:rPr>
              <a:t>Time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T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u="sng" dirty="0">
                <a:cs typeface="ＭＳ Ｐゴシック" charset="-128"/>
              </a:rPr>
              <a:t>Burst Time</a:t>
            </a: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0</a:t>
            </a:r>
            <a:r>
              <a:rPr lang="en-US" altLang="en-US" dirty="0">
                <a:cs typeface="ＭＳ Ｐゴシック" charset="-128"/>
              </a:rPr>
              <a:t>	8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 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4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	9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4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5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>
                <a:cs typeface="ＭＳ Ｐゴシック" charset="-128"/>
              </a:rPr>
              <a:t>Preemptive </a:t>
            </a:r>
            <a:r>
              <a:rPr lang="en-US" altLang="en-US" dirty="0">
                <a:cs typeface="ＭＳ Ｐゴシック" charset="-128"/>
              </a:rPr>
              <a:t>SJF Gantt Chart</a:t>
            </a:r>
          </a:p>
          <a:p>
            <a:pPr>
              <a:spcBef>
                <a:spcPts val="500"/>
              </a:spcBef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 = [(10-1)+(1-1)+(17-2)+5-3)]/4 = 26/4 = 6.5 </a:t>
            </a:r>
            <a:r>
              <a:rPr lang="en-US" altLang="en-US" dirty="0" err="1">
                <a:cs typeface="ＭＳ Ｐゴシック" charset="-128"/>
              </a:rPr>
              <a:t>msec</a:t>
            </a: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turnaround time </a:t>
            </a:r>
            <a:r>
              <a:rPr lang="en-US" altLang="en-US">
                <a:cs typeface="ＭＳ Ｐゴシック" charset="-128"/>
              </a:rPr>
              <a:t>= [(9+8)+(0+4)+(15+9)+(2+5)]/4 = 13</a:t>
            </a: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</p:txBody>
      </p:sp>
      <p:pic>
        <p:nvPicPr>
          <p:cNvPr id="3584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41" y="4560235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9925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Round Robin (RR)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gets a small unit of CPU time (</a:t>
            </a:r>
            <a:r>
              <a:rPr lang="en-US" altLang="en-US" b="1" dirty="0">
                <a:solidFill>
                  <a:srgbClr val="3366FF"/>
                </a:solidFill>
              </a:rPr>
              <a:t>time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quantum</a:t>
            </a:r>
            <a:r>
              <a:rPr lang="en-US" altLang="en-US" b="1" dirty="0"/>
              <a:t> </a:t>
            </a:r>
            <a:r>
              <a:rPr lang="en-US" altLang="en-US" i="1" dirty="0"/>
              <a:t>q</a:t>
            </a:r>
            <a:r>
              <a:rPr lang="en-US" altLang="en-US" dirty="0"/>
              <a:t>), usually 10-100 milliseconds.  After this time has elapsed, the process is preempted and added to the end of the ready queue.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there are </a:t>
            </a:r>
            <a:r>
              <a:rPr lang="en-US" altLang="en-US" i="1" dirty="0"/>
              <a:t>n</a:t>
            </a:r>
            <a:r>
              <a:rPr lang="en-US" altLang="en-US" dirty="0"/>
              <a:t> processes in the ready queue and the time quantum is </a:t>
            </a:r>
            <a:r>
              <a:rPr lang="en-US" altLang="en-US" i="1" dirty="0"/>
              <a:t>q</a:t>
            </a:r>
            <a:r>
              <a:rPr lang="en-US" altLang="en-US" dirty="0"/>
              <a:t>, then each process gets 1/</a:t>
            </a:r>
            <a:r>
              <a:rPr lang="en-US" altLang="en-US" i="1" dirty="0"/>
              <a:t>n</a:t>
            </a:r>
            <a:r>
              <a:rPr lang="en-US" altLang="en-US" dirty="0"/>
              <a:t> of the CPU time in chunks of at most </a:t>
            </a:r>
            <a:r>
              <a:rPr lang="en-US" altLang="en-US" i="1" dirty="0"/>
              <a:t>q</a:t>
            </a:r>
            <a:r>
              <a:rPr lang="en-US" altLang="en-US" dirty="0"/>
              <a:t> time units at once.  No process waits more than (</a:t>
            </a:r>
            <a:r>
              <a:rPr lang="en-US" altLang="en-US" i="1" dirty="0"/>
              <a:t>n</a:t>
            </a:r>
            <a:r>
              <a:rPr lang="en-US" altLang="en-US" dirty="0"/>
              <a:t>-1)</a:t>
            </a:r>
            <a:r>
              <a:rPr lang="en-US" altLang="en-US" i="1" dirty="0"/>
              <a:t>q </a:t>
            </a:r>
            <a:r>
              <a:rPr lang="en-US" altLang="en-US" dirty="0"/>
              <a:t>time units.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Timer interrupts every quantum to schedule next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Performance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q</a:t>
            </a:r>
            <a:r>
              <a:rPr lang="en-US" altLang="en-US" dirty="0"/>
              <a:t> large </a:t>
            </a:r>
            <a:r>
              <a:rPr lang="en-US" altLang="en-US" dirty="0">
                <a:sym typeface="Symbol" pitchFamily="18" charset="2"/>
              </a:rPr>
              <a:t> FIFO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>
                <a:sym typeface="Symbol" pitchFamily="18" charset="2"/>
              </a:rPr>
              <a:t>q </a:t>
            </a:r>
            <a:r>
              <a:rPr lang="en-US" altLang="en-US" dirty="0">
                <a:sym typeface="Symbol" pitchFamily="18" charset="2"/>
              </a:rPr>
              <a:t>small  </a:t>
            </a:r>
            <a:r>
              <a:rPr lang="en-US" altLang="en-US" i="1" dirty="0">
                <a:sym typeface="Symbol" pitchFamily="18" charset="2"/>
              </a:rPr>
              <a:t>q </a:t>
            </a:r>
            <a:r>
              <a:rPr lang="en-US" altLang="en-US" dirty="0">
                <a:sym typeface="Symbol" pitchFamily="18" charset="2"/>
              </a:rPr>
              <a:t>must be large with respect to context switch, otherwise overhead is too high</a:t>
            </a:r>
          </a:p>
        </p:txBody>
      </p:sp>
    </p:spTree>
    <p:extLst>
      <p:ext uri="{BB962C8B-B14F-4D97-AF65-F5344CB8AC3E}">
        <p14:creationId xmlns:p14="http://schemas.microsoft.com/office/powerpoint/2010/main" val="1055743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4000"/>
              <a:t>Example of RR with Time Quantum = 4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5802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Typically, higher average turnaround than SJF, but better </a:t>
            </a:r>
            <a:r>
              <a:rPr lang="en-US" altLang="en-US" b="1" i="1" dirty="0"/>
              <a:t>response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q should be large compared to context switch time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q usually 10ms to 100ms, context switch &lt; 10 </a:t>
            </a:r>
            <a:r>
              <a:rPr lang="en-US" altLang="en-US" dirty="0" err="1"/>
              <a:t>usec</a:t>
            </a:r>
            <a:endParaRPr lang="en-US" altLang="en-US" dirty="0"/>
          </a:p>
        </p:txBody>
      </p:sp>
      <p:pic>
        <p:nvPicPr>
          <p:cNvPr id="3994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20" y="3673844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892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Time Quantum and Context Switch Time</a:t>
            </a:r>
          </a:p>
        </p:txBody>
      </p:sp>
      <p:pic>
        <p:nvPicPr>
          <p:cNvPr id="41987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299" y="2429332"/>
            <a:ext cx="6630988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338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200"/>
              <a:t>Turnaround Time Varies With The Time Quantum</a:t>
            </a:r>
          </a:p>
        </p:txBody>
      </p:sp>
      <p:sp>
        <p:nvSpPr>
          <p:cNvPr id="44035" name="TextBox 3"/>
          <p:cNvSpPr txBox="1">
            <a:spLocks noChangeArrowheads="1"/>
          </p:cNvSpPr>
          <p:nvPr/>
        </p:nvSpPr>
        <p:spPr bwMode="auto">
          <a:xfrm>
            <a:off x="6167438" y="3354388"/>
            <a:ext cx="23129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300" dirty="0">
                <a:latin typeface="Verdana" pitchFamily="34" charset="0"/>
              </a:rPr>
              <a:t>80% of CPU bursts should be shorter than q</a:t>
            </a:r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2133600"/>
            <a:ext cx="4684712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8827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Priority Scheduling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22962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priority number (integer) is associated with each process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CPU is allocated to the process with the highest priority (smallest integer </a:t>
            </a:r>
            <a:r>
              <a:rPr lang="en-US" altLang="en-US" dirty="0">
                <a:sym typeface="Symbol" pitchFamily="18" charset="2"/>
              </a:rPr>
              <a:t> highest priority)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Preemptive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/>
              <a:t>Nonpreemptive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SJF is priority scheduling where priority is the inverse of predicted next CPU burst time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Problem </a:t>
            </a:r>
            <a:r>
              <a:rPr lang="en-US" altLang="en-US" dirty="0">
                <a:sym typeface="Symbol" pitchFamily="18" charset="2"/>
              </a:rPr>
              <a:t>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Starvation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low priority processes may never execute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Solution 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as time progresses increase the priority of the process</a:t>
            </a:r>
          </a:p>
          <a:p>
            <a:pPr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23619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 of Priority Scheduling</a:t>
            </a:r>
          </a:p>
        </p:txBody>
      </p:sp>
      <p:sp>
        <p:nvSpPr>
          <p:cNvPr id="48131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  <a:noFill/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u="sng" dirty="0"/>
              <a:t>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1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3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4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5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5	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</a:t>
            </a:r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8.2 </a:t>
            </a:r>
            <a:r>
              <a:rPr lang="en-US" altLang="en-US" dirty="0" err="1"/>
              <a:t>msec</a:t>
            </a:r>
            <a:endParaRPr lang="en-US" altLang="en-US" i="1" baseline="-25000" dirty="0"/>
          </a:p>
        </p:txBody>
      </p:sp>
      <p:pic>
        <p:nvPicPr>
          <p:cNvPr id="4813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535" y="4500758"/>
            <a:ext cx="6467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83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Priority Scheduling w/ Round-Robin</a:t>
            </a:r>
          </a:p>
        </p:txBody>
      </p:sp>
      <p:sp>
        <p:nvSpPr>
          <p:cNvPr id="50179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795397"/>
            <a:ext cx="8574087" cy="3992563"/>
          </a:xfrm>
          <a:noFill/>
        </p:spPr>
        <p:txBody>
          <a:bodyPr>
            <a:normAutofit/>
          </a:bodyPr>
          <a:lstStyle/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u="sng" dirty="0"/>
              <a:t>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4	3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5</a:t>
            </a:r>
            <a:r>
              <a:rPr lang="en-US" altLang="en-US" dirty="0"/>
              <a:t>	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8</a:t>
            </a:r>
            <a:r>
              <a:rPr lang="en-US" altLang="en-US" dirty="0"/>
              <a:t>	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7</a:t>
            </a:r>
            <a:r>
              <a:rPr lang="en-US" altLang="en-US" dirty="0"/>
              <a:t>	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3	3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Run the process with the highest priority. Processes with the same priority run round-robin</a:t>
            </a:r>
            <a:endParaRPr lang="en-US" altLang="en-US" baseline="-250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Gantt Chart wit 2 </a:t>
            </a:r>
            <a:r>
              <a:rPr lang="en-US" altLang="en-US" dirty="0" err="1"/>
              <a:t>ms</a:t>
            </a:r>
            <a:r>
              <a:rPr lang="en-US" altLang="en-US" dirty="0"/>
              <a:t> time quantum</a:t>
            </a:r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pic>
        <p:nvPicPr>
          <p:cNvPr id="50180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67" y="5625122"/>
            <a:ext cx="7810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0258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207</TotalTime>
  <Words>1392</Words>
  <Application>Microsoft Office PowerPoint</Application>
  <PresentationFormat>On-screen Show (4:3)</PresentationFormat>
  <Paragraphs>212</Paragraphs>
  <Slides>24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ＭＳ Ｐゴシック</vt:lpstr>
      <vt:lpstr>Arial</vt:lpstr>
      <vt:lpstr>Calibri</vt:lpstr>
      <vt:lpstr>Corbel</vt:lpstr>
      <vt:lpstr>Georgia</vt:lpstr>
      <vt:lpstr>Lucida Grande</vt:lpstr>
      <vt:lpstr>Monotype Sorts</vt:lpstr>
      <vt:lpstr>Symbol</vt:lpstr>
      <vt:lpstr>Times New Roman</vt:lpstr>
      <vt:lpstr>Verdana</vt:lpstr>
      <vt:lpstr>Wingdings</vt:lpstr>
      <vt:lpstr>Spectrum</vt:lpstr>
      <vt:lpstr>Equation</vt:lpstr>
      <vt:lpstr>CPU Scheduling</vt:lpstr>
      <vt:lpstr>Lecture Outline</vt:lpstr>
      <vt:lpstr>Basic Concepts</vt:lpstr>
      <vt:lpstr>Histogram of CPU-burst Times</vt:lpstr>
      <vt:lpstr>CPU Scheduler</vt:lpstr>
      <vt:lpstr>Scheduling Criteria</vt:lpstr>
      <vt:lpstr>Scheduling Algorithm Optimization Criteria</vt:lpstr>
      <vt:lpstr>First- Come, First-Served (FCFS) Scheduling</vt:lpstr>
      <vt:lpstr>FCFS Scheduling (cont’d)</vt:lpstr>
      <vt:lpstr>Shortest-Job-First (SJF) Scheduling</vt:lpstr>
      <vt:lpstr>Example of SJF</vt:lpstr>
      <vt:lpstr>Determining Length of Next CPU Burst</vt:lpstr>
      <vt:lpstr>Prediction of the Length of the Next CPU Burst</vt:lpstr>
      <vt:lpstr>Examples of Exponential Averaging</vt:lpstr>
      <vt:lpstr>Example of Shortest-remaining-time-first</vt:lpstr>
      <vt:lpstr>Round Robin (RR)</vt:lpstr>
      <vt:lpstr>Example of RR with Time Quantum = 4</vt:lpstr>
      <vt:lpstr>Time Quantum and Context Switch Time</vt:lpstr>
      <vt:lpstr>Turnaround Time Varies With The Time Quantum</vt:lpstr>
      <vt:lpstr>Priority Scheduling</vt:lpstr>
      <vt:lpstr>Example of Priority Scheduling</vt:lpstr>
      <vt:lpstr>Priority Scheduling w/ Round-Robin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22</cp:revision>
  <dcterms:created xsi:type="dcterms:W3CDTF">2018-12-10T17:20:29Z</dcterms:created>
  <dcterms:modified xsi:type="dcterms:W3CDTF">2026-02-08T12:09:28Z</dcterms:modified>
</cp:coreProperties>
</file>