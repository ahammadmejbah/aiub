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64" r:id="rId24"/>
    <p:sldId id="265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90" d="100"/>
          <a:sy n="90" d="100"/>
        </p:scale>
        <p:origin x="90" y="28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NIKA TASNIM" userId="8fb70a1d-16e3-4c86-a699-7b87e9bfa60b" providerId="ADAL" clId="{22177EF3-2F0E-427E-935A-92F99A50AD9C}"/>
    <pc:docChg chg="modSld">
      <pc:chgData name="SYEDA ANIKA TASNIM" userId="8fb70a1d-16e3-4c86-a699-7b87e9bfa60b" providerId="ADAL" clId="{22177EF3-2F0E-427E-935A-92F99A50AD9C}" dt="2020-12-07T09:33:29.944" v="15" actId="20577"/>
      <pc:docMkLst>
        <pc:docMk/>
      </pc:docMkLst>
      <pc:sldChg chg="modSp mod">
        <pc:chgData name="SYEDA ANIKA TASNIM" userId="8fb70a1d-16e3-4c86-a699-7b87e9bfa60b" providerId="ADAL" clId="{22177EF3-2F0E-427E-935A-92F99A50AD9C}" dt="2020-12-07T09:33:29.944" v="15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22177EF3-2F0E-427E-935A-92F99A50AD9C}" dt="2020-12-07T09:33:29.944" v="15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1B29D755-7C7C-4C0A-8D23-DCF0AE74426C}"/>
    <pc:docChg chg="custSel modSld">
      <pc:chgData name="SYEDA ANIKA TASNIM" userId="8fb70a1d-16e3-4c86-a699-7b87e9bfa60b" providerId="ADAL" clId="{1B29D755-7C7C-4C0A-8D23-DCF0AE74426C}" dt="2020-09-07T08:44:54.917" v="56" actId="20577"/>
      <pc:docMkLst>
        <pc:docMk/>
      </pc:docMkLst>
      <pc:sldChg chg="modSp mod">
        <pc:chgData name="SYEDA ANIKA TASNIM" userId="8fb70a1d-16e3-4c86-a699-7b87e9bfa60b" providerId="ADAL" clId="{1B29D755-7C7C-4C0A-8D23-DCF0AE74426C}" dt="2020-09-07T08:44:54.917" v="56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1B29D755-7C7C-4C0A-8D23-DCF0AE74426C}" dt="2020-09-07T08:44:54.917" v="56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8ACD271D-02BC-4CA4-ACF5-CD2CDFF9A697}"/>
    <pc:docChg chg="modSld">
      <pc:chgData name="SYEDA ANIKA TASNIM" userId="8fb70a1d-16e3-4c86-a699-7b87e9bfa60b" providerId="ADAL" clId="{8ACD271D-02BC-4CA4-ACF5-CD2CDFF9A697}" dt="2021-11-24T02:14:35.810" v="3" actId="20577"/>
      <pc:docMkLst>
        <pc:docMk/>
      </pc:docMkLst>
      <pc:sldChg chg="modSp mod">
        <pc:chgData name="SYEDA ANIKA TASNIM" userId="8fb70a1d-16e3-4c86-a699-7b87e9bfa60b" providerId="ADAL" clId="{8ACD271D-02BC-4CA4-ACF5-CD2CDFF9A697}" dt="2021-11-24T02:14:35.810" v="3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8ACD271D-02BC-4CA4-ACF5-CD2CDFF9A697}" dt="2021-11-24T02:14:35.810" v="3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E25B74A-DDEA-43EF-9BA1-1C22DEF0D3F5}" type="slidenum">
              <a:rPr lang="en-US" altLang="en-US" sz="1300">
                <a:latin typeface="Helvetica" pitchFamily="-84" charset="0"/>
              </a:rPr>
              <a:pPr/>
              <a:t>3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217827B-427D-4859-8482-171A38F5793E}" type="slidenum">
              <a:rPr lang="en-US" altLang="en-US" sz="1300">
                <a:latin typeface="Helvetica" pitchFamily="-84" charset="0"/>
              </a:rPr>
              <a:pPr/>
              <a:t>4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72EEC87-464E-4A9E-AC8A-D0188EA09FE1}" type="slidenum">
              <a:rPr lang="en-US" altLang="en-US" sz="1300">
                <a:latin typeface="Helvetica" pitchFamily="-84" charset="0"/>
              </a:rPr>
              <a:pPr/>
              <a:t>6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FC7C31E-4275-4CCA-837B-F0ABA6DF65AD}" type="slidenum">
              <a:rPr lang="en-US" altLang="en-US" sz="1300">
                <a:latin typeface="Helvetica" pitchFamily="-84" charset="0"/>
              </a:rPr>
              <a:pPr/>
              <a:t>7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77C0B25-D647-4778-965E-8338CE7515B2}" type="slidenum">
              <a:rPr lang="en-US" altLang="en-US" sz="1300">
                <a:latin typeface="Helvetica" pitchFamily="-84" charset="0"/>
              </a:rPr>
              <a:pPr/>
              <a:t>9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D563202-A828-4FCF-AB49-C49296F6F96C}" type="slidenum">
              <a:rPr lang="en-US" altLang="en-US" sz="1300">
                <a:latin typeface="Helvetica" pitchFamily="-84" charset="0"/>
              </a:rPr>
              <a:pPr/>
              <a:t>10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678478C-AE46-4022-A26D-A2703043CF78}" type="slidenum">
              <a:rPr lang="en-US" altLang="en-US" sz="1300">
                <a:latin typeface="Helvetica" pitchFamily="-84" charset="0"/>
              </a:rPr>
              <a:pPr/>
              <a:t>11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419B6E0-A191-42DC-92B6-DAFA643EC83C}" type="slidenum">
              <a:rPr lang="en-US" altLang="en-US" sz="1300">
                <a:latin typeface="Helvetica" pitchFamily="-84" charset="0"/>
              </a:rPr>
              <a:pPr/>
              <a:t>12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5531B67-0BC1-47B4-A3FD-20800102DE5E}" type="slidenum">
              <a:rPr lang="en-US" altLang="en-US" sz="1300">
                <a:latin typeface="Helvetica" pitchFamily="-84" charset="0"/>
              </a:rPr>
              <a:pPr/>
              <a:t>13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719A3DC-D86B-4FB3-8667-593D69498845}" type="slidenum">
              <a:rPr lang="en-US" altLang="en-US" sz="1300">
                <a:latin typeface="Helvetica" pitchFamily="-84" charset="0"/>
              </a:rPr>
              <a:pPr/>
              <a:t>14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75E2FED-6665-49F5-87DE-757785BC717C}" type="slidenum">
              <a:rPr lang="en-US" altLang="en-US" sz="1300">
                <a:latin typeface="Helvetica" pitchFamily="-84" charset="0"/>
              </a:rPr>
              <a:pPr/>
              <a:t>15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4439C1-317B-4478-91E9-7AAB77653C40}" type="slidenum">
              <a:rPr lang="en-US" altLang="en-US" sz="1300">
                <a:latin typeface="Helvetica" pitchFamily="-84" charset="0"/>
              </a:rPr>
              <a:pPr/>
              <a:t>16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18A1617-C448-4258-9875-EF1514D44556}" type="slidenum">
              <a:rPr lang="en-US" altLang="en-US" sz="1300">
                <a:latin typeface="Helvetica" pitchFamily="-84" charset="0"/>
              </a:rPr>
              <a:pPr/>
              <a:t>17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C97418-81B2-44D0-901C-A3BB7D98E1F8}" type="slidenum">
              <a:rPr lang="en-US" altLang="en-US" sz="1300">
                <a:latin typeface="Helvetica" pitchFamily="-84" charset="0"/>
              </a:rPr>
              <a:pPr/>
              <a:t>21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2B93E5E-C5E8-42F6-A5D7-AFA4F1713FBA}" type="slidenum">
              <a:rPr lang="en-US" altLang="en-US" sz="1300">
                <a:latin typeface="Helvetica" pitchFamily="-84" charset="0"/>
              </a:rPr>
              <a:pPr/>
              <a:t>22</a:t>
            </a:fld>
            <a:endParaRPr lang="en-US" altLang="en-US" sz="1300">
              <a:latin typeface="Helvetica" pitchFamily="-84" charset="0"/>
            </a:endParaRPr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hammadmejbah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Protection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159101"/>
              </p:ext>
            </p:extLst>
          </p:nvPr>
        </p:nvGraphicFramePr>
        <p:xfrm>
          <a:off x="476205" y="5186042"/>
          <a:ext cx="8335798" cy="129313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29992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30923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9609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Mejbah Ahammad, Lecturer, CS,  AIUB</a:t>
                      </a:r>
                    </a:p>
                    <a:p>
                      <a:r>
                        <a:rPr lang="en-US" sz="18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+8801308757586 </a:t>
                      </a:r>
                      <a:r>
                        <a:rPr lang="en-US" sz="1800" cap="none" dirty="0">
                          <a:solidFill>
                            <a:srgbClr val="F49100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ahammadmejbah@aiub.</a:t>
                      </a:r>
                      <a:r>
                        <a:rPr lang="en-US" sz="1800" cap="none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edu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  <a:p>
                      <a:r>
                        <a:rPr lang="en-US" sz="1800" cap="none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Room Number: DN0922</a:t>
                      </a:r>
                      <a:endParaRPr lang="en-US" sz="1800" cap="none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Goals of Protection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Principles of Protection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Protection Rings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Domain of Protection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Access Matrix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Implementation of Access Matrix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Revocation of Access Rights 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Role-based Access Control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  Other Protection Implementation Methods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Goals of Protection</a:t>
            </a:r>
          </a:p>
        </p:txBody>
      </p:sp>
      <p:sp>
        <p:nvSpPr>
          <p:cNvPr id="11266" name="Rectangle 1027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In one protection model,  computer consists of a collection of objects, hardware or software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Each object has a unique name and can be accessed through a well-defined set of operations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Protection problem - ensure that each object is accessed correctly and only by those processes that are allowed to do so</a:t>
            </a:r>
            <a:endParaRPr lang="en-US" altLang="en-US" dirty="0">
              <a:latin typeface="Courier New" pitchFamily="49" charset="0"/>
            </a:endParaRP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82786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Principles of Protection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20657"/>
            <a:ext cx="8574087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Guiding principle – </a:t>
            </a:r>
            <a:r>
              <a:rPr lang="en-US" altLang="en-US" b="1" dirty="0">
                <a:solidFill>
                  <a:srgbClr val="3366FF"/>
                </a:solidFill>
              </a:rPr>
              <a:t>principle of least privilege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Programs, users and systems should be given just enough </a:t>
            </a:r>
            <a:r>
              <a:rPr lang="en-US" altLang="en-US" b="1" dirty="0">
                <a:solidFill>
                  <a:srgbClr val="3366FF"/>
                </a:solidFill>
              </a:rPr>
              <a:t>privileges </a:t>
            </a:r>
            <a:r>
              <a:rPr lang="en-US" altLang="en-US" dirty="0"/>
              <a:t>to perform their tasks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Properly set </a:t>
            </a:r>
            <a:r>
              <a:rPr lang="en-US" altLang="en-US" b="1" dirty="0">
                <a:solidFill>
                  <a:srgbClr val="3366FF"/>
                </a:solidFill>
              </a:rPr>
              <a:t>permissions</a:t>
            </a:r>
            <a:r>
              <a:rPr lang="en-US" altLang="en-US" dirty="0"/>
              <a:t> can limit damage if entity has a bug, gets abused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Can be static (during life of system, during life of process) 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Or dynamic (changed by process as needed) – </a:t>
            </a:r>
            <a:r>
              <a:rPr lang="en-US" altLang="en-US" b="1" dirty="0">
                <a:solidFill>
                  <a:srgbClr val="3366FF"/>
                </a:solidFill>
              </a:rPr>
              <a:t>domain switching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3366FF"/>
                </a:solidFill>
              </a:rPr>
              <a:t>privilege escalation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ja-JP" b="1" dirty="0">
                <a:solidFill>
                  <a:srgbClr val="3366FF"/>
                </a:solidFill>
              </a:rPr>
              <a:t>Compartmentalization</a:t>
            </a:r>
            <a:r>
              <a:rPr lang="en-US" altLang="ja-JP" dirty="0"/>
              <a:t> a derivative concept regarding access to data 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Process of protecting each individual system component through the use of specific permissions and access restrictions</a:t>
            </a:r>
          </a:p>
          <a:p>
            <a:pPr lvl="2">
              <a:buFont typeface="Wingdings" pitchFamily="2" charset="2"/>
              <a:buChar char="q"/>
            </a:pPr>
            <a:endParaRPr lang="en-US" altLang="en-US" dirty="0"/>
          </a:p>
          <a:p>
            <a:pPr lvl="2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21963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/>
              <a:t>Domain of Protection</a:t>
            </a:r>
          </a:p>
        </p:txBody>
      </p:sp>
      <p:sp>
        <p:nvSpPr>
          <p:cNvPr id="1536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08131"/>
            <a:ext cx="8574087" cy="4379935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Rings of protection separate functions into domains and order them hierarchically 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Computer can be treated as processes and objects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Hardware objects </a:t>
            </a:r>
            <a:r>
              <a:rPr lang="en-US" altLang="en-US" dirty="0"/>
              <a:t>(such as devices) and </a:t>
            </a:r>
            <a:r>
              <a:rPr lang="en-US" altLang="en-US" b="1" dirty="0">
                <a:solidFill>
                  <a:srgbClr val="3366FF"/>
                </a:solidFill>
              </a:rPr>
              <a:t>software objects </a:t>
            </a:r>
            <a:r>
              <a:rPr lang="en-US" altLang="en-US" dirty="0"/>
              <a:t>(such as files, programs, semaphores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Process for example should only have access to objects it currently requires to complete its task – the</a:t>
            </a:r>
            <a:r>
              <a:rPr lang="en-US" altLang="en-US" b="1" dirty="0">
                <a:solidFill>
                  <a:srgbClr val="3366FF"/>
                </a:solidFill>
              </a:rPr>
              <a:t> need-to-know </a:t>
            </a:r>
            <a:r>
              <a:rPr lang="en-US" altLang="en-US" dirty="0"/>
              <a:t>principle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Implementation can be via process operating in a </a:t>
            </a:r>
            <a:r>
              <a:rPr lang="en-US" altLang="en-US" b="1" dirty="0">
                <a:solidFill>
                  <a:srgbClr val="3366FF"/>
                </a:solidFill>
              </a:rPr>
              <a:t>protection domain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Specifies resources process may access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domain specifies set of objects and types of operations on them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Ability to execute an operation on an object is an </a:t>
            </a:r>
            <a:r>
              <a:rPr lang="en-US" altLang="en-US" b="1" dirty="0">
                <a:solidFill>
                  <a:srgbClr val="3366FF"/>
                </a:solidFill>
              </a:rPr>
              <a:t>access right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&lt;object-name, rights-set&gt;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Domains may share access rights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Associations can be </a:t>
            </a:r>
            <a:r>
              <a:rPr lang="en-US" altLang="en-US" b="1" dirty="0">
                <a:solidFill>
                  <a:srgbClr val="3366FF"/>
                </a:solidFill>
              </a:rPr>
              <a:t>static</a:t>
            </a:r>
            <a:r>
              <a:rPr lang="en-US" altLang="en-US" dirty="0"/>
              <a:t> or </a:t>
            </a:r>
            <a:r>
              <a:rPr lang="en-US" altLang="en-US" b="1" dirty="0">
                <a:solidFill>
                  <a:srgbClr val="3366FF"/>
                </a:solidFill>
              </a:rPr>
              <a:t>dynamic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If dynamic, processes can </a:t>
            </a:r>
            <a:r>
              <a:rPr lang="en-US" altLang="en-US" b="1" dirty="0">
                <a:solidFill>
                  <a:srgbClr val="3366FF"/>
                </a:solidFill>
              </a:rPr>
              <a:t>domain switch</a:t>
            </a:r>
          </a:p>
        </p:txBody>
      </p:sp>
    </p:spTree>
    <p:extLst>
      <p:ext uri="{BB962C8B-B14F-4D97-AF65-F5344CB8AC3E}">
        <p14:creationId xmlns:p14="http://schemas.microsoft.com/office/powerpoint/2010/main" val="396485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Domain Structure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895605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Access-right = &lt;</a:t>
            </a:r>
            <a:r>
              <a:rPr lang="en-US" altLang="en-US" i="1" dirty="0"/>
              <a:t>object-name</a:t>
            </a:r>
            <a:r>
              <a:rPr lang="en-US" altLang="en-US" dirty="0"/>
              <a:t>, </a:t>
            </a:r>
            <a:r>
              <a:rPr lang="en-US" altLang="en-US" i="1" dirty="0"/>
              <a:t>rights-set</a:t>
            </a:r>
            <a:r>
              <a:rPr lang="en-US" altLang="en-US" dirty="0"/>
              <a:t>&gt;</a:t>
            </a:r>
            <a:br>
              <a:rPr lang="en-US" altLang="en-US" dirty="0"/>
            </a:br>
            <a:r>
              <a:rPr lang="en-US" altLang="en-US" dirty="0"/>
              <a:t>where </a:t>
            </a:r>
            <a:r>
              <a:rPr lang="en-US" altLang="en-US" i="1" dirty="0"/>
              <a:t>rights-set</a:t>
            </a:r>
            <a:r>
              <a:rPr lang="en-US" altLang="en-US" dirty="0"/>
              <a:t> is a subset of all valid operations that can be performed on the object 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Domain = set of access-rights 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93" y="4109079"/>
            <a:ext cx="7702550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44250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Domain Implementation (UNIX)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Domain = user-id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Domain switch accomplished via file system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Each file has associated with it a domain bit (</a:t>
            </a:r>
            <a:r>
              <a:rPr lang="en-US" altLang="en-US" dirty="0" err="1"/>
              <a:t>setuid</a:t>
            </a:r>
            <a:r>
              <a:rPr lang="en-US" altLang="en-US" dirty="0"/>
              <a:t> bit)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When file is executed and </a:t>
            </a:r>
            <a:r>
              <a:rPr lang="en-US" altLang="en-US" dirty="0" err="1"/>
              <a:t>setuid</a:t>
            </a:r>
            <a:r>
              <a:rPr lang="en-US" altLang="en-US" dirty="0"/>
              <a:t> = on, then user-id is set to owner of the file being executed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 When execution completes user-id is reset 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Domain switch accomplished via passwords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su</a:t>
            </a:r>
            <a:r>
              <a:rPr lang="en-US" altLang="en-US" dirty="0"/>
              <a:t> command temporarily switches to another user</a:t>
            </a:r>
            <a:r>
              <a:rPr lang="ja-JP" altLang="en-US" dirty="0"/>
              <a:t>’</a:t>
            </a:r>
            <a:r>
              <a:rPr lang="en-US" altLang="ja-JP" dirty="0"/>
              <a:t>s domain when other domain</a:t>
            </a:r>
            <a:r>
              <a:rPr lang="ja-JP" altLang="en-US" dirty="0"/>
              <a:t>’</a:t>
            </a:r>
            <a:r>
              <a:rPr lang="en-US" altLang="ja-JP" dirty="0"/>
              <a:t>s password provided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Domain switching via commands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sudo</a:t>
            </a:r>
            <a:r>
              <a:rPr lang="en-US" altLang="en-US" dirty="0"/>
              <a:t> command prefix executes specified command in another domain (if original domain has privilege or password given)</a:t>
            </a:r>
          </a:p>
        </p:txBody>
      </p:sp>
    </p:spTree>
    <p:extLst>
      <p:ext uri="{BB962C8B-B14F-4D97-AF65-F5344CB8AC3E}">
        <p14:creationId xmlns:p14="http://schemas.microsoft.com/office/powerpoint/2010/main" val="373022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/>
              <a:t>Domain Implementation (Android App IDs)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2E5FFC97-DA45-E54B-B649-537EE14CF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63" y="1933183"/>
            <a:ext cx="8574087" cy="4655507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q"/>
              <a:defRPr/>
            </a:pPr>
            <a:r>
              <a:rPr lang="en-US" dirty="0"/>
              <a:t>In Android, distinct user IDs are provided on a per-application basis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/>
              <a:t>When an application is installed, the </a:t>
            </a:r>
            <a:r>
              <a:rPr lang="en-US" dirty="0" err="1"/>
              <a:t>installd</a:t>
            </a:r>
            <a:r>
              <a:rPr lang="en-US" dirty="0"/>
              <a:t> daemon assigns it a distinct user ID (UID) and group ID (GID), along with a private data directory (/data/data/&lt;</a:t>
            </a:r>
            <a:r>
              <a:rPr lang="en-US" dirty="0" err="1"/>
              <a:t>appname</a:t>
            </a:r>
            <a:r>
              <a:rPr lang="en-US" dirty="0"/>
              <a:t>&gt;) whose ownership is granted to this UID/GID combination alone.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/>
              <a:t>Applications on the device enjoy the same level of protection provided by UNIX systems to separate users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/>
              <a:t>A quick and simple way to provide isolation, security, and privacy. 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/>
              <a:t>The mechanism is extended by modifying the kernel to allow certain operations (such as networking sockets) only to members of a particular GID (for example, AID INET, 3003)</a:t>
            </a:r>
          </a:p>
          <a:p>
            <a:pPr>
              <a:buFont typeface="Wingdings" pitchFamily="2" charset="2"/>
              <a:buChar char="q"/>
              <a:defRPr/>
            </a:pPr>
            <a:r>
              <a:rPr lang="en-US" dirty="0"/>
              <a:t>A further enhancement by Android is to define certain UIDs as “isolated,” prevents them from initiating RPC requests to any but a bare minimum of services</a:t>
            </a:r>
          </a:p>
          <a:p>
            <a:pPr>
              <a:buFont typeface="Wingdings" pitchFamily="2" charset="2"/>
              <a:buChar char="q"/>
              <a:defRPr/>
            </a:pPr>
            <a:endParaRPr lang="en-US" dirty="0"/>
          </a:p>
          <a:p>
            <a:pPr>
              <a:buFont typeface="Wingdings" pitchFamily="2" charset="2"/>
              <a:buChar char="q"/>
              <a:defRPr/>
            </a:pPr>
            <a:endParaRPr lang="en-US" altLang="en-US" dirty="0"/>
          </a:p>
          <a:p>
            <a:pPr>
              <a:buFont typeface="Wingdings" pitchFamily="2" charset="2"/>
              <a:buChar char="q"/>
              <a:defRPr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02552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Access Matrix</a:t>
            </a:r>
          </a:p>
        </p:txBody>
      </p:sp>
      <p:sp>
        <p:nvSpPr>
          <p:cNvPr id="21506" name="Rectangle 3"/>
          <p:cNvSpPr>
            <a:spLocks noGrp="1" noChangeArrowheads="1"/>
          </p:cNvSpPr>
          <p:nvPr>
            <p:ph idx="1"/>
          </p:nvPr>
        </p:nvSpPr>
        <p:spPr>
          <a:xfrm>
            <a:off x="196481" y="1919766"/>
            <a:ext cx="8661769" cy="310317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sz="2000" dirty="0"/>
              <a:t>View protection as a matrix (</a:t>
            </a:r>
            <a:r>
              <a:rPr lang="en-US" altLang="en-US" sz="2000" b="1" dirty="0">
                <a:solidFill>
                  <a:srgbClr val="3366FF"/>
                </a:solidFill>
              </a:rPr>
              <a:t>access matrix</a:t>
            </a:r>
            <a:r>
              <a:rPr lang="en-US" altLang="en-US" sz="2000" dirty="0"/>
              <a:t>)</a:t>
            </a:r>
            <a:endParaRPr lang="en-US" altLang="en-US" sz="700" dirty="0"/>
          </a:p>
          <a:p>
            <a:pPr>
              <a:buFont typeface="Wingdings" pitchFamily="2" charset="2"/>
              <a:buChar char="q"/>
            </a:pPr>
            <a:r>
              <a:rPr lang="en-US" altLang="en-US" sz="2000" dirty="0"/>
              <a:t>Rows represent domains</a:t>
            </a:r>
            <a:endParaRPr lang="en-US" altLang="en-US" sz="700" dirty="0"/>
          </a:p>
          <a:p>
            <a:pPr>
              <a:buFont typeface="Wingdings" pitchFamily="2" charset="2"/>
              <a:buChar char="q"/>
            </a:pPr>
            <a:r>
              <a:rPr lang="en-US" altLang="en-US" sz="2000" dirty="0"/>
              <a:t>Columns represent objects</a:t>
            </a:r>
            <a:endParaRPr lang="en-US" altLang="en-US" sz="700" dirty="0"/>
          </a:p>
          <a:p>
            <a:pPr>
              <a:buFont typeface="Wingdings" pitchFamily="2" charset="2"/>
              <a:buChar char="q"/>
            </a:pPr>
            <a:r>
              <a:rPr lang="en-US" altLang="en-US" sz="2000" b="1" dirty="0">
                <a:latin typeface="Courier New" pitchFamily="49" charset="0"/>
                <a:cs typeface="Courier New" pitchFamily="49" charset="0"/>
              </a:rPr>
              <a:t>Access(i, j) </a:t>
            </a:r>
            <a:r>
              <a:rPr lang="en-US" altLang="en-US" sz="2000" dirty="0"/>
              <a:t>is the set of operations that a process executing in </a:t>
            </a:r>
            <a:r>
              <a:rPr lang="en-US" altLang="en-US" sz="2000" dirty="0" err="1"/>
              <a:t>Domain</a:t>
            </a:r>
            <a:r>
              <a:rPr lang="en-US" altLang="en-US" sz="2000" b="1" baseline="-25000" dirty="0" err="1"/>
              <a:t>i</a:t>
            </a:r>
            <a:r>
              <a:rPr lang="en-US" altLang="en-US" sz="2000" dirty="0"/>
              <a:t> can invoke on </a:t>
            </a:r>
            <a:r>
              <a:rPr lang="en-US" altLang="en-US" sz="2000" dirty="0" err="1"/>
              <a:t>Object</a:t>
            </a:r>
            <a:r>
              <a:rPr lang="en-US" altLang="en-US" sz="2000" b="1" baseline="-25000" dirty="0" err="1"/>
              <a:t>j</a:t>
            </a:r>
            <a:endParaRPr lang="en-US" altLang="en-US" sz="2000" b="1" baseline="-25000" dirty="0"/>
          </a:p>
        </p:txBody>
      </p:sp>
      <p:pic>
        <p:nvPicPr>
          <p:cNvPr id="21507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846" y="4386714"/>
            <a:ext cx="4105014" cy="2220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4422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Use of Access Matrix</a:t>
            </a:r>
          </a:p>
        </p:txBody>
      </p:sp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8"/>
            <a:ext cx="8574087" cy="436740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If a process in Domain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</a:t>
            </a:r>
            <a:r>
              <a:rPr lang="en-US" altLang="en-US" dirty="0"/>
              <a:t>tries to do </a:t>
            </a:r>
            <a:r>
              <a:rPr lang="ja-JP" altLang="en-US" dirty="0"/>
              <a:t>“</a:t>
            </a:r>
            <a:r>
              <a:rPr lang="en-US" altLang="ja-JP" dirty="0"/>
              <a:t>op</a:t>
            </a:r>
            <a:r>
              <a:rPr lang="ja-JP" altLang="en-US" dirty="0"/>
              <a:t>”</a:t>
            </a:r>
            <a:r>
              <a:rPr lang="en-US" altLang="ja-JP" dirty="0"/>
              <a:t> on object</a:t>
            </a:r>
            <a:r>
              <a:rPr lang="en-US" altLang="ja-JP" i="1" dirty="0"/>
              <a:t> </a:t>
            </a:r>
            <a:r>
              <a:rPr lang="en-US" altLang="ja-JP" i="1" dirty="0" err="1"/>
              <a:t>O</a:t>
            </a:r>
            <a:r>
              <a:rPr lang="en-US" altLang="ja-JP" i="1" baseline="-25000" dirty="0" err="1"/>
              <a:t>j</a:t>
            </a:r>
            <a:r>
              <a:rPr lang="en-US" altLang="ja-JP" dirty="0"/>
              <a:t>, then </a:t>
            </a:r>
            <a:r>
              <a:rPr lang="ja-JP" altLang="en-US" dirty="0"/>
              <a:t>“</a:t>
            </a:r>
            <a:r>
              <a:rPr lang="en-US" altLang="ja-JP" dirty="0"/>
              <a:t>op</a:t>
            </a:r>
            <a:r>
              <a:rPr lang="ja-JP" altLang="en-US" dirty="0"/>
              <a:t>”</a:t>
            </a:r>
            <a:r>
              <a:rPr lang="en-US" altLang="ja-JP" dirty="0"/>
              <a:t> must be in the access matrix</a:t>
            </a:r>
            <a:endParaRPr lang="en-US" altLang="en-US" sz="8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User who creates object can define access column for that object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Can be expanded to dynamic protection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Operations to add, delete access rights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Special access rights: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i="1" dirty="0"/>
              <a:t>owner of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i</a:t>
            </a:r>
            <a:endParaRPr lang="en-US" altLang="en-US" i="1" dirty="0"/>
          </a:p>
          <a:p>
            <a:pPr lvl="2">
              <a:buFont typeface="Wingdings" pitchFamily="2" charset="2"/>
              <a:buChar char="q"/>
            </a:pPr>
            <a:r>
              <a:rPr lang="en-US" altLang="en-US" i="1" dirty="0"/>
              <a:t>copy op from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to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(denoted by </a:t>
            </a:r>
            <a:r>
              <a:rPr lang="ja-JP" altLang="en-US" i="1" dirty="0"/>
              <a:t>“</a:t>
            </a:r>
            <a:r>
              <a:rPr lang="en-US" altLang="ja-JP" i="1" dirty="0"/>
              <a:t>*</a:t>
            </a:r>
            <a:r>
              <a:rPr lang="ja-JP" altLang="en-US" i="1" dirty="0"/>
              <a:t>”</a:t>
            </a:r>
            <a:r>
              <a:rPr lang="en-US" altLang="ja-JP" i="1" dirty="0"/>
              <a:t>)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i="1" dirty="0"/>
              <a:t>control –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can modify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access rights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i="1" dirty="0"/>
              <a:t>transfer – switch from domain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 to </a:t>
            </a:r>
            <a:r>
              <a:rPr lang="en-US" altLang="en-US" i="1" dirty="0" err="1"/>
              <a:t>D</a:t>
            </a:r>
            <a:r>
              <a:rPr lang="en-US" altLang="en-US" i="1" baseline="-25000" dirty="0" err="1"/>
              <a:t>j</a:t>
            </a:r>
            <a:endParaRPr lang="en-US" altLang="en-US" i="1" baseline="-25000" dirty="0"/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Copy </a:t>
            </a:r>
            <a:r>
              <a:rPr lang="en-US" altLang="en-US" dirty="0"/>
              <a:t>and </a:t>
            </a:r>
            <a:r>
              <a:rPr lang="en-US" altLang="en-US" i="1" dirty="0"/>
              <a:t>Owner </a:t>
            </a:r>
            <a:r>
              <a:rPr lang="en-US" altLang="en-US" dirty="0"/>
              <a:t>applicable to an object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i="1" dirty="0"/>
              <a:t>Control </a:t>
            </a:r>
            <a:r>
              <a:rPr lang="en-US" altLang="en-US" dirty="0"/>
              <a:t>applicable to domain object</a:t>
            </a:r>
          </a:p>
        </p:txBody>
      </p:sp>
    </p:spTree>
    <p:extLst>
      <p:ext uri="{BB962C8B-B14F-4D97-AF65-F5344CB8AC3E}">
        <p14:creationId xmlns:p14="http://schemas.microsoft.com/office/powerpoint/2010/main" val="247291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en-US" dirty="0"/>
              <a:t>Use of Access Matrix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dirty="0"/>
          </a:p>
        </p:txBody>
      </p:sp>
      <p:sp>
        <p:nvSpPr>
          <p:cNvPr id="2560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b="1" dirty="0">
                <a:solidFill>
                  <a:srgbClr val="3366FF"/>
                </a:solidFill>
              </a:rPr>
              <a:t>Access matrix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design separates mechanism from policy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Mechanism 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Operating system provides access-matrix + rules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If ensures that the matrix is only manipulated by authorized agents and that rules are strictly enforced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Policy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User dictates policy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Who can access what object and in what mode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But </a:t>
            </a:r>
            <a:r>
              <a:rPr lang="en-US" altLang="en-US" dirty="0" err="1"/>
              <a:t>doesn</a:t>
            </a:r>
            <a:r>
              <a:rPr lang="ja-JP" altLang="en-US" dirty="0"/>
              <a:t>’</a:t>
            </a:r>
            <a:r>
              <a:rPr lang="en-US" altLang="ja-JP" dirty="0"/>
              <a:t>t solve the general confinement problem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391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 eaLnBrk="1" hangingPunct="1"/>
            <a:r>
              <a:rPr lang="en-US" altLang="en-US" sz="2800"/>
              <a:t>Access Matrix of Figure A with Domains as Objects</a:t>
            </a:r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372" y="2424374"/>
            <a:ext cx="7404100" cy="306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5366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dirty="0"/>
              <a:t>Access Matrix with </a:t>
            </a:r>
            <a:r>
              <a:rPr lang="en-US" altLang="en-US" i="1" dirty="0"/>
              <a:t>Copy</a:t>
            </a:r>
            <a:r>
              <a:rPr lang="en-US" altLang="en-US" dirty="0"/>
              <a:t> Rights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037" y="1903522"/>
            <a:ext cx="4513544" cy="4783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3724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Access Matrix With </a:t>
            </a:r>
            <a:r>
              <a:rPr lang="en-US" altLang="en-US" i="1"/>
              <a:t>Owner</a:t>
            </a:r>
            <a:r>
              <a:rPr lang="en-US" altLang="en-US"/>
              <a:t> Rights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28" y="1854635"/>
            <a:ext cx="3667125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37702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Modified Access Matrix of Figure B</a:t>
            </a: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75" y="2249379"/>
            <a:ext cx="7756525" cy="320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57107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Implementation of Access Matrix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Generally, a sparse matrix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Option 1 – Global table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Store ordered triples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&lt;domain, object, rights-set&gt; </a:t>
            </a:r>
            <a:r>
              <a:rPr lang="en-US" altLang="en-US" dirty="0"/>
              <a:t>in table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A requested operation M on object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dirty="0"/>
              <a:t> within domain </a:t>
            </a:r>
            <a:r>
              <a:rPr lang="en-US" altLang="en-US" i="1" dirty="0"/>
              <a:t>D</a:t>
            </a:r>
            <a:r>
              <a:rPr lang="en-US" altLang="en-US" i="1" baseline="-25000" dirty="0"/>
              <a:t>i</a:t>
            </a:r>
            <a:r>
              <a:rPr lang="en-US" altLang="en-US" dirty="0"/>
              <a:t> -&gt; search table for </a:t>
            </a:r>
            <a:r>
              <a:rPr lang="en-US" altLang="en-US" i="1" dirty="0"/>
              <a:t>&lt; D</a:t>
            </a:r>
            <a:r>
              <a:rPr lang="en-US" altLang="en-US" i="1" baseline="-25000" dirty="0"/>
              <a:t>i</a:t>
            </a:r>
            <a:r>
              <a:rPr lang="en-US" altLang="en-US" i="1" dirty="0"/>
              <a:t>, </a:t>
            </a:r>
            <a:r>
              <a:rPr lang="en-US" altLang="en-US" i="1" dirty="0" err="1"/>
              <a:t>O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, </a:t>
            </a:r>
            <a:r>
              <a:rPr lang="en-US" altLang="en-US" i="1" dirty="0" err="1"/>
              <a:t>R</a:t>
            </a:r>
            <a:r>
              <a:rPr lang="en-US" altLang="en-US" i="1" baseline="-25000" dirty="0" err="1"/>
              <a:t>k</a:t>
            </a:r>
            <a:r>
              <a:rPr lang="en-US" altLang="en-US" i="1" dirty="0"/>
              <a:t> &gt; </a:t>
            </a:r>
          </a:p>
          <a:p>
            <a:pPr lvl="2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with M ∈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k</a:t>
            </a:r>
            <a:endParaRPr lang="en-US" altLang="en-US" baseline="-25000" dirty="0"/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But table could be large -&gt; won</a:t>
            </a:r>
            <a:r>
              <a:rPr lang="ja-JP" altLang="en-US" dirty="0"/>
              <a:t>’</a:t>
            </a:r>
            <a:r>
              <a:rPr lang="en-US" altLang="ja-JP" dirty="0"/>
              <a:t>t fit in main memory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Difficult to group objects (consider an object that all domains can read)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90836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Implementation of Access Matrix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600" dirty="0"/>
          </a:p>
        </p:txBody>
      </p:sp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95813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Option 2 – Access lists for objects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Each column implemented as an access list for one object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Resulting per-object list consists of ordered pairs 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&lt;domain, rights-set&gt; </a:t>
            </a:r>
            <a:r>
              <a:rPr lang="en-US" altLang="en-US" dirty="0"/>
              <a:t>defining all domains with non-empty set of access rights for the object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Easily extended to contain default set -&gt; If M ∈ default set, also allow access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3257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Implementation of Access Matrix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600" dirty="0"/>
          </a:p>
        </p:txBody>
      </p:sp>
      <p:sp>
        <p:nvSpPr>
          <p:cNvPr id="39938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/>
              <a:t>Each column = Access-control list for one object </a:t>
            </a:r>
            <a:br>
              <a:rPr lang="en-US" altLang="en-US" dirty="0"/>
            </a:br>
            <a:r>
              <a:rPr lang="en-US" altLang="en-US" dirty="0"/>
              <a:t>Defines who can perform what operation</a:t>
            </a:r>
            <a:br>
              <a:rPr lang="en-US" altLang="en-US" dirty="0"/>
            </a:br>
            <a:br>
              <a:rPr lang="en-US" altLang="en-US" sz="1600" dirty="0"/>
            </a:br>
            <a:r>
              <a:rPr lang="en-US" altLang="en-US" sz="1600" dirty="0"/>
              <a:t>	Domain 1 = Read, Write</a:t>
            </a:r>
            <a:br>
              <a:rPr lang="en-US" altLang="en-US" sz="1600" dirty="0"/>
            </a:br>
            <a:r>
              <a:rPr lang="en-US" altLang="en-US" sz="1600" dirty="0"/>
              <a:t>	Domain 2 = Read</a:t>
            </a:r>
            <a:br>
              <a:rPr lang="en-US" altLang="en-US" sz="1600" dirty="0"/>
            </a:br>
            <a:r>
              <a:rPr lang="en-US" altLang="en-US" sz="1600" dirty="0"/>
              <a:t>	Domain 3 = Read</a:t>
            </a:r>
            <a:br>
              <a:rPr lang="en-US" altLang="en-US" sz="1600" dirty="0"/>
            </a:br>
            <a:r>
              <a:rPr lang="en-US" altLang="en-US" sz="1600" dirty="0"/>
              <a:t>	       </a:t>
            </a:r>
            <a:endParaRPr lang="en-US" altLang="en-US" sz="1600" dirty="0">
              <a:sym typeface="MT Extra" pitchFamily="18" charset="2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dirty="0">
                <a:sym typeface="MT Extra" pitchFamily="18" charset="2"/>
              </a:rPr>
              <a:t>Each Row = Capability List (like a key)</a:t>
            </a:r>
            <a:br>
              <a:rPr lang="en-US" altLang="en-US" dirty="0">
                <a:sym typeface="MT Extra" pitchFamily="18" charset="2"/>
              </a:rPr>
            </a:br>
            <a:r>
              <a:rPr lang="en-US" altLang="en-US" dirty="0">
                <a:sym typeface="MT Extra" pitchFamily="18" charset="2"/>
              </a:rPr>
              <a:t>For each domain, what operations allowed on what objects</a:t>
            </a:r>
          </a:p>
          <a:p>
            <a:pPr lvl="3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sz="1600" dirty="0"/>
              <a:t>Object F1 – Read</a:t>
            </a:r>
          </a:p>
          <a:p>
            <a:pPr lvl="3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sz="1600" dirty="0"/>
              <a:t>Object F4 – Read, Write, Execute</a:t>
            </a:r>
          </a:p>
          <a:p>
            <a:pPr lvl="3">
              <a:lnSpc>
                <a:spcPct val="90000"/>
              </a:lnSpc>
              <a:buFont typeface="Wingdings" pitchFamily="2" charset="2"/>
              <a:buChar char="q"/>
              <a:tabLst>
                <a:tab pos="2736850" algn="l"/>
              </a:tabLst>
            </a:pPr>
            <a:r>
              <a:rPr lang="en-US" altLang="en-US" sz="1600" dirty="0"/>
              <a:t>Object F5 – Read, Write, Delete, Copy</a:t>
            </a:r>
          </a:p>
          <a:p>
            <a:pPr>
              <a:buFont typeface="Wingdings" pitchFamily="2" charset="2"/>
              <a:buChar char="q"/>
              <a:tabLst>
                <a:tab pos="2736850" algn="l"/>
              </a:tabLst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1619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Implementation of Access Matrix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600" dirty="0"/>
          </a:p>
        </p:txBody>
      </p:sp>
      <p:sp>
        <p:nvSpPr>
          <p:cNvPr id="40962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33183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altLang="en-US" sz="1600" dirty="0"/>
              <a:t>Option 3 – Capability list for domains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Instead of object-based, list is domain based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b="1" dirty="0">
                <a:solidFill>
                  <a:srgbClr val="3366FF"/>
                </a:solidFill>
              </a:rPr>
              <a:t>Capability list </a:t>
            </a:r>
            <a:r>
              <a:rPr lang="en-US" altLang="en-US" sz="1600" dirty="0"/>
              <a:t>for domain is list of objects together with operations allows on them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Object represented by its name or address, called a </a:t>
            </a:r>
            <a:r>
              <a:rPr lang="en-US" altLang="en-US" sz="1600" b="1" dirty="0">
                <a:solidFill>
                  <a:srgbClr val="3366FF"/>
                </a:solidFill>
              </a:rPr>
              <a:t>capability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Execute operation M on object </a:t>
            </a:r>
            <a:r>
              <a:rPr lang="en-US" altLang="en-US" sz="1600" dirty="0" err="1"/>
              <a:t>O</a:t>
            </a:r>
            <a:r>
              <a:rPr lang="en-US" altLang="en-US" sz="1600" baseline="-25000" dirty="0" err="1"/>
              <a:t>j</a:t>
            </a:r>
            <a:r>
              <a:rPr lang="en-US" altLang="en-US" sz="1600" dirty="0"/>
              <a:t>, process requests operation and specifies capability as parameter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sz="1600" dirty="0"/>
              <a:t>Possession of capability means access is allowed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sz="1600" dirty="0"/>
              <a:t>Capability list associated with domain but never directly accessible by domain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sz="1600" dirty="0"/>
              <a:t>Rather, protected object, maintained by OS and accessed indirectly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sz="1600" dirty="0"/>
              <a:t>Like a </a:t>
            </a:r>
            <a:r>
              <a:rPr lang="ja-JP" altLang="en-US" sz="1600" dirty="0"/>
              <a:t>“</a:t>
            </a:r>
            <a:r>
              <a:rPr lang="en-US" altLang="ja-JP" sz="1600" dirty="0"/>
              <a:t>secure pointer</a:t>
            </a:r>
            <a:r>
              <a:rPr lang="ja-JP" altLang="en-US" sz="1600" dirty="0"/>
              <a:t>”</a:t>
            </a:r>
            <a:endParaRPr lang="en-US" altLang="ja-JP" sz="1600" dirty="0"/>
          </a:p>
          <a:p>
            <a:pPr lvl="2">
              <a:buFont typeface="Wingdings" pitchFamily="2" charset="2"/>
              <a:buChar char="q"/>
            </a:pPr>
            <a:r>
              <a:rPr lang="en-US" altLang="en-US" sz="1600" dirty="0"/>
              <a:t>Idea can be extended up to applications</a:t>
            </a:r>
          </a:p>
          <a:p>
            <a:pPr>
              <a:buFont typeface="Wingdings" pitchFamily="2" charset="2"/>
              <a:buChar char="q"/>
            </a:pPr>
            <a:endParaRPr lang="en-US" altLang="en-US" sz="1400" dirty="0"/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851072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3600" dirty="0"/>
              <a:t>Implementation of Access Matrix </a:t>
            </a:r>
            <a:r>
              <a:rPr lang="en-US" altLang="en-US" sz="1600" dirty="0">
                <a:solidFill>
                  <a:prstClr val="white"/>
                </a:solidFill>
              </a:rPr>
              <a:t>(cont’d)</a:t>
            </a:r>
            <a:endParaRPr lang="en-US" altLang="en-US" sz="3600" dirty="0"/>
          </a:p>
        </p:txBody>
      </p:sp>
      <p:sp>
        <p:nvSpPr>
          <p:cNvPr id="41986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84163" y="1983287"/>
            <a:ext cx="8574087" cy="3992563"/>
          </a:xfrm>
        </p:spPr>
        <p:txBody>
          <a:bodyPr/>
          <a:lstStyle/>
          <a:p>
            <a:pPr>
              <a:buFont typeface="Wingdings" pitchFamily="2" charset="2"/>
              <a:buChar char="q"/>
            </a:pPr>
            <a:endParaRPr lang="en-US" altLang="en-US" sz="1400" dirty="0"/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Option 4 – Lock-key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Compromise between access lists and capability lists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object has list of unique bit patterns, called </a:t>
            </a:r>
            <a:r>
              <a:rPr lang="en-US" altLang="en-US" b="1" dirty="0">
                <a:solidFill>
                  <a:srgbClr val="3366FF"/>
                </a:solidFill>
              </a:rPr>
              <a:t>locks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Each domain as list of unique bit patterns called </a:t>
            </a:r>
            <a:r>
              <a:rPr lang="en-US" altLang="en-US" b="1" dirty="0">
                <a:solidFill>
                  <a:srgbClr val="3366FF"/>
                </a:solidFill>
              </a:rPr>
              <a:t>keys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Process in a domain can only access object if domain has key that matches one of the locks</a:t>
            </a:r>
          </a:p>
          <a:p>
            <a:pPr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812245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/>
              <a:t>Role-based Access Control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17700"/>
            <a:ext cx="6066533" cy="3992563"/>
          </a:xfrm>
        </p:spPr>
        <p:txBody>
          <a:bodyPr>
            <a:normAutofit fontScale="925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Protection can be applied to non-file resources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Oracle Solaris 10 provides </a:t>
            </a:r>
            <a:r>
              <a:rPr lang="en-US" altLang="en-US" b="1" dirty="0">
                <a:solidFill>
                  <a:srgbClr val="3366FF"/>
                </a:solidFill>
              </a:rPr>
              <a:t>role-based access control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RBAC</a:t>
            </a:r>
            <a:r>
              <a:rPr lang="en-US" altLang="en-US" dirty="0"/>
              <a:t>)</a:t>
            </a:r>
            <a:r>
              <a:rPr lang="en-US" altLang="en-US" b="1" dirty="0"/>
              <a:t> </a:t>
            </a:r>
            <a:r>
              <a:rPr lang="en-US" altLang="en-US" dirty="0"/>
              <a:t>to implement least privilege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b="1" i="1" dirty="0"/>
              <a:t>Privilege</a:t>
            </a:r>
            <a:r>
              <a:rPr lang="en-US" altLang="en-US" i="1" dirty="0"/>
              <a:t> </a:t>
            </a:r>
            <a:r>
              <a:rPr lang="en-US" altLang="en-US" dirty="0"/>
              <a:t>is right to execute system call or use an option within a system call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Can be assigned to processes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Users assigned </a:t>
            </a:r>
            <a:r>
              <a:rPr lang="en-US" altLang="en-US" b="1" i="1" dirty="0"/>
              <a:t>roles</a:t>
            </a:r>
            <a:r>
              <a:rPr lang="en-US" altLang="en-US" i="1" dirty="0"/>
              <a:t> </a:t>
            </a:r>
            <a:r>
              <a:rPr lang="en-US" altLang="en-US" dirty="0"/>
              <a:t>granting access to privileges and programs</a:t>
            </a:r>
          </a:p>
          <a:p>
            <a:pPr lvl="2">
              <a:buFont typeface="Wingdings" pitchFamily="2" charset="2"/>
              <a:buChar char="q"/>
            </a:pPr>
            <a:r>
              <a:rPr lang="en-US" altLang="en-US" dirty="0"/>
              <a:t>Enable role via password to gain its privileges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Similar to access matrix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  <p:pic>
        <p:nvPicPr>
          <p:cNvPr id="43011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935" y="2313728"/>
            <a:ext cx="3031065" cy="4074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0901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eaLnBrk="1" hangingPunct="1"/>
            <a:r>
              <a:rPr lang="en-US" altLang="en-US"/>
              <a:t>Other Protection Improvement Methods</a:t>
            </a:r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1970761"/>
            <a:ext cx="8574087" cy="39925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altLang="en-US" dirty="0"/>
              <a:t>System integrity protection (SIP)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Introduced by Apple in </a:t>
            </a:r>
            <a:r>
              <a:rPr lang="en-US" altLang="en-US" dirty="0" err="1"/>
              <a:t>macOS</a:t>
            </a:r>
            <a:r>
              <a:rPr lang="en-US" altLang="en-US" dirty="0"/>
              <a:t> 10.11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Restricts access to system files and resources, even by root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Uses extended file </a:t>
            </a:r>
            <a:r>
              <a:rPr lang="en-US" altLang="en-US" dirty="0" err="1"/>
              <a:t>attribs</a:t>
            </a:r>
            <a:r>
              <a:rPr lang="en-US" altLang="en-US" dirty="0"/>
              <a:t> to mark a binary to restrict changes, disable debugging and scrutinizing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Also, only code-signed kernel extensions allowed and </a:t>
            </a:r>
            <a:r>
              <a:rPr lang="en-US" altLang="en-US" dirty="0" err="1"/>
              <a:t>configurably</a:t>
            </a:r>
            <a:r>
              <a:rPr lang="en-US" altLang="en-US" dirty="0"/>
              <a:t> only code-signed apps</a:t>
            </a:r>
          </a:p>
          <a:p>
            <a:pPr>
              <a:buFont typeface="Wingdings" pitchFamily="2" charset="2"/>
              <a:buChar char="q"/>
            </a:pPr>
            <a:r>
              <a:rPr lang="en-US" altLang="en-US" dirty="0"/>
              <a:t>System-call filtering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Like a firewall, for system calls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Can also be deeper –inspecting all system call arguments</a:t>
            </a:r>
          </a:p>
          <a:p>
            <a:pPr lvl="1">
              <a:buFont typeface="Wingdings" pitchFamily="2" charset="2"/>
              <a:buChar char="q"/>
            </a:pPr>
            <a:r>
              <a:rPr lang="en-US" altLang="en-US" dirty="0"/>
              <a:t>Linux implements via SECCOMP-BPF (Berkeley packet filtering)</a:t>
            </a:r>
          </a:p>
          <a:p>
            <a:pPr lvl="1">
              <a:buFont typeface="Wingdings" pitchFamily="2" charset="2"/>
              <a:buChar char="q"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28145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430669" y="1114339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Operating Systems Concept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Galvin and </a:t>
            </a:r>
            <a:r>
              <a:rPr lang="en-US" dirty="0" err="1"/>
              <a:t>Silberschatz</a:t>
            </a:r>
            <a:endParaRPr lang="en-US" dirty="0"/>
          </a:p>
          <a:p>
            <a:pPr lvl="1">
              <a:buFont typeface="Wingdings" pitchFamily="2" charset="2"/>
              <a:buChar char="q"/>
            </a:pPr>
            <a:r>
              <a:rPr lang="en-US" dirty="0"/>
              <a:t>Edition: 9</a:t>
            </a:r>
            <a:r>
              <a:rPr lang="en-US" baseline="30000" dirty="0"/>
              <a:t>th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160</TotalTime>
  <Words>1451</Words>
  <Application>Microsoft Office PowerPoint</Application>
  <PresentationFormat>On-screen Show (4:3)</PresentationFormat>
  <Paragraphs>180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Arial</vt:lpstr>
      <vt:lpstr>Calibri</vt:lpstr>
      <vt:lpstr>Corbel</vt:lpstr>
      <vt:lpstr>Courier New</vt:lpstr>
      <vt:lpstr>Georgia</vt:lpstr>
      <vt:lpstr>Helvetica</vt:lpstr>
      <vt:lpstr>MT Extra</vt:lpstr>
      <vt:lpstr>Times New Roman</vt:lpstr>
      <vt:lpstr>Wingdings</vt:lpstr>
      <vt:lpstr>Spectrum</vt:lpstr>
      <vt:lpstr>Protection</vt:lpstr>
      <vt:lpstr>Lecture Outline</vt:lpstr>
      <vt:lpstr>Goals of Protection</vt:lpstr>
      <vt:lpstr>Principles of Protection</vt:lpstr>
      <vt:lpstr>Domain of Protection</vt:lpstr>
      <vt:lpstr>Domain Structure</vt:lpstr>
      <vt:lpstr>Domain Implementation (UNIX)</vt:lpstr>
      <vt:lpstr>Domain Implementation (Android App IDs)</vt:lpstr>
      <vt:lpstr>Access Matrix</vt:lpstr>
      <vt:lpstr>Use of Access Matrix</vt:lpstr>
      <vt:lpstr>Use of Access Matrix (cont’d)</vt:lpstr>
      <vt:lpstr>Access Matrix of Figure A with Domains as Objects</vt:lpstr>
      <vt:lpstr>Access Matrix with Copy Rights</vt:lpstr>
      <vt:lpstr>Access Matrix With Owner Rights</vt:lpstr>
      <vt:lpstr>Modified Access Matrix of Figure B</vt:lpstr>
      <vt:lpstr>Implementation of Access Matrix</vt:lpstr>
      <vt:lpstr>Implementation of Access Matrix (cont’d)</vt:lpstr>
      <vt:lpstr>Implementation of Access Matrix (cont’d)</vt:lpstr>
      <vt:lpstr>Implementation of Access Matrix (cont’d)</vt:lpstr>
      <vt:lpstr>Implementation of Access Matrix (cont’d)</vt:lpstr>
      <vt:lpstr>Role-based Access Control</vt:lpstr>
      <vt:lpstr>Other Protection Improvement Methods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MEJBAH AHAMMAD</cp:lastModifiedBy>
  <cp:revision>22</cp:revision>
  <dcterms:created xsi:type="dcterms:W3CDTF">2018-12-10T17:20:29Z</dcterms:created>
  <dcterms:modified xsi:type="dcterms:W3CDTF">2026-02-08T12:10:39Z</dcterms:modified>
</cp:coreProperties>
</file>