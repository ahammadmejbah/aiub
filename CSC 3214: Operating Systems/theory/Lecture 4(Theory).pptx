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3"/>
  </p:notesMasterIdLst>
  <p:sldIdLst>
    <p:sldId id="256" r:id="rId2"/>
    <p:sldId id="257" r:id="rId3"/>
    <p:sldId id="277" r:id="rId4"/>
    <p:sldId id="278" r:id="rId5"/>
    <p:sldId id="279" r:id="rId6"/>
    <p:sldId id="280" r:id="rId7"/>
    <p:sldId id="354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3" r:id="rId31"/>
    <p:sldId id="304" r:id="rId32"/>
    <p:sldId id="305" r:id="rId33"/>
    <p:sldId id="306" r:id="rId34"/>
    <p:sldId id="307" r:id="rId35"/>
    <p:sldId id="308" r:id="rId36"/>
    <p:sldId id="309" r:id="rId37"/>
    <p:sldId id="310" r:id="rId38"/>
    <p:sldId id="311" r:id="rId39"/>
    <p:sldId id="312" r:id="rId40"/>
    <p:sldId id="313" r:id="rId41"/>
    <p:sldId id="314" r:id="rId42"/>
    <p:sldId id="315" r:id="rId43"/>
    <p:sldId id="316" r:id="rId44"/>
    <p:sldId id="317" r:id="rId45"/>
    <p:sldId id="319" r:id="rId46"/>
    <p:sldId id="321" r:id="rId47"/>
    <p:sldId id="322" r:id="rId48"/>
    <p:sldId id="323" r:id="rId49"/>
    <p:sldId id="329" r:id="rId50"/>
    <p:sldId id="264" r:id="rId51"/>
    <p:sldId id="265" r:id="rId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90" d="100"/>
          <a:sy n="90" d="100"/>
        </p:scale>
        <p:origin x="90" y="28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A ANIKA TASNIM" userId="8fb70a1d-16e3-4c86-a699-7b87e9bfa60b" providerId="ADAL" clId="{C3924A2C-5863-49F3-9906-A85A09FD20BC}"/>
    <pc:docChg chg="modSld">
      <pc:chgData name="SYEDA ANIKA TASNIM" userId="8fb70a1d-16e3-4c86-a699-7b87e9bfa60b" providerId="ADAL" clId="{C3924A2C-5863-49F3-9906-A85A09FD20BC}" dt="2021-09-29T02:03:06.795" v="3" actId="20577"/>
      <pc:docMkLst>
        <pc:docMk/>
      </pc:docMkLst>
      <pc:sldChg chg="modSp mod">
        <pc:chgData name="SYEDA ANIKA TASNIM" userId="8fb70a1d-16e3-4c86-a699-7b87e9bfa60b" providerId="ADAL" clId="{C3924A2C-5863-49F3-9906-A85A09FD20BC}" dt="2021-09-29T02:03:06.795" v="3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C3924A2C-5863-49F3-9906-A85A09FD20BC}" dt="2021-09-29T02:03:06.795" v="3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SYEDA ANIKA TASNIM" userId="8fb70a1d-16e3-4c86-a699-7b87e9bfa60b" providerId="ADAL" clId="{5528869C-6184-4FC9-B796-CD749B206438}"/>
    <pc:docChg chg="custSel modSld">
      <pc:chgData name="SYEDA ANIKA TASNIM" userId="8fb70a1d-16e3-4c86-a699-7b87e9bfa60b" providerId="ADAL" clId="{5528869C-6184-4FC9-B796-CD749B206438}" dt="2020-07-27T08:02:21.175" v="68" actId="20577"/>
      <pc:docMkLst>
        <pc:docMk/>
      </pc:docMkLst>
      <pc:sldChg chg="modSp mod">
        <pc:chgData name="SYEDA ANIKA TASNIM" userId="8fb70a1d-16e3-4c86-a699-7b87e9bfa60b" providerId="ADAL" clId="{5528869C-6184-4FC9-B796-CD749B206438}" dt="2020-07-27T08:02:21.175" v="68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5528869C-6184-4FC9-B796-CD749B206438}" dt="2020-07-27T08:02:21.175" v="68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SYEDA ANIKA TASNIM" userId="8fb70a1d-16e3-4c86-a699-7b87e9bfa60b" providerId="ADAL" clId="{00C7C238-567B-4A53-B6AE-E769C0A82776}"/>
    <pc:docChg chg="modSld">
      <pc:chgData name="SYEDA ANIKA TASNIM" userId="8fb70a1d-16e3-4c86-a699-7b87e9bfa60b" providerId="ADAL" clId="{00C7C238-567B-4A53-B6AE-E769C0A82776}" dt="2020-10-27T13:23:48.814" v="9" actId="20577"/>
      <pc:docMkLst>
        <pc:docMk/>
      </pc:docMkLst>
      <pc:sldChg chg="modSp mod">
        <pc:chgData name="SYEDA ANIKA TASNIM" userId="8fb70a1d-16e3-4c86-a699-7b87e9bfa60b" providerId="ADAL" clId="{00C7C238-567B-4A53-B6AE-E769C0A82776}" dt="2020-10-27T13:23:48.814" v="9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00C7C238-567B-4A53-B6AE-E769C0A82776}" dt="2020-10-27T13:23:48.814" v="9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976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0976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0976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0976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0976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097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097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097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097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7F3C830-C064-419C-BA4E-3E69974CEE99}" type="slidenum">
              <a:rPr lang="en-US" altLang="en-US">
                <a:latin typeface="Times New Roman" pitchFamily="18" charset="0"/>
              </a:rPr>
              <a:pPr/>
              <a:t>32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hammadmejbah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Processes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495606"/>
              </p:ext>
            </p:extLst>
          </p:nvPr>
        </p:nvGraphicFramePr>
        <p:xfrm>
          <a:off x="476205" y="5186042"/>
          <a:ext cx="8335798" cy="129313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82691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77815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766434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21-22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Mejbah Ahammad, Lecturer, CS,  AIUB</a:t>
                      </a: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+8801308757586 </a:t>
                      </a:r>
                      <a:r>
                        <a:rPr lang="en-US" sz="1800" cap="none" dirty="0">
                          <a:solidFill>
                            <a:srgbClr val="F49100"/>
                          </a:solidFill>
                          <a:latin typeface="Georgia" panose="02040502050405020303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ahammadmejbah@aiub.</a:t>
                      </a:r>
                      <a:r>
                        <a:rPr lang="en-US" sz="1800" cap="none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edu</a:t>
                      </a:r>
                      <a:endParaRPr lang="en-US" sz="1800" cap="none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  <a:p>
                      <a:r>
                        <a:rPr lang="en-US" sz="1800" cap="none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Room Number: DN0922</a:t>
                      </a:r>
                      <a:endParaRPr lang="en-US" sz="1800" cap="none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Process Concept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Process Scheduling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Operations on Processes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Inter-process Communication (IPC)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Examples of IPC Systems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Communication in Client-Server Systems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Concept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Process</a:t>
            </a:r>
            <a:r>
              <a:rPr lang="en-US" altLang="en-US" dirty="0"/>
              <a:t> – a program in execution; process execution must progress in sequential fashion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Program is </a:t>
            </a:r>
            <a:r>
              <a:rPr lang="en-US" altLang="en-US" b="1" i="1" dirty="0"/>
              <a:t>passive</a:t>
            </a:r>
            <a:r>
              <a:rPr lang="en-US" altLang="en-US" dirty="0"/>
              <a:t> entity stored on disk (</a:t>
            </a:r>
            <a:r>
              <a:rPr lang="en-US" altLang="en-US" b="1" dirty="0">
                <a:solidFill>
                  <a:srgbClr val="3366FF"/>
                </a:solidFill>
              </a:rPr>
              <a:t>executable file</a:t>
            </a:r>
            <a:r>
              <a:rPr lang="en-US" altLang="en-US" dirty="0"/>
              <a:t>), process is </a:t>
            </a:r>
            <a:r>
              <a:rPr lang="en-US" altLang="en-US" b="1" i="1" dirty="0"/>
              <a:t>active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Program becomes process when executable file loaded into memory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Execution of program started via: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GUI mouse clicks,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command line entry of its name,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One program can be several processes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Consider multiple users executing the same program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12980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 Structure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A process is more than the program code, which is sometimes known as the </a:t>
            </a:r>
            <a:r>
              <a:rPr lang="en-US" altLang="en-US" b="1" dirty="0"/>
              <a:t>text </a:t>
            </a:r>
            <a:r>
              <a:rPr lang="en-US" altLang="en-US" dirty="0"/>
              <a:t>section. 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It also includes the current activity: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 value of the </a:t>
            </a:r>
            <a:r>
              <a:rPr lang="en-US" altLang="en-US" b="1" dirty="0"/>
              <a:t>program counter</a:t>
            </a:r>
            <a:r>
              <a:rPr lang="en-US" altLang="en-US" dirty="0"/>
              <a:t>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 contents of the </a:t>
            </a:r>
            <a:r>
              <a:rPr lang="en-US" altLang="en-US" b="1" dirty="0"/>
              <a:t>processor's registers</a:t>
            </a:r>
            <a:r>
              <a:rPr lang="en-US" altLang="en-US" dirty="0"/>
              <a:t>. 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It also includes the process </a:t>
            </a:r>
            <a:r>
              <a:rPr lang="en-US" altLang="en-US" b="1" dirty="0"/>
              <a:t>stack</a:t>
            </a:r>
            <a:r>
              <a:rPr lang="en-US" altLang="en-US" dirty="0"/>
              <a:t>, which contains temporary data (such as function parameters, return addresses, and local variables)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It also includes the </a:t>
            </a:r>
            <a:r>
              <a:rPr lang="en-US" altLang="en-US" b="1" dirty="0"/>
              <a:t>data section</a:t>
            </a:r>
            <a:r>
              <a:rPr lang="en-US" altLang="en-US" dirty="0"/>
              <a:t>, which contains global variables.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 It may also include a  </a:t>
            </a:r>
            <a:r>
              <a:rPr lang="en-US" altLang="en-US" b="1" dirty="0"/>
              <a:t>heap</a:t>
            </a:r>
            <a:r>
              <a:rPr lang="en-US" altLang="en-US" dirty="0"/>
              <a:t>, which is memory that is dynamically allocated during process run time. 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90646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in Memory</a:t>
            </a:r>
          </a:p>
        </p:txBody>
      </p:sp>
      <p:pic>
        <p:nvPicPr>
          <p:cNvPr id="15363" name="Picture 4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0978" y="1941273"/>
            <a:ext cx="2617787" cy="413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0460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State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04531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As a process executes, it changes </a:t>
            </a:r>
            <a:r>
              <a:rPr lang="en-US" altLang="en-US" b="1" dirty="0">
                <a:solidFill>
                  <a:srgbClr val="3366FF"/>
                </a:solidFill>
              </a:rPr>
              <a:t>state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new</a:t>
            </a:r>
            <a:r>
              <a:rPr lang="en-US" altLang="en-US" dirty="0"/>
              <a:t>:  The process is being created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running</a:t>
            </a:r>
            <a:r>
              <a:rPr lang="en-US" altLang="en-US" dirty="0"/>
              <a:t>:  Instructions are being executed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waiting</a:t>
            </a:r>
            <a:r>
              <a:rPr lang="en-US" altLang="en-US" dirty="0"/>
              <a:t>:  The process is waiting for some event to occur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ready</a:t>
            </a:r>
            <a:r>
              <a:rPr lang="en-US" altLang="en-US" dirty="0"/>
              <a:t>:  The process is waiting to be assigned to a processor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terminated</a:t>
            </a:r>
            <a:r>
              <a:rPr lang="en-US" altLang="en-US" dirty="0"/>
              <a:t>:  The process has finished execution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95723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State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04531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Diagram of Process State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  <p:pic>
        <p:nvPicPr>
          <p:cNvPr id="17412" name="Picture 9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368" y="2998941"/>
            <a:ext cx="5049838" cy="201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1815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Control Block (PCB)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7076747" cy="4530247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1600" dirty="0"/>
              <a:t>Information associated with each process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(also called </a:t>
            </a:r>
            <a:r>
              <a:rPr lang="en-US" altLang="en-US" sz="1600" b="1" dirty="0">
                <a:solidFill>
                  <a:srgbClr val="3366FF"/>
                </a:solidFill>
              </a:rPr>
              <a:t>task control block</a:t>
            </a:r>
            <a:r>
              <a:rPr lang="en-US" altLang="en-US" sz="1600" dirty="0"/>
              <a:t>)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Process state – running, waiting, </a:t>
            </a:r>
            <a:r>
              <a:rPr lang="en-US" altLang="en-US" sz="1600" dirty="0" err="1"/>
              <a:t>etc</a:t>
            </a:r>
            <a:endParaRPr lang="en-US" altLang="en-US" sz="1600" dirty="0"/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Program counter – location of instruction to next execute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CPU registers – contents of all process-centric registers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CPU scheduling information- priorities, scheduling queue pointers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Memory-management information – memory allocated to the process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Accounting information – CPU used, clock time elapsed since start, time limits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I/O status information – I/O devices allocated to process, list of open files</a:t>
            </a:r>
          </a:p>
          <a:p>
            <a:pPr>
              <a:buFont typeface="Wingdings" pitchFamily="2" charset="2"/>
              <a:buChar char="q"/>
            </a:pPr>
            <a:endParaRPr lang="en-US" altLang="en-US" sz="1200" dirty="0"/>
          </a:p>
        </p:txBody>
      </p:sp>
      <p:pic>
        <p:nvPicPr>
          <p:cNvPr id="19460" name="Picture 9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0700" y="1995813"/>
            <a:ext cx="1987550" cy="319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6194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Threads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45709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So far, process has a single thread of execution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Consider having multiple program counters per process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Multiple locations can execute at once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Multiple threads of control -&gt; </a:t>
            </a:r>
            <a:r>
              <a:rPr lang="en-US" altLang="en-US" b="1" dirty="0">
                <a:solidFill>
                  <a:srgbClr val="3366FF"/>
                </a:solidFill>
              </a:rPr>
              <a:t>threads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Need storage for thread details, multiple program counters in PCB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Covered in the next chapter</a:t>
            </a:r>
          </a:p>
        </p:txBody>
      </p:sp>
    </p:spTree>
    <p:extLst>
      <p:ext uri="{BB962C8B-B14F-4D97-AF65-F5344CB8AC3E}">
        <p14:creationId xmlns:p14="http://schemas.microsoft.com/office/powerpoint/2010/main" val="1587050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Process Representation in Linux</a:t>
            </a:r>
          </a:p>
        </p:txBody>
      </p:sp>
      <p:sp>
        <p:nvSpPr>
          <p:cNvPr id="2355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44803" y="1953418"/>
            <a:ext cx="7076747" cy="3992563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en-US" dirty="0"/>
              <a:t>Represented by the C structure 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task_struct</a:t>
            </a:r>
            <a:br>
              <a:rPr lang="en-US" altLang="en-US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pid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t_pid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; /* process identifier */ 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long state; /* state of the process */ 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unsigned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time_slice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/* scheduling information */ 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task_struct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*parent; /* this process</a:t>
            </a:r>
            <a:r>
              <a:rPr lang="ja-JP" altLang="en-US" sz="1600" dirty="0">
                <a:latin typeface="Courier New" pitchFamily="49" charset="0"/>
                <a:cs typeface="Courier New" pitchFamily="49" charset="0"/>
              </a:rPr>
              <a:t>’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s parent */ </a:t>
            </a:r>
            <a:br>
              <a:rPr lang="en-US" altLang="ja-JP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ja-JP" sz="16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ja-JP" sz="1600" dirty="0" err="1">
                <a:latin typeface="Courier New" pitchFamily="49" charset="0"/>
                <a:cs typeface="Courier New" pitchFamily="49" charset="0"/>
              </a:rPr>
              <a:t>list_head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 children; /* this process</a:t>
            </a:r>
            <a:r>
              <a:rPr lang="ja-JP" altLang="en-US" sz="1600" dirty="0">
                <a:latin typeface="Courier New" pitchFamily="49" charset="0"/>
                <a:cs typeface="Courier New" pitchFamily="49" charset="0"/>
              </a:rPr>
              <a:t>’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s children */ </a:t>
            </a:r>
            <a:br>
              <a:rPr lang="en-US" altLang="ja-JP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ja-JP" sz="16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ja-JP" sz="1600" dirty="0" err="1">
                <a:latin typeface="Courier New" pitchFamily="49" charset="0"/>
                <a:cs typeface="Courier New" pitchFamily="49" charset="0"/>
              </a:rPr>
              <a:t>files_struct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 *files; /* list of open files */ </a:t>
            </a:r>
            <a:br>
              <a:rPr lang="en-US" altLang="ja-JP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ja-JP" sz="16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ja-JP" sz="1600" dirty="0" err="1">
                <a:latin typeface="Courier New" pitchFamily="49" charset="0"/>
                <a:cs typeface="Courier New" pitchFamily="49" charset="0"/>
              </a:rPr>
              <a:t>mm_struct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 *mm; /* address space of this process */</a:t>
            </a:r>
            <a:endParaRPr lang="en-US" altLang="en-US" sz="1600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23556" name="Picture 3" descr="C:\Users\as668\Desktop\in-3_1.jp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0585" y="4647635"/>
            <a:ext cx="5148262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1745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Scheduling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8574087" cy="3992563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Maximize CPU use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Quickly switch processes onto CPU for time sharing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Process “gives” up then CPU under two conditions: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I/O request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After N units of time have elapsed (need a timer)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Once  a process gives up the CPU it is added to the “ready queue”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Process scheduler </a:t>
            </a:r>
            <a:r>
              <a:rPr lang="en-US" altLang="en-US" dirty="0"/>
              <a:t>selects among available processes in the ready queue for next execution on CPU</a:t>
            </a:r>
          </a:p>
        </p:txBody>
      </p:sp>
    </p:spTree>
    <p:extLst>
      <p:ext uri="{BB962C8B-B14F-4D97-AF65-F5344CB8AC3E}">
        <p14:creationId xmlns:p14="http://schemas.microsoft.com/office/powerpoint/2010/main" val="3689799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Scheduling Queues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133600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OS  Maintains </a:t>
            </a:r>
            <a:r>
              <a:rPr lang="en-US" altLang="en-US" b="1" dirty="0">
                <a:solidFill>
                  <a:srgbClr val="3366FF"/>
                </a:solidFill>
              </a:rPr>
              <a:t>scheduling queues </a:t>
            </a:r>
            <a:r>
              <a:rPr lang="en-US" altLang="en-US" dirty="0"/>
              <a:t>of processes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Job queue </a:t>
            </a:r>
            <a:r>
              <a:rPr lang="en-US" altLang="en-US" dirty="0"/>
              <a:t>– set of all processes in the system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Ready queue </a:t>
            </a:r>
            <a:r>
              <a:rPr lang="en-US" altLang="en-US" dirty="0"/>
              <a:t>– set of all processes residing in main memory, ready and waiting to execute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Device queues </a:t>
            </a:r>
            <a:r>
              <a:rPr lang="en-US" altLang="en-US" dirty="0"/>
              <a:t>– set of processes waiting for an I/O device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Processes migrate among the various queues</a:t>
            </a:r>
          </a:p>
        </p:txBody>
      </p:sp>
    </p:spTree>
    <p:extLst>
      <p:ext uri="{BB962C8B-B14F-4D97-AF65-F5344CB8AC3E}">
        <p14:creationId xmlns:p14="http://schemas.microsoft.com/office/powerpoint/2010/main" val="2450953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200" dirty="0"/>
              <a:t>Ready Queue And Various I/O Device Queues</a:t>
            </a:r>
          </a:p>
        </p:txBody>
      </p:sp>
      <p:pic>
        <p:nvPicPr>
          <p:cNvPr id="28675" name="Picture 7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607" y="1931074"/>
            <a:ext cx="5289550" cy="456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3977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Representation of Process Scheduling</a:t>
            </a:r>
          </a:p>
        </p:txBody>
      </p:sp>
      <p:pic>
        <p:nvPicPr>
          <p:cNvPr id="30723" name="Picture 4" descr="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3613" y="2919065"/>
            <a:ext cx="5668963" cy="327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4" name="Rectangle 3"/>
          <p:cNvSpPr txBox="1">
            <a:spLocks noChangeArrowheads="1"/>
          </p:cNvSpPr>
          <p:nvPr/>
        </p:nvSpPr>
        <p:spPr bwMode="auto">
          <a:xfrm>
            <a:off x="284163" y="1979613"/>
            <a:ext cx="6808787" cy="74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Queuing diagram </a:t>
            </a:r>
            <a:r>
              <a:rPr lang="en-US" altLang="en-US" dirty="0"/>
              <a:t>represents queues, resources, flows</a:t>
            </a:r>
          </a:p>
        </p:txBody>
      </p:sp>
    </p:spTree>
    <p:extLst>
      <p:ext uri="{BB962C8B-B14F-4D97-AF65-F5344CB8AC3E}">
        <p14:creationId xmlns:p14="http://schemas.microsoft.com/office/powerpoint/2010/main" val="2095937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CPU Switch From Process to Process</a:t>
            </a:r>
          </a:p>
        </p:txBody>
      </p:sp>
      <p:pic>
        <p:nvPicPr>
          <p:cNvPr id="32771" name="Picture 9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300" y="1981722"/>
            <a:ext cx="6823138" cy="4581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9280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Schedulers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1600" b="1" dirty="0">
                <a:solidFill>
                  <a:srgbClr val="3366FF"/>
                </a:solidFill>
              </a:rPr>
              <a:t>Short-term scheduler  </a:t>
            </a:r>
            <a:r>
              <a:rPr lang="en-US" altLang="en-US" sz="1600" dirty="0"/>
              <a:t>(or </a:t>
            </a:r>
            <a:r>
              <a:rPr lang="en-US" altLang="en-US" sz="1600" b="1" dirty="0">
                <a:solidFill>
                  <a:srgbClr val="3366FF"/>
                </a:solidFill>
              </a:rPr>
              <a:t>CPU scheduler</a:t>
            </a:r>
            <a:r>
              <a:rPr lang="en-US" altLang="en-US" sz="1600" dirty="0"/>
              <a:t>) – selects which process should be executed next and allocates  a CPU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1600" dirty="0"/>
              <a:t>Sometimes the only scheduler in a system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1600" dirty="0"/>
              <a:t>Short-term scheduler is invoked frequently (milliseconds) </a:t>
            </a:r>
            <a:r>
              <a:rPr lang="en-US" altLang="en-US" sz="1600" dirty="0">
                <a:sym typeface="Symbol" pitchFamily="18" charset="2"/>
              </a:rPr>
              <a:t> (must be fast)</a:t>
            </a:r>
            <a:endParaRPr lang="en-US" altLang="en-US" sz="800" dirty="0">
              <a:sym typeface="Symbol" pitchFamily="18" charset="2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sz="1600" b="1" dirty="0">
                <a:solidFill>
                  <a:srgbClr val="3366FF"/>
                </a:solidFill>
              </a:rPr>
              <a:t>Long-term scheduler  </a:t>
            </a:r>
            <a:r>
              <a:rPr lang="en-US" altLang="en-US" sz="1600" dirty="0"/>
              <a:t>(or </a:t>
            </a:r>
            <a:r>
              <a:rPr lang="en-US" altLang="en-US" sz="1600" b="1" dirty="0">
                <a:solidFill>
                  <a:srgbClr val="3366FF"/>
                </a:solidFill>
              </a:rPr>
              <a:t>job scheduler</a:t>
            </a:r>
            <a:r>
              <a:rPr lang="en-US" altLang="en-US" sz="1600" dirty="0"/>
              <a:t>) – selects which processes should be brought into the ready queue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1600" dirty="0">
                <a:sym typeface="Symbol" pitchFamily="18" charset="2"/>
              </a:rPr>
              <a:t>Long-term scheduler is invoked  infrequently (seconds, minutes)  (may be slow)</a:t>
            </a:r>
            <a:endParaRPr lang="en-US" altLang="en-US" sz="800" dirty="0">
              <a:sym typeface="Symbol" pitchFamily="18" charset="2"/>
            </a:endParaRPr>
          </a:p>
          <a:p>
            <a:pPr lvl="1">
              <a:buFont typeface="Wingdings" pitchFamily="2" charset="2"/>
              <a:buChar char="q"/>
            </a:pPr>
            <a:r>
              <a:rPr lang="en-US" altLang="en-US" sz="1600" dirty="0">
                <a:sym typeface="Symbol" pitchFamily="18" charset="2"/>
              </a:rPr>
              <a:t>The long-term scheduler controls the </a:t>
            </a:r>
            <a:r>
              <a:rPr lang="en-US" altLang="en-US" sz="1600" b="1" dirty="0">
                <a:solidFill>
                  <a:srgbClr val="3366FF"/>
                </a:solidFill>
                <a:sym typeface="Symbol" pitchFamily="18" charset="2"/>
              </a:rPr>
              <a:t>degree of multiprogramming</a:t>
            </a:r>
            <a:endParaRPr lang="en-US" altLang="en-US" sz="800" i="1" dirty="0">
              <a:sym typeface="Symbol" pitchFamily="18" charset="2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sz="1600" dirty="0">
                <a:sym typeface="Symbol" pitchFamily="18" charset="2"/>
              </a:rPr>
              <a:t>Processes can be described as either: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1600" b="1" dirty="0">
                <a:solidFill>
                  <a:srgbClr val="3366FF"/>
                </a:solidFill>
                <a:sym typeface="Symbol" pitchFamily="18" charset="2"/>
              </a:rPr>
              <a:t>I/O-bound process</a:t>
            </a:r>
            <a:r>
              <a:rPr lang="en-US" altLang="en-US" sz="16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en-US" sz="1600" dirty="0">
                <a:sym typeface="Symbol" pitchFamily="18" charset="2"/>
              </a:rPr>
              <a:t>– spends more time doing I/O than computations, many short CPU bursts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1600" b="1" dirty="0">
                <a:solidFill>
                  <a:srgbClr val="3366FF"/>
                </a:solidFill>
                <a:sym typeface="Symbol" pitchFamily="18" charset="2"/>
              </a:rPr>
              <a:t>CPU-bound process </a:t>
            </a:r>
            <a:r>
              <a:rPr lang="en-US" altLang="en-US" sz="1600" dirty="0">
                <a:sym typeface="Symbol" pitchFamily="18" charset="2"/>
              </a:rPr>
              <a:t>– spends more time doing computations; few very long CPU bursts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>
                <a:sym typeface="Symbol" pitchFamily="18" charset="2"/>
              </a:rPr>
              <a:t>Long-term scheduler strives for good </a:t>
            </a:r>
            <a:r>
              <a:rPr lang="en-US" altLang="en-US" sz="1600" b="1" i="1" dirty="0">
                <a:sym typeface="Symbol" pitchFamily="18" charset="2"/>
              </a:rPr>
              <a:t>process mix</a:t>
            </a:r>
            <a:endParaRPr lang="en-US" altLang="en-US" sz="1600" dirty="0">
              <a:sym typeface="Symbol" pitchFamily="18" charset="2"/>
            </a:endParaRPr>
          </a:p>
          <a:p>
            <a:pPr>
              <a:buFont typeface="Wingdings" pitchFamily="2" charset="2"/>
              <a:buChar char="q"/>
            </a:pPr>
            <a:endParaRPr lang="en-US" altLang="en-US" dirty="0"/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036314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Multitasking in Mobile Systems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471530" cy="4555299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Some mobile systems (e.g., early version of </a:t>
            </a:r>
            <a:r>
              <a:rPr lang="en-US" altLang="en-US" dirty="0" err="1"/>
              <a:t>iOS</a:t>
            </a:r>
            <a:r>
              <a:rPr lang="en-US" altLang="en-US" dirty="0"/>
              <a:t>)  allow only one process to run, others suspended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Starting with </a:t>
            </a:r>
            <a:r>
              <a:rPr lang="en-US" altLang="en-US" dirty="0" err="1"/>
              <a:t>iOS</a:t>
            </a:r>
            <a:r>
              <a:rPr lang="en-US" altLang="en-US" dirty="0"/>
              <a:t> 4,  it provides for a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Single </a:t>
            </a:r>
            <a:r>
              <a:rPr lang="en-US" altLang="en-US" b="1" dirty="0">
                <a:solidFill>
                  <a:srgbClr val="3366FF"/>
                </a:solidFill>
              </a:rPr>
              <a:t>foreground</a:t>
            </a:r>
            <a:r>
              <a:rPr lang="en-US" altLang="en-US" dirty="0"/>
              <a:t> process – controlled via user interface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Multiple </a:t>
            </a:r>
            <a:r>
              <a:rPr lang="en-US" altLang="en-US" b="1" dirty="0">
                <a:solidFill>
                  <a:srgbClr val="3366FF"/>
                </a:solidFill>
              </a:rPr>
              <a:t>background</a:t>
            </a:r>
            <a:r>
              <a:rPr lang="en-US" altLang="en-US" dirty="0"/>
              <a:t> processes – in memory, running, but not on the display, and with limits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Limits include single, short task, receiving notification of events, specific long-running tasks like audio playback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Android runs foreground and background, with fewer limits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Background process uses a </a:t>
            </a:r>
            <a:r>
              <a:rPr lang="en-US" altLang="en-US" b="1" dirty="0">
                <a:solidFill>
                  <a:srgbClr val="3366FF"/>
                </a:solidFill>
              </a:rPr>
              <a:t>service</a:t>
            </a:r>
            <a:r>
              <a:rPr lang="en-US" altLang="en-US" dirty="0"/>
              <a:t> to perform tasks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Service can keep running even if background process is suspended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Service has no user interface, small memory use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21039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Context Switch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267243" y="1958235"/>
            <a:ext cx="8591007" cy="4505195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When CPU switches to another process, the system must </a:t>
            </a:r>
            <a:r>
              <a:rPr lang="en-US" altLang="en-US" b="1" dirty="0">
                <a:solidFill>
                  <a:srgbClr val="3366FF"/>
                </a:solidFill>
              </a:rPr>
              <a:t>save the state </a:t>
            </a:r>
            <a:r>
              <a:rPr lang="en-US" altLang="en-US" dirty="0"/>
              <a:t>of the old process and load the </a:t>
            </a:r>
            <a:r>
              <a:rPr lang="en-US" altLang="en-US" b="1" dirty="0">
                <a:solidFill>
                  <a:srgbClr val="3366FF"/>
                </a:solidFill>
              </a:rPr>
              <a:t>saved state </a:t>
            </a:r>
            <a:r>
              <a:rPr lang="en-US" altLang="en-US" dirty="0"/>
              <a:t>for the new process via a </a:t>
            </a:r>
            <a:r>
              <a:rPr lang="en-US" altLang="en-US" b="1" dirty="0">
                <a:solidFill>
                  <a:srgbClr val="3366FF"/>
                </a:solidFill>
              </a:rPr>
              <a:t>context switch</a:t>
            </a: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Context </a:t>
            </a:r>
            <a:r>
              <a:rPr lang="en-US" altLang="en-US" dirty="0"/>
              <a:t>of a process represented in the PCB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Context-switch time is pure overhead; the system does no useful work while switching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 more complex the OS and the PCB </a:t>
            </a:r>
            <a:r>
              <a:rPr lang="en-US" altLang="en-US" dirty="0">
                <a:sym typeface="Wingdings" pitchFamily="2" charset="2"/>
              </a:rPr>
              <a:t> the </a:t>
            </a:r>
            <a:r>
              <a:rPr lang="en-US" altLang="en-US" dirty="0"/>
              <a:t>longer the context switch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Time dependent on hardware support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Some hardware provides multiple sets of registers per CPU </a:t>
            </a:r>
            <a:r>
              <a:rPr lang="en-US" altLang="en-US" dirty="0">
                <a:sym typeface="Wingdings" pitchFamily="2" charset="2"/>
              </a:rPr>
              <a:t></a:t>
            </a:r>
            <a:r>
              <a:rPr lang="en-US" altLang="en-US" dirty="0"/>
              <a:t> multiple contexts loaded at once</a:t>
            </a:r>
          </a:p>
        </p:txBody>
      </p:sp>
    </p:spTree>
    <p:extLst>
      <p:ext uri="{BB962C8B-B14F-4D97-AF65-F5344CB8AC3E}">
        <p14:creationId xmlns:p14="http://schemas.microsoft.com/office/powerpoint/2010/main" val="4220067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Operations on Processes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58235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System must provide mechanisms for: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process creation,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process termination,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and so on as detailed next</a:t>
            </a:r>
          </a:p>
        </p:txBody>
      </p:sp>
    </p:spTree>
    <p:extLst>
      <p:ext uri="{BB962C8B-B14F-4D97-AF65-F5344CB8AC3E}">
        <p14:creationId xmlns:p14="http://schemas.microsoft.com/office/powerpoint/2010/main" val="655553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Creation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284164" y="1938522"/>
            <a:ext cx="5866116" cy="3992563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A</a:t>
            </a:r>
            <a:r>
              <a:rPr lang="en-US" altLang="en-US" b="1" dirty="0">
                <a:solidFill>
                  <a:srgbClr val="3366FF"/>
                </a:solidFill>
              </a:rPr>
              <a:t> process </a:t>
            </a:r>
            <a:r>
              <a:rPr lang="en-US" altLang="en-US" dirty="0"/>
              <a:t>may create other processes.</a:t>
            </a:r>
          </a:p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Parent</a:t>
            </a:r>
            <a:r>
              <a:rPr lang="en-US" altLang="en-US" b="1" dirty="0"/>
              <a:t> </a:t>
            </a:r>
            <a:r>
              <a:rPr lang="en-US" altLang="en-US" dirty="0"/>
              <a:t>process create </a:t>
            </a:r>
            <a:r>
              <a:rPr lang="en-US" altLang="en-US" b="1" dirty="0">
                <a:solidFill>
                  <a:srgbClr val="3366FF"/>
                </a:solidFill>
              </a:rPr>
              <a:t>children</a:t>
            </a:r>
            <a:r>
              <a:rPr lang="en-US" altLang="en-US" b="1" dirty="0"/>
              <a:t> </a:t>
            </a:r>
            <a:r>
              <a:rPr lang="en-US" altLang="en-US" dirty="0"/>
              <a:t>processes, which, in turn create other processes, forming a </a:t>
            </a:r>
            <a:r>
              <a:rPr lang="en-US" altLang="en-US" b="1" dirty="0">
                <a:solidFill>
                  <a:srgbClr val="3366FF"/>
                </a:solidFill>
              </a:rPr>
              <a:t>tree</a:t>
            </a:r>
            <a:r>
              <a:rPr lang="en-US" altLang="en-US" dirty="0"/>
              <a:t> of processes</a:t>
            </a:r>
            <a:endParaRPr lang="en-US" altLang="en-US" sz="800" dirty="0"/>
          </a:p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Generally, a process is identified and managed via a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process identifier </a:t>
            </a:r>
            <a:r>
              <a:rPr lang="en-US" altLang="en-US" dirty="0"/>
              <a:t>(</a:t>
            </a:r>
            <a:r>
              <a:rPr lang="en-US" altLang="en-US" b="1" dirty="0" err="1">
                <a:solidFill>
                  <a:srgbClr val="3366FF"/>
                </a:solidFill>
              </a:rPr>
              <a:t>pid</a:t>
            </a:r>
            <a:r>
              <a:rPr lang="en-US" altLang="en-US" dirty="0"/>
              <a:t>)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altLang="en-US" dirty="0"/>
              <a:t>A Tree of Processes in UNIX</a:t>
            </a:r>
          </a:p>
        </p:txBody>
      </p:sp>
      <p:pic>
        <p:nvPicPr>
          <p:cNvPr id="4301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9299" y="4308953"/>
            <a:ext cx="4648951" cy="1998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3642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Process Creation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20865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Resource sharing  among parents and children options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Parent and children share all resources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Children share subset of parent</a:t>
            </a:r>
            <a:r>
              <a:rPr lang="ja-JP" altLang="en-US" dirty="0"/>
              <a:t>’</a:t>
            </a:r>
            <a:r>
              <a:rPr lang="en-US" altLang="ja-JP" dirty="0"/>
              <a:t>s resources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Parent and child share no resources</a:t>
            </a:r>
            <a:endParaRPr lang="en-US" altLang="en-US" sz="800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Execution options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Parent and children execute concurrently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Parent waits until children terminate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170240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Process Creation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4056"/>
            <a:ext cx="707674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Address space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 child is a duplicate of  the parent address space.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 child loads a program into the address space.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UNIX examples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fork()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system call creates new process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exec()</a:t>
            </a:r>
            <a:r>
              <a:rPr lang="en-US" altLang="en-US" sz="2000" dirty="0"/>
              <a:t> </a:t>
            </a:r>
            <a:r>
              <a:rPr lang="en-US" altLang="en-US" dirty="0"/>
              <a:t>system call used after a </a:t>
            </a:r>
            <a:r>
              <a:rPr lang="en-US" alt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fork()</a:t>
            </a:r>
            <a:r>
              <a:rPr lang="en-US" altLang="en-US" dirty="0"/>
              <a:t>replaces the process</a:t>
            </a:r>
            <a:r>
              <a:rPr lang="ja-JP" altLang="en-US" dirty="0"/>
              <a:t>’</a:t>
            </a:r>
            <a:r>
              <a:rPr lang="en-US" altLang="ja-JP" dirty="0"/>
              <a:t> memory space with a new program</a:t>
            </a:r>
            <a:endParaRPr lang="en-US" altLang="en-US" dirty="0"/>
          </a:p>
        </p:txBody>
      </p:sp>
      <p:pic>
        <p:nvPicPr>
          <p:cNvPr id="47108" name="Picture 4" descr="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6752" y="5097681"/>
            <a:ext cx="4884738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85161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200" dirty="0"/>
              <a:t>C program to create a separate process in UNIX</a:t>
            </a:r>
          </a:p>
        </p:txBody>
      </p:sp>
      <p:sp>
        <p:nvSpPr>
          <p:cNvPr id="49155" name="TextBox 1"/>
          <p:cNvSpPr txBox="1">
            <a:spLocks noChangeArrowheads="1"/>
          </p:cNvSpPr>
          <p:nvPr/>
        </p:nvSpPr>
        <p:spPr bwMode="auto">
          <a:xfrm>
            <a:off x="284163" y="1895802"/>
            <a:ext cx="8574087" cy="557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pit.t 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pid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/*fork a child process */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pid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= fork();</a:t>
            </a:r>
          </a:p>
          <a:p>
            <a:endParaRPr kumimoji="0" lang="en-US" altLang="en-US" sz="1600" b="1" dirty="0">
              <a:latin typeface="Courier New" pitchFamily="49" charset="0"/>
              <a:cs typeface="Courier New" pitchFamily="49" charset="0"/>
            </a:endParaRP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if (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pid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&lt; 0) { /* error occurred */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fprintf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stderr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, “Fork Failed”);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return 1;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}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else if (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pid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== 0) { /*child process */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execlp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(“/bin/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ls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”,”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ls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”,NULL);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}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else { /* parent process */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   /* parent will wait for the child to complete */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   wait(NULL);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(“Child Complete”);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}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return 0;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kumimoji="0" lang="en-US" altLang="en-US" dirty="0">
              <a:latin typeface="Courier New" pitchFamily="49" charset="0"/>
              <a:cs typeface="Courier New" pitchFamily="49" charset="0"/>
            </a:endParaRPr>
          </a:p>
          <a:p>
            <a:endParaRPr kumimoji="0" lang="en-US" altLang="en-US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6605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4000" dirty="0"/>
              <a:t>C Program Forking Separate Process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448014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1600" dirty="0"/>
              <a:t>The C program illustrates  how to create a new process UNIX.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After </a:t>
            </a:r>
            <a:r>
              <a:rPr lang="en-US" alt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fork()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sz="1600" dirty="0"/>
              <a:t>there are two different processes running copies of the same program. The only difference is that the value of </a:t>
            </a:r>
            <a:r>
              <a:rPr lang="en-US" altLang="en-US" sz="1600" dirty="0" err="1"/>
              <a:t>pid</a:t>
            </a:r>
            <a:r>
              <a:rPr lang="en-US" altLang="en-US" sz="1600" dirty="0"/>
              <a:t>  for the child process is zero, while that for the parent is an integer value greater than zero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The child process inherits privileges and scheduling attributes from the parent, as well certain resources, such as open files.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The child process then overlays its address space with the UNIX command “</a:t>
            </a:r>
            <a:r>
              <a:rPr lang="en-US" altLang="en-US" sz="1600" dirty="0" err="1"/>
              <a:t>ls</a:t>
            </a:r>
            <a:r>
              <a:rPr lang="en-US" altLang="en-US" sz="1600" dirty="0"/>
              <a:t>” (used to get a directory listing) using the </a:t>
            </a:r>
            <a:r>
              <a:rPr lang="en-US" altLang="en-US" sz="1600" dirty="0" err="1"/>
              <a:t>execlp</a:t>
            </a:r>
            <a:r>
              <a:rPr lang="en-US" altLang="en-US" sz="1600" dirty="0"/>
              <a:t>() (a version of the exec() system call).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The parent waits for the child process to complete with the wait() system call.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When the child process completes, the parent process resumes from the call to wait(), where it completes using the exit() system call.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84179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200" dirty="0"/>
              <a:t>Creating a Separate Process via Windows API</a:t>
            </a:r>
          </a:p>
        </p:txBody>
      </p:sp>
      <p:sp>
        <p:nvSpPr>
          <p:cNvPr id="53251" name="TextBox 1"/>
          <p:cNvSpPr txBox="1">
            <a:spLocks noChangeArrowheads="1"/>
          </p:cNvSpPr>
          <p:nvPr/>
        </p:nvSpPr>
        <p:spPr bwMode="auto">
          <a:xfrm>
            <a:off x="284162" y="1936706"/>
            <a:ext cx="8574087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main(VOID)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STARTUPINFO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si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PROCESS_INFORMATION pi;</a:t>
            </a:r>
          </a:p>
          <a:p>
            <a:endParaRPr kumimoji="0" lang="en-US" altLang="en-US" sz="1200" b="1" dirty="0">
              <a:latin typeface="Courier New" pitchFamily="49" charset="0"/>
              <a:cs typeface="Courier New" pitchFamily="49" charset="0"/>
            </a:endParaRP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/* allocate memory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ZeroMemory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(&amp;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si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sizeof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si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));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si.cb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sizeof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si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ZeroMemory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(&amp;pi,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sizeof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(pi));</a:t>
            </a:r>
          </a:p>
          <a:p>
            <a:endParaRPr kumimoji="0" lang="en-US" altLang="en-US" sz="1200" b="1" dirty="0">
              <a:latin typeface="Courier New" pitchFamily="49" charset="0"/>
              <a:cs typeface="Courier New" pitchFamily="49" charset="0"/>
            </a:endParaRP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/* create child process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if (!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CreateProcess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(NULL, /* use command line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“C:\\WINDOWS\\system32\\mspaint.exe”,/* command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NULL, /* don’t inherit process handle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NULL, /* don’t inherit threat handle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FALSE, /* disable handle inheritance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0, /* no creation flags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NULL, /* use parent’s environment block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NULL, /* use parent’s existing directory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&amp;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si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&amp;pi))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{</a:t>
            </a:r>
          </a:p>
          <a:p>
            <a:endParaRPr kumimoji="0" lang="en-US" altLang="en-US" sz="1200" b="1" dirty="0">
              <a:latin typeface="Courier New" pitchFamily="49" charset="0"/>
              <a:cs typeface="Courier New" pitchFamily="49" charset="0"/>
            </a:endParaRP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20897004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en-US" sz="2800" dirty="0"/>
              <a:t>Creating a Separate Process via Windows API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sz="2800" dirty="0"/>
          </a:p>
        </p:txBody>
      </p:sp>
      <p:sp>
        <p:nvSpPr>
          <p:cNvPr id="55299" name="TextBox 1"/>
          <p:cNvSpPr txBox="1">
            <a:spLocks noChangeArrowheads="1"/>
          </p:cNvSpPr>
          <p:nvPr/>
        </p:nvSpPr>
        <p:spPr bwMode="auto">
          <a:xfrm>
            <a:off x="284163" y="2012754"/>
            <a:ext cx="6089650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{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fprintf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{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stderr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, “Create Process Failed”};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return -1;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}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/* parent will wait for the child to complete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WaitForSingleObject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pi.hProcess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, INFINITE);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(“Child Complete”);</a:t>
            </a:r>
          </a:p>
          <a:p>
            <a:endParaRPr kumimoji="0" lang="en-US" altLang="en-US" sz="1200" b="1" dirty="0">
              <a:latin typeface="Courier New" pitchFamily="49" charset="0"/>
              <a:cs typeface="Courier New" pitchFamily="49" charset="0"/>
            </a:endParaRP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/* close handles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CloseHandle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pi.hProcess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CloseHandle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pi.hThread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35060575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Termination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4492669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A process terminates when it finishes executing its final statement and  it asks the operating system to delete it by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exit() </a:t>
            </a:r>
            <a:r>
              <a:rPr lang="en-US" altLang="en-US" dirty="0"/>
              <a:t>system call.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At that point, the process may return a status value (typically an integer) to its parent process (via the wait() system call.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All the resources of the process are </a:t>
            </a:r>
            <a:r>
              <a:rPr lang="en-US" altLang="en-US" dirty="0" err="1"/>
              <a:t>deallocated</a:t>
            </a:r>
            <a:r>
              <a:rPr lang="en-US" altLang="en-US" dirty="0"/>
              <a:t> by the operating system.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 parent may terminate the execution of children processes 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abort()</a:t>
            </a:r>
            <a:r>
              <a:rPr lang="en-US" altLang="en-US" sz="2000" dirty="0">
                <a:cs typeface="Courier New" pitchFamily="49" charset="0"/>
              </a:rPr>
              <a:t> </a:t>
            </a:r>
            <a:r>
              <a:rPr lang="en-US" altLang="en-US" dirty="0">
                <a:cs typeface="Courier New" pitchFamily="49" charset="0"/>
              </a:rPr>
              <a:t>system call.  Some reasons for doing so:</a:t>
            </a:r>
            <a:endParaRPr lang="en-US" altLang="en-US" dirty="0"/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Child has exceeded allocated resources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Task assigned to child is no longer required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 parent is exiting and the operating systems does not allow  a child to continue if its parent terminates</a:t>
            </a:r>
          </a:p>
        </p:txBody>
      </p:sp>
    </p:spTree>
    <p:extLst>
      <p:ext uri="{BB962C8B-B14F-4D97-AF65-F5344CB8AC3E}">
        <p14:creationId xmlns:p14="http://schemas.microsoft.com/office/powerpoint/2010/main" val="7220267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Process Termination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08131"/>
            <a:ext cx="8574087" cy="4617929"/>
          </a:xfrm>
        </p:spPr>
        <p:txBody>
          <a:bodyPr>
            <a:normAutofit fontScale="85000" lnSpcReduction="10000"/>
          </a:bodyPr>
          <a:lstStyle/>
          <a:p>
            <a:pPr lvl="1">
              <a:buFont typeface="Wingdings" pitchFamily="2" charset="2"/>
              <a:buChar char="q"/>
            </a:pPr>
            <a:endParaRPr lang="en-US" altLang="en-US" sz="800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Some operating systems do not allow a child  process to exists if its parent has terminated.  If a process terminates, then all its children must also be terminated.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cascading termination.  </a:t>
            </a:r>
            <a:r>
              <a:rPr lang="en-US" altLang="en-US" dirty="0"/>
              <a:t>All children, grandchildren, etc.  are  terminated.</a:t>
            </a:r>
            <a:endParaRPr lang="en-US" altLang="en-US" b="1" dirty="0"/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 termination is initiated by the operating system.</a:t>
            </a:r>
            <a:endParaRPr lang="en-US" altLang="en-US" b="1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The parent  process may wait for termination of a child process by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wait()</a:t>
            </a:r>
            <a:r>
              <a:rPr lang="en-US" altLang="en-US" dirty="0"/>
              <a:t>system call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. </a:t>
            </a:r>
            <a:r>
              <a:rPr lang="en-US" altLang="en-US" dirty="0"/>
              <a:t>The call returns status information and the </a:t>
            </a:r>
            <a:r>
              <a:rPr lang="en-US" altLang="en-US" dirty="0" err="1"/>
              <a:t>pid</a:t>
            </a:r>
            <a:r>
              <a:rPr lang="en-US" altLang="en-US" dirty="0"/>
              <a:t> of the terminated process</a:t>
            </a:r>
            <a:endParaRPr lang="en-US" altLang="en-US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pid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= wait(&amp;status); 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If no parent waiting (did not invoke </a:t>
            </a:r>
            <a:r>
              <a:rPr lang="en-US" alt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wait()</a:t>
            </a:r>
            <a:r>
              <a:rPr lang="en-US" altLang="en-US" dirty="0">
                <a:cs typeface="Courier New" pitchFamily="49" charset="0"/>
              </a:rPr>
              <a:t>) </a:t>
            </a:r>
            <a:r>
              <a:rPr lang="en-US" altLang="en-US" dirty="0"/>
              <a:t>process is </a:t>
            </a:r>
            <a:r>
              <a:rPr lang="en-US" altLang="en-US" b="1" dirty="0">
                <a:solidFill>
                  <a:srgbClr val="3366FF"/>
                </a:solidFill>
              </a:rPr>
              <a:t>zombie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If parent terminated without invoking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wait</a:t>
            </a:r>
            <a:r>
              <a:rPr lang="en-US" altLang="en-US" dirty="0"/>
              <a:t>, process is </a:t>
            </a:r>
            <a:r>
              <a:rPr lang="en-US" altLang="en-US" b="1" dirty="0">
                <a:solidFill>
                  <a:srgbClr val="3366FF"/>
                </a:solidFill>
              </a:rPr>
              <a:t>orphan</a:t>
            </a:r>
          </a:p>
        </p:txBody>
      </p:sp>
    </p:spTree>
    <p:extLst>
      <p:ext uri="{BB962C8B-B14F-4D97-AF65-F5344CB8AC3E}">
        <p14:creationId xmlns:p14="http://schemas.microsoft.com/office/powerpoint/2010/main" val="22405023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 err="1"/>
              <a:t>Interprocess</a:t>
            </a:r>
            <a:r>
              <a:rPr lang="en-US" altLang="en-US" dirty="0"/>
              <a:t> Communication</a:t>
            </a:r>
          </a:p>
        </p:txBody>
      </p:sp>
      <p:sp>
        <p:nvSpPr>
          <p:cNvPr id="6144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895605"/>
            <a:ext cx="8574087" cy="4567825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Processes within a system may be </a:t>
            </a:r>
            <a:r>
              <a:rPr lang="en-US" altLang="en-US" b="1" i="1" dirty="0"/>
              <a:t>independent</a:t>
            </a:r>
            <a:r>
              <a:rPr lang="en-US" altLang="en-US" b="1" dirty="0"/>
              <a:t>  </a:t>
            </a:r>
            <a:r>
              <a:rPr lang="en-US" altLang="en-US" dirty="0"/>
              <a:t>or </a:t>
            </a:r>
            <a:r>
              <a:rPr lang="en-US" altLang="en-US" b="1" i="1" dirty="0"/>
              <a:t>cooperating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Cooperating processes can affect or be affected by other processes, including sharing data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Independent processes cannot affect other processes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Reasons for having cooperating processes: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Information sharing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Computation speedup (multiple processes running in parallel)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Modularity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Convenience	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Cooperating processes need </a:t>
            </a:r>
            <a:r>
              <a:rPr lang="en-US" altLang="en-US" b="1" dirty="0">
                <a:solidFill>
                  <a:srgbClr val="3366FF"/>
                </a:solidFill>
              </a:rPr>
              <a:t>interposes communication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IPC</a:t>
            </a:r>
            <a:r>
              <a:rPr lang="en-US" altLang="en-US" dirty="0"/>
              <a:t>)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234581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Communications Models 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832279"/>
            <a:ext cx="7076747" cy="3992563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Two models of IPC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Shared memory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Message passing</a:t>
            </a:r>
          </a:p>
          <a:p>
            <a:pPr lvl="1">
              <a:buFont typeface="Wingdings" pitchFamily="2" charset="2"/>
              <a:buChar char="q"/>
            </a:pPr>
            <a:endParaRPr lang="en-US" altLang="en-US" b="1" dirty="0">
              <a:solidFill>
                <a:srgbClr val="3366FF"/>
              </a:solidFill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</p:txBody>
      </p:sp>
      <p:pic>
        <p:nvPicPr>
          <p:cNvPr id="6349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0" y="3249069"/>
            <a:ext cx="5248275" cy="3360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96320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Shared Memory Systems 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20657"/>
            <a:ext cx="8574087" cy="3992563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An area of memory shared among the processes that wish to communicate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The communication is under the control of the users processes not the operating system.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Major issues is to provide mechanism that will allow the user processes to synchronize their actions when they access shared memory.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270942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Synchronization</a:t>
            </a:r>
          </a:p>
        </p:txBody>
      </p:sp>
      <p:sp>
        <p:nvSpPr>
          <p:cNvPr id="67587" name="Rectangle 5"/>
          <p:cNvSpPr>
            <a:spLocks noGrp="1" noChangeArrowheads="1"/>
          </p:cNvSpPr>
          <p:nvPr>
            <p:ph idx="1"/>
          </p:nvPr>
        </p:nvSpPr>
        <p:spPr>
          <a:xfrm>
            <a:off x="284163" y="1958235"/>
            <a:ext cx="8574087" cy="4455091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Cooperating processes that access shared data need to synchronize their actions to ensure data consistency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Maintaining data consistency requires mechanisms to ensure the orderly execution of cooperating processes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Illustration of the problem – The producer-Consumer problem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Producer process produces information that is consumed by a Consumer process.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 information is passed from the Producer to the Consumer via a buffer.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Two types of buffers can be used: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unbounded-buffer </a:t>
            </a:r>
            <a:r>
              <a:rPr lang="en-US" altLang="en-US" dirty="0"/>
              <a:t>places no practical limit on the size of the buffer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bounded-buffer </a:t>
            </a:r>
            <a:r>
              <a:rPr lang="en-US" altLang="en-US" dirty="0"/>
              <a:t>assumes that a fixed buffer size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012072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sz="2800" dirty="0"/>
              <a:t>  </a:t>
            </a:r>
            <a:r>
              <a:rPr lang="en-US" altLang="en-US" dirty="0"/>
              <a:t>Bounded-Buffer Solution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sz="1600" dirty="0"/>
              <a:t>Shared data</a:t>
            </a:r>
          </a:p>
          <a:p>
            <a:pPr marL="1598613" lvl="3">
              <a:buFont typeface="Wingdings" pitchFamily="2" charset="2"/>
              <a:buChar char="q"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#define BUFFER_SIZE 10</a:t>
            </a:r>
          </a:p>
          <a:p>
            <a:pPr marL="1598613" lvl="3">
              <a:buFont typeface="Wingdings" pitchFamily="2" charset="2"/>
              <a:buChar char="q"/>
            </a:pP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typedef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pPr marL="1598613" lvl="3">
              <a:buFont typeface="Wingdings" pitchFamily="2" charset="2"/>
              <a:buChar char="q"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. . .</a:t>
            </a:r>
          </a:p>
          <a:p>
            <a:pPr marL="1598613" lvl="3">
              <a:buFont typeface="Wingdings" pitchFamily="2" charset="2"/>
              <a:buChar char="q"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} item;</a:t>
            </a:r>
          </a:p>
          <a:p>
            <a:pPr marL="1598613" lvl="3">
              <a:buFont typeface="Wingdings" pitchFamily="2" charset="2"/>
              <a:buChar char="q"/>
            </a:pPr>
            <a:endParaRPr lang="en-US" altLang="en-US" sz="1600" dirty="0">
              <a:latin typeface="Courier New" pitchFamily="49" charset="0"/>
              <a:cs typeface="Courier New" pitchFamily="49" charset="0"/>
            </a:endParaRPr>
          </a:p>
          <a:p>
            <a:pPr marL="1598613" lvl="3">
              <a:buFont typeface="Wingdings" pitchFamily="2" charset="2"/>
              <a:buChar char="q"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item buffer[BUFFER_SIZE];</a:t>
            </a:r>
          </a:p>
          <a:p>
            <a:pPr marL="1598613" lvl="3">
              <a:buFont typeface="Wingdings" pitchFamily="2" charset="2"/>
              <a:buChar char="q"/>
            </a:pP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in = 0;</a:t>
            </a:r>
          </a:p>
          <a:p>
            <a:pPr marL="1598613" lvl="3">
              <a:buFont typeface="Wingdings" pitchFamily="2" charset="2"/>
              <a:buChar char="q"/>
            </a:pP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out = 0;</a:t>
            </a:r>
          </a:p>
          <a:p>
            <a:pPr marL="1598613" lvl="3">
              <a:buFont typeface="Wingdings" pitchFamily="2" charset="2"/>
              <a:buChar char="q"/>
            </a:pPr>
            <a:endParaRPr lang="en-US" altLang="en-US" sz="1600" dirty="0"/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Solution presented in the next two slides  is correct, but only  9 out of 10 buffer elements can be used</a:t>
            </a:r>
          </a:p>
          <a:p>
            <a:pPr marL="1601788" lvl="3" indent="-342900">
              <a:buFont typeface="Wingdings" pitchFamily="2" charset="2"/>
              <a:buChar char="q"/>
            </a:pPr>
            <a:endParaRPr lang="en-US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4355757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Bounded-Buffer – Producer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45709"/>
            <a:ext cx="7076747" cy="3992563"/>
          </a:xfrm>
        </p:spPr>
        <p:txBody>
          <a:bodyPr>
            <a:normAutofit fontScale="92500" lnSpcReduction="10000"/>
          </a:bodyPr>
          <a:lstStyle/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item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next_produced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; </a:t>
            </a: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while (true) { </a:t>
            </a: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/* produce an item in next produced */ </a:t>
            </a: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while (((in + 1) % BUFFER_SIZE) == out) </a:t>
            </a: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	; /* do nothing */ </a:t>
            </a: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buffer[in] =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next_produced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; </a:t>
            </a: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in = (in + 1) % BUFFER_SIZE; </a:t>
            </a: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} </a:t>
            </a:r>
          </a:p>
          <a:p>
            <a:pPr>
              <a:buFont typeface="Monotype Sorts" pitchFamily="-84" charset="2"/>
              <a:buNone/>
            </a:pPr>
            <a:endParaRPr lang="en-US" altLang="en-US" sz="2000" dirty="0">
              <a:latin typeface="Monaco"/>
            </a:endParaRPr>
          </a:p>
          <a:p>
            <a:pPr>
              <a:buFont typeface="Monotype Sorts" pitchFamily="-84" charset="2"/>
              <a:buNone/>
            </a:pPr>
            <a:endParaRPr lang="en-US" altLang="en-US" sz="2000" dirty="0"/>
          </a:p>
          <a:p>
            <a:pPr>
              <a:buFont typeface="Monotype Sorts" pitchFamily="-84" charset="2"/>
              <a:buNone/>
            </a:pPr>
            <a:r>
              <a:rPr lang="en-US" altLang="en-US" sz="1400" dirty="0"/>
              <a:t>	</a:t>
            </a:r>
          </a:p>
          <a:p>
            <a:pPr marL="7167563" lvl="4">
              <a:buFontTx/>
              <a:buNone/>
            </a:pPr>
            <a:endParaRPr lang="en-US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1065788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Bounded Buffer – Consumer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7076747" cy="3992563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item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next_consumed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while (true) {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while (in == out)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	; /* do nothing */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next_consumed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= buffer[out];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out = (out + 1) % BUFFER_SIZE;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endParaRPr lang="en-US" altLang="en-US" sz="16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/* consume the item in next consumed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274203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Message Passing Systems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883079"/>
            <a:ext cx="8574087" cy="3992563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Mechanism for processes to communicate and to synchronize their actions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Without resorting to shared variables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sz="800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IPC facility provides two operations: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send</a:t>
            </a:r>
            <a:r>
              <a:rPr lang="en-US" altLang="en-US" dirty="0"/>
              <a:t>(</a:t>
            </a:r>
            <a:r>
              <a:rPr lang="en-US" altLang="en-US" i="1" dirty="0"/>
              <a:t>message</a:t>
            </a:r>
            <a:r>
              <a:rPr lang="en-US" altLang="en-US" dirty="0"/>
              <a:t>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receive</a:t>
            </a:r>
            <a:r>
              <a:rPr lang="en-US" altLang="en-US" dirty="0"/>
              <a:t>(</a:t>
            </a:r>
            <a:r>
              <a:rPr lang="en-US" altLang="en-US" i="1" dirty="0"/>
              <a:t>message</a:t>
            </a:r>
            <a:r>
              <a:rPr lang="en-US" altLang="en-US" dirty="0"/>
              <a:t>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endParaRPr lang="en-US" altLang="en-US" sz="800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The</a:t>
            </a:r>
            <a:r>
              <a:rPr lang="en-US" altLang="en-US" i="1" dirty="0"/>
              <a:t> message</a:t>
            </a:r>
            <a:r>
              <a:rPr lang="en-US" altLang="en-US" dirty="0"/>
              <a:t> size is either fixed or variable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438783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Message Passing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7782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795397"/>
            <a:ext cx="8574087" cy="4354882"/>
          </a:xfrm>
        </p:spPr>
        <p:txBody>
          <a:bodyPr>
            <a:normAutofit fontScale="92500" lnSpcReduction="20000"/>
          </a:bodyPr>
          <a:lstStyle/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endParaRPr lang="en-US" altLang="en-US" sz="800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If processes </a:t>
            </a:r>
            <a:r>
              <a:rPr lang="en-US" altLang="en-US" i="1" dirty="0"/>
              <a:t>P</a:t>
            </a:r>
            <a:r>
              <a:rPr lang="en-US" altLang="en-US" dirty="0"/>
              <a:t> and </a:t>
            </a:r>
            <a:r>
              <a:rPr lang="en-US" altLang="en-US" i="1" dirty="0"/>
              <a:t>Q</a:t>
            </a:r>
            <a:r>
              <a:rPr lang="en-US" altLang="en-US" dirty="0"/>
              <a:t> wish to communicate, they need to: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Establish a </a:t>
            </a:r>
            <a:r>
              <a:rPr lang="en-US" altLang="en-US" b="1" i="1" dirty="0"/>
              <a:t>communication</a:t>
            </a:r>
            <a:r>
              <a:rPr lang="en-US" altLang="en-US" b="1" dirty="0"/>
              <a:t> </a:t>
            </a:r>
            <a:r>
              <a:rPr lang="en-US" altLang="en-US" b="1" i="1" dirty="0"/>
              <a:t>link</a:t>
            </a:r>
            <a:r>
              <a:rPr lang="en-US" altLang="en-US" b="1" dirty="0"/>
              <a:t> </a:t>
            </a:r>
            <a:r>
              <a:rPr lang="en-US" altLang="en-US" dirty="0"/>
              <a:t>between them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Exchange messages via send/receive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Implementation issues: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How are links established?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Can a link be associated with more than two processes?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How many links can there be between every pair of communicating processes?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What is the capacity of a link?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Is the size of a message that the link can accommodate fixed or variable?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Is a link unidirectional or bi-directional?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469680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4000" dirty="0"/>
              <a:t>Implementation of Communication Link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/>
          <a:lstStyle/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Physical: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Shared memory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Hardware bus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Network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Logical: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Direct or indirect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Synchronous or asynchronous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Automatic or explicit buffering</a:t>
            </a:r>
          </a:p>
        </p:txBody>
      </p:sp>
    </p:spTree>
    <p:extLst>
      <p:ext uri="{BB962C8B-B14F-4D97-AF65-F5344CB8AC3E}">
        <p14:creationId xmlns:p14="http://schemas.microsoft.com/office/powerpoint/2010/main" val="15984052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Direct Communication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Processes must name each other explicitly: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send</a:t>
            </a:r>
            <a:r>
              <a:rPr lang="en-US" altLang="en-US" dirty="0"/>
              <a:t> (</a:t>
            </a:r>
            <a:r>
              <a:rPr lang="en-US" altLang="en-US" i="1" dirty="0"/>
              <a:t>P, message</a:t>
            </a:r>
            <a:r>
              <a:rPr lang="en-US" altLang="en-US" dirty="0"/>
              <a:t>) – send a message to process P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receive</a:t>
            </a:r>
            <a:r>
              <a:rPr lang="en-US" altLang="en-US" dirty="0"/>
              <a:t>(</a:t>
            </a:r>
            <a:r>
              <a:rPr lang="en-US" altLang="en-US" i="1" dirty="0"/>
              <a:t>Q, message</a:t>
            </a:r>
            <a:r>
              <a:rPr lang="en-US" altLang="en-US" dirty="0"/>
              <a:t>) – receive a message from process Q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Properties of communication link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Links are established automatically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 link is associated with exactly one pair of communicating processes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Between each pair there exists exactly one link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 link may be unidirectional, but is usually bi-directional</a:t>
            </a:r>
          </a:p>
        </p:txBody>
      </p:sp>
    </p:spTree>
    <p:extLst>
      <p:ext uri="{BB962C8B-B14F-4D97-AF65-F5344CB8AC3E}">
        <p14:creationId xmlns:p14="http://schemas.microsoft.com/office/powerpoint/2010/main" val="31299140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Indirect Communication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20657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Messages are directed and received from mailboxes (also referred to as ports)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Each mailbox has a unique id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Processes can communicate only if they share a mailbox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Operations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create a new mailbox (port)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send and receive messages through mailbox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delete  a mailbox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Primitives are defined as: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send</a:t>
            </a:r>
            <a:r>
              <a:rPr lang="en-US" altLang="en-US" dirty="0"/>
              <a:t>(</a:t>
            </a:r>
            <a:r>
              <a:rPr lang="en-US" altLang="en-US" i="1" dirty="0"/>
              <a:t>A, message</a:t>
            </a:r>
            <a:r>
              <a:rPr lang="en-US" altLang="en-US" dirty="0"/>
              <a:t>) – send a message to mailbox A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receive</a:t>
            </a:r>
            <a:r>
              <a:rPr lang="en-US" altLang="en-US" dirty="0"/>
              <a:t>(</a:t>
            </a:r>
            <a:r>
              <a:rPr lang="en-US" altLang="en-US" i="1" dirty="0"/>
              <a:t>A, message</a:t>
            </a:r>
            <a:r>
              <a:rPr lang="en-US" altLang="en-US" dirty="0"/>
              <a:t>) – receive a message from mailbox A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809963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Indirect Communication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Properties of communication link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Link established only if processes share a common mailbox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 link may be associated with many processes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Each pair of processes may share several communication links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Link may be unidirectional or bi-directional</a:t>
            </a:r>
          </a:p>
        </p:txBody>
      </p:sp>
    </p:spTree>
    <p:extLst>
      <p:ext uri="{BB962C8B-B14F-4D97-AF65-F5344CB8AC3E}">
        <p14:creationId xmlns:p14="http://schemas.microsoft.com/office/powerpoint/2010/main" val="9249207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Indirect Communication Issues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45709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Mailbox sharing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i="1" dirty="0"/>
              <a:t>, P</a:t>
            </a:r>
            <a:r>
              <a:rPr lang="en-US" altLang="en-US" i="1" baseline="-25000" dirty="0"/>
              <a:t>2</a:t>
            </a:r>
            <a:r>
              <a:rPr lang="en-US" altLang="en-US" i="1" dirty="0"/>
              <a:t>,</a:t>
            </a:r>
            <a:r>
              <a:rPr lang="en-US" altLang="en-US" dirty="0"/>
              <a:t> and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3</a:t>
            </a:r>
            <a:r>
              <a:rPr lang="en-US" altLang="en-US" dirty="0"/>
              <a:t> share mailbox A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, sends;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i="1" dirty="0"/>
              <a:t> </a:t>
            </a:r>
            <a:r>
              <a:rPr lang="en-US" altLang="en-US" dirty="0"/>
              <a:t>and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3</a:t>
            </a:r>
            <a:r>
              <a:rPr lang="en-US" altLang="en-US" dirty="0"/>
              <a:t> receive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Who gets the message?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Solutions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Allow a link to be associated with at most two processes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Allow only one process at a time to execute a receive operation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Allow the system to select arbitrarily the receiver.  Sender is notified who the receiver was.</a:t>
            </a:r>
          </a:p>
        </p:txBody>
      </p:sp>
    </p:spTree>
    <p:extLst>
      <p:ext uri="{BB962C8B-B14F-4D97-AF65-F5344CB8AC3E}">
        <p14:creationId xmlns:p14="http://schemas.microsoft.com/office/powerpoint/2010/main" val="14080541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Blocking and Non-blocking schemes 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dirty="0"/>
              <a:t>Message passing may be either blocking or non-blocking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b="1" dirty="0">
                <a:solidFill>
                  <a:srgbClr val="3366FF"/>
                </a:solidFill>
              </a:rPr>
              <a:t>Blocking</a:t>
            </a:r>
            <a:r>
              <a:rPr lang="en-US" dirty="0"/>
              <a:t> is considered </a:t>
            </a:r>
            <a:r>
              <a:rPr lang="en-US" b="1" dirty="0">
                <a:solidFill>
                  <a:srgbClr val="3366FF"/>
                </a:solidFill>
              </a:rPr>
              <a:t>synchronous</a:t>
            </a:r>
          </a:p>
          <a:p>
            <a:pPr lvl="1">
              <a:buFont typeface="Wingdings" pitchFamily="2" charset="2"/>
              <a:buChar char="q"/>
              <a:defRPr/>
            </a:pPr>
            <a:r>
              <a:rPr lang="en-US" b="1" dirty="0"/>
              <a:t>Blocking send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sender is blocked until the message is received</a:t>
            </a:r>
          </a:p>
          <a:p>
            <a:pPr lvl="1">
              <a:buFont typeface="Wingdings" pitchFamily="2" charset="2"/>
              <a:buChar char="q"/>
              <a:defRPr/>
            </a:pPr>
            <a:r>
              <a:rPr lang="en-US" b="1" dirty="0"/>
              <a:t>Blocking receive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receiver is  blocked until a message is available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b="1" dirty="0">
                <a:solidFill>
                  <a:srgbClr val="3366FF"/>
                </a:solidFill>
              </a:rPr>
              <a:t>Non-blocking</a:t>
            </a:r>
            <a:r>
              <a:rPr lang="en-US" dirty="0"/>
              <a:t> is considered </a:t>
            </a:r>
            <a:r>
              <a:rPr lang="en-US" b="1" dirty="0">
                <a:solidFill>
                  <a:srgbClr val="3366FF"/>
                </a:solidFill>
              </a:rPr>
              <a:t>asynchronous</a:t>
            </a:r>
          </a:p>
          <a:p>
            <a:pPr lvl="1">
              <a:buFont typeface="Wingdings" pitchFamily="2" charset="2"/>
              <a:buChar char="q"/>
              <a:defRPr/>
            </a:pPr>
            <a:r>
              <a:rPr lang="en-US" b="1" dirty="0"/>
              <a:t>Non-blocking send</a:t>
            </a:r>
            <a:r>
              <a:rPr lang="en-US" dirty="0"/>
              <a:t> -- the sender sends the message and continue</a:t>
            </a:r>
          </a:p>
          <a:p>
            <a:pPr lvl="1">
              <a:buFont typeface="Wingdings" pitchFamily="2" charset="2"/>
              <a:buChar char="q"/>
              <a:defRPr/>
            </a:pPr>
            <a:r>
              <a:rPr lang="en-US" b="1" dirty="0"/>
              <a:t>Non-blocking receive</a:t>
            </a:r>
            <a:r>
              <a:rPr lang="en-US" dirty="0"/>
              <a:t> -- the receiver receives:</a:t>
            </a:r>
          </a:p>
          <a:p>
            <a:pPr marL="1143000" lvl="2" indent="-342900">
              <a:buFont typeface="Wingdings" pitchFamily="2" charset="2"/>
              <a:buChar char="q"/>
              <a:defRPr/>
            </a:pPr>
            <a:r>
              <a:rPr lang="en-US" dirty="0"/>
              <a:t> A valid message,  or </a:t>
            </a:r>
          </a:p>
          <a:p>
            <a:pPr marL="1143000" lvl="2" indent="-342900">
              <a:buFont typeface="Wingdings" pitchFamily="2" charset="2"/>
              <a:buChar char="q"/>
              <a:defRPr/>
            </a:pPr>
            <a:r>
              <a:rPr lang="en-US" dirty="0"/>
              <a:t> Null message</a:t>
            </a:r>
          </a:p>
          <a:p>
            <a:pPr marL="398939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0"/>
              </a:rPr>
              <a:t>Different combinations possible</a:t>
            </a:r>
          </a:p>
          <a:p>
            <a:pPr marL="798989" lvl="1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0"/>
              </a:rPr>
              <a:t>If both send and receive are blocking, we have a 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rendezvous</a:t>
            </a:r>
          </a:p>
          <a:p>
            <a:pPr marL="400050" indent="-342900">
              <a:buFont typeface="Wingdings" pitchFamily="2" charset="2"/>
              <a:buChar char="q"/>
              <a:defRPr/>
            </a:pPr>
            <a:endParaRPr lang="en-US" dirty="0"/>
          </a:p>
          <a:p>
            <a:pPr marL="1143000" lvl="2" indent="-342900">
              <a:buFont typeface="Wingdings" pitchFamily="2" charset="2"/>
              <a:buChar char="q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200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Buffering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45709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Whether communication is direct or indirect, messages exchanged by communicating processes reside in a temporary queue. 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Such queues can be implemented in three ways: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>
                <a:solidFill>
                  <a:srgbClr val="CC6600"/>
                </a:solidFill>
              </a:rPr>
              <a:t>1.</a:t>
            </a:r>
            <a:r>
              <a:rPr lang="en-US" altLang="en-US" dirty="0"/>
              <a:t>	Zero capacity – no messages are queued on a link. Sender must wait for receiver (rendezvous)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>
                <a:solidFill>
                  <a:srgbClr val="CC6600"/>
                </a:solidFill>
              </a:rPr>
              <a:t>2.</a:t>
            </a:r>
            <a:r>
              <a:rPr lang="en-US" altLang="en-US" dirty="0"/>
              <a:t>	Bounded capacity – finite length of </a:t>
            </a:r>
            <a:r>
              <a:rPr lang="en-US" altLang="en-US" i="1" dirty="0"/>
              <a:t>n</a:t>
            </a:r>
            <a:r>
              <a:rPr lang="en-US" altLang="en-US" dirty="0"/>
              <a:t> messages Sender must wait if link full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>
                <a:solidFill>
                  <a:srgbClr val="CC6600"/>
                </a:solidFill>
              </a:rPr>
              <a:t>3.</a:t>
            </a:r>
            <a:r>
              <a:rPr lang="en-US" altLang="en-US" dirty="0"/>
              <a:t>	Unbounded capacity – infinite length Sender never waits</a:t>
            </a:r>
          </a:p>
        </p:txBody>
      </p:sp>
    </p:spTree>
    <p:extLst>
      <p:ext uri="{BB962C8B-B14F-4D97-AF65-F5344CB8AC3E}">
        <p14:creationId xmlns:p14="http://schemas.microsoft.com/office/powerpoint/2010/main" val="36702452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Example of IPC Systems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20657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There are  four different IPC systems.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POSIX API for shared memory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Mach operating system, which uses message passing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Windows IPC, which uses shared memory as a mechanism for providing certain types of message passing.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Pipes, one of the earliest IPC mechanisms on UNIX systems.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80037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/>
              <a:t>Mach</a:t>
            </a:r>
          </a:p>
        </p:txBody>
      </p:sp>
      <p:sp>
        <p:nvSpPr>
          <p:cNvPr id="10035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958235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Mach communication is message based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Even system calls are messages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Each task gets two mailboxes at creation- Kernel and Notify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Only three system calls needed for message transfer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msg_send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(),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msg_receive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(),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msg_rpc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Mailboxes needed for </a:t>
            </a:r>
            <a:r>
              <a:rPr lang="en-US" altLang="en-US" dirty="0" err="1"/>
              <a:t>commuication</a:t>
            </a:r>
            <a:r>
              <a:rPr lang="en-US" altLang="en-US" dirty="0"/>
              <a:t>, created via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port_allocate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Send and receive are flexible, for example four options if mailbox full: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Wait indefinitely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Wait at most </a:t>
            </a:r>
            <a:r>
              <a:rPr lang="en-US" altLang="en-US" i="1" dirty="0"/>
              <a:t>n</a:t>
            </a:r>
            <a:r>
              <a:rPr lang="en-US" altLang="en-US" dirty="0"/>
              <a:t> milliseconds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Return immediately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Temporarily cache a message</a:t>
            </a:r>
          </a:p>
          <a:p>
            <a:pPr lvl="1">
              <a:buFont typeface="Wingdings" pitchFamily="2" charset="2"/>
              <a:buChar char="q"/>
            </a:pPr>
            <a:endParaRPr lang="en-US" altLang="en-US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7027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Windows</a:t>
            </a:r>
          </a:p>
        </p:txBody>
      </p:sp>
      <p:sp>
        <p:nvSpPr>
          <p:cNvPr id="10240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945709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Message-passing centric via </a:t>
            </a:r>
            <a:r>
              <a:rPr lang="en-US" altLang="en-US" b="1" dirty="0">
                <a:solidFill>
                  <a:srgbClr val="0000FF"/>
                </a:solidFill>
              </a:rPr>
              <a:t>advanced local procedure call </a:t>
            </a:r>
            <a:r>
              <a:rPr lang="en-US" altLang="en-US" b="1" dirty="0">
                <a:solidFill>
                  <a:srgbClr val="000000"/>
                </a:solidFill>
              </a:rPr>
              <a:t>(</a:t>
            </a:r>
            <a:r>
              <a:rPr lang="en-US" altLang="en-US" b="1" dirty="0">
                <a:solidFill>
                  <a:srgbClr val="0000FF"/>
                </a:solidFill>
              </a:rPr>
              <a:t>LPC</a:t>
            </a:r>
            <a:r>
              <a:rPr lang="en-US" altLang="en-US" b="1" dirty="0">
                <a:solidFill>
                  <a:srgbClr val="000000"/>
                </a:solidFill>
              </a:rPr>
              <a:t>)</a:t>
            </a:r>
            <a:r>
              <a:rPr lang="en-US" altLang="en-US" dirty="0"/>
              <a:t> facility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Only works between processes on the same system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Uses ports (like mailboxes) to establish and maintain communication channels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Communication works as follows: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The client opens a handle (an abstract reference to a resource) to the subsystem’</a:t>
            </a:r>
            <a:r>
              <a:rPr lang="en-US" altLang="ja-JP" dirty="0"/>
              <a:t>s </a:t>
            </a:r>
            <a:r>
              <a:rPr lang="en-US" altLang="ja-JP" b="1" dirty="0">
                <a:solidFill>
                  <a:srgbClr val="0000FF"/>
                </a:solidFill>
              </a:rPr>
              <a:t>connection port</a:t>
            </a:r>
            <a:r>
              <a:rPr lang="en-US" altLang="ja-JP" dirty="0"/>
              <a:t> object.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The client sends a connection request.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The server creates a private </a:t>
            </a:r>
            <a:r>
              <a:rPr lang="en-US" altLang="en-US" b="1" dirty="0">
                <a:solidFill>
                  <a:srgbClr val="0000FF"/>
                </a:solidFill>
              </a:rPr>
              <a:t>communication port </a:t>
            </a:r>
            <a:r>
              <a:rPr lang="en-US" altLang="en-US" dirty="0"/>
              <a:t>and returns the handle to the client.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The client and server use the corresponding port handle to send messages or callbacks and to listen for replies.</a:t>
            </a:r>
          </a:p>
        </p:txBody>
      </p:sp>
    </p:spTree>
    <p:extLst>
      <p:ext uri="{BB962C8B-B14F-4D97-AF65-F5344CB8AC3E}">
        <p14:creationId xmlns:p14="http://schemas.microsoft.com/office/powerpoint/2010/main" val="1919364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Local Procedure Calls in Windows</a:t>
            </a:r>
          </a:p>
        </p:txBody>
      </p:sp>
      <p:pic>
        <p:nvPicPr>
          <p:cNvPr id="104451" name="Picture 4" descr="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538" y="2256273"/>
            <a:ext cx="6567487" cy="338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17017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600" dirty="0"/>
              <a:t>Communications in Client-Server Systems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33391"/>
            <a:ext cx="707674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Sockets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Remote Procedure Calls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Remote Method Invocation (Java)</a:t>
            </a:r>
          </a:p>
        </p:txBody>
      </p:sp>
    </p:spTree>
    <p:extLst>
      <p:ext uri="{BB962C8B-B14F-4D97-AF65-F5344CB8AC3E}">
        <p14:creationId xmlns:p14="http://schemas.microsoft.com/office/powerpoint/2010/main" val="24542004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430669" y="1114339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175</TotalTime>
  <Words>3209</Words>
  <Application>Microsoft Office PowerPoint</Application>
  <PresentationFormat>On-screen Show (4:3)</PresentationFormat>
  <Paragraphs>413</Paragraphs>
  <Slides>51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3" baseType="lpstr">
      <vt:lpstr>ＭＳ Ｐゴシック</vt:lpstr>
      <vt:lpstr>Arial</vt:lpstr>
      <vt:lpstr>Calibri</vt:lpstr>
      <vt:lpstr>Corbel</vt:lpstr>
      <vt:lpstr>Courier New</vt:lpstr>
      <vt:lpstr>Georgia</vt:lpstr>
      <vt:lpstr>Monaco</vt:lpstr>
      <vt:lpstr>Monotype Sorts</vt:lpstr>
      <vt:lpstr>Symbol</vt:lpstr>
      <vt:lpstr>Times New Roman</vt:lpstr>
      <vt:lpstr>Wingdings</vt:lpstr>
      <vt:lpstr>Spectrum</vt:lpstr>
      <vt:lpstr>Processes</vt:lpstr>
      <vt:lpstr>Lecture Outline</vt:lpstr>
      <vt:lpstr>Process Concept</vt:lpstr>
      <vt:lpstr>Process  Structure</vt:lpstr>
      <vt:lpstr>Process in Memory</vt:lpstr>
      <vt:lpstr>Process State</vt:lpstr>
      <vt:lpstr>Process State</vt:lpstr>
      <vt:lpstr>Process Control Block (PCB)</vt:lpstr>
      <vt:lpstr>Threads</vt:lpstr>
      <vt:lpstr>Process Representation in Linux</vt:lpstr>
      <vt:lpstr>Process Scheduling</vt:lpstr>
      <vt:lpstr>Scheduling Queues</vt:lpstr>
      <vt:lpstr>Ready Queue And Various I/O Device Queues</vt:lpstr>
      <vt:lpstr>Representation of Process Scheduling</vt:lpstr>
      <vt:lpstr>CPU Switch From Process to Process</vt:lpstr>
      <vt:lpstr>Schedulers</vt:lpstr>
      <vt:lpstr>Multitasking in Mobile Systems</vt:lpstr>
      <vt:lpstr>Context Switch</vt:lpstr>
      <vt:lpstr>Operations on Processes</vt:lpstr>
      <vt:lpstr>Process Creation</vt:lpstr>
      <vt:lpstr>Process Creation (cont’d)</vt:lpstr>
      <vt:lpstr>Process Creation (cont’d)</vt:lpstr>
      <vt:lpstr>C program to create a separate process in UNIX</vt:lpstr>
      <vt:lpstr>C Program Forking Separate Process</vt:lpstr>
      <vt:lpstr>Creating a Separate Process via Windows API</vt:lpstr>
      <vt:lpstr>Creating a Separate Process via Windows API (cont’d)</vt:lpstr>
      <vt:lpstr>Process Termination</vt:lpstr>
      <vt:lpstr>Process Termination (cont’d)</vt:lpstr>
      <vt:lpstr>Interprocess Communication</vt:lpstr>
      <vt:lpstr>Communications Models </vt:lpstr>
      <vt:lpstr>Shared Memory Systems </vt:lpstr>
      <vt:lpstr>Synchronization</vt:lpstr>
      <vt:lpstr>  Bounded-Buffer Solution</vt:lpstr>
      <vt:lpstr>Bounded-Buffer – Producer</vt:lpstr>
      <vt:lpstr>Bounded Buffer – Consumer</vt:lpstr>
      <vt:lpstr>Message Passing Systems</vt:lpstr>
      <vt:lpstr>Message Passing (cont’d)</vt:lpstr>
      <vt:lpstr>Implementation of Communication Link</vt:lpstr>
      <vt:lpstr>Direct Communication</vt:lpstr>
      <vt:lpstr>Indirect Communication</vt:lpstr>
      <vt:lpstr>Indirect Communication (cont’d)</vt:lpstr>
      <vt:lpstr>Indirect Communication Issues</vt:lpstr>
      <vt:lpstr>Blocking and Non-blocking schemes </vt:lpstr>
      <vt:lpstr>Buffering</vt:lpstr>
      <vt:lpstr>Example of IPC Systems</vt:lpstr>
      <vt:lpstr>Mach</vt:lpstr>
      <vt:lpstr>Windows</vt:lpstr>
      <vt:lpstr>Local Procedure Calls in Windows</vt:lpstr>
      <vt:lpstr>Communications in Client-Server Systems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MEJBAH AHAMMAD</cp:lastModifiedBy>
  <cp:revision>23</cp:revision>
  <dcterms:created xsi:type="dcterms:W3CDTF">2018-12-10T17:20:29Z</dcterms:created>
  <dcterms:modified xsi:type="dcterms:W3CDTF">2026-02-08T12:08:53Z</dcterms:modified>
</cp:coreProperties>
</file>