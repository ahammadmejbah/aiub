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0"/>
  </p:notesMasterIdLst>
  <p:sldIdLst>
    <p:sldId id="256" r:id="rId2"/>
    <p:sldId id="257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93" r:id="rId19"/>
    <p:sldId id="294" r:id="rId20"/>
    <p:sldId id="295" r:id="rId21"/>
    <p:sldId id="296" r:id="rId22"/>
    <p:sldId id="297" r:id="rId23"/>
    <p:sldId id="298" r:id="rId24"/>
    <p:sldId id="299" r:id="rId25"/>
    <p:sldId id="300" r:id="rId26"/>
    <p:sldId id="301" r:id="rId27"/>
    <p:sldId id="302" r:id="rId28"/>
    <p:sldId id="303" r:id="rId29"/>
    <p:sldId id="304" r:id="rId30"/>
    <p:sldId id="305" r:id="rId31"/>
    <p:sldId id="306" r:id="rId32"/>
    <p:sldId id="307" r:id="rId33"/>
    <p:sldId id="308" r:id="rId34"/>
    <p:sldId id="309" r:id="rId35"/>
    <p:sldId id="310" r:id="rId36"/>
    <p:sldId id="311" r:id="rId37"/>
    <p:sldId id="312" r:id="rId38"/>
    <p:sldId id="313" r:id="rId39"/>
    <p:sldId id="314" r:id="rId40"/>
    <p:sldId id="315" r:id="rId41"/>
    <p:sldId id="318" r:id="rId42"/>
    <p:sldId id="319" r:id="rId43"/>
    <p:sldId id="320" r:id="rId44"/>
    <p:sldId id="322" r:id="rId45"/>
    <p:sldId id="323" r:id="rId46"/>
    <p:sldId id="324" r:id="rId47"/>
    <p:sldId id="325" r:id="rId48"/>
    <p:sldId id="326" r:id="rId49"/>
    <p:sldId id="327" r:id="rId50"/>
    <p:sldId id="329" r:id="rId51"/>
    <p:sldId id="330" r:id="rId52"/>
    <p:sldId id="331" r:id="rId53"/>
    <p:sldId id="332" r:id="rId54"/>
    <p:sldId id="333" r:id="rId55"/>
    <p:sldId id="334" r:id="rId56"/>
    <p:sldId id="335" r:id="rId57"/>
    <p:sldId id="264" r:id="rId58"/>
    <p:sldId id="265" r:id="rId5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90" d="100"/>
          <a:sy n="90" d="100"/>
        </p:scale>
        <p:origin x="90" y="28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YEDA ANIKA TASNIM" userId="8fb70a1d-16e3-4c86-a699-7b87e9bfa60b" providerId="ADAL" clId="{DA967A30-0B73-422B-BA2C-DE190C2ACBFB}"/>
    <pc:docChg chg="modSld">
      <pc:chgData name="SYEDA ANIKA TASNIM" userId="8fb70a1d-16e3-4c86-a699-7b87e9bfa60b" providerId="ADAL" clId="{DA967A30-0B73-422B-BA2C-DE190C2ACBFB}" dt="2020-11-09T09:01:53.351" v="9" actId="20577"/>
      <pc:docMkLst>
        <pc:docMk/>
      </pc:docMkLst>
      <pc:sldChg chg="modSp mod">
        <pc:chgData name="SYEDA ANIKA TASNIM" userId="8fb70a1d-16e3-4c86-a699-7b87e9bfa60b" providerId="ADAL" clId="{DA967A30-0B73-422B-BA2C-DE190C2ACBFB}" dt="2020-11-09T09:01:53.351" v="9" actId="20577"/>
        <pc:sldMkLst>
          <pc:docMk/>
          <pc:sldMk cId="700707328" sldId="256"/>
        </pc:sldMkLst>
        <pc:graphicFrameChg chg="modGraphic">
          <ac:chgData name="SYEDA ANIKA TASNIM" userId="8fb70a1d-16e3-4c86-a699-7b87e9bfa60b" providerId="ADAL" clId="{DA967A30-0B73-422B-BA2C-DE190C2ACBFB}" dt="2020-11-09T09:01:53.351" v="9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SYEDA ANIKA TASNIM" userId="8fb70a1d-16e3-4c86-a699-7b87e9bfa60b" providerId="ADAL" clId="{9D83D9AD-C899-4FBA-8BF2-2F708FFC6844}"/>
    <pc:docChg chg="custSel modSld">
      <pc:chgData name="SYEDA ANIKA TASNIM" userId="8fb70a1d-16e3-4c86-a699-7b87e9bfa60b" providerId="ADAL" clId="{9D83D9AD-C899-4FBA-8BF2-2F708FFC6844}" dt="2020-08-03T08:38:38.353" v="68" actId="20577"/>
      <pc:docMkLst>
        <pc:docMk/>
      </pc:docMkLst>
      <pc:sldChg chg="modSp mod">
        <pc:chgData name="SYEDA ANIKA TASNIM" userId="8fb70a1d-16e3-4c86-a699-7b87e9bfa60b" providerId="ADAL" clId="{9D83D9AD-C899-4FBA-8BF2-2F708FFC6844}" dt="2020-08-03T08:38:38.353" v="68" actId="20577"/>
        <pc:sldMkLst>
          <pc:docMk/>
          <pc:sldMk cId="700707328" sldId="256"/>
        </pc:sldMkLst>
        <pc:graphicFrameChg chg="modGraphic">
          <ac:chgData name="SYEDA ANIKA TASNIM" userId="8fb70a1d-16e3-4c86-a699-7b87e9bfa60b" providerId="ADAL" clId="{9D83D9AD-C899-4FBA-8BF2-2F708FFC6844}" dt="2020-08-03T08:38:38.353" v="68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SYEDA ANIKA TASNIM" userId="8fb70a1d-16e3-4c86-a699-7b87e9bfa60b" providerId="ADAL" clId="{4F527A5D-D28C-4895-89EA-7300AAC517CE}"/>
    <pc:docChg chg="modSld">
      <pc:chgData name="SYEDA ANIKA TASNIM" userId="8fb70a1d-16e3-4c86-a699-7b87e9bfa60b" providerId="ADAL" clId="{4F527A5D-D28C-4895-89EA-7300AAC517CE}" dt="2021-10-13T02:04:06.512" v="3" actId="20577"/>
      <pc:docMkLst>
        <pc:docMk/>
      </pc:docMkLst>
      <pc:sldChg chg="modSp mod">
        <pc:chgData name="SYEDA ANIKA TASNIM" userId="8fb70a1d-16e3-4c86-a699-7b87e9bfa60b" providerId="ADAL" clId="{4F527A5D-D28C-4895-89EA-7300AAC517CE}" dt="2021-10-13T02:04:06.512" v="3" actId="20577"/>
        <pc:sldMkLst>
          <pc:docMk/>
          <pc:sldMk cId="700707328" sldId="256"/>
        </pc:sldMkLst>
        <pc:graphicFrameChg chg="modGraphic">
          <ac:chgData name="SYEDA ANIKA TASNIM" userId="8fb70a1d-16e3-4c86-a699-7b87e9bfa60b" providerId="ADAL" clId="{4F527A5D-D28C-4895-89EA-7300AAC517CE}" dt="2021-10-13T02:04:06.512" v="3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C62E78-F200-4C4C-BC42-C27AC9E77916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B0FEB-E303-4A4A-A013-42557A45C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720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7A7329F-DF2E-458E-974B-7D8277C482A7}" type="slidenum">
              <a:rPr lang="en-US" altLang="en-US">
                <a:latin typeface="Helvetica" pitchFamily="-84" charset="0"/>
              </a:rPr>
              <a:pPr/>
              <a:t>3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90302D34-E3B9-416B-82C1-1763FF513CB4}" type="slidenum">
              <a:rPr lang="en-US" altLang="en-US">
                <a:latin typeface="Helvetica" pitchFamily="-84" charset="0"/>
              </a:rPr>
              <a:pPr/>
              <a:t>5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b="1">
                <a:latin typeface="Times New Roman" pitchFamily="18" charset="0"/>
              </a:rPr>
              <a:t>Data parallelism </a:t>
            </a:r>
            <a:r>
              <a:rPr lang="en-US" altLang="en-US">
                <a:latin typeface="Times New Roman" pitchFamily="18" charset="0"/>
              </a:rPr>
              <a:t>focuses on distributing subsets of the same data</a:t>
            </a:r>
            <a:br>
              <a:rPr lang="en-US" altLang="en-US">
                <a:latin typeface="Times New Roman" pitchFamily="18" charset="0"/>
              </a:rPr>
            </a:br>
            <a:r>
              <a:rPr lang="en-US" altLang="en-US">
                <a:latin typeface="Times New Roman" pitchFamily="18" charset="0"/>
              </a:rPr>
              <a:t>across multiple computing cores and performing the same operation on each</a:t>
            </a:r>
            <a:br>
              <a:rPr lang="en-US" altLang="en-US">
                <a:latin typeface="Times New Roman" pitchFamily="18" charset="0"/>
              </a:rPr>
            </a:br>
            <a:r>
              <a:rPr lang="en-US" altLang="en-US">
                <a:latin typeface="Times New Roman" pitchFamily="18" charset="0"/>
              </a:rPr>
              <a:t>core. </a:t>
            </a:r>
          </a:p>
          <a:p>
            <a:r>
              <a:rPr lang="en-US" altLang="en-US" b="1">
                <a:latin typeface="Times New Roman" pitchFamily="18" charset="0"/>
              </a:rPr>
              <a:t>Task parallelism </a:t>
            </a:r>
            <a:r>
              <a:rPr lang="en-US" altLang="en-US">
                <a:latin typeface="Times New Roman" pitchFamily="18" charset="0"/>
              </a:rPr>
              <a:t>involves distributing not data but tasks (threads) across</a:t>
            </a:r>
            <a:br>
              <a:rPr lang="en-US" altLang="en-US">
                <a:latin typeface="Times New Roman" pitchFamily="18" charset="0"/>
              </a:rPr>
            </a:br>
            <a:r>
              <a:rPr lang="en-US" altLang="en-US">
                <a:latin typeface="Times New Roman" pitchFamily="18" charset="0"/>
              </a:rPr>
              <a:t>multiple computing co </a:t>
            </a:r>
            <a:br>
              <a:rPr lang="en-US" altLang="en-US">
                <a:latin typeface="Times New Roman" pitchFamily="18" charset="0"/>
              </a:rPr>
            </a:br>
            <a:br>
              <a:rPr lang="en-US" altLang="en-US">
                <a:latin typeface="Times New Roman" pitchFamily="18" charset="0"/>
              </a:rPr>
            </a:br>
            <a:endParaRPr lang="en-US" altLang="en-US">
              <a:latin typeface="Times New Roman" pitchFamily="18" charset="0"/>
            </a:endParaRPr>
          </a:p>
        </p:txBody>
      </p:sp>
      <p:sp>
        <p:nvSpPr>
          <p:cNvPr id="25604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B6F6301-A2FE-48E2-93E6-96B6D11F8DD0}" type="slidenum">
              <a:rPr lang="en-US" altLang="en-US">
                <a:latin typeface="Times New Roman" pitchFamily="18" charset="0"/>
              </a:rPr>
              <a:pPr/>
              <a:t>9</a:t>
            </a:fld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BF133DE-C515-4751-ACB1-C793C6798E90}" type="slidenum">
              <a:rPr lang="en-US" altLang="en-US">
                <a:latin typeface="Helvetica" pitchFamily="-84" charset="0"/>
              </a:rPr>
              <a:pPr/>
              <a:t>10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1DDCB16-42AF-4D29-973F-FA1A1A80E026}" type="slidenum">
              <a:rPr lang="en-US" altLang="en-US">
                <a:latin typeface="Helvetica" pitchFamily="-84" charset="0"/>
              </a:rPr>
              <a:pPr/>
              <a:t>12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67B4B58-798E-47C9-8799-5973E5549E0E}" type="slidenum">
              <a:rPr lang="en-US" altLang="en-US">
                <a:latin typeface="Helvetica" pitchFamily="-84" charset="0"/>
              </a:rPr>
              <a:pPr/>
              <a:t>14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C8351B37-4320-4ABB-976F-84CC61919E05}" type="slidenum">
              <a:rPr lang="en-US" altLang="en-US">
                <a:latin typeface="Helvetica" pitchFamily="-84" charset="0"/>
              </a:rPr>
              <a:pPr/>
              <a:t>15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D6597C1-0235-4CC0-95AC-8E13226A5713}" type="slidenum">
              <a:rPr lang="en-US" altLang="en-US">
                <a:latin typeface="Helvetica" pitchFamily="-84" charset="0"/>
              </a:rPr>
              <a:pPr/>
              <a:t>16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2F7FA80F-E9D9-4B74-ACF5-36ABE07D7C4E}" type="slidenum">
              <a:rPr lang="en-US" altLang="en-US">
                <a:latin typeface="Helvetica" pitchFamily="-84" charset="0"/>
              </a:rPr>
              <a:pPr/>
              <a:t>17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9176661-F0AF-437B-8978-AF8B9239C3AA}" type="slidenum">
              <a:rPr lang="en-US" altLang="en-US">
                <a:latin typeface="Helvetica" pitchFamily="-84" charset="0"/>
              </a:rPr>
              <a:pPr/>
              <a:t>18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DB54F6A7-9079-4EA2-A22B-D57F35EA0748}" type="slidenum">
              <a:rPr lang="en-US" altLang="en-US">
                <a:latin typeface="Helvetica" pitchFamily="-84" charset="0"/>
              </a:rPr>
              <a:pPr/>
              <a:t>20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1EF521F2-E228-44B1-B4CE-5A93850D88C6}" type="slidenum">
              <a:rPr lang="en-US" altLang="en-US">
                <a:latin typeface="Helvetica" pitchFamily="-84" charset="0"/>
              </a:rPr>
              <a:pPr/>
              <a:t>26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2DCCEB42-957D-45CB-A85D-6718346B7DE4}" type="slidenum">
              <a:rPr lang="en-US" altLang="en-US">
                <a:latin typeface="Helvetica" pitchFamily="-84" charset="0"/>
              </a:rPr>
              <a:pPr/>
              <a:t>31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6892C173-82CD-4693-B5C1-84E8ECDE376F}" type="slidenum">
              <a:rPr lang="en-US" altLang="en-US">
                <a:latin typeface="Helvetica" pitchFamily="-84" charset="0"/>
              </a:rPr>
              <a:pPr/>
              <a:t>32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19800D44-8D5D-493B-B133-48C5B1607C91}" type="slidenum">
              <a:rPr lang="en-US" altLang="en-US">
                <a:latin typeface="Helvetica" pitchFamily="-84" charset="0"/>
              </a:rPr>
              <a:pPr/>
              <a:t>41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F0EEE95-CC97-45DF-B147-E9E896813510}" type="slidenum">
              <a:rPr lang="en-US" altLang="en-US">
                <a:latin typeface="Helvetica" pitchFamily="-84" charset="0"/>
              </a:rPr>
              <a:pPr/>
              <a:t>42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26FB903F-BA0E-47E6-AF4D-98C889FB4229}" type="slidenum">
              <a:rPr lang="en-US" altLang="en-US">
                <a:latin typeface="Helvetica" pitchFamily="-84" charset="0"/>
              </a:rPr>
              <a:pPr/>
              <a:t>44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74D0A42-019D-42E0-9AAC-54F4125A4337}" type="slidenum">
              <a:rPr lang="en-US" altLang="en-US">
                <a:latin typeface="Helvetica" pitchFamily="-84" charset="0"/>
              </a:rPr>
              <a:pPr/>
              <a:t>45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EDF2122-793A-4783-8224-13E626A90C08}" type="slidenum">
              <a:rPr lang="en-US" altLang="en-US">
                <a:latin typeface="Helvetica" pitchFamily="-84" charset="0"/>
              </a:rPr>
              <a:pPr/>
              <a:t>46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6AC8C582-8922-4934-BAC2-DDE0D39A2C58}" type="slidenum">
              <a:rPr lang="en-US" altLang="en-US">
                <a:latin typeface="Helvetica" pitchFamily="-84" charset="0"/>
              </a:rPr>
              <a:pPr/>
              <a:t>47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6372DC38-278B-41FD-AE95-7428F855B373}" type="slidenum">
              <a:rPr lang="en-US" altLang="en-US">
                <a:latin typeface="Helvetica" pitchFamily="-84" charset="0"/>
              </a:rPr>
              <a:pPr/>
              <a:t>48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2019C731-A829-4271-8C5D-9A2D07158C3F}" type="slidenum">
              <a:rPr lang="en-US" altLang="en-US">
                <a:latin typeface="Helvetica" pitchFamily="-84" charset="0"/>
              </a:rPr>
              <a:pPr/>
              <a:t>49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D75F1CCF-A442-418B-8CC0-D80571E1808A}" type="slidenum">
              <a:rPr lang="en-US" altLang="en-US">
                <a:latin typeface="Helvetica" pitchFamily="-84" charset="0"/>
              </a:rPr>
              <a:pPr/>
              <a:t>50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B31C7E9A-FC0D-434F-A18F-6DD72C0FE5A5}" type="slidenum">
              <a:rPr lang="en-US" altLang="en-US">
                <a:latin typeface="Helvetica" pitchFamily="-84" charset="0"/>
              </a:rPr>
              <a:pPr/>
              <a:t>51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 txBox="1">
            <a:spLocks noGrp="1" noChangeArrowheads="1"/>
          </p:cNvSpPr>
          <p:nvPr/>
        </p:nvSpPr>
        <p:spPr bwMode="auto">
          <a:xfrm>
            <a:off x="3887133" y="8708349"/>
            <a:ext cx="2989504" cy="449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9891" tIns="44945" rIns="89891" bIns="44945" anchor="b"/>
          <a:lstStyle>
            <a:lvl1pPr defTabSz="8985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8985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8985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8985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8985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898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898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898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898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r"/>
            <a:fld id="{EF518DE5-1817-4259-BF95-FFAEF43E9DDF}" type="slidenum">
              <a:rPr lang="en-US" altLang="en-US" sz="1200">
                <a:latin typeface="Helvetica" pitchFamily="-84" charset="0"/>
              </a:rPr>
              <a:pPr algn="r"/>
              <a:t>52</a:t>
            </a:fld>
            <a:endParaRPr lang="en-US" altLang="en-US" sz="1200">
              <a:latin typeface="Helvetica" pitchFamily="-84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3B13A31-3EE2-469F-B5A2-42D92DEF6767}" type="slidenum">
              <a:rPr lang="en-US" altLang="en-US">
                <a:latin typeface="Helvetica" pitchFamily="-84" charset="0"/>
              </a:rPr>
              <a:pPr/>
              <a:t>53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226A38F3-B015-4F0D-95D8-63133CCFDD3C}" type="slidenum">
              <a:rPr lang="en-US" altLang="en-US">
                <a:latin typeface="Helvetica" pitchFamily="-84" charset="0"/>
              </a:rPr>
              <a:pPr/>
              <a:t>54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1D37FC01-D50D-429D-AE09-8D337BAAC32F}" type="slidenum">
              <a:rPr lang="en-US" altLang="en-US">
                <a:latin typeface="Helvetica" pitchFamily="-84" charset="0"/>
              </a:rPr>
              <a:pPr/>
              <a:t>56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ahammadmejbah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Threads &amp; Concurrency</a:t>
            </a:r>
            <a:endParaRPr lang="en-US" sz="1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2209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1224766"/>
              </p:ext>
            </p:extLst>
          </p:nvPr>
        </p:nvGraphicFramePr>
        <p:xfrm>
          <a:off x="476205" y="5186042"/>
          <a:ext cx="8335798" cy="129313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276475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359877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590588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Fall 21-22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Mejbah Ahammad, Lecturer, CS,  AIUB</a:t>
                      </a:r>
                    </a:p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+8801308757586 </a:t>
                      </a:r>
                      <a:r>
                        <a:rPr lang="en-US" sz="1800" cap="none" dirty="0">
                          <a:solidFill>
                            <a:srgbClr val="F49100"/>
                          </a:solidFill>
                          <a:latin typeface="Georgia" panose="02040502050405020303" pitchFamily="18" charset="0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ahammadmejbah@aiub.</a:t>
                      </a:r>
                      <a:r>
                        <a:rPr lang="en-US" sz="1800" cap="none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edu</a:t>
                      </a:r>
                      <a:endParaRPr lang="en-US" sz="1800" cap="none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  <a:p>
                      <a:r>
                        <a:rPr lang="en-US" sz="1800" cap="none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Room Number: DN0922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Operating Systems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886560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Overview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Multicore Programming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Multithreading Models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Thread Libraries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Implicit Threading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Threading Issues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Operating System Examples</a:t>
            </a:r>
          </a:p>
          <a:p>
            <a:pPr marL="342900" indent="-342900">
              <a:buAutoNum type="arabicPeriod"/>
            </a:pP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Single and Multithreaded Processes</a:t>
            </a:r>
          </a:p>
        </p:txBody>
      </p:sp>
      <p:pic>
        <p:nvPicPr>
          <p:cNvPr id="12291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" y="1971631"/>
            <a:ext cx="7626350" cy="4281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82319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Multithreaded Server Architecture</a:t>
            </a:r>
          </a:p>
        </p:txBody>
      </p:sp>
      <p:pic>
        <p:nvPicPr>
          <p:cNvPr id="14339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200" y="2495114"/>
            <a:ext cx="7966075" cy="284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91807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Benefits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33183"/>
            <a:ext cx="8574087" cy="3992563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b="1" dirty="0"/>
              <a:t>Responsiveness – </a:t>
            </a:r>
            <a:r>
              <a:rPr lang="en-US" altLang="en-US" dirty="0"/>
              <a:t>may allow continued execution if part of process is blocked, especially important for user interfaces</a:t>
            </a:r>
          </a:p>
          <a:p>
            <a:pPr>
              <a:buFont typeface="Wingdings" pitchFamily="2" charset="2"/>
              <a:buChar char="q"/>
            </a:pPr>
            <a:r>
              <a:rPr lang="en-US" altLang="en-US" b="1" dirty="0"/>
              <a:t>Resource Sharing – </a:t>
            </a:r>
            <a:r>
              <a:rPr lang="en-US" altLang="en-US" dirty="0"/>
              <a:t>threads share resources of process, easier than shared memory or message passing</a:t>
            </a:r>
          </a:p>
          <a:p>
            <a:pPr>
              <a:buFont typeface="Wingdings" pitchFamily="2" charset="2"/>
              <a:buChar char="q"/>
            </a:pPr>
            <a:r>
              <a:rPr lang="en-US" altLang="en-US" b="1" dirty="0"/>
              <a:t>Economy – </a:t>
            </a:r>
            <a:r>
              <a:rPr lang="en-US" altLang="en-US" dirty="0"/>
              <a:t>cheaper than process creation, thread switching lower overhead than context switching</a:t>
            </a:r>
          </a:p>
          <a:p>
            <a:pPr>
              <a:buFont typeface="Wingdings" pitchFamily="2" charset="2"/>
              <a:buChar char="q"/>
            </a:pPr>
            <a:r>
              <a:rPr lang="en-US" altLang="en-US" b="1" dirty="0"/>
              <a:t>Scalability – </a:t>
            </a:r>
            <a:r>
              <a:rPr lang="en-US" altLang="en-US" dirty="0"/>
              <a:t>process can take advantage of multicore architectures</a:t>
            </a:r>
            <a:br>
              <a:rPr lang="en-US" altLang="en-US" dirty="0"/>
            </a:br>
            <a:endParaRPr lang="en-US" altLang="en-US" dirty="0"/>
          </a:p>
          <a:p>
            <a:pPr>
              <a:buFont typeface="Wingdings" pitchFamily="2" charset="2"/>
              <a:buChar char="q"/>
            </a:pPr>
            <a:endParaRPr lang="en-US" altLang="en-US" b="1" dirty="0"/>
          </a:p>
        </p:txBody>
      </p:sp>
    </p:spTree>
    <p:extLst>
      <p:ext uri="{BB962C8B-B14F-4D97-AF65-F5344CB8AC3E}">
        <p14:creationId xmlns:p14="http://schemas.microsoft.com/office/powerpoint/2010/main" val="1392743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Multicore Programming</a:t>
            </a:r>
          </a:p>
        </p:txBody>
      </p:sp>
      <p:sp>
        <p:nvSpPr>
          <p:cNvPr id="18435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84163" y="1933183"/>
            <a:ext cx="8574087" cy="3992563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Multicore</a:t>
            </a:r>
            <a:r>
              <a:rPr lang="en-US" altLang="en-US" dirty="0"/>
              <a:t> or </a:t>
            </a:r>
            <a:r>
              <a:rPr lang="en-US" altLang="en-US" b="1" dirty="0">
                <a:solidFill>
                  <a:srgbClr val="3366FF"/>
                </a:solidFill>
              </a:rPr>
              <a:t>multiprocessor</a:t>
            </a:r>
            <a:r>
              <a:rPr lang="en-US" altLang="en-US" dirty="0"/>
              <a:t> systems putting pressure on programmers, challenges include: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/>
              <a:t>Dividing activities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/>
              <a:t>Balance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/>
              <a:t>Data splitting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/>
              <a:t>Data dependency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/>
              <a:t>Testing and debugging</a:t>
            </a:r>
          </a:p>
          <a:p>
            <a:pPr>
              <a:buFont typeface="Wingdings" pitchFamily="2" charset="2"/>
              <a:buChar char="q"/>
            </a:pPr>
            <a:r>
              <a:rPr lang="en-US" altLang="en-US" b="1" i="1" dirty="0"/>
              <a:t>Parallelism</a:t>
            </a:r>
            <a:r>
              <a:rPr lang="en-US" altLang="en-US" dirty="0"/>
              <a:t> implies a system can perform more than one task simultaneously</a:t>
            </a:r>
          </a:p>
          <a:p>
            <a:pPr>
              <a:buFont typeface="Wingdings" pitchFamily="2" charset="2"/>
              <a:buChar char="q"/>
            </a:pPr>
            <a:r>
              <a:rPr lang="en-US" altLang="en-US" b="1" i="1" dirty="0"/>
              <a:t>Concurrency</a:t>
            </a:r>
            <a:r>
              <a:rPr lang="en-US" altLang="en-US" dirty="0"/>
              <a:t> supports more than one task making progress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Single processor / core, scheduler providing concurrency</a:t>
            </a:r>
          </a:p>
          <a:p>
            <a:pPr lvl="1">
              <a:buFont typeface="Wingdings" pitchFamily="2" charset="2"/>
              <a:buChar char="q"/>
            </a:pPr>
            <a:endParaRPr lang="en-US" altLang="en-US" dirty="0"/>
          </a:p>
          <a:p>
            <a:pPr lvl="1"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8623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Concurrency vs. Parallelism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/>
        </p:nvSpPr>
        <p:spPr bwMode="auto">
          <a:xfrm>
            <a:off x="457200" y="1940251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/>
          <a:p>
            <a:pPr marL="488950" indent="-488950">
              <a:spcBef>
                <a:spcPct val="35000"/>
              </a:spcBef>
              <a:buClr>
                <a:srgbClr val="993300"/>
              </a:buClr>
              <a:buSzPct val="90000"/>
              <a:buFont typeface="Wingdings" pitchFamily="2" charset="2"/>
              <a:buChar char="q"/>
            </a:pPr>
            <a:r>
              <a:rPr kumimoji="1" lang="en-US" altLang="en-US" b="1" dirty="0">
                <a:latin typeface="Helvetica" pitchFamily="-84" charset="0"/>
              </a:rPr>
              <a:t>Concurrent execution on single-core system:</a:t>
            </a:r>
          </a:p>
          <a:p>
            <a:pPr marL="488950" indent="-488950">
              <a:spcBef>
                <a:spcPct val="35000"/>
              </a:spcBef>
              <a:buClr>
                <a:srgbClr val="993300"/>
              </a:buClr>
              <a:buSzPct val="90000"/>
              <a:buFont typeface="Wingdings" pitchFamily="2" charset="2"/>
              <a:buChar char="q"/>
            </a:pPr>
            <a:endParaRPr kumimoji="1" lang="en-US" altLang="en-US" b="1" dirty="0">
              <a:latin typeface="Helvetica" pitchFamily="-84" charset="0"/>
            </a:endParaRPr>
          </a:p>
          <a:p>
            <a:pPr marL="488950" indent="-488950">
              <a:spcBef>
                <a:spcPct val="35000"/>
              </a:spcBef>
              <a:buClr>
                <a:srgbClr val="993300"/>
              </a:buClr>
              <a:buSzPct val="90000"/>
              <a:buFont typeface="Wingdings" pitchFamily="2" charset="2"/>
              <a:buChar char="q"/>
            </a:pPr>
            <a:endParaRPr kumimoji="1" lang="en-US" altLang="en-US" b="1" dirty="0">
              <a:latin typeface="Helvetica" pitchFamily="-84" charset="0"/>
            </a:endParaRPr>
          </a:p>
          <a:p>
            <a:pPr marL="488950" indent="-488950">
              <a:spcBef>
                <a:spcPct val="35000"/>
              </a:spcBef>
              <a:buClr>
                <a:srgbClr val="993300"/>
              </a:buClr>
              <a:buSzPct val="90000"/>
              <a:buFont typeface="Wingdings" pitchFamily="2" charset="2"/>
              <a:buChar char="q"/>
            </a:pPr>
            <a:endParaRPr kumimoji="1" lang="en-US" altLang="en-US" b="1" dirty="0">
              <a:latin typeface="Helvetica" pitchFamily="-84" charset="0"/>
            </a:endParaRPr>
          </a:p>
          <a:p>
            <a:pPr marL="488950" indent="-488950">
              <a:spcBef>
                <a:spcPct val="35000"/>
              </a:spcBef>
              <a:buClr>
                <a:srgbClr val="993300"/>
              </a:buClr>
              <a:buSzPct val="90000"/>
              <a:buFont typeface="Wingdings" pitchFamily="2" charset="2"/>
              <a:buChar char="q"/>
            </a:pPr>
            <a:endParaRPr kumimoji="1" lang="en-US" altLang="en-US" b="1" dirty="0">
              <a:latin typeface="Helvetica" pitchFamily="-84" charset="0"/>
            </a:endParaRPr>
          </a:p>
          <a:p>
            <a:pPr marL="488950" indent="-488950">
              <a:spcBef>
                <a:spcPct val="35000"/>
              </a:spcBef>
              <a:buClr>
                <a:srgbClr val="993300"/>
              </a:buClr>
              <a:buSzPct val="90000"/>
              <a:buFont typeface="Wingdings" pitchFamily="2" charset="2"/>
              <a:buChar char="q"/>
            </a:pPr>
            <a:r>
              <a:rPr kumimoji="1" lang="en-US" altLang="en-US" b="1" dirty="0">
                <a:latin typeface="Helvetica" pitchFamily="-84" charset="0"/>
              </a:rPr>
              <a:t>Parallelism on a multi-core system:</a:t>
            </a:r>
          </a:p>
          <a:p>
            <a:pPr marL="488950" indent="-488950">
              <a:spcBef>
                <a:spcPct val="35000"/>
              </a:spcBef>
              <a:buClr>
                <a:srgbClr val="993300"/>
              </a:buClr>
              <a:buSzPct val="90000"/>
              <a:buFont typeface="Wingdings" pitchFamily="2" charset="2"/>
              <a:buChar char="q"/>
            </a:pPr>
            <a:endParaRPr kumimoji="1" lang="en-US" altLang="en-US" b="1" dirty="0">
              <a:latin typeface="Helvetica" pitchFamily="-84" charset="0"/>
            </a:endParaRPr>
          </a:p>
        </p:txBody>
      </p:sp>
      <p:pic>
        <p:nvPicPr>
          <p:cNvPr id="20484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412" y="2569423"/>
            <a:ext cx="7799387" cy="868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5" name="Picture 2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5675" y="4366430"/>
            <a:ext cx="4692650" cy="1627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29963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Multicore Programming</a:t>
            </a:r>
          </a:p>
        </p:txBody>
      </p:sp>
      <p:sp>
        <p:nvSpPr>
          <p:cNvPr id="22531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84163" y="1995813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Types of parallelism 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Data parallelism</a:t>
            </a:r>
            <a:r>
              <a:rPr lang="en-US" altLang="en-US" dirty="0"/>
              <a:t> – </a:t>
            </a:r>
            <a:r>
              <a:rPr lang="en-US" b="1" dirty="0"/>
              <a:t>Data parallelism </a:t>
            </a:r>
            <a:r>
              <a:rPr lang="en-US" dirty="0"/>
              <a:t>focuses on distributing subsets of the same data across multiple computing cores and performing the same operation on each core. </a:t>
            </a:r>
            <a:br>
              <a:rPr lang="en-US" dirty="0"/>
            </a:br>
            <a:endParaRPr lang="en-US" altLang="en-US" b="1" dirty="0">
              <a:solidFill>
                <a:srgbClr val="3366FF"/>
              </a:solidFill>
            </a:endParaRPr>
          </a:p>
          <a:p>
            <a:pPr lvl="1"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Task parallelism </a:t>
            </a:r>
            <a:r>
              <a:rPr lang="en-US" altLang="en-US" dirty="0"/>
              <a:t>– </a:t>
            </a:r>
            <a:r>
              <a:rPr lang="en-US" b="1" dirty="0"/>
              <a:t>Task parallelism </a:t>
            </a:r>
            <a:r>
              <a:rPr lang="en-US" dirty="0"/>
              <a:t>involves distributing not data but tasks (threads) across multiple computing cores. </a:t>
            </a:r>
            <a:br>
              <a:rPr lang="en-US" dirty="0"/>
            </a:br>
            <a:endParaRPr lang="en-US" altLang="en-US" dirty="0"/>
          </a:p>
          <a:p>
            <a:pPr lvl="1"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2153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/>
              <a:t>Data and Task Parallelism</a:t>
            </a:r>
          </a:p>
        </p:txBody>
      </p:sp>
      <p:pic>
        <p:nvPicPr>
          <p:cNvPr id="24579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8300" y="2187184"/>
            <a:ext cx="5851525" cy="390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16877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Amdahl’s Law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20657"/>
            <a:ext cx="8574087" cy="4617929"/>
          </a:xfrm>
        </p:spPr>
        <p:txBody>
          <a:bodyPr>
            <a:normAutofit fontScale="77500" lnSpcReduction="20000"/>
          </a:bodyPr>
          <a:lstStyle/>
          <a:p>
            <a:pPr>
              <a:spcBef>
                <a:spcPts val="1000"/>
              </a:spcBef>
              <a:buFont typeface="Wingdings" pitchFamily="2" charset="2"/>
              <a:buChar char="q"/>
              <a:defRPr/>
            </a:pPr>
            <a:r>
              <a:rPr lang="en-US" altLang="en-US" dirty="0">
                <a:cs typeface="ＭＳ Ｐゴシック" charset="-128"/>
              </a:rPr>
              <a:t>Identifies performance gains from adding additional cores to an application that has both serial and parallel components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  <a:defRPr/>
            </a:pPr>
            <a:r>
              <a:rPr lang="en-US" altLang="en-US" i="1" dirty="0">
                <a:cs typeface="ＭＳ Ｐゴシック" charset="-128"/>
              </a:rPr>
              <a:t>S</a:t>
            </a:r>
            <a:r>
              <a:rPr lang="en-US" altLang="en-US" dirty="0">
                <a:cs typeface="ＭＳ Ｐゴシック" charset="-128"/>
              </a:rPr>
              <a:t> is serial portion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  <a:defRPr/>
            </a:pPr>
            <a:r>
              <a:rPr lang="en-US" altLang="en-US" i="1" dirty="0">
                <a:cs typeface="ＭＳ Ｐゴシック" charset="-128"/>
              </a:rPr>
              <a:t>N</a:t>
            </a:r>
            <a:r>
              <a:rPr lang="en-US" altLang="en-US" dirty="0">
                <a:cs typeface="ＭＳ Ｐゴシック" charset="-128"/>
              </a:rPr>
              <a:t> processing cores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  <a:defRPr/>
            </a:pPr>
            <a:endParaRPr lang="en-US" altLang="en-US" dirty="0">
              <a:cs typeface="ＭＳ Ｐゴシック" charset="-128"/>
            </a:endParaRPr>
          </a:p>
          <a:p>
            <a:pPr>
              <a:spcBef>
                <a:spcPts val="1000"/>
              </a:spcBef>
              <a:buFont typeface="Wingdings" pitchFamily="2" charset="2"/>
              <a:buChar char="q"/>
              <a:defRPr/>
            </a:pPr>
            <a:endParaRPr lang="en-US" altLang="en-US" dirty="0">
              <a:cs typeface="ＭＳ Ｐゴシック" charset="-128"/>
            </a:endParaRPr>
          </a:p>
          <a:p>
            <a:pPr>
              <a:spcBef>
                <a:spcPts val="1000"/>
              </a:spcBef>
              <a:buFont typeface="Wingdings" pitchFamily="2" charset="2"/>
              <a:buChar char="q"/>
              <a:defRPr/>
            </a:pPr>
            <a:endParaRPr lang="en-US" altLang="en-US" dirty="0">
              <a:cs typeface="ＭＳ Ｐゴシック" charset="-128"/>
            </a:endParaRPr>
          </a:p>
          <a:p>
            <a:pPr>
              <a:spcBef>
                <a:spcPts val="1000"/>
              </a:spcBef>
              <a:buFont typeface="Wingdings" pitchFamily="2" charset="2"/>
              <a:buChar char="q"/>
              <a:defRPr/>
            </a:pPr>
            <a:r>
              <a:rPr lang="en-US" altLang="en-US" dirty="0">
                <a:cs typeface="ＭＳ Ｐゴシック" charset="-128"/>
              </a:rPr>
              <a:t>That is, if application is 75% parallel / 25% serial, moving from 1 to 2 cores results in speedup of 1.6 times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  <a:defRPr/>
            </a:pPr>
            <a:r>
              <a:rPr lang="en-US" altLang="en-US" dirty="0">
                <a:cs typeface="ＭＳ Ｐゴシック" charset="-128"/>
              </a:rPr>
              <a:t>As </a:t>
            </a:r>
            <a:r>
              <a:rPr lang="en-US" altLang="en-US" i="1" dirty="0">
                <a:cs typeface="ＭＳ Ｐゴシック" charset="-128"/>
              </a:rPr>
              <a:t>N</a:t>
            </a:r>
            <a:r>
              <a:rPr lang="en-US" altLang="en-US" dirty="0">
                <a:cs typeface="ＭＳ Ｐゴシック" charset="-128"/>
              </a:rPr>
              <a:t> approaches infinity, speedup approaches 1 / </a:t>
            </a:r>
            <a:r>
              <a:rPr lang="en-US" altLang="en-US" i="1" dirty="0">
                <a:cs typeface="ＭＳ Ｐゴシック" charset="-128"/>
              </a:rPr>
              <a:t>S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  <a:defRPr/>
            </a:pPr>
            <a:br>
              <a:rPr lang="en-US" altLang="en-US" b="1" dirty="0">
                <a:cs typeface="ＭＳ Ｐゴシック" charset="-128"/>
              </a:rPr>
            </a:br>
            <a:r>
              <a:rPr lang="en-US" altLang="en-US" b="1" dirty="0">
                <a:cs typeface="ＭＳ Ｐゴシック" charset="-128"/>
              </a:rPr>
              <a:t>Serial portion of an application has disproportionate  effect on performance gained by adding additional cores</a:t>
            </a:r>
            <a:endParaRPr lang="en-US" altLang="en-US" sz="800" b="1" dirty="0">
              <a:cs typeface="ＭＳ Ｐゴシック" charset="-128"/>
            </a:endParaRPr>
          </a:p>
          <a:p>
            <a:pPr>
              <a:spcBef>
                <a:spcPts val="1000"/>
              </a:spcBef>
              <a:buFont typeface="Wingdings" pitchFamily="2" charset="2"/>
              <a:buChar char="q"/>
              <a:defRPr/>
            </a:pPr>
            <a:r>
              <a:rPr lang="en-US" altLang="en-US" dirty="0">
                <a:cs typeface="ＭＳ Ｐゴシック" charset="-128"/>
              </a:rPr>
              <a:t>But does the law take into account contemporary multicore systems?</a:t>
            </a:r>
          </a:p>
        </p:txBody>
      </p:sp>
      <p:pic>
        <p:nvPicPr>
          <p:cNvPr id="26628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813" y="3252722"/>
            <a:ext cx="2430463" cy="906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683989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dirty="0"/>
              <a:t>Amdahl’s Law</a:t>
            </a:r>
          </a:p>
        </p:txBody>
      </p:sp>
      <p:pic>
        <p:nvPicPr>
          <p:cNvPr id="28675" name="Picture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2588" y="2338214"/>
            <a:ext cx="5276850" cy="372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276128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User Threads and Kernel Threads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95813"/>
            <a:ext cx="8574087" cy="4467617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User threads</a:t>
            </a:r>
            <a:r>
              <a:rPr lang="en-US" altLang="en-US" dirty="0"/>
              <a:t> - management done by user-level threads library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Three primary thread libraries: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 POSIX </a:t>
            </a:r>
            <a:r>
              <a:rPr lang="en-US" altLang="en-US" b="1" dirty="0" err="1">
                <a:solidFill>
                  <a:srgbClr val="3366FF"/>
                </a:solidFill>
              </a:rPr>
              <a:t>Pthreads</a:t>
            </a:r>
            <a:endParaRPr lang="en-US" altLang="en-US" b="1" i="1" dirty="0">
              <a:solidFill>
                <a:srgbClr val="3366FF"/>
              </a:solidFill>
            </a:endParaRP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 Windows threads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 Java threads</a:t>
            </a:r>
          </a:p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Kernel threads </a:t>
            </a:r>
            <a:r>
              <a:rPr lang="en-US" altLang="en-US" dirty="0"/>
              <a:t>- Supported by the Kernel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Examples – virtually all general purpose operating systems, including: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Windows 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Linux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Mac OS X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 err="1"/>
              <a:t>iOS</a:t>
            </a:r>
            <a:endParaRPr lang="en-US" altLang="en-US" dirty="0"/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Android</a:t>
            </a:r>
          </a:p>
          <a:p>
            <a:pPr lvl="1"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183481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dirty="0"/>
              <a:t>User and Kernel Threads</a:t>
            </a:r>
          </a:p>
        </p:txBody>
      </p:sp>
      <p:pic>
        <p:nvPicPr>
          <p:cNvPr id="31747" name="Picture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5574" y="2766121"/>
            <a:ext cx="4826000" cy="266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83444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Multithreading Models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133600"/>
            <a:ext cx="707674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Many-to-One</a:t>
            </a:r>
            <a:br>
              <a:rPr lang="en-US" altLang="en-US" dirty="0"/>
            </a:br>
            <a:endParaRPr lang="en-US" altLang="en-US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One-to-One</a:t>
            </a:r>
            <a:br>
              <a:rPr lang="en-US" altLang="en-US" dirty="0"/>
            </a:br>
            <a:endParaRPr lang="en-US" altLang="en-US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Many-to-Many</a:t>
            </a:r>
          </a:p>
          <a:p>
            <a:pPr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060900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Many-to-One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95813"/>
            <a:ext cx="7076747" cy="3992563"/>
          </a:xfrm>
        </p:spPr>
        <p:txBody>
          <a:bodyPr>
            <a:normAutofit fontScale="925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Many user-level threads mapped to single kernel thread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One thread blocking causes all to block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Multiple threads may not run in parallel on multicore system because only one may be in kernel at a time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Few systems currently use this model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Examples: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Solaris Green Threads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GNU Portable Threads</a:t>
            </a:r>
          </a:p>
        </p:txBody>
      </p:sp>
      <p:pic>
        <p:nvPicPr>
          <p:cNvPr id="34820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4775" y="4307714"/>
            <a:ext cx="3959225" cy="217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577391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 dirty="0"/>
              <a:t>One-to-One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008339"/>
            <a:ext cx="7076747" cy="3992563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Each user-level thread maps to kernel thread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Creating a user-level thread creates a kernel thread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More concurrency than many-to-one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Number of threads per process sometimes restricted due to overhead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Examples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Windows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Linux</a:t>
            </a:r>
          </a:p>
        </p:txBody>
      </p:sp>
      <p:pic>
        <p:nvPicPr>
          <p:cNvPr id="36868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9225" y="4264025"/>
            <a:ext cx="3914775" cy="217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451717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 dirty="0"/>
              <a:t>Many-to-Many Model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020865"/>
            <a:ext cx="707674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Allows many user level threads to be mapped to many kernel threads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Allows the  operating system to create a sufficient number of kernel threads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Windows  with the </a:t>
            </a:r>
            <a:r>
              <a:rPr lang="en-US" altLang="en-US" i="1" dirty="0" err="1"/>
              <a:t>ThreadFiber</a:t>
            </a:r>
            <a:r>
              <a:rPr lang="en-US" altLang="en-US" dirty="0"/>
              <a:t> package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Otherwise not very common</a:t>
            </a:r>
          </a:p>
        </p:txBody>
      </p:sp>
      <p:pic>
        <p:nvPicPr>
          <p:cNvPr id="38916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2166" y="4455439"/>
            <a:ext cx="3943350" cy="217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444277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Two-level Model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58235"/>
            <a:ext cx="707674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Similar to M:M, except that it allows a user thread to be </a:t>
            </a:r>
            <a:r>
              <a:rPr lang="en-US" altLang="en-US" b="1" dirty="0"/>
              <a:t>bound</a:t>
            </a:r>
            <a:r>
              <a:rPr lang="en-US" altLang="en-US" dirty="0"/>
              <a:t> to kernel thread</a:t>
            </a:r>
          </a:p>
        </p:txBody>
      </p:sp>
      <p:pic>
        <p:nvPicPr>
          <p:cNvPr id="40964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8886" y="3422650"/>
            <a:ext cx="4222750" cy="217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154890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Thread Libraries</a:t>
            </a:r>
          </a:p>
        </p:txBody>
      </p:sp>
      <p:sp>
        <p:nvSpPr>
          <p:cNvPr id="43011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84163" y="2020865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Thread library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provides programmer with API for creating and managing threads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Two primary ways of implementing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Library entirely in user space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Kernel-level library supported by the OS</a:t>
            </a:r>
          </a:p>
        </p:txBody>
      </p:sp>
    </p:spTree>
    <p:extLst>
      <p:ext uri="{BB962C8B-B14F-4D97-AF65-F5344CB8AC3E}">
        <p14:creationId xmlns:p14="http://schemas.microsoft.com/office/powerpoint/2010/main" val="34010646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Pthreads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83287"/>
            <a:ext cx="8574087" cy="4404987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b="1" dirty="0" err="1"/>
              <a:t>Pthreads</a:t>
            </a:r>
            <a:r>
              <a:rPr lang="en-US" altLang="en-US" b="1" dirty="0"/>
              <a:t> </a:t>
            </a:r>
            <a:r>
              <a:rPr lang="en-US" altLang="en-US" dirty="0"/>
              <a:t>refers to the POSIX standard (IEEE 1003.1c) defining an API for thread creation and synchronization </a:t>
            </a:r>
            <a:br>
              <a:rPr lang="en-US" altLang="en-US" dirty="0"/>
            </a:br>
            <a:r>
              <a:rPr lang="en-US" altLang="en-US" dirty="0"/>
              <a:t>May be provided either as user-level or kernel-level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A POSIX standard (IEEE 1003.1c) API for thread creation and synchronization</a:t>
            </a:r>
          </a:p>
          <a:p>
            <a:pPr>
              <a:buFont typeface="Wingdings" pitchFamily="2" charset="2"/>
              <a:buChar char="q"/>
            </a:pPr>
            <a:r>
              <a:rPr lang="en-US" altLang="en-US" b="1" i="1" dirty="0"/>
              <a:t>Specification</a:t>
            </a:r>
            <a:r>
              <a:rPr lang="en-US" altLang="en-US" dirty="0"/>
              <a:t>, not </a:t>
            </a:r>
            <a:r>
              <a:rPr lang="en-US" altLang="en-US" b="1" i="1" dirty="0"/>
              <a:t>implementation</a:t>
            </a:r>
            <a:endParaRPr lang="en-US" altLang="en-US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API specifies behavior of the thread library, implementation is up to development of the library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Common in UNIX operating systems (Linux &amp; Mac OS X)</a:t>
            </a:r>
          </a:p>
          <a:p>
            <a:pPr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21529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/>
              <a:t>Pthreads Example</a:t>
            </a:r>
          </a:p>
        </p:txBody>
      </p:sp>
      <p:pic>
        <p:nvPicPr>
          <p:cNvPr id="47107" name="Picture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163" y="1893738"/>
            <a:ext cx="7137400" cy="47074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247617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dirty="0" err="1"/>
              <a:t>Pthreads</a:t>
            </a:r>
            <a:r>
              <a:rPr lang="en-US" altLang="en-US" dirty="0"/>
              <a:t> Example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pic>
        <p:nvPicPr>
          <p:cNvPr id="48131" name="Picture 2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97" y="2057400"/>
            <a:ext cx="5638800" cy="273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06121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altLang="en-US" sz="4000"/>
              <a:t>Pthreads Code for Joining 10 Threads</a:t>
            </a:r>
          </a:p>
        </p:txBody>
      </p:sp>
      <p:pic>
        <p:nvPicPr>
          <p:cNvPr id="49155" name="Picture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163" y="2049049"/>
            <a:ext cx="5438775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304760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/>
              <a:t>Windows  Multithreaded C Program</a:t>
            </a:r>
          </a:p>
        </p:txBody>
      </p:sp>
      <p:pic>
        <p:nvPicPr>
          <p:cNvPr id="50179" name="Picture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389" y="1905000"/>
            <a:ext cx="618490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545948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altLang="en-US" sz="3600" dirty="0"/>
              <a:t>Windows  Multithreaded C Program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sz="3600" dirty="0"/>
          </a:p>
        </p:txBody>
      </p:sp>
      <p:pic>
        <p:nvPicPr>
          <p:cNvPr id="51203" name="Picture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088" y="1787212"/>
            <a:ext cx="5922614" cy="4839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22065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Java Threads</a:t>
            </a:r>
          </a:p>
        </p:txBody>
      </p:sp>
      <p:sp>
        <p:nvSpPr>
          <p:cNvPr id="52227" name="Rectangle 5"/>
          <p:cNvSpPr>
            <a:spLocks noGrp="1" noChangeArrowheads="1"/>
          </p:cNvSpPr>
          <p:nvPr>
            <p:ph idx="1"/>
          </p:nvPr>
        </p:nvSpPr>
        <p:spPr>
          <a:xfrm>
            <a:off x="284163" y="2072481"/>
            <a:ext cx="8574087" cy="3992563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Java threads are managed by the JVM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Typically implemented using the threads model provided by underlying OS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Java threads may be created by: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Extending Thread class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Implementing the Runnable interface</a:t>
            </a: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endParaRPr lang="en-US" altLang="en-US" dirty="0"/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Standard practice is to implement Runnable interface</a:t>
            </a:r>
            <a:br>
              <a:rPr lang="en-US" altLang="en-US" dirty="0"/>
            </a:br>
            <a:endParaRPr lang="en-US" altLang="en-US" dirty="0"/>
          </a:p>
        </p:txBody>
      </p:sp>
      <p:pic>
        <p:nvPicPr>
          <p:cNvPr id="52228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9223" y="4141723"/>
            <a:ext cx="3773488" cy="113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608145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dirty="0"/>
              <a:t>Java Threads</a:t>
            </a:r>
          </a:p>
        </p:txBody>
      </p:sp>
      <p:sp>
        <p:nvSpPr>
          <p:cNvPr id="54275" name="TextBox 2"/>
          <p:cNvSpPr txBox="1">
            <a:spLocks noChangeArrowheads="1"/>
          </p:cNvSpPr>
          <p:nvPr/>
        </p:nvSpPr>
        <p:spPr bwMode="auto">
          <a:xfrm>
            <a:off x="419994" y="1926334"/>
            <a:ext cx="46577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1pPr>
            <a:lvl2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2pPr>
            <a:lvl3pPr marL="1143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3pPr>
            <a:lvl4pPr marL="1600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4pPr>
            <a:lvl5pPr marL="20574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5pPr>
            <a:lvl6pPr marL="2514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6pPr>
            <a:lvl7pPr marL="29718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7pPr>
            <a:lvl8pPr marL="3429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8pPr>
            <a:lvl9pPr marL="3886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9pPr>
          </a:lstStyle>
          <a:p>
            <a:r>
              <a:rPr kumimoji="0" lang="en-US" altLang="en-US" b="1" dirty="0">
                <a:latin typeface="Verdana" pitchFamily="34" charset="0"/>
              </a:rPr>
              <a:t>Implementing Runnable interface:</a:t>
            </a:r>
          </a:p>
        </p:txBody>
      </p:sp>
      <p:pic>
        <p:nvPicPr>
          <p:cNvPr id="54276" name="Picture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857" y="2399213"/>
            <a:ext cx="4826000" cy="157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77" name="Rectangle 4"/>
          <p:cNvSpPr>
            <a:spLocks noChangeArrowheads="1"/>
          </p:cNvSpPr>
          <p:nvPr/>
        </p:nvSpPr>
        <p:spPr bwMode="auto">
          <a:xfrm>
            <a:off x="335857" y="3789863"/>
            <a:ext cx="2546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en-US" b="1" dirty="0"/>
              <a:t>Creating a thread:</a:t>
            </a:r>
          </a:p>
        </p:txBody>
      </p:sp>
      <p:pic>
        <p:nvPicPr>
          <p:cNvPr id="54278" name="Picture 5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975" y="4127870"/>
            <a:ext cx="4800600" cy="73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79" name="Rectangle 6"/>
          <p:cNvSpPr>
            <a:spLocks noChangeArrowheads="1"/>
          </p:cNvSpPr>
          <p:nvPr/>
        </p:nvSpPr>
        <p:spPr bwMode="auto">
          <a:xfrm>
            <a:off x="335857" y="4890196"/>
            <a:ext cx="28495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en-US" b="1" dirty="0"/>
              <a:t>Waiting on a thread:</a:t>
            </a:r>
          </a:p>
        </p:txBody>
      </p:sp>
      <p:pic>
        <p:nvPicPr>
          <p:cNvPr id="54280" name="Picture 7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044" y="5260084"/>
            <a:ext cx="4114800" cy="127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063622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dirty="0"/>
              <a:t>Java Executor Framework</a:t>
            </a:r>
          </a:p>
        </p:txBody>
      </p:sp>
      <p:sp>
        <p:nvSpPr>
          <p:cNvPr id="55299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84163" y="1883079"/>
            <a:ext cx="8574087" cy="39925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Rather than explicitly creating threads, Java also allows thread creation around the Executor interface:</a:t>
            </a: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endParaRPr lang="en-US" altLang="en-US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The Executor is used as follows:</a:t>
            </a:r>
            <a:br>
              <a:rPr lang="en-US" altLang="en-US" dirty="0"/>
            </a:br>
            <a:br>
              <a:rPr lang="en-US" altLang="en-US" dirty="0"/>
            </a:br>
            <a:endParaRPr lang="en-US" altLang="en-US" dirty="0"/>
          </a:p>
        </p:txBody>
      </p:sp>
      <p:pic>
        <p:nvPicPr>
          <p:cNvPr id="55300" name="Picture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778" y="2784454"/>
            <a:ext cx="4267200" cy="116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301" name="Picture 4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846" y="4598878"/>
            <a:ext cx="3695700" cy="74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909322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/>
              <a:t>Java Executor Framework</a:t>
            </a:r>
          </a:p>
        </p:txBody>
      </p:sp>
      <p:pic>
        <p:nvPicPr>
          <p:cNvPr id="56323" name="Picture 4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748" y="2064143"/>
            <a:ext cx="6019800" cy="443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511553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dirty="0"/>
              <a:t>Java Executor Framework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pic>
        <p:nvPicPr>
          <p:cNvPr id="57347" name="Picture 2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163" y="1928311"/>
            <a:ext cx="7581900" cy="328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705631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Implicit Threading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95813"/>
            <a:ext cx="8574087" cy="3992563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Growing in popularity as numbers of threads increase, program correctness more difficult with explicit threads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Creation and management of threads done by compilers and run-time libraries rather than programmers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Five methods explored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Thread Pools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Fork-Join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 err="1"/>
              <a:t>OpenMP</a:t>
            </a:r>
            <a:endParaRPr lang="en-US" altLang="en-US" dirty="0"/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Grand Central Dispatch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Intel Threading Building Blocks</a:t>
            </a:r>
          </a:p>
        </p:txBody>
      </p:sp>
    </p:spTree>
    <p:extLst>
      <p:ext uri="{BB962C8B-B14F-4D97-AF65-F5344CB8AC3E}">
        <p14:creationId xmlns:p14="http://schemas.microsoft.com/office/powerpoint/2010/main" val="202722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Thread Pools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08131"/>
            <a:ext cx="8574087" cy="3803737"/>
          </a:xfrm>
        </p:spPr>
        <p:txBody>
          <a:bodyPr>
            <a:normAutofit lnSpcReduction="10000"/>
          </a:bodyPr>
          <a:lstStyle/>
          <a:p>
            <a:pPr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dirty="0"/>
              <a:t>Create a number of threads in a pool where they await work</a:t>
            </a:r>
          </a:p>
          <a:p>
            <a:pPr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dirty="0"/>
              <a:t>Advantages:</a:t>
            </a:r>
          </a:p>
          <a:p>
            <a:pPr lvl="1"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dirty="0"/>
              <a:t>Usually slightly faster to service a request with an existing thread than create a new thread</a:t>
            </a:r>
          </a:p>
          <a:p>
            <a:pPr lvl="1"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dirty="0"/>
              <a:t>Allows the number of threads in the application(s) to be bound to the size of the pool</a:t>
            </a:r>
          </a:p>
          <a:p>
            <a:pPr lvl="1"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dirty="0"/>
              <a:t>Separating task to be performed from mechanics of creating task allows different strategies for running task</a:t>
            </a:r>
          </a:p>
          <a:p>
            <a:pPr lvl="2"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dirty="0" err="1"/>
              <a:t>i.e.Tasks</a:t>
            </a:r>
            <a:r>
              <a:rPr lang="en-US" altLang="en-US" dirty="0"/>
              <a:t> could be scheduled to run periodically</a:t>
            </a:r>
          </a:p>
          <a:p>
            <a:pPr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dirty="0"/>
              <a:t>Windows API supports thread pools:</a:t>
            </a:r>
          </a:p>
        </p:txBody>
      </p:sp>
      <p:pic>
        <p:nvPicPr>
          <p:cNvPr id="60420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829" y="5374601"/>
            <a:ext cx="6438900" cy="142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003740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/>
              <a:t>Java Thread Pools</a:t>
            </a:r>
          </a:p>
        </p:txBody>
      </p:sp>
      <p:sp>
        <p:nvSpPr>
          <p:cNvPr id="62467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84163" y="1970761"/>
            <a:ext cx="707674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Three factory methods for creating thread pools in Executors class:</a:t>
            </a:r>
          </a:p>
        </p:txBody>
      </p:sp>
      <p:pic>
        <p:nvPicPr>
          <p:cNvPr id="62468" name="Picture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198" y="3131485"/>
            <a:ext cx="6680200" cy="130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633928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dirty="0"/>
              <a:t>Java Thread Pools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pic>
        <p:nvPicPr>
          <p:cNvPr id="63491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340" y="2008339"/>
            <a:ext cx="6573884" cy="3992563"/>
          </a:xfrm>
        </p:spPr>
      </p:pic>
    </p:spTree>
    <p:extLst>
      <p:ext uri="{BB962C8B-B14F-4D97-AF65-F5344CB8AC3E}">
        <p14:creationId xmlns:p14="http://schemas.microsoft.com/office/powerpoint/2010/main" val="27816117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/>
              <a:t>Fork-Join Parallelism</a:t>
            </a:r>
          </a:p>
        </p:txBody>
      </p:sp>
      <p:sp>
        <p:nvSpPr>
          <p:cNvPr id="64515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84163" y="2020865"/>
            <a:ext cx="8685212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Multiple threads (tasks) are </a:t>
            </a:r>
            <a:r>
              <a:rPr lang="en-US" altLang="en-US" b="1" dirty="0"/>
              <a:t>forked</a:t>
            </a:r>
            <a:r>
              <a:rPr lang="en-US" altLang="en-US" dirty="0"/>
              <a:t>, and then </a:t>
            </a:r>
            <a:r>
              <a:rPr lang="en-US" altLang="en-US" b="1" dirty="0"/>
              <a:t>joined</a:t>
            </a:r>
            <a:r>
              <a:rPr lang="en-US" altLang="en-US" dirty="0"/>
              <a:t>.</a:t>
            </a:r>
          </a:p>
        </p:txBody>
      </p:sp>
      <p:pic>
        <p:nvPicPr>
          <p:cNvPr id="64516" name="Picture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122" y="3026340"/>
            <a:ext cx="8351837" cy="174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130483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dirty="0"/>
              <a:t>Fork-Join Parallelism</a:t>
            </a:r>
          </a:p>
        </p:txBody>
      </p:sp>
      <p:sp>
        <p:nvSpPr>
          <p:cNvPr id="65539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84163" y="2040143"/>
            <a:ext cx="707674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General algorithm for fork-join strategy:</a:t>
            </a:r>
          </a:p>
        </p:txBody>
      </p:sp>
      <p:pic>
        <p:nvPicPr>
          <p:cNvPr id="65540" name="Picture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684" y="2671175"/>
            <a:ext cx="5778500" cy="273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856966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/>
              <a:t>Fork-Join Parallelism</a:t>
            </a:r>
          </a:p>
        </p:txBody>
      </p:sp>
      <p:pic>
        <p:nvPicPr>
          <p:cNvPr id="66563" name="Picture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8075" y="2071449"/>
            <a:ext cx="4202113" cy="4224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996255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/>
              <a:t>Fork-Join Parallelism in Java</a:t>
            </a:r>
          </a:p>
        </p:txBody>
      </p:sp>
      <p:pic>
        <p:nvPicPr>
          <p:cNvPr id="67587" name="Picture 2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076" y="1984180"/>
            <a:ext cx="5537200" cy="162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36973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dirty="0"/>
              <a:t>Fork-Join Parallelism in Java</a:t>
            </a:r>
          </a:p>
        </p:txBody>
      </p:sp>
      <p:pic>
        <p:nvPicPr>
          <p:cNvPr id="68611" name="Picture 2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163" y="1975664"/>
            <a:ext cx="4331700" cy="4775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18141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dirty="0"/>
              <a:t>Fork-Join Parallelism in Java</a:t>
            </a:r>
          </a:p>
        </p:txBody>
      </p:sp>
      <p:sp>
        <p:nvSpPr>
          <p:cNvPr id="69635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84163" y="1834737"/>
            <a:ext cx="8229600" cy="1857375"/>
          </a:xfrm>
        </p:spPr>
        <p:txBody>
          <a:bodyPr>
            <a:normAutofit fontScale="625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The </a:t>
            </a:r>
            <a:r>
              <a:rPr lang="en-US" altLang="en-US" b="1" dirty="0" err="1">
                <a:latin typeface="Courier New" pitchFamily="49" charset="0"/>
              </a:rPr>
              <a:t>ForkJoinTask</a:t>
            </a:r>
            <a:r>
              <a:rPr lang="en-US" altLang="en-US" dirty="0"/>
              <a:t> is an abstract base class</a:t>
            </a:r>
          </a:p>
          <a:p>
            <a:pPr>
              <a:buFont typeface="Wingdings" pitchFamily="2" charset="2"/>
              <a:buChar char="q"/>
            </a:pPr>
            <a:r>
              <a:rPr lang="en-US" altLang="en-US" b="1" dirty="0" err="1">
                <a:latin typeface="Courier New" pitchFamily="49" charset="0"/>
              </a:rPr>
              <a:t>RecursiveTask</a:t>
            </a:r>
            <a:r>
              <a:rPr lang="en-US" altLang="en-US" dirty="0"/>
              <a:t> and </a:t>
            </a:r>
            <a:r>
              <a:rPr lang="en-US" altLang="en-US" b="1" dirty="0" err="1">
                <a:latin typeface="Courier New" pitchFamily="49" charset="0"/>
              </a:rPr>
              <a:t>RecursiveAction</a:t>
            </a:r>
            <a:r>
              <a:rPr lang="en-US" altLang="en-US" dirty="0"/>
              <a:t> classes extend </a:t>
            </a:r>
            <a:r>
              <a:rPr lang="en-US" altLang="en-US" b="1" dirty="0" err="1">
                <a:latin typeface="Courier New" pitchFamily="49" charset="0"/>
              </a:rPr>
              <a:t>ForkJoinTask</a:t>
            </a:r>
            <a:endParaRPr lang="en-US" altLang="en-US" b="1" dirty="0">
              <a:latin typeface="Courier New" pitchFamily="49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altLang="en-US" b="1" dirty="0" err="1">
                <a:latin typeface="Courier New" pitchFamily="49" charset="0"/>
              </a:rPr>
              <a:t>RecursiveTask</a:t>
            </a:r>
            <a:r>
              <a:rPr lang="en-US" altLang="en-US" dirty="0"/>
              <a:t> returns a result (via the return value from the </a:t>
            </a:r>
            <a:r>
              <a:rPr lang="en-US" altLang="en-US" b="1" dirty="0">
                <a:latin typeface="Courier New" pitchFamily="49" charset="0"/>
              </a:rPr>
              <a:t>compute() </a:t>
            </a:r>
            <a:r>
              <a:rPr lang="en-US" altLang="en-US" dirty="0"/>
              <a:t>method) </a:t>
            </a:r>
          </a:p>
          <a:p>
            <a:pPr>
              <a:buFont typeface="Wingdings" pitchFamily="2" charset="2"/>
              <a:buChar char="q"/>
            </a:pPr>
            <a:r>
              <a:rPr lang="en-US" altLang="en-US" b="1" dirty="0" err="1">
                <a:latin typeface="Courier New" pitchFamily="49" charset="0"/>
              </a:rPr>
              <a:t>RecursiveAction</a:t>
            </a:r>
            <a:r>
              <a:rPr lang="en-US" altLang="en-US" dirty="0"/>
              <a:t> does not return a result</a:t>
            </a:r>
            <a:endParaRPr lang="en-US" altLang="en-US" b="1" dirty="0">
              <a:latin typeface="Courier New" pitchFamily="49" charset="0"/>
            </a:endParaRPr>
          </a:p>
          <a:p>
            <a:pPr>
              <a:buFont typeface="Wingdings" pitchFamily="2" charset="2"/>
              <a:buChar char="q"/>
            </a:pPr>
            <a:endParaRPr lang="en-US" altLang="en-US" b="1" dirty="0">
              <a:latin typeface="Courier New" pitchFamily="49" charset="0"/>
            </a:endParaRPr>
          </a:p>
        </p:txBody>
      </p:sp>
      <p:pic>
        <p:nvPicPr>
          <p:cNvPr id="69636" name="Picture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1471" y="3692111"/>
            <a:ext cx="49593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735427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Grand Central Dispatch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008340"/>
            <a:ext cx="8574087" cy="3992563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Apple technology for </a:t>
            </a:r>
            <a:r>
              <a:rPr lang="en-US" altLang="en-US" dirty="0" err="1"/>
              <a:t>macOS</a:t>
            </a:r>
            <a:r>
              <a:rPr lang="en-US" altLang="en-US" dirty="0"/>
              <a:t> and </a:t>
            </a:r>
            <a:r>
              <a:rPr lang="en-US" altLang="en-US" dirty="0" err="1"/>
              <a:t>iOS</a:t>
            </a:r>
            <a:r>
              <a:rPr lang="en-US" altLang="en-US" dirty="0"/>
              <a:t> operating systems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Extensions to C, C++ and Objective-C languages, API, and run-time library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Allows identification of parallel sections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Manages most of the details of threading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Block is in “^{ }” :</a:t>
            </a:r>
            <a:br>
              <a:rPr lang="en-US" altLang="en-US" dirty="0"/>
            </a:br>
            <a:br>
              <a:rPr lang="en-US" altLang="en-US" dirty="0"/>
            </a:br>
            <a:r>
              <a:rPr lang="en-US" altLang="en-US" dirty="0"/>
              <a:t> </a:t>
            </a:r>
            <a:r>
              <a:rPr lang="ro-RO" altLang="en-US" b="1" dirty="0">
                <a:latin typeface="Courier New" pitchFamily="49" charset="0"/>
              </a:rPr>
              <a:t>ˆ{ printf("I am a block"); } </a:t>
            </a:r>
            <a:br>
              <a:rPr lang="ro-RO" altLang="en-US" b="1" dirty="0">
                <a:latin typeface="Courier New" pitchFamily="49" charset="0"/>
              </a:rPr>
            </a:br>
            <a:endParaRPr lang="en-US" altLang="en-US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Blocks placed in dispatch queue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Assigned to available thread in thread pool when removed from queue</a:t>
            </a:r>
          </a:p>
        </p:txBody>
      </p:sp>
    </p:spTree>
    <p:extLst>
      <p:ext uri="{BB962C8B-B14F-4D97-AF65-F5344CB8AC3E}">
        <p14:creationId xmlns:p14="http://schemas.microsoft.com/office/powerpoint/2010/main" val="406561680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Grand Central Dispatch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70761"/>
            <a:ext cx="8574087" cy="3992563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Two types of dispatch queues: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/>
              <a:t>serial</a:t>
            </a:r>
            <a:r>
              <a:rPr lang="en-US" altLang="en-US" dirty="0"/>
              <a:t> – blocks removed in FIFO order, queue is per process, called </a:t>
            </a:r>
            <a:r>
              <a:rPr lang="en-US" altLang="en-US" b="1" dirty="0">
                <a:solidFill>
                  <a:srgbClr val="3366FF"/>
                </a:solidFill>
              </a:rPr>
              <a:t>main queue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Programmers can create additional serial queues within program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/>
              <a:t>concurrent</a:t>
            </a:r>
            <a:r>
              <a:rPr lang="en-US" altLang="en-US" dirty="0"/>
              <a:t> – removed in FIFO order but several may be removed at a time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Four system wide queues divided by quality of service: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>
                <a:latin typeface="Courier New" pitchFamily="49" charset="0"/>
              </a:rPr>
              <a:t>QOS_CLASS_USER_INTERACTIVE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>
                <a:latin typeface="Courier New" pitchFamily="49" charset="0"/>
              </a:rPr>
              <a:t>QOS_CLASS_USER_INITIATED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>
                <a:latin typeface="Courier New" pitchFamily="49" charset="0"/>
              </a:rPr>
              <a:t>QOS_CLASS_USER_UTILITY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>
                <a:latin typeface="Courier New" pitchFamily="49" charset="0"/>
              </a:rPr>
              <a:t>QOS_CLASS_USER_BACKGROUND</a:t>
            </a:r>
          </a:p>
          <a:p>
            <a:pPr lvl="2">
              <a:buFont typeface="Wingdings" pitchFamily="2" charset="2"/>
              <a:buChar char="q"/>
            </a:pPr>
            <a:endParaRPr lang="en-US" altLang="en-US" dirty="0"/>
          </a:p>
          <a:p>
            <a:pPr lvl="2">
              <a:buFont typeface="Wingdings" pitchFamily="2" charset="2"/>
              <a:buChar char="q"/>
            </a:pPr>
            <a:endParaRPr lang="en-US" altLang="en-US" dirty="0"/>
          </a:p>
          <a:p>
            <a:pPr lvl="2">
              <a:buFont typeface="Wingdings" pitchFamily="2" charset="2"/>
              <a:buChar char="q"/>
            </a:pPr>
            <a:endParaRPr lang="en-US" altLang="en-US" dirty="0"/>
          </a:p>
          <a:p>
            <a:pPr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453382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dirty="0"/>
              <a:t>Grand Central Dispatch</a:t>
            </a:r>
          </a:p>
        </p:txBody>
      </p:sp>
      <p:sp>
        <p:nvSpPr>
          <p:cNvPr id="77827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441653" y="1970761"/>
            <a:ext cx="841659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For the Swift language a task is defined as a closure – similar to a block, minus the caret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Closures are submitted to the queue using the </a:t>
            </a:r>
            <a:r>
              <a:rPr lang="en-US" altLang="en-US" dirty="0" err="1">
                <a:latin typeface="Courier New" pitchFamily="49" charset="0"/>
              </a:rPr>
              <a:t>dispatch_async</a:t>
            </a:r>
            <a:r>
              <a:rPr lang="en-US" altLang="en-US" dirty="0">
                <a:latin typeface="Courier New" pitchFamily="49" charset="0"/>
              </a:rPr>
              <a:t>() </a:t>
            </a:r>
            <a:r>
              <a:rPr lang="en-US" altLang="en-US" dirty="0"/>
              <a:t>function:</a:t>
            </a:r>
            <a:br>
              <a:rPr lang="en-US" altLang="en-US" dirty="0"/>
            </a:br>
            <a:br>
              <a:rPr lang="en-US" altLang="en-US" dirty="0"/>
            </a:br>
            <a:r>
              <a:rPr lang="en-US" altLang="en-US" dirty="0"/>
              <a:t> </a:t>
            </a:r>
          </a:p>
        </p:txBody>
      </p:sp>
      <p:pic>
        <p:nvPicPr>
          <p:cNvPr id="77828" name="Picture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2866" y="3885069"/>
            <a:ext cx="5892800" cy="123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921152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Threading Issues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58235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Semantics of </a:t>
            </a:r>
            <a:r>
              <a:rPr lang="en-US" altLang="en-US" b="1" dirty="0"/>
              <a:t>fork()</a:t>
            </a:r>
            <a:r>
              <a:rPr lang="en-US" altLang="en-US" dirty="0"/>
              <a:t> and </a:t>
            </a:r>
            <a:r>
              <a:rPr lang="en-US" altLang="en-US" b="1" dirty="0"/>
              <a:t>exec()</a:t>
            </a:r>
            <a:r>
              <a:rPr lang="en-US" altLang="en-US" dirty="0"/>
              <a:t> system calls</a:t>
            </a:r>
            <a:endParaRPr lang="en-US" altLang="en-US" sz="800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Signal handling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Synchronous and asynchronous</a:t>
            </a:r>
            <a:endParaRPr lang="en-US" altLang="en-US" sz="800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Thread cancellation of target thread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Asynchronous or deferred</a:t>
            </a:r>
            <a:endParaRPr lang="en-US" altLang="en-US" sz="800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Thread-local storage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Scheduler Activations</a:t>
            </a:r>
          </a:p>
          <a:p>
            <a:pPr>
              <a:buFont typeface="Wingdings" pitchFamily="2" charset="2"/>
              <a:buChar char="q"/>
            </a:pPr>
            <a:endParaRPr lang="en-US" altLang="en-US" sz="800" dirty="0"/>
          </a:p>
          <a:p>
            <a:pPr lvl="1">
              <a:buFont typeface="Wingdings" pitchFamily="2" charset="2"/>
              <a:buChar char="q"/>
            </a:pPr>
            <a:endParaRPr lang="en-US" altLang="en-US" sz="800" dirty="0"/>
          </a:p>
        </p:txBody>
      </p:sp>
    </p:spTree>
    <p:extLst>
      <p:ext uri="{BB962C8B-B14F-4D97-AF65-F5344CB8AC3E}">
        <p14:creationId xmlns:p14="http://schemas.microsoft.com/office/powerpoint/2010/main" val="217259986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Semantics of fork() and exec()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70761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Does </a:t>
            </a:r>
            <a:r>
              <a:rPr lang="en-US" altLang="en-US" b="1" dirty="0">
                <a:latin typeface="Courier New" pitchFamily="49" charset="0"/>
              </a:rPr>
              <a:t>fork()</a:t>
            </a:r>
            <a:r>
              <a:rPr lang="en-US" altLang="en-US" dirty="0"/>
              <a:t>duplicate only the calling thread or all threads?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Some </a:t>
            </a:r>
            <a:r>
              <a:rPr lang="en-US" altLang="en-US" dirty="0" err="1"/>
              <a:t>UNIXes</a:t>
            </a:r>
            <a:r>
              <a:rPr lang="en-US" altLang="en-US" dirty="0"/>
              <a:t> have two versions of fork</a:t>
            </a:r>
          </a:p>
          <a:p>
            <a:pPr>
              <a:buFont typeface="Wingdings" pitchFamily="2" charset="2"/>
              <a:buChar char="q"/>
            </a:pPr>
            <a:r>
              <a:rPr lang="en-US" altLang="en-US" b="1" dirty="0">
                <a:latin typeface="Courier New" pitchFamily="49" charset="0"/>
              </a:rPr>
              <a:t>exec() </a:t>
            </a:r>
            <a:r>
              <a:rPr lang="en-US" altLang="en-US" dirty="0"/>
              <a:t>usually works as normal – replace the running process including all threads</a:t>
            </a:r>
          </a:p>
          <a:p>
            <a:pPr lvl="1"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0054952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Signal Handling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58236"/>
            <a:ext cx="8574087" cy="4592876"/>
          </a:xfrm>
        </p:spPr>
        <p:txBody>
          <a:bodyPr>
            <a:normAutofit fontScale="92500"/>
          </a:bodyPr>
          <a:lstStyle/>
          <a:p>
            <a:pPr>
              <a:buFont typeface="Wingdings" pitchFamily="2" charset="2"/>
              <a:buChar char="q"/>
              <a:defRPr/>
            </a:pPr>
            <a:r>
              <a:rPr lang="en-US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Signals </a:t>
            </a:r>
            <a:r>
              <a:rPr lang="en-US" dirty="0">
                <a:ea typeface="ＭＳ Ｐゴシック" charset="0"/>
                <a:cs typeface="ＭＳ Ｐゴシック" charset="0"/>
              </a:rPr>
              <a:t>are used in UNIX systems to notify a process that a particular event has occurred.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A </a:t>
            </a:r>
            <a:r>
              <a:rPr lang="en-US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signal handler</a:t>
            </a:r>
            <a:r>
              <a:rPr lang="en-US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 </a:t>
            </a:r>
            <a:r>
              <a:rPr lang="en-US" dirty="0">
                <a:ea typeface="ＭＳ Ｐゴシック" charset="0"/>
                <a:cs typeface="ＭＳ Ｐゴシック" charset="0"/>
              </a:rPr>
              <a:t>is used to process signals</a:t>
            </a:r>
          </a:p>
          <a:p>
            <a:pPr marL="799624" lvl="1" indent="-342900">
              <a:buFont typeface="Wingdings" pitchFamily="2" charset="2"/>
              <a:buChar char="q"/>
              <a:defRPr/>
            </a:pPr>
            <a:r>
              <a:rPr lang="en-US" dirty="0">
                <a:ea typeface="ＭＳ Ｐゴシック" charset="0"/>
              </a:rPr>
              <a:t>Signal is generated by particular event</a:t>
            </a:r>
          </a:p>
          <a:p>
            <a:pPr marL="799624" lvl="1" indent="-342900">
              <a:buFont typeface="Wingdings" pitchFamily="2" charset="2"/>
              <a:buChar char="q"/>
              <a:defRPr/>
            </a:pPr>
            <a:r>
              <a:rPr lang="en-US" dirty="0">
                <a:ea typeface="ＭＳ Ｐゴシック" charset="0"/>
              </a:rPr>
              <a:t>Signal is delivered to a process</a:t>
            </a:r>
          </a:p>
          <a:p>
            <a:pPr marL="799624" lvl="1" indent="-342900">
              <a:buFont typeface="Wingdings" pitchFamily="2" charset="2"/>
              <a:buChar char="q"/>
              <a:defRPr/>
            </a:pPr>
            <a:r>
              <a:rPr lang="en-US" dirty="0">
                <a:ea typeface="ＭＳ Ｐゴシック" charset="0"/>
              </a:rPr>
              <a:t>Signal is handled by one of two signal handlers:</a:t>
            </a:r>
          </a:p>
          <a:p>
            <a:pPr marL="1143001" lvl="2" indent="-342900">
              <a:buFont typeface="Wingdings" pitchFamily="2" charset="2"/>
              <a:buChar char="q"/>
              <a:defRPr/>
            </a:pPr>
            <a:r>
              <a:rPr lang="en-US" dirty="0">
                <a:ea typeface="ＭＳ Ｐゴシック" charset="0"/>
              </a:rPr>
              <a:t>default</a:t>
            </a:r>
          </a:p>
          <a:p>
            <a:pPr marL="1143001" lvl="2" indent="-342900">
              <a:buFont typeface="Wingdings" pitchFamily="2" charset="2"/>
              <a:buChar char="q"/>
              <a:defRPr/>
            </a:pPr>
            <a:r>
              <a:rPr lang="en-US" dirty="0">
                <a:ea typeface="ＭＳ Ｐゴシック" charset="0"/>
              </a:rPr>
              <a:t>user-defined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Every signal has </a:t>
            </a:r>
            <a:r>
              <a:rPr lang="en-US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default handler </a:t>
            </a:r>
            <a:r>
              <a:rPr lang="en-US" dirty="0">
                <a:ea typeface="ＭＳ Ｐゴシック" charset="0"/>
                <a:cs typeface="ＭＳ Ｐゴシック" charset="0"/>
              </a:rPr>
              <a:t>that kernel runs when handling signal</a:t>
            </a:r>
          </a:p>
          <a:p>
            <a:pPr marL="780098" lvl="1" indent="-380048">
              <a:buFont typeface="Wingdings" pitchFamily="2" charset="2"/>
              <a:buChar char="q"/>
              <a:defRPr/>
            </a:pPr>
            <a:r>
              <a:rPr lang="en-US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User-defined signal handler </a:t>
            </a:r>
            <a:r>
              <a:rPr lang="en-US" dirty="0">
                <a:ea typeface="ＭＳ Ｐゴシック" charset="0"/>
                <a:cs typeface="ＭＳ Ｐゴシック" charset="0"/>
              </a:rPr>
              <a:t>can override default</a:t>
            </a:r>
          </a:p>
          <a:p>
            <a:pPr marL="780098" lvl="1" indent="-380048">
              <a:buFont typeface="Wingdings" pitchFamily="2" charset="2"/>
              <a:buChar char="q"/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For single-threaded, signal delivered to process</a:t>
            </a:r>
          </a:p>
        </p:txBody>
      </p:sp>
    </p:spTree>
    <p:extLst>
      <p:ext uri="{BB962C8B-B14F-4D97-AF65-F5344CB8AC3E}">
        <p14:creationId xmlns:p14="http://schemas.microsoft.com/office/powerpoint/2010/main" val="334057426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/>
              <a:t>Signal Handling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895606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Where should a signal be delivered for multi-threaded? </a:t>
            </a:r>
          </a:p>
          <a:p>
            <a:pPr marL="780098" lvl="1" indent="-380048">
              <a:buFont typeface="Wingdings" pitchFamily="2" charset="2"/>
              <a:buChar char="q"/>
              <a:defRPr/>
            </a:pPr>
            <a:r>
              <a:rPr lang="en-US" dirty="0">
                <a:ea typeface="ＭＳ Ｐゴシック" charset="0"/>
              </a:rPr>
              <a:t>Deliver the signal to the thread to which the signal applies</a:t>
            </a:r>
          </a:p>
          <a:p>
            <a:pPr marL="799624" lvl="1" indent="-342900">
              <a:buFont typeface="Wingdings" pitchFamily="2" charset="2"/>
              <a:buChar char="q"/>
              <a:defRPr/>
            </a:pPr>
            <a:r>
              <a:rPr lang="en-US" dirty="0">
                <a:ea typeface="ＭＳ Ｐゴシック" charset="0"/>
              </a:rPr>
              <a:t>Deliver the signal to every thread in the process</a:t>
            </a:r>
          </a:p>
          <a:p>
            <a:pPr marL="799624" lvl="1" indent="-342900">
              <a:buFont typeface="Wingdings" pitchFamily="2" charset="2"/>
              <a:buChar char="q"/>
              <a:defRPr/>
            </a:pPr>
            <a:r>
              <a:rPr lang="en-US" dirty="0">
                <a:ea typeface="ＭＳ Ｐゴシック" charset="0"/>
              </a:rPr>
              <a:t>Deliver the signal to certain threads in the process</a:t>
            </a:r>
          </a:p>
          <a:p>
            <a:pPr marL="799624" lvl="1" indent="-342900">
              <a:buFont typeface="Wingdings" pitchFamily="2" charset="2"/>
              <a:buChar char="q"/>
              <a:defRPr/>
            </a:pPr>
            <a:r>
              <a:rPr lang="en-US" dirty="0">
                <a:ea typeface="ＭＳ Ｐゴシック" charset="0"/>
              </a:rPr>
              <a:t>Assign a specific thread to receive all signals for the process</a:t>
            </a:r>
          </a:p>
        </p:txBody>
      </p:sp>
    </p:spTree>
    <p:extLst>
      <p:ext uri="{BB962C8B-B14F-4D97-AF65-F5344CB8AC3E}">
        <p14:creationId xmlns:p14="http://schemas.microsoft.com/office/powerpoint/2010/main" val="76063957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Thread Cancellation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838553"/>
            <a:ext cx="8574087" cy="3992563"/>
          </a:xfrm>
        </p:spPr>
        <p:txBody>
          <a:bodyPr/>
          <a:lstStyle/>
          <a:p>
            <a:pPr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dirty="0"/>
              <a:t>Terminating a thread before it has finished</a:t>
            </a:r>
          </a:p>
          <a:p>
            <a:pPr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dirty="0"/>
              <a:t>Thread to be canceled is </a:t>
            </a:r>
            <a:r>
              <a:rPr lang="en-US" altLang="en-US" b="1" dirty="0">
                <a:solidFill>
                  <a:srgbClr val="3366FF"/>
                </a:solidFill>
              </a:rPr>
              <a:t>target thread</a:t>
            </a:r>
            <a:endParaRPr lang="en-US" altLang="en-US" dirty="0"/>
          </a:p>
          <a:p>
            <a:pPr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dirty="0"/>
              <a:t>Two general approaches:</a:t>
            </a:r>
          </a:p>
          <a:p>
            <a:pPr lvl="1"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b="1" dirty="0"/>
              <a:t>Asynchronous cancellation</a:t>
            </a:r>
            <a:r>
              <a:rPr lang="en-US" altLang="en-US" dirty="0"/>
              <a:t> terminates the target thread immediately</a:t>
            </a:r>
          </a:p>
          <a:p>
            <a:pPr lvl="1"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b="1" dirty="0"/>
              <a:t>Deferred cancellation</a:t>
            </a:r>
            <a:r>
              <a:rPr lang="en-US" altLang="en-US" dirty="0"/>
              <a:t> allows the target thread to periodically check if it should be cancelled</a:t>
            </a:r>
          </a:p>
          <a:p>
            <a:pPr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dirty="0" err="1"/>
              <a:t>Pthread</a:t>
            </a:r>
            <a:r>
              <a:rPr lang="en-US" altLang="en-US" dirty="0"/>
              <a:t> code to create and cancel a thread:</a:t>
            </a:r>
          </a:p>
          <a:p>
            <a:pPr>
              <a:spcBef>
                <a:spcPts val="500"/>
              </a:spcBef>
              <a:buFont typeface="Wingdings" pitchFamily="2" charset="2"/>
              <a:buChar char="q"/>
            </a:pPr>
            <a:endParaRPr lang="en-US" altLang="en-US" dirty="0"/>
          </a:p>
          <a:p>
            <a:pPr lvl="1">
              <a:spcBef>
                <a:spcPts val="500"/>
              </a:spcBef>
              <a:buFont typeface="Wingdings" pitchFamily="2" charset="2"/>
              <a:buChar char="q"/>
            </a:pPr>
            <a:endParaRPr lang="en-US" altLang="en-US" dirty="0"/>
          </a:p>
        </p:txBody>
      </p:sp>
      <p:pic>
        <p:nvPicPr>
          <p:cNvPr id="88068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2395" y="5045108"/>
            <a:ext cx="2931896" cy="15720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3064382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/>
              <a:t>Thread Cancellation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63738"/>
            <a:ext cx="8574087" cy="4499692"/>
          </a:xfrm>
        </p:spPr>
        <p:txBody>
          <a:bodyPr>
            <a:normAutofit fontScale="70000" lnSpcReduction="20000"/>
          </a:bodyPr>
          <a:lstStyle/>
          <a:p>
            <a:pPr>
              <a:buFont typeface="Wingdings" pitchFamily="2" charset="2"/>
              <a:buChar char="q"/>
              <a:defRPr/>
            </a:pPr>
            <a:r>
              <a:rPr lang="en-US" altLang="en-US" dirty="0">
                <a:cs typeface="ＭＳ Ｐゴシック" charset="-128"/>
              </a:rPr>
              <a:t>Invoking thread cancellation requests cancellation, but actual cancellation depends on thread state</a:t>
            </a:r>
          </a:p>
          <a:p>
            <a:pPr>
              <a:buFont typeface="Wingdings" pitchFamily="2" charset="2"/>
              <a:buChar char="q"/>
              <a:defRPr/>
            </a:pPr>
            <a:endParaRPr lang="en-US" altLang="en-US" dirty="0">
              <a:cs typeface="ＭＳ Ｐゴシック" charset="-128"/>
            </a:endParaRPr>
          </a:p>
          <a:p>
            <a:pPr>
              <a:buFont typeface="Wingdings" pitchFamily="2" charset="2"/>
              <a:buChar char="q"/>
              <a:defRPr/>
            </a:pPr>
            <a:endParaRPr lang="en-US" altLang="en-US" dirty="0">
              <a:cs typeface="ＭＳ Ｐゴシック" charset="-128"/>
            </a:endParaRPr>
          </a:p>
          <a:p>
            <a:pPr marL="0" indent="0">
              <a:buNone/>
              <a:defRPr/>
            </a:pPr>
            <a:endParaRPr lang="en-US" altLang="en-US" dirty="0">
              <a:cs typeface="ＭＳ Ｐゴシック" charset="-128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US" altLang="en-US" dirty="0">
                <a:cs typeface="ＭＳ Ｐゴシック" charset="-128"/>
              </a:rPr>
              <a:t>If thread has cancellation disabled, cancellation remains pending until thread enables it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altLang="en-US" dirty="0">
                <a:cs typeface="ＭＳ Ｐゴシック" charset="-128"/>
              </a:rPr>
              <a:t>Default type is deferred</a:t>
            </a:r>
          </a:p>
          <a:p>
            <a:pPr lvl="1">
              <a:buFont typeface="Wingdings" pitchFamily="2" charset="2"/>
              <a:buChar char="q"/>
              <a:defRPr/>
            </a:pPr>
            <a:r>
              <a:rPr lang="en-US" altLang="en-US" dirty="0"/>
              <a:t>Cancellation only occurs when thread reaches </a:t>
            </a:r>
            <a:r>
              <a:rPr lang="en-US" altLang="en-US" b="1" dirty="0">
                <a:solidFill>
                  <a:srgbClr val="3366FF"/>
                </a:solidFill>
              </a:rPr>
              <a:t>cancellation point</a:t>
            </a:r>
          </a:p>
          <a:p>
            <a:pPr lvl="2">
              <a:buFont typeface="Wingdings" pitchFamily="2" charset="2"/>
              <a:buChar char="q"/>
              <a:defRPr/>
            </a:pPr>
            <a:r>
              <a:rPr lang="en-US" altLang="en-US" dirty="0"/>
              <a:t>I.e. 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pthread_testcancel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()</a:t>
            </a:r>
          </a:p>
          <a:p>
            <a:pPr lvl="2">
              <a:buFont typeface="Wingdings" pitchFamily="2" charset="2"/>
              <a:buChar char="q"/>
              <a:defRPr/>
            </a:pPr>
            <a:r>
              <a:rPr lang="en-US" altLang="en-US" dirty="0"/>
              <a:t>Then </a:t>
            </a:r>
            <a:r>
              <a:rPr lang="en-US" altLang="en-US" b="1" dirty="0">
                <a:solidFill>
                  <a:srgbClr val="3366FF"/>
                </a:solidFill>
              </a:rPr>
              <a:t>cleanup handler </a:t>
            </a:r>
            <a:r>
              <a:rPr lang="en-US" altLang="en-US" dirty="0"/>
              <a:t>is invoked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altLang="en-US" dirty="0">
                <a:cs typeface="ＭＳ Ｐゴシック" charset="-128"/>
              </a:rPr>
              <a:t>On Linux systems, thread cancellation is handled through signals</a:t>
            </a:r>
          </a:p>
        </p:txBody>
      </p:sp>
      <p:pic>
        <p:nvPicPr>
          <p:cNvPr id="90116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3555" y="2777930"/>
            <a:ext cx="5100637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8283778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Thread-Local Storage</a:t>
            </a:r>
          </a:p>
        </p:txBody>
      </p:sp>
      <p:sp>
        <p:nvSpPr>
          <p:cNvPr id="93187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045917"/>
            <a:ext cx="8574087" cy="3992563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Thread-local storage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3366FF"/>
                </a:solidFill>
              </a:rPr>
              <a:t>TLS</a:t>
            </a:r>
            <a:r>
              <a:rPr lang="en-US" altLang="en-US" dirty="0"/>
              <a:t>) allows each thread to have its own copy of data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Useful when you do not have control over the thread creation process (i.e., when using a thread pool)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Different from local variables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Local variables visible only during single function invocation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TLS visible across function invocations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Similar to </a:t>
            </a:r>
            <a:r>
              <a:rPr lang="en-US" altLang="en-US" b="1" dirty="0">
                <a:latin typeface="Courier New" pitchFamily="49" charset="0"/>
              </a:rPr>
              <a:t>static</a:t>
            </a:r>
            <a:r>
              <a:rPr lang="en-US" altLang="en-US" dirty="0"/>
              <a:t> data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TLS is unique to each thread</a:t>
            </a:r>
          </a:p>
        </p:txBody>
      </p:sp>
    </p:spTree>
    <p:extLst>
      <p:ext uri="{BB962C8B-B14F-4D97-AF65-F5344CB8AC3E}">
        <p14:creationId xmlns:p14="http://schemas.microsoft.com/office/powerpoint/2010/main" val="225062652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Scheduler Activations</a:t>
            </a:r>
          </a:p>
        </p:txBody>
      </p:sp>
      <p:sp>
        <p:nvSpPr>
          <p:cNvPr id="95235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20657"/>
            <a:ext cx="6830621" cy="4467617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Both M:M and Two-level models require communication to maintain the appropriate number of kernel threads allocated to the application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Typically use an intermediate data structure between user and kernel threads – </a:t>
            </a:r>
            <a:r>
              <a:rPr lang="en-US" altLang="en-US" b="1" dirty="0">
                <a:solidFill>
                  <a:srgbClr val="3366FF"/>
                </a:solidFill>
              </a:rPr>
              <a:t>lightweight process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3366FF"/>
                </a:solidFill>
              </a:rPr>
              <a:t>LWP</a:t>
            </a:r>
            <a:r>
              <a:rPr lang="en-US" altLang="en-US" dirty="0"/>
              <a:t>)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Appears to be a virtual processor on which process can schedule user thread to run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Each LWP attached to kernel thread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How many LWPs to create?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Scheduler activations provide </a:t>
            </a:r>
            <a:r>
              <a:rPr lang="en-US" altLang="en-US" b="1" dirty="0" err="1">
                <a:solidFill>
                  <a:srgbClr val="3366FF"/>
                </a:solidFill>
              </a:rPr>
              <a:t>upcalls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- a communication mechanism from the kernel to the </a:t>
            </a:r>
            <a:r>
              <a:rPr lang="en-US" altLang="en-US" b="1" dirty="0" err="1">
                <a:solidFill>
                  <a:srgbClr val="3366FF"/>
                </a:solidFill>
              </a:rPr>
              <a:t>upcall</a:t>
            </a:r>
            <a:r>
              <a:rPr lang="en-US" altLang="en-US" b="1" dirty="0">
                <a:solidFill>
                  <a:srgbClr val="3366FF"/>
                </a:solidFill>
              </a:rPr>
              <a:t> handler </a:t>
            </a:r>
            <a:r>
              <a:rPr lang="en-US" altLang="en-US" dirty="0"/>
              <a:t>in the thread library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This communication allows an application to maintain the correct number kernel threads</a:t>
            </a:r>
          </a:p>
        </p:txBody>
      </p:sp>
      <p:pic>
        <p:nvPicPr>
          <p:cNvPr id="95236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1325" y="3180263"/>
            <a:ext cx="2352675" cy="2166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6609579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Operating System Examples</a:t>
            </a:r>
          </a:p>
        </p:txBody>
      </p:sp>
      <p:sp>
        <p:nvSpPr>
          <p:cNvPr id="97283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020865"/>
            <a:ext cx="707674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Windows Threads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Linux Threads</a:t>
            </a:r>
          </a:p>
        </p:txBody>
      </p:sp>
    </p:spTree>
    <p:extLst>
      <p:ext uri="{BB962C8B-B14F-4D97-AF65-F5344CB8AC3E}">
        <p14:creationId xmlns:p14="http://schemas.microsoft.com/office/powerpoint/2010/main" val="246521960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Windows Threads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45709"/>
            <a:ext cx="8574087" cy="3992563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Windows API – primary API for Windows applications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Implements the one-to-one mapping, kernel-level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Each thread contains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A thread id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Register set representing state of processor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Separate user and kernel stacks for when thread runs in user mode or kernel mode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Private data storage area used by run-time libraries and dynamic link libraries (DLLs)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The register set, stacks, and private storage area are known as the </a:t>
            </a:r>
            <a:r>
              <a:rPr lang="en-US" altLang="en-US" b="1" dirty="0">
                <a:solidFill>
                  <a:srgbClr val="3366FF"/>
                </a:solidFill>
              </a:rPr>
              <a:t>context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of the thread</a:t>
            </a:r>
          </a:p>
          <a:p>
            <a:pPr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4001905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/>
              <a:t>Windows Threads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101379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08131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The primary data structures of a thread include: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ETHREAD (executive thread block) – includes pointer to process to which thread belongs and to KTHREAD, in kernel space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KTHREAD (kernel thread block) – scheduling and synchronization info, kernel-mode stack, pointer to TEB, in kernel space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TEB (thread environment block) – thread id, user-mode stack, thread-local storage, in user space</a:t>
            </a:r>
          </a:p>
          <a:p>
            <a:pPr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4729910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Windows Threads Data Structures</a:t>
            </a:r>
          </a:p>
        </p:txBody>
      </p:sp>
      <p:pic>
        <p:nvPicPr>
          <p:cNvPr id="103427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7683" y="2087323"/>
            <a:ext cx="4306888" cy="415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1615430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Linux Threads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58236"/>
            <a:ext cx="8574087" cy="3992563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itchFamily="2" charset="2"/>
              <a:buChar char="q"/>
              <a:defRPr/>
            </a:pPr>
            <a:r>
              <a:rPr lang="en-US" altLang="en-US" dirty="0">
                <a:cs typeface="ＭＳ Ｐゴシック" charset="-128"/>
              </a:rPr>
              <a:t>Linux refers to them as </a:t>
            </a:r>
            <a:r>
              <a:rPr lang="en-US" altLang="en-US" b="1" i="1" dirty="0">
                <a:cs typeface="ＭＳ Ｐゴシック" charset="-128"/>
              </a:rPr>
              <a:t>tasks</a:t>
            </a:r>
            <a:r>
              <a:rPr lang="en-US" altLang="en-US" dirty="0">
                <a:cs typeface="ＭＳ Ｐゴシック" charset="-128"/>
              </a:rPr>
              <a:t> rather than </a:t>
            </a:r>
            <a:r>
              <a:rPr lang="en-US" altLang="en-US" b="1" i="1" dirty="0">
                <a:cs typeface="ＭＳ Ｐゴシック" charset="-128"/>
              </a:rPr>
              <a:t>threads</a:t>
            </a:r>
            <a:endParaRPr lang="en-US" altLang="en-US" dirty="0">
              <a:cs typeface="ＭＳ Ｐゴシック" charset="-128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US" altLang="en-US" dirty="0">
                <a:cs typeface="ＭＳ Ｐゴシック" charset="-128"/>
              </a:rPr>
              <a:t>Thread creation is done through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clone()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dirty="0">
                <a:cs typeface="ＭＳ Ｐゴシック" charset="-128"/>
              </a:rPr>
              <a:t>system call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clone() </a:t>
            </a:r>
            <a:r>
              <a:rPr lang="en-US" altLang="en-US" dirty="0">
                <a:cs typeface="ＭＳ Ｐゴシック" charset="-128"/>
              </a:rPr>
              <a:t>allows a child task to share the address space of the parent task (process)</a:t>
            </a:r>
          </a:p>
          <a:p>
            <a:pPr lvl="1">
              <a:buFont typeface="Wingdings" pitchFamily="2" charset="2"/>
              <a:buChar char="q"/>
              <a:defRPr/>
            </a:pPr>
            <a:r>
              <a:rPr lang="en-US" altLang="en-US" dirty="0"/>
              <a:t>Flags control behavior</a:t>
            </a:r>
          </a:p>
          <a:p>
            <a:pPr lvl="1">
              <a:buFont typeface="Wingdings" pitchFamily="2" charset="2"/>
              <a:buChar char="q"/>
              <a:defRPr/>
            </a:pPr>
            <a:endParaRPr lang="en-US" altLang="en-US" dirty="0"/>
          </a:p>
          <a:p>
            <a:pPr lvl="1">
              <a:buFont typeface="Wingdings" pitchFamily="2" charset="2"/>
              <a:buChar char="q"/>
              <a:defRPr/>
            </a:pPr>
            <a:endParaRPr lang="en-US" altLang="en-US" dirty="0"/>
          </a:p>
          <a:p>
            <a:pPr lvl="1">
              <a:buFont typeface="Wingdings" pitchFamily="2" charset="2"/>
              <a:buChar char="q"/>
              <a:defRPr/>
            </a:pPr>
            <a:endParaRPr lang="en-US" altLang="en-US" dirty="0"/>
          </a:p>
          <a:p>
            <a:pPr lvl="1">
              <a:buFont typeface="Wingdings" pitchFamily="2" charset="2"/>
              <a:buChar char="q"/>
              <a:defRPr/>
            </a:pPr>
            <a:endParaRPr lang="en-US" altLang="en-US" dirty="0"/>
          </a:p>
          <a:p>
            <a:pPr>
              <a:buFont typeface="Wingdings" pitchFamily="2" charset="2"/>
              <a:buChar char="q"/>
              <a:defRPr/>
            </a:pPr>
            <a:endParaRPr lang="en-US" altLang="en-US" dirty="0">
              <a:latin typeface="Courier New" pitchFamily="49" charset="0"/>
              <a:cs typeface="Courier New" pitchFamily="49" charset="0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task_struct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dirty="0">
                <a:cs typeface="Courier New" pitchFamily="49" charset="0"/>
              </a:rPr>
              <a:t>points to process data structures (shared or unique)</a:t>
            </a:r>
            <a:endParaRPr lang="en-US" altLang="en-US" dirty="0">
              <a:latin typeface="Courier New" pitchFamily="49" charset="0"/>
              <a:cs typeface="Courier New" pitchFamily="49" charset="0"/>
            </a:endParaRPr>
          </a:p>
          <a:p>
            <a:pPr>
              <a:buFont typeface="Wingdings" pitchFamily="2" charset="2"/>
              <a:buChar char="q"/>
              <a:defRPr/>
            </a:pPr>
            <a:endParaRPr lang="en-US" altLang="en-US" dirty="0">
              <a:cs typeface="ＭＳ Ｐゴシック" charset="-128"/>
            </a:endParaRPr>
          </a:p>
        </p:txBody>
      </p:sp>
      <p:pic>
        <p:nvPicPr>
          <p:cNvPr id="105476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3258" y="3785470"/>
            <a:ext cx="3954463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9911885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7F4BAFD-2E76-4ABD-8010-F76016C90307}"/>
              </a:ext>
            </a:extLst>
          </p:cNvPr>
          <p:cNvSpPr txBox="1">
            <a:spLocks/>
          </p:cNvSpPr>
          <p:nvPr/>
        </p:nvSpPr>
        <p:spPr>
          <a:xfrm>
            <a:off x="335494" y="1203272"/>
            <a:ext cx="8229600" cy="3775604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q"/>
            </a:pPr>
            <a:r>
              <a:rPr lang="en-US" dirty="0"/>
              <a:t>Operating Systems Concept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Written by Galvin and </a:t>
            </a:r>
            <a:r>
              <a:rPr lang="en-US" dirty="0" err="1"/>
              <a:t>Silberschatz</a:t>
            </a:r>
            <a:endParaRPr lang="en-US" dirty="0"/>
          </a:p>
          <a:p>
            <a:pPr lvl="1">
              <a:buFont typeface="Wingdings" pitchFamily="2" charset="2"/>
              <a:buChar char="q"/>
            </a:pPr>
            <a:r>
              <a:rPr lang="en-US" dirty="0"/>
              <a:t>Edition: 9</a:t>
            </a:r>
            <a:r>
              <a:rPr lang="en-US" baseline="30000" dirty="0"/>
              <a:t>th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F4BAFD-2E76-4ABD-8010-F76016C90307}"/>
              </a:ext>
            </a:extLst>
          </p:cNvPr>
          <p:cNvSpPr txBox="1">
            <a:spLocks/>
          </p:cNvSpPr>
          <p:nvPr/>
        </p:nvSpPr>
        <p:spPr>
          <a:xfrm>
            <a:off x="430669" y="1114339"/>
            <a:ext cx="8229600" cy="3775604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q"/>
            </a:pPr>
            <a:r>
              <a:rPr lang="en-US" dirty="0"/>
              <a:t>Operating Systems Concept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Written by Galvin and </a:t>
            </a:r>
            <a:r>
              <a:rPr lang="en-US" dirty="0" err="1"/>
              <a:t>Silberschatz</a:t>
            </a:r>
            <a:endParaRPr lang="en-US" dirty="0"/>
          </a:p>
          <a:p>
            <a:pPr lvl="1">
              <a:buFont typeface="Wingdings" pitchFamily="2" charset="2"/>
              <a:buChar char="q"/>
            </a:pPr>
            <a:r>
              <a:rPr lang="en-US" dirty="0"/>
              <a:t>Edition: 9</a:t>
            </a:r>
            <a:r>
              <a:rPr lang="en-US" baseline="30000" dirty="0"/>
              <a:t>th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171</TotalTime>
  <Words>1995</Words>
  <Application>Microsoft Office PowerPoint</Application>
  <PresentationFormat>On-screen Show (4:3)</PresentationFormat>
  <Paragraphs>322</Paragraphs>
  <Slides>58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9" baseType="lpstr">
      <vt:lpstr>ＭＳ Ｐゴシック</vt:lpstr>
      <vt:lpstr>Arial</vt:lpstr>
      <vt:lpstr>Calibri</vt:lpstr>
      <vt:lpstr>Corbel</vt:lpstr>
      <vt:lpstr>Courier New</vt:lpstr>
      <vt:lpstr>Georgia</vt:lpstr>
      <vt:lpstr>Helvetica</vt:lpstr>
      <vt:lpstr>Times New Roman</vt:lpstr>
      <vt:lpstr>Verdana</vt:lpstr>
      <vt:lpstr>Wingdings</vt:lpstr>
      <vt:lpstr>Spectrum</vt:lpstr>
      <vt:lpstr>Threads &amp; Concurrency</vt:lpstr>
      <vt:lpstr>Lecture Outline</vt:lpstr>
      <vt:lpstr>Single and Multithreaded Processes</vt:lpstr>
      <vt:lpstr>Multithreaded Server Architecture</vt:lpstr>
      <vt:lpstr>Benefits</vt:lpstr>
      <vt:lpstr>Multicore Programming</vt:lpstr>
      <vt:lpstr>Concurrency vs. Parallelism</vt:lpstr>
      <vt:lpstr>Multicore Programming</vt:lpstr>
      <vt:lpstr>Data and Task Parallelism</vt:lpstr>
      <vt:lpstr>Amdahl’s Law</vt:lpstr>
      <vt:lpstr>Amdahl’s Law</vt:lpstr>
      <vt:lpstr>User Threads and Kernel Threads</vt:lpstr>
      <vt:lpstr>User and Kernel Threads</vt:lpstr>
      <vt:lpstr>Multithreading Models</vt:lpstr>
      <vt:lpstr>Many-to-One</vt:lpstr>
      <vt:lpstr>One-to-One</vt:lpstr>
      <vt:lpstr>Many-to-Many Model</vt:lpstr>
      <vt:lpstr>Two-level Model</vt:lpstr>
      <vt:lpstr>Thread Libraries</vt:lpstr>
      <vt:lpstr>Pthreads</vt:lpstr>
      <vt:lpstr>Pthreads Example</vt:lpstr>
      <vt:lpstr>Pthreads Example (cont’d)</vt:lpstr>
      <vt:lpstr>Pthreads Code for Joining 10 Threads</vt:lpstr>
      <vt:lpstr>Windows  Multithreaded C Program</vt:lpstr>
      <vt:lpstr>Windows  Multithreaded C Program (cont’d)</vt:lpstr>
      <vt:lpstr>Java Threads</vt:lpstr>
      <vt:lpstr>Java Threads</vt:lpstr>
      <vt:lpstr>Java Executor Framework</vt:lpstr>
      <vt:lpstr>Java Executor Framework</vt:lpstr>
      <vt:lpstr>Java Executor Framework (cont’d)</vt:lpstr>
      <vt:lpstr>Implicit Threading</vt:lpstr>
      <vt:lpstr>Thread Pools</vt:lpstr>
      <vt:lpstr>Java Thread Pools</vt:lpstr>
      <vt:lpstr>Java Thread Pools (cont’d)</vt:lpstr>
      <vt:lpstr>Fork-Join Parallelism</vt:lpstr>
      <vt:lpstr>Fork-Join Parallelism</vt:lpstr>
      <vt:lpstr>Fork-Join Parallelism</vt:lpstr>
      <vt:lpstr>Fork-Join Parallelism in Java</vt:lpstr>
      <vt:lpstr>Fork-Join Parallelism in Java</vt:lpstr>
      <vt:lpstr>Fork-Join Parallelism in Java</vt:lpstr>
      <vt:lpstr>Grand Central Dispatch</vt:lpstr>
      <vt:lpstr>Grand Central Dispatch</vt:lpstr>
      <vt:lpstr>Grand Central Dispatch</vt:lpstr>
      <vt:lpstr>Threading Issues</vt:lpstr>
      <vt:lpstr>Semantics of fork() and exec()</vt:lpstr>
      <vt:lpstr>Signal Handling</vt:lpstr>
      <vt:lpstr>Signal Handling (cont’d)</vt:lpstr>
      <vt:lpstr>Thread Cancellation</vt:lpstr>
      <vt:lpstr>Thread Cancellation (cont’d)</vt:lpstr>
      <vt:lpstr>Thread-Local Storage</vt:lpstr>
      <vt:lpstr>Scheduler Activations</vt:lpstr>
      <vt:lpstr>Operating System Examples</vt:lpstr>
      <vt:lpstr>Windows Threads</vt:lpstr>
      <vt:lpstr>Windows Threads (cont’d)</vt:lpstr>
      <vt:lpstr>Windows Threads Data Structures</vt:lpstr>
      <vt:lpstr>Linux Threads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MEJBAH AHAMMAD</cp:lastModifiedBy>
  <cp:revision>23</cp:revision>
  <dcterms:created xsi:type="dcterms:W3CDTF">2018-12-10T17:20:29Z</dcterms:created>
  <dcterms:modified xsi:type="dcterms:W3CDTF">2026-02-08T12:09:10Z</dcterms:modified>
</cp:coreProperties>
</file>