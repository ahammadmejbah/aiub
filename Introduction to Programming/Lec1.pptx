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6" r:id="rId9"/>
    <p:sldId id="263" r:id="rId10"/>
    <p:sldId id="264" r:id="rId11"/>
    <p:sldId id="265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E02BD96-2F21-5BE2-9D4E-BE870E6ACF96}" v="62" dt="2022-09-27T04:29:24.083"/>
    <p1510:client id="{BA16094E-C43B-D3FB-50A0-4F1AFBFCDEE6}" v="9" dt="2022-05-31T05:56:46.047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/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2DFFDA-30F3-4ED9-8B03-0E5E127F39DE}" type="datetimeFigureOut">
              <a:rPr lang="en-US" smtClean="0"/>
              <a:t>9/26/2022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8C2DDA-BBD6-4418-8BA4-089A7A508B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418539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2DFFDA-30F3-4ED9-8B03-0E5E127F39DE}" type="datetimeFigureOut">
              <a:rPr lang="en-US" smtClean="0"/>
              <a:t>9/26/2022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8C2DDA-BBD6-4418-8BA4-089A7A508B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514721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2DFFDA-30F3-4ED9-8B03-0E5E127F39DE}" type="datetimeFigureOut">
              <a:rPr lang="en-US" smtClean="0"/>
              <a:t>9/26/2022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8C2DDA-BBD6-4418-8BA4-089A7A508B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494950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2DFFDA-30F3-4ED9-8B03-0E5E127F39DE}" type="datetimeFigureOut">
              <a:rPr lang="en-US" smtClean="0"/>
              <a:t>9/26/2022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8C2DDA-BBD6-4418-8BA4-089A7A508B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51434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2DFFDA-30F3-4ED9-8B03-0E5E127F39DE}" type="datetimeFigureOut">
              <a:rPr lang="en-US" smtClean="0"/>
              <a:t>9/26/2022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8C2DDA-BBD6-4418-8BA4-089A7A508B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555616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2DFFDA-30F3-4ED9-8B03-0E5E127F39DE}" type="datetimeFigureOut">
              <a:rPr lang="en-US" smtClean="0"/>
              <a:t>9/26/2022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8C2DDA-BBD6-4418-8BA4-089A7A508B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953802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2DFFDA-30F3-4ED9-8B03-0E5E127F39DE}" type="datetimeFigureOut">
              <a:rPr lang="en-US" smtClean="0"/>
              <a:t>9/26/2022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8C2DDA-BBD6-4418-8BA4-089A7A508B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491935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2DFFDA-30F3-4ED9-8B03-0E5E127F39DE}" type="datetimeFigureOut">
              <a:rPr lang="en-US" smtClean="0"/>
              <a:t>9/26/2022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8C2DDA-BBD6-4418-8BA4-089A7A508B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89648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2DFFDA-30F3-4ED9-8B03-0E5E127F39DE}" type="datetimeFigureOut">
              <a:rPr lang="en-US" smtClean="0"/>
              <a:t>9/26/2022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8C2DDA-BBD6-4418-8BA4-089A7A508B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453281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2DFFDA-30F3-4ED9-8B03-0E5E127F39DE}" type="datetimeFigureOut">
              <a:rPr lang="en-US" smtClean="0"/>
              <a:t>9/26/2022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8C2DDA-BBD6-4418-8BA4-089A7A508B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109373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2DFFDA-30F3-4ED9-8B03-0E5E127F39DE}" type="datetimeFigureOut">
              <a:rPr lang="en-US" smtClean="0"/>
              <a:t>9/26/2022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8C2DDA-BBD6-4418-8BA4-089A7A508B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157532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82DFFDA-30F3-4ED9-8B03-0E5E127F39DE}" type="datetimeFigureOut">
              <a:rPr lang="en-US" smtClean="0"/>
              <a:t>9/26/2022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8C2DDA-BBD6-4418-8BA4-089A7A508B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91251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b="1"/>
              <a:t>Introduction to Programming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844412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/>
              <a:t>Contents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420676"/>
            <a:ext cx="10515600" cy="4351338"/>
          </a:xfrm>
        </p:spPr>
        <p:txBody>
          <a:bodyPr>
            <a:normAutofit fontScale="85000" lnSpcReduction="20000"/>
          </a:bodyPr>
          <a:lstStyle/>
          <a:p>
            <a:r>
              <a:rPr lang="en-US"/>
              <a:t>C++</a:t>
            </a:r>
          </a:p>
          <a:p>
            <a:r>
              <a:rPr lang="en-US"/>
              <a:t>Escape Sequence &amp; Comments</a:t>
            </a:r>
          </a:p>
          <a:p>
            <a:r>
              <a:rPr lang="en-US"/>
              <a:t>Variables</a:t>
            </a:r>
          </a:p>
          <a:p>
            <a:r>
              <a:rPr lang="en-US"/>
              <a:t>Constants</a:t>
            </a:r>
          </a:p>
          <a:p>
            <a:r>
              <a:rPr lang="en-US"/>
              <a:t>User Input</a:t>
            </a:r>
          </a:p>
          <a:p>
            <a:r>
              <a:rPr lang="en-US"/>
              <a:t>Data Types</a:t>
            </a:r>
          </a:p>
          <a:p>
            <a:r>
              <a:rPr lang="en-US"/>
              <a:t>Operators</a:t>
            </a:r>
          </a:p>
          <a:p>
            <a:r>
              <a:rPr lang="en-US"/>
              <a:t>Strings &amp; String Concatenation</a:t>
            </a:r>
          </a:p>
          <a:p>
            <a:r>
              <a:rPr lang="en-US"/>
              <a:t>Append</a:t>
            </a:r>
          </a:p>
          <a:p>
            <a:r>
              <a:rPr lang="en-US"/>
              <a:t>User Input Strings</a:t>
            </a:r>
          </a:p>
          <a:p>
            <a:r>
              <a:rPr lang="en-US"/>
              <a:t>Math’s</a:t>
            </a:r>
          </a:p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629076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/>
              <a:t>What is C++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US"/>
              <a:t>C++ is one of the most popular programming language.</a:t>
            </a:r>
          </a:p>
          <a:p>
            <a:pPr algn="just"/>
            <a:r>
              <a:rPr lang="en-US"/>
              <a:t>C++ was developed by Bjarne Stroustrup, as an extension to the C language.</a:t>
            </a:r>
          </a:p>
          <a:p>
            <a:pPr algn="just"/>
            <a:r>
              <a:rPr lang="en-US"/>
              <a:t>C++ gives programmers a high level of control over system resources and memory.</a:t>
            </a:r>
          </a:p>
          <a:p>
            <a:pPr algn="just"/>
            <a:r>
              <a:rPr lang="en-US"/>
              <a:t>C++ is used to create computer programs, and is one of the most used language in game development.</a:t>
            </a:r>
          </a:p>
          <a:p>
            <a:pPr algn="just"/>
            <a:r>
              <a:rPr lang="en-US"/>
              <a:t>C++ is an object-oriented programming language which gives a clear structure to programs and allows code to be reused.</a:t>
            </a:r>
          </a:p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144034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/>
              <a:t>Example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/>
              <a:t>To start using C++, you need two things:</a:t>
            </a:r>
          </a:p>
          <a:p>
            <a:pPr marL="971550" lvl="1" indent="-514350">
              <a:buFont typeface="+mj-lt"/>
              <a:buAutoNum type="arabicPeriod"/>
            </a:pPr>
            <a:r>
              <a:rPr lang="en-US"/>
              <a:t>A text editor, like Notepad, to write C++ code.</a:t>
            </a:r>
          </a:p>
          <a:p>
            <a:pPr marL="971550" lvl="1" indent="-514350">
              <a:buFont typeface="+mj-lt"/>
              <a:buAutoNum type="arabicPeriod"/>
            </a:pPr>
            <a:r>
              <a:rPr lang="en-US"/>
              <a:t>A compiler, like GCC, to translate the C++ code into a language that the computer will understand.</a:t>
            </a:r>
          </a:p>
          <a:p>
            <a:pPr marL="0" indent="0">
              <a:buNone/>
            </a:pPr>
            <a:r>
              <a:rPr lang="en-US"/>
              <a:t>#include &lt;</a:t>
            </a:r>
            <a:r>
              <a:rPr lang="en-US" err="1"/>
              <a:t>iostream</a:t>
            </a:r>
            <a:r>
              <a:rPr lang="en-US"/>
              <a:t>&gt;</a:t>
            </a:r>
            <a:br>
              <a:rPr lang="en-US"/>
            </a:br>
            <a:r>
              <a:rPr lang="en-US"/>
              <a:t>using namespace </a:t>
            </a:r>
            <a:r>
              <a:rPr lang="en-US" err="1"/>
              <a:t>std</a:t>
            </a:r>
            <a:r>
              <a:rPr lang="en-US"/>
              <a:t>;</a:t>
            </a:r>
            <a:br>
              <a:rPr lang="en-US"/>
            </a:br>
            <a:br>
              <a:rPr lang="en-US"/>
            </a:br>
            <a:r>
              <a:rPr lang="en-US"/>
              <a:t>int main() {</a:t>
            </a:r>
            <a:br>
              <a:rPr lang="en-US"/>
            </a:br>
            <a:r>
              <a:rPr lang="en-US"/>
              <a:t>  cout &lt;&lt; "Hello World!";</a:t>
            </a:r>
            <a:br>
              <a:rPr lang="en-US"/>
            </a:br>
            <a:r>
              <a:rPr lang="en-US"/>
              <a:t>  return 0;</a:t>
            </a:r>
            <a:br>
              <a:rPr lang="en-US"/>
            </a:br>
            <a:r>
              <a:rPr lang="en-US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90922279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/>
              <a:t>Escape Sequence &amp; Comments</a:t>
            </a:r>
            <a:br>
              <a:rPr lang="en-US"/>
            </a:br>
            <a:endParaRPr lang="en-US" b="1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67096" y="2011679"/>
            <a:ext cx="10086703" cy="4165283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q"/>
            </a:pPr>
            <a:r>
              <a:rPr lang="en-US" b="1"/>
              <a:t>New Line--</a:t>
            </a:r>
            <a:r>
              <a:rPr lang="en-US"/>
              <a:t>To insert a new line, you can use the \n character or endl.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b="1"/>
              <a:t>Horizontal tab-- </a:t>
            </a:r>
            <a:r>
              <a:rPr lang="en-US"/>
              <a:t>\t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b="1"/>
              <a:t>Backslash character (\)--</a:t>
            </a:r>
            <a:r>
              <a:rPr lang="en-US"/>
              <a:t>\\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b="1"/>
              <a:t>Double quote character-- \”……\”</a:t>
            </a:r>
          </a:p>
          <a:p>
            <a:pPr marL="0" indent="0">
              <a:buNone/>
            </a:pPr>
            <a:r>
              <a:rPr lang="en-US"/>
              <a:t>Comments can be singled-lined or multi-lined.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b="1"/>
              <a:t>Single-line</a:t>
            </a:r>
            <a:r>
              <a:rPr lang="en-US"/>
              <a:t> comments start with two forward slashes (//)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b="1"/>
              <a:t>Multi-line</a:t>
            </a:r>
            <a:r>
              <a:rPr lang="en-US"/>
              <a:t> comments start with /* and ends with */</a:t>
            </a:r>
          </a:p>
          <a:p>
            <a:pPr>
              <a:buFont typeface="Wingdings" panose="05000000000000000000" pitchFamily="2" charset="2"/>
              <a:buChar char="q"/>
            </a:pPr>
            <a:endParaRPr lang="en-US" b="1"/>
          </a:p>
        </p:txBody>
      </p:sp>
    </p:spTree>
    <p:extLst>
      <p:ext uri="{BB962C8B-B14F-4D97-AF65-F5344CB8AC3E}">
        <p14:creationId xmlns:p14="http://schemas.microsoft.com/office/powerpoint/2010/main" val="371198563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/>
              <a:t>Escape Sequence &amp; Comments…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/>
              <a:t>#include &lt;</a:t>
            </a:r>
            <a:r>
              <a:rPr lang="en-US" err="1"/>
              <a:t>iostream</a:t>
            </a:r>
            <a:r>
              <a:rPr lang="en-US"/>
              <a:t>&gt;</a:t>
            </a:r>
          </a:p>
          <a:p>
            <a:pPr marL="0" indent="0">
              <a:buNone/>
            </a:pPr>
            <a:r>
              <a:rPr lang="en-US"/>
              <a:t>using namespace </a:t>
            </a:r>
            <a:r>
              <a:rPr lang="en-US" err="1"/>
              <a:t>std</a:t>
            </a:r>
            <a:r>
              <a:rPr lang="en-US"/>
              <a:t>;</a:t>
            </a:r>
          </a:p>
          <a:p>
            <a:pPr marL="0" indent="0">
              <a:buNone/>
            </a:pPr>
            <a:r>
              <a:rPr lang="en-US"/>
              <a:t>int main() {</a:t>
            </a:r>
          </a:p>
          <a:p>
            <a:pPr marL="0" indent="0">
              <a:buNone/>
            </a:pPr>
            <a:r>
              <a:rPr lang="en-US"/>
              <a:t>          cout &lt;&lt; “Hello World\n";</a:t>
            </a:r>
          </a:p>
          <a:p>
            <a:pPr marL="0" indent="0">
              <a:buNone/>
            </a:pPr>
            <a:r>
              <a:rPr lang="en-US"/>
              <a:t>          cout &lt;&lt; "Hello World" &lt;&lt; endl; </a:t>
            </a:r>
            <a:r>
              <a:rPr lang="en-US">
                <a:solidFill>
                  <a:srgbClr val="00B050"/>
                </a:solidFill>
              </a:rPr>
              <a:t>// endline means new line</a:t>
            </a:r>
          </a:p>
          <a:p>
            <a:pPr marL="0" indent="0">
              <a:buNone/>
            </a:pPr>
            <a:r>
              <a:rPr lang="en-US"/>
              <a:t>          cout &lt;&lt; "Hello World\t";        </a:t>
            </a:r>
            <a:r>
              <a:rPr lang="en-US">
                <a:solidFill>
                  <a:srgbClr val="00B050"/>
                </a:solidFill>
              </a:rPr>
              <a:t>/* Multi line comments</a:t>
            </a:r>
          </a:p>
          <a:p>
            <a:pPr marL="0" indent="0">
              <a:buNone/>
            </a:pPr>
            <a:r>
              <a:rPr lang="en-US"/>
              <a:t>          cout &lt;&lt; "Hello World\\";                  </a:t>
            </a:r>
            <a:r>
              <a:rPr lang="en-US">
                <a:solidFill>
                  <a:srgbClr val="00B050"/>
                </a:solidFill>
              </a:rPr>
              <a:t>example*/</a:t>
            </a:r>
          </a:p>
          <a:p>
            <a:pPr marL="0" indent="0">
              <a:buNone/>
            </a:pPr>
            <a:r>
              <a:rPr lang="en-US"/>
              <a:t>          cout &lt;&lt; “Hello \“World\".";</a:t>
            </a:r>
          </a:p>
          <a:p>
            <a:pPr marL="0" indent="0">
              <a:buNone/>
            </a:pPr>
            <a:r>
              <a:rPr lang="en-US"/>
              <a:t>      return 0;</a:t>
            </a:r>
          </a:p>
          <a:p>
            <a:pPr marL="0" indent="0">
              <a:buNone/>
            </a:pPr>
            <a:r>
              <a:rPr lang="en-US"/>
              <a:t>}</a:t>
            </a:r>
          </a:p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525682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/>
              <a:t>Variables</a:t>
            </a:r>
            <a:br>
              <a:rPr lang="en-US"/>
            </a:b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358537"/>
            <a:ext cx="10515600" cy="4818426"/>
          </a:xfrm>
        </p:spPr>
        <p:txBody>
          <a:bodyPr/>
          <a:lstStyle/>
          <a:p>
            <a:r>
              <a:rPr lang="en-US"/>
              <a:t>Variables are containers for storing data values.</a:t>
            </a:r>
          </a:p>
          <a:p>
            <a:r>
              <a:rPr lang="en-US"/>
              <a:t>There are different types of variables-</a:t>
            </a:r>
          </a:p>
          <a:p>
            <a:endParaRPr lang="en-US"/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73951919"/>
              </p:ext>
            </p:extLst>
          </p:nvPr>
        </p:nvGraphicFramePr>
        <p:xfrm>
          <a:off x="1431108" y="2821303"/>
          <a:ext cx="9802949" cy="2691222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1346155">
                  <a:extLst>
                    <a:ext uri="{9D8B030D-6E8A-4147-A177-3AD203B41FA5}">
                      <a16:colId xmlns:a16="http://schemas.microsoft.com/office/drawing/2014/main" val="2839976659"/>
                    </a:ext>
                  </a:extLst>
                </a:gridCol>
                <a:gridCol w="8456794">
                  <a:extLst>
                    <a:ext uri="{9D8B030D-6E8A-4147-A177-3AD203B41FA5}">
                      <a16:colId xmlns:a16="http://schemas.microsoft.com/office/drawing/2014/main" val="246613200"/>
                    </a:ext>
                  </a:extLst>
                </a:gridCol>
              </a:tblGrid>
              <a:tr h="448537"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Data Type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Description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51573758"/>
                  </a:ext>
                </a:extLst>
              </a:tr>
              <a:tr h="448537">
                <a:tc>
                  <a:txBody>
                    <a:bodyPr/>
                    <a:lstStyle/>
                    <a:p>
                      <a:r>
                        <a:rPr lang="en-US"/>
                        <a:t>int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0" i="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stores integers (whole numbers), without decimals, such as 120 or -220</a:t>
                      </a:r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08722879"/>
                  </a:ext>
                </a:extLst>
              </a:tr>
              <a:tr h="448537">
                <a:tc>
                  <a:txBody>
                    <a:bodyPr/>
                    <a:lstStyle/>
                    <a:p>
                      <a:r>
                        <a:rPr lang="en-US"/>
                        <a:t>double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stores floating point numbers, with decimals, such as 12.24 or -12.24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87068270"/>
                  </a:ext>
                </a:extLst>
              </a:tr>
              <a:tr h="448537">
                <a:tc>
                  <a:txBody>
                    <a:bodyPr/>
                    <a:lstStyle/>
                    <a:p>
                      <a:r>
                        <a:rPr lang="en-US"/>
                        <a:t>char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stores single characters, such as 'a' or ‘A'. Char values are surrounded by single quotes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984643"/>
                  </a:ext>
                </a:extLst>
              </a:tr>
              <a:tr h="448537">
                <a:tc>
                  <a:txBody>
                    <a:bodyPr/>
                    <a:lstStyle/>
                    <a:p>
                      <a:r>
                        <a:rPr lang="en-US"/>
                        <a:t>string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stores text, such as "Hello World". String values are surrounded by double quotes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79033762"/>
                  </a:ext>
                </a:extLst>
              </a:tr>
              <a:tr h="448537">
                <a:tc>
                  <a:txBody>
                    <a:bodyPr/>
                    <a:lstStyle/>
                    <a:p>
                      <a:r>
                        <a:rPr lang="en-US"/>
                        <a:t>bool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0" i="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stores values with two states: true or false</a:t>
                      </a:r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3522917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0624669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/>
              <a:t>Variables…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512116"/>
            <a:ext cx="11035937" cy="4351338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b="1"/>
              <a:t>The general rules for naming variables are:</a:t>
            </a:r>
          </a:p>
          <a:p>
            <a:r>
              <a:rPr lang="en-US"/>
              <a:t>Names can contain letters, digits and underscores</a:t>
            </a:r>
          </a:p>
          <a:p>
            <a:r>
              <a:rPr lang="en-US"/>
              <a:t>Names must begin with a letter or an underscore (_)</a:t>
            </a:r>
          </a:p>
          <a:p>
            <a:r>
              <a:rPr lang="en-US"/>
              <a:t>Names are case sensitive (myName and myname are different variables)</a:t>
            </a:r>
          </a:p>
          <a:p>
            <a:r>
              <a:rPr lang="en-US"/>
              <a:t>Names cannot contain whitespaces or special characters like !, #, %, etc.</a:t>
            </a:r>
          </a:p>
          <a:p>
            <a:r>
              <a:rPr lang="en-US"/>
              <a:t>Reserved words (like C++ keywords, such as int) cannot be used as names</a:t>
            </a:r>
          </a:p>
          <a:p>
            <a:pPr marL="0" indent="0">
              <a:buNone/>
            </a:pPr>
            <a:r>
              <a:rPr lang="en-US" b="1"/>
              <a:t>Identifiers</a:t>
            </a:r>
          </a:p>
          <a:p>
            <a:r>
              <a:rPr lang="en-US"/>
              <a:t>All C++ variables must be identified with unique names. These unique names are called identifiers.</a:t>
            </a:r>
          </a:p>
        </p:txBody>
      </p:sp>
    </p:spTree>
    <p:extLst>
      <p:ext uri="{BB962C8B-B14F-4D97-AF65-F5344CB8AC3E}">
        <p14:creationId xmlns:p14="http://schemas.microsoft.com/office/powerpoint/2010/main" val="2085471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/>
              <a:t>Variables…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b="0" i="0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Syntax--</a:t>
            </a:r>
          </a:p>
          <a:p>
            <a:pPr marL="0" indent="0">
              <a:buNone/>
            </a:pPr>
            <a:r>
              <a:rPr lang="en-US" b="0" i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  datatype</a:t>
            </a:r>
            <a:r>
              <a:rPr lang="en-US" b="0" i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b="0" i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variableName</a:t>
            </a:r>
            <a:r>
              <a:rPr lang="en-US" b="0" i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= </a:t>
            </a:r>
            <a:r>
              <a:rPr lang="en-US" b="0" i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value</a:t>
            </a:r>
            <a:r>
              <a:rPr lang="en-US" b="0" i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 marL="914400" lvl="2" indent="0">
              <a:buNone/>
            </a:pPr>
            <a:r>
              <a:rPr lang="en-US" sz="3200">
                <a:solidFill>
                  <a:srgbClr val="0000CD"/>
                </a:solidFill>
                <a:latin typeface="Consolas" panose="020B0609020204030204" pitchFamily="49" charset="0"/>
              </a:rPr>
              <a:t> </a:t>
            </a:r>
            <a:r>
              <a:rPr lang="en-US" sz="3200" b="0" i="0">
                <a:solidFill>
                  <a:srgbClr val="0000CD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3200" b="0" i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myNumber = </a:t>
            </a:r>
            <a:r>
              <a:rPr lang="en-US" sz="3200">
                <a:solidFill>
                  <a:srgbClr val="FF0000"/>
                </a:solidFill>
                <a:latin typeface="Consolas" panose="020B0609020204030204" pitchFamily="49" charset="0"/>
              </a:rPr>
              <a:t>10</a:t>
            </a:r>
            <a:r>
              <a:rPr lang="en-US" sz="3200" b="0" i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 </a:t>
            </a:r>
          </a:p>
          <a:p>
            <a:pPr marL="914400" lvl="2" indent="0">
              <a:buNone/>
            </a:pPr>
            <a:r>
              <a:rPr lang="en-US" sz="3200">
                <a:solidFill>
                  <a:srgbClr val="000000"/>
                </a:solidFill>
                <a:latin typeface="Consolas" panose="020B0609020204030204" pitchFamily="49" charset="0"/>
              </a:rPr>
              <a:t> cout&lt;&lt; myNumber;</a:t>
            </a:r>
            <a:endParaRPr lang="en-US" sz="3200" b="0" i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914400" lvl="2" indent="0">
              <a:buNone/>
            </a:pPr>
            <a:r>
              <a:rPr lang="en-US" sz="3200">
                <a:solidFill>
                  <a:srgbClr val="000000"/>
                </a:solidFill>
                <a:latin typeface="Consolas" panose="020B0609020204030204" pitchFamily="49" charset="0"/>
              </a:rPr>
              <a:t>Or,</a:t>
            </a:r>
          </a:p>
          <a:p>
            <a:pPr marL="914400" lvl="2" indent="0">
              <a:buNone/>
            </a:pPr>
            <a:r>
              <a:rPr lang="en-US" sz="3200" b="0" i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3200" b="0" i="0">
                <a:solidFill>
                  <a:srgbClr val="0000CD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3200" b="0" i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myNumber;</a:t>
            </a:r>
            <a:br>
              <a:rPr lang="en-US" sz="3200"/>
            </a:br>
            <a:r>
              <a:rPr lang="en-US" sz="3200"/>
              <a:t>   </a:t>
            </a:r>
            <a:r>
              <a:rPr lang="en-US" sz="3200" b="0" i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myNumber = </a:t>
            </a:r>
            <a:r>
              <a:rPr lang="en-US" sz="3200" b="0" i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10</a:t>
            </a:r>
            <a:r>
              <a:rPr lang="en-US" sz="3200" b="0" i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 </a:t>
            </a:r>
          </a:p>
          <a:p>
            <a:pPr marL="914400" lvl="2" indent="0">
              <a:buNone/>
            </a:pPr>
            <a:r>
              <a:rPr lang="en-US" sz="3200">
                <a:solidFill>
                  <a:srgbClr val="000000"/>
                </a:solidFill>
                <a:latin typeface="Consolas" panose="020B0609020204030204" pitchFamily="49" charset="0"/>
              </a:rPr>
              <a:t> cout&lt;&lt; myNumber;</a:t>
            </a:r>
            <a:endParaRPr lang="en-US" sz="3200" b="0" i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914400" lvl="2" indent="0">
              <a:buNone/>
            </a:pPr>
            <a:r>
              <a:rPr lang="en-US" sz="3200" b="0" i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                      </a:t>
            </a:r>
            <a:endParaRPr lang="en-US" sz="3200"/>
          </a:p>
        </p:txBody>
      </p:sp>
    </p:spTree>
    <p:extLst>
      <p:ext uri="{BB962C8B-B14F-4D97-AF65-F5344CB8AC3E}">
        <p14:creationId xmlns:p14="http://schemas.microsoft.com/office/powerpoint/2010/main" val="396064386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/>
              <a:t>Variables…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b="0" i="0">
                <a:solidFill>
                  <a:srgbClr val="0000CD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b="0" i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myNumber = </a:t>
            </a:r>
            <a:r>
              <a:rPr lang="en-US" b="0" i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10</a:t>
            </a:r>
            <a:r>
              <a:rPr lang="en-US" b="0" i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  </a:t>
            </a:r>
            <a:r>
              <a:rPr lang="en-US" b="0" i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myNumber is 10</a:t>
            </a:r>
            <a:br>
              <a:rPr lang="en-US" b="0" i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</a:br>
            <a:r>
              <a:rPr lang="en-US" b="0" i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myNumber = </a:t>
            </a:r>
            <a:r>
              <a:rPr lang="en-US">
                <a:solidFill>
                  <a:srgbClr val="FF0000"/>
                </a:solidFill>
                <a:latin typeface="Consolas" panose="020B0609020204030204" pitchFamily="49" charset="0"/>
              </a:rPr>
              <a:t>20</a:t>
            </a:r>
            <a:r>
              <a:rPr lang="en-US" b="0" i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  </a:t>
            </a:r>
            <a:r>
              <a:rPr lang="en-US" b="0" i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Now myNumber is 20</a:t>
            </a:r>
            <a:br>
              <a:rPr lang="en-US" b="0" i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</a:br>
            <a:r>
              <a:rPr lang="en-US" b="0" i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cout &lt;&lt; </a:t>
            </a:r>
            <a:r>
              <a:rPr lang="en-US" b="0" i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myNumber</a:t>
            </a:r>
            <a:r>
              <a:rPr lang="en-US" b="0" i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  </a:t>
            </a:r>
            <a:r>
              <a:rPr lang="en-US" b="0" i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Outputs 20</a:t>
            </a:r>
          </a:p>
          <a:p>
            <a:pPr marL="0" indent="0">
              <a:buNone/>
            </a:pPr>
            <a:r>
              <a:rPr lang="en-US">
                <a:solidFill>
                  <a:srgbClr val="008000"/>
                </a:solidFill>
                <a:latin typeface="Consolas" panose="020B0609020204030204" pitchFamily="49" charset="0"/>
              </a:rPr>
              <a:t>………………. </a:t>
            </a:r>
          </a:p>
          <a:p>
            <a:pPr marL="0" indent="0">
              <a:buNone/>
            </a:pPr>
            <a:r>
              <a:rPr lang="en-US" b="0" i="0">
                <a:solidFill>
                  <a:srgbClr val="0000CD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b="0" i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myNumber = </a:t>
            </a:r>
            <a:r>
              <a:rPr lang="en-US" b="0" i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50</a:t>
            </a:r>
            <a:r>
              <a:rPr lang="en-US" b="0" i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         </a:t>
            </a:r>
            <a:br>
              <a:rPr lang="en-US" b="0" i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</a:br>
            <a:r>
              <a:rPr lang="en-US" b="0" i="0">
                <a:solidFill>
                  <a:srgbClr val="0000CD"/>
                </a:solidFill>
                <a:effectLst/>
                <a:latin typeface="Consolas" panose="020B0609020204030204" pitchFamily="49" charset="0"/>
              </a:rPr>
              <a:t>double</a:t>
            </a:r>
            <a:r>
              <a:rPr lang="en-US" b="0" i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b="0" i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myFloatNumber</a:t>
            </a:r>
            <a:r>
              <a:rPr lang="en-US" b="0" i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 </a:t>
            </a:r>
            <a:r>
              <a:rPr lang="en-US" b="0" i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5.45</a:t>
            </a:r>
            <a:r>
              <a:rPr lang="en-US" b="0" i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  </a:t>
            </a:r>
            <a:br>
              <a:rPr lang="en-US" b="0" i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</a:br>
            <a:r>
              <a:rPr lang="en-US" b="0" i="0">
                <a:solidFill>
                  <a:srgbClr val="0000CD"/>
                </a:solidFill>
                <a:effectLst/>
                <a:latin typeface="Consolas" panose="020B0609020204030204" pitchFamily="49" charset="0"/>
              </a:rPr>
              <a:t>char</a:t>
            </a:r>
            <a:r>
              <a:rPr lang="en-US" b="0" i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b="0" i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myLetter</a:t>
            </a:r>
            <a:r>
              <a:rPr lang="en-US" b="0" i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 </a:t>
            </a:r>
            <a:r>
              <a:rPr lang="en-US" b="0" i="0">
                <a:solidFill>
                  <a:srgbClr val="A52A2A"/>
                </a:solidFill>
                <a:effectLst/>
                <a:latin typeface="Consolas" panose="020B0609020204030204" pitchFamily="49" charset="0"/>
              </a:rPr>
              <a:t>'A'</a:t>
            </a:r>
            <a:r>
              <a:rPr lang="en-US" b="0" i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         </a:t>
            </a:r>
            <a:br>
              <a:rPr lang="en-US" b="0" i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</a:br>
            <a:r>
              <a:rPr lang="en-US" b="0" i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string </a:t>
            </a:r>
            <a:r>
              <a:rPr lang="en-US" b="0" i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myText</a:t>
            </a:r>
            <a:r>
              <a:rPr lang="en-US" b="0" i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 </a:t>
            </a:r>
            <a:r>
              <a:rPr lang="en-US" b="0" i="0">
                <a:solidFill>
                  <a:srgbClr val="A52A2A"/>
                </a:solidFill>
                <a:effectLst/>
                <a:latin typeface="Consolas" panose="020B0609020204030204" pitchFamily="49" charset="0"/>
              </a:rPr>
              <a:t>"Hello"</a:t>
            </a:r>
            <a:r>
              <a:rPr lang="en-US" b="0" i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     </a:t>
            </a:r>
            <a:br>
              <a:rPr lang="en-US" b="0" i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</a:br>
            <a:r>
              <a:rPr lang="en-US" b="0" i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bool </a:t>
            </a:r>
            <a:r>
              <a:rPr lang="en-US" b="0" i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myBoolean</a:t>
            </a:r>
            <a:r>
              <a:rPr lang="en-US" b="0" i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 </a:t>
            </a:r>
            <a:r>
              <a:rPr lang="en-US" b="0" i="0">
                <a:solidFill>
                  <a:srgbClr val="0000CD"/>
                </a:solidFill>
                <a:effectLst/>
                <a:latin typeface="Consolas" panose="020B0609020204030204" pitchFamily="49" charset="0"/>
              </a:rPr>
              <a:t>true</a:t>
            </a:r>
            <a:r>
              <a:rPr lang="en-US" b="0" i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369049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/>
              <a:t>Variables…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/>
              <a:t>1</a:t>
            </a:r>
          </a:p>
        </p:txBody>
      </p:sp>
      <p:sp>
        <p:nvSpPr>
          <p:cNvPr id="4" name="Rectangle 3"/>
          <p:cNvSpPr/>
          <p:nvPr/>
        </p:nvSpPr>
        <p:spPr>
          <a:xfrm>
            <a:off x="838200" y="1825625"/>
            <a:ext cx="3407229" cy="1779724"/>
          </a:xfrm>
          <a:prstGeom prst="rect">
            <a:avLst/>
          </a:prstGeom>
          <a:solidFill>
            <a:schemeClr val="bg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b="0" i="0" err="1">
                <a:solidFill>
                  <a:srgbClr val="0000CD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fr-FR" b="0" i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x = </a:t>
            </a:r>
            <a:r>
              <a:rPr lang="fr-FR">
                <a:solidFill>
                  <a:srgbClr val="FF0000"/>
                </a:solidFill>
                <a:latin typeface="Consolas" panose="020B0609020204030204" pitchFamily="49" charset="0"/>
              </a:rPr>
              <a:t>3</a:t>
            </a:r>
            <a:r>
              <a:rPr lang="fr-FR" b="0" i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  <a:br>
              <a:rPr lang="fr-FR"/>
            </a:br>
            <a:r>
              <a:rPr lang="fr-FR" b="0" i="0" err="1">
                <a:solidFill>
                  <a:srgbClr val="0000CD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fr-FR" b="0" i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y = </a:t>
            </a:r>
            <a:r>
              <a:rPr lang="fr-FR">
                <a:solidFill>
                  <a:srgbClr val="FF0000"/>
                </a:solidFill>
                <a:latin typeface="Consolas" panose="020B0609020204030204" pitchFamily="49" charset="0"/>
              </a:rPr>
              <a:t>7</a:t>
            </a:r>
            <a:r>
              <a:rPr lang="fr-FR" b="0" i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  <a:br>
              <a:rPr lang="fr-FR"/>
            </a:br>
            <a:r>
              <a:rPr lang="fr-FR" b="0" i="0" err="1">
                <a:solidFill>
                  <a:srgbClr val="0000CD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fr-FR" b="0" i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fr-FR" b="0" i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sum</a:t>
            </a:r>
            <a:r>
              <a:rPr lang="fr-FR" b="0" i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x + y;</a:t>
            </a:r>
            <a:br>
              <a:rPr lang="fr-FR"/>
            </a:br>
            <a:r>
              <a:rPr lang="fr-FR" b="0" i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cout &lt;&lt; </a:t>
            </a:r>
            <a:r>
              <a:rPr lang="fr-FR" b="0" i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sum</a:t>
            </a:r>
            <a:r>
              <a:rPr lang="fr-FR" b="0" i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  <a:endParaRPr lang="en-US"/>
          </a:p>
        </p:txBody>
      </p:sp>
      <p:sp>
        <p:nvSpPr>
          <p:cNvPr id="5" name="Rectangle 4"/>
          <p:cNvSpPr/>
          <p:nvPr/>
        </p:nvSpPr>
        <p:spPr>
          <a:xfrm>
            <a:off x="4650377" y="1825625"/>
            <a:ext cx="3644538" cy="1779724"/>
          </a:xfrm>
          <a:prstGeom prst="rect">
            <a:avLst/>
          </a:prstGeom>
          <a:solidFill>
            <a:schemeClr val="bg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b="0" i="0">
                <a:solidFill>
                  <a:srgbClr val="0000CD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b="0" i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b="0" i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myAge</a:t>
            </a:r>
            <a:r>
              <a:rPr lang="en-US" b="0" i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 </a:t>
            </a:r>
            <a:r>
              <a:rPr lang="en-US">
                <a:solidFill>
                  <a:srgbClr val="FF0000"/>
                </a:solidFill>
                <a:latin typeface="Consolas" panose="020B0609020204030204" pitchFamily="49" charset="0"/>
              </a:rPr>
              <a:t>20</a:t>
            </a:r>
            <a:r>
              <a:rPr lang="en-US" b="0" i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  <a:br>
              <a:rPr lang="en-US"/>
            </a:br>
            <a:r>
              <a:rPr lang="en-US" b="0" i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cout &lt;&lt; </a:t>
            </a:r>
            <a:r>
              <a:rPr lang="en-US" b="0" i="0">
                <a:solidFill>
                  <a:srgbClr val="A52A2A"/>
                </a:solidFill>
                <a:effectLst/>
                <a:latin typeface="Consolas" panose="020B0609020204030204" pitchFamily="49" charset="0"/>
              </a:rPr>
              <a:t>"I am "</a:t>
            </a:r>
            <a:r>
              <a:rPr lang="en-US" b="0" i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&lt;&lt; </a:t>
            </a:r>
            <a:r>
              <a:rPr lang="en-US" b="0" i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myAge</a:t>
            </a:r>
            <a:r>
              <a:rPr lang="en-US" b="0" i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&lt;&lt; </a:t>
            </a:r>
            <a:r>
              <a:rPr lang="en-US" b="0" i="0">
                <a:solidFill>
                  <a:srgbClr val="A52A2A"/>
                </a:solidFill>
                <a:effectLst/>
                <a:latin typeface="Consolas" panose="020B0609020204030204" pitchFamily="49" charset="0"/>
              </a:rPr>
              <a:t>" years old."</a:t>
            </a:r>
            <a:r>
              <a:rPr lang="en-US" b="0" i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  <a:endParaRPr lang="en-US"/>
          </a:p>
        </p:txBody>
      </p:sp>
      <p:sp>
        <p:nvSpPr>
          <p:cNvPr id="6" name="Rectangle 5"/>
          <p:cNvSpPr/>
          <p:nvPr/>
        </p:nvSpPr>
        <p:spPr>
          <a:xfrm>
            <a:off x="838200" y="4049486"/>
            <a:ext cx="3407229" cy="1345474"/>
          </a:xfrm>
          <a:prstGeom prst="rect">
            <a:avLst/>
          </a:prstGeom>
          <a:solidFill>
            <a:schemeClr val="bg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b="0" i="0" err="1">
                <a:solidFill>
                  <a:srgbClr val="0000CD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fr-FR" b="0" i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x = </a:t>
            </a:r>
            <a:r>
              <a:rPr lang="fr-FR">
                <a:solidFill>
                  <a:srgbClr val="FF0000"/>
                </a:solidFill>
                <a:latin typeface="Consolas" panose="020B0609020204030204" pitchFamily="49" charset="0"/>
              </a:rPr>
              <a:t>2</a:t>
            </a:r>
            <a:r>
              <a:rPr lang="fr-FR" b="0" i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y = </a:t>
            </a:r>
            <a:r>
              <a:rPr lang="fr-FR">
                <a:solidFill>
                  <a:srgbClr val="FF0000"/>
                </a:solidFill>
                <a:latin typeface="Consolas" panose="020B0609020204030204" pitchFamily="49" charset="0"/>
              </a:rPr>
              <a:t>4</a:t>
            </a:r>
            <a:r>
              <a:rPr lang="fr-FR" b="0" i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z = 4;</a:t>
            </a:r>
            <a:br>
              <a:rPr lang="fr-FR"/>
            </a:br>
            <a:r>
              <a:rPr lang="fr-FR" b="0" i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cout &lt;&lt; x + y + z;</a:t>
            </a:r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4650376" y="4049486"/>
            <a:ext cx="3644538" cy="1345474"/>
          </a:xfrm>
          <a:prstGeom prst="rect">
            <a:avLst/>
          </a:prstGeom>
          <a:solidFill>
            <a:schemeClr val="bg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b="0" i="0">
                <a:solidFill>
                  <a:srgbClr val="0000CD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b="0" i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x, y, z;</a:t>
            </a:r>
            <a:br>
              <a:rPr lang="en-US"/>
            </a:br>
            <a:r>
              <a:rPr lang="en-US" b="0" i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x = y = z = </a:t>
            </a:r>
            <a:r>
              <a:rPr lang="en-US">
                <a:solidFill>
                  <a:srgbClr val="FF0000"/>
                </a:solidFill>
                <a:latin typeface="Consolas" panose="020B0609020204030204" pitchFamily="49" charset="0"/>
              </a:rPr>
              <a:t>1</a:t>
            </a:r>
            <a:r>
              <a:rPr lang="en-US" b="0" i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b="0" i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  <a:br>
              <a:rPr lang="en-US"/>
            </a:br>
            <a:r>
              <a:rPr lang="en-US" b="0" i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cout &lt;&lt; x + y + z;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597955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/>
              <a:t>Constants</a:t>
            </a:r>
            <a:br>
              <a:rPr lang="en-US"/>
            </a:b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/>
          <a:lstStyle/>
          <a:p>
            <a:pPr algn="just"/>
            <a:r>
              <a:rPr lang="en-US"/>
              <a:t>When you do not want others (or yourself) to override existing variable values, use the </a:t>
            </a:r>
            <a:r>
              <a:rPr lang="en-US" b="1" err="1"/>
              <a:t>const</a:t>
            </a:r>
            <a:r>
              <a:rPr lang="en-US"/>
              <a:t> keyword (this will declare the variable as "constant", which means unchangeable and read-only)-</a:t>
            </a:r>
          </a:p>
          <a:p>
            <a:pPr marL="0" indent="0" algn="just">
              <a:buNone/>
            </a:pPr>
            <a:endParaRPr lang="en-US" b="1" i="0">
              <a:solidFill>
                <a:srgbClr val="0000CD"/>
              </a:solidFill>
              <a:effectLst/>
              <a:latin typeface="Consolas" panose="020B0609020204030204" pitchFamily="49" charset="0"/>
            </a:endParaRPr>
          </a:p>
          <a:p>
            <a:pPr marL="0" indent="0" algn="just">
              <a:buNone/>
            </a:pPr>
            <a:r>
              <a:rPr lang="en-US" b="1" i="0" err="1">
                <a:solidFill>
                  <a:srgbClr val="0000CD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US" b="0" i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b="0" i="0">
                <a:solidFill>
                  <a:srgbClr val="0000CD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b="0" i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myNumber = </a:t>
            </a:r>
            <a:r>
              <a:rPr lang="en-US">
                <a:solidFill>
                  <a:srgbClr val="FF0000"/>
                </a:solidFill>
                <a:latin typeface="Consolas" panose="020B0609020204030204" pitchFamily="49" charset="0"/>
              </a:rPr>
              <a:t>20</a:t>
            </a:r>
            <a:r>
              <a:rPr lang="en-US" b="0" i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  <a:r>
              <a:rPr lang="en-US" b="0" i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</a:t>
            </a:r>
            <a:r>
              <a:rPr lang="en-US" b="0" i="0" err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myNumber</a:t>
            </a:r>
            <a:r>
              <a:rPr lang="en-US" b="0" i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will always be </a:t>
            </a:r>
            <a:r>
              <a:rPr lang="en-US">
                <a:solidFill>
                  <a:srgbClr val="008000"/>
                </a:solidFill>
                <a:latin typeface="Consolas" panose="020B0609020204030204" pitchFamily="49" charset="0"/>
              </a:rPr>
              <a:t>20</a:t>
            </a:r>
            <a:br>
              <a:rPr lang="en-US" b="0" i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</a:br>
            <a:r>
              <a:rPr lang="en-US" b="0" i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myNumber = </a:t>
            </a:r>
            <a:r>
              <a:rPr lang="en-US" b="0" i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12</a:t>
            </a:r>
            <a:r>
              <a:rPr lang="en-US" b="0" i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  </a:t>
            </a:r>
            <a:r>
              <a:rPr lang="en-US" b="0" i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error</a:t>
            </a:r>
          </a:p>
          <a:p>
            <a:pPr marL="0" indent="0">
              <a:buNone/>
            </a:pPr>
            <a:r>
              <a:rPr lang="en-US" b="1" err="1">
                <a:solidFill>
                  <a:srgbClr val="0000CD"/>
                </a:solidFill>
                <a:latin typeface="Consolas" panose="020B0609020204030204" pitchFamily="49" charset="0"/>
              </a:rPr>
              <a:t>c</a:t>
            </a:r>
            <a:r>
              <a:rPr lang="en-US" b="1" i="0" err="1">
                <a:solidFill>
                  <a:srgbClr val="0000CD"/>
                </a:solidFill>
                <a:effectLst/>
                <a:latin typeface="Consolas" panose="020B0609020204030204" pitchFamily="49" charset="0"/>
              </a:rPr>
              <a:t>onst</a:t>
            </a:r>
            <a:r>
              <a:rPr lang="en-US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b="0" i="0">
                <a:solidFill>
                  <a:srgbClr val="0000CD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>
                <a:solidFill>
                  <a:srgbClr val="000000"/>
                </a:solidFill>
                <a:latin typeface="Consolas" panose="020B0609020204030204" pitchFamily="49" charset="0"/>
              </a:rPr>
              <a:t> perDayHr</a:t>
            </a:r>
            <a:r>
              <a:rPr lang="en-US" b="0" i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 </a:t>
            </a:r>
            <a:r>
              <a:rPr lang="en-US">
                <a:solidFill>
                  <a:srgbClr val="FF0000"/>
                </a:solidFill>
                <a:latin typeface="Consolas" panose="020B0609020204030204" pitchFamily="49" charset="0"/>
              </a:rPr>
              <a:t>24</a:t>
            </a:r>
            <a:r>
              <a:rPr lang="en-US" b="0" i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  <a:br>
              <a:rPr lang="en-US"/>
            </a:br>
            <a:r>
              <a:rPr lang="en-US" b="1" i="0" err="1">
                <a:solidFill>
                  <a:srgbClr val="0000CD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US" b="0" i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b="0" i="0">
                <a:solidFill>
                  <a:srgbClr val="0000CD"/>
                </a:solidFill>
                <a:effectLst/>
                <a:latin typeface="Consolas" panose="020B0609020204030204" pitchFamily="49" charset="0"/>
              </a:rPr>
              <a:t>float</a:t>
            </a:r>
            <a:r>
              <a:rPr lang="en-US" b="0" i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PI = </a:t>
            </a:r>
            <a:r>
              <a:rPr lang="en-US" b="0" i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3.14</a:t>
            </a:r>
            <a:r>
              <a:rPr lang="en-US" b="0" i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  <a:endParaRPr lang="en-US">
              <a:solidFill>
                <a:srgbClr val="008000"/>
              </a:solidFill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0841226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/>
              <a:t>User Input</a:t>
            </a:r>
            <a:br>
              <a:rPr lang="en-US"/>
            </a:b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472927"/>
            <a:ext cx="10515600" cy="4351338"/>
          </a:xfrm>
        </p:spPr>
        <p:txBody>
          <a:bodyPr>
            <a:normAutofit lnSpcReduction="10000"/>
          </a:bodyPr>
          <a:lstStyle/>
          <a:p>
            <a:r>
              <a:rPr lang="en-US"/>
              <a:t>cin is a predefined variable that reads data from the keyboard with the extraction operator (&gt;&gt;).</a:t>
            </a:r>
          </a:p>
          <a:p>
            <a:pPr marL="0" indent="0">
              <a:buNone/>
            </a:pPr>
            <a:r>
              <a:rPr lang="en-US">
                <a:solidFill>
                  <a:srgbClr val="0000CD"/>
                </a:solidFill>
                <a:latin typeface="Consolas" panose="020B0609020204030204" pitchFamily="49" charset="0"/>
              </a:rPr>
              <a:t>int</a:t>
            </a:r>
            <a:r>
              <a:rPr lang="en-US">
                <a:solidFill>
                  <a:srgbClr val="000000"/>
                </a:solidFill>
                <a:latin typeface="Consolas" panose="020B0609020204030204" pitchFamily="49" charset="0"/>
              </a:rPr>
              <a:t> x; </a:t>
            </a:r>
            <a:br>
              <a:rPr lang="en-US"/>
            </a:br>
            <a:r>
              <a:rPr lang="en-US">
                <a:solidFill>
                  <a:srgbClr val="000000"/>
                </a:solidFill>
                <a:latin typeface="Consolas" panose="020B0609020204030204" pitchFamily="49" charset="0"/>
              </a:rPr>
              <a:t>cout &lt;&lt; </a:t>
            </a:r>
            <a:r>
              <a:rPr lang="en-US">
                <a:solidFill>
                  <a:srgbClr val="A52A2A"/>
                </a:solidFill>
                <a:latin typeface="Consolas" panose="020B0609020204030204" pitchFamily="49" charset="0"/>
              </a:rPr>
              <a:t>“Enter a number: "</a:t>
            </a:r>
            <a:r>
              <a:rPr lang="en-US">
                <a:solidFill>
                  <a:srgbClr val="000000"/>
                </a:solidFill>
                <a:latin typeface="Consolas" panose="020B0609020204030204" pitchFamily="49" charset="0"/>
              </a:rPr>
              <a:t>; </a:t>
            </a:r>
            <a:br>
              <a:rPr lang="en-US">
                <a:solidFill>
                  <a:srgbClr val="008000"/>
                </a:solidFill>
                <a:latin typeface="Consolas" panose="020B0609020204030204" pitchFamily="49" charset="0"/>
              </a:rPr>
            </a:br>
            <a:r>
              <a:rPr lang="en-US">
                <a:solidFill>
                  <a:srgbClr val="000000"/>
                </a:solidFill>
                <a:latin typeface="Consolas" panose="020B0609020204030204" pitchFamily="49" charset="0"/>
              </a:rPr>
              <a:t>cin &gt;&gt; x; </a:t>
            </a:r>
          </a:p>
          <a:p>
            <a:pPr marL="0" indent="0">
              <a:buNone/>
            </a:pPr>
            <a:r>
              <a:rPr lang="en-US">
                <a:solidFill>
                  <a:srgbClr val="000000"/>
                </a:solidFill>
                <a:latin typeface="Consolas" panose="020B0609020204030204" pitchFamily="49" charset="0"/>
              </a:rPr>
              <a:t>cout &lt;&lt; </a:t>
            </a:r>
            <a:r>
              <a:rPr lang="en-US">
                <a:solidFill>
                  <a:srgbClr val="A52A2A"/>
                </a:solidFill>
                <a:latin typeface="Consolas" panose="020B0609020204030204" pitchFamily="49" charset="0"/>
              </a:rPr>
              <a:t>"Your number is: "</a:t>
            </a:r>
            <a:r>
              <a:rPr lang="en-US">
                <a:solidFill>
                  <a:srgbClr val="000000"/>
                </a:solidFill>
                <a:latin typeface="Consolas" panose="020B0609020204030204" pitchFamily="49" charset="0"/>
              </a:rPr>
              <a:t> &lt;&lt; x; </a:t>
            </a:r>
          </a:p>
          <a:p>
            <a:pPr marL="0" indent="0">
              <a:buNone/>
            </a:pPr>
            <a:r>
              <a:rPr lang="en-US">
                <a:solidFill>
                  <a:schemeClr val="bg2">
                    <a:lumMod val="50000"/>
                  </a:schemeClr>
                </a:solidFill>
              </a:rPr>
              <a:t>NB: cout is pronounced "see-out". Used for output, and uses the insertion operator (&lt;&lt;)</a:t>
            </a:r>
          </a:p>
          <a:p>
            <a:pPr marL="0" indent="0">
              <a:buNone/>
            </a:pPr>
            <a:r>
              <a:rPr lang="en-US">
                <a:solidFill>
                  <a:schemeClr val="bg2">
                    <a:lumMod val="50000"/>
                  </a:schemeClr>
                </a:solidFill>
              </a:rPr>
              <a:t>cin is pronounced "see-in". Used for input, and uses the extraction operator (&gt;&gt;)</a:t>
            </a:r>
            <a:endParaRPr lang="en-US">
              <a:solidFill>
                <a:schemeClr val="bg2">
                  <a:lumMod val="50000"/>
                </a:schemeClr>
              </a:solidFill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1383016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/>
              <a:t>Example…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>
                <a:solidFill>
                  <a:srgbClr val="0000CD"/>
                </a:solidFill>
                <a:latin typeface="Consolas" panose="020B0609020204030204" pitchFamily="49" charset="0"/>
              </a:rPr>
              <a:t>int</a:t>
            </a:r>
            <a:r>
              <a:rPr lang="en-US">
                <a:solidFill>
                  <a:srgbClr val="000000"/>
                </a:solidFill>
                <a:latin typeface="Consolas" panose="020B0609020204030204" pitchFamily="49" charset="0"/>
              </a:rPr>
              <a:t> x, y;</a:t>
            </a:r>
            <a:br>
              <a:rPr lang="en-US"/>
            </a:br>
            <a:r>
              <a:rPr lang="en-US">
                <a:solidFill>
                  <a:srgbClr val="0000CD"/>
                </a:solidFill>
                <a:latin typeface="Consolas" panose="020B0609020204030204" pitchFamily="49" charset="0"/>
              </a:rPr>
              <a:t>int</a:t>
            </a:r>
            <a:r>
              <a:rPr lang="en-US">
                <a:solidFill>
                  <a:srgbClr val="000000"/>
                </a:solidFill>
                <a:latin typeface="Consolas" panose="020B0609020204030204" pitchFamily="49" charset="0"/>
              </a:rPr>
              <a:t> sum;</a:t>
            </a:r>
            <a:br>
              <a:rPr lang="en-US"/>
            </a:br>
            <a:r>
              <a:rPr lang="en-US">
                <a:solidFill>
                  <a:srgbClr val="000000"/>
                </a:solidFill>
                <a:latin typeface="Consolas" panose="020B0609020204030204" pitchFamily="49" charset="0"/>
              </a:rPr>
              <a:t>cout &lt;&lt; </a:t>
            </a:r>
            <a:r>
              <a:rPr lang="en-US">
                <a:solidFill>
                  <a:srgbClr val="A52A2A"/>
                </a:solidFill>
                <a:latin typeface="Consolas" panose="020B0609020204030204" pitchFamily="49" charset="0"/>
              </a:rPr>
              <a:t>“Enter a number: "</a:t>
            </a:r>
            <a:r>
              <a:rPr lang="en-US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  <a:br>
              <a:rPr lang="en-US"/>
            </a:br>
            <a:r>
              <a:rPr lang="en-US">
                <a:solidFill>
                  <a:srgbClr val="000000"/>
                </a:solidFill>
                <a:latin typeface="Consolas" panose="020B0609020204030204" pitchFamily="49" charset="0"/>
              </a:rPr>
              <a:t>cin &gt;&gt; x;</a:t>
            </a:r>
            <a:br>
              <a:rPr lang="en-US"/>
            </a:br>
            <a:r>
              <a:rPr lang="en-US">
                <a:solidFill>
                  <a:srgbClr val="000000"/>
                </a:solidFill>
                <a:latin typeface="Consolas" panose="020B0609020204030204" pitchFamily="49" charset="0"/>
              </a:rPr>
              <a:t>cout &lt;&lt; </a:t>
            </a:r>
            <a:r>
              <a:rPr lang="en-US">
                <a:solidFill>
                  <a:srgbClr val="A52A2A"/>
                </a:solidFill>
                <a:latin typeface="Consolas" panose="020B0609020204030204" pitchFamily="49" charset="0"/>
              </a:rPr>
              <a:t>“Enter another number: "</a:t>
            </a:r>
            <a:r>
              <a:rPr lang="en-US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  <a:br>
              <a:rPr lang="en-US"/>
            </a:br>
            <a:r>
              <a:rPr lang="en-US">
                <a:solidFill>
                  <a:srgbClr val="000000"/>
                </a:solidFill>
                <a:latin typeface="Consolas" panose="020B0609020204030204" pitchFamily="49" charset="0"/>
              </a:rPr>
              <a:t>cin &gt;&gt; y;</a:t>
            </a:r>
            <a:br>
              <a:rPr lang="en-US"/>
            </a:br>
            <a:r>
              <a:rPr lang="en-US">
                <a:solidFill>
                  <a:srgbClr val="000000"/>
                </a:solidFill>
                <a:latin typeface="Consolas" panose="020B0609020204030204" pitchFamily="49" charset="0"/>
              </a:rPr>
              <a:t>sum = x + y;</a:t>
            </a:r>
            <a:br>
              <a:rPr lang="en-US"/>
            </a:br>
            <a:r>
              <a:rPr lang="en-US">
                <a:solidFill>
                  <a:srgbClr val="000000"/>
                </a:solidFill>
                <a:latin typeface="Consolas" panose="020B0609020204030204" pitchFamily="49" charset="0"/>
              </a:rPr>
              <a:t>cout &lt;&lt; </a:t>
            </a:r>
            <a:r>
              <a:rPr lang="en-US">
                <a:solidFill>
                  <a:srgbClr val="A52A2A"/>
                </a:solidFill>
                <a:latin typeface="Consolas" panose="020B0609020204030204" pitchFamily="49" charset="0"/>
              </a:rPr>
              <a:t>“The Sum is: "</a:t>
            </a:r>
            <a:r>
              <a:rPr lang="en-US">
                <a:solidFill>
                  <a:srgbClr val="000000"/>
                </a:solidFill>
                <a:latin typeface="Consolas" panose="020B0609020204030204" pitchFamily="49" charset="0"/>
              </a:rPr>
              <a:t> &lt;&lt; sum;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908844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/>
              <a:t>Data Types</a:t>
            </a:r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111041111"/>
              </p:ext>
            </p:extLst>
          </p:nvPr>
        </p:nvGraphicFramePr>
        <p:xfrm>
          <a:off x="838200" y="1825625"/>
          <a:ext cx="10515600" cy="276352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1330234">
                  <a:extLst>
                    <a:ext uri="{9D8B030D-6E8A-4147-A177-3AD203B41FA5}">
                      <a16:colId xmlns:a16="http://schemas.microsoft.com/office/drawing/2014/main" val="976614786"/>
                    </a:ext>
                  </a:extLst>
                </a:gridCol>
                <a:gridCol w="1332412">
                  <a:extLst>
                    <a:ext uri="{9D8B030D-6E8A-4147-A177-3AD203B41FA5}">
                      <a16:colId xmlns:a16="http://schemas.microsoft.com/office/drawing/2014/main" val="3913036267"/>
                    </a:ext>
                  </a:extLst>
                </a:gridCol>
                <a:gridCol w="7852954">
                  <a:extLst>
                    <a:ext uri="{9D8B030D-6E8A-4147-A177-3AD203B41FA5}">
                      <a16:colId xmlns:a16="http://schemas.microsoft.com/office/drawing/2014/main" val="144371798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Data Type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Size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Description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3287235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/>
                      <a:r>
                        <a:rPr lang="en-US" err="1"/>
                        <a:t>boolean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1 byte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Stores true or false values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6775424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/>
                      <a:r>
                        <a:rPr lang="en-US"/>
                        <a:t>char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1 byte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Stores a single character/letter/number, or ASCII values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8920587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/>
                      <a:r>
                        <a:rPr lang="en-US"/>
                        <a:t>int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2 to 4 bytes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Stores whole numbers, without decimals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967843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/>
                      <a:r>
                        <a:rPr lang="en-US"/>
                        <a:t>float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4 bytes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Stores fractional numbers, containing one or more decimals. Sufficient for storing 7 decimal digits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6222472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/>
                      <a:r>
                        <a:rPr lang="en-US"/>
                        <a:t>double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8 bytes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Stores fractional numbers, containing one or more decimals. Sufficient for storing 15 decimal digits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3616075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4519849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691696"/>
            <a:ext cx="10515600" cy="1325563"/>
          </a:xfrm>
        </p:spPr>
        <p:txBody>
          <a:bodyPr>
            <a:normAutofit fontScale="90000"/>
          </a:bodyPr>
          <a:lstStyle/>
          <a:p>
            <a:r>
              <a:rPr lang="en-US" b="1"/>
              <a:t>Operators</a:t>
            </a:r>
            <a:br>
              <a:rPr lang="en-US"/>
            </a:br>
            <a:br>
              <a:rPr lang="en-US"/>
            </a:b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Operators are used to perform operations on variables and values.</a:t>
            </a:r>
          </a:p>
          <a:p>
            <a:r>
              <a:rPr lang="en-US"/>
              <a:t>C++ divides the operators into the following groups:</a:t>
            </a:r>
          </a:p>
          <a:p>
            <a:endParaRPr lang="en-US"/>
          </a:p>
          <a:p>
            <a:pPr marL="1828800" lvl="3" indent="-457200">
              <a:buFont typeface="+mj-lt"/>
              <a:buAutoNum type="arabicPeriod"/>
            </a:pPr>
            <a:r>
              <a:rPr lang="en-US" sz="3200"/>
              <a:t>Arithmetic operators</a:t>
            </a:r>
          </a:p>
          <a:p>
            <a:pPr marL="1828800" lvl="3" indent="-457200">
              <a:buFont typeface="+mj-lt"/>
              <a:buAutoNum type="arabicPeriod"/>
            </a:pPr>
            <a:r>
              <a:rPr lang="en-US" sz="3200"/>
              <a:t>Assignment operators</a:t>
            </a:r>
          </a:p>
          <a:p>
            <a:pPr marL="1828800" lvl="3" indent="-457200">
              <a:buFont typeface="+mj-lt"/>
              <a:buAutoNum type="arabicPeriod"/>
            </a:pPr>
            <a:r>
              <a:rPr lang="en-US" sz="3200"/>
              <a:t>Comparison operators</a:t>
            </a:r>
          </a:p>
          <a:p>
            <a:pPr marL="1828800" lvl="3" indent="-457200">
              <a:buFont typeface="+mj-lt"/>
              <a:buAutoNum type="arabicPeriod"/>
            </a:pPr>
            <a:r>
              <a:rPr lang="en-US" sz="3200"/>
              <a:t>Logical operators</a:t>
            </a:r>
          </a:p>
        </p:txBody>
      </p:sp>
    </p:spTree>
    <p:extLst>
      <p:ext uri="{BB962C8B-B14F-4D97-AF65-F5344CB8AC3E}">
        <p14:creationId xmlns:p14="http://schemas.microsoft.com/office/powerpoint/2010/main" val="247513394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3" algn="l" rtl="0">
              <a:lnSpc>
                <a:spcPct val="90000"/>
              </a:lnSpc>
              <a:spcBef>
                <a:spcPct val="0"/>
              </a:spcBef>
            </a:pPr>
            <a:r>
              <a:rPr lang="en-US" sz="3200" b="1">
                <a:latin typeface="+mj-lt"/>
              </a:rPr>
              <a:t>Arithmetic operators</a:t>
            </a:r>
            <a:br>
              <a:rPr lang="en-US" sz="3200"/>
            </a:br>
            <a:endParaRPr lang="en-US"/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051361211"/>
              </p:ext>
            </p:extLst>
          </p:nvPr>
        </p:nvGraphicFramePr>
        <p:xfrm>
          <a:off x="838200" y="2570207"/>
          <a:ext cx="10515600" cy="296672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1800497">
                  <a:extLst>
                    <a:ext uri="{9D8B030D-6E8A-4147-A177-3AD203B41FA5}">
                      <a16:colId xmlns:a16="http://schemas.microsoft.com/office/drawing/2014/main" val="2681184866"/>
                    </a:ext>
                  </a:extLst>
                </a:gridCol>
                <a:gridCol w="1789612">
                  <a:extLst>
                    <a:ext uri="{9D8B030D-6E8A-4147-A177-3AD203B41FA5}">
                      <a16:colId xmlns:a16="http://schemas.microsoft.com/office/drawing/2014/main" val="1271207182"/>
                    </a:ext>
                  </a:extLst>
                </a:gridCol>
                <a:gridCol w="4296591">
                  <a:extLst>
                    <a:ext uri="{9D8B030D-6E8A-4147-A177-3AD203B41FA5}">
                      <a16:colId xmlns:a16="http://schemas.microsoft.com/office/drawing/2014/main" val="1393158600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105351342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Operator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Description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Example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938865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1"/>
                        <a:t>+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/>
                        <a:t>Addition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0" i="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Adds together two values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err="1"/>
                        <a:t>a+b</a:t>
                      </a:r>
                      <a:endParaRPr lang="en-US" b="1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876456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1"/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/>
                        <a:t>Subtraction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Subtracts one value from another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/>
                        <a:t>a-b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6743236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1"/>
                        <a:t>*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/>
                        <a:t>Multiplication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Multiplies two values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/>
                        <a:t>a*b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5723804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1"/>
                        <a:t>/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/>
                        <a:t>Division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Divides one value by another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/>
                        <a:t>a/b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3957500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1"/>
                        <a:t>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/>
                        <a:t>Modulus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Returns the division remainder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err="1"/>
                        <a:t>a%b</a:t>
                      </a:r>
                      <a:endParaRPr lang="en-US" b="1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8046202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1"/>
                        <a:t>++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/>
                        <a:t>Increment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Increases the value of a variable by 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/>
                        <a:t>++a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9176465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1"/>
                        <a:t>--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/>
                        <a:t>Decrement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Decreases the value of a variable by 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/>
                        <a:t>--a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31670969"/>
                  </a:ext>
                </a:extLst>
              </a:tr>
            </a:tbl>
          </a:graphicData>
        </a:graphic>
      </p:graphicFrame>
      <p:sp>
        <p:nvSpPr>
          <p:cNvPr id="5" name="Rectangle 4"/>
          <p:cNvSpPr/>
          <p:nvPr/>
        </p:nvSpPr>
        <p:spPr>
          <a:xfrm>
            <a:off x="838200" y="1690688"/>
            <a:ext cx="1001703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/>
              <a:t>Arithmetic operators are used to perform common mathematical operations.</a:t>
            </a:r>
          </a:p>
        </p:txBody>
      </p:sp>
    </p:spTree>
    <p:extLst>
      <p:ext uri="{BB962C8B-B14F-4D97-AF65-F5344CB8AC3E}">
        <p14:creationId xmlns:p14="http://schemas.microsoft.com/office/powerpoint/2010/main" val="423219978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b="1"/>
              <a:t>Assignment</a:t>
            </a:r>
            <a:r>
              <a:rPr lang="en-US" b="1"/>
              <a:t> </a:t>
            </a:r>
            <a:r>
              <a:rPr lang="en-US" sz="3200" b="1"/>
              <a:t>Operators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Assignment operators are used to assign values to variables.</a:t>
            </a:r>
          </a:p>
          <a:p>
            <a:endParaRPr lang="en-US"/>
          </a:p>
          <a:p>
            <a:endParaRPr lang="en-US"/>
          </a:p>
        </p:txBody>
      </p:sp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75772214"/>
              </p:ext>
            </p:extLst>
          </p:nvPr>
        </p:nvGraphicFramePr>
        <p:xfrm>
          <a:off x="1180738" y="2783598"/>
          <a:ext cx="3245394" cy="2108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45394">
                  <a:extLst>
                    <a:ext uri="{9D8B030D-6E8A-4147-A177-3AD203B41FA5}">
                      <a16:colId xmlns:a16="http://schemas.microsoft.com/office/drawing/2014/main" val="341373876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Assignment Operators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3084139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=	x = 5	x = 5	</a:t>
                      </a:r>
                    </a:p>
                    <a:p>
                      <a:r>
                        <a:rPr lang="en-US"/>
                        <a:t>+=	x += 3	x = x + 3	</a:t>
                      </a:r>
                    </a:p>
                    <a:p>
                      <a:r>
                        <a:rPr lang="en-US"/>
                        <a:t>-=	x -= 3	x = x - 3	</a:t>
                      </a:r>
                    </a:p>
                    <a:p>
                      <a:r>
                        <a:rPr lang="en-US"/>
                        <a:t>*=	x *= 3	x = x * 3	</a:t>
                      </a:r>
                    </a:p>
                    <a:p>
                      <a:r>
                        <a:rPr lang="en-US"/>
                        <a:t>/=	x /= 3	x = x / 3	</a:t>
                      </a:r>
                    </a:p>
                    <a:p>
                      <a:r>
                        <a:rPr lang="en-US"/>
                        <a:t>%=	x %= 3	x = x % 3	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26287991"/>
                  </a:ext>
                </a:extLst>
              </a:tr>
            </a:tbl>
          </a:graphicData>
        </a:graphic>
      </p:graphicFrame>
      <p:sp>
        <p:nvSpPr>
          <p:cNvPr id="7" name="Rectangle 6"/>
          <p:cNvSpPr/>
          <p:nvPr/>
        </p:nvSpPr>
        <p:spPr>
          <a:xfrm>
            <a:off x="5094515" y="2783598"/>
            <a:ext cx="1449977" cy="210820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  <a:p>
            <a:r>
              <a:rPr lang="en-US" b="1"/>
              <a:t>int main() {</a:t>
            </a:r>
          </a:p>
          <a:p>
            <a:r>
              <a:rPr lang="en-US" b="1"/>
              <a:t>   int x = 3;</a:t>
            </a:r>
          </a:p>
          <a:p>
            <a:r>
              <a:rPr lang="en-US" b="1"/>
              <a:t>   x += 3;</a:t>
            </a:r>
          </a:p>
          <a:p>
            <a:r>
              <a:rPr lang="en-US" b="1"/>
              <a:t>   cout &lt;&lt; x;</a:t>
            </a:r>
          </a:p>
          <a:p>
            <a:pPr algn="ctr"/>
            <a:r>
              <a:rPr lang="en-US"/>
              <a:t>  </a:t>
            </a:r>
          </a:p>
        </p:txBody>
      </p:sp>
      <p:sp>
        <p:nvSpPr>
          <p:cNvPr id="8" name="Rectangle 7"/>
          <p:cNvSpPr/>
          <p:nvPr/>
        </p:nvSpPr>
        <p:spPr>
          <a:xfrm>
            <a:off x="7049590" y="2783598"/>
            <a:ext cx="1632857" cy="21082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b="1"/>
              <a:t>int main() {</a:t>
            </a:r>
          </a:p>
          <a:p>
            <a:r>
              <a:rPr lang="fr-FR" b="1"/>
              <a:t>  double x = 5;</a:t>
            </a:r>
          </a:p>
          <a:p>
            <a:r>
              <a:rPr lang="fr-FR" b="1"/>
              <a:t>  x /= 2;</a:t>
            </a:r>
          </a:p>
          <a:p>
            <a:r>
              <a:rPr lang="fr-FR" b="1"/>
              <a:t>  cout &lt;&lt; x;</a:t>
            </a:r>
            <a:endParaRPr lang="en-US" b="1"/>
          </a:p>
        </p:txBody>
      </p:sp>
      <p:sp>
        <p:nvSpPr>
          <p:cNvPr id="9" name="Rectangle 8"/>
          <p:cNvSpPr/>
          <p:nvPr/>
        </p:nvSpPr>
        <p:spPr>
          <a:xfrm>
            <a:off x="9187545" y="2783598"/>
            <a:ext cx="1463040" cy="21082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b="1"/>
              <a:t>int main() {</a:t>
            </a:r>
          </a:p>
          <a:p>
            <a:r>
              <a:rPr lang="fr-FR" b="1"/>
              <a:t>  int x = 5;</a:t>
            </a:r>
          </a:p>
          <a:p>
            <a:r>
              <a:rPr lang="fr-FR" b="1"/>
              <a:t>  x %= 2;</a:t>
            </a:r>
          </a:p>
          <a:p>
            <a:r>
              <a:rPr lang="fr-FR" b="1"/>
              <a:t>  cout &lt;&lt; x;</a:t>
            </a:r>
            <a:endParaRPr lang="en-US" b="1"/>
          </a:p>
        </p:txBody>
      </p:sp>
    </p:spTree>
    <p:extLst>
      <p:ext uri="{BB962C8B-B14F-4D97-AF65-F5344CB8AC3E}">
        <p14:creationId xmlns:p14="http://schemas.microsoft.com/office/powerpoint/2010/main" val="56426254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b="1"/>
              <a:t>Comparison Operators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Comparison operators are used to compare two values.</a:t>
            </a:r>
          </a:p>
          <a:p>
            <a:r>
              <a:rPr lang="en-US"/>
              <a:t> The return value of a comparison is either true (1) or false (0).</a:t>
            </a:r>
          </a:p>
          <a:p>
            <a:endParaRPr lang="en-US"/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56634660"/>
              </p:ext>
            </p:extLst>
          </p:nvPr>
        </p:nvGraphicFramePr>
        <p:xfrm>
          <a:off x="973908" y="2837180"/>
          <a:ext cx="4564743" cy="3474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564743">
                  <a:extLst>
                    <a:ext uri="{9D8B030D-6E8A-4147-A177-3AD203B41FA5}">
                      <a16:colId xmlns:a16="http://schemas.microsoft.com/office/drawing/2014/main" val="575967647"/>
                    </a:ext>
                  </a:extLst>
                </a:gridCol>
              </a:tblGrid>
              <a:tr h="346650"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Comparison Operators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11649030"/>
                  </a:ext>
                </a:extLst>
              </a:tr>
              <a:tr h="2946521">
                <a:tc>
                  <a:txBody>
                    <a:bodyPr/>
                    <a:lstStyle/>
                    <a:p>
                      <a:r>
                        <a:rPr lang="en-US"/>
                        <a:t>==	Equal to	                                  x == y	</a:t>
                      </a:r>
                    </a:p>
                    <a:p>
                      <a:r>
                        <a:rPr lang="en-US"/>
                        <a:t>!=	Not equal	                 x != y	</a:t>
                      </a:r>
                    </a:p>
                    <a:p>
                      <a:r>
                        <a:rPr lang="en-US"/>
                        <a:t>&gt;	Greater than	                 x &gt; y	</a:t>
                      </a:r>
                    </a:p>
                    <a:p>
                      <a:r>
                        <a:rPr lang="en-US"/>
                        <a:t>&lt;	Less than                   	x &lt; y	</a:t>
                      </a:r>
                    </a:p>
                    <a:p>
                      <a:r>
                        <a:rPr lang="en-US"/>
                        <a:t>&gt;=	Greater than or equal to	x &gt;= y	</a:t>
                      </a:r>
                    </a:p>
                    <a:p>
                      <a:r>
                        <a:rPr lang="en-US"/>
                        <a:t>&lt;=	Less than or equal to	x &lt;= 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2651269"/>
                  </a:ext>
                </a:extLst>
              </a:tr>
            </a:tbl>
          </a:graphicData>
        </a:graphic>
      </p:graphicFrame>
      <p:sp>
        <p:nvSpPr>
          <p:cNvPr id="5" name="Rectangle 4"/>
          <p:cNvSpPr/>
          <p:nvPr/>
        </p:nvSpPr>
        <p:spPr>
          <a:xfrm>
            <a:off x="5930536" y="3018729"/>
            <a:ext cx="1776549" cy="143570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b="1">
                <a:solidFill>
                  <a:schemeClr val="tx1"/>
                </a:solidFill>
              </a:rPr>
              <a:t>int x = 6;</a:t>
            </a:r>
          </a:p>
          <a:p>
            <a:r>
              <a:rPr lang="fr-FR" b="1">
                <a:solidFill>
                  <a:schemeClr val="tx1"/>
                </a:solidFill>
              </a:rPr>
              <a:t>int y = 2;</a:t>
            </a:r>
          </a:p>
          <a:p>
            <a:r>
              <a:rPr lang="fr-FR" b="1">
                <a:solidFill>
                  <a:schemeClr val="tx1"/>
                </a:solidFill>
              </a:rPr>
              <a:t>cout &lt;&lt; (x &gt; y);</a:t>
            </a:r>
            <a:endParaRPr lang="en-US" b="1">
              <a:solidFill>
                <a:schemeClr val="tx1"/>
              </a:solidFill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5930537" y="4924697"/>
            <a:ext cx="1776548" cy="128016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b="1">
                <a:solidFill>
                  <a:schemeClr val="tx1"/>
                </a:solidFill>
              </a:rPr>
              <a:t>int x = 5;</a:t>
            </a:r>
          </a:p>
          <a:p>
            <a:r>
              <a:rPr lang="fr-FR" b="1">
                <a:solidFill>
                  <a:schemeClr val="tx1"/>
                </a:solidFill>
              </a:rPr>
              <a:t>int y = 3;</a:t>
            </a:r>
          </a:p>
          <a:p>
            <a:r>
              <a:rPr lang="fr-FR" b="1">
                <a:solidFill>
                  <a:schemeClr val="tx1"/>
                </a:solidFill>
              </a:rPr>
              <a:t>cout &lt;&lt; (x !=y);</a:t>
            </a:r>
            <a:endParaRPr lang="en-US" b="1">
              <a:solidFill>
                <a:schemeClr val="tx1"/>
              </a:solidFill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8386354" y="3018729"/>
            <a:ext cx="1815737" cy="143570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/>
              <a:t> </a:t>
            </a:r>
            <a:r>
              <a:rPr lang="fr-FR" b="1">
                <a:solidFill>
                  <a:schemeClr val="tx1"/>
                </a:solidFill>
              </a:rPr>
              <a:t>int x = 5;</a:t>
            </a:r>
          </a:p>
          <a:p>
            <a:r>
              <a:rPr lang="fr-FR" b="1">
                <a:solidFill>
                  <a:schemeClr val="tx1"/>
                </a:solidFill>
              </a:rPr>
              <a:t> int y = 2;</a:t>
            </a:r>
          </a:p>
          <a:p>
            <a:r>
              <a:rPr lang="fr-FR" b="1">
                <a:solidFill>
                  <a:schemeClr val="tx1"/>
                </a:solidFill>
              </a:rPr>
              <a:t> cout &lt;&lt; (x &gt;= y);</a:t>
            </a:r>
            <a:endParaRPr lang="en-US" b="1">
              <a:solidFill>
                <a:schemeClr val="tx1"/>
              </a:solidFill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8386354" y="4896803"/>
            <a:ext cx="1815737" cy="128016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b="1">
                <a:solidFill>
                  <a:schemeClr val="tx1"/>
                </a:solidFill>
              </a:rPr>
              <a:t> int x = 5;</a:t>
            </a:r>
          </a:p>
          <a:p>
            <a:r>
              <a:rPr lang="fr-FR" b="1">
                <a:solidFill>
                  <a:schemeClr val="tx1"/>
                </a:solidFill>
              </a:rPr>
              <a:t> int y = 5;</a:t>
            </a:r>
          </a:p>
          <a:p>
            <a:r>
              <a:rPr lang="fr-FR" b="1">
                <a:solidFill>
                  <a:schemeClr val="tx1"/>
                </a:solidFill>
              </a:rPr>
              <a:t> cout &lt;&lt; (x &gt;= y);</a:t>
            </a:r>
            <a:endParaRPr lang="en-US" b="1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6048804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b="1"/>
              <a:t>Logical Operators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Logical operators are used to determine the logic between variables or values.</a:t>
            </a:r>
          </a:p>
          <a:p>
            <a:endParaRPr lang="en-US"/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7410184"/>
              </p:ext>
            </p:extLst>
          </p:nvPr>
        </p:nvGraphicFramePr>
        <p:xfrm>
          <a:off x="1039223" y="3070980"/>
          <a:ext cx="10194836" cy="148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81463">
                  <a:extLst>
                    <a:ext uri="{9D8B030D-6E8A-4147-A177-3AD203B41FA5}">
                      <a16:colId xmlns:a16="http://schemas.microsoft.com/office/drawing/2014/main" val="2730575960"/>
                    </a:ext>
                  </a:extLst>
                </a:gridCol>
                <a:gridCol w="1541417">
                  <a:extLst>
                    <a:ext uri="{9D8B030D-6E8A-4147-A177-3AD203B41FA5}">
                      <a16:colId xmlns:a16="http://schemas.microsoft.com/office/drawing/2014/main" val="2922121562"/>
                    </a:ext>
                  </a:extLst>
                </a:gridCol>
                <a:gridCol w="4923247">
                  <a:extLst>
                    <a:ext uri="{9D8B030D-6E8A-4147-A177-3AD203B41FA5}">
                      <a16:colId xmlns:a16="http://schemas.microsoft.com/office/drawing/2014/main" val="1019096008"/>
                    </a:ext>
                  </a:extLst>
                </a:gridCol>
                <a:gridCol w="2548709">
                  <a:extLst>
                    <a:ext uri="{9D8B030D-6E8A-4147-A177-3AD203B41FA5}">
                      <a16:colId xmlns:a16="http://schemas.microsoft.com/office/drawing/2014/main" val="213455573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Operator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Description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Example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1988245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&amp;&amp;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Logical and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Returns true if both statements are true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x &lt; 5 &amp;&amp;  x &lt; 10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2252382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||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Logical 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Returns true if one of the statements is true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x &lt; 5 || x &lt; 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9485562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!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Logical</a:t>
                      </a:r>
                      <a:r>
                        <a:rPr lang="en-US" baseline="0"/>
                        <a:t> not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Reverse the result, returns false if the result is true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!(x &lt; 5 &amp;&amp; x &lt; 10)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8055155"/>
                  </a:ext>
                </a:extLst>
              </a:tr>
            </a:tbl>
          </a:graphicData>
        </a:graphic>
      </p:graphicFrame>
      <p:sp>
        <p:nvSpPr>
          <p:cNvPr id="5" name="Rectangle 4"/>
          <p:cNvSpPr/>
          <p:nvPr/>
        </p:nvSpPr>
        <p:spPr>
          <a:xfrm>
            <a:off x="1534160" y="4820194"/>
            <a:ext cx="2592251" cy="118872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b="1">
                <a:solidFill>
                  <a:schemeClr val="tx1"/>
                </a:solidFill>
              </a:rPr>
              <a:t>int x = 5;</a:t>
            </a:r>
          </a:p>
          <a:p>
            <a:r>
              <a:rPr lang="fr-FR" b="1">
                <a:solidFill>
                  <a:schemeClr val="tx1"/>
                </a:solidFill>
              </a:rPr>
              <a:t>int y = 2;</a:t>
            </a:r>
          </a:p>
          <a:p>
            <a:r>
              <a:rPr lang="fr-FR" b="1">
                <a:solidFill>
                  <a:schemeClr val="tx1"/>
                </a:solidFill>
              </a:rPr>
              <a:t>cout &lt;&lt; (x &gt; 3 &amp;&amp; y &lt; 8);</a:t>
            </a:r>
            <a:endParaRPr lang="en-US" b="1">
              <a:solidFill>
                <a:schemeClr val="tx1"/>
              </a:solidFill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4822371" y="4820194"/>
            <a:ext cx="2547257" cy="124097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b="1">
                <a:solidFill>
                  <a:schemeClr val="tx1"/>
                </a:solidFill>
              </a:rPr>
              <a:t> int x = 5;</a:t>
            </a:r>
          </a:p>
          <a:p>
            <a:r>
              <a:rPr lang="fr-FR" b="1">
                <a:solidFill>
                  <a:schemeClr val="tx1"/>
                </a:solidFill>
              </a:rPr>
              <a:t> int y = 2;</a:t>
            </a:r>
          </a:p>
          <a:p>
            <a:r>
              <a:rPr lang="fr-FR" b="1">
                <a:solidFill>
                  <a:schemeClr val="tx1"/>
                </a:solidFill>
              </a:rPr>
              <a:t> cout &lt;&lt; (x &gt; 6 || y &lt; 3);</a:t>
            </a:r>
            <a:endParaRPr lang="en-US" b="1">
              <a:solidFill>
                <a:schemeClr val="tx1"/>
              </a:solidFill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7981405" y="4820194"/>
            <a:ext cx="2743201" cy="124097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b="1">
                <a:solidFill>
                  <a:schemeClr val="tx1"/>
                </a:solidFill>
              </a:rPr>
              <a:t>int x = 5;</a:t>
            </a:r>
          </a:p>
          <a:p>
            <a:r>
              <a:rPr lang="fr-FR" b="1">
                <a:solidFill>
                  <a:schemeClr val="tx1"/>
                </a:solidFill>
              </a:rPr>
              <a:t>int y = 2;</a:t>
            </a:r>
          </a:p>
          <a:p>
            <a:r>
              <a:rPr lang="fr-FR" b="1">
                <a:solidFill>
                  <a:schemeClr val="tx1"/>
                </a:solidFill>
              </a:rPr>
              <a:t>cout &lt;&lt; (!(x &gt; 4 &amp;&amp; y &lt; 8));</a:t>
            </a:r>
            <a:endParaRPr lang="en-US" b="1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1996084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/>
              <a:t>Strings &amp; String Concatenation</a:t>
            </a:r>
            <a:br>
              <a:rPr lang="en-US"/>
            </a:br>
            <a:endParaRPr lang="en-US" b="1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344067"/>
            <a:ext cx="10970623" cy="4351338"/>
          </a:xfrm>
        </p:spPr>
        <p:txBody>
          <a:bodyPr/>
          <a:lstStyle/>
          <a:p>
            <a:r>
              <a:rPr lang="en-US"/>
              <a:t>Strings are used for storing text.</a:t>
            </a:r>
          </a:p>
          <a:p>
            <a:r>
              <a:rPr lang="en-US"/>
              <a:t>A string variable contains a collection of characters surrounded by double quotes.</a:t>
            </a:r>
          </a:p>
          <a:p>
            <a:pPr marL="0" indent="0">
              <a:buNone/>
            </a:pPr>
            <a:r>
              <a:rPr lang="en-US">
                <a:solidFill>
                  <a:srgbClr val="00B050"/>
                </a:solidFill>
              </a:rPr>
              <a:t>string</a:t>
            </a:r>
            <a:r>
              <a:rPr lang="en-US"/>
              <a:t> </a:t>
            </a:r>
            <a:r>
              <a:rPr lang="en-US" err="1"/>
              <a:t>Mycourse</a:t>
            </a:r>
            <a:r>
              <a:rPr lang="en-US"/>
              <a:t> = </a:t>
            </a:r>
            <a:r>
              <a:rPr lang="en-US">
                <a:solidFill>
                  <a:schemeClr val="accent1">
                    <a:lumMod val="50000"/>
                  </a:schemeClr>
                </a:solidFill>
              </a:rPr>
              <a:t>“C++” </a:t>
            </a:r>
            <a:r>
              <a:rPr lang="en-US"/>
              <a:t>;</a:t>
            </a:r>
          </a:p>
          <a:p>
            <a:pPr marL="0" indent="0">
              <a:buNone/>
            </a:pPr>
            <a:r>
              <a:rPr lang="en-US">
                <a:solidFill>
                  <a:srgbClr val="00B050"/>
                </a:solidFill>
              </a:rPr>
              <a:t>cout</a:t>
            </a:r>
            <a:r>
              <a:rPr lang="en-US"/>
              <a:t>&lt;&lt; </a:t>
            </a:r>
            <a:r>
              <a:rPr lang="en-US" err="1"/>
              <a:t>Mycourse</a:t>
            </a:r>
            <a:r>
              <a:rPr lang="en-US"/>
              <a:t>;</a:t>
            </a:r>
          </a:p>
          <a:p>
            <a:r>
              <a:rPr lang="en-US"/>
              <a:t>The + operator can be used between strings to add them together to make a new string. This is called </a:t>
            </a:r>
            <a:r>
              <a:rPr lang="en-US" b="1"/>
              <a:t>concatenation.</a:t>
            </a:r>
          </a:p>
        </p:txBody>
      </p:sp>
      <p:sp>
        <p:nvSpPr>
          <p:cNvPr id="5" name="Rectangle 4"/>
          <p:cNvSpPr/>
          <p:nvPr/>
        </p:nvSpPr>
        <p:spPr>
          <a:xfrm>
            <a:off x="3383282" y="4767943"/>
            <a:ext cx="4532810" cy="134547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b="1">
                <a:solidFill>
                  <a:schemeClr val="tx1"/>
                </a:solidFill>
              </a:rPr>
              <a:t> string firstName = “Rahim";</a:t>
            </a:r>
          </a:p>
          <a:p>
            <a:r>
              <a:rPr lang="en-US" b="1">
                <a:solidFill>
                  <a:schemeClr val="tx1"/>
                </a:solidFill>
              </a:rPr>
              <a:t> string lastName = “Miah";</a:t>
            </a:r>
          </a:p>
          <a:p>
            <a:r>
              <a:rPr lang="en-US" b="1">
                <a:solidFill>
                  <a:schemeClr val="tx1"/>
                </a:solidFill>
              </a:rPr>
              <a:t> string fullName = firstName + "" + lastName;</a:t>
            </a:r>
          </a:p>
          <a:p>
            <a:r>
              <a:rPr lang="en-US" b="1">
                <a:solidFill>
                  <a:schemeClr val="tx1"/>
                </a:solidFill>
              </a:rPr>
              <a:t> cout &lt;&lt; fullName;</a:t>
            </a:r>
          </a:p>
        </p:txBody>
      </p:sp>
    </p:spTree>
    <p:extLst>
      <p:ext uri="{BB962C8B-B14F-4D97-AF65-F5344CB8AC3E}">
        <p14:creationId xmlns:p14="http://schemas.microsoft.com/office/powerpoint/2010/main" val="171604456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/>
              <a:t>Append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A string in C++ is actually an object, which contain functions that can perform certain operations on strings. For example, you can also concatenate strings with the append() function.</a:t>
            </a:r>
          </a:p>
          <a:p>
            <a:r>
              <a:rPr lang="en-US">
                <a:solidFill>
                  <a:srgbClr val="FF0000"/>
                </a:solidFill>
              </a:rPr>
              <a:t>NB: </a:t>
            </a:r>
            <a:r>
              <a:rPr lang="en-US"/>
              <a:t>C++ uses the + operator for both addition and concatenation. Numbers are added. Strings are concatenated.</a:t>
            </a:r>
          </a:p>
        </p:txBody>
      </p:sp>
      <p:sp>
        <p:nvSpPr>
          <p:cNvPr id="4" name="Rectangle 3"/>
          <p:cNvSpPr/>
          <p:nvPr/>
        </p:nvSpPr>
        <p:spPr>
          <a:xfrm>
            <a:off x="949234" y="4167051"/>
            <a:ext cx="5146766" cy="143691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b="1">
                <a:solidFill>
                  <a:schemeClr val="tx1"/>
                </a:solidFill>
              </a:rPr>
              <a:t> string firstName = “Rahim ";</a:t>
            </a:r>
          </a:p>
          <a:p>
            <a:r>
              <a:rPr lang="en-US" b="1">
                <a:solidFill>
                  <a:schemeClr val="tx1"/>
                </a:solidFill>
              </a:rPr>
              <a:t> string lastName = “Miah";</a:t>
            </a:r>
          </a:p>
          <a:p>
            <a:r>
              <a:rPr lang="en-US" b="1">
                <a:solidFill>
                  <a:schemeClr val="tx1"/>
                </a:solidFill>
              </a:rPr>
              <a:t> string fullName = firstName.append(lastName);</a:t>
            </a:r>
          </a:p>
          <a:p>
            <a:r>
              <a:rPr lang="en-US" b="1">
                <a:solidFill>
                  <a:schemeClr val="tx1"/>
                </a:solidFill>
              </a:rPr>
              <a:t> cout &lt;&lt; fullName;</a:t>
            </a:r>
          </a:p>
        </p:txBody>
      </p:sp>
      <p:sp>
        <p:nvSpPr>
          <p:cNvPr id="5" name="Rectangle 4"/>
          <p:cNvSpPr/>
          <p:nvPr/>
        </p:nvSpPr>
        <p:spPr>
          <a:xfrm>
            <a:off x="6461760" y="4153988"/>
            <a:ext cx="2377440" cy="14630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/>
              <a:t> </a:t>
            </a:r>
            <a:r>
              <a:rPr lang="en-US" b="1">
                <a:solidFill>
                  <a:schemeClr val="tx1"/>
                </a:solidFill>
              </a:rPr>
              <a:t>string x = “20";</a:t>
            </a:r>
          </a:p>
          <a:p>
            <a:r>
              <a:rPr lang="en-US" b="1">
                <a:solidFill>
                  <a:schemeClr val="tx1"/>
                </a:solidFill>
              </a:rPr>
              <a:t> string y = “30";</a:t>
            </a:r>
          </a:p>
          <a:p>
            <a:r>
              <a:rPr lang="en-US" b="1">
                <a:solidFill>
                  <a:schemeClr val="tx1"/>
                </a:solidFill>
              </a:rPr>
              <a:t> string z = x + y;</a:t>
            </a:r>
          </a:p>
          <a:p>
            <a:r>
              <a:rPr lang="en-US" b="1">
                <a:solidFill>
                  <a:schemeClr val="tx1"/>
                </a:solidFill>
              </a:rPr>
              <a:t> cout &lt;&lt; z;</a:t>
            </a:r>
          </a:p>
        </p:txBody>
      </p:sp>
      <p:sp>
        <p:nvSpPr>
          <p:cNvPr id="6" name="Rectangle 5"/>
          <p:cNvSpPr/>
          <p:nvPr/>
        </p:nvSpPr>
        <p:spPr>
          <a:xfrm>
            <a:off x="9204960" y="4153988"/>
            <a:ext cx="2259874" cy="143691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b="1">
                <a:solidFill>
                  <a:schemeClr val="tx1"/>
                </a:solidFill>
              </a:rPr>
              <a:t>string x = “20";</a:t>
            </a:r>
          </a:p>
          <a:p>
            <a:r>
              <a:rPr lang="en-US" b="1">
                <a:solidFill>
                  <a:schemeClr val="tx1"/>
                </a:solidFill>
              </a:rPr>
              <a:t>int y = 30;</a:t>
            </a:r>
          </a:p>
          <a:p>
            <a:r>
              <a:rPr lang="en-US" b="1">
                <a:solidFill>
                  <a:schemeClr val="tx1"/>
                </a:solidFill>
              </a:rPr>
              <a:t>string z = x + y;</a:t>
            </a:r>
          </a:p>
        </p:txBody>
      </p:sp>
    </p:spTree>
    <p:extLst>
      <p:ext uri="{BB962C8B-B14F-4D97-AF65-F5344CB8AC3E}">
        <p14:creationId xmlns:p14="http://schemas.microsoft.com/office/powerpoint/2010/main" val="339616648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/>
              <a:t>User Input Strings</a:t>
            </a:r>
            <a:br>
              <a:rPr lang="en-US"/>
            </a:b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  <a:p>
            <a:endParaRPr lang="en-US"/>
          </a:p>
        </p:txBody>
      </p:sp>
      <p:sp>
        <p:nvSpPr>
          <p:cNvPr id="5" name="Rectangle 4"/>
          <p:cNvSpPr/>
          <p:nvPr/>
        </p:nvSpPr>
        <p:spPr>
          <a:xfrm>
            <a:off x="838200" y="1825625"/>
            <a:ext cx="3799114" cy="146621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>
                <a:solidFill>
                  <a:schemeClr val="tx1"/>
                </a:solidFill>
              </a:rPr>
              <a:t> string fullName;</a:t>
            </a:r>
          </a:p>
          <a:p>
            <a:r>
              <a:rPr lang="en-US">
                <a:solidFill>
                  <a:schemeClr val="tx1"/>
                </a:solidFill>
              </a:rPr>
              <a:t> cout &lt;&lt; “Enter Your Full Name: ";</a:t>
            </a:r>
          </a:p>
          <a:p>
            <a:r>
              <a:rPr lang="en-US">
                <a:solidFill>
                  <a:schemeClr val="tx1"/>
                </a:solidFill>
              </a:rPr>
              <a:t> cin &gt;&gt; fullName;</a:t>
            </a:r>
          </a:p>
          <a:p>
            <a:r>
              <a:rPr lang="en-US">
                <a:solidFill>
                  <a:schemeClr val="tx1"/>
                </a:solidFill>
              </a:rPr>
              <a:t> cout &lt;&lt; "Your Name is: " &lt;&lt; fullName</a:t>
            </a:r>
            <a:r>
              <a:rPr lang="en-US"/>
              <a:t>; </a:t>
            </a:r>
          </a:p>
        </p:txBody>
      </p:sp>
      <p:sp>
        <p:nvSpPr>
          <p:cNvPr id="6" name="Rectangle 5"/>
          <p:cNvSpPr/>
          <p:nvPr/>
        </p:nvSpPr>
        <p:spPr>
          <a:xfrm>
            <a:off x="838201" y="3876494"/>
            <a:ext cx="3826546" cy="146621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>
                <a:solidFill>
                  <a:schemeClr val="tx1"/>
                </a:solidFill>
              </a:rPr>
              <a:t>string fullName;</a:t>
            </a:r>
          </a:p>
          <a:p>
            <a:r>
              <a:rPr lang="en-US">
                <a:solidFill>
                  <a:schemeClr val="tx1"/>
                </a:solidFill>
              </a:rPr>
              <a:t>cout &lt;&lt; “Enter Your Full Name: ";</a:t>
            </a:r>
          </a:p>
          <a:p>
            <a:r>
              <a:rPr lang="en-US">
                <a:solidFill>
                  <a:schemeClr val="tx1"/>
                </a:solidFill>
              </a:rPr>
              <a:t>getline (cin, fullName);</a:t>
            </a:r>
          </a:p>
          <a:p>
            <a:r>
              <a:rPr lang="en-US">
                <a:solidFill>
                  <a:schemeClr val="tx1"/>
                </a:solidFill>
              </a:rPr>
              <a:t>cout &lt;&lt; "Your Name is: " &lt;&lt; fullName;</a:t>
            </a:r>
          </a:p>
        </p:txBody>
      </p:sp>
      <p:sp>
        <p:nvSpPr>
          <p:cNvPr id="7" name="Rectangle 6"/>
          <p:cNvSpPr/>
          <p:nvPr/>
        </p:nvSpPr>
        <p:spPr>
          <a:xfrm>
            <a:off x="5643154" y="1825625"/>
            <a:ext cx="5355772" cy="146621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r>
              <a:rPr lang="en-US">
                <a:solidFill>
                  <a:schemeClr val="tx1"/>
                </a:solidFill>
              </a:rPr>
              <a:t>However, cin considers a space (whitespace, tabs, etc) as a terminating character, which means that it can only display a single word (even if you type many words):</a:t>
            </a:r>
          </a:p>
        </p:txBody>
      </p:sp>
      <p:sp>
        <p:nvSpPr>
          <p:cNvPr id="8" name="Right Arrow 7"/>
          <p:cNvSpPr/>
          <p:nvPr/>
        </p:nvSpPr>
        <p:spPr>
          <a:xfrm>
            <a:off x="4664746" y="2316416"/>
            <a:ext cx="978408" cy="484632"/>
          </a:xfrm>
          <a:prstGeom prst="rightArrow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5643154" y="3876494"/>
            <a:ext cx="5473337" cy="146621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r>
              <a:rPr lang="en-US">
                <a:solidFill>
                  <a:schemeClr val="tx1"/>
                </a:solidFill>
              </a:rPr>
              <a:t> when working with strings, we often use the getline() function to read a line of text. It takes cin as the first parameter, and the string variable as second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4664746" y="4367286"/>
            <a:ext cx="978408" cy="484631"/>
          </a:xfrm>
          <a:prstGeom prst="rightArrow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1607056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/>
              <a:t>Math's</a:t>
            </a:r>
          </a:p>
        </p:txBody>
      </p:sp>
      <p:pic>
        <p:nvPicPr>
          <p:cNvPr id="5" name="Content Placeholder 4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1575809"/>
            <a:ext cx="5416636" cy="4406979"/>
          </a:xfrm>
          <a:prstGeom prst="rect">
            <a:avLst/>
          </a:prstGeom>
        </p:spPr>
      </p:pic>
      <p:pic>
        <p:nvPicPr>
          <p:cNvPr id="3" name="Picture 3">
            <a:extLst>
              <a:ext uri="{FF2B5EF4-FFF2-40B4-BE49-F238E27FC236}">
                <a16:creationId xmlns:a16="http://schemas.microsoft.com/office/drawing/2014/main" id="{3630E154-8990-C2BB-5366-1C2B29905FE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80363" y="1905371"/>
            <a:ext cx="4799161" cy="35360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6657948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85399E-E8B6-5B2B-205F-DC6F7DD0AA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ea typeface="+mj-lt"/>
                <a:cs typeface="+mj-lt"/>
              </a:rPr>
              <a:t>Precedence of Operator</a:t>
            </a:r>
            <a:endParaRPr lang="en-US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6DF9110-35EB-DD2F-0FA0-D5FE393C0DC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endParaRPr lang="en-US" dirty="0"/>
          </a:p>
          <a:p>
            <a:endParaRPr lang="en-US" dirty="0">
              <a:cs typeface="Calibri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6EA9688-F2E8-5192-0B01-A4F24E5637CB}"/>
              </a:ext>
            </a:extLst>
          </p:cNvPr>
          <p:cNvSpPr/>
          <p:nvPr/>
        </p:nvSpPr>
        <p:spPr>
          <a:xfrm>
            <a:off x="5781675" y="2126896"/>
            <a:ext cx="4148666" cy="294922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sz="2000" b="1" dirty="0">
              <a:solidFill>
                <a:schemeClr val="tx1"/>
              </a:solidFill>
              <a:ea typeface="+mn-lt"/>
              <a:cs typeface="+mn-lt"/>
            </a:endParaRPr>
          </a:p>
          <a:p>
            <a:endParaRPr lang="en-US" sz="2000" b="1" dirty="0">
              <a:solidFill>
                <a:schemeClr val="tx1"/>
              </a:solidFill>
              <a:ea typeface="+mn-lt"/>
              <a:cs typeface="+mn-lt"/>
            </a:endParaRPr>
          </a:p>
          <a:p>
            <a:r>
              <a:rPr lang="en-US" sz="2000" b="1" dirty="0">
                <a:solidFill>
                  <a:schemeClr val="tx1"/>
                </a:solidFill>
                <a:ea typeface="+mn-lt"/>
                <a:cs typeface="+mn-lt"/>
              </a:rPr>
              <a:t>#include&lt;iostream&gt;</a:t>
            </a:r>
            <a:endParaRPr lang="en-US" b="1" dirty="0">
              <a:solidFill>
                <a:schemeClr val="tx1"/>
              </a:solidFill>
              <a:cs typeface="Calibri"/>
            </a:endParaRPr>
          </a:p>
          <a:p>
            <a:r>
              <a:rPr lang="en-US" sz="2000" b="1" dirty="0">
                <a:solidFill>
                  <a:schemeClr val="tx1"/>
                </a:solidFill>
                <a:ea typeface="+mn-lt"/>
                <a:cs typeface="+mn-lt"/>
              </a:rPr>
              <a:t>using namespace std;</a:t>
            </a:r>
            <a:endParaRPr lang="en-US" b="1">
              <a:solidFill>
                <a:schemeClr val="tx1"/>
              </a:solidFill>
              <a:cs typeface="Calibri"/>
            </a:endParaRPr>
          </a:p>
          <a:p>
            <a:r>
              <a:rPr lang="en-US" sz="2000" b="1" dirty="0">
                <a:solidFill>
                  <a:schemeClr val="tx1"/>
                </a:solidFill>
                <a:ea typeface="+mn-lt"/>
                <a:cs typeface="+mn-lt"/>
              </a:rPr>
              <a:t>int main()</a:t>
            </a:r>
            <a:endParaRPr lang="en-US" b="1">
              <a:solidFill>
                <a:schemeClr val="tx1"/>
              </a:solidFill>
              <a:cs typeface="Calibri"/>
            </a:endParaRPr>
          </a:p>
          <a:p>
            <a:r>
              <a:rPr lang="en-US" sz="2000" b="1" dirty="0">
                <a:solidFill>
                  <a:schemeClr val="tx1"/>
                </a:solidFill>
                <a:ea typeface="+mn-lt"/>
                <a:cs typeface="+mn-lt"/>
              </a:rPr>
              <a:t>{</a:t>
            </a:r>
            <a:endParaRPr lang="en-US" b="1">
              <a:solidFill>
                <a:schemeClr val="tx1"/>
              </a:solidFill>
              <a:cs typeface="Calibri"/>
            </a:endParaRPr>
          </a:p>
          <a:p>
            <a:r>
              <a:rPr lang="en-US" sz="2000" b="1" dirty="0">
                <a:solidFill>
                  <a:schemeClr val="tx1"/>
                </a:solidFill>
                <a:ea typeface="+mn-lt"/>
                <a:cs typeface="+mn-lt"/>
              </a:rPr>
              <a:t>    int a=2, b=3, c=6, x;</a:t>
            </a:r>
            <a:endParaRPr lang="en-US" b="1">
              <a:solidFill>
                <a:schemeClr val="tx1"/>
              </a:solidFill>
              <a:cs typeface="Calibri"/>
            </a:endParaRPr>
          </a:p>
          <a:p>
            <a:r>
              <a:rPr lang="en-US" sz="2000" b="1" dirty="0">
                <a:solidFill>
                  <a:schemeClr val="tx1"/>
                </a:solidFill>
                <a:ea typeface="+mn-lt"/>
                <a:cs typeface="+mn-lt"/>
              </a:rPr>
              <a:t>    x = a*</a:t>
            </a:r>
            <a:r>
              <a:rPr lang="en-US" sz="2000" b="1" dirty="0" err="1">
                <a:solidFill>
                  <a:schemeClr val="tx1"/>
                </a:solidFill>
                <a:ea typeface="+mn-lt"/>
                <a:cs typeface="+mn-lt"/>
              </a:rPr>
              <a:t>b+c</a:t>
            </a:r>
            <a:r>
              <a:rPr lang="en-US" sz="2000" b="1" dirty="0">
                <a:solidFill>
                  <a:schemeClr val="tx1"/>
                </a:solidFill>
                <a:ea typeface="+mn-lt"/>
                <a:cs typeface="+mn-lt"/>
              </a:rPr>
              <a:t>/a+(b-c);</a:t>
            </a:r>
            <a:endParaRPr lang="en-US" b="1">
              <a:solidFill>
                <a:schemeClr val="tx1"/>
              </a:solidFill>
              <a:cs typeface="Calibri"/>
            </a:endParaRPr>
          </a:p>
          <a:p>
            <a:r>
              <a:rPr lang="en-US" sz="2000" b="1" dirty="0">
                <a:solidFill>
                  <a:schemeClr val="tx1"/>
                </a:solidFill>
                <a:ea typeface="+mn-lt"/>
                <a:cs typeface="+mn-lt"/>
              </a:rPr>
              <a:t>    </a:t>
            </a:r>
            <a:r>
              <a:rPr lang="en-US" sz="2000" b="1" dirty="0" err="1">
                <a:solidFill>
                  <a:schemeClr val="tx1"/>
                </a:solidFill>
                <a:ea typeface="+mn-lt"/>
                <a:cs typeface="+mn-lt"/>
              </a:rPr>
              <a:t>cout</a:t>
            </a:r>
            <a:r>
              <a:rPr lang="en-US" sz="2000" b="1" dirty="0">
                <a:solidFill>
                  <a:schemeClr val="tx1"/>
                </a:solidFill>
                <a:ea typeface="+mn-lt"/>
                <a:cs typeface="+mn-lt"/>
              </a:rPr>
              <a:t>&lt;&lt;x;</a:t>
            </a:r>
            <a:endParaRPr lang="en-US" b="1">
              <a:solidFill>
                <a:schemeClr val="tx1"/>
              </a:solidFill>
              <a:cs typeface="Calibri"/>
            </a:endParaRPr>
          </a:p>
          <a:p>
            <a:r>
              <a:rPr lang="en-US" sz="2000" b="1" dirty="0">
                <a:solidFill>
                  <a:schemeClr val="tx1"/>
                </a:solidFill>
                <a:ea typeface="+mn-lt"/>
                <a:cs typeface="+mn-lt"/>
              </a:rPr>
              <a:t>    return 0;</a:t>
            </a:r>
            <a:endParaRPr lang="en-US" b="1">
              <a:solidFill>
                <a:schemeClr val="tx1"/>
              </a:solidFill>
              <a:cs typeface="Calibri"/>
            </a:endParaRPr>
          </a:p>
          <a:p>
            <a:r>
              <a:rPr lang="en-US" sz="2000" b="1" dirty="0">
                <a:solidFill>
                  <a:schemeClr val="tx1"/>
                </a:solidFill>
                <a:ea typeface="+mn-lt"/>
                <a:cs typeface="+mn-lt"/>
              </a:rPr>
              <a:t>}</a:t>
            </a:r>
            <a:endParaRPr lang="en-US" b="1">
              <a:solidFill>
                <a:schemeClr val="tx1"/>
              </a:solidFill>
              <a:cs typeface="Calibri"/>
            </a:endParaRPr>
          </a:p>
          <a:p>
            <a:endParaRPr lang="en-US" sz="2000" b="1" dirty="0">
              <a:solidFill>
                <a:schemeClr val="tx1"/>
              </a:solidFill>
              <a:cs typeface="Calibri"/>
            </a:endParaRPr>
          </a:p>
          <a:p>
            <a:pPr algn="ctr"/>
            <a:endParaRPr lang="en-US" dirty="0">
              <a:cs typeface="Calibri"/>
            </a:endParaRPr>
          </a:p>
        </p:txBody>
      </p:sp>
      <p:pic>
        <p:nvPicPr>
          <p:cNvPr id="6" name="Picture 6" descr="A picture containing text&#10;&#10;Description automatically generated">
            <a:extLst>
              <a:ext uri="{FF2B5EF4-FFF2-40B4-BE49-F238E27FC236}">
                <a16:creationId xmlns:a16="http://schemas.microsoft.com/office/drawing/2014/main" id="{938942BC-9DE8-FF1C-3FD7-FC86BEC45FB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2661" y="2122841"/>
            <a:ext cx="3292122" cy="30779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8540008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Widescreen</PresentationFormat>
  <Slides>25</Slides>
  <Notes>0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26" baseType="lpstr">
      <vt:lpstr>Office Theme</vt:lpstr>
      <vt:lpstr>Introduction to Programming</vt:lpstr>
      <vt:lpstr>Contents</vt:lpstr>
      <vt:lpstr>What is C++</vt:lpstr>
      <vt:lpstr>Example</vt:lpstr>
      <vt:lpstr>Escape Sequence &amp; Comments </vt:lpstr>
      <vt:lpstr>Escape Sequence &amp; Comments…</vt:lpstr>
      <vt:lpstr>Variables </vt:lpstr>
      <vt:lpstr>Variables…</vt:lpstr>
      <vt:lpstr>Variables…</vt:lpstr>
      <vt:lpstr>Variables…</vt:lpstr>
      <vt:lpstr>Variables…</vt:lpstr>
      <vt:lpstr>Constants </vt:lpstr>
      <vt:lpstr>User Input </vt:lpstr>
      <vt:lpstr>Example…</vt:lpstr>
      <vt:lpstr>Data Types</vt:lpstr>
      <vt:lpstr>Operators  </vt:lpstr>
      <vt:lpstr>Arithmetic operators </vt:lpstr>
      <vt:lpstr>Assignment Operators</vt:lpstr>
      <vt:lpstr>Comparison Operators</vt:lpstr>
      <vt:lpstr>Logical Operators</vt:lpstr>
      <vt:lpstr>Strings &amp; String Concatenation </vt:lpstr>
      <vt:lpstr>Append</vt:lpstr>
      <vt:lpstr>User Input Strings </vt:lpstr>
      <vt:lpstr>Math's</vt:lpstr>
      <vt:lpstr>Precedence of Operator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Introduction to Programming</dc:title>
  <dc:creator>Woishe Methila</dc:creator>
  <cp:revision>42</cp:revision>
  <dcterms:created xsi:type="dcterms:W3CDTF">2022-05-23T15:22:55Z</dcterms:created>
  <dcterms:modified xsi:type="dcterms:W3CDTF">2022-09-27T04:30:06Z</dcterms:modified>
</cp:coreProperties>
</file>