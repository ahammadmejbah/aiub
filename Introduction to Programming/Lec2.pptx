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C08134-3D84-9558-654A-9092EA6A8CDA}" v="114" dt="2022-05-31T06:39:33.094"/>
    <p1510:client id="{FE7BA6A7-EBEA-08E4-CE9B-AA4C030F1F18}" v="430" dt="2022-05-30T05:14:54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Introduction to Programming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4DEC5-A1D1-EBE1-2B99-A548BFBEC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Contents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84516-BFAC-40DD-C1B6-70EAAA86A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§"/>
            </a:pPr>
            <a:r>
              <a:rPr lang="en-US" dirty="0">
                <a:cs typeface="Calibri" panose="020F0502020204030204"/>
              </a:rPr>
              <a:t>Type Casting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 dirty="0">
                <a:cs typeface="Calibri" panose="020F0502020204030204"/>
              </a:rPr>
              <a:t>Conditions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cs typeface="Calibri" panose="020F0502020204030204"/>
              </a:rPr>
              <a:t> If</a:t>
            </a:r>
          </a:p>
          <a:p>
            <a:pPr marL="0" indent="0">
              <a:buNone/>
            </a:pPr>
            <a:r>
              <a:rPr lang="en-US" dirty="0">
                <a:cs typeface="Calibri" panose="020F0502020204030204"/>
              </a:rPr>
              <a:t>else</a:t>
            </a:r>
          </a:p>
          <a:p>
            <a:pPr marL="0" indent="0">
              <a:buNone/>
            </a:pPr>
            <a:r>
              <a:rPr lang="en-US" dirty="0">
                <a:cs typeface="Calibri" panose="020F0502020204030204"/>
              </a:rPr>
              <a:t>else if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 dirty="0">
                <a:cs typeface="Calibri" panose="020F0502020204030204"/>
              </a:rPr>
              <a:t>Switch</a:t>
            </a:r>
          </a:p>
          <a:p>
            <a:pPr>
              <a:buFont typeface="Wingdings" panose="020B0604020202020204" pitchFamily="34" charset="0"/>
              <a:buChar char="§"/>
            </a:pPr>
            <a:endParaRPr lang="en-US" dirty="0">
              <a:cs typeface="Calibri" panose="020F0502020204030204"/>
            </a:endParaRPr>
          </a:p>
          <a:p>
            <a:pPr>
              <a:buFont typeface="Wingdings" panose="020B0604020202020204" pitchFamily="34" charset="0"/>
              <a:buChar char="§"/>
            </a:pPr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19642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1ED66-1643-84D0-4D19-83A3C78C1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Type Casting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20AE0-5529-B133-1720-E1D4E2B6E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dirty="0">
                <a:ea typeface="+mn-lt"/>
                <a:cs typeface="+mn-lt"/>
              </a:rPr>
              <a:t>Converting one datatype into another is known as </a:t>
            </a:r>
            <a:r>
              <a:rPr lang="en-US" b="1" dirty="0">
                <a:ea typeface="+mn-lt"/>
                <a:cs typeface="+mn-lt"/>
              </a:rPr>
              <a:t>type casting.</a:t>
            </a:r>
          </a:p>
          <a:p>
            <a:pPr marL="457200" indent="-457200"/>
            <a:endParaRPr lang="en-US" b="1" dirty="0">
              <a:cs typeface="Calibri" panose="020F050202020403020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D2C902-FC63-5A06-D8E8-458ABCEC0ADF}"/>
              </a:ext>
            </a:extLst>
          </p:cNvPr>
          <p:cNvSpPr/>
          <p:nvPr/>
        </p:nvSpPr>
        <p:spPr>
          <a:xfrm>
            <a:off x="6142007" y="2784895"/>
            <a:ext cx="3637470" cy="26885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#include&lt;iostream&gt;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using namespace std;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int main()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{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float a= 3.45; float b= 4.57;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int z;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z= (int)a + (int) b;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cout&lt;&lt; z; //output 7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return 0;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4544FE-7F82-1C9F-3DA4-DE84D6774B1B}"/>
              </a:ext>
            </a:extLst>
          </p:cNvPr>
          <p:cNvSpPr/>
          <p:nvPr/>
        </p:nvSpPr>
        <p:spPr>
          <a:xfrm>
            <a:off x="1482845" y="2783995"/>
            <a:ext cx="3666224" cy="2688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#include&lt;iostream&gt;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using namespace std;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int main()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{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float a= 3.45; float b= 4.57;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float z = a +  b;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cout&lt;&lt; z; //output 8.02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return 0;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0653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A2234-B442-6313-FE4C-878A1AFFA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Conditions</a:t>
            </a:r>
            <a:endParaRPr lang="en-US" b="1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E7D91-634C-3DEC-057E-7C842B374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dirty="0">
                <a:ea typeface="+mn-lt"/>
                <a:cs typeface="+mn-lt"/>
              </a:rPr>
              <a:t>C++ has the following conditional statements:</a:t>
            </a:r>
            <a:endParaRPr lang="en-US"/>
          </a:p>
          <a:p>
            <a:pPr marL="514350" indent="-514350" algn="just">
              <a:buAutoNum type="arabicPeriod"/>
            </a:pPr>
            <a:r>
              <a:rPr lang="en-US" dirty="0">
                <a:ea typeface="+mn-lt"/>
                <a:cs typeface="+mn-lt"/>
              </a:rPr>
              <a:t>Use </a:t>
            </a:r>
            <a:r>
              <a:rPr lang="en-US" dirty="0">
                <a:solidFill>
                  <a:schemeClr val="accent1"/>
                </a:solidFill>
                <a:latin typeface="Consolas"/>
                <a:cs typeface="Calibri"/>
              </a:rPr>
              <a:t>if</a:t>
            </a: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 </a:t>
            </a:r>
            <a:r>
              <a:rPr lang="en-US" dirty="0">
                <a:ea typeface="+mn-lt"/>
                <a:cs typeface="+mn-lt"/>
              </a:rPr>
              <a:t>to specify a block of code to be executed, if a specified condition is true</a:t>
            </a:r>
            <a:endParaRPr lang="en-US" dirty="0">
              <a:cs typeface="Calibri"/>
            </a:endParaRPr>
          </a:p>
          <a:p>
            <a:pPr marL="514350" indent="-514350" algn="just">
              <a:buAutoNum type="arabicPeriod"/>
            </a:pPr>
            <a:r>
              <a:rPr lang="en-US" dirty="0">
                <a:ea typeface="+mn-lt"/>
                <a:cs typeface="+mn-lt"/>
              </a:rPr>
              <a:t>Use </a:t>
            </a:r>
            <a:r>
              <a:rPr lang="en-US" dirty="0">
                <a:solidFill>
                  <a:schemeClr val="accent1"/>
                </a:solidFill>
                <a:latin typeface="Consolas"/>
                <a:cs typeface="Calibri"/>
              </a:rPr>
              <a:t>else</a:t>
            </a:r>
            <a:r>
              <a:rPr lang="en-US" dirty="0">
                <a:ea typeface="+mn-lt"/>
                <a:cs typeface="+mn-lt"/>
              </a:rPr>
              <a:t> to specify a block of code to be executed, if the same condition is false</a:t>
            </a:r>
            <a:endParaRPr lang="en-US" dirty="0">
              <a:cs typeface="Calibri" panose="020F0502020204030204"/>
            </a:endParaRPr>
          </a:p>
          <a:p>
            <a:pPr marL="514350" indent="-514350" algn="just">
              <a:buAutoNum type="arabicPeriod"/>
            </a:pPr>
            <a:r>
              <a:rPr lang="en-US" dirty="0">
                <a:ea typeface="+mn-lt"/>
                <a:cs typeface="+mn-lt"/>
              </a:rPr>
              <a:t>Use </a:t>
            </a:r>
            <a:r>
              <a:rPr lang="en-US" dirty="0">
                <a:solidFill>
                  <a:schemeClr val="accent1"/>
                </a:solidFill>
                <a:latin typeface="Consolas"/>
                <a:cs typeface="Calibri"/>
              </a:rPr>
              <a:t>else if</a:t>
            </a:r>
            <a:r>
              <a:rPr lang="en-US" dirty="0">
                <a:ea typeface="+mn-lt"/>
                <a:cs typeface="+mn-lt"/>
              </a:rPr>
              <a:t> to specify a new condition to test, if the first condition is false</a:t>
            </a:r>
            <a:endParaRPr lang="en-US" dirty="0">
              <a:cs typeface="Calibri" panose="020F0502020204030204"/>
            </a:endParaRPr>
          </a:p>
          <a:p>
            <a:pPr marL="514350" indent="-514350" algn="just">
              <a:buAutoNum type="arabicPeriod"/>
            </a:pPr>
            <a:endParaRPr lang="en-US" dirty="0">
              <a:cs typeface="Calibri" panose="020F0502020204030204"/>
            </a:endParaRPr>
          </a:p>
          <a:p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83202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45B94-011D-F664-B13D-6D9AC4CF0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Conditions... (if)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713C1-54FD-7C9C-59D2-B2DD8588D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Use the </a:t>
            </a:r>
            <a:r>
              <a:rPr lang="en-US" dirty="0">
                <a:solidFill>
                  <a:schemeClr val="accent1"/>
                </a:solidFill>
                <a:latin typeface="Consolas"/>
              </a:rPr>
              <a:t>if</a:t>
            </a:r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 </a:t>
            </a:r>
            <a:r>
              <a:rPr lang="en-US" dirty="0">
                <a:ea typeface="+mn-lt"/>
                <a:cs typeface="+mn-lt"/>
              </a:rPr>
              <a:t>statement to specify a block of C++ code to be executed if a condition is </a:t>
            </a:r>
            <a:r>
              <a:rPr lang="en-US" b="1" dirty="0">
                <a:latin typeface="Consolas"/>
              </a:rPr>
              <a:t>true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dirty="0">
                <a:cs typeface="Calibri"/>
              </a:rPr>
              <a:t>Syntax--</a:t>
            </a:r>
          </a:p>
          <a:p>
            <a:pPr marL="0" indent="0">
              <a:buNone/>
            </a:pPr>
            <a:r>
              <a:rPr lang="en-US" dirty="0">
                <a:cs typeface="Calibri"/>
              </a:rPr>
              <a:t>       </a:t>
            </a:r>
            <a:r>
              <a:rPr lang="en-US" dirty="0">
                <a:ea typeface="+mn-lt"/>
                <a:cs typeface="+mn-lt"/>
              </a:rPr>
              <a:t>if (</a:t>
            </a:r>
            <a:r>
              <a:rPr lang="en-US" i="1" dirty="0">
                <a:ea typeface="+mn-lt"/>
                <a:cs typeface="+mn-lt"/>
              </a:rPr>
              <a:t>condition</a:t>
            </a:r>
            <a:r>
              <a:rPr lang="en-US" dirty="0">
                <a:ea typeface="+mn-lt"/>
                <a:cs typeface="+mn-lt"/>
              </a:rPr>
              <a:t>)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{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  </a:t>
            </a:r>
            <a:r>
              <a:rPr lang="en-US" i="1" dirty="0">
                <a:ea typeface="+mn-lt"/>
                <a:cs typeface="+mn-lt"/>
              </a:rPr>
              <a:t>// block of code to be executed if the condition is true</a:t>
            </a:r>
            <a:br>
              <a:rPr lang="en-US" i="1" dirty="0">
                <a:ea typeface="+mn-lt"/>
                <a:cs typeface="+mn-lt"/>
              </a:rPr>
            </a:br>
            <a:r>
              <a:rPr lang="en-US" i="1" dirty="0">
                <a:ea typeface="+mn-lt"/>
                <a:cs typeface="+mn-lt"/>
              </a:rPr>
              <a:t> }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3826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96FEF-9C49-078A-C1D3-E397ECE25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Conditions... (if)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26DAF-11BB-D4F9-87E8-61786C5C6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solidFill>
                <a:srgbClr val="00B050"/>
              </a:solidFill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352FA5-5806-DDE3-4282-30D9843028A8}"/>
              </a:ext>
            </a:extLst>
          </p:cNvPr>
          <p:cNvSpPr/>
          <p:nvPr/>
        </p:nvSpPr>
        <p:spPr>
          <a:xfrm>
            <a:off x="6098876" y="1821611"/>
            <a:ext cx="4126300" cy="3493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#include&lt;iostream&gt;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using namespace std;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int main()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{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    int a=15; int b=20;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    if(a&lt;b)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    {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        cout&lt;&lt;"b is greater than a";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    }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    return 0;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}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6355C1-9E17-C3CA-DEE6-7DD58ECE3C26}"/>
              </a:ext>
            </a:extLst>
          </p:cNvPr>
          <p:cNvSpPr/>
          <p:nvPr/>
        </p:nvSpPr>
        <p:spPr>
          <a:xfrm>
            <a:off x="878098" y="1819815"/>
            <a:ext cx="4169433" cy="35368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/>
            <a:r>
              <a:rPr lang="en-US" sz="2000" b="1" dirty="0">
                <a:solidFill>
                  <a:schemeClr val="tx1"/>
                </a:solidFill>
                <a:latin typeface="Calibri"/>
                <a:ea typeface="Segoe UI"/>
                <a:cs typeface="Segoe UI"/>
              </a:rPr>
              <a:t>#include&lt;iostream&gt;​</a:t>
            </a:r>
          </a:p>
          <a:p>
            <a:pPr rtl="0"/>
            <a:r>
              <a:rPr lang="en-US" sz="2000" b="1" dirty="0">
                <a:solidFill>
                  <a:schemeClr val="tx1"/>
                </a:solidFill>
                <a:latin typeface="Calibri"/>
                <a:ea typeface="Segoe UI"/>
                <a:cs typeface="Segoe UI"/>
              </a:rPr>
              <a:t>using namespace std;​</a:t>
            </a:r>
          </a:p>
          <a:p>
            <a:pPr rtl="0"/>
            <a:r>
              <a:rPr lang="en-US" sz="2000" b="1" dirty="0">
                <a:solidFill>
                  <a:schemeClr val="tx1"/>
                </a:solidFill>
                <a:latin typeface="Calibri"/>
                <a:ea typeface="Segoe UI"/>
                <a:cs typeface="Segoe UI"/>
              </a:rPr>
              <a:t>int main()​</a:t>
            </a:r>
          </a:p>
          <a:p>
            <a:pPr rtl="0"/>
            <a:r>
              <a:rPr lang="en-US" sz="2000" b="1" dirty="0">
                <a:solidFill>
                  <a:schemeClr val="tx1"/>
                </a:solidFill>
                <a:latin typeface="Calibri"/>
                <a:ea typeface="Segoe UI"/>
                <a:cs typeface="Segoe UI"/>
              </a:rPr>
              <a:t>{​</a:t>
            </a:r>
          </a:p>
          <a:p>
            <a:pPr rtl="0"/>
            <a:r>
              <a:rPr lang="en-US" sz="2000" b="1" dirty="0">
                <a:solidFill>
                  <a:schemeClr val="tx1"/>
                </a:solidFill>
                <a:latin typeface="Calibri"/>
                <a:ea typeface="Segoe UI"/>
                <a:cs typeface="Segoe UI"/>
              </a:rPr>
              <a:t>    if(15&gt;10)​</a:t>
            </a:r>
          </a:p>
          <a:p>
            <a:pPr rtl="0"/>
            <a:r>
              <a:rPr lang="en-US" sz="2000" b="1" dirty="0">
                <a:solidFill>
                  <a:schemeClr val="tx1"/>
                </a:solidFill>
                <a:latin typeface="Calibri"/>
                <a:ea typeface="Segoe UI"/>
                <a:cs typeface="Segoe UI"/>
              </a:rPr>
              <a:t>    {​</a:t>
            </a:r>
          </a:p>
          <a:p>
            <a:pPr rtl="0"/>
            <a:r>
              <a:rPr lang="en-US" sz="2000" b="1" dirty="0">
                <a:solidFill>
                  <a:schemeClr val="tx1"/>
                </a:solidFill>
                <a:latin typeface="Calibri"/>
                <a:ea typeface="Segoe UI"/>
                <a:cs typeface="Segoe UI"/>
              </a:rPr>
              <a:t>        cout&lt;&lt;"15 is greater than 10";​</a:t>
            </a:r>
          </a:p>
          <a:p>
            <a:pPr rtl="0"/>
            <a:r>
              <a:rPr lang="en-US" sz="2000" b="1" dirty="0">
                <a:solidFill>
                  <a:schemeClr val="tx1"/>
                </a:solidFill>
                <a:latin typeface="Calibri"/>
                <a:ea typeface="Segoe UI"/>
                <a:cs typeface="Segoe UI"/>
              </a:rPr>
              <a:t>    }​</a:t>
            </a:r>
          </a:p>
          <a:p>
            <a:pPr rtl="0"/>
            <a:r>
              <a:rPr lang="en-US" sz="2000" b="1" dirty="0">
                <a:solidFill>
                  <a:schemeClr val="tx1"/>
                </a:solidFill>
                <a:latin typeface="Calibri"/>
                <a:ea typeface="Segoe UI"/>
                <a:cs typeface="Segoe UI"/>
              </a:rPr>
              <a:t>    return 0;​</a:t>
            </a:r>
          </a:p>
          <a:p>
            <a:pPr rtl="0"/>
            <a:r>
              <a:rPr lang="en-US" sz="2000" b="1" dirty="0">
                <a:solidFill>
                  <a:schemeClr val="tx1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2000" b="1" dirty="0">
                <a:solidFill>
                  <a:schemeClr val="tx1"/>
                </a:solidFill>
                <a:latin typeface="Calibri"/>
                <a:ea typeface="Segoe UI"/>
                <a:cs typeface="Segoe UI"/>
              </a:rPr>
              <a:t>}</a:t>
            </a:r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869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217F9-4273-84A3-D25B-52787E1CC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Conditions...(else)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642AB-C932-CC50-6C40-F75BEC529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Use the </a:t>
            </a:r>
            <a:r>
              <a:rPr lang="en-US" dirty="0">
                <a:solidFill>
                  <a:srgbClr val="0070C0"/>
                </a:solidFill>
                <a:latin typeface="Consolas"/>
              </a:rPr>
              <a:t>else</a:t>
            </a:r>
            <a:r>
              <a:rPr lang="en-US" dirty="0">
                <a:ea typeface="+mn-lt"/>
                <a:cs typeface="+mn-lt"/>
              </a:rPr>
              <a:t> statement to specify a block of code to be executed if the condition is </a:t>
            </a:r>
            <a:r>
              <a:rPr lang="en-US" b="1" dirty="0">
                <a:latin typeface="Consolas"/>
              </a:rPr>
              <a:t>false</a:t>
            </a:r>
            <a:r>
              <a:rPr lang="en-US" b="1" dirty="0">
                <a:ea typeface="+mn-lt"/>
                <a:cs typeface="+mn-lt"/>
              </a:rPr>
              <a:t>.</a:t>
            </a:r>
          </a:p>
          <a:p>
            <a:r>
              <a:rPr lang="en-US" dirty="0">
                <a:cs typeface="Calibri" panose="020F0502020204030204"/>
              </a:rPr>
              <a:t>Syntax-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if (</a:t>
            </a:r>
            <a:r>
              <a:rPr lang="en-US" i="1" dirty="0">
                <a:ea typeface="+mn-lt"/>
                <a:cs typeface="+mn-lt"/>
              </a:rPr>
              <a:t>condition</a:t>
            </a:r>
            <a:r>
              <a:rPr lang="en-US" dirty="0">
                <a:ea typeface="+mn-lt"/>
                <a:cs typeface="+mn-lt"/>
              </a:rPr>
              <a:t>)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{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  </a:t>
            </a:r>
            <a:r>
              <a:rPr lang="en-US" i="1" dirty="0">
                <a:ea typeface="+mn-lt"/>
                <a:cs typeface="+mn-lt"/>
              </a:rPr>
              <a:t>// block of code to be executed if the condition is true</a:t>
            </a:r>
            <a:br>
              <a:rPr lang="en-US" i="1" dirty="0">
                <a:ea typeface="+mn-lt"/>
                <a:cs typeface="+mn-lt"/>
              </a:rPr>
            </a:br>
            <a:r>
              <a:rPr lang="en-US" i="1" dirty="0">
                <a:ea typeface="+mn-lt"/>
                <a:cs typeface="+mn-lt"/>
              </a:rPr>
              <a:t>} </a:t>
            </a:r>
            <a:r>
              <a:rPr lang="en-US" dirty="0">
                <a:ea typeface="+mn-lt"/>
                <a:cs typeface="+mn-lt"/>
              </a:rPr>
              <a:t>else 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{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  </a:t>
            </a:r>
            <a:r>
              <a:rPr lang="en-US" i="1" dirty="0">
                <a:ea typeface="+mn-lt"/>
                <a:cs typeface="+mn-lt"/>
              </a:rPr>
              <a:t>// block of code to be executed if the condition is false</a:t>
            </a:r>
            <a:br>
              <a:rPr lang="en-US" i="1" dirty="0">
                <a:ea typeface="+mn-lt"/>
                <a:cs typeface="+mn-lt"/>
              </a:rPr>
            </a:br>
            <a:r>
              <a:rPr lang="en-US" i="1" dirty="0">
                <a:ea typeface="+mn-lt"/>
                <a:cs typeface="+mn-lt"/>
              </a:rPr>
              <a:t>}</a:t>
            </a:r>
            <a:endParaRPr lang="en-US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27141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127C4-C373-845E-B49F-C31E747B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Conditions...(else)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886BE-72E9-6FD1-7EC5-A03BBD6E4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332" y="1581210"/>
            <a:ext cx="10472468" cy="459575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ED0820-712B-A434-F2AC-A44AA1F4B6F1}"/>
              </a:ext>
            </a:extLst>
          </p:cNvPr>
          <p:cNvSpPr/>
          <p:nvPr/>
        </p:nvSpPr>
        <p:spPr>
          <a:xfrm>
            <a:off x="1023668" y="1577197"/>
            <a:ext cx="4370715" cy="41406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#include &lt;iostream&gt;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using namespace std;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int main() {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  int number = 90;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  if (number &lt; 80) {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    cout &lt;&lt; "Hey I get A+";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  } else {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    cout &lt;&lt; "Hey I get A";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  }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  return 0;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}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AD4B84-DBC5-71A5-8BE9-92461DB938C1}"/>
              </a:ext>
            </a:extLst>
          </p:cNvPr>
          <p:cNvSpPr/>
          <p:nvPr/>
        </p:nvSpPr>
        <p:spPr>
          <a:xfrm>
            <a:off x="6126732" y="1576298"/>
            <a:ext cx="4341961" cy="41406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#include &lt;iostream&gt;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using namespace std;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int main() {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  int number = 90;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  if (number &gt; 80)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  {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    cout &lt;&lt; "Hey I get A+";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  } else{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    cout &lt;&lt; "Hey I get A";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  }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  return 0;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}</a:t>
            </a:r>
            <a:endParaRPr lang="en-US" sz="2000" b="1" dirty="0">
              <a:solidFill>
                <a:schemeClr val="tx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5082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08A4F-801E-2BB5-C6F2-9024CC5EA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Conditions...(else if)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87D75-0F83-3BDC-CE76-004946EC3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ea typeface="+mn-lt"/>
                <a:cs typeface="+mn-lt"/>
              </a:rPr>
              <a:t>Use the </a:t>
            </a:r>
            <a:r>
              <a:rPr lang="en-US" dirty="0">
                <a:solidFill>
                  <a:srgbClr val="0070C0"/>
                </a:solidFill>
                <a:latin typeface="Consolas"/>
              </a:rPr>
              <a:t>else if</a:t>
            </a:r>
            <a:r>
              <a:rPr lang="en-US" dirty="0">
                <a:ea typeface="+mn-lt"/>
                <a:cs typeface="+mn-lt"/>
              </a:rPr>
              <a:t> statement to specify a new condition if the first condition is </a:t>
            </a:r>
            <a:r>
              <a:rPr lang="en-US" b="1" dirty="0">
                <a:latin typeface="Consolas"/>
              </a:rPr>
              <a:t>false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dirty="0">
                <a:cs typeface="Calibri" panose="020F0502020204030204"/>
              </a:rPr>
              <a:t>Syntax-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if (</a:t>
            </a:r>
            <a:r>
              <a:rPr lang="en-US" i="1" dirty="0">
                <a:ea typeface="+mn-lt"/>
                <a:cs typeface="+mn-lt"/>
              </a:rPr>
              <a:t>condition1</a:t>
            </a:r>
            <a:r>
              <a:rPr lang="en-US" dirty="0">
                <a:ea typeface="+mn-lt"/>
                <a:cs typeface="+mn-lt"/>
              </a:rPr>
              <a:t>) {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  </a:t>
            </a:r>
            <a:r>
              <a:rPr lang="en-US" i="1" dirty="0">
                <a:ea typeface="+mn-lt"/>
                <a:cs typeface="+mn-lt"/>
              </a:rPr>
              <a:t>// block of code to be executed if condition1 is true</a:t>
            </a:r>
            <a:br>
              <a:rPr lang="en-US" i="1" dirty="0">
                <a:ea typeface="+mn-lt"/>
                <a:cs typeface="+mn-lt"/>
              </a:rPr>
            </a:br>
            <a:r>
              <a:rPr lang="en-US" i="1" dirty="0">
                <a:ea typeface="+mn-lt"/>
                <a:cs typeface="+mn-lt"/>
              </a:rPr>
              <a:t>} </a:t>
            </a:r>
            <a:r>
              <a:rPr lang="en-US" dirty="0">
                <a:ea typeface="+mn-lt"/>
                <a:cs typeface="+mn-lt"/>
              </a:rPr>
              <a:t>else if (</a:t>
            </a:r>
            <a:r>
              <a:rPr lang="en-US" i="1" dirty="0">
                <a:ea typeface="+mn-lt"/>
                <a:cs typeface="+mn-lt"/>
              </a:rPr>
              <a:t>condition2</a:t>
            </a:r>
            <a:r>
              <a:rPr lang="en-US" dirty="0">
                <a:ea typeface="+mn-lt"/>
                <a:cs typeface="+mn-lt"/>
              </a:rPr>
              <a:t>) {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  </a:t>
            </a:r>
            <a:r>
              <a:rPr lang="en-US" i="1" dirty="0">
                <a:ea typeface="+mn-lt"/>
                <a:cs typeface="+mn-lt"/>
              </a:rPr>
              <a:t>// block of code to be executed if the condition1 is false and condition2 is true</a:t>
            </a:r>
            <a:br>
              <a:rPr lang="en-US" i="1" dirty="0">
                <a:ea typeface="+mn-lt"/>
                <a:cs typeface="+mn-lt"/>
              </a:rPr>
            </a:br>
            <a:r>
              <a:rPr lang="en-US" i="1" dirty="0">
                <a:ea typeface="+mn-lt"/>
                <a:cs typeface="+mn-lt"/>
              </a:rPr>
              <a:t>} </a:t>
            </a:r>
            <a:r>
              <a:rPr lang="en-US" dirty="0">
                <a:ea typeface="+mn-lt"/>
                <a:cs typeface="+mn-lt"/>
              </a:rPr>
              <a:t>else {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  </a:t>
            </a:r>
            <a:r>
              <a:rPr lang="en-US" i="1" dirty="0">
                <a:ea typeface="+mn-lt"/>
                <a:cs typeface="+mn-lt"/>
              </a:rPr>
              <a:t>// block of code to be executed if the condition1 is false and condition2 is false</a:t>
            </a:r>
            <a:br>
              <a:rPr lang="en-US" i="1" dirty="0">
                <a:ea typeface="+mn-lt"/>
                <a:cs typeface="+mn-lt"/>
              </a:rPr>
            </a:br>
            <a:r>
              <a:rPr lang="en-US" i="1" dirty="0">
                <a:ea typeface="+mn-lt"/>
                <a:cs typeface="+mn-lt"/>
              </a:rPr>
              <a:t>}</a:t>
            </a:r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35659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A0C49-B3A3-B7F6-7C0F-9378168AB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Conditions...(else if)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13F76-6B96-9389-3CDC-FE2DE0E26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C77A99-A988-84F2-7F8C-7CC4BB698E38}"/>
              </a:ext>
            </a:extLst>
          </p:cNvPr>
          <p:cNvSpPr/>
          <p:nvPr/>
        </p:nvSpPr>
        <p:spPr>
          <a:xfrm>
            <a:off x="5451894" y="1821612"/>
            <a:ext cx="3723735" cy="3853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#include &lt;iostream&gt;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using namespace std;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int main() 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int hours = 20;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if (hours &lt; 12) 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cout &lt;&lt; "Good morning.";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} else if (hours &lt; 18) 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cout &lt;&lt; "Good Noon.";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} else 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cout &lt;&lt; "Good evening.";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}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return 0;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8A8CCC-1548-D503-5A10-20760EC0EDEE}"/>
              </a:ext>
            </a:extLst>
          </p:cNvPr>
          <p:cNvSpPr/>
          <p:nvPr/>
        </p:nvSpPr>
        <p:spPr>
          <a:xfrm>
            <a:off x="922128" y="1820713"/>
            <a:ext cx="3723734" cy="3853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#include &lt;iostream&gt;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using namespace std;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int main() 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int hours = 16;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if (hours &lt; 12) 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cout &lt;&lt; "Good morning.";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} else if (hours &lt; 18) 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cout &lt;&lt; "Good Noon.";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} else 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cout &lt;&lt; "Good evening.";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}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return 0;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3863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3DF25-54B9-6F81-5EE6-7259B3FED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Switch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A93E2-D7FB-9A08-5EF2-0783F1D4E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Use the </a:t>
            </a:r>
            <a:r>
              <a:rPr lang="en-US" dirty="0">
                <a:solidFill>
                  <a:srgbClr val="0070C0"/>
                </a:solidFill>
                <a:latin typeface="Consolas"/>
              </a:rPr>
              <a:t>switch</a:t>
            </a:r>
            <a:r>
              <a:rPr lang="en-US" dirty="0">
                <a:ea typeface="+mn-lt"/>
                <a:cs typeface="+mn-lt"/>
              </a:rPr>
              <a:t> statement to select one of many code blocks to be executed.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cs typeface="Calibri" panose="020F0502020204030204"/>
              </a:rPr>
              <a:t>Syntax-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ea typeface="+mn-lt"/>
                <a:cs typeface="+mn-lt"/>
              </a:rPr>
              <a:t>switch</a:t>
            </a:r>
            <a:r>
              <a:rPr lang="en-US" dirty="0">
                <a:ea typeface="+mn-lt"/>
                <a:cs typeface="+mn-lt"/>
              </a:rPr>
              <a:t>(</a:t>
            </a:r>
            <a:r>
              <a:rPr lang="en-US" i="1" dirty="0">
                <a:ea typeface="+mn-lt"/>
                <a:cs typeface="+mn-lt"/>
              </a:rPr>
              <a:t>expression</a:t>
            </a:r>
            <a:r>
              <a:rPr lang="en-US" dirty="0">
                <a:ea typeface="+mn-lt"/>
                <a:cs typeface="+mn-lt"/>
              </a:rPr>
              <a:t>) {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solidFill>
                  <a:srgbClr val="0070C0"/>
                </a:solidFill>
                <a:ea typeface="+mn-lt"/>
                <a:cs typeface="+mn-lt"/>
              </a:rPr>
              <a:t>  case</a:t>
            </a:r>
            <a:r>
              <a:rPr lang="en-US" dirty="0">
                <a:ea typeface="+mn-lt"/>
                <a:cs typeface="+mn-lt"/>
              </a:rPr>
              <a:t> x: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    </a:t>
            </a:r>
            <a:r>
              <a:rPr lang="en-US" i="1" dirty="0">
                <a:ea typeface="+mn-lt"/>
                <a:cs typeface="+mn-lt"/>
              </a:rPr>
              <a:t>// code block</a:t>
            </a:r>
            <a:br>
              <a:rPr lang="en-US" i="1" dirty="0">
                <a:ea typeface="+mn-lt"/>
                <a:cs typeface="+mn-lt"/>
              </a:rPr>
            </a:br>
            <a:r>
              <a:rPr lang="en-US" i="1" dirty="0">
                <a:ea typeface="+mn-lt"/>
                <a:cs typeface="+mn-lt"/>
              </a:rPr>
              <a:t>    </a:t>
            </a:r>
            <a:r>
              <a:rPr lang="en-US" dirty="0">
                <a:solidFill>
                  <a:srgbClr val="0070C0"/>
                </a:solidFill>
                <a:ea typeface="+mn-lt"/>
                <a:cs typeface="+mn-lt"/>
              </a:rPr>
              <a:t>break</a:t>
            </a:r>
            <a:r>
              <a:rPr lang="en-US" dirty="0">
                <a:ea typeface="+mn-lt"/>
                <a:cs typeface="+mn-lt"/>
              </a:rPr>
              <a:t>;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  </a:t>
            </a:r>
            <a:r>
              <a:rPr lang="en-US" dirty="0">
                <a:solidFill>
                  <a:srgbClr val="0070C0"/>
                </a:solidFill>
                <a:ea typeface="+mn-lt"/>
                <a:cs typeface="+mn-lt"/>
              </a:rPr>
              <a:t>case</a:t>
            </a:r>
            <a:r>
              <a:rPr lang="en-US" dirty="0">
                <a:ea typeface="+mn-lt"/>
                <a:cs typeface="+mn-lt"/>
              </a:rPr>
              <a:t> y: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    </a:t>
            </a:r>
            <a:r>
              <a:rPr lang="en-US" i="1" dirty="0">
                <a:ea typeface="+mn-lt"/>
                <a:cs typeface="+mn-lt"/>
              </a:rPr>
              <a:t>// code block</a:t>
            </a:r>
            <a:br>
              <a:rPr lang="en-US" i="1" dirty="0">
                <a:ea typeface="+mn-lt"/>
                <a:cs typeface="+mn-lt"/>
              </a:rPr>
            </a:br>
            <a:r>
              <a:rPr lang="en-US" i="1" dirty="0">
                <a:ea typeface="+mn-lt"/>
                <a:cs typeface="+mn-lt"/>
              </a:rPr>
              <a:t>    </a:t>
            </a:r>
            <a:r>
              <a:rPr lang="en-US" dirty="0">
                <a:solidFill>
                  <a:srgbClr val="0070C0"/>
                </a:solidFill>
                <a:ea typeface="+mn-lt"/>
                <a:cs typeface="+mn-lt"/>
              </a:rPr>
              <a:t>break</a:t>
            </a:r>
            <a:r>
              <a:rPr lang="en-US" dirty="0">
                <a:ea typeface="+mn-lt"/>
                <a:cs typeface="+mn-lt"/>
              </a:rPr>
              <a:t>;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  </a:t>
            </a:r>
            <a:r>
              <a:rPr lang="en-US" dirty="0">
                <a:solidFill>
                  <a:srgbClr val="0070C0"/>
                </a:solidFill>
                <a:ea typeface="+mn-lt"/>
                <a:cs typeface="+mn-lt"/>
              </a:rPr>
              <a:t>default</a:t>
            </a:r>
            <a:r>
              <a:rPr lang="en-US" dirty="0">
                <a:ea typeface="+mn-lt"/>
                <a:cs typeface="+mn-lt"/>
              </a:rPr>
              <a:t>: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    </a:t>
            </a:r>
            <a:r>
              <a:rPr lang="en-US" i="1" dirty="0">
                <a:ea typeface="+mn-lt"/>
                <a:cs typeface="+mn-lt"/>
              </a:rPr>
              <a:t>// code block</a:t>
            </a:r>
            <a:br>
              <a:rPr lang="en-US" i="1" dirty="0">
                <a:ea typeface="+mn-lt"/>
                <a:cs typeface="+mn-lt"/>
              </a:rPr>
            </a:br>
            <a:r>
              <a:rPr lang="en-US" i="1" dirty="0">
                <a:ea typeface="+mn-lt"/>
                <a:cs typeface="+mn-lt"/>
              </a:rPr>
              <a:t>}</a:t>
            </a:r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09792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37A53-183A-DB03-407A-0F0113E7C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Switch...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EFAF9-3B42-AB09-8D5D-30589CA81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3700"/>
            <a:ext cx="10630618" cy="4250697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algn="just"/>
            <a:r>
              <a:rPr lang="en-US" dirty="0">
                <a:ea typeface="+mn-lt"/>
                <a:cs typeface="+mn-lt"/>
              </a:rPr>
              <a:t>The </a:t>
            </a:r>
            <a:r>
              <a:rPr lang="en-US" dirty="0">
                <a:solidFill>
                  <a:srgbClr val="0070C0"/>
                </a:solidFill>
                <a:latin typeface="Consolas"/>
              </a:rPr>
              <a:t>switch</a:t>
            </a:r>
            <a:r>
              <a:rPr lang="en-US" dirty="0">
                <a:ea typeface="+mn-lt"/>
                <a:cs typeface="+mn-lt"/>
              </a:rPr>
              <a:t> expression is evaluated once.</a:t>
            </a:r>
            <a:endParaRPr lang="en-US" dirty="0">
              <a:cs typeface="Calibri" panose="020F0502020204030204"/>
            </a:endParaRPr>
          </a:p>
          <a:p>
            <a:pPr algn="just"/>
            <a:r>
              <a:rPr lang="en-US" dirty="0">
                <a:ea typeface="+mn-lt"/>
                <a:cs typeface="+mn-lt"/>
              </a:rPr>
              <a:t>The value of the expression is compared with the values of each </a:t>
            </a:r>
            <a:r>
              <a:rPr lang="en-US" dirty="0">
                <a:solidFill>
                  <a:srgbClr val="0070C0"/>
                </a:solidFill>
                <a:latin typeface="Consolas"/>
              </a:rPr>
              <a:t>case.</a:t>
            </a:r>
            <a:endParaRPr lang="en-US" dirty="0">
              <a:solidFill>
                <a:srgbClr val="0070C0"/>
              </a:solidFill>
              <a:cs typeface="Calibri" panose="020F0502020204030204"/>
            </a:endParaRPr>
          </a:p>
          <a:p>
            <a:pPr algn="just"/>
            <a:r>
              <a:rPr lang="en-US" dirty="0">
                <a:ea typeface="+mn-lt"/>
                <a:cs typeface="+mn-lt"/>
              </a:rPr>
              <a:t>If there is a match, the associated block of code is executed.</a:t>
            </a:r>
            <a:endParaRPr lang="en-US" dirty="0">
              <a:cs typeface="Calibri" panose="020F0502020204030204"/>
            </a:endParaRPr>
          </a:p>
          <a:p>
            <a:pPr algn="just"/>
            <a:r>
              <a:rPr lang="en-US" dirty="0">
                <a:ea typeface="+mn-lt"/>
                <a:cs typeface="+mn-lt"/>
              </a:rPr>
              <a:t>The </a:t>
            </a:r>
            <a:r>
              <a:rPr lang="en-US" dirty="0">
                <a:solidFill>
                  <a:srgbClr val="0070C0"/>
                </a:solidFill>
                <a:latin typeface="Consolas"/>
              </a:rPr>
              <a:t>break</a:t>
            </a:r>
            <a:r>
              <a:rPr lang="en-US" dirty="0">
                <a:ea typeface="+mn-lt"/>
                <a:cs typeface="+mn-lt"/>
              </a:rPr>
              <a:t> and </a:t>
            </a:r>
            <a:r>
              <a:rPr lang="en-US" dirty="0">
                <a:solidFill>
                  <a:srgbClr val="0070C0"/>
                </a:solidFill>
                <a:latin typeface="Consolas"/>
              </a:rPr>
              <a:t>default</a:t>
            </a:r>
            <a:r>
              <a:rPr lang="en-US" dirty="0">
                <a:ea typeface="+mn-lt"/>
                <a:cs typeface="+mn-lt"/>
              </a:rPr>
              <a:t> keywords are optional.</a:t>
            </a:r>
            <a:endParaRPr lang="en-US" dirty="0">
              <a:cs typeface="Calibri" panose="020F0502020204030204"/>
            </a:endParaRPr>
          </a:p>
          <a:p>
            <a:pPr algn="just"/>
            <a:r>
              <a:rPr lang="en-US" dirty="0">
                <a:ea typeface="+mn-lt"/>
                <a:cs typeface="+mn-lt"/>
              </a:rPr>
              <a:t>When C++ reaches a </a:t>
            </a:r>
            <a:r>
              <a:rPr lang="en-US" dirty="0">
                <a:solidFill>
                  <a:srgbClr val="0070C0"/>
                </a:solidFill>
                <a:latin typeface="Consolas"/>
                <a:cs typeface="Calibri"/>
              </a:rPr>
              <a:t>break</a:t>
            </a:r>
            <a:r>
              <a:rPr lang="en-US" dirty="0">
                <a:ea typeface="+mn-lt"/>
                <a:cs typeface="+mn-lt"/>
              </a:rPr>
              <a:t> keyword, it breaks out of the switch block.</a:t>
            </a:r>
            <a:endParaRPr lang="en-US" dirty="0">
              <a:cs typeface="Calibri" panose="020F0502020204030204"/>
            </a:endParaRPr>
          </a:p>
          <a:p>
            <a:pPr algn="just"/>
            <a:r>
              <a:rPr lang="en-US" dirty="0">
                <a:ea typeface="+mn-lt"/>
                <a:cs typeface="+mn-lt"/>
              </a:rPr>
              <a:t>This will stop the execution of more code and case testing inside the block.</a:t>
            </a:r>
            <a:endParaRPr lang="en-US" dirty="0">
              <a:cs typeface="Calibri" panose="020F0502020204030204"/>
            </a:endParaRPr>
          </a:p>
          <a:p>
            <a:pPr algn="just"/>
            <a:r>
              <a:rPr lang="en-US" dirty="0">
                <a:ea typeface="+mn-lt"/>
                <a:cs typeface="+mn-lt"/>
              </a:rPr>
              <a:t>When a match is found, and the job is done, it's time for a break. There is no need for more testing.</a:t>
            </a:r>
            <a:endParaRPr lang="en-US" dirty="0">
              <a:cs typeface="Calibri" panose="020F0502020204030204"/>
            </a:endParaRPr>
          </a:p>
          <a:p>
            <a:pPr algn="just"/>
            <a:r>
              <a:rPr lang="en-US" dirty="0">
                <a:ea typeface="+mn-lt"/>
                <a:cs typeface="+mn-lt"/>
              </a:rPr>
              <a:t>The </a:t>
            </a:r>
            <a:r>
              <a:rPr lang="en-US" dirty="0">
                <a:solidFill>
                  <a:srgbClr val="0070C0"/>
                </a:solidFill>
                <a:latin typeface="Consolas"/>
                <a:cs typeface="Calibri"/>
              </a:rPr>
              <a:t>default</a:t>
            </a:r>
            <a:r>
              <a:rPr lang="en-US" dirty="0">
                <a:ea typeface="+mn-lt"/>
                <a:cs typeface="+mn-lt"/>
              </a:rPr>
              <a:t> keyword specifies some code to run if there is no case match.</a:t>
            </a:r>
            <a:endParaRPr lang="en-US" dirty="0">
              <a:cs typeface="Calibri"/>
            </a:endParaRPr>
          </a:p>
          <a:p>
            <a:pPr algn="just"/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699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591D8-7E35-ACAC-DB80-6BBB43929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Switch...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D517C-27FE-95CA-8555-A7D0B9171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289A90-D243-30F6-1C5E-546945561654}"/>
              </a:ext>
            </a:extLst>
          </p:cNvPr>
          <p:cNvSpPr/>
          <p:nvPr/>
        </p:nvSpPr>
        <p:spPr>
          <a:xfrm>
            <a:off x="994914" y="1821613"/>
            <a:ext cx="4313206" cy="4183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#include &lt;iostream&gt;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using namespace std;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int main() 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int color = 4;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switch (color) 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case 1: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cout &lt;&lt; "Merun: Law, English";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break;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case 2: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cout &lt;&lt; "Yellow: EEE,COE";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break;</a:t>
            </a:r>
            <a:endParaRPr lang="en-US" b="1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C36DEE-D7DE-6C80-EA2D-6AA95D253974}"/>
              </a:ext>
            </a:extLst>
          </p:cNvPr>
          <p:cNvSpPr/>
          <p:nvPr/>
        </p:nvSpPr>
        <p:spPr>
          <a:xfrm>
            <a:off x="6097977" y="1820713"/>
            <a:ext cx="4341960" cy="41838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case 3: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cout &lt;&lt; "Green: BBA";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break;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case 4: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cout &lt;&lt; "Blue: CSE";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break;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default: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cout &lt;&lt; "None";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}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return 0;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2614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Introduction to Programming</vt:lpstr>
      <vt:lpstr>Contents</vt:lpstr>
      <vt:lpstr>Type Casting</vt:lpstr>
      <vt:lpstr>Conditions</vt:lpstr>
      <vt:lpstr>Conditions... (if)</vt:lpstr>
      <vt:lpstr>Conditions... (if)</vt:lpstr>
      <vt:lpstr>Conditions...(else)</vt:lpstr>
      <vt:lpstr>Conditions...(else)</vt:lpstr>
      <vt:lpstr>Conditions...(else if)</vt:lpstr>
      <vt:lpstr>Conditions...(else if)</vt:lpstr>
      <vt:lpstr>Switch</vt:lpstr>
      <vt:lpstr>Switch...</vt:lpstr>
      <vt:lpstr>Switch...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259</cp:revision>
  <dcterms:created xsi:type="dcterms:W3CDTF">2022-05-23T06:07:45Z</dcterms:created>
  <dcterms:modified xsi:type="dcterms:W3CDTF">2022-05-31T06:39:55Z</dcterms:modified>
</cp:coreProperties>
</file>