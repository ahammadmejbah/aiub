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3" r:id="rId6"/>
    <p:sldId id="259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E9060-5F2E-42C2-928B-D24870A90986}" v="202" dt="2022-06-04T02:56:20.920"/>
    <p1510:client id="{166653FE-3EAB-E570-96CC-24D5E720E0C6}" v="35" dt="2022-06-04T15:55:39.881"/>
    <p1510:client id="{5D8D2E4D-64C3-3481-958A-97E7C08D3517}" v="251" dt="2022-06-06T16:12:46.501"/>
    <p1510:client id="{DF1009BC-C262-F43D-CE4B-04C9EB17F338}" v="29" dt="2022-06-06T16:40:04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Introduction To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CAC6-9472-8ACA-9B67-3BFE40CB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AC8A-A8E5-F70E-3464-D8F34D0D2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2D Arrays</a:t>
            </a:r>
            <a:endParaRPr lang="en-US" b="0" i="0" dirty="0">
              <a:solidFill>
                <a:srgbClr val="000000"/>
              </a:solidFill>
              <a:effectLst/>
              <a:cs typeface="Segoe UI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73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EDF3-950D-21A2-168F-E09276EF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2D Arrays</a:t>
            </a:r>
            <a:endParaRPr lang="en-US" b="1" dirty="0">
              <a:cs typeface="Calibri Light"/>
            </a:endParaRPr>
          </a:p>
          <a:p>
            <a:endParaRPr lang="en-US" b="1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91ADA-F713-9B3E-93AB-DB72E64D8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dirty="0">
                <a:ea typeface="+mn-lt"/>
                <a:cs typeface="+mn-lt"/>
              </a:rPr>
              <a:t>Two-dimensional arrays can be described as "arrays of arrays". 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To declare a 2D array, define the variable type, specify the name of the array followed by </a:t>
            </a:r>
            <a:r>
              <a:rPr lang="en-US" b="1" dirty="0">
                <a:ea typeface="+mn-lt"/>
                <a:cs typeface="+mn-lt"/>
              </a:rPr>
              <a:t>square brackets </a:t>
            </a:r>
            <a:r>
              <a:rPr lang="en-US" dirty="0">
                <a:ea typeface="+mn-lt"/>
                <a:cs typeface="+mn-lt"/>
              </a:rPr>
              <a:t>which specify how many elements the main array has, followed by another set of square brackets which indicates how many elements the sub-arrays have:</a:t>
            </a:r>
          </a:p>
          <a:p>
            <a:pPr algn="just"/>
            <a:r>
              <a:rPr lang="en-US" dirty="0">
                <a:ea typeface="Calibri"/>
                <a:cs typeface="Calibri"/>
              </a:rPr>
              <a:t>Syntax-</a:t>
            </a:r>
            <a:endParaRPr lang="en-US" dirty="0">
              <a:cs typeface="Calibri"/>
            </a:endParaRPr>
          </a:p>
          <a:p>
            <a:pPr marL="0" indent="0" algn="just">
              <a:buNone/>
            </a:pPr>
            <a:r>
              <a:rPr lang="en-US" dirty="0">
                <a:ea typeface="Calibri"/>
                <a:cs typeface="Calibri"/>
              </a:rPr>
              <a:t>                     Datatype array_name [array size][array size];</a:t>
            </a:r>
          </a:p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 algn="just">
              <a:buNone/>
            </a:pPr>
            <a:r>
              <a:rPr lang="en-US" dirty="0">
                <a:cs typeface="Calibri"/>
              </a:rPr>
              <a:t>   </a:t>
            </a:r>
            <a:endParaRPr lang="en-US" b="1" dirty="0">
              <a:ea typeface="Calibri"/>
              <a:cs typeface="Calibri"/>
            </a:endParaRPr>
          </a:p>
          <a:p>
            <a:pPr algn="just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574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4E71-A7DB-9E7D-1B83-EC2E1B89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 Light"/>
                <a:cs typeface="Calibri Light"/>
              </a:rPr>
              <a:t>2D Arrays...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3B95-447D-F21E-0860-76CECE1BB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Assigning values at the time of declaring a two-dimensional array can be any one of the following ways: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int </a:t>
            </a:r>
            <a:r>
              <a:rPr lang="en-US" b="1" dirty="0" err="1">
                <a:ea typeface="Calibri"/>
                <a:cs typeface="Calibri"/>
              </a:rPr>
              <a:t>arr</a:t>
            </a:r>
            <a:r>
              <a:rPr lang="en-US" b="1" dirty="0">
                <a:ea typeface="Calibri"/>
                <a:cs typeface="Calibri"/>
              </a:rPr>
              <a:t>[3][5] = {1,2,3,4,5,2,4,6,8,1,3,6,9,2,5};</a:t>
            </a: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int </a:t>
            </a:r>
            <a:r>
              <a:rPr lang="en-US" b="1" dirty="0" err="1">
                <a:ea typeface="Calibri"/>
                <a:cs typeface="Calibri"/>
              </a:rPr>
              <a:t>arr</a:t>
            </a:r>
            <a:r>
              <a:rPr lang="en-US" b="1" dirty="0">
                <a:ea typeface="Calibri"/>
                <a:cs typeface="Calibri"/>
              </a:rPr>
              <a:t>[3][5] = {{1,2,3,4,5},{2,4,6,8,1},{3,6,9,2,5}};</a:t>
            </a: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int </a:t>
            </a:r>
            <a:r>
              <a:rPr lang="en-US" b="1" dirty="0" err="1">
                <a:ea typeface="Calibri"/>
                <a:cs typeface="Calibri"/>
              </a:rPr>
              <a:t>arr</a:t>
            </a:r>
            <a:r>
              <a:rPr lang="en-US" b="1" dirty="0">
                <a:ea typeface="Calibri"/>
                <a:cs typeface="Calibri"/>
              </a:rPr>
              <a:t>[3][5] =  {</a:t>
            </a: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                           {1,2,3,4,5},</a:t>
            </a:r>
          </a:p>
          <a:p>
            <a:pPr marL="1371600" lvl="3" indent="0">
              <a:buNone/>
            </a:pPr>
            <a:r>
              <a:rPr lang="en-US" sz="2800" b="1" dirty="0">
                <a:ea typeface="Calibri"/>
                <a:cs typeface="Calibri"/>
              </a:rPr>
              <a:t>         {2,4,6,8,1},</a:t>
            </a:r>
          </a:p>
          <a:p>
            <a:pPr marL="1371600" lvl="3" indent="0">
              <a:buNone/>
            </a:pPr>
            <a:r>
              <a:rPr lang="en-US" sz="2800" b="1" dirty="0">
                <a:ea typeface="Calibri"/>
                <a:cs typeface="Calibri"/>
              </a:rPr>
              <a:t>         {3,6,9,2,5}</a:t>
            </a:r>
          </a:p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                           };</a:t>
            </a:r>
          </a:p>
          <a:p>
            <a:pPr marL="0" indent="0">
              <a:buNone/>
            </a:pPr>
            <a:endParaRPr lang="en-US" b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061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4E71-A7DB-9E7D-1B83-EC2E1B89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 Light"/>
                <a:cs typeface="Calibri Light"/>
              </a:rPr>
              <a:t>2D Arrays...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3B95-447D-F21E-0860-76CECE1BB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Example--</a:t>
            </a:r>
          </a:p>
          <a:p>
            <a:pPr marL="457200" indent="-457200"/>
            <a:r>
              <a:rPr lang="en-US" b="1" dirty="0">
                <a:ea typeface="Calibri"/>
                <a:cs typeface="Calibri"/>
              </a:rPr>
              <a:t>string courses[2][3];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en-US" b="1" dirty="0">
                <a:ea typeface="Calibri"/>
                <a:cs typeface="Calibri"/>
              </a:rPr>
              <a:t>string letters[3][3] = {{“A", “B", "C"},{“D”,”E”,”F”}};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en-US" b="1" dirty="0">
                <a:ea typeface="Calibri"/>
                <a:cs typeface="Calibri"/>
              </a:rPr>
              <a:t>int number[2][2] = {{10, 20}, {30,40}};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string courses[2][3] = {{"C++", "Java", "Python"},{“C”,”C#”}};</a:t>
            </a: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courses[0][1]&lt;&lt;"\n";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courses[1][1]&lt;&lt;"\n";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courses[0][2]&lt;&lt;"\n";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54418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1341-75EF-B773-704C-0DDBF27D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2D Arrays...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E0067-A410-EA1C-9963-0CA51264C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2EBA7-3C1D-33E8-FBBA-8AFE78028040}"/>
              </a:ext>
            </a:extLst>
          </p:cNvPr>
          <p:cNvSpPr/>
          <p:nvPr/>
        </p:nvSpPr>
        <p:spPr>
          <a:xfrm>
            <a:off x="978286" y="3670953"/>
            <a:ext cx="4341960" cy="15958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  <a:cs typeface="Calibri"/>
              </a:rPr>
              <a:t> </a:t>
            </a:r>
            <a:r>
              <a:rPr lang="fr-FR" b="1" dirty="0" err="1">
                <a:solidFill>
                  <a:schemeClr val="tx1"/>
                </a:solidFill>
                <a:cs typeface="Calibri"/>
              </a:rPr>
              <a:t>int</a:t>
            </a:r>
            <a:r>
              <a:rPr lang="fr-FR" b="1" dirty="0">
                <a:solidFill>
                  <a:schemeClr val="tx1"/>
                </a:solidFill>
                <a:cs typeface="Calibri"/>
              </a:rPr>
              <a:t> code[2][4] = { { 1, 3, 5, 9 },{ 2, 4, 6, 10} };</a:t>
            </a:r>
          </a:p>
          <a:p>
            <a:r>
              <a:rPr lang="fr-FR" b="1" dirty="0">
                <a:solidFill>
                  <a:schemeClr val="tx1"/>
                </a:solidFill>
                <a:cs typeface="Calibri"/>
              </a:rPr>
              <a:t> code[0][0] = 0;</a:t>
            </a:r>
          </a:p>
          <a:p>
            <a:r>
              <a:rPr lang="fr-FR" b="1" dirty="0">
                <a:solidFill>
                  <a:schemeClr val="tx1"/>
                </a:solidFill>
                <a:cs typeface="Calibri"/>
              </a:rPr>
              <a:t> cout &lt;&lt; code[0][0];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69F96-5B50-D29A-4F59-5C4FE328E1DE}"/>
              </a:ext>
            </a:extLst>
          </p:cNvPr>
          <p:cNvSpPr/>
          <p:nvPr/>
        </p:nvSpPr>
        <p:spPr>
          <a:xfrm>
            <a:off x="978286" y="1879998"/>
            <a:ext cx="4341960" cy="15958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fr-FR" b="1" dirty="0" err="1">
                <a:solidFill>
                  <a:schemeClr val="tx1"/>
                </a:solidFill>
                <a:ea typeface="+mn-lt"/>
                <a:cs typeface="+mn-lt"/>
              </a:rPr>
              <a:t>int</a:t>
            </a:r>
            <a:r>
              <a:rPr lang="fr-FR" b="1" dirty="0">
                <a:solidFill>
                  <a:schemeClr val="tx1"/>
                </a:solidFill>
                <a:ea typeface="+mn-lt"/>
                <a:cs typeface="+mn-lt"/>
              </a:rPr>
              <a:t> code[2][3]= {{1,2,3},{4,5}};</a:t>
            </a:r>
          </a:p>
          <a:p>
            <a:r>
              <a:rPr lang="fr-FR" b="1" dirty="0">
                <a:solidFill>
                  <a:schemeClr val="tx1"/>
                </a:solidFill>
                <a:ea typeface="+mn-lt"/>
                <a:cs typeface="+mn-lt"/>
              </a:rPr>
              <a:t>cout&lt;&lt;code[0][1]&lt;&lt;</a:t>
            </a:r>
            <a:r>
              <a:rPr lang="fr-FR" b="1" dirty="0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fr-FR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</a:p>
          <a:p>
            <a:r>
              <a:rPr lang="fr-FR" b="1" dirty="0">
                <a:solidFill>
                  <a:schemeClr val="tx1"/>
                </a:solidFill>
                <a:ea typeface="+mn-lt"/>
                <a:cs typeface="+mn-lt"/>
              </a:rPr>
              <a:t>cout&lt;&lt;code[1][2]&lt;&lt;</a:t>
            </a:r>
            <a:r>
              <a:rPr lang="fr-FR" b="1" dirty="0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fr-FR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</a:p>
          <a:p>
            <a:r>
              <a:rPr lang="fr-FR" b="1" dirty="0">
                <a:solidFill>
                  <a:schemeClr val="tx1"/>
                </a:solidFill>
                <a:ea typeface="+mn-lt"/>
                <a:cs typeface="+mn-lt"/>
              </a:rPr>
              <a:t>cout&lt;&lt;code[0][2]&lt;&lt;</a:t>
            </a:r>
            <a:r>
              <a:rPr lang="fr-FR" b="1" dirty="0" err="1">
                <a:solidFill>
                  <a:schemeClr val="tx1"/>
                </a:solidFill>
                <a:ea typeface="+mn-lt"/>
                <a:cs typeface="+mn-lt"/>
              </a:rPr>
              <a:t>endl</a:t>
            </a:r>
            <a:r>
              <a:rPr lang="fr-FR" b="1" dirty="0">
                <a:solidFill>
                  <a:schemeClr val="tx1"/>
                </a:solidFill>
                <a:ea typeface="+mn-lt"/>
                <a:cs typeface="+mn-lt"/>
              </a:rPr>
              <a:t>;</a:t>
            </a:r>
            <a:endParaRPr lang="en-US" b="1" dirty="0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69BAC2-F6AE-7525-128D-B69A08042AC6}"/>
              </a:ext>
            </a:extLst>
          </p:cNvPr>
          <p:cNvSpPr/>
          <p:nvPr/>
        </p:nvSpPr>
        <p:spPr>
          <a:xfrm>
            <a:off x="6011713" y="1879998"/>
            <a:ext cx="4744527" cy="3386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int main()</a:t>
            </a:r>
          </a:p>
          <a:p>
            <a:r>
              <a:rPr lang="en-US" b="1" dirty="0">
                <a:solidFill>
                  <a:schemeClr val="tx1"/>
                </a:solidFill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int code[2][4]= {{1,2,3,4},{5,6,7,8}};</a:t>
            </a:r>
          </a:p>
          <a:p>
            <a:r>
              <a:rPr lang="en-US" b="1" dirty="0">
                <a:solidFill>
                  <a:schemeClr val="tx1"/>
                </a:solidFill>
              </a:rPr>
              <a:t> for (int r = 0; r &lt; 2; r++)</a:t>
            </a:r>
          </a:p>
          <a:p>
            <a:r>
              <a:rPr lang="en-US" b="1" dirty="0">
                <a:solidFill>
                  <a:schemeClr val="tx1"/>
                </a:solidFill>
              </a:rPr>
              <a:t>  {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for (int c = 0; c &lt; 4; </a:t>
            </a:r>
            <a:r>
              <a:rPr lang="en-US" b="1" dirty="0" err="1">
                <a:solidFill>
                  <a:schemeClr val="tx1"/>
                </a:solidFill>
              </a:rPr>
              <a:t>c++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{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   </a:t>
            </a:r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code[r][c] &lt;&lt; "\n";</a:t>
            </a:r>
          </a:p>
          <a:p>
            <a:r>
              <a:rPr lang="en-US" b="1" dirty="0">
                <a:solidFill>
                  <a:schemeClr val="tx1"/>
                </a:solidFill>
              </a:rPr>
              <a:t>       }</a:t>
            </a:r>
          </a:p>
          <a:p>
            <a:r>
              <a:rPr lang="en-US" b="1" dirty="0">
                <a:solidFill>
                  <a:schemeClr val="tx1"/>
                </a:solidFill>
              </a:rPr>
              <a:t>  } </a:t>
            </a:r>
          </a:p>
          <a:p>
            <a:r>
              <a:rPr lang="en-US" b="1" dirty="0">
                <a:solidFill>
                  <a:schemeClr val="tx1"/>
                </a:solidFill>
              </a:rPr>
              <a:t>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72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0E25-FC69-E0FC-1968-AD546DC5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1325563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2D Arrays...</a:t>
            </a:r>
            <a:endParaRPr lang="en-US" b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AD30E94-73BA-B3D5-95BC-22281243B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1499" y="3653583"/>
            <a:ext cx="1629002" cy="695422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667D43-5F36-B878-CAD1-33B11436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25625"/>
            <a:ext cx="6211958" cy="40318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3B7117-B3EB-7738-54FE-252062ACF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246" y="2637184"/>
            <a:ext cx="2497527" cy="194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8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0E25-FC69-E0FC-1968-AD546DC5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2D Arrays...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B3B80-623B-31A3-E8D2-95F0757E4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91" y="1753738"/>
            <a:ext cx="10515600" cy="4351338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4BD9C-16FC-1179-9712-808D65D7F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3738"/>
            <a:ext cx="99490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36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424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Introduction To Programming</vt:lpstr>
      <vt:lpstr>Content</vt:lpstr>
      <vt:lpstr>2D Arrays </vt:lpstr>
      <vt:lpstr>2D Arrays...</vt:lpstr>
      <vt:lpstr>2D Arrays...</vt:lpstr>
      <vt:lpstr>2D Arrays...</vt:lpstr>
      <vt:lpstr>2D Arrays...</vt:lpstr>
      <vt:lpstr>2D Arrays...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Methila Farzana Woishe</cp:lastModifiedBy>
  <cp:revision>213</cp:revision>
  <dcterms:created xsi:type="dcterms:W3CDTF">2022-06-04T02:12:56Z</dcterms:created>
  <dcterms:modified xsi:type="dcterms:W3CDTF">2023-03-14T07:06:44Z</dcterms:modified>
</cp:coreProperties>
</file>