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3539D7-8773-4E1F-9C99-B35F0AE6EE33}" v="296" dt="2022-07-09T16:02:43.230"/>
    <p1510:client id="{1FE4D871-E7DE-839F-B4E0-DEC7181D7971}" v="183" dt="2022-07-14T16:16:59.3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7/19/2022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cs typeface="Calibri Light"/>
              </a:rPr>
              <a:t>Introduction To Programming</a:t>
            </a:r>
            <a:endParaRPr lang="en-US" b="1">
              <a:cs typeface="Calibri Ligh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9FD72-9932-4098-D065-B704E513E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Calibri Light"/>
              </a:rPr>
              <a:t>Content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B2CA7-65F3-7A04-220A-B7B16282F0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Access Specifiers</a:t>
            </a:r>
          </a:p>
          <a:p>
            <a:r>
              <a:rPr lang="en-US" dirty="0">
                <a:ea typeface="+mn-lt"/>
                <a:cs typeface="+mn-lt"/>
              </a:rPr>
              <a:t>Encapsulation</a:t>
            </a:r>
            <a:endParaRPr lang="en-US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747665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1C21A-EF04-5369-7E79-0A3542ED5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Access Specifiers</a:t>
            </a:r>
          </a:p>
          <a:p>
            <a:endParaRPr lang="en-US" dirty="0"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5155C-BB63-4071-5A2B-59169DC46C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US" dirty="0">
                <a:ea typeface="+mn-lt"/>
                <a:cs typeface="+mn-lt"/>
              </a:rPr>
              <a:t> Access specifiers define how the members (attributes and methods) of a class can be accessed. </a:t>
            </a:r>
            <a:endParaRPr lang="en-US"/>
          </a:p>
          <a:p>
            <a:pPr algn="just"/>
            <a:r>
              <a:rPr lang="en-US" dirty="0">
                <a:ea typeface="+mn-lt"/>
                <a:cs typeface="+mn-lt"/>
              </a:rPr>
              <a:t>In C++, there are three access specifiers:</a:t>
            </a:r>
            <a:endParaRPr lang="en-US" dirty="0">
              <a:cs typeface="Calibri"/>
            </a:endParaRPr>
          </a:p>
          <a:p>
            <a:pPr marL="514350" indent="-514350" algn="just">
              <a:buAutoNum type="alphaLcPeriod"/>
            </a:pPr>
            <a:r>
              <a:rPr lang="en-US" b="1" dirty="0">
                <a:latin typeface="Consolas"/>
                <a:cs typeface="Calibri"/>
              </a:rPr>
              <a:t>public</a:t>
            </a:r>
            <a:r>
              <a:rPr lang="en-US" dirty="0">
                <a:ea typeface="+mn-lt"/>
                <a:cs typeface="+mn-lt"/>
              </a:rPr>
              <a:t> - members are accessible from outside the class</a:t>
            </a:r>
            <a:endParaRPr lang="en-US" dirty="0">
              <a:cs typeface="Calibri" panose="020F0502020204030204"/>
            </a:endParaRPr>
          </a:p>
          <a:p>
            <a:pPr marL="514350" indent="-514350" algn="just">
              <a:buAutoNum type="alphaLcPeriod"/>
            </a:pPr>
            <a:r>
              <a:rPr lang="en-US" b="1" dirty="0">
                <a:latin typeface="Consolas"/>
                <a:cs typeface="Calibri"/>
              </a:rPr>
              <a:t>private</a:t>
            </a:r>
            <a:r>
              <a:rPr lang="en-US" dirty="0">
                <a:ea typeface="+mn-lt"/>
                <a:cs typeface="+mn-lt"/>
              </a:rPr>
              <a:t> - members cannot be accessed (or viewed) from outside the class</a:t>
            </a:r>
            <a:endParaRPr lang="en-US" dirty="0">
              <a:cs typeface="Calibri" panose="020F0502020204030204"/>
            </a:endParaRPr>
          </a:p>
          <a:p>
            <a:pPr marL="514350" indent="-514350" algn="just">
              <a:buAutoNum type="alphaLcPeriod"/>
            </a:pPr>
            <a:r>
              <a:rPr lang="en-US" b="1" dirty="0">
                <a:latin typeface="Consolas"/>
                <a:cs typeface="Calibri"/>
              </a:rPr>
              <a:t>protected</a:t>
            </a:r>
            <a:r>
              <a:rPr lang="en-US" dirty="0">
                <a:ea typeface="+mn-lt"/>
                <a:cs typeface="+mn-lt"/>
              </a:rPr>
              <a:t> - members cannot be accessed from outside the class, however, they can be accessed in inherited classes.</a:t>
            </a:r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52911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5A16D-8EDF-8CED-9C7A-F6712B18A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+mj-lt"/>
                <a:cs typeface="+mj-lt"/>
              </a:rPr>
              <a:t>Access Specifiers...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C9D8DAF-3D04-9649-64EF-415296186A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6190982"/>
              </p:ext>
            </p:extLst>
          </p:nvPr>
        </p:nvGraphicFramePr>
        <p:xfrm>
          <a:off x="1869056" y="2286000"/>
          <a:ext cx="7438722" cy="295099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49557">
                  <a:extLst>
                    <a:ext uri="{9D8B030D-6E8A-4147-A177-3AD203B41FA5}">
                      <a16:colId xmlns:a16="http://schemas.microsoft.com/office/drawing/2014/main" val="2061951418"/>
                    </a:ext>
                  </a:extLst>
                </a:gridCol>
                <a:gridCol w="1217872">
                  <a:extLst>
                    <a:ext uri="{9D8B030D-6E8A-4147-A177-3AD203B41FA5}">
                      <a16:colId xmlns:a16="http://schemas.microsoft.com/office/drawing/2014/main" val="1166175874"/>
                    </a:ext>
                  </a:extLst>
                </a:gridCol>
                <a:gridCol w="1371856">
                  <a:extLst>
                    <a:ext uri="{9D8B030D-6E8A-4147-A177-3AD203B41FA5}">
                      <a16:colId xmlns:a16="http://schemas.microsoft.com/office/drawing/2014/main" val="693319129"/>
                    </a:ext>
                  </a:extLst>
                </a:gridCol>
                <a:gridCol w="1699437">
                  <a:extLst>
                    <a:ext uri="{9D8B030D-6E8A-4147-A177-3AD203B41FA5}">
                      <a16:colId xmlns:a16="http://schemas.microsoft.com/office/drawing/2014/main" val="4074661954"/>
                    </a:ext>
                  </a:extLst>
                </a:gridCol>
              </a:tblGrid>
              <a:tr h="73774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2060"/>
                          </a:solidFill>
                          <a:effectLst/>
                        </a:rPr>
                        <a:t>Access</a:t>
                      </a:r>
                    </a:p>
                  </a:txBody>
                  <a:tcPr marL="50165" marR="50165" marT="25400" marB="2540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2060"/>
                          </a:solidFill>
                          <a:effectLst/>
                        </a:rPr>
                        <a:t>public</a:t>
                      </a:r>
                    </a:p>
                  </a:txBody>
                  <a:tcPr marL="50165" marR="50165" marT="25400" marB="2540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2060"/>
                          </a:solidFill>
                          <a:effectLst/>
                        </a:rPr>
                        <a:t>protected</a:t>
                      </a:r>
                    </a:p>
                  </a:txBody>
                  <a:tcPr marL="50165" marR="50165" marT="25400" marB="2540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2060"/>
                          </a:solidFill>
                          <a:effectLst/>
                        </a:rPr>
                        <a:t>private</a:t>
                      </a:r>
                    </a:p>
                  </a:txBody>
                  <a:tcPr marL="50165" marR="50165" marT="25400" marB="2540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7362168"/>
                  </a:ext>
                </a:extLst>
              </a:tr>
              <a:tr h="73774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2060"/>
                          </a:solidFill>
                          <a:effectLst/>
                        </a:rPr>
                        <a:t>Same class</a:t>
                      </a:r>
                    </a:p>
                  </a:txBody>
                  <a:tcPr marL="50165" marR="50165" marT="25400" marB="2540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</a:rPr>
                        <a:t>yes</a:t>
                      </a:r>
                    </a:p>
                  </a:txBody>
                  <a:tcPr marL="50165" marR="50165" marT="25400" marB="2540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</a:rPr>
                        <a:t>yes</a:t>
                      </a:r>
                    </a:p>
                  </a:txBody>
                  <a:tcPr marL="50165" marR="50165" marT="25400" marB="2540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</a:rPr>
                        <a:t>yes</a:t>
                      </a:r>
                    </a:p>
                  </a:txBody>
                  <a:tcPr marL="50165" marR="50165" marT="25400" marB="2540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7709184"/>
                  </a:ext>
                </a:extLst>
              </a:tr>
              <a:tr h="73774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2060"/>
                          </a:solidFill>
                          <a:effectLst/>
                        </a:rPr>
                        <a:t>Derived classes</a:t>
                      </a:r>
                    </a:p>
                  </a:txBody>
                  <a:tcPr marL="50165" marR="50165" marT="25400" marB="2540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</a:rPr>
                        <a:t>yes</a:t>
                      </a:r>
                    </a:p>
                  </a:txBody>
                  <a:tcPr marL="50165" marR="50165" marT="25400" marB="2540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</a:rPr>
                        <a:t>yes</a:t>
                      </a:r>
                    </a:p>
                  </a:txBody>
                  <a:tcPr marL="50165" marR="50165" marT="25400" marB="2540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</a:rPr>
                        <a:t>no</a:t>
                      </a:r>
                    </a:p>
                  </a:txBody>
                  <a:tcPr marL="50165" marR="50165" marT="25400" marB="2540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735942"/>
                  </a:ext>
                </a:extLst>
              </a:tr>
              <a:tr h="73774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2060"/>
                          </a:solidFill>
                          <a:effectLst/>
                        </a:rPr>
                        <a:t>Outside classes</a:t>
                      </a:r>
                    </a:p>
                  </a:txBody>
                  <a:tcPr marL="50165" marR="50165" marT="25400" marB="2540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</a:rPr>
                        <a:t>yes</a:t>
                      </a:r>
                    </a:p>
                  </a:txBody>
                  <a:tcPr marL="50165" marR="50165" marT="25400" marB="2540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</a:rPr>
                        <a:t>no</a:t>
                      </a:r>
                    </a:p>
                  </a:txBody>
                  <a:tcPr marL="50165" marR="50165" marT="25400" marB="2540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</a:rPr>
                        <a:t>no</a:t>
                      </a:r>
                    </a:p>
                  </a:txBody>
                  <a:tcPr marL="50165" marR="50165" marT="25400" marB="2540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72721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AAFDE3D-7BEE-04FC-04A3-3B00B9806DA5}"/>
              </a:ext>
            </a:extLst>
          </p:cNvPr>
          <p:cNvSpPr txBox="1"/>
          <p:nvPr/>
        </p:nvSpPr>
        <p:spPr>
          <a:xfrm>
            <a:off x="842513" y="1662023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dirty="0"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D1790E-FCA3-1FC8-A87F-86FE378E0E35}"/>
              </a:ext>
            </a:extLst>
          </p:cNvPr>
          <p:cNvSpPr txBox="1"/>
          <p:nvPr/>
        </p:nvSpPr>
        <p:spPr>
          <a:xfrm>
            <a:off x="841614" y="1617993"/>
            <a:ext cx="1013316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We can summarize the different access types according to - who can access them in the following way − </a:t>
            </a:r>
            <a:endParaRPr lang="en-US" b="1" dirty="0"/>
          </a:p>
        </p:txBody>
      </p:sp>
      <p:sp>
        <p:nvSpPr>
          <p:cNvPr id="9" name="TextBox 1">
            <a:extLst>
              <a:ext uri="{FF2B5EF4-FFF2-40B4-BE49-F238E27FC236}">
                <a16:creationId xmlns:a16="http://schemas.microsoft.com/office/drawing/2014/main" id="{8418C26D-6D91-046D-06F2-E78CB1478FAC}"/>
              </a:ext>
            </a:extLst>
          </p:cNvPr>
          <p:cNvSpPr txBox="1"/>
          <p:nvPr/>
        </p:nvSpPr>
        <p:spPr>
          <a:xfrm>
            <a:off x="10115910" y="1618892"/>
            <a:ext cx="1377350" cy="425121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8418C26D-6D91-046D-06F2-E78CB1478FAC}"/>
              </a:ext>
            </a:extLst>
          </p:cNvPr>
          <p:cNvSpPr txBox="1"/>
          <p:nvPr/>
        </p:nvSpPr>
        <p:spPr>
          <a:xfrm>
            <a:off x="9539917" y="1661125"/>
            <a:ext cx="2096218" cy="435185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TextBox 1">
            <a:extLst>
              <a:ext uri="{FF2B5EF4-FFF2-40B4-BE49-F238E27FC236}">
                <a16:creationId xmlns:a16="http://schemas.microsoft.com/office/drawing/2014/main" id="{8418C26D-6D91-046D-06F2-E78CB1478FAC}"/>
              </a:ext>
            </a:extLst>
          </p:cNvPr>
          <p:cNvSpPr txBox="1"/>
          <p:nvPr/>
        </p:nvSpPr>
        <p:spPr>
          <a:xfrm>
            <a:off x="10401660" y="1904642"/>
            <a:ext cx="1377350" cy="425121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8418C26D-6D91-046D-06F2-E78CB1478FAC}"/>
              </a:ext>
            </a:extLst>
          </p:cNvPr>
          <p:cNvSpPr txBox="1"/>
          <p:nvPr/>
        </p:nvSpPr>
        <p:spPr>
          <a:xfrm>
            <a:off x="10961478" y="2018763"/>
            <a:ext cx="960407" cy="427997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542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FE137-3C52-2696-A3ED-91DD80D1A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+mj-lt"/>
                <a:cs typeface="+mj-lt"/>
              </a:rPr>
              <a:t>Access Specifiers...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AF2DD-7543-CCEE-F5CB-06CD5DC18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44974C-2657-7A88-5464-4CCAA6DF685B}"/>
              </a:ext>
            </a:extLst>
          </p:cNvPr>
          <p:cNvSpPr/>
          <p:nvPr/>
        </p:nvSpPr>
        <p:spPr>
          <a:xfrm>
            <a:off x="836762" y="1821611"/>
            <a:ext cx="4169433" cy="416943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cs typeface="Calibri"/>
            </a:endParaRPr>
          </a:p>
          <a:p>
            <a:r>
              <a:rPr lang="en-US" b="1" dirty="0">
                <a:ea typeface="+mn-lt"/>
                <a:cs typeface="+mn-lt"/>
              </a:rPr>
              <a:t>class </a:t>
            </a:r>
            <a:r>
              <a:rPr lang="en-US" b="1" dirty="0" err="1">
                <a:ea typeface="+mn-lt"/>
                <a:cs typeface="+mn-lt"/>
              </a:rPr>
              <a:t>MyClass</a:t>
            </a:r>
            <a:r>
              <a:rPr lang="en-US" b="1" dirty="0">
                <a:ea typeface="+mn-lt"/>
                <a:cs typeface="+mn-lt"/>
              </a:rPr>
              <a:t> {</a:t>
            </a:r>
            <a:endParaRPr lang="en-US" b="1" dirty="0">
              <a:cs typeface="Calibri" panose="020F0502020204030204"/>
            </a:endParaRPr>
          </a:p>
          <a:p>
            <a:r>
              <a:rPr lang="en-US" b="1" dirty="0">
                <a:ea typeface="+mn-lt"/>
                <a:cs typeface="+mn-lt"/>
              </a:rPr>
              <a:t>  public:               </a:t>
            </a:r>
            <a:r>
              <a:rPr lang="en-US" dirty="0">
                <a:ea typeface="+mn-lt"/>
                <a:cs typeface="+mn-lt"/>
              </a:rPr>
              <a:t>// Public access specifier</a:t>
            </a:r>
            <a:endParaRPr lang="en-US" dirty="0">
              <a:cs typeface="Calibri" panose="020F0502020204030204"/>
            </a:endParaRPr>
          </a:p>
          <a:p>
            <a:r>
              <a:rPr lang="en-US" b="1" dirty="0">
                <a:ea typeface="+mn-lt"/>
                <a:cs typeface="+mn-lt"/>
              </a:rPr>
              <a:t>    int a;               </a:t>
            </a:r>
            <a:r>
              <a:rPr lang="en-US" dirty="0">
                <a:ea typeface="+mn-lt"/>
                <a:cs typeface="+mn-lt"/>
              </a:rPr>
              <a:t>// Public attribute</a:t>
            </a:r>
            <a:endParaRPr lang="en-US" dirty="0">
              <a:cs typeface="Calibri" panose="020F0502020204030204"/>
            </a:endParaRPr>
          </a:p>
          <a:p>
            <a:r>
              <a:rPr lang="en-US" b="1" dirty="0">
                <a:ea typeface="+mn-lt"/>
                <a:cs typeface="+mn-lt"/>
              </a:rPr>
              <a:t>  private:            </a:t>
            </a:r>
            <a:r>
              <a:rPr lang="en-US" dirty="0">
                <a:ea typeface="+mn-lt"/>
                <a:cs typeface="+mn-lt"/>
              </a:rPr>
              <a:t>// Private access specifier</a:t>
            </a:r>
            <a:endParaRPr lang="en-US" dirty="0">
              <a:cs typeface="Calibri" panose="020F0502020204030204"/>
            </a:endParaRPr>
          </a:p>
          <a:p>
            <a:r>
              <a:rPr lang="en-US" b="1" dirty="0">
                <a:ea typeface="+mn-lt"/>
                <a:cs typeface="+mn-lt"/>
              </a:rPr>
              <a:t>    int b;               </a:t>
            </a:r>
            <a:r>
              <a:rPr lang="en-US" dirty="0">
                <a:ea typeface="+mn-lt"/>
                <a:cs typeface="+mn-lt"/>
              </a:rPr>
              <a:t>// Private attribute</a:t>
            </a:r>
            <a:endParaRPr lang="en-US" dirty="0">
              <a:cs typeface="Calibri" panose="020F0502020204030204"/>
            </a:endParaRPr>
          </a:p>
          <a:p>
            <a:r>
              <a:rPr lang="en-US" b="1" dirty="0">
                <a:ea typeface="+mn-lt"/>
                <a:cs typeface="+mn-lt"/>
              </a:rPr>
              <a:t>};</a:t>
            </a:r>
            <a:endParaRPr lang="en-US" b="1" dirty="0">
              <a:cs typeface="Calibri" panose="020F0502020204030204"/>
            </a:endParaRPr>
          </a:p>
          <a:p>
            <a:endParaRPr lang="en-US" b="1" dirty="0">
              <a:cs typeface="Calibri" panose="020F0502020204030204"/>
            </a:endParaRPr>
          </a:p>
          <a:p>
            <a:r>
              <a:rPr lang="en-US" b="1" dirty="0">
                <a:ea typeface="+mn-lt"/>
                <a:cs typeface="+mn-lt"/>
              </a:rPr>
              <a:t>int main() {</a:t>
            </a:r>
            <a:endParaRPr lang="en-US" b="1" dirty="0">
              <a:cs typeface="Calibri" panose="020F0502020204030204"/>
            </a:endParaRPr>
          </a:p>
          <a:p>
            <a:r>
              <a:rPr lang="en-US" b="1" dirty="0">
                <a:ea typeface="+mn-lt"/>
                <a:cs typeface="+mn-lt"/>
              </a:rPr>
              <a:t>  </a:t>
            </a:r>
            <a:r>
              <a:rPr lang="en-US" b="1" dirty="0" err="1">
                <a:ea typeface="+mn-lt"/>
                <a:cs typeface="+mn-lt"/>
              </a:rPr>
              <a:t>MyClass</a:t>
            </a:r>
            <a:r>
              <a:rPr lang="en-US" b="1" dirty="0">
                <a:ea typeface="+mn-lt"/>
                <a:cs typeface="+mn-lt"/>
              </a:rPr>
              <a:t> Obj;</a:t>
            </a:r>
            <a:endParaRPr lang="en-US" b="1" dirty="0">
              <a:cs typeface="Calibri" panose="020F0502020204030204"/>
            </a:endParaRPr>
          </a:p>
          <a:p>
            <a:r>
              <a:rPr lang="en-US" b="1" dirty="0">
                <a:ea typeface="+mn-lt"/>
                <a:cs typeface="+mn-lt"/>
              </a:rPr>
              <a:t>  </a:t>
            </a:r>
            <a:r>
              <a:rPr lang="en-US" b="1" dirty="0" err="1">
                <a:ea typeface="+mn-lt"/>
                <a:cs typeface="+mn-lt"/>
              </a:rPr>
              <a:t>Obj.a</a:t>
            </a:r>
            <a:r>
              <a:rPr lang="en-US" b="1" dirty="0">
                <a:ea typeface="+mn-lt"/>
                <a:cs typeface="+mn-lt"/>
              </a:rPr>
              <a:t> = 10;      </a:t>
            </a:r>
            <a:r>
              <a:rPr lang="en-US" dirty="0">
                <a:ea typeface="+mn-lt"/>
                <a:cs typeface="+mn-lt"/>
              </a:rPr>
              <a:t>// Allowed (public)</a:t>
            </a:r>
            <a:endParaRPr lang="en-US" dirty="0">
              <a:cs typeface="Calibri" panose="020F0502020204030204"/>
            </a:endParaRPr>
          </a:p>
          <a:p>
            <a:r>
              <a:rPr lang="en-US" b="1" dirty="0">
                <a:ea typeface="+mn-lt"/>
                <a:cs typeface="+mn-lt"/>
              </a:rPr>
              <a:t>  </a:t>
            </a:r>
            <a:r>
              <a:rPr lang="en-US" b="1" dirty="0" err="1">
                <a:ea typeface="+mn-lt"/>
                <a:cs typeface="+mn-lt"/>
              </a:rPr>
              <a:t>Obj.b</a:t>
            </a:r>
            <a:r>
              <a:rPr lang="en-US" b="1" dirty="0">
                <a:ea typeface="+mn-lt"/>
                <a:cs typeface="+mn-lt"/>
              </a:rPr>
              <a:t> = 20;     </a:t>
            </a:r>
            <a:r>
              <a:rPr lang="en-US" dirty="0">
                <a:solidFill>
                  <a:srgbClr val="FF0000"/>
                </a:solidFill>
                <a:ea typeface="+mn-lt"/>
                <a:cs typeface="+mn-lt"/>
              </a:rPr>
              <a:t>// Not allowed (private)</a:t>
            </a:r>
            <a:endParaRPr lang="en-US" dirty="0">
              <a:solidFill>
                <a:srgbClr val="FF0000"/>
              </a:solidFill>
              <a:cs typeface="Calibri" panose="020F0502020204030204"/>
            </a:endParaRPr>
          </a:p>
          <a:p>
            <a:r>
              <a:rPr lang="en-US" b="1" dirty="0">
                <a:ea typeface="+mn-lt"/>
                <a:cs typeface="+mn-lt"/>
              </a:rPr>
              <a:t>  </a:t>
            </a:r>
            <a:r>
              <a:rPr lang="en-US" b="1" dirty="0" err="1">
                <a:ea typeface="+mn-lt"/>
                <a:cs typeface="+mn-lt"/>
              </a:rPr>
              <a:t>cout</a:t>
            </a:r>
            <a:r>
              <a:rPr lang="en-US" b="1" dirty="0">
                <a:ea typeface="+mn-lt"/>
                <a:cs typeface="+mn-lt"/>
              </a:rPr>
              <a:t>&lt;&lt;</a:t>
            </a:r>
            <a:r>
              <a:rPr lang="en-US" b="1" dirty="0" err="1">
                <a:ea typeface="+mn-lt"/>
                <a:cs typeface="+mn-lt"/>
              </a:rPr>
              <a:t>Obj.a</a:t>
            </a:r>
            <a:r>
              <a:rPr lang="en-US" b="1" dirty="0">
                <a:ea typeface="+mn-lt"/>
                <a:cs typeface="+mn-lt"/>
              </a:rPr>
              <a:t>;</a:t>
            </a:r>
            <a:endParaRPr lang="en-US" b="1" dirty="0">
              <a:cs typeface="Calibri" panose="020F0502020204030204"/>
            </a:endParaRPr>
          </a:p>
          <a:p>
            <a:r>
              <a:rPr lang="en-US" b="1" dirty="0">
                <a:ea typeface="+mn-lt"/>
                <a:cs typeface="+mn-lt"/>
              </a:rPr>
              <a:t>  </a:t>
            </a:r>
            <a:r>
              <a:rPr lang="en-US" b="1" dirty="0" err="1">
                <a:ea typeface="+mn-lt"/>
                <a:cs typeface="+mn-lt"/>
              </a:rPr>
              <a:t>cout</a:t>
            </a:r>
            <a:r>
              <a:rPr lang="en-US" b="1" dirty="0">
                <a:ea typeface="+mn-lt"/>
                <a:cs typeface="+mn-lt"/>
              </a:rPr>
              <a:t>&lt;&lt;</a:t>
            </a:r>
            <a:r>
              <a:rPr lang="en-US" b="1" dirty="0" err="1">
                <a:ea typeface="+mn-lt"/>
                <a:cs typeface="+mn-lt"/>
              </a:rPr>
              <a:t>Obj.b</a:t>
            </a:r>
            <a:r>
              <a:rPr lang="en-US" b="1" dirty="0">
                <a:ea typeface="+mn-lt"/>
                <a:cs typeface="+mn-lt"/>
              </a:rPr>
              <a:t>;</a:t>
            </a:r>
            <a:endParaRPr lang="en-US" b="1" dirty="0">
              <a:cs typeface="Calibri" panose="020F0502020204030204"/>
            </a:endParaRPr>
          </a:p>
          <a:p>
            <a:r>
              <a:rPr lang="en-US" b="1" dirty="0">
                <a:ea typeface="+mn-lt"/>
                <a:cs typeface="+mn-lt"/>
              </a:rPr>
              <a:t>  return 0;</a:t>
            </a:r>
            <a:endParaRPr lang="en-US" b="1" dirty="0">
              <a:cs typeface="Calibri" panose="020F0502020204030204"/>
            </a:endParaRPr>
          </a:p>
          <a:p>
            <a:r>
              <a:rPr lang="en-US" b="1" dirty="0">
                <a:ea typeface="+mn-lt"/>
                <a:cs typeface="+mn-lt"/>
              </a:rPr>
              <a:t>}</a:t>
            </a:r>
            <a:endParaRPr lang="en-US" b="1" dirty="0">
              <a:cs typeface="Calibri" panose="020F0502020204030204"/>
            </a:endParaRPr>
          </a:p>
          <a:p>
            <a:pPr algn="ctr"/>
            <a:endParaRPr lang="en-US" dirty="0"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457867-9AEC-D520-3681-A5A28C97B88F}"/>
              </a:ext>
            </a:extLst>
          </p:cNvPr>
          <p:cNvSpPr/>
          <p:nvPr/>
        </p:nvSpPr>
        <p:spPr>
          <a:xfrm>
            <a:off x="5638800" y="1821612"/>
            <a:ext cx="4284451" cy="41694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cs typeface="Calibri"/>
            </a:endParaRPr>
          </a:p>
          <a:p>
            <a:r>
              <a:rPr lang="en-US" b="1" dirty="0">
                <a:ea typeface="+mn-lt"/>
                <a:cs typeface="+mn-lt"/>
              </a:rPr>
              <a:t>class </a:t>
            </a:r>
            <a:r>
              <a:rPr lang="en-US" b="1" dirty="0" err="1">
                <a:ea typeface="+mn-lt"/>
                <a:cs typeface="+mn-lt"/>
              </a:rPr>
              <a:t>MyClass</a:t>
            </a:r>
            <a:r>
              <a:rPr lang="en-US" b="1" dirty="0">
                <a:ea typeface="+mn-lt"/>
                <a:cs typeface="+mn-lt"/>
              </a:rPr>
              <a:t> {</a:t>
            </a:r>
            <a:endParaRPr lang="en-US" b="1" dirty="0">
              <a:cs typeface="Calibri" panose="020F0502020204030204"/>
            </a:endParaRPr>
          </a:p>
          <a:p>
            <a:endParaRPr lang="en-US" b="1" dirty="0">
              <a:cs typeface="Calibri" panose="020F0502020204030204"/>
            </a:endParaRPr>
          </a:p>
          <a:p>
            <a:r>
              <a:rPr lang="en-US" b="1" dirty="0">
                <a:ea typeface="+mn-lt"/>
                <a:cs typeface="+mn-lt"/>
              </a:rPr>
              <a:t>    int a;   </a:t>
            </a:r>
            <a:r>
              <a:rPr lang="en-US" dirty="0">
                <a:ea typeface="+mn-lt"/>
                <a:cs typeface="+mn-lt"/>
              </a:rPr>
              <a:t>// Private attribute</a:t>
            </a:r>
            <a:endParaRPr lang="en-US" dirty="0">
              <a:cs typeface="Calibri" panose="020F0502020204030204"/>
            </a:endParaRPr>
          </a:p>
          <a:p>
            <a:endParaRPr lang="en-US" b="1" dirty="0">
              <a:cs typeface="Calibri" panose="020F0502020204030204"/>
            </a:endParaRPr>
          </a:p>
          <a:p>
            <a:r>
              <a:rPr lang="en-US" b="1" dirty="0">
                <a:ea typeface="+mn-lt"/>
                <a:cs typeface="+mn-lt"/>
              </a:rPr>
              <a:t>    int b;   </a:t>
            </a:r>
            <a:r>
              <a:rPr lang="en-US" dirty="0">
                <a:ea typeface="+mn-lt"/>
                <a:cs typeface="+mn-lt"/>
              </a:rPr>
              <a:t>// Private attribute</a:t>
            </a:r>
            <a:endParaRPr lang="en-US" dirty="0">
              <a:cs typeface="Calibri" panose="020F0502020204030204"/>
            </a:endParaRPr>
          </a:p>
          <a:p>
            <a:r>
              <a:rPr lang="en-US" b="1" dirty="0">
                <a:ea typeface="+mn-lt"/>
                <a:cs typeface="+mn-lt"/>
              </a:rPr>
              <a:t>};</a:t>
            </a:r>
            <a:endParaRPr lang="en-US" b="1" dirty="0">
              <a:cs typeface="Calibri" panose="020F0502020204030204"/>
            </a:endParaRPr>
          </a:p>
          <a:p>
            <a:endParaRPr lang="en-US" b="1" dirty="0">
              <a:cs typeface="Calibri" panose="020F0502020204030204"/>
            </a:endParaRPr>
          </a:p>
          <a:p>
            <a:r>
              <a:rPr lang="en-US" b="1" dirty="0">
                <a:ea typeface="+mn-lt"/>
                <a:cs typeface="+mn-lt"/>
              </a:rPr>
              <a:t>int main() {</a:t>
            </a:r>
            <a:endParaRPr lang="en-US" b="1" dirty="0">
              <a:cs typeface="Calibri" panose="020F0502020204030204"/>
            </a:endParaRPr>
          </a:p>
          <a:p>
            <a:r>
              <a:rPr lang="en-US" b="1" dirty="0">
                <a:ea typeface="+mn-lt"/>
                <a:cs typeface="+mn-lt"/>
              </a:rPr>
              <a:t>  </a:t>
            </a:r>
            <a:r>
              <a:rPr lang="en-US" b="1" dirty="0" err="1">
                <a:ea typeface="+mn-lt"/>
                <a:cs typeface="+mn-lt"/>
              </a:rPr>
              <a:t>MyClass</a:t>
            </a:r>
            <a:r>
              <a:rPr lang="en-US" b="1" dirty="0">
                <a:ea typeface="+mn-lt"/>
                <a:cs typeface="+mn-lt"/>
              </a:rPr>
              <a:t> Obj;</a:t>
            </a:r>
            <a:endParaRPr lang="en-US" b="1" dirty="0">
              <a:cs typeface="Calibri" panose="020F0502020204030204"/>
            </a:endParaRPr>
          </a:p>
          <a:p>
            <a:r>
              <a:rPr lang="en-US" b="1" dirty="0">
                <a:ea typeface="+mn-lt"/>
                <a:cs typeface="+mn-lt"/>
              </a:rPr>
              <a:t>  </a:t>
            </a:r>
            <a:r>
              <a:rPr lang="en-US" b="1" dirty="0" err="1">
                <a:ea typeface="+mn-lt"/>
                <a:cs typeface="+mn-lt"/>
              </a:rPr>
              <a:t>Obj.a</a:t>
            </a:r>
            <a:r>
              <a:rPr lang="en-US" b="1" dirty="0">
                <a:ea typeface="+mn-lt"/>
                <a:cs typeface="+mn-lt"/>
              </a:rPr>
              <a:t> = 10;        </a:t>
            </a:r>
            <a:r>
              <a:rPr lang="en-US" dirty="0">
                <a:solidFill>
                  <a:srgbClr val="FF0000"/>
                </a:solidFill>
                <a:ea typeface="+mn-lt"/>
                <a:cs typeface="+mn-lt"/>
              </a:rPr>
              <a:t>// Not Allowed (private)</a:t>
            </a:r>
            <a:endParaRPr lang="en-US">
              <a:solidFill>
                <a:srgbClr val="FF0000"/>
              </a:solidFill>
              <a:cs typeface="Calibri" panose="020F0502020204030204"/>
            </a:endParaRPr>
          </a:p>
          <a:p>
            <a:r>
              <a:rPr lang="en-US" b="1" dirty="0">
                <a:ea typeface="+mn-lt"/>
                <a:cs typeface="+mn-lt"/>
              </a:rPr>
              <a:t>  </a:t>
            </a:r>
            <a:r>
              <a:rPr lang="en-US" b="1" dirty="0" err="1">
                <a:ea typeface="+mn-lt"/>
                <a:cs typeface="+mn-lt"/>
              </a:rPr>
              <a:t>Obj.b</a:t>
            </a:r>
            <a:r>
              <a:rPr lang="en-US" b="1" dirty="0">
                <a:ea typeface="+mn-lt"/>
                <a:cs typeface="+mn-lt"/>
              </a:rPr>
              <a:t> = 20;      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>
                <a:solidFill>
                  <a:srgbClr val="FF0000"/>
                </a:solidFill>
                <a:ea typeface="+mn-lt"/>
                <a:cs typeface="+mn-lt"/>
              </a:rPr>
              <a:t>// Not allowed (private)</a:t>
            </a:r>
            <a:endParaRPr lang="en-US">
              <a:solidFill>
                <a:srgbClr val="FF0000"/>
              </a:solidFill>
              <a:cs typeface="Calibri" panose="020F0502020204030204"/>
            </a:endParaRPr>
          </a:p>
          <a:p>
            <a:r>
              <a:rPr lang="en-US" b="1" dirty="0">
                <a:ea typeface="+mn-lt"/>
                <a:cs typeface="+mn-lt"/>
              </a:rPr>
              <a:t>  </a:t>
            </a:r>
            <a:r>
              <a:rPr lang="en-US" b="1" dirty="0" err="1">
                <a:ea typeface="+mn-lt"/>
                <a:cs typeface="+mn-lt"/>
              </a:rPr>
              <a:t>cout</a:t>
            </a:r>
            <a:r>
              <a:rPr lang="en-US" b="1" dirty="0">
                <a:ea typeface="+mn-lt"/>
                <a:cs typeface="+mn-lt"/>
              </a:rPr>
              <a:t>&lt;&lt;</a:t>
            </a:r>
            <a:r>
              <a:rPr lang="en-US" b="1" dirty="0" err="1">
                <a:ea typeface="+mn-lt"/>
                <a:cs typeface="+mn-lt"/>
              </a:rPr>
              <a:t>Obj.a</a:t>
            </a:r>
            <a:r>
              <a:rPr lang="en-US" b="1" dirty="0">
                <a:ea typeface="+mn-lt"/>
                <a:cs typeface="+mn-lt"/>
              </a:rPr>
              <a:t>;</a:t>
            </a:r>
            <a:endParaRPr lang="en-US" b="1" dirty="0">
              <a:cs typeface="Calibri" panose="020F0502020204030204"/>
            </a:endParaRPr>
          </a:p>
          <a:p>
            <a:r>
              <a:rPr lang="en-US" b="1" dirty="0">
                <a:ea typeface="+mn-lt"/>
                <a:cs typeface="+mn-lt"/>
              </a:rPr>
              <a:t>  </a:t>
            </a:r>
            <a:r>
              <a:rPr lang="en-US" b="1" dirty="0" err="1">
                <a:ea typeface="+mn-lt"/>
                <a:cs typeface="+mn-lt"/>
              </a:rPr>
              <a:t>cout</a:t>
            </a:r>
            <a:r>
              <a:rPr lang="en-US" b="1" dirty="0">
                <a:ea typeface="+mn-lt"/>
                <a:cs typeface="+mn-lt"/>
              </a:rPr>
              <a:t>&lt;&lt;</a:t>
            </a:r>
            <a:r>
              <a:rPr lang="en-US" b="1" dirty="0" err="1">
                <a:ea typeface="+mn-lt"/>
                <a:cs typeface="+mn-lt"/>
              </a:rPr>
              <a:t>Obj.b</a:t>
            </a:r>
            <a:r>
              <a:rPr lang="en-US" b="1" dirty="0">
                <a:ea typeface="+mn-lt"/>
                <a:cs typeface="+mn-lt"/>
              </a:rPr>
              <a:t>;</a:t>
            </a:r>
            <a:endParaRPr lang="en-US" b="1" dirty="0">
              <a:cs typeface="Calibri" panose="020F0502020204030204"/>
            </a:endParaRPr>
          </a:p>
          <a:p>
            <a:r>
              <a:rPr lang="en-US" b="1" dirty="0">
                <a:ea typeface="+mn-lt"/>
                <a:cs typeface="+mn-lt"/>
              </a:rPr>
              <a:t>  return 0;</a:t>
            </a:r>
            <a:endParaRPr lang="en-US" b="1" dirty="0">
              <a:cs typeface="Calibri" panose="020F0502020204030204"/>
            </a:endParaRPr>
          </a:p>
          <a:p>
            <a:pPr algn="ctr"/>
            <a:r>
              <a:rPr lang="en-US" dirty="0">
                <a:ea typeface="+mn-lt"/>
                <a:cs typeface="+mn-lt"/>
              </a:rPr>
              <a:t>}</a:t>
            </a:r>
            <a:endParaRPr lang="en-US" dirty="0"/>
          </a:p>
          <a:p>
            <a:pPr algn="ctr"/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03553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682DE-FDA0-6DB5-94F8-5D184AADA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Encapsulation</a:t>
            </a:r>
          </a:p>
          <a:p>
            <a:endParaRPr lang="en-US" dirty="0"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71EF9-FE46-8878-414D-CF7C66E33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US" dirty="0">
                <a:ea typeface="+mn-lt"/>
                <a:cs typeface="+mn-lt"/>
              </a:rPr>
              <a:t>The meaning of </a:t>
            </a:r>
            <a:r>
              <a:rPr lang="en-US" b="1" dirty="0">
                <a:ea typeface="+mn-lt"/>
                <a:cs typeface="+mn-lt"/>
              </a:rPr>
              <a:t>Encapsulation</a:t>
            </a:r>
            <a:r>
              <a:rPr lang="en-US" dirty="0">
                <a:ea typeface="+mn-lt"/>
                <a:cs typeface="+mn-lt"/>
              </a:rPr>
              <a:t>, is to make sure that "sensitive" data is hidden from users. To achieve this, you must declare class variables/attributes as </a:t>
            </a:r>
            <a:r>
              <a:rPr lang="en-US" dirty="0">
                <a:latin typeface="Consolas"/>
              </a:rPr>
              <a:t>private</a:t>
            </a:r>
            <a:r>
              <a:rPr lang="en-US" dirty="0">
                <a:ea typeface="+mn-lt"/>
                <a:cs typeface="+mn-lt"/>
              </a:rPr>
              <a:t> (cannot be accessed from outside the class). If you want others to read or modify the value of a private member, you can provide public </a:t>
            </a:r>
            <a:r>
              <a:rPr lang="en-US" b="1" dirty="0">
                <a:ea typeface="+mn-lt"/>
                <a:cs typeface="+mn-lt"/>
              </a:rPr>
              <a:t>get</a:t>
            </a:r>
            <a:r>
              <a:rPr lang="en-US" dirty="0">
                <a:ea typeface="+mn-lt"/>
                <a:cs typeface="+mn-lt"/>
              </a:rPr>
              <a:t> and </a:t>
            </a:r>
            <a:r>
              <a:rPr lang="en-US" b="1" dirty="0">
                <a:ea typeface="+mn-lt"/>
                <a:cs typeface="+mn-lt"/>
              </a:rPr>
              <a:t>set</a:t>
            </a:r>
            <a:r>
              <a:rPr lang="en-US" dirty="0">
                <a:ea typeface="+mn-lt"/>
                <a:cs typeface="+mn-lt"/>
              </a:rPr>
              <a:t> methods.</a:t>
            </a:r>
            <a:endParaRPr lang="en-US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758112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09C49-19DF-AF92-E644-9BCCFF9A3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+mj-lt"/>
                <a:cs typeface="+mj-lt"/>
              </a:rPr>
              <a:t>Encapsulation...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926DE-50D1-6E99-1306-B6A198C20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251732-5894-8BE7-32A8-AE019563D12D}"/>
              </a:ext>
            </a:extLst>
          </p:cNvPr>
          <p:cNvSpPr/>
          <p:nvPr/>
        </p:nvSpPr>
        <p:spPr>
          <a:xfrm>
            <a:off x="836762" y="1821611"/>
            <a:ext cx="4442602" cy="424131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dirty="0">
              <a:cs typeface="Calibri"/>
            </a:endParaRPr>
          </a:p>
          <a:p>
            <a:endParaRPr lang="en-US"/>
          </a:p>
          <a:p>
            <a:r>
              <a:rPr lang="en-US" b="1" dirty="0"/>
              <a:t>class Student {</a:t>
            </a:r>
            <a:endParaRPr lang="en-US" b="1">
              <a:cs typeface="Calibri"/>
            </a:endParaRPr>
          </a:p>
          <a:p>
            <a:r>
              <a:rPr lang="en-US" b="1" dirty="0"/>
              <a:t>  private:</a:t>
            </a:r>
            <a:endParaRPr lang="en-US" b="1">
              <a:cs typeface="Calibri"/>
            </a:endParaRPr>
          </a:p>
          <a:p>
            <a:r>
              <a:rPr lang="en-US" b="1" dirty="0"/>
              <a:t>    float </a:t>
            </a:r>
            <a:r>
              <a:rPr lang="en-US" b="1" dirty="0" err="1"/>
              <a:t>cgpa</a:t>
            </a:r>
            <a:r>
              <a:rPr lang="en-US" b="1" dirty="0"/>
              <a:t>;</a:t>
            </a:r>
            <a:endParaRPr lang="en-US" b="1">
              <a:cs typeface="Calibri"/>
            </a:endParaRPr>
          </a:p>
          <a:p>
            <a:endParaRPr lang="en-US" b="1" dirty="0">
              <a:cs typeface="Calibri"/>
            </a:endParaRPr>
          </a:p>
          <a:p>
            <a:r>
              <a:rPr lang="en-US" b="1" dirty="0"/>
              <a:t>  public:</a:t>
            </a:r>
            <a:endParaRPr lang="en-US" b="1">
              <a:cs typeface="Calibri"/>
            </a:endParaRPr>
          </a:p>
          <a:p>
            <a:r>
              <a:rPr lang="en-US" b="1" dirty="0"/>
              <a:t>    void set(float c)    </a:t>
            </a:r>
            <a:r>
              <a:rPr lang="en-US" dirty="0"/>
              <a:t>  //setter</a:t>
            </a:r>
            <a:endParaRPr lang="en-US" dirty="0">
              <a:cs typeface="Calibri"/>
            </a:endParaRPr>
          </a:p>
          <a:p>
            <a:r>
              <a:rPr lang="en-US" b="1" dirty="0"/>
              <a:t>   {</a:t>
            </a:r>
            <a:endParaRPr lang="en-US" b="1" dirty="0">
              <a:cs typeface="Calibri"/>
            </a:endParaRPr>
          </a:p>
          <a:p>
            <a:r>
              <a:rPr lang="en-US" b="1" dirty="0"/>
              <a:t>      </a:t>
            </a:r>
            <a:r>
              <a:rPr lang="en-US" b="1" dirty="0" err="1"/>
              <a:t>cgpa</a:t>
            </a:r>
            <a:r>
              <a:rPr lang="en-US" b="1" dirty="0"/>
              <a:t> = c;</a:t>
            </a:r>
            <a:endParaRPr lang="en-US" b="1">
              <a:cs typeface="Calibri"/>
            </a:endParaRPr>
          </a:p>
          <a:p>
            <a:r>
              <a:rPr lang="en-US" b="1" dirty="0"/>
              <a:t>    }</a:t>
            </a:r>
            <a:endParaRPr lang="en-US" b="1">
              <a:cs typeface="Calibri"/>
            </a:endParaRPr>
          </a:p>
          <a:p>
            <a:r>
              <a:rPr lang="en-US" b="1" dirty="0"/>
              <a:t>    float get()               </a:t>
            </a:r>
            <a:r>
              <a:rPr lang="en-US" dirty="0"/>
              <a:t>//getter</a:t>
            </a:r>
            <a:endParaRPr lang="en-US" dirty="0">
              <a:cs typeface="Calibri"/>
            </a:endParaRPr>
          </a:p>
          <a:p>
            <a:r>
              <a:rPr lang="en-US" b="1" dirty="0"/>
              <a:t>   {</a:t>
            </a:r>
            <a:endParaRPr lang="en-US" b="1" dirty="0">
              <a:cs typeface="Calibri"/>
            </a:endParaRPr>
          </a:p>
          <a:p>
            <a:r>
              <a:rPr lang="en-US" b="1" dirty="0"/>
              <a:t>      return </a:t>
            </a:r>
            <a:r>
              <a:rPr lang="en-US" b="1" dirty="0" err="1"/>
              <a:t>cgpa</a:t>
            </a:r>
            <a:r>
              <a:rPr lang="en-US" b="1" dirty="0"/>
              <a:t>;</a:t>
            </a:r>
            <a:endParaRPr lang="en-US" b="1">
              <a:cs typeface="Calibri"/>
            </a:endParaRPr>
          </a:p>
          <a:p>
            <a:r>
              <a:rPr lang="en-US" b="1" dirty="0"/>
              <a:t>    }</a:t>
            </a:r>
            <a:endParaRPr lang="en-US" b="1">
              <a:cs typeface="Calibri"/>
            </a:endParaRPr>
          </a:p>
          <a:p>
            <a:r>
              <a:rPr lang="en-US" b="1" dirty="0"/>
              <a:t>};</a:t>
            </a:r>
            <a:endParaRPr lang="en-US" b="1" dirty="0">
              <a:cs typeface="Calibri"/>
            </a:endParaRPr>
          </a:p>
          <a:p>
            <a:endParaRPr lang="en-US"/>
          </a:p>
          <a:p>
            <a:endParaRPr lang="en-US" dirty="0"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688AB0-AACD-BB6D-A46E-696BD2881D9F}"/>
              </a:ext>
            </a:extLst>
          </p:cNvPr>
          <p:cNvSpPr/>
          <p:nvPr/>
        </p:nvSpPr>
        <p:spPr>
          <a:xfrm>
            <a:off x="5781675" y="1820713"/>
            <a:ext cx="4802036" cy="42413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>
                <a:ea typeface="+mn-lt"/>
                <a:cs typeface="+mn-lt"/>
              </a:rPr>
              <a:t>int main() {</a:t>
            </a:r>
            <a:endParaRPr lang="en-US" b="1" dirty="0">
              <a:cs typeface="Calibri"/>
            </a:endParaRPr>
          </a:p>
          <a:p>
            <a:r>
              <a:rPr lang="en-US" b="1" dirty="0">
                <a:ea typeface="+mn-lt"/>
                <a:cs typeface="+mn-lt"/>
              </a:rPr>
              <a:t>  Student obj1;</a:t>
            </a:r>
            <a:endParaRPr lang="en-US" b="1" dirty="0">
              <a:cs typeface="Calibri"/>
            </a:endParaRPr>
          </a:p>
          <a:p>
            <a:r>
              <a:rPr lang="en-US" b="1" dirty="0">
                <a:ea typeface="+mn-lt"/>
                <a:cs typeface="+mn-lt"/>
              </a:rPr>
              <a:t>  Student obj2;</a:t>
            </a:r>
            <a:endParaRPr lang="en-US" b="1" dirty="0">
              <a:cs typeface="Calibri"/>
            </a:endParaRPr>
          </a:p>
          <a:p>
            <a:r>
              <a:rPr lang="en-US" b="1" dirty="0">
                <a:ea typeface="+mn-lt"/>
                <a:cs typeface="+mn-lt"/>
              </a:rPr>
              <a:t>  obj1.set(3.55);</a:t>
            </a:r>
            <a:endParaRPr lang="en-US" b="1" dirty="0">
              <a:cs typeface="Calibri"/>
            </a:endParaRPr>
          </a:p>
          <a:p>
            <a:r>
              <a:rPr lang="en-US" b="1" dirty="0">
                <a:ea typeface="+mn-lt"/>
                <a:cs typeface="+mn-lt"/>
              </a:rPr>
              <a:t>  obj2.set(3.25);</a:t>
            </a:r>
            <a:endParaRPr lang="en-US" b="1" dirty="0">
              <a:cs typeface="Calibri"/>
            </a:endParaRPr>
          </a:p>
          <a:p>
            <a:r>
              <a:rPr lang="en-US" b="1" dirty="0">
                <a:ea typeface="+mn-lt"/>
                <a:cs typeface="+mn-lt"/>
              </a:rPr>
              <a:t>  </a:t>
            </a:r>
            <a:r>
              <a:rPr lang="en-US" b="1" dirty="0" err="1">
                <a:ea typeface="+mn-lt"/>
                <a:cs typeface="+mn-lt"/>
              </a:rPr>
              <a:t>cout</a:t>
            </a:r>
            <a:r>
              <a:rPr lang="en-US" b="1" dirty="0">
                <a:ea typeface="+mn-lt"/>
                <a:cs typeface="+mn-lt"/>
              </a:rPr>
              <a:t> &lt;&lt; obj1.get()&lt;&lt;</a:t>
            </a:r>
            <a:r>
              <a:rPr lang="en-US" b="1" dirty="0" err="1">
                <a:ea typeface="+mn-lt"/>
                <a:cs typeface="+mn-lt"/>
              </a:rPr>
              <a:t>endl</a:t>
            </a:r>
            <a:r>
              <a:rPr lang="en-US" b="1" dirty="0">
                <a:ea typeface="+mn-lt"/>
                <a:cs typeface="+mn-lt"/>
              </a:rPr>
              <a:t>;</a:t>
            </a:r>
            <a:endParaRPr lang="en-US" b="1" dirty="0">
              <a:cs typeface="Calibri"/>
            </a:endParaRPr>
          </a:p>
          <a:p>
            <a:r>
              <a:rPr lang="en-US" b="1" dirty="0">
                <a:ea typeface="+mn-lt"/>
                <a:cs typeface="+mn-lt"/>
              </a:rPr>
              <a:t>  </a:t>
            </a:r>
            <a:r>
              <a:rPr lang="en-US" b="1" dirty="0" err="1">
                <a:ea typeface="+mn-lt"/>
                <a:cs typeface="+mn-lt"/>
              </a:rPr>
              <a:t>cout</a:t>
            </a:r>
            <a:r>
              <a:rPr lang="en-US" b="1" dirty="0">
                <a:ea typeface="+mn-lt"/>
                <a:cs typeface="+mn-lt"/>
              </a:rPr>
              <a:t> &lt;&lt; obj2.get();</a:t>
            </a:r>
            <a:endParaRPr lang="en-US" b="1" dirty="0">
              <a:cs typeface="Calibri"/>
            </a:endParaRPr>
          </a:p>
          <a:p>
            <a:r>
              <a:rPr lang="en-US" b="1" dirty="0">
                <a:ea typeface="+mn-lt"/>
                <a:cs typeface="+mn-lt"/>
              </a:rPr>
              <a:t>  return 0;</a:t>
            </a:r>
            <a:endParaRPr lang="en-US" b="1" dirty="0">
              <a:cs typeface="Calibri"/>
            </a:endParaRPr>
          </a:p>
          <a:p>
            <a:r>
              <a:rPr lang="en-US" b="1" dirty="0">
                <a:ea typeface="+mn-lt"/>
                <a:cs typeface="+mn-lt"/>
              </a:rPr>
              <a:t>}</a:t>
            </a:r>
          </a:p>
          <a:p>
            <a:pPr algn="just"/>
            <a:r>
              <a:rPr lang="en-US" dirty="0">
                <a:ea typeface="+mn-lt"/>
                <a:cs typeface="+mn-lt"/>
              </a:rPr>
              <a:t>Inside </a:t>
            </a:r>
            <a:r>
              <a:rPr lang="en-US" dirty="0">
                <a:latin typeface="Consolas"/>
                <a:cs typeface="Calibri" panose="020F0502020204030204"/>
              </a:rPr>
              <a:t>main()</a:t>
            </a:r>
            <a:r>
              <a:rPr lang="en-US" dirty="0">
                <a:ea typeface="+mn-lt"/>
                <a:cs typeface="+mn-lt"/>
              </a:rPr>
              <a:t>, we create 2 objects of the class. Now we can use the </a:t>
            </a:r>
            <a:r>
              <a:rPr lang="en-US" dirty="0">
                <a:latin typeface="Consolas"/>
                <a:cs typeface="Calibri" panose="020F0502020204030204"/>
              </a:rPr>
              <a:t>set()</a:t>
            </a:r>
            <a:r>
              <a:rPr lang="en-US" dirty="0">
                <a:ea typeface="+mn-lt"/>
                <a:cs typeface="+mn-lt"/>
              </a:rPr>
              <a:t> method to set the value of the private attribute 3.55, 3.25. Then we call the </a:t>
            </a:r>
            <a:r>
              <a:rPr lang="en-US" dirty="0">
                <a:latin typeface="Consolas"/>
                <a:cs typeface="Calibri" panose="020F0502020204030204"/>
              </a:rPr>
              <a:t>get()</a:t>
            </a:r>
            <a:r>
              <a:rPr lang="en-US" dirty="0">
                <a:ea typeface="+mn-lt"/>
                <a:cs typeface="+mn-lt"/>
              </a:rPr>
              <a:t> method on the object to return the values.</a:t>
            </a:r>
            <a:endParaRPr lang="en-US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007653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FCD45-BF8A-0B48-CC04-A572C2981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Calibri Light"/>
              </a:rPr>
              <a:t>Encapsulation...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827EC-204B-153A-FE49-7198922B5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73F6B3-C0EB-7E94-7E59-2E12F3853443}"/>
              </a:ext>
            </a:extLst>
          </p:cNvPr>
          <p:cNvSpPr/>
          <p:nvPr/>
        </p:nvSpPr>
        <p:spPr>
          <a:xfrm>
            <a:off x="836762" y="1821611"/>
            <a:ext cx="4313206" cy="431320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dirty="0">
              <a:cs typeface="Calibri"/>
            </a:endParaRPr>
          </a:p>
          <a:p>
            <a:endParaRPr lang="en-US"/>
          </a:p>
          <a:p>
            <a:r>
              <a:rPr lang="en-US" b="1" dirty="0"/>
              <a:t>class Student {</a:t>
            </a:r>
            <a:endParaRPr lang="en-US" b="1">
              <a:cs typeface="Calibri"/>
            </a:endParaRPr>
          </a:p>
          <a:p>
            <a:r>
              <a:rPr lang="en-US" b="1" dirty="0"/>
              <a:t>  private:</a:t>
            </a:r>
            <a:endParaRPr lang="en-US" b="1">
              <a:cs typeface="Calibri"/>
            </a:endParaRPr>
          </a:p>
          <a:p>
            <a:r>
              <a:rPr lang="en-US" b="1" dirty="0"/>
              <a:t>    float </a:t>
            </a:r>
            <a:r>
              <a:rPr lang="en-US" b="1" dirty="0" err="1"/>
              <a:t>cgpa</a:t>
            </a:r>
            <a:r>
              <a:rPr lang="en-US" b="1" dirty="0"/>
              <a:t>;</a:t>
            </a:r>
            <a:endParaRPr lang="en-US" b="1">
              <a:cs typeface="Calibri"/>
            </a:endParaRPr>
          </a:p>
          <a:p>
            <a:r>
              <a:rPr lang="en-US" b="1" dirty="0"/>
              <a:t>    int salary;</a:t>
            </a:r>
            <a:endParaRPr lang="en-US" b="1">
              <a:cs typeface="Calibri"/>
            </a:endParaRPr>
          </a:p>
          <a:p>
            <a:r>
              <a:rPr lang="en-US" b="1" dirty="0"/>
              <a:t>  public:</a:t>
            </a:r>
            <a:endParaRPr lang="en-US" b="1">
              <a:cs typeface="Calibri"/>
            </a:endParaRPr>
          </a:p>
          <a:p>
            <a:r>
              <a:rPr lang="en-US" b="1" dirty="0"/>
              <a:t>    void </a:t>
            </a:r>
            <a:r>
              <a:rPr lang="en-US" b="1" dirty="0" err="1"/>
              <a:t>setCgpa</a:t>
            </a:r>
            <a:r>
              <a:rPr lang="en-US" b="1" dirty="0"/>
              <a:t>(float c) {</a:t>
            </a:r>
            <a:endParaRPr lang="en-US" b="1">
              <a:cs typeface="Calibri"/>
            </a:endParaRPr>
          </a:p>
          <a:p>
            <a:r>
              <a:rPr lang="en-US" b="1" dirty="0"/>
              <a:t>      </a:t>
            </a:r>
            <a:r>
              <a:rPr lang="en-US" b="1" dirty="0" err="1"/>
              <a:t>cgpa</a:t>
            </a:r>
            <a:r>
              <a:rPr lang="en-US" b="1" dirty="0"/>
              <a:t> = c; }</a:t>
            </a:r>
            <a:endParaRPr lang="en-US" b="1">
              <a:cs typeface="Calibri"/>
            </a:endParaRPr>
          </a:p>
          <a:p>
            <a:r>
              <a:rPr lang="en-US" b="1" dirty="0"/>
              <a:t>    void </a:t>
            </a:r>
            <a:r>
              <a:rPr lang="en-US" b="1" dirty="0" err="1"/>
              <a:t>setSalary</a:t>
            </a:r>
            <a:r>
              <a:rPr lang="en-US" b="1" dirty="0"/>
              <a:t>(float s) {</a:t>
            </a:r>
            <a:endParaRPr lang="en-US" b="1">
              <a:cs typeface="Calibri"/>
            </a:endParaRPr>
          </a:p>
          <a:p>
            <a:r>
              <a:rPr lang="en-US" b="1" dirty="0"/>
              <a:t>      salary = s; }</a:t>
            </a:r>
            <a:endParaRPr lang="en-US" b="1">
              <a:cs typeface="Calibri"/>
            </a:endParaRPr>
          </a:p>
          <a:p>
            <a:r>
              <a:rPr lang="en-US" b="1" dirty="0"/>
              <a:t>    float </a:t>
            </a:r>
            <a:r>
              <a:rPr lang="en-US" b="1" dirty="0" err="1"/>
              <a:t>getCgpa</a:t>
            </a:r>
            <a:r>
              <a:rPr lang="en-US" b="1" dirty="0"/>
              <a:t>() {</a:t>
            </a:r>
            <a:endParaRPr lang="en-US" b="1">
              <a:cs typeface="Calibri"/>
            </a:endParaRPr>
          </a:p>
          <a:p>
            <a:r>
              <a:rPr lang="en-US" b="1" dirty="0"/>
              <a:t>      return </a:t>
            </a:r>
            <a:r>
              <a:rPr lang="en-US" b="1" dirty="0" err="1"/>
              <a:t>cgpa</a:t>
            </a:r>
            <a:r>
              <a:rPr lang="en-US" b="1" dirty="0"/>
              <a:t>; }</a:t>
            </a:r>
            <a:endParaRPr lang="en-US" b="1">
              <a:cs typeface="Calibri"/>
            </a:endParaRPr>
          </a:p>
          <a:p>
            <a:r>
              <a:rPr lang="en-US" b="1" dirty="0"/>
              <a:t>    float </a:t>
            </a:r>
            <a:r>
              <a:rPr lang="en-US" b="1" dirty="0" err="1"/>
              <a:t>getSalary</a:t>
            </a:r>
            <a:r>
              <a:rPr lang="en-US" b="1" dirty="0"/>
              <a:t>() {</a:t>
            </a:r>
            <a:endParaRPr lang="en-US" b="1">
              <a:cs typeface="Calibri"/>
            </a:endParaRPr>
          </a:p>
          <a:p>
            <a:r>
              <a:rPr lang="en-US" b="1" dirty="0"/>
              <a:t>      return salary; }</a:t>
            </a:r>
            <a:endParaRPr lang="en-US" b="1" dirty="0">
              <a:cs typeface="Calibri"/>
            </a:endParaRPr>
          </a:p>
          <a:p>
            <a:r>
              <a:rPr lang="en-US" b="1" dirty="0"/>
              <a:t>};</a:t>
            </a:r>
            <a:endParaRPr lang="en-US" b="1" dirty="0">
              <a:cs typeface="Calibri"/>
            </a:endParaRPr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8C247C-F442-64D0-B7E8-8110D7CFD635}"/>
              </a:ext>
            </a:extLst>
          </p:cNvPr>
          <p:cNvSpPr/>
          <p:nvPr/>
        </p:nvSpPr>
        <p:spPr>
          <a:xfrm>
            <a:off x="6097977" y="1820713"/>
            <a:ext cx="4284451" cy="431320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int main() {</a:t>
            </a:r>
            <a:endParaRPr lang="en-US" b="1" dirty="0">
              <a:cs typeface="Calibri"/>
            </a:endParaRPr>
          </a:p>
          <a:p>
            <a:r>
              <a:rPr lang="en-US" b="1" dirty="0"/>
              <a:t>  Student obj1;</a:t>
            </a:r>
            <a:endParaRPr lang="en-US" b="1" dirty="0">
              <a:cs typeface="Calibri"/>
            </a:endParaRPr>
          </a:p>
          <a:p>
            <a:r>
              <a:rPr lang="en-US" b="1" dirty="0"/>
              <a:t>  Student obj2;</a:t>
            </a:r>
            <a:endParaRPr lang="en-US" b="1" dirty="0">
              <a:cs typeface="Calibri"/>
            </a:endParaRPr>
          </a:p>
          <a:p>
            <a:r>
              <a:rPr lang="en-US" b="1" dirty="0"/>
              <a:t>  obj1.setCgpa(3.55);</a:t>
            </a:r>
            <a:endParaRPr lang="en-US" b="1" dirty="0">
              <a:cs typeface="Calibri"/>
            </a:endParaRPr>
          </a:p>
          <a:p>
            <a:r>
              <a:rPr lang="en-US" b="1" dirty="0"/>
              <a:t>  obj2.setCgpa(3.25);</a:t>
            </a:r>
            <a:endParaRPr lang="en-US" b="1" dirty="0">
              <a:cs typeface="Calibri"/>
            </a:endParaRPr>
          </a:p>
          <a:p>
            <a:r>
              <a:rPr lang="en-US" b="1" dirty="0"/>
              <a:t>  obj1.setSalary(30000);</a:t>
            </a:r>
            <a:endParaRPr lang="en-US" b="1" dirty="0">
              <a:cs typeface="Calibri"/>
            </a:endParaRPr>
          </a:p>
          <a:p>
            <a:r>
              <a:rPr lang="en-US" b="1" dirty="0"/>
              <a:t>  obj2.setSalary(50000);</a:t>
            </a:r>
            <a:endParaRPr lang="en-US" b="1" dirty="0">
              <a:cs typeface="Calibri"/>
            </a:endParaRPr>
          </a:p>
          <a:p>
            <a:r>
              <a:rPr lang="en-US" b="1" dirty="0"/>
              <a:t>  </a:t>
            </a:r>
            <a:r>
              <a:rPr lang="en-US" b="1" dirty="0" err="1"/>
              <a:t>cout</a:t>
            </a:r>
            <a:r>
              <a:rPr lang="en-US" b="1" dirty="0"/>
              <a:t> &lt;&lt; obj1.getCgpa()&lt;&lt;</a:t>
            </a:r>
            <a:r>
              <a:rPr lang="en-US" b="1" dirty="0" err="1"/>
              <a:t>endl</a:t>
            </a:r>
            <a:r>
              <a:rPr lang="en-US" b="1" dirty="0"/>
              <a:t>;</a:t>
            </a:r>
            <a:endParaRPr lang="en-US" b="1" dirty="0">
              <a:cs typeface="Calibri"/>
            </a:endParaRPr>
          </a:p>
          <a:p>
            <a:r>
              <a:rPr lang="en-US" b="1" dirty="0"/>
              <a:t>  </a:t>
            </a:r>
            <a:r>
              <a:rPr lang="en-US" b="1" dirty="0" err="1"/>
              <a:t>cout</a:t>
            </a:r>
            <a:r>
              <a:rPr lang="en-US" b="1" dirty="0"/>
              <a:t> &lt;&lt; obj2.getCgpa()&lt;&lt;</a:t>
            </a:r>
            <a:r>
              <a:rPr lang="en-US" b="1" dirty="0" err="1"/>
              <a:t>endl</a:t>
            </a:r>
            <a:r>
              <a:rPr lang="en-US" b="1" dirty="0"/>
              <a:t>;</a:t>
            </a:r>
            <a:endParaRPr lang="en-US" b="1" dirty="0">
              <a:cs typeface="Calibri"/>
            </a:endParaRPr>
          </a:p>
          <a:p>
            <a:r>
              <a:rPr lang="en-US" b="1" dirty="0"/>
              <a:t>  </a:t>
            </a:r>
            <a:r>
              <a:rPr lang="en-US" b="1" dirty="0" err="1"/>
              <a:t>cout</a:t>
            </a:r>
            <a:r>
              <a:rPr lang="en-US" b="1" dirty="0"/>
              <a:t> &lt;&lt; obj1.getSalary()&lt;&lt;</a:t>
            </a:r>
            <a:r>
              <a:rPr lang="en-US" b="1" dirty="0" err="1"/>
              <a:t>endl</a:t>
            </a:r>
            <a:r>
              <a:rPr lang="en-US" b="1" dirty="0"/>
              <a:t>;</a:t>
            </a:r>
            <a:endParaRPr lang="en-US" b="1" dirty="0">
              <a:cs typeface="Calibri"/>
            </a:endParaRPr>
          </a:p>
          <a:p>
            <a:r>
              <a:rPr lang="en-US" b="1" dirty="0"/>
              <a:t>  </a:t>
            </a:r>
            <a:r>
              <a:rPr lang="en-US" b="1" dirty="0" err="1"/>
              <a:t>cout</a:t>
            </a:r>
            <a:r>
              <a:rPr lang="en-US" b="1" dirty="0"/>
              <a:t> &lt;&lt; obj2.getSalary();</a:t>
            </a:r>
            <a:endParaRPr lang="en-US" b="1" dirty="0">
              <a:cs typeface="Calibri"/>
            </a:endParaRPr>
          </a:p>
          <a:p>
            <a:r>
              <a:rPr lang="en-US" b="1" dirty="0"/>
              <a:t>  return 0;</a:t>
            </a:r>
            <a:endParaRPr lang="en-US" b="1" dirty="0">
              <a:cs typeface="Calibri"/>
            </a:endParaRPr>
          </a:p>
          <a:p>
            <a:r>
              <a:rPr lang="en-US" b="1" dirty="0"/>
              <a:t>}</a:t>
            </a:r>
            <a:endParaRPr lang="en-US" b="1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58338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Introduction To Programming</vt:lpstr>
      <vt:lpstr>Content</vt:lpstr>
      <vt:lpstr>Access Specifiers </vt:lpstr>
      <vt:lpstr>Access Specifiers...</vt:lpstr>
      <vt:lpstr>Access Specifiers...</vt:lpstr>
      <vt:lpstr>Encapsulation </vt:lpstr>
      <vt:lpstr>Encapsulation...</vt:lpstr>
      <vt:lpstr>Encapsulation...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166</cp:revision>
  <dcterms:created xsi:type="dcterms:W3CDTF">2022-07-09T14:55:01Z</dcterms:created>
  <dcterms:modified xsi:type="dcterms:W3CDTF">2022-07-20T01:48:08Z</dcterms:modified>
</cp:coreProperties>
</file>