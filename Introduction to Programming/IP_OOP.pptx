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8C4FD-7A57-3AB3-ABA8-31A00FF88B6D}" v="29" dt="2022-07-13T14:58:27.203"/>
    <p1510:client id="{4AF8D426-42FF-63EB-E115-2EC8CBBE9A44}" v="64" dt="2022-07-13T14:06:17.083"/>
    <p1510:client id="{79A0F3B7-3DB9-206D-B328-B498EDD5B636}" v="21" dt="2022-07-08T14:08:46.510"/>
    <p1510:client id="{A04B35C6-E90C-EB67-D5FA-4ED3DD6EED40}" v="294" dt="2022-07-09T05:36:40.245"/>
    <p1510:client id="{D354D681-06F1-8BA4-4B6B-82687DCB5753}" v="576" dt="2022-07-09T04:48:01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cs typeface="Calibri Light"/>
              </a:rPr>
              <a:t>Introduction To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5A9C-DCAB-C49C-9FC4-BDD4AAAA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cs typeface="Calibri Light"/>
              </a:rPr>
              <a:t>Content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87809-88A6-FEE3-94F2-C9E086E9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OOP</a:t>
            </a:r>
          </a:p>
          <a:p>
            <a:r>
              <a:rPr lang="en-US">
                <a:cs typeface="Calibri"/>
              </a:rPr>
              <a:t>Classes &amp; Objects</a:t>
            </a:r>
          </a:p>
          <a:p>
            <a:r>
              <a:rPr lang="en-US">
                <a:cs typeface="Calibri"/>
              </a:rPr>
              <a:t>Multiple Objects</a:t>
            </a:r>
          </a:p>
          <a:p>
            <a:r>
              <a:rPr lang="en-US">
                <a:cs typeface="Calibri"/>
              </a:rPr>
              <a:t>Methods</a:t>
            </a:r>
          </a:p>
          <a:p>
            <a:r>
              <a:rPr lang="en-US">
                <a:cs typeface="Calibri"/>
              </a:rPr>
              <a:t>Methods with parameters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854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1B1D-92C5-839A-96EA-ABC0A1D3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OOP</a:t>
            </a:r>
          </a:p>
          <a:p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CA21-123C-DE40-210F-171247789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092380"/>
            <a:ext cx="10529977" cy="50845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OOP stands for Object-Oriented Programming.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>
                <a:ea typeface="+mn-lt"/>
                <a:cs typeface="+mn-lt"/>
              </a:rPr>
              <a:t>Procedural programming (POP) is about writing procedures or functions that perform operations on the data, while object-oriented programming is about creating objects that contain both data and functions.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US">
                <a:ea typeface="+mn-lt"/>
                <a:cs typeface="+mn-lt"/>
              </a:rPr>
              <a:t>Object-oriented programming has number of benefits over procedural programming:</a:t>
            </a:r>
            <a:endParaRPr lang="en-US">
              <a:ea typeface="Calibri"/>
              <a:cs typeface="Calibri"/>
            </a:endParaRPr>
          </a:p>
          <a:p>
            <a:pPr algn="just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OOP is faster and easier to execute</a:t>
            </a:r>
            <a:endParaRPr lang="en-US">
              <a:ea typeface="Calibri"/>
              <a:cs typeface="Calibri"/>
            </a:endParaRPr>
          </a:p>
          <a:p>
            <a:pPr algn="just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OOP provides a clear structure for the programs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OOP helps to make the code easier to maintain, modify and debug</a:t>
            </a:r>
            <a:endParaRPr lang="en-US">
              <a:ea typeface="Calibri"/>
              <a:cs typeface="Calibri"/>
            </a:endParaRPr>
          </a:p>
          <a:p>
            <a:pPr algn="just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OOP makes it possible to create full reusable applications with less code and shorter development time</a:t>
            </a:r>
            <a:endParaRPr lang="en-US">
              <a:ea typeface="Calibri"/>
              <a:cs typeface="Calibri"/>
            </a:endParaRPr>
          </a:p>
          <a:p>
            <a:pPr algn="just">
              <a:buFont typeface="Wingdings" panose="020B0604020202020204" pitchFamily="34" charset="0"/>
              <a:buChar char="q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46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4CE9-6990-5297-2C4A-ED51AD36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OOP...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7E30-74A3-C532-6954-15F1D4F5E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82" y="1437437"/>
            <a:ext cx="10630618" cy="47395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It is necessary to understand some of the basic concepts used extensively in object-oriented programming.</a:t>
            </a:r>
          </a:p>
          <a:p>
            <a:pPr algn="just"/>
            <a:endParaRPr lang="en-US">
              <a:ea typeface="Calibri"/>
              <a:cs typeface="Calibri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C1797B24-D472-BE2E-21E9-44072656C36F}"/>
              </a:ext>
            </a:extLst>
          </p:cNvPr>
          <p:cNvSpPr/>
          <p:nvPr/>
        </p:nvSpPr>
        <p:spPr>
          <a:xfrm>
            <a:off x="4934309" y="3805687"/>
            <a:ext cx="1696527" cy="92015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OOP</a:t>
            </a:r>
            <a:endParaRPr lang="en-US" b="1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9B0B1AF4-64E0-CD9F-F039-30C369D65684}"/>
              </a:ext>
            </a:extLst>
          </p:cNvPr>
          <p:cNvSpPr/>
          <p:nvPr/>
        </p:nvSpPr>
        <p:spPr>
          <a:xfrm>
            <a:off x="2733675" y="3517240"/>
            <a:ext cx="1883432" cy="9201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Abstraction</a:t>
            </a:r>
            <a:endParaRPr lang="en-US" b="1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2E8EB207-D4EC-9F1D-F593-C466F398FADE}"/>
              </a:ext>
            </a:extLst>
          </p:cNvPr>
          <p:cNvSpPr/>
          <p:nvPr/>
        </p:nvSpPr>
        <p:spPr>
          <a:xfrm>
            <a:off x="4070769" y="2367053"/>
            <a:ext cx="1739658" cy="9201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Class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E664AB2-DBA2-7082-18C0-B43468933C16}"/>
              </a:ext>
            </a:extLst>
          </p:cNvPr>
          <p:cNvSpPr/>
          <p:nvPr/>
        </p:nvSpPr>
        <p:spPr>
          <a:xfrm>
            <a:off x="6227372" y="2597090"/>
            <a:ext cx="1883432" cy="9201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Object</a:t>
            </a:r>
            <a:endParaRPr lang="en-US" b="1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3AA56EF-0FED-BB81-7388-FC78F59FE2BE}"/>
              </a:ext>
            </a:extLst>
          </p:cNvPr>
          <p:cNvSpPr/>
          <p:nvPr/>
        </p:nvSpPr>
        <p:spPr>
          <a:xfrm>
            <a:off x="3006844" y="4868713"/>
            <a:ext cx="2142226" cy="9201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Encapsulation</a:t>
            </a:r>
            <a:endParaRPr lang="en-US" b="1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32FD2ACE-20EB-D712-F010-966A4DB063E6}"/>
              </a:ext>
            </a:extLst>
          </p:cNvPr>
          <p:cNvSpPr/>
          <p:nvPr/>
        </p:nvSpPr>
        <p:spPr>
          <a:xfrm>
            <a:off x="5666656" y="5012486"/>
            <a:ext cx="2214112" cy="9201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Polymorphism</a:t>
            </a:r>
            <a:endParaRPr lang="en-US" b="1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FD91430B-625A-0010-340F-93794DD54B56}"/>
              </a:ext>
            </a:extLst>
          </p:cNvPr>
          <p:cNvSpPr/>
          <p:nvPr/>
        </p:nvSpPr>
        <p:spPr>
          <a:xfrm>
            <a:off x="7090014" y="3934184"/>
            <a:ext cx="1897810" cy="83388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Inheritance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76119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6CF5-76F7-E285-8275-CB2ED251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Classes and Objects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E910A-FE98-9F81-9A22-4C381C96F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041"/>
            <a:ext cx="10860656" cy="50989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two main components of object-oriented programming are </a:t>
            </a:r>
            <a:r>
              <a:rPr lang="en-US" b="1">
                <a:ea typeface="+mn-lt"/>
                <a:cs typeface="+mn-lt"/>
              </a:rPr>
              <a:t>classes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objects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25D262-410A-5DC3-9E2D-B01D8A4D144F}"/>
              </a:ext>
            </a:extLst>
          </p:cNvPr>
          <p:cNvSpPr/>
          <p:nvPr/>
        </p:nvSpPr>
        <p:spPr>
          <a:xfrm>
            <a:off x="1167442" y="2281687"/>
            <a:ext cx="1969697" cy="14952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ea typeface="Calibri"/>
                <a:cs typeface="Calibri"/>
              </a:rPr>
              <a:t>Class</a:t>
            </a:r>
          </a:p>
          <a:p>
            <a:pPr algn="ctr"/>
            <a:endParaRPr lang="en-US" sz="2400" b="1">
              <a:ea typeface="Calibri"/>
              <a:cs typeface="Calibri"/>
            </a:endParaRPr>
          </a:p>
          <a:p>
            <a:pPr algn="ctr"/>
            <a:r>
              <a:rPr lang="en-US" sz="2400" b="1">
                <a:ea typeface="Calibri"/>
                <a:cs typeface="Calibri"/>
              </a:rPr>
              <a:t>Course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148E4-B589-4C92-7CC8-39EFA3F1676C}"/>
              </a:ext>
            </a:extLst>
          </p:cNvPr>
          <p:cNvSpPr/>
          <p:nvPr/>
        </p:nvSpPr>
        <p:spPr>
          <a:xfrm>
            <a:off x="4099524" y="2280788"/>
            <a:ext cx="2099093" cy="14952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>
                <a:ea typeface="Calibri"/>
                <a:cs typeface="Calibri"/>
              </a:rPr>
              <a:t>Objects</a:t>
            </a:r>
          </a:p>
          <a:p>
            <a:pPr algn="ctr"/>
            <a:endParaRPr lang="en-US" sz="2000" b="1">
              <a:ea typeface="Calibri"/>
              <a:cs typeface="Calibri"/>
            </a:endParaRPr>
          </a:p>
          <a:p>
            <a:pPr algn="ctr"/>
            <a:r>
              <a:rPr lang="en-US" sz="2000" b="1">
                <a:ea typeface="Calibri"/>
                <a:cs typeface="Calibri"/>
              </a:rPr>
              <a:t>C++</a:t>
            </a:r>
          </a:p>
          <a:p>
            <a:pPr algn="ctr"/>
            <a:r>
              <a:rPr lang="en-US" sz="2000" b="1">
                <a:ea typeface="Calibri"/>
                <a:cs typeface="Calibri"/>
              </a:rPr>
              <a:t>Java</a:t>
            </a:r>
          </a:p>
          <a:p>
            <a:pPr algn="ctr"/>
            <a:r>
              <a:rPr lang="en-US" sz="2000" b="1">
                <a:ea typeface="Calibri"/>
                <a:cs typeface="Calibri"/>
              </a:rPr>
              <a:t>C#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5E4CA90-65CC-4606-3EE8-5F72E182472E}"/>
              </a:ext>
            </a:extLst>
          </p:cNvPr>
          <p:cNvSpPr/>
          <p:nvPr/>
        </p:nvSpPr>
        <p:spPr>
          <a:xfrm>
            <a:off x="3132093" y="2782321"/>
            <a:ext cx="977660" cy="48883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695F7-2D4F-9FA0-B63D-455C8C75DC49}"/>
              </a:ext>
            </a:extLst>
          </p:cNvPr>
          <p:cNvSpPr/>
          <p:nvPr/>
        </p:nvSpPr>
        <p:spPr>
          <a:xfrm>
            <a:off x="1164746" y="4205557"/>
            <a:ext cx="1969697" cy="16102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>
                <a:ea typeface="Calibri"/>
                <a:cs typeface="Calibri"/>
              </a:rPr>
              <a:t>Class</a:t>
            </a:r>
          </a:p>
          <a:p>
            <a:pPr algn="ctr"/>
            <a:endParaRPr lang="en-US" sz="2400" b="1">
              <a:ea typeface="Calibri"/>
              <a:cs typeface="Calibri"/>
            </a:endParaRPr>
          </a:p>
          <a:p>
            <a:pPr algn="ctr"/>
            <a:r>
              <a:rPr lang="en-US" sz="2400" b="1">
                <a:ea typeface="Calibri"/>
                <a:cs typeface="Calibri"/>
              </a:rPr>
              <a:t>Snacks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C2130F2-45A9-52E6-3FCD-4CEA616917C1}"/>
              </a:ext>
            </a:extLst>
          </p:cNvPr>
          <p:cNvSpPr/>
          <p:nvPr/>
        </p:nvSpPr>
        <p:spPr>
          <a:xfrm>
            <a:off x="3132092" y="4809528"/>
            <a:ext cx="977660" cy="48883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3269B0-7199-FCF0-9710-AB8308BE18DD}"/>
              </a:ext>
            </a:extLst>
          </p:cNvPr>
          <p:cNvSpPr/>
          <p:nvPr/>
        </p:nvSpPr>
        <p:spPr>
          <a:xfrm>
            <a:off x="4125583" y="4204659"/>
            <a:ext cx="2041583" cy="16102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>
                <a:ea typeface="Calibri"/>
                <a:cs typeface="Calibri"/>
              </a:rPr>
              <a:t>Objects</a:t>
            </a:r>
          </a:p>
          <a:p>
            <a:pPr algn="ctr"/>
            <a:endParaRPr lang="en-US" sz="2000" b="1">
              <a:ea typeface="Calibri"/>
              <a:cs typeface="Calibri"/>
            </a:endParaRPr>
          </a:p>
          <a:p>
            <a:pPr algn="ctr"/>
            <a:r>
              <a:rPr lang="en-US" sz="2000" b="1">
                <a:ea typeface="Calibri"/>
                <a:cs typeface="Calibri"/>
              </a:rPr>
              <a:t>Burger</a:t>
            </a:r>
          </a:p>
          <a:p>
            <a:pPr algn="ctr"/>
            <a:r>
              <a:rPr lang="en-US" sz="2000" b="1">
                <a:ea typeface="Calibri"/>
                <a:cs typeface="Calibri"/>
              </a:rPr>
              <a:t>Sandwich</a:t>
            </a:r>
          </a:p>
          <a:p>
            <a:pPr algn="ctr"/>
            <a:r>
              <a:rPr lang="en-US" sz="2000" b="1">
                <a:ea typeface="Calibri"/>
                <a:cs typeface="Calibri"/>
              </a:rPr>
              <a:t>Pizza</a:t>
            </a:r>
          </a:p>
        </p:txBody>
      </p:sp>
    </p:spTree>
    <p:extLst>
      <p:ext uri="{BB962C8B-B14F-4D97-AF65-F5344CB8AC3E}">
        <p14:creationId xmlns:p14="http://schemas.microsoft.com/office/powerpoint/2010/main" val="151405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404B-22A4-0D0F-0DE7-9025C3C5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Classes and Objects...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278E2-BE78-88F0-F2A0-5B19A12D3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423059"/>
            <a:ext cx="10529977" cy="47539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b="1">
                <a:ea typeface="+mn-lt"/>
                <a:cs typeface="+mn-lt"/>
              </a:rPr>
              <a:t>Class - </a:t>
            </a:r>
            <a:r>
              <a:rPr lang="en-US">
                <a:ea typeface="+mn-lt"/>
                <a:cs typeface="+mn-lt"/>
              </a:rPr>
              <a:t>A class can be defined as a </a:t>
            </a:r>
            <a:r>
              <a:rPr lang="en-US" b="1">
                <a:ea typeface="+mn-lt"/>
                <a:cs typeface="+mn-lt"/>
              </a:rPr>
              <a:t>template/blueprint</a:t>
            </a:r>
            <a:r>
              <a:rPr lang="en-US">
                <a:ea typeface="+mn-lt"/>
                <a:cs typeface="+mn-lt"/>
              </a:rPr>
              <a:t> that describes the behavior/state that the object of its type support.</a:t>
            </a:r>
            <a:endParaRPr lang="en-US"/>
          </a:p>
          <a:p>
            <a:pPr algn="just"/>
            <a:r>
              <a:rPr lang="en-US" b="1">
                <a:cs typeface="Calibri" panose="020F0502020204030204"/>
              </a:rPr>
              <a:t>Object -</a:t>
            </a:r>
            <a:r>
              <a:rPr lang="en-US" b="1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An object is an </a:t>
            </a:r>
            <a:r>
              <a:rPr lang="en-US" b="1">
                <a:ea typeface="+mn-lt"/>
                <a:cs typeface="+mn-lt"/>
              </a:rPr>
              <a:t>instance</a:t>
            </a:r>
            <a:r>
              <a:rPr lang="en-US">
                <a:ea typeface="+mn-lt"/>
                <a:cs typeface="+mn-lt"/>
              </a:rPr>
              <a:t> of a class. Objects have states and behaviors.</a:t>
            </a:r>
          </a:p>
          <a:p>
            <a:pPr algn="just"/>
            <a:endParaRPr lang="en-US">
              <a:ea typeface="+mn-lt"/>
              <a:cs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8C4BEC4-D09C-7B85-56ED-C9C39E607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648" y="3106588"/>
            <a:ext cx="7243311" cy="287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6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FE06-414F-81AB-3BF5-A4698DA1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Classes and Objects...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BAE3-22CE-C95B-6186-629DE5E51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Everything in C++ is associated with classes and objects, along with its </a:t>
            </a:r>
            <a:r>
              <a:rPr lang="en-US" b="1">
                <a:ea typeface="+mn-lt"/>
                <a:cs typeface="+mn-lt"/>
              </a:rPr>
              <a:t>attributes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methods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0B095-73B6-902C-C3E9-249EC2B404BD}"/>
              </a:ext>
            </a:extLst>
          </p:cNvPr>
          <p:cNvSpPr/>
          <p:nvPr/>
        </p:nvSpPr>
        <p:spPr>
          <a:xfrm>
            <a:off x="1066800" y="3043687"/>
            <a:ext cx="1725282" cy="162464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Class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Vehicle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E74BA-C1D4-FBFF-104D-074648029CE6}"/>
              </a:ext>
            </a:extLst>
          </p:cNvPr>
          <p:cNvSpPr/>
          <p:nvPr/>
        </p:nvSpPr>
        <p:spPr>
          <a:xfrm>
            <a:off x="3193751" y="3042789"/>
            <a:ext cx="1595886" cy="16246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Objects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Car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0F0BA-8421-DD36-6743-340E8D9E61D5}"/>
              </a:ext>
            </a:extLst>
          </p:cNvPr>
          <p:cNvSpPr/>
          <p:nvPr/>
        </p:nvSpPr>
        <p:spPr>
          <a:xfrm>
            <a:off x="5248815" y="3041890"/>
            <a:ext cx="1595885" cy="1624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Attributes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Weight</a:t>
            </a:r>
          </a:p>
          <a:p>
            <a:pPr algn="ctr"/>
            <a:r>
              <a:rPr lang="en-US" b="1">
                <a:ea typeface="Calibri"/>
                <a:cs typeface="Calibri"/>
              </a:rPr>
              <a:t>Color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45A695-C32B-8F8B-F450-7B20B078E618}"/>
              </a:ext>
            </a:extLst>
          </p:cNvPr>
          <p:cNvSpPr/>
          <p:nvPr/>
        </p:nvSpPr>
        <p:spPr>
          <a:xfrm>
            <a:off x="7289501" y="3040991"/>
            <a:ext cx="1523999" cy="16246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Methods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Drive</a:t>
            </a:r>
          </a:p>
          <a:p>
            <a:pPr algn="ctr"/>
            <a:r>
              <a:rPr lang="en-US" b="1">
                <a:ea typeface="Calibri"/>
                <a:cs typeface="Calibri"/>
              </a:rPr>
              <a:t>Brake</a:t>
            </a:r>
          </a:p>
        </p:txBody>
      </p:sp>
      <p:sp>
        <p:nvSpPr>
          <p:cNvPr id="11" name="Arrow: Left-Right-Up 10">
            <a:extLst>
              <a:ext uri="{FF2B5EF4-FFF2-40B4-BE49-F238E27FC236}">
                <a16:creationId xmlns:a16="http://schemas.microsoft.com/office/drawing/2014/main" id="{F1FAC0A2-72FF-0836-3ECA-23C9592AFD0E}"/>
              </a:ext>
            </a:extLst>
          </p:cNvPr>
          <p:cNvSpPr/>
          <p:nvPr/>
        </p:nvSpPr>
        <p:spPr>
          <a:xfrm>
            <a:off x="6459293" y="4550268"/>
            <a:ext cx="1222075" cy="848264"/>
          </a:xfrm>
          <a:prstGeom prst="leftRight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A0AFBA-6674-2499-6FFF-EAB3F0BA6EC1}"/>
              </a:ext>
            </a:extLst>
          </p:cNvPr>
          <p:cNvSpPr/>
          <p:nvPr/>
        </p:nvSpPr>
        <p:spPr>
          <a:xfrm>
            <a:off x="4740216" y="4804914"/>
            <a:ext cx="1725282" cy="9632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Class Members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FCF81D-2D84-A5A3-8738-67390A948642}"/>
              </a:ext>
            </a:extLst>
          </p:cNvPr>
          <p:cNvSpPr/>
          <p:nvPr/>
        </p:nvSpPr>
        <p:spPr>
          <a:xfrm>
            <a:off x="7686675" y="4804015"/>
            <a:ext cx="1854678" cy="92015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Variables &amp; Functions</a:t>
            </a:r>
          </a:p>
        </p:txBody>
      </p:sp>
    </p:spTree>
    <p:extLst>
      <p:ext uri="{BB962C8B-B14F-4D97-AF65-F5344CB8AC3E}">
        <p14:creationId xmlns:p14="http://schemas.microsoft.com/office/powerpoint/2010/main" val="427728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0E50-F54A-776C-4956-8525452E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Create a Class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FC293-D76C-BDFB-43CF-DB19424BE6E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11774-7649-8FCC-2508-5081E13DC697}"/>
              </a:ext>
            </a:extLst>
          </p:cNvPr>
          <p:cNvSpPr/>
          <p:nvPr/>
        </p:nvSpPr>
        <p:spPr>
          <a:xfrm>
            <a:off x="923027" y="1893499"/>
            <a:ext cx="4701395" cy="19984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ea typeface="+mn-lt"/>
                <a:cs typeface="+mn-lt"/>
              </a:rPr>
              <a:t>class </a:t>
            </a:r>
            <a:r>
              <a:rPr lang="en-US" b="1" err="1">
                <a:ea typeface="+mn-lt"/>
                <a:cs typeface="+mn-lt"/>
              </a:rPr>
              <a:t>MyClass</a:t>
            </a:r>
            <a:r>
              <a:rPr lang="en-US" b="1">
                <a:ea typeface="+mn-lt"/>
                <a:cs typeface="+mn-lt"/>
              </a:rPr>
              <a:t>              // The class</a:t>
            </a:r>
          </a:p>
          <a:p>
            <a:r>
              <a:rPr lang="en-US" b="1">
                <a:ea typeface="+mn-lt"/>
                <a:cs typeface="+mn-lt"/>
              </a:rPr>
              <a:t>{       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  public:                      // Access specifier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    int number;          // Attribute (int variable)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    string name;        // Attribute (string variable)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};</a:t>
            </a:r>
            <a:endParaRPr lang="en-US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70E7A5D6-1A50-C43E-9B6A-2E7154DD205D}"/>
              </a:ext>
            </a:extLst>
          </p:cNvPr>
          <p:cNvSpPr/>
          <p:nvPr/>
        </p:nvSpPr>
        <p:spPr>
          <a:xfrm>
            <a:off x="5749672" y="1992465"/>
            <a:ext cx="5420262" cy="1696527"/>
          </a:xfrm>
          <a:prstGeom prst="lef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a typeface="+mn-lt"/>
                <a:cs typeface="+mn-lt"/>
              </a:rPr>
              <a:t>The </a:t>
            </a:r>
            <a:r>
              <a:rPr lang="en-US">
                <a:latin typeface="Consolas"/>
              </a:rPr>
              <a:t>public</a:t>
            </a:r>
            <a:r>
              <a:rPr lang="en-US">
                <a:ea typeface="+mn-lt"/>
                <a:cs typeface="+mn-lt"/>
              </a:rPr>
              <a:t> keyword is an </a:t>
            </a:r>
            <a:r>
              <a:rPr lang="en-US" b="1">
                <a:ea typeface="+mn-lt"/>
                <a:cs typeface="+mn-lt"/>
              </a:rPr>
              <a:t>access specifier</a:t>
            </a:r>
            <a:r>
              <a:rPr lang="en-US">
                <a:ea typeface="+mn-lt"/>
                <a:cs typeface="+mn-lt"/>
              </a:rPr>
              <a:t>, which specifies that members (attributes and methods) of the class are accessible from outside the class. 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330BF-8F9D-A942-3023-879B94B93AA9}"/>
              </a:ext>
            </a:extLst>
          </p:cNvPr>
          <p:cNvSpPr/>
          <p:nvPr/>
        </p:nvSpPr>
        <p:spPr>
          <a:xfrm>
            <a:off x="921229" y="4048305"/>
            <a:ext cx="4701395" cy="1840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class Car                      // The class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{       </a:t>
            </a:r>
            <a:br>
              <a:rPr lang="en-US" b="1">
                <a:solidFill>
                  <a:schemeClr val="tx1"/>
                </a:solidFill>
                <a:ea typeface="Calibri"/>
                <a:cs typeface="Calibri"/>
              </a:rPr>
            </a:b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  public:                      // Access specifier</a:t>
            </a:r>
            <a:br>
              <a:rPr lang="en-US" b="1">
                <a:solidFill>
                  <a:schemeClr val="tx1"/>
                </a:solidFill>
                <a:ea typeface="Calibri"/>
                <a:cs typeface="Calibri"/>
              </a:rPr>
            </a:b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    int weight;           // Attribute (int variable)</a:t>
            </a:r>
            <a:br>
              <a:rPr lang="en-US" b="1">
                <a:solidFill>
                  <a:schemeClr val="tx1"/>
                </a:solidFill>
                <a:ea typeface="Calibri"/>
                <a:cs typeface="Calibri"/>
              </a:rPr>
            </a:b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    string color;        // Attribute (string variable)</a:t>
            </a:r>
            <a:br>
              <a:rPr lang="en-US" b="1">
                <a:solidFill>
                  <a:schemeClr val="tx1"/>
                </a:solidFill>
                <a:ea typeface="Calibri"/>
                <a:cs typeface="Calibri"/>
              </a:rPr>
            </a:br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};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47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C4DD-A201-8466-7A8B-2A07F5E7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Create an Object</a:t>
            </a:r>
          </a:p>
          <a:p>
            <a:endParaRPr lang="en-US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D1065-2812-DDBF-54BE-C0E1D5B1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279286"/>
            <a:ext cx="10529977" cy="489767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F5396-B47F-7F32-A122-683D7F3E84E8}"/>
              </a:ext>
            </a:extLst>
          </p:cNvPr>
          <p:cNvSpPr/>
          <p:nvPr/>
        </p:nvSpPr>
        <p:spPr>
          <a:xfrm>
            <a:off x="836762" y="1275272"/>
            <a:ext cx="4859547" cy="41119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#include &lt;iostream&gt;</a:t>
            </a:r>
            <a:endParaRPr lang="en-US" b="1">
              <a:ea typeface="Calibri"/>
              <a:cs typeface="Calibri"/>
            </a:endParaRPr>
          </a:p>
          <a:p>
            <a:r>
              <a:rPr lang="en-US" b="1"/>
              <a:t>using namespace std;</a:t>
            </a:r>
            <a:endParaRPr lang="en-US" b="1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  <a:p>
            <a:r>
              <a:rPr lang="en-US" b="1"/>
              <a:t>class </a:t>
            </a:r>
            <a:r>
              <a:rPr lang="en-US" b="1" err="1"/>
              <a:t>MyClass</a:t>
            </a:r>
            <a:r>
              <a:rPr lang="en-US" b="1"/>
              <a:t> {        </a:t>
            </a:r>
            <a:r>
              <a:rPr lang="en-US" b="1">
                <a:solidFill>
                  <a:schemeClr val="accent1"/>
                </a:solidFill>
              </a:rPr>
              <a:t> </a:t>
            </a:r>
            <a:r>
              <a:rPr lang="en-US">
                <a:solidFill>
                  <a:schemeClr val="tx1"/>
                </a:solidFill>
              </a:rPr>
              <a:t>// The class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b="1"/>
              <a:t>  public:                    </a:t>
            </a:r>
            <a:r>
              <a:rPr lang="en-US"/>
              <a:t>// Access specifier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    int </a:t>
            </a:r>
            <a:r>
              <a:rPr lang="en-US" b="1" err="1"/>
              <a:t>cId</a:t>
            </a:r>
            <a:r>
              <a:rPr lang="en-US" b="1"/>
              <a:t>;                </a:t>
            </a:r>
            <a:r>
              <a:rPr lang="en-US"/>
              <a:t>// Attribute (int variable)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    string </a:t>
            </a:r>
            <a:r>
              <a:rPr lang="en-US" b="1" err="1"/>
              <a:t>cName</a:t>
            </a:r>
            <a:r>
              <a:rPr lang="en-US" b="1"/>
              <a:t>;  </a:t>
            </a:r>
            <a:r>
              <a:rPr lang="en-US"/>
              <a:t>// Attribute (string variable)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};</a:t>
            </a:r>
            <a:endParaRPr lang="en-US" b="1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  <a:p>
            <a:r>
              <a:rPr lang="en-US" b="1"/>
              <a:t>int main() {</a:t>
            </a:r>
            <a:endParaRPr lang="en-US" b="1">
              <a:ea typeface="Calibri"/>
              <a:cs typeface="Calibri"/>
            </a:endParaRPr>
          </a:p>
          <a:p>
            <a:r>
              <a:rPr lang="en-US" b="1"/>
              <a:t>  </a:t>
            </a:r>
            <a:r>
              <a:rPr lang="en-US" b="1" err="1"/>
              <a:t>MyClass</a:t>
            </a:r>
            <a:r>
              <a:rPr lang="en-US" b="1"/>
              <a:t> </a:t>
            </a:r>
            <a:r>
              <a:rPr lang="en-US" b="1" err="1"/>
              <a:t>myObj</a:t>
            </a:r>
            <a:r>
              <a:rPr lang="en-US" b="1"/>
              <a:t>;  </a:t>
            </a:r>
            <a:r>
              <a:rPr lang="en-US"/>
              <a:t>// Create an object of </a:t>
            </a:r>
            <a:r>
              <a:rPr lang="en-US" err="1"/>
              <a:t>MyClass</a:t>
            </a:r>
            <a:endParaRPr lang="en-US" err="1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  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DAB921-5447-5AF2-1796-5D24716107EE}"/>
              </a:ext>
            </a:extLst>
          </p:cNvPr>
          <p:cNvSpPr/>
          <p:nvPr/>
        </p:nvSpPr>
        <p:spPr>
          <a:xfrm>
            <a:off x="6097977" y="1274373"/>
            <a:ext cx="4888299" cy="41119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>
                <a:ea typeface="+mn-lt"/>
                <a:cs typeface="+mn-lt"/>
              </a:rPr>
              <a:t>// Access attributes and set values</a:t>
            </a:r>
          </a:p>
          <a:p>
            <a:r>
              <a:rPr lang="en-US" b="1">
                <a:ea typeface="+mn-lt"/>
                <a:cs typeface="+mn-lt"/>
              </a:rPr>
              <a:t>  </a:t>
            </a:r>
            <a:r>
              <a:rPr lang="en-US" b="1" err="1">
                <a:ea typeface="+mn-lt"/>
                <a:cs typeface="+mn-lt"/>
              </a:rPr>
              <a:t>myObj.cId</a:t>
            </a:r>
            <a:r>
              <a:rPr lang="en-US" b="1">
                <a:ea typeface="+mn-lt"/>
                <a:cs typeface="+mn-lt"/>
              </a:rPr>
              <a:t> = 101;</a:t>
            </a:r>
          </a:p>
          <a:p>
            <a:r>
              <a:rPr lang="en-US" b="1">
                <a:ea typeface="+mn-lt"/>
                <a:cs typeface="+mn-lt"/>
              </a:rPr>
              <a:t>  </a:t>
            </a:r>
            <a:r>
              <a:rPr lang="en-US" b="1" err="1">
                <a:ea typeface="+mn-lt"/>
                <a:cs typeface="+mn-lt"/>
              </a:rPr>
              <a:t>myObj.cName</a:t>
            </a:r>
            <a:r>
              <a:rPr lang="en-US" b="1">
                <a:ea typeface="+mn-lt"/>
                <a:cs typeface="+mn-lt"/>
              </a:rPr>
              <a:t> = "C++";</a:t>
            </a:r>
          </a:p>
          <a:p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  // Print values</a:t>
            </a:r>
          </a:p>
          <a:p>
            <a:r>
              <a:rPr lang="en-US" b="1">
                <a:ea typeface="+mn-lt"/>
                <a:cs typeface="+mn-lt"/>
              </a:rPr>
              <a:t>  </a:t>
            </a:r>
            <a:r>
              <a:rPr lang="en-US" b="1" err="1">
                <a:ea typeface="+mn-lt"/>
                <a:cs typeface="+mn-lt"/>
              </a:rPr>
              <a:t>cout</a:t>
            </a:r>
            <a:r>
              <a:rPr lang="en-US" b="1">
                <a:ea typeface="+mn-lt"/>
                <a:cs typeface="+mn-lt"/>
              </a:rPr>
              <a:t> &lt;&lt; </a:t>
            </a:r>
            <a:r>
              <a:rPr lang="en-US" b="1" err="1">
                <a:ea typeface="+mn-lt"/>
                <a:cs typeface="+mn-lt"/>
              </a:rPr>
              <a:t>myObj.cId</a:t>
            </a:r>
            <a:r>
              <a:rPr lang="en-US" b="1">
                <a:ea typeface="+mn-lt"/>
                <a:cs typeface="+mn-lt"/>
              </a:rPr>
              <a:t> &lt;&lt; "\n";</a:t>
            </a:r>
          </a:p>
          <a:p>
            <a:r>
              <a:rPr lang="en-US" b="1">
                <a:ea typeface="+mn-lt"/>
                <a:cs typeface="+mn-lt"/>
              </a:rPr>
              <a:t>  </a:t>
            </a:r>
            <a:r>
              <a:rPr lang="en-US" b="1" err="1">
                <a:ea typeface="+mn-lt"/>
                <a:cs typeface="+mn-lt"/>
              </a:rPr>
              <a:t>cout</a:t>
            </a:r>
            <a:r>
              <a:rPr lang="en-US" b="1">
                <a:ea typeface="+mn-lt"/>
                <a:cs typeface="+mn-lt"/>
              </a:rPr>
              <a:t> &lt;&lt; </a:t>
            </a:r>
            <a:r>
              <a:rPr lang="en-US" b="1" err="1">
                <a:ea typeface="+mn-lt"/>
                <a:cs typeface="+mn-lt"/>
              </a:rPr>
              <a:t>myObj.cName</a:t>
            </a:r>
            <a:r>
              <a:rPr lang="en-US" b="1">
                <a:ea typeface="+mn-lt"/>
                <a:cs typeface="+mn-lt"/>
              </a:rPr>
              <a:t>;</a:t>
            </a:r>
          </a:p>
          <a:p>
            <a:r>
              <a:rPr lang="en-US" b="1">
                <a:ea typeface="+mn-lt"/>
                <a:cs typeface="+mn-lt"/>
              </a:rPr>
              <a:t>  return 0;</a:t>
            </a:r>
          </a:p>
          <a:p>
            <a:r>
              <a:rPr lang="en-US" b="1">
                <a:ea typeface="+mn-lt"/>
                <a:cs typeface="+mn-lt"/>
              </a:rPr>
              <a:t>}</a:t>
            </a:r>
          </a:p>
          <a:p>
            <a:endParaRPr lang="en-US" b="1">
              <a:cs typeface="Calibri" panose="020F0502020204030204"/>
            </a:endParaRPr>
          </a:p>
          <a:p>
            <a:r>
              <a:rPr lang="en-US" b="1">
                <a:solidFill>
                  <a:srgbClr val="002060"/>
                </a:solidFill>
                <a:cs typeface="Calibri" panose="020F0502020204030204"/>
              </a:rPr>
              <a:t>Syntax-</a:t>
            </a:r>
          </a:p>
          <a:p>
            <a:r>
              <a:rPr lang="en-US" b="1">
                <a:solidFill>
                  <a:srgbClr val="002060"/>
                </a:solidFill>
                <a:cs typeface="Calibri" panose="020F0502020204030204"/>
              </a:rPr>
              <a:t>   </a:t>
            </a:r>
            <a:r>
              <a:rPr lang="en-US" b="1" err="1">
                <a:solidFill>
                  <a:srgbClr val="002060"/>
                </a:solidFill>
                <a:cs typeface="Calibri" panose="020F0502020204030204"/>
              </a:rPr>
              <a:t>ClassName</a:t>
            </a:r>
            <a:r>
              <a:rPr lang="en-US" b="1">
                <a:solidFill>
                  <a:srgbClr val="002060"/>
                </a:solidFill>
                <a:cs typeface="Calibri" panose="020F0502020204030204"/>
              </a:rPr>
              <a:t> </a:t>
            </a:r>
            <a:r>
              <a:rPr lang="en-US" b="1" err="1">
                <a:solidFill>
                  <a:srgbClr val="002060"/>
                </a:solidFill>
                <a:cs typeface="Calibri" panose="020F0502020204030204"/>
              </a:rPr>
              <a:t>ObjectName</a:t>
            </a:r>
            <a:r>
              <a:rPr lang="en-US" b="1">
                <a:solidFill>
                  <a:srgbClr val="002060"/>
                </a:solidFill>
                <a:cs typeface="Calibri" panose="020F0502020204030204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0787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859F-DCEB-C822-7B65-7407C06B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cs typeface="Calibri Light"/>
              </a:rPr>
              <a:t>Multiple Objects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14A31-A43B-A1CA-B090-E89533997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35481-E0AC-813E-E129-2984CE5F0A73}"/>
              </a:ext>
            </a:extLst>
          </p:cNvPr>
          <p:cNvSpPr/>
          <p:nvPr/>
        </p:nvSpPr>
        <p:spPr>
          <a:xfrm>
            <a:off x="894272" y="1879121"/>
            <a:ext cx="3982525" cy="41119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ea typeface="+mn-lt"/>
                <a:cs typeface="+mn-lt"/>
              </a:rPr>
              <a:t>#include &lt;iostream&gt;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using namespace std;</a:t>
            </a:r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class Course {    </a:t>
            </a:r>
          </a:p>
          <a:p>
            <a:r>
              <a:rPr lang="en-US" b="1">
                <a:ea typeface="+mn-lt"/>
                <a:cs typeface="+mn-lt"/>
              </a:rPr>
              <a:t>  public:            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    int </a:t>
            </a:r>
            <a:r>
              <a:rPr lang="en-US" b="1" err="1">
                <a:ea typeface="+mn-lt"/>
                <a:cs typeface="+mn-lt"/>
              </a:rPr>
              <a:t>cId</a:t>
            </a:r>
            <a:r>
              <a:rPr lang="en-US" b="1">
                <a:ea typeface="+mn-lt"/>
                <a:cs typeface="+mn-lt"/>
              </a:rPr>
              <a:t>;        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    string </a:t>
            </a:r>
            <a:r>
              <a:rPr lang="en-US" b="1" err="1">
                <a:ea typeface="+mn-lt"/>
                <a:cs typeface="+mn-lt"/>
              </a:rPr>
              <a:t>cName</a:t>
            </a:r>
            <a:r>
              <a:rPr lang="en-US" b="1">
                <a:ea typeface="+mn-lt"/>
                <a:cs typeface="+mn-lt"/>
              </a:rPr>
              <a:t>;  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};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int main() {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  Course CS;  </a:t>
            </a:r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r>
              <a:rPr lang="en-US" b="1">
                <a:cs typeface="Calibri"/>
              </a:rPr>
              <a:t>  </a:t>
            </a:r>
            <a:r>
              <a:rPr lang="en-US" b="1" err="1">
                <a:cs typeface="Calibri"/>
              </a:rPr>
              <a:t>CS.cId</a:t>
            </a:r>
            <a:r>
              <a:rPr lang="en-US" b="1">
                <a:cs typeface="Calibri"/>
              </a:rPr>
              <a:t> = 101; </a:t>
            </a:r>
            <a:endParaRPr lang="en-US" b="1">
              <a:ea typeface="+mn-lt"/>
              <a:cs typeface="+mn-lt"/>
            </a:endParaRPr>
          </a:p>
          <a:p>
            <a:r>
              <a:rPr lang="en-US" b="1">
                <a:cs typeface="Calibri"/>
              </a:rPr>
              <a:t>  </a:t>
            </a:r>
            <a:r>
              <a:rPr lang="en-US" b="1" err="1">
                <a:cs typeface="Calibri"/>
              </a:rPr>
              <a:t>CS.cName</a:t>
            </a:r>
            <a:r>
              <a:rPr lang="en-US" b="1">
                <a:cs typeface="Calibri"/>
              </a:rPr>
              <a:t> = "C++"; </a:t>
            </a:r>
            <a:endParaRPr lang="en-US" b="1"/>
          </a:p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BBDEA9-0E82-F0BC-D769-B5B5DC89C7D0}"/>
              </a:ext>
            </a:extLst>
          </p:cNvPr>
          <p:cNvSpPr/>
          <p:nvPr/>
        </p:nvSpPr>
        <p:spPr>
          <a:xfrm>
            <a:off x="5264091" y="1878223"/>
            <a:ext cx="4183809" cy="41119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latin typeface="Calibri"/>
                <a:ea typeface="Segoe UI"/>
                <a:cs typeface="Segoe UI"/>
              </a:rPr>
              <a:t> Course EEE;​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EEE.cId</a:t>
            </a:r>
            <a:r>
              <a:rPr lang="en-US" b="1">
                <a:latin typeface="Calibri"/>
                <a:ea typeface="Segoe UI"/>
                <a:cs typeface="Segoe UI"/>
              </a:rPr>
              <a:t> = 102;​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EEE.cName</a:t>
            </a:r>
            <a:r>
              <a:rPr lang="en-US" b="1">
                <a:latin typeface="Calibri"/>
                <a:ea typeface="Segoe UI"/>
                <a:cs typeface="Segoe UI"/>
              </a:rPr>
              <a:t> = "DLD";​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cout</a:t>
            </a:r>
            <a:r>
              <a:rPr lang="en-US" b="1">
                <a:latin typeface="Calibri"/>
                <a:ea typeface="Segoe UI"/>
                <a:cs typeface="Segoe UI"/>
              </a:rPr>
              <a:t> &lt;&lt; </a:t>
            </a:r>
            <a:r>
              <a:rPr lang="en-US" b="1" err="1">
                <a:latin typeface="Calibri"/>
                <a:ea typeface="Segoe UI"/>
                <a:cs typeface="Segoe UI"/>
              </a:rPr>
              <a:t>CS.cId</a:t>
            </a:r>
            <a:r>
              <a:rPr lang="en-US" b="1">
                <a:latin typeface="Calibri"/>
                <a:ea typeface="Segoe UI"/>
                <a:cs typeface="Segoe UI"/>
              </a:rPr>
              <a:t> &lt;&lt;","&lt;&lt;</a:t>
            </a:r>
            <a:r>
              <a:rPr lang="en-US" b="1" err="1">
                <a:latin typeface="Calibri"/>
                <a:ea typeface="Segoe UI"/>
                <a:cs typeface="Segoe UI"/>
              </a:rPr>
              <a:t>CS.cName</a:t>
            </a:r>
            <a:r>
              <a:rPr lang="en-US" b="1">
                <a:latin typeface="Calibri"/>
                <a:ea typeface="Segoe UI"/>
                <a:cs typeface="Segoe UI"/>
              </a:rPr>
              <a:t>&lt;&lt;"\n";​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cout</a:t>
            </a:r>
            <a:r>
              <a:rPr lang="en-US" b="1">
                <a:latin typeface="Calibri"/>
                <a:ea typeface="Segoe UI"/>
                <a:cs typeface="Segoe UI"/>
              </a:rPr>
              <a:t> &lt;&lt; </a:t>
            </a:r>
            <a:r>
              <a:rPr lang="en-US" b="1" err="1">
                <a:latin typeface="Calibri"/>
                <a:ea typeface="Segoe UI"/>
                <a:cs typeface="Segoe UI"/>
              </a:rPr>
              <a:t>EEE.cId</a:t>
            </a:r>
            <a:r>
              <a:rPr lang="en-US" b="1">
                <a:latin typeface="Calibri"/>
                <a:ea typeface="Segoe UI"/>
                <a:cs typeface="Segoe UI"/>
              </a:rPr>
              <a:t> &lt;&lt;","&lt;&lt;</a:t>
            </a:r>
            <a:r>
              <a:rPr lang="en-US" b="1" err="1">
                <a:latin typeface="Calibri"/>
                <a:ea typeface="Segoe UI"/>
                <a:cs typeface="Segoe UI"/>
              </a:rPr>
              <a:t>EEE.cName</a:t>
            </a:r>
            <a:r>
              <a:rPr lang="en-US" b="1">
                <a:latin typeface="Calibri"/>
                <a:ea typeface="Segoe UI"/>
                <a:cs typeface="Segoe UI"/>
              </a:rPr>
              <a:t>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 return 0;​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}​</a:t>
            </a:r>
          </a:p>
          <a:p>
            <a:pPr rtl="0"/>
            <a:r>
              <a:rPr lang="en-US"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2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8440-A693-B81C-629A-DC46E698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Class Methods</a:t>
            </a:r>
          </a:p>
          <a:p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F31C-23EB-8822-F767-2BC77CB3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293663"/>
            <a:ext cx="10529977" cy="4883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Methods are </a:t>
            </a:r>
            <a:r>
              <a:rPr lang="en-US" b="1">
                <a:ea typeface="+mn-lt"/>
                <a:cs typeface="+mn-lt"/>
              </a:rPr>
              <a:t>functions</a:t>
            </a:r>
            <a:r>
              <a:rPr lang="en-US">
                <a:ea typeface="+mn-lt"/>
                <a:cs typeface="+mn-lt"/>
              </a:rPr>
              <a:t> that belongs to the class.</a:t>
            </a:r>
            <a:endParaRPr lang="en-US"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There are two ways to define functions that belongs to a class:</a:t>
            </a:r>
            <a:endParaRPr lang="en-US"/>
          </a:p>
          <a:p>
            <a:pPr marL="514350" indent="-514350">
              <a:buAutoNum type="romanLcPeriod"/>
            </a:pPr>
            <a:r>
              <a:rPr lang="en-US">
                <a:ea typeface="+mn-lt"/>
                <a:cs typeface="+mn-lt"/>
              </a:rPr>
              <a:t>Inside class definition</a:t>
            </a:r>
            <a:endParaRPr lang="en-US">
              <a:cs typeface="Calibri" panose="020F0502020204030204"/>
            </a:endParaRPr>
          </a:p>
          <a:p>
            <a:pPr marL="514350" indent="-514350">
              <a:buAutoNum type="romanLcPeriod"/>
            </a:pPr>
            <a:r>
              <a:rPr lang="en-US">
                <a:ea typeface="+mn-lt"/>
                <a:cs typeface="+mn-lt"/>
              </a:rPr>
              <a:t>Outside class definition</a:t>
            </a:r>
            <a:endParaRPr lang="en-US">
              <a:cs typeface="Calibri"/>
            </a:endParaRPr>
          </a:p>
          <a:p>
            <a:pPr marL="514350" indent="-514350">
              <a:buAutoNum type="romanLcPeriod"/>
            </a:pPr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EC917-864C-BDB5-B815-93B3CD84F927}"/>
              </a:ext>
            </a:extLst>
          </p:cNvPr>
          <p:cNvSpPr/>
          <p:nvPr/>
        </p:nvSpPr>
        <p:spPr>
          <a:xfrm>
            <a:off x="1009291" y="3431875"/>
            <a:ext cx="4687017" cy="26598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/>
          </a:p>
          <a:p>
            <a:endParaRPr lang="en-US"/>
          </a:p>
          <a:p>
            <a:r>
              <a:rPr lang="en-US" b="1"/>
              <a:t>#include &lt;iostream&gt;</a:t>
            </a:r>
            <a:endParaRPr lang="en-US" b="1">
              <a:cs typeface="Calibri" panose="020F0502020204030204"/>
            </a:endParaRPr>
          </a:p>
          <a:p>
            <a:r>
              <a:rPr lang="en-US" b="1"/>
              <a:t>using namespace std;</a:t>
            </a:r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r>
              <a:rPr lang="en-US" b="1"/>
              <a:t>class </a:t>
            </a:r>
            <a:r>
              <a:rPr lang="en-US" b="1" err="1"/>
              <a:t>MyClass</a:t>
            </a:r>
            <a:r>
              <a:rPr lang="en-US" b="1"/>
              <a:t> {                   </a:t>
            </a:r>
            <a:r>
              <a:rPr lang="en-US"/>
              <a:t>// The class</a:t>
            </a:r>
            <a:endParaRPr lang="en-US">
              <a:cs typeface="Calibri"/>
            </a:endParaRPr>
          </a:p>
          <a:p>
            <a:r>
              <a:rPr lang="en-US" b="1"/>
              <a:t>  public:                               </a:t>
            </a:r>
            <a:r>
              <a:rPr lang="en-US"/>
              <a:t>// Access specifier</a:t>
            </a:r>
            <a:endParaRPr lang="en-US">
              <a:cs typeface="Calibri"/>
            </a:endParaRPr>
          </a:p>
          <a:p>
            <a:r>
              <a:rPr lang="en-US" b="1"/>
              <a:t>    void </a:t>
            </a:r>
            <a:r>
              <a:rPr lang="en-US" b="1" err="1"/>
              <a:t>myMethod</a:t>
            </a:r>
            <a:r>
              <a:rPr lang="en-US" b="1"/>
              <a:t>() {     </a:t>
            </a:r>
            <a:endParaRPr lang="en-US"/>
          </a:p>
          <a:p>
            <a:r>
              <a:rPr lang="en-US"/>
              <a:t>// Method/function </a:t>
            </a:r>
            <a:r>
              <a:rPr lang="en-US">
                <a:ea typeface="+mn-lt"/>
                <a:cs typeface="+mn-lt"/>
              </a:rPr>
              <a:t>defined inside the class</a:t>
            </a:r>
            <a:endParaRPr lang="en-US">
              <a:cs typeface="Calibri"/>
            </a:endParaRPr>
          </a:p>
          <a:p>
            <a:r>
              <a:rPr lang="en-US" b="1"/>
              <a:t>      </a:t>
            </a:r>
            <a:r>
              <a:rPr lang="en-US" b="1" err="1"/>
              <a:t>cout</a:t>
            </a:r>
            <a:r>
              <a:rPr lang="en-US" b="1"/>
              <a:t> &lt;&lt; "I am learning Methods";</a:t>
            </a:r>
            <a:endParaRPr lang="en-US" b="1">
              <a:cs typeface="Calibri"/>
            </a:endParaRPr>
          </a:p>
          <a:p>
            <a:r>
              <a:rPr lang="en-US" b="1"/>
              <a:t>    }</a:t>
            </a:r>
            <a:endParaRPr lang="en-US" b="1">
              <a:cs typeface="Calibri"/>
            </a:endParaRPr>
          </a:p>
          <a:p>
            <a:r>
              <a:rPr lang="en-US" b="1"/>
              <a:t>};</a:t>
            </a:r>
            <a:endParaRPr lang="en-US" b="1">
              <a:cs typeface="Calibri"/>
            </a:endParaRPr>
          </a:p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FE237-B823-3AAD-3859-694D15D6EC95}"/>
              </a:ext>
            </a:extLst>
          </p:cNvPr>
          <p:cNvSpPr/>
          <p:nvPr/>
        </p:nvSpPr>
        <p:spPr>
          <a:xfrm>
            <a:off x="6097977" y="3430977"/>
            <a:ext cx="5262112" cy="26598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int main() {​</a:t>
            </a:r>
          </a:p>
          <a:p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MyClass</a:t>
            </a:r>
            <a:r>
              <a:rPr lang="en-US" b="1">
                <a:latin typeface="Calibri"/>
                <a:ea typeface="Segoe UI"/>
                <a:cs typeface="Segoe UI"/>
              </a:rPr>
              <a:t> </a:t>
            </a:r>
            <a:r>
              <a:rPr lang="en-US" b="1" err="1">
                <a:latin typeface="Calibri"/>
                <a:ea typeface="Segoe UI"/>
                <a:cs typeface="Segoe UI"/>
              </a:rPr>
              <a:t>myObj</a:t>
            </a:r>
            <a:r>
              <a:rPr lang="en-US" b="1">
                <a:latin typeface="Calibri"/>
                <a:ea typeface="Segoe UI"/>
                <a:cs typeface="Segoe UI"/>
              </a:rPr>
              <a:t>;          </a:t>
            </a:r>
            <a:r>
              <a:rPr lang="en-US">
                <a:latin typeface="Calibri"/>
                <a:ea typeface="Segoe UI"/>
                <a:cs typeface="Segoe UI"/>
              </a:rPr>
              <a:t>// Create an object of </a:t>
            </a:r>
            <a:r>
              <a:rPr lang="en-US" err="1">
                <a:latin typeface="Calibri"/>
                <a:ea typeface="Segoe UI"/>
                <a:cs typeface="Segoe UI"/>
              </a:rPr>
              <a:t>MyClass</a:t>
            </a:r>
            <a:r>
              <a:rPr lang="en-US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myObj.myMethod</a:t>
            </a:r>
            <a:r>
              <a:rPr lang="en-US" b="1">
                <a:latin typeface="Calibri"/>
                <a:ea typeface="Segoe UI"/>
                <a:cs typeface="Segoe UI"/>
              </a:rPr>
              <a:t>();  </a:t>
            </a:r>
            <a:r>
              <a:rPr lang="en-US">
                <a:latin typeface="Calibri"/>
                <a:ea typeface="Segoe UI"/>
                <a:cs typeface="Segoe UI"/>
              </a:rPr>
              <a:t>// Call the method​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 return 0;​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}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33319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8A54-FEA1-D221-860B-622465EE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Class Methods...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A461-307D-9125-411B-24C584D9B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709" y="1480569"/>
            <a:ext cx="10458091" cy="469639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4C25A-A023-9A08-B81F-76D688097418}"/>
              </a:ext>
            </a:extLst>
          </p:cNvPr>
          <p:cNvSpPr/>
          <p:nvPr/>
        </p:nvSpPr>
        <p:spPr>
          <a:xfrm>
            <a:off x="966158" y="1519687"/>
            <a:ext cx="5635921" cy="4370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#include &lt;iostream&gt;</a:t>
            </a:r>
            <a:endParaRPr lang="en-US" b="1">
              <a:cs typeface="Calibri"/>
            </a:endParaRPr>
          </a:p>
          <a:p>
            <a:r>
              <a:rPr lang="en-US" b="1"/>
              <a:t>using namespace std;</a:t>
            </a:r>
            <a:endParaRPr lang="en-US" b="1">
              <a:cs typeface="Calibri"/>
            </a:endParaRPr>
          </a:p>
          <a:p>
            <a:endParaRPr lang="en-US"/>
          </a:p>
          <a:p>
            <a:r>
              <a:rPr lang="en-US" b="1"/>
              <a:t>class </a:t>
            </a:r>
            <a:r>
              <a:rPr lang="en-US" b="1" err="1"/>
              <a:t>MyClass</a:t>
            </a:r>
            <a:r>
              <a:rPr lang="en-US" b="1"/>
              <a:t> {  </a:t>
            </a:r>
            <a:r>
              <a:rPr lang="en-US"/>
              <a:t>              // The class</a:t>
            </a:r>
            <a:endParaRPr lang="en-US">
              <a:cs typeface="Calibri"/>
            </a:endParaRPr>
          </a:p>
          <a:p>
            <a:r>
              <a:rPr lang="en-US"/>
              <a:t>  </a:t>
            </a:r>
            <a:r>
              <a:rPr lang="en-US" b="1"/>
              <a:t>public:</a:t>
            </a:r>
            <a:r>
              <a:rPr lang="en-US"/>
              <a:t>                            // Access specifier</a:t>
            </a:r>
            <a:endParaRPr lang="en-US">
              <a:cs typeface="Calibri"/>
            </a:endParaRPr>
          </a:p>
          <a:p>
            <a:r>
              <a:rPr lang="en-US"/>
              <a:t>    </a:t>
            </a:r>
            <a:r>
              <a:rPr lang="en-US" b="1"/>
              <a:t>void </a:t>
            </a:r>
            <a:r>
              <a:rPr lang="en-US" b="1" err="1"/>
              <a:t>myMethod</a:t>
            </a:r>
            <a:r>
              <a:rPr lang="en-US" b="1"/>
              <a:t>();</a:t>
            </a:r>
            <a:r>
              <a:rPr lang="en-US"/>
              <a:t>    // Method/function declaration</a:t>
            </a:r>
            <a:endParaRPr lang="en-US">
              <a:cs typeface="Calibri"/>
            </a:endParaRPr>
          </a:p>
          <a:p>
            <a:r>
              <a:rPr lang="en-US" b="1"/>
              <a:t>};</a:t>
            </a:r>
            <a:endParaRPr lang="en-US" b="1">
              <a:cs typeface="Calibri"/>
            </a:endParaRPr>
          </a:p>
          <a:p>
            <a:r>
              <a:rPr lang="en-US">
                <a:cs typeface="Calibri"/>
              </a:rPr>
              <a:t>// Method/function definition outside the class </a:t>
            </a:r>
          </a:p>
          <a:p>
            <a:r>
              <a:rPr lang="en-US" b="1">
                <a:cs typeface="Calibri"/>
              </a:rPr>
              <a:t>void </a:t>
            </a:r>
            <a:r>
              <a:rPr lang="en-US" b="1" err="1">
                <a:cs typeface="Calibri"/>
              </a:rPr>
              <a:t>MyClass</a:t>
            </a:r>
            <a:r>
              <a:rPr lang="en-US" b="1">
                <a:cs typeface="Calibri"/>
              </a:rPr>
              <a:t>::</a:t>
            </a:r>
            <a:r>
              <a:rPr lang="en-US" b="1" err="1">
                <a:cs typeface="Calibri"/>
              </a:rPr>
              <a:t>myMethod</a:t>
            </a:r>
            <a:r>
              <a:rPr lang="en-US" b="1">
                <a:cs typeface="Calibri"/>
              </a:rPr>
              <a:t>()</a:t>
            </a:r>
            <a:r>
              <a:rPr lang="en-US">
                <a:cs typeface="Calibri"/>
              </a:rPr>
              <a:t>  </a:t>
            </a:r>
            <a:r>
              <a:rPr lang="en-US">
                <a:ea typeface="+mn-lt"/>
                <a:cs typeface="+mn-lt"/>
              </a:rPr>
              <a:t> //scope  resolution operator </a:t>
            </a:r>
          </a:p>
          <a:p>
            <a:r>
              <a:rPr lang="en-US" b="1">
                <a:cs typeface="Calibri"/>
              </a:rPr>
              <a:t>{ </a:t>
            </a:r>
          </a:p>
          <a:p>
            <a:r>
              <a:rPr lang="en-US" b="1">
                <a:cs typeface="Calibri"/>
              </a:rPr>
              <a:t>     </a:t>
            </a:r>
            <a:r>
              <a:rPr lang="en-US" b="1" err="1">
                <a:cs typeface="Calibri"/>
              </a:rPr>
              <a:t>cout</a:t>
            </a:r>
            <a:r>
              <a:rPr lang="en-US" b="1">
                <a:cs typeface="Calibri"/>
              </a:rPr>
              <a:t> &lt;&lt; "I am Learning Methods"; </a:t>
            </a:r>
            <a:endParaRPr lang="en-US" b="1">
              <a:ea typeface="+mn-lt"/>
              <a:cs typeface="+mn-lt"/>
            </a:endParaRPr>
          </a:p>
          <a:p>
            <a:r>
              <a:rPr lang="en-US" b="1">
                <a:cs typeface="Calibri"/>
              </a:rPr>
              <a:t>} 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AAE86B-3A49-4434-7C75-9BE3622CCB30}"/>
              </a:ext>
            </a:extLst>
          </p:cNvPr>
          <p:cNvSpPr/>
          <p:nvPr/>
        </p:nvSpPr>
        <p:spPr>
          <a:xfrm>
            <a:off x="6917487" y="1518789"/>
            <a:ext cx="3766866" cy="43707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endParaRPr lang="en-US">
              <a:latin typeface="Calibri"/>
              <a:ea typeface="Segoe UI"/>
              <a:cs typeface="Segoe UI"/>
            </a:endParaRPr>
          </a:p>
          <a:p>
            <a:pPr rtl="0"/>
            <a:r>
              <a:rPr lang="en-US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int main() {​</a:t>
            </a:r>
          </a:p>
          <a:p>
            <a:pPr rtl="0"/>
            <a:r>
              <a:rPr lang="en-US">
                <a:latin typeface="Calibri"/>
                <a:ea typeface="Segoe UI"/>
                <a:cs typeface="Segoe UI"/>
              </a:rPr>
              <a:t> </a:t>
            </a:r>
            <a:r>
              <a:rPr lang="en-US" b="1">
                <a:latin typeface="Calibri"/>
                <a:ea typeface="Segoe UI"/>
                <a:cs typeface="Segoe UI"/>
              </a:rPr>
              <a:t> </a:t>
            </a:r>
            <a:r>
              <a:rPr lang="en-US" b="1" err="1">
                <a:latin typeface="Calibri"/>
                <a:ea typeface="Segoe UI"/>
                <a:cs typeface="Segoe UI"/>
              </a:rPr>
              <a:t>MyClass</a:t>
            </a:r>
            <a:r>
              <a:rPr lang="en-US" b="1">
                <a:latin typeface="Calibri"/>
                <a:ea typeface="Segoe UI"/>
                <a:cs typeface="Segoe UI"/>
              </a:rPr>
              <a:t> </a:t>
            </a:r>
            <a:r>
              <a:rPr lang="en-US" b="1" err="1">
                <a:latin typeface="Calibri"/>
                <a:ea typeface="Segoe UI"/>
                <a:cs typeface="Segoe UI"/>
              </a:rPr>
              <a:t>myObj</a:t>
            </a:r>
            <a:r>
              <a:rPr lang="en-US" b="1">
                <a:latin typeface="Calibri"/>
                <a:ea typeface="Segoe UI"/>
                <a:cs typeface="Segoe UI"/>
              </a:rPr>
              <a:t>;  </a:t>
            </a:r>
            <a:r>
              <a:rPr lang="en-US">
                <a:latin typeface="Calibri"/>
                <a:ea typeface="Segoe UI"/>
                <a:cs typeface="Segoe UI"/>
              </a:rPr>
              <a:t>   // Create an object of </a:t>
            </a:r>
            <a:r>
              <a:rPr lang="en-US" err="1">
                <a:latin typeface="Calibri"/>
                <a:ea typeface="Segoe UI"/>
                <a:cs typeface="Segoe UI"/>
              </a:rPr>
              <a:t>MyClass</a:t>
            </a:r>
            <a:r>
              <a:rPr lang="en-US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myObj.myMethod</a:t>
            </a:r>
            <a:r>
              <a:rPr lang="en-US" b="1">
                <a:latin typeface="Calibri"/>
                <a:ea typeface="Segoe UI"/>
                <a:cs typeface="Segoe UI"/>
              </a:rPr>
              <a:t>();</a:t>
            </a:r>
            <a:r>
              <a:rPr lang="en-US">
                <a:latin typeface="Calibri"/>
                <a:ea typeface="Segoe UI"/>
                <a:cs typeface="Segoe UI"/>
              </a:rPr>
              <a:t>  // Call the method​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 return 0;​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}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07740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F923-D0B9-6CE6-6F2D-A2B14F59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cs typeface="Calibri Light"/>
              </a:rPr>
              <a:t>Class Methods (Parameters)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2D6C4-0ECE-3FA3-37E5-1E74F66A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908CB4-13C9-3E3C-EF30-A712EC4B5861}"/>
              </a:ext>
            </a:extLst>
          </p:cNvPr>
          <p:cNvSpPr/>
          <p:nvPr/>
        </p:nvSpPr>
        <p:spPr>
          <a:xfrm>
            <a:off x="923027" y="1893499"/>
            <a:ext cx="4226942" cy="40400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ea typeface="+mn-lt"/>
                <a:cs typeface="+mn-lt"/>
              </a:rPr>
              <a:t>#include &lt;iostream&gt;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using namespace std;</a:t>
            </a:r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class Student {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  public: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    int </a:t>
            </a:r>
            <a:r>
              <a:rPr lang="en-US" b="1" err="1">
                <a:ea typeface="+mn-lt"/>
                <a:cs typeface="+mn-lt"/>
              </a:rPr>
              <a:t>sNumber</a:t>
            </a:r>
            <a:r>
              <a:rPr lang="en-US" b="1">
                <a:ea typeface="+mn-lt"/>
                <a:cs typeface="+mn-lt"/>
              </a:rPr>
              <a:t>(int </a:t>
            </a:r>
            <a:r>
              <a:rPr lang="en-US" b="1" err="1">
                <a:ea typeface="+mn-lt"/>
                <a:cs typeface="+mn-lt"/>
              </a:rPr>
              <a:t>maxStudent</a:t>
            </a:r>
            <a:r>
              <a:rPr lang="en-US" b="1">
                <a:ea typeface="+mn-lt"/>
                <a:cs typeface="+mn-lt"/>
              </a:rPr>
              <a:t>);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};</a:t>
            </a:r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int Student::</a:t>
            </a:r>
            <a:r>
              <a:rPr lang="en-US" b="1" err="1">
                <a:ea typeface="+mn-lt"/>
                <a:cs typeface="+mn-lt"/>
              </a:rPr>
              <a:t>sNumber</a:t>
            </a:r>
            <a:r>
              <a:rPr lang="en-US" b="1">
                <a:ea typeface="+mn-lt"/>
                <a:cs typeface="+mn-lt"/>
              </a:rPr>
              <a:t>(int </a:t>
            </a:r>
            <a:r>
              <a:rPr lang="en-US" b="1" err="1">
                <a:ea typeface="+mn-lt"/>
                <a:cs typeface="+mn-lt"/>
              </a:rPr>
              <a:t>maxStudent</a:t>
            </a:r>
            <a:r>
              <a:rPr lang="en-US" b="1">
                <a:ea typeface="+mn-lt"/>
                <a:cs typeface="+mn-lt"/>
              </a:rPr>
              <a:t>) 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{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  return </a:t>
            </a:r>
            <a:r>
              <a:rPr lang="en-US" b="1" err="1">
                <a:ea typeface="+mn-lt"/>
                <a:cs typeface="+mn-lt"/>
              </a:rPr>
              <a:t>maxStudent</a:t>
            </a:r>
            <a:r>
              <a:rPr lang="en-US" b="1">
                <a:ea typeface="+mn-lt"/>
                <a:cs typeface="+mn-lt"/>
              </a:rPr>
              <a:t>;</a:t>
            </a:r>
            <a:endParaRPr lang="en-US" b="1"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}</a:t>
            </a:r>
            <a:endParaRPr lang="en-US" b="1">
              <a:cs typeface="Calibri"/>
            </a:endParaRPr>
          </a:p>
          <a:p>
            <a:pPr algn="ctr"/>
            <a:endParaRPr lang="en-US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0E586-4C7B-52E6-16CC-DB920111A217}"/>
              </a:ext>
            </a:extLst>
          </p:cNvPr>
          <p:cNvSpPr/>
          <p:nvPr/>
        </p:nvSpPr>
        <p:spPr>
          <a:xfrm>
            <a:off x="5594769" y="1892600"/>
            <a:ext cx="5333998" cy="40400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int main() {</a:t>
            </a:r>
            <a:r>
              <a:rPr lang="en-US">
                <a:latin typeface="Calibri"/>
                <a:ea typeface="Segoe UI"/>
                <a:cs typeface="Segoe UI"/>
              </a:rPr>
              <a:t>​</a:t>
            </a:r>
            <a:endParaRPr lang="en-US"/>
          </a:p>
          <a:p>
            <a:r>
              <a:rPr lang="en-US" b="1">
                <a:latin typeface="Calibri"/>
                <a:ea typeface="Segoe UI"/>
                <a:cs typeface="Segoe UI"/>
              </a:rPr>
              <a:t>  Student </a:t>
            </a:r>
            <a:r>
              <a:rPr lang="en-US" b="1" err="1">
                <a:latin typeface="Calibri"/>
                <a:ea typeface="Segoe UI"/>
                <a:cs typeface="Segoe UI"/>
              </a:rPr>
              <a:t>myObj</a:t>
            </a:r>
            <a:r>
              <a:rPr lang="en-US" b="1">
                <a:latin typeface="Calibri"/>
                <a:ea typeface="Segoe UI"/>
                <a:cs typeface="Segoe UI"/>
              </a:rPr>
              <a:t>;</a:t>
            </a:r>
            <a:r>
              <a:rPr lang="en-US">
                <a:latin typeface="Calibri"/>
                <a:ea typeface="Segoe UI"/>
                <a:cs typeface="Segoe UI"/>
              </a:rPr>
              <a:t>​   </a:t>
            </a:r>
            <a:r>
              <a:rPr lang="en-US">
                <a:ea typeface="+mn-lt"/>
                <a:cs typeface="+mn-lt"/>
              </a:rPr>
              <a:t>// Create an object of Student</a:t>
            </a:r>
          </a:p>
          <a:p>
            <a:r>
              <a:rPr lang="en-US" b="1">
                <a:latin typeface="Calibri"/>
                <a:ea typeface="Segoe UI"/>
                <a:cs typeface="Segoe UI"/>
              </a:rPr>
              <a:t>  </a:t>
            </a:r>
            <a:r>
              <a:rPr lang="en-US" b="1" err="1">
                <a:latin typeface="Calibri"/>
                <a:ea typeface="Segoe UI"/>
                <a:cs typeface="Segoe UI"/>
              </a:rPr>
              <a:t>cout</a:t>
            </a:r>
            <a:r>
              <a:rPr lang="en-US" b="1">
                <a:latin typeface="Calibri"/>
                <a:ea typeface="Segoe UI"/>
                <a:cs typeface="Segoe UI"/>
              </a:rPr>
              <a:t> &lt;&lt; </a:t>
            </a:r>
            <a:r>
              <a:rPr lang="en-US" b="1" err="1">
                <a:latin typeface="Calibri"/>
                <a:ea typeface="Segoe UI"/>
                <a:cs typeface="Segoe UI"/>
              </a:rPr>
              <a:t>myObj.sNumber</a:t>
            </a:r>
            <a:r>
              <a:rPr lang="en-US" b="1">
                <a:latin typeface="Calibri"/>
                <a:ea typeface="Segoe UI"/>
                <a:cs typeface="Segoe UI"/>
              </a:rPr>
              <a:t>(40);</a:t>
            </a:r>
            <a:r>
              <a:rPr lang="en-US">
                <a:latin typeface="Calibri"/>
                <a:ea typeface="Segoe UI"/>
                <a:cs typeface="Segoe UI"/>
              </a:rPr>
              <a:t>​  </a:t>
            </a:r>
            <a:r>
              <a:rPr lang="en-US">
                <a:ea typeface="+mn-lt"/>
                <a:cs typeface="+mn-lt"/>
              </a:rPr>
              <a:t>// Call the method with an argument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  return 0;</a:t>
            </a:r>
            <a:r>
              <a:rPr lang="en-US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b="1">
                <a:latin typeface="Calibri"/>
                <a:ea typeface="Segoe UI"/>
                <a:cs typeface="Segoe UI"/>
              </a:rPr>
              <a:t>}</a:t>
            </a:r>
            <a:r>
              <a:rPr lang="en-US">
                <a:latin typeface="Calibri"/>
                <a:ea typeface="Segoe UI"/>
                <a:cs typeface="Segoe UI"/>
              </a:rPr>
              <a:t>​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5716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4667-5AA8-D42D-8565-0DE91FD9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Class Methods (Parameters)...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30A66-7F97-9086-6C31-9DFB1435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480569"/>
            <a:ext cx="10529977" cy="469639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6E8B3-4C5B-3F19-30F0-DFF4A3C0B787}"/>
              </a:ext>
            </a:extLst>
          </p:cNvPr>
          <p:cNvSpPr/>
          <p:nvPr/>
        </p:nvSpPr>
        <p:spPr>
          <a:xfrm>
            <a:off x="836762" y="1476555"/>
            <a:ext cx="7476225" cy="45863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class Person</a:t>
            </a:r>
            <a:endParaRPr lang="en-US" b="1" dirty="0">
              <a:cs typeface="Calibri"/>
            </a:endParaRPr>
          </a:p>
          <a:p>
            <a:r>
              <a:rPr lang="en-US" b="1" dirty="0"/>
              <a:t>{</a:t>
            </a:r>
            <a:endParaRPr lang="en-US" b="1" dirty="0">
              <a:cs typeface="Calibri"/>
            </a:endParaRPr>
          </a:p>
          <a:p>
            <a:r>
              <a:rPr lang="en-US" b="1" dirty="0"/>
              <a:t>public:</a:t>
            </a:r>
            <a:endParaRPr lang="en-US" b="1" dirty="0">
              <a:cs typeface="Calibri"/>
            </a:endParaRPr>
          </a:p>
          <a:p>
            <a:r>
              <a:rPr lang="en-US" b="1" dirty="0"/>
              <a:t>    int NID;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string </a:t>
            </a:r>
            <a:r>
              <a:rPr lang="en-US" b="1" dirty="0" err="1"/>
              <a:t>VaccineName</a:t>
            </a:r>
            <a:r>
              <a:rPr lang="en-US" b="1" dirty="0"/>
              <a:t>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void display()</a:t>
            </a:r>
            <a:endParaRPr lang="en-US" b="1" dirty="0">
              <a:cs typeface="Calibri"/>
            </a:endParaRPr>
          </a:p>
          <a:p>
            <a:r>
              <a:rPr lang="en-US" b="1" dirty="0"/>
              <a:t>    {</a:t>
            </a:r>
            <a:endParaRPr lang="en-US" b="1" dirty="0">
              <a:cs typeface="Calibri"/>
            </a:endParaRPr>
          </a:p>
          <a:p>
            <a:r>
              <a:rPr lang="en-US" b="1" dirty="0"/>
              <a:t>        </a:t>
            </a:r>
            <a:r>
              <a:rPr lang="en-US" b="1" dirty="0" err="1"/>
              <a:t>cout</a:t>
            </a:r>
            <a:r>
              <a:rPr lang="en-US" b="1" dirty="0"/>
              <a:t>&lt;&lt; "NID No:"&lt;&lt;NID&lt;&lt;","&lt;&lt;"Vaccine Name:"&lt;&lt;</a:t>
            </a:r>
            <a:r>
              <a:rPr lang="en-US" b="1" dirty="0" err="1"/>
              <a:t>VaccineName</a:t>
            </a:r>
            <a:r>
              <a:rPr lang="en-US" b="1" dirty="0"/>
              <a:t>&lt;&lt;</a:t>
            </a:r>
            <a:r>
              <a:rPr lang="en-US" b="1" dirty="0" err="1"/>
              <a:t>endl</a:t>
            </a:r>
            <a:r>
              <a:rPr lang="en-US" b="1" dirty="0"/>
              <a:t>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}</a:t>
            </a:r>
            <a:endParaRPr lang="en-US" b="1" dirty="0">
              <a:cs typeface="Calibri"/>
            </a:endParaRPr>
          </a:p>
          <a:p>
            <a:r>
              <a:rPr lang="en-US" b="1" dirty="0"/>
              <a:t>    void </a:t>
            </a:r>
            <a:r>
              <a:rPr lang="en-US" b="1" dirty="0" err="1"/>
              <a:t>setValue</a:t>
            </a:r>
            <a:r>
              <a:rPr lang="en-US" b="1" dirty="0"/>
              <a:t>(int a, string b)</a:t>
            </a:r>
            <a:endParaRPr lang="en-US" b="1" dirty="0">
              <a:cs typeface="Calibri"/>
            </a:endParaRPr>
          </a:p>
          <a:p>
            <a:r>
              <a:rPr lang="en-US" b="1" dirty="0"/>
              <a:t>    {</a:t>
            </a:r>
            <a:endParaRPr lang="en-US" b="1" dirty="0">
              <a:cs typeface="Calibri"/>
            </a:endParaRPr>
          </a:p>
          <a:p>
            <a:r>
              <a:rPr lang="en-US" b="1" dirty="0"/>
              <a:t>        NID = a;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    </a:t>
            </a:r>
            <a:r>
              <a:rPr lang="en-US" b="1" dirty="0" err="1"/>
              <a:t>VaccineName</a:t>
            </a:r>
            <a:r>
              <a:rPr lang="en-US" b="1" dirty="0"/>
              <a:t> = b;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}</a:t>
            </a:r>
            <a:endParaRPr lang="en-US" b="1" dirty="0">
              <a:cs typeface="Calibri"/>
            </a:endParaRPr>
          </a:p>
          <a:p>
            <a:r>
              <a:rPr lang="en-US" b="1" dirty="0"/>
              <a:t>};</a:t>
            </a:r>
            <a:endParaRPr lang="en-US" b="1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6F6B1-5F78-B816-ED75-5F3155CA135A}"/>
              </a:ext>
            </a:extLst>
          </p:cNvPr>
          <p:cNvSpPr/>
          <p:nvPr/>
        </p:nvSpPr>
        <p:spPr>
          <a:xfrm>
            <a:off x="8455863" y="1475657"/>
            <a:ext cx="2688565" cy="45863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int main () </a:t>
            </a:r>
          </a:p>
          <a:p>
            <a:r>
              <a:rPr lang="en-US" b="1" dirty="0"/>
              <a:t>{</a:t>
            </a:r>
            <a:endParaRPr lang="en-US" b="1" dirty="0">
              <a:cs typeface="Calibri"/>
            </a:endParaRPr>
          </a:p>
          <a:p>
            <a:r>
              <a:rPr lang="en-US" b="1" dirty="0"/>
              <a:t>    Person Obj;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</a:t>
            </a:r>
            <a:r>
              <a:rPr lang="en-US" b="1" dirty="0" err="1"/>
              <a:t>Obj.setValue</a:t>
            </a:r>
            <a:r>
              <a:rPr lang="en-US" b="1" dirty="0"/>
              <a:t>(2349824, "</a:t>
            </a:r>
            <a:r>
              <a:rPr lang="en-US" b="1" dirty="0" err="1"/>
              <a:t>Verocell</a:t>
            </a:r>
            <a:r>
              <a:rPr lang="en-US" b="1" dirty="0"/>
              <a:t>");</a:t>
            </a:r>
            <a:endParaRPr lang="en-US" b="1" dirty="0">
              <a:cs typeface="Calibri"/>
            </a:endParaRPr>
          </a:p>
          <a:p>
            <a:r>
              <a:rPr lang="en-US" b="1" dirty="0"/>
              <a:t>    </a:t>
            </a:r>
            <a:r>
              <a:rPr lang="en-US" b="1" dirty="0" err="1"/>
              <a:t>Obj.display</a:t>
            </a:r>
            <a:r>
              <a:rPr lang="en-US" b="1" dirty="0"/>
              <a:t>();</a:t>
            </a:r>
            <a:endParaRPr lang="en-US" b="1" dirty="0">
              <a:cs typeface="Calibri"/>
            </a:endParaRPr>
          </a:p>
          <a:p>
            <a:endParaRPr lang="en-US" b="1" dirty="0">
              <a:cs typeface="Calibri"/>
            </a:endParaRPr>
          </a:p>
          <a:p>
            <a:r>
              <a:rPr lang="en-US" b="1" dirty="0"/>
              <a:t>  return 0;</a:t>
            </a:r>
            <a:endParaRPr lang="en-US" b="1" dirty="0">
              <a:cs typeface="Calibri"/>
            </a:endParaRPr>
          </a:p>
          <a:p>
            <a:r>
              <a:rPr lang="en-US" b="1" dirty="0"/>
              <a:t>}</a:t>
            </a:r>
            <a:endParaRPr lang="en-US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90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Introduction To Programming</vt:lpstr>
      <vt:lpstr>Content</vt:lpstr>
      <vt:lpstr>OOP </vt:lpstr>
      <vt:lpstr>OOP...</vt:lpstr>
      <vt:lpstr>Classes and Objects </vt:lpstr>
      <vt:lpstr>Classes and Objects...</vt:lpstr>
      <vt:lpstr>Classes and Objects...</vt:lpstr>
      <vt:lpstr>Create a Class </vt:lpstr>
      <vt:lpstr>Create an Object </vt:lpstr>
      <vt:lpstr>Multiple Objects</vt:lpstr>
      <vt:lpstr>Class Methods </vt:lpstr>
      <vt:lpstr>Class Methods...</vt:lpstr>
      <vt:lpstr>Class Methods (Parameters)</vt:lpstr>
      <vt:lpstr>Class Methods (Parameters)...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19</cp:revision>
  <dcterms:created xsi:type="dcterms:W3CDTF">2022-07-08T13:56:22Z</dcterms:created>
  <dcterms:modified xsi:type="dcterms:W3CDTF">2022-07-18T01:30:23Z</dcterms:modified>
</cp:coreProperties>
</file>