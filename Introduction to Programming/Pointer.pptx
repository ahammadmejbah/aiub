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94B5EA-A163-4E9B-AB08-D4C92FFA0CAC}">
          <p14:sldIdLst>
            <p14:sldId id="256"/>
            <p14:sldId id="257"/>
            <p14:sldId id="258"/>
            <p14:sldId id="259"/>
            <p14:sldId id="260"/>
            <p14:sldId id="263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Introduction To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6AD9-4A0F-B91B-715F-50DAA1C3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8F5D-B899-7F88-AA9A-59B5E8E9C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Pointer</a:t>
            </a:r>
          </a:p>
          <a:p>
            <a:r>
              <a:rPr lang="en-US" dirty="0">
                <a:cs typeface="Calibri"/>
              </a:rPr>
              <a:t>NULL Pointer</a:t>
            </a:r>
          </a:p>
        </p:txBody>
      </p:sp>
    </p:spTree>
    <p:extLst>
      <p:ext uri="{BB962C8B-B14F-4D97-AF65-F5344CB8AC3E}">
        <p14:creationId xmlns:p14="http://schemas.microsoft.com/office/powerpoint/2010/main" val="182669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2B57-FD64-481D-0C4D-86E68798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9F64-E122-2A0C-E9F1-B8565D340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A  pointer is a variable whose value is a memory address.</a:t>
            </a:r>
            <a:endParaRPr lang="en-US" dirty="0">
              <a:cs typeface="Calibri" panose="020F0502020204030204"/>
            </a:endParaRPr>
          </a:p>
          <a:p>
            <a:pPr marL="457200" indent="-457200"/>
            <a:r>
              <a:rPr lang="en-US" dirty="0">
                <a:ea typeface="+mn-lt"/>
                <a:cs typeface="+mn-lt"/>
              </a:rPr>
              <a:t>A pointer is a variable that stores the memory address of another variable.</a:t>
            </a:r>
            <a:endParaRPr lang="en-US" dirty="0">
              <a:cs typeface="Calibri" panose="020F0502020204030204"/>
            </a:endParaRPr>
          </a:p>
          <a:p>
            <a:pPr marL="457200" indent="-457200"/>
            <a:r>
              <a:rPr lang="en-US" dirty="0">
                <a:cs typeface="Calibri" panose="020F0502020204030204"/>
              </a:rPr>
              <a:t>Declaration of pointer-</a:t>
            </a:r>
          </a:p>
          <a:p>
            <a:pPr marL="0" indent="0" algn="ctr">
              <a:buNone/>
            </a:pPr>
            <a:r>
              <a:rPr lang="en-US" dirty="0" err="1">
                <a:cs typeface="Calibri" panose="020F0502020204030204"/>
              </a:rPr>
              <a:t>Data_type</a:t>
            </a:r>
            <a:r>
              <a:rPr lang="en-US" dirty="0">
                <a:cs typeface="Calibri" panose="020F0502020204030204"/>
              </a:rPr>
              <a:t>  *</a:t>
            </a:r>
            <a:r>
              <a:rPr lang="en-US" dirty="0" err="1">
                <a:cs typeface="Calibri" panose="020F0502020204030204"/>
              </a:rPr>
              <a:t>Variable_name</a:t>
            </a:r>
            <a:r>
              <a:rPr lang="en-US" dirty="0">
                <a:cs typeface="Calibri" panose="020F0502020204030204"/>
              </a:rPr>
              <a:t>;</a:t>
            </a:r>
          </a:p>
          <a:p>
            <a:pPr marL="0" indent="0" algn="ctr">
              <a:buNone/>
            </a:pPr>
            <a:r>
              <a:rPr lang="en-US" dirty="0">
                <a:cs typeface="Calibri" panose="020F0502020204030204"/>
              </a:rPr>
              <a:t>int *p;</a:t>
            </a:r>
          </a:p>
          <a:p>
            <a:pPr marL="0" indent="0" algn="ctr">
              <a:buNone/>
            </a:pPr>
            <a:r>
              <a:rPr lang="en-US" dirty="0">
                <a:cs typeface="Calibri" panose="020F0502020204030204"/>
              </a:rPr>
              <a:t>char *a;</a:t>
            </a:r>
          </a:p>
          <a:p>
            <a:pPr marL="0" indent="0" algn="ctr">
              <a:buNone/>
            </a:pP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716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84C9-4615-B8D5-51D2-F3256BFB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Pointer...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72E8-9F12-37B6-FAC6-EBDEF5474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3" y="1437437"/>
            <a:ext cx="10529977" cy="473952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cs typeface="Calibri"/>
              </a:rPr>
              <a:t>&amp;</a:t>
            </a:r>
            <a:r>
              <a:rPr lang="en-US" dirty="0">
                <a:cs typeface="Calibri"/>
              </a:rPr>
              <a:t>-- Symbol is used to get the address of the variable.</a:t>
            </a:r>
          </a:p>
          <a:p>
            <a:r>
              <a:rPr lang="en-US" b="1" dirty="0">
                <a:cs typeface="Calibri"/>
              </a:rPr>
              <a:t>*</a:t>
            </a:r>
            <a:r>
              <a:rPr lang="en-US" dirty="0">
                <a:cs typeface="Calibri"/>
              </a:rPr>
              <a:t>-- Symbol is used to get the value of the variable that the pointer is pointing to. </a:t>
            </a:r>
          </a:p>
          <a:p>
            <a:r>
              <a:rPr lang="en-US" dirty="0">
                <a:cs typeface="Calibri"/>
              </a:rPr>
              <a:t>Example---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int a=6;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int *p;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p= &amp;a;</a:t>
            </a:r>
          </a:p>
          <a:p>
            <a:pPr marL="0" indent="0">
              <a:buNone/>
            </a:pPr>
            <a:r>
              <a:rPr lang="en-US" dirty="0" err="1">
                <a:cs typeface="Calibri"/>
              </a:rPr>
              <a:t>cout</a:t>
            </a:r>
            <a:r>
              <a:rPr lang="en-US" dirty="0">
                <a:cs typeface="Calibri"/>
              </a:rPr>
              <a:t>&lt;&lt; a&lt;&lt;"\n";</a:t>
            </a: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&amp;a&lt;&lt;"\n";</a:t>
            </a: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p&lt;&lt;"\n";</a:t>
            </a: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*p&lt;&lt;"\n";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48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FD3D-243A-AAC5-744A-789CD7CB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D595F-ECD3-0C59-4F22-E6BC1D5F251B}"/>
              </a:ext>
            </a:extLst>
          </p:cNvPr>
          <p:cNvSpPr/>
          <p:nvPr/>
        </p:nvSpPr>
        <p:spPr>
          <a:xfrm>
            <a:off x="986138" y="1868756"/>
            <a:ext cx="5838732" cy="21996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 number=30;</a:t>
            </a:r>
            <a:b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 ∗ p;</a:t>
            </a:r>
            <a:b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p=&amp;number; </a:t>
            </a:r>
            <a:r>
              <a:rPr lang="en-US" b="1" i="0" dirty="0">
                <a:solidFill>
                  <a:schemeClr val="accent2">
                    <a:lumMod val="75000"/>
                  </a:schemeClr>
                </a:solidFill>
                <a:effectLst/>
                <a:cs typeface="Times New Roman" panose="02020603050405020304" pitchFamily="18" charset="0"/>
              </a:rPr>
              <a:t>//stores the address of number variable</a:t>
            </a:r>
            <a:b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b="1" i="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cout</a:t>
            </a: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&lt;&lt;"Address of number variable is:"&lt;&lt;&amp;number&lt;&lt;</a:t>
            </a:r>
            <a:r>
              <a:rPr lang="en-US" b="1" i="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endl</a:t>
            </a: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;</a:t>
            </a:r>
            <a:b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b="1" i="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cout</a:t>
            </a: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&lt;&lt;"Address of p variable is:"&lt;&lt;p&lt;&lt;</a:t>
            </a:r>
            <a:r>
              <a:rPr lang="en-US" b="1" i="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endl</a:t>
            </a: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;</a:t>
            </a:r>
            <a:b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b="1" i="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cout</a:t>
            </a: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&lt;&lt;"Value of p variable is:"&lt;&lt;*p&lt;&lt;</a:t>
            </a:r>
            <a:r>
              <a:rPr lang="en-US" b="1" i="0" dirty="0" err="1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endl</a:t>
            </a:r>
            <a:r>
              <a:rPr lang="en-US" b="1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;</a:t>
            </a:r>
            <a:endParaRPr 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90B896-1C88-A0DD-E743-44C10409E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093" y="2047659"/>
            <a:ext cx="3712472" cy="184185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7491228-695B-4364-9C9A-5587457E4BC3}"/>
              </a:ext>
            </a:extLst>
          </p:cNvPr>
          <p:cNvSpPr/>
          <p:nvPr/>
        </p:nvSpPr>
        <p:spPr>
          <a:xfrm>
            <a:off x="986139" y="4439478"/>
            <a:ext cx="5838732" cy="17360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solidFill>
                  <a:schemeClr val="tx1"/>
                </a:solidFill>
                <a:effectLst/>
              </a:rPr>
              <a:t>int a=20,b=10,∗p1=&amp;a,∗p2=&amp;b;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i="0" dirty="0" err="1">
                <a:solidFill>
                  <a:schemeClr val="tx1"/>
                </a:solidFill>
                <a:effectLst/>
              </a:rPr>
              <a:t>cout</a:t>
            </a:r>
            <a:r>
              <a:rPr lang="en-US" b="1" i="0" dirty="0">
                <a:solidFill>
                  <a:schemeClr val="tx1"/>
                </a:solidFill>
                <a:effectLst/>
              </a:rPr>
              <a:t>&lt;&lt;"Before swap: ∗p1="&lt;&lt;∗p1&lt;&lt;" ∗p2="&lt;&lt;∗p2&lt;&lt;</a:t>
            </a:r>
            <a:r>
              <a:rPr lang="en-US" b="1" i="0" dirty="0" err="1">
                <a:solidFill>
                  <a:schemeClr val="tx1"/>
                </a:solidFill>
                <a:effectLst/>
              </a:rPr>
              <a:t>endl</a:t>
            </a:r>
            <a:r>
              <a:rPr lang="en-US" b="1" i="0" dirty="0">
                <a:solidFill>
                  <a:schemeClr val="tx1"/>
                </a:solidFill>
                <a:effectLst/>
              </a:rPr>
              <a:t>;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i="0" dirty="0">
                <a:solidFill>
                  <a:schemeClr val="tx1"/>
                </a:solidFill>
                <a:effectLst/>
              </a:rPr>
              <a:t>∗p1=∗p1 + ∗p2;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i="0" dirty="0">
                <a:solidFill>
                  <a:schemeClr val="tx1"/>
                </a:solidFill>
                <a:effectLst/>
              </a:rPr>
              <a:t>∗p2=∗p1 - ∗p2;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i="0" dirty="0">
                <a:solidFill>
                  <a:schemeClr val="tx1"/>
                </a:solidFill>
                <a:effectLst/>
              </a:rPr>
              <a:t>∗p1=∗p1 - ∗p2;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i="0" dirty="0" err="1">
                <a:solidFill>
                  <a:schemeClr val="tx1"/>
                </a:solidFill>
                <a:effectLst/>
              </a:rPr>
              <a:t>cout</a:t>
            </a:r>
            <a:r>
              <a:rPr lang="en-US" b="1" i="0" dirty="0">
                <a:solidFill>
                  <a:schemeClr val="tx1"/>
                </a:solidFill>
                <a:effectLst/>
              </a:rPr>
              <a:t>&lt;&lt;"After swap: ∗p1="&lt;&lt;∗p1&lt;&lt;" ∗p2="&lt;&lt;∗p2&lt;&lt;</a:t>
            </a:r>
            <a:r>
              <a:rPr lang="en-US" b="1" i="0" dirty="0" err="1">
                <a:solidFill>
                  <a:schemeClr val="tx1"/>
                </a:solidFill>
                <a:effectLst/>
              </a:rPr>
              <a:t>endl</a:t>
            </a:r>
            <a:r>
              <a:rPr lang="en-US" b="1" i="0" dirty="0">
                <a:solidFill>
                  <a:schemeClr val="tx1"/>
                </a:solidFill>
                <a:effectLst/>
              </a:rPr>
              <a:t>;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AA429D-CCAB-5284-7BAE-8A6706C86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094" y="4572000"/>
            <a:ext cx="3712472" cy="12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6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FD3D-243A-AAC5-744A-789CD7CB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9E7831-B254-D625-4E4A-DB10C1D91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373" y="1860405"/>
            <a:ext cx="3066554" cy="34445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B5B3F4-7D55-A218-0271-86262D84BB66}"/>
              </a:ext>
            </a:extLst>
          </p:cNvPr>
          <p:cNvSpPr/>
          <p:nvPr/>
        </p:nvSpPr>
        <p:spPr>
          <a:xfrm>
            <a:off x="4789811" y="1860405"/>
            <a:ext cx="2904225" cy="34793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a1=5, a2=10, add;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*p1, *p2;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p1= &amp;a1;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p2= &amp;a2;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add = *p1 + *p2;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&lt;&lt;"Addition is: "&lt;&lt;add;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9208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69F8D-0E15-3F31-D4BB-3418B719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NULL Pointer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0358-1438-8486-E54C-9212A480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431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null pointer is a special pointer value that is known not to point anywhere.  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int main()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{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int  *p = NULL;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  </a:t>
            </a: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 &lt;&lt; "The value of pointer is " &lt;&lt; p 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return 0;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}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840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98BB0-C022-83C5-6BC7-05CA39AE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C738-3AAD-F8CF-8A0F-403B92C9A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effectLst/>
                <a:latin typeface="euclid_circular_a"/>
              </a:rPr>
              <a:t>C++ allows us to allocate the memory of a variable or an array in run time. This is known as dynamic memory allocation.</a:t>
            </a:r>
          </a:p>
          <a:p>
            <a:pPr algn="just"/>
            <a:r>
              <a:rPr lang="en-US" b="0" i="0" dirty="0">
                <a:effectLst/>
                <a:latin typeface="euclid_circular_a"/>
              </a:rPr>
              <a:t>In C++, we need to deallocate the dynamically allocated memory manually after we have no use for the variable.</a:t>
            </a:r>
            <a:endParaRPr lang="en-US" dirty="0">
              <a:latin typeface="euclid_circular_a"/>
            </a:endParaRPr>
          </a:p>
          <a:p>
            <a:pPr algn="just"/>
            <a:r>
              <a:rPr lang="en-US" dirty="0"/>
              <a:t>We can allocate and then deallocate memory dynamically using the </a:t>
            </a:r>
            <a:r>
              <a:rPr lang="en-US" b="1" dirty="0"/>
              <a:t>new</a:t>
            </a:r>
            <a:r>
              <a:rPr lang="en-US" dirty="0"/>
              <a:t> and </a:t>
            </a:r>
            <a:r>
              <a:rPr lang="en-US" b="1" dirty="0"/>
              <a:t>delete</a:t>
            </a:r>
            <a:r>
              <a:rPr lang="en-US" dirty="0"/>
              <a:t> operators respectively.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new</a:t>
            </a:r>
            <a:r>
              <a:rPr lang="en-US" dirty="0"/>
              <a:t> operator allocates memory to a variable.</a:t>
            </a:r>
          </a:p>
          <a:p>
            <a:pPr marL="0" indent="0">
              <a:buNone/>
            </a:pPr>
            <a:r>
              <a:rPr lang="en-US" dirty="0"/>
              <a:t>Syntax-</a:t>
            </a:r>
          </a:p>
          <a:p>
            <a:pPr marL="0" indent="0" algn="ctr">
              <a:buNone/>
            </a:pPr>
            <a:r>
              <a:rPr lang="en-US" dirty="0" err="1"/>
              <a:t>pointerVariable</a:t>
            </a:r>
            <a:r>
              <a:rPr lang="en-US" dirty="0"/>
              <a:t> = </a:t>
            </a:r>
            <a:r>
              <a:rPr lang="en-US" b="1" dirty="0">
                <a:solidFill>
                  <a:srgbClr val="0070C0"/>
                </a:solidFill>
              </a:rPr>
              <a:t>new</a:t>
            </a:r>
            <a:r>
              <a:rPr lang="en-US" dirty="0"/>
              <a:t> </a:t>
            </a:r>
            <a:r>
              <a:rPr lang="en-US" dirty="0" err="1"/>
              <a:t>dataType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4351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B450-52C3-6931-023B-40C6F892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BDA6C7-5DEE-CAEE-181C-13D72BCE6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42" y="2560829"/>
            <a:ext cx="3900384" cy="28195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676484-12FE-9717-9AFA-D76DD3D58D52}"/>
              </a:ext>
            </a:extLst>
          </p:cNvPr>
          <p:cNvSpPr txBox="1"/>
          <p:nvPr/>
        </p:nvSpPr>
        <p:spPr>
          <a:xfrm>
            <a:off x="6321288" y="2560829"/>
            <a:ext cx="47045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Here, we have dynamically allocated memory for an </a:t>
            </a:r>
            <a:r>
              <a:rPr lang="en-US" sz="2000" b="1" dirty="0">
                <a:solidFill>
                  <a:srgbClr val="0070C0"/>
                </a:solidFill>
              </a:rPr>
              <a:t>int</a:t>
            </a:r>
            <a:r>
              <a:rPr lang="en-US" sz="2000" dirty="0"/>
              <a:t> variable using the </a:t>
            </a:r>
            <a:r>
              <a:rPr lang="en-US" sz="2000" b="1" dirty="0">
                <a:solidFill>
                  <a:srgbClr val="0070C0"/>
                </a:solidFill>
              </a:rPr>
              <a:t>new</a:t>
            </a:r>
            <a:r>
              <a:rPr lang="en-US" sz="2000" dirty="0"/>
              <a:t> operator.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Notice that we have used the pointer number to allocate the memory dynamically. This is because the </a:t>
            </a:r>
            <a:r>
              <a:rPr lang="en-US" sz="2000" b="1" dirty="0">
                <a:solidFill>
                  <a:srgbClr val="0070C0"/>
                </a:solidFill>
              </a:rPr>
              <a:t>new</a:t>
            </a:r>
            <a:r>
              <a:rPr lang="en-US" sz="2000" dirty="0"/>
              <a:t> operator returns the address of the memory location.</a:t>
            </a:r>
          </a:p>
        </p:txBody>
      </p:sp>
    </p:spTree>
    <p:extLst>
      <p:ext uri="{BB962C8B-B14F-4D97-AF65-F5344CB8AC3E}">
        <p14:creationId xmlns:p14="http://schemas.microsoft.com/office/powerpoint/2010/main" val="400346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4150-0DA8-5000-D9AA-25EA7AAB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D029F9-95DF-47B0-EF9A-D87E11E3F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666" y="2239618"/>
            <a:ext cx="4457246" cy="31672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3FC101-B1C5-77CF-7FC7-E4C312D64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663" y="2845248"/>
            <a:ext cx="2875719" cy="17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37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D4CC-0B72-21DF-7C49-9BE8FAAD7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461D2-CA1B-B050-331C-A9709A800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Once we no longer need to use a variable that we have declared dynamically, we can deallocate the memory occupied by the variable.</a:t>
            </a:r>
          </a:p>
          <a:p>
            <a:pPr algn="just"/>
            <a:r>
              <a:rPr lang="en-US" dirty="0"/>
              <a:t>For this, the </a:t>
            </a:r>
            <a:r>
              <a:rPr lang="en-US" b="1" dirty="0"/>
              <a:t>delete</a:t>
            </a:r>
            <a:r>
              <a:rPr lang="en-US" dirty="0"/>
              <a:t> operator is used. It returns the memory to the operating system. This is known as memory deallocation.</a:t>
            </a:r>
          </a:p>
          <a:p>
            <a:pPr algn="just"/>
            <a:r>
              <a:rPr lang="en-US" dirty="0"/>
              <a:t>Syntax-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delete</a:t>
            </a:r>
            <a:r>
              <a:rPr lang="en-US" dirty="0"/>
              <a:t> </a:t>
            </a:r>
            <a:r>
              <a:rPr lang="en-US" dirty="0" err="1"/>
              <a:t>pointerVariable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45170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AAE8-6F6C-5D7A-3153-1AAF5758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DAFABE-E350-62CE-78EF-5943B1703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039" y="2309656"/>
            <a:ext cx="5706057" cy="3203248"/>
          </a:xfrm>
        </p:spPr>
      </p:pic>
    </p:spTree>
    <p:extLst>
      <p:ext uri="{BB962C8B-B14F-4D97-AF65-F5344CB8AC3E}">
        <p14:creationId xmlns:p14="http://schemas.microsoft.com/office/powerpoint/2010/main" val="1038682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5268-42B5-EEF1-BB32-FE41D5E1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1325563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E35C4C-4EC0-8A68-0699-B5DABF5C9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449" y="2083093"/>
            <a:ext cx="5361586" cy="328338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B2B267-22DF-581B-C877-6EFAAC8C3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19" y="2491409"/>
            <a:ext cx="2683481" cy="212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40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E950-57AA-5CEC-9678-C5E0D63C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Pointer...</a:t>
            </a:r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376E1AB-9259-43BC-A982-D4EF5F78E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1982"/>
            <a:ext cx="5098774" cy="3100348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5192C0-F111-E4AD-B8A9-E96732E1A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279" y="2625258"/>
            <a:ext cx="3040486" cy="160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4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557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euclid_circular_a</vt:lpstr>
      <vt:lpstr>office theme</vt:lpstr>
      <vt:lpstr>Introduction To Programming</vt:lpstr>
      <vt:lpstr>Content</vt:lpstr>
      <vt:lpstr>Pointer</vt:lpstr>
      <vt:lpstr>Pointer...</vt:lpstr>
      <vt:lpstr>Pointer...</vt:lpstr>
      <vt:lpstr>Pointer...</vt:lpstr>
      <vt:lpstr>NULL Pointer</vt:lpstr>
      <vt:lpstr>Pointer...</vt:lpstr>
      <vt:lpstr>Pointer...</vt:lpstr>
      <vt:lpstr>Pointer...</vt:lpstr>
      <vt:lpstr>Pointer...</vt:lpstr>
      <vt:lpstr>Pointer...</vt:lpstr>
      <vt:lpstr>Pointer...</vt:lpstr>
      <vt:lpstr>Pointer...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</dc:title>
  <dc:creator/>
  <cp:lastModifiedBy>Methila Farzana Woishe</cp:lastModifiedBy>
  <cp:revision>162</cp:revision>
  <dcterms:created xsi:type="dcterms:W3CDTF">2022-06-11T04:57:13Z</dcterms:created>
  <dcterms:modified xsi:type="dcterms:W3CDTF">2023-03-21T05:26:42Z</dcterms:modified>
</cp:coreProperties>
</file>