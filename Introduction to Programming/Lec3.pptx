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BD285-A3EC-489C-9722-B8374CF13E31}" v="367" dt="2022-06-01T05:16:19.829"/>
    <p1510:client id="{96BF0C91-465B-8A7D-B5F6-5DC3A452F520}" v="1" dt="2022-06-07T05:46:46.071"/>
    <p1510:client id="{A2990336-2AB1-2331-8C35-173CC534CB2A}" v="109" dt="2022-06-02T02:44:09.023"/>
    <p1510:client id="{BE768B46-15D5-C0D3-E2A8-B8D83AF640F1}" v="52" dt="2022-06-01T05:02:06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Introduction To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488F-4FF5-63BD-CB80-A00287C8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69D7-126A-CA8D-6062-0FD0B278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Increment/Decrement</a:t>
            </a:r>
          </a:p>
          <a:p>
            <a:r>
              <a:rPr lang="en-US" dirty="0">
                <a:ea typeface="Calibri"/>
                <a:cs typeface="Calibri"/>
              </a:rPr>
              <a:t>Loops 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   While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   Do/While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   For</a:t>
            </a:r>
          </a:p>
          <a:p>
            <a:r>
              <a:rPr lang="en-US" dirty="0">
                <a:ea typeface="Calibri"/>
                <a:cs typeface="Calibri"/>
              </a:rPr>
              <a:t>Break</a:t>
            </a:r>
          </a:p>
          <a:p>
            <a:r>
              <a:rPr lang="en-US" dirty="0">
                <a:ea typeface="Calibri"/>
                <a:cs typeface="Calibri"/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348091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0C2C-CBA0-AAD3-A3ED-DFA92398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Increment/Decrement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56EEA-851A-D8DA-09D8-4861CA63C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6A3EF8-8004-CE24-CFB9-0B78B9964981}"/>
              </a:ext>
            </a:extLst>
          </p:cNvPr>
          <p:cNvSpPr/>
          <p:nvPr/>
        </p:nvSpPr>
        <p:spPr>
          <a:xfrm>
            <a:off x="894272" y="1879120"/>
            <a:ext cx="3163017" cy="36949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#include&lt;iostream&gt;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 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 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    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int x = 3, y, z;    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y = x++;    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z = ++x;   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x &lt;&lt; ", " &lt;&lt; y &lt;&lt; ", " &lt;&lt; z;   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return 0; 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F4D17-D46F-9BB9-9139-C65AA026E95D}"/>
              </a:ext>
            </a:extLst>
          </p:cNvPr>
          <p:cNvSpPr/>
          <p:nvPr/>
        </p:nvSpPr>
        <p:spPr>
          <a:xfrm>
            <a:off x="4473335" y="1878222"/>
            <a:ext cx="2918604" cy="3766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int x = 3, y, z;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y = x--;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z = --x;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cout &lt;&lt; x &lt;&lt; ", " &lt;&lt; y &lt;&lt; ", " &lt;&lt; z;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37882F-C436-4C5D-930C-EB2620DAA7AA}"/>
              </a:ext>
            </a:extLst>
          </p:cNvPr>
          <p:cNvSpPr/>
          <p:nvPr/>
        </p:nvSpPr>
        <p:spPr>
          <a:xfrm>
            <a:off x="7894248" y="1877324"/>
            <a:ext cx="3047998" cy="36518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int main()</a:t>
            </a:r>
          </a:p>
          <a:p>
            <a:r>
              <a:rPr lang="en-US" b="1" dirty="0">
                <a:solidFill>
                  <a:schemeClr val="tx1"/>
                </a:solidFill>
              </a:rPr>
              <a:t> 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int a = 3, b, c, d, e 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b = ++a;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c = --a;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d = a++;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e = a--;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cout &lt;&lt; a &lt;&lt; ", " &lt;&lt; b &lt;&lt; ", " &lt;&lt; c &lt;&lt; ", " &lt;&lt; d &lt;&lt;", "&lt;&lt; e;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855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C591-F839-5AC6-488C-AEFA5EA3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Loops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BF357-11A7-0422-BDC3-FC026CB69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Loops can execute a block of code as long as a specified condition is reached.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Loops are handy because they save time, reduce errors, and they make code more readable.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57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C024-FAFF-AC06-801E-60382F1C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6478-925E-3CBB-97A2-2E19F878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 </a:t>
            </a:r>
            <a:r>
              <a:rPr lang="en-US">
                <a:solidFill>
                  <a:srgbClr val="0070C0"/>
                </a:solidFill>
                <a:latin typeface="Consolas"/>
              </a:rPr>
              <a:t>while</a:t>
            </a:r>
            <a:r>
              <a:rPr lang="en-US">
                <a:ea typeface="+mn-lt"/>
                <a:cs typeface="+mn-lt"/>
              </a:rPr>
              <a:t> loop loops through a block of code as long as a specified condition is </a:t>
            </a:r>
            <a:r>
              <a:rPr lang="en-US">
                <a:latin typeface="Consolas"/>
              </a:rPr>
              <a:t>true.</a:t>
            </a:r>
          </a:p>
          <a:p>
            <a:r>
              <a:rPr lang="en-US">
                <a:latin typeface="Consolas"/>
              </a:rPr>
              <a:t>Syntax-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while (</a:t>
            </a:r>
            <a:r>
              <a:rPr lang="en-US" i="1">
                <a:ea typeface="+mn-lt"/>
                <a:cs typeface="+mn-lt"/>
              </a:rPr>
              <a:t>condition</a:t>
            </a:r>
            <a:r>
              <a:rPr lang="en-US">
                <a:ea typeface="+mn-lt"/>
                <a:cs typeface="+mn-lt"/>
              </a:rPr>
              <a:t>) </a:t>
            </a:r>
            <a:endParaRPr lang="en-US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{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</a:t>
            </a:r>
            <a:r>
              <a:rPr lang="en-US" i="1">
                <a:ea typeface="+mn-lt"/>
                <a:cs typeface="+mn-lt"/>
              </a:rPr>
              <a:t> // code block to be executed</a:t>
            </a:r>
            <a:br>
              <a:rPr lang="en-US" i="1">
                <a:ea typeface="+mn-lt"/>
                <a:cs typeface="+mn-lt"/>
              </a:rPr>
            </a:br>
            <a:r>
              <a:rPr lang="en-US" i="1">
                <a:ea typeface="+mn-lt"/>
                <a:cs typeface="+mn-lt"/>
              </a:rPr>
              <a:t>}</a:t>
            </a:r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2761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0030-E1B9-2A6B-10BB-6E8C7EDFE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While Loop...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EA9D-ABBD-93A5-ABE0-B84F36ED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27E770-7D07-8508-3CBC-8E72D822FC95}"/>
              </a:ext>
            </a:extLst>
          </p:cNvPr>
          <p:cNvSpPr/>
          <p:nvPr/>
        </p:nvSpPr>
        <p:spPr>
          <a:xfrm>
            <a:off x="836763" y="1821612"/>
            <a:ext cx="3680603" cy="4183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#include &lt;iostream&gt;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int main()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while (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5)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59B32-E823-D3A5-AB94-DAAB17AC74C8}"/>
              </a:ext>
            </a:extLst>
          </p:cNvPr>
          <p:cNvSpPr/>
          <p:nvPr/>
        </p:nvSpPr>
        <p:spPr>
          <a:xfrm>
            <a:off x="5781675" y="1820713"/>
            <a:ext cx="3651847" cy="4183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#include &lt;iostream&gt;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int main()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while (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&lt;= 5)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175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81CF-6160-2192-A22B-FB9F34B4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Do/While Loop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182FF-4101-E42E-6AD8-1B77BF09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 </a:t>
            </a:r>
            <a:r>
              <a:rPr lang="en-US">
                <a:solidFill>
                  <a:srgbClr val="0070C0"/>
                </a:solidFill>
                <a:latin typeface="Consolas"/>
              </a:rPr>
              <a:t>do/while</a:t>
            </a:r>
            <a:r>
              <a:rPr lang="en-US">
                <a:ea typeface="+mn-lt"/>
                <a:cs typeface="+mn-lt"/>
              </a:rPr>
              <a:t> loop is a variant of the </a:t>
            </a:r>
            <a:r>
              <a:rPr lang="en-US">
                <a:latin typeface="Consolas"/>
              </a:rPr>
              <a:t>while</a:t>
            </a:r>
            <a:r>
              <a:rPr lang="en-US">
                <a:ea typeface="+mn-lt"/>
                <a:cs typeface="+mn-lt"/>
              </a:rPr>
              <a:t> loop. This loop will execute the code block once, before checking if the condition is true, then it will repeat the loop as long as the condition is true.</a:t>
            </a:r>
          </a:p>
          <a:p>
            <a:r>
              <a:rPr lang="en-US">
                <a:ea typeface="Calibri"/>
                <a:cs typeface="Calibri"/>
              </a:rPr>
              <a:t>Syntax-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do 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{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</a:t>
            </a:r>
            <a:r>
              <a:rPr lang="en-US" i="1">
                <a:ea typeface="+mn-lt"/>
                <a:cs typeface="+mn-lt"/>
              </a:rPr>
              <a:t> // code block to be executed</a:t>
            </a:r>
            <a:br>
              <a:rPr lang="en-US" i="1">
                <a:ea typeface="+mn-lt"/>
                <a:cs typeface="+mn-lt"/>
              </a:rPr>
            </a:br>
            <a:r>
              <a:rPr lang="en-US" i="1">
                <a:ea typeface="+mn-lt"/>
                <a:cs typeface="+mn-lt"/>
              </a:rPr>
              <a:t>}</a:t>
            </a:r>
            <a:br>
              <a:rPr lang="en-US" i="1">
                <a:ea typeface="+mn-lt"/>
                <a:cs typeface="+mn-lt"/>
              </a:rPr>
            </a:br>
            <a:r>
              <a:rPr lang="en-US" i="1">
                <a:ea typeface="+mn-lt"/>
                <a:cs typeface="+mn-lt"/>
              </a:rPr>
              <a:t>while</a:t>
            </a:r>
            <a:r>
              <a:rPr lang="en-US">
                <a:ea typeface="+mn-lt"/>
                <a:cs typeface="+mn-lt"/>
              </a:rPr>
              <a:t> (</a:t>
            </a:r>
            <a:r>
              <a:rPr lang="en-US" i="1">
                <a:ea typeface="+mn-lt"/>
                <a:cs typeface="+mn-lt"/>
              </a:rPr>
              <a:t>condition</a:t>
            </a:r>
            <a:r>
              <a:rPr lang="en-US">
                <a:ea typeface="+mn-lt"/>
                <a:cs typeface="+mn-lt"/>
              </a:rPr>
              <a:t>);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581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F63F-5F20-4E18-754A-9ABAE73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Do/While Loop...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F2E2-5941-CA6E-C72C-64F003461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0760B2-1C18-98DF-B864-F3B35FAFC62C}"/>
              </a:ext>
            </a:extLst>
          </p:cNvPr>
          <p:cNvSpPr/>
          <p:nvPr/>
        </p:nvSpPr>
        <p:spPr>
          <a:xfrm>
            <a:off x="937404" y="1879121"/>
            <a:ext cx="3522451" cy="37812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 {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int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= 0;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do {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&lt;&lt; "\n";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++;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while (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5);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125969-D232-B991-8D44-B2A192DE3CB1}"/>
              </a:ext>
            </a:extLst>
          </p:cNvPr>
          <p:cNvSpPr/>
          <p:nvPr/>
        </p:nvSpPr>
        <p:spPr>
          <a:xfrm>
            <a:off x="5135593" y="1879122"/>
            <a:ext cx="3680601" cy="3781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 {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int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= 0;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do {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&lt;&lt; "\n";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++;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while (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0);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139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DAC0-2781-ECCE-DA0C-3EB18EF9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For Loop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0C73D-2D11-D3F0-2D1E-29FB55827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When you know exactly how many times you want to loop through a block of code, use the </a:t>
            </a:r>
            <a:r>
              <a:rPr lang="en-US">
                <a:solidFill>
                  <a:srgbClr val="0070C0"/>
                </a:solidFill>
                <a:latin typeface="Consolas"/>
              </a:rPr>
              <a:t>for</a:t>
            </a:r>
            <a:r>
              <a:rPr lang="en-US">
                <a:ea typeface="+mn-lt"/>
                <a:cs typeface="+mn-lt"/>
              </a:rPr>
              <a:t> loop instead of a </a:t>
            </a:r>
            <a:r>
              <a:rPr lang="en-US">
                <a:latin typeface="Consolas"/>
              </a:rPr>
              <a:t>while</a:t>
            </a:r>
            <a:r>
              <a:rPr lang="en-US">
                <a:ea typeface="+mn-lt"/>
                <a:cs typeface="+mn-lt"/>
              </a:rPr>
              <a:t> loop.</a:t>
            </a:r>
          </a:p>
          <a:p>
            <a:r>
              <a:rPr lang="en-US">
                <a:ea typeface="Calibri" panose="020F0502020204030204"/>
                <a:cs typeface="Calibri" panose="020F0502020204030204"/>
              </a:rPr>
              <a:t>Syntax-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for (</a:t>
            </a:r>
            <a:r>
              <a:rPr lang="en-US" i="1">
                <a:ea typeface="+mn-lt"/>
                <a:cs typeface="+mn-lt"/>
              </a:rPr>
              <a:t>statement 1</a:t>
            </a:r>
            <a:r>
              <a:rPr lang="en-US">
                <a:ea typeface="+mn-lt"/>
                <a:cs typeface="+mn-lt"/>
              </a:rPr>
              <a:t>;</a:t>
            </a:r>
            <a:r>
              <a:rPr lang="en-US" i="1">
                <a:ea typeface="+mn-lt"/>
                <a:cs typeface="+mn-lt"/>
              </a:rPr>
              <a:t> statement 2</a:t>
            </a:r>
            <a:r>
              <a:rPr lang="en-US">
                <a:ea typeface="+mn-lt"/>
                <a:cs typeface="+mn-lt"/>
              </a:rPr>
              <a:t>;</a:t>
            </a:r>
            <a:r>
              <a:rPr lang="en-US" i="1">
                <a:ea typeface="+mn-lt"/>
                <a:cs typeface="+mn-lt"/>
              </a:rPr>
              <a:t> statement 3</a:t>
            </a:r>
            <a:r>
              <a:rPr lang="en-US">
                <a:ea typeface="+mn-lt"/>
                <a:cs typeface="+mn-lt"/>
              </a:rPr>
              <a:t>) 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{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 </a:t>
            </a:r>
            <a:r>
              <a:rPr lang="en-US" i="1">
                <a:ea typeface="+mn-lt"/>
                <a:cs typeface="+mn-lt"/>
              </a:rPr>
              <a:t>// code block to be executed</a:t>
            </a:r>
            <a:br>
              <a:rPr lang="en-US" i="1">
                <a:ea typeface="+mn-lt"/>
                <a:cs typeface="+mn-lt"/>
              </a:rPr>
            </a:br>
            <a:r>
              <a:rPr lang="en-US" i="1">
                <a:ea typeface="+mn-lt"/>
                <a:cs typeface="+mn-lt"/>
              </a:rPr>
              <a:t>}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127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A374-F689-999B-5C4D-C1611C40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For Loop...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E44-5147-191D-AB07-052746766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842" y="214192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Statement 1 is executed (one time) before the execution of the code block.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Statement 2 defines the condition for executing the code block.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Statement 3 is executed (every time) after the code block has been executed.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7867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1872-870F-7955-8C37-C3A6DC63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For Loop...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43E6B-37C0-E0B2-8212-0E039EE5A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D9B1C-E1E2-FBD0-5FA5-6E4242CF1905}"/>
              </a:ext>
            </a:extLst>
          </p:cNvPr>
          <p:cNvSpPr/>
          <p:nvPr/>
        </p:nvSpPr>
        <p:spPr>
          <a:xfrm>
            <a:off x="923027" y="1879121"/>
            <a:ext cx="2947358" cy="3723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#include &lt;iostream&gt;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5;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++) </a:t>
            </a:r>
          </a:p>
          <a:p>
            <a:r>
              <a:rPr lang="en-US" b="1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D642E-61DE-1553-5009-5F3649B387AB}"/>
              </a:ext>
            </a:extLst>
          </p:cNvPr>
          <p:cNvSpPr/>
          <p:nvPr/>
        </p:nvSpPr>
        <p:spPr>
          <a:xfrm>
            <a:off x="4358318" y="1878222"/>
            <a:ext cx="2904226" cy="3723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#include &lt;iostream&gt;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&lt;= 5;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A6EB3F-CBC0-056A-E6C6-6737E3D9AEC7}"/>
              </a:ext>
            </a:extLst>
          </p:cNvPr>
          <p:cNvSpPr/>
          <p:nvPr/>
        </p:nvSpPr>
        <p:spPr>
          <a:xfrm>
            <a:off x="7707343" y="1877325"/>
            <a:ext cx="3076752" cy="37237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#include &lt;iostream&gt;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&lt;= 10;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+ 2)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956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BE1D-4D7D-42A1-AA43-87270C59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Break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250AF-65DC-BD5E-91C4-2E9DB9ADE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 </a:t>
            </a:r>
            <a:r>
              <a:rPr lang="en-US">
                <a:solidFill>
                  <a:srgbClr val="0070C0"/>
                </a:solidFill>
                <a:latin typeface="Consolas"/>
              </a:rPr>
              <a:t>break</a:t>
            </a:r>
            <a:r>
              <a:rPr lang="en-US">
                <a:ea typeface="+mn-lt"/>
                <a:cs typeface="+mn-lt"/>
              </a:rPr>
              <a:t> statement can also be used to jump out of a </a:t>
            </a:r>
            <a:r>
              <a:rPr lang="en-US" b="1">
                <a:ea typeface="+mn-lt"/>
                <a:cs typeface="+mn-lt"/>
              </a:rPr>
              <a:t>loop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2ED680-C8DD-79FE-4CB4-458AEFC1843E}"/>
              </a:ext>
            </a:extLst>
          </p:cNvPr>
          <p:cNvSpPr/>
          <p:nvPr/>
        </p:nvSpPr>
        <p:spPr>
          <a:xfrm>
            <a:off x="1210574" y="2497348"/>
            <a:ext cx="3436188" cy="3421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10;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if (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== 5) </a:t>
            </a:r>
          </a:p>
          <a:p>
            <a:r>
              <a:rPr lang="en-US" b="1">
                <a:solidFill>
                  <a:schemeClr val="tx1"/>
                </a:solidFill>
              </a:rPr>
              <a:t>   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  break;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2C2C7-5989-2A4D-3E09-50F9FDF3C0AE}"/>
              </a:ext>
            </a:extLst>
          </p:cNvPr>
          <p:cNvSpPr/>
          <p:nvPr/>
        </p:nvSpPr>
        <p:spPr>
          <a:xfrm>
            <a:off x="5781675" y="2496449"/>
            <a:ext cx="3508074" cy="34218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10;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++) </a:t>
            </a:r>
          </a:p>
          <a:p>
            <a:r>
              <a:rPr lang="en-US" b="1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if (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&gt; 5) </a:t>
            </a:r>
          </a:p>
          <a:p>
            <a:r>
              <a:rPr lang="en-US" b="1">
                <a:solidFill>
                  <a:schemeClr val="tx1"/>
                </a:solidFill>
              </a:rPr>
              <a:t> 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  break;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743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26D2-26DD-463F-CDC0-F203B79D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Continue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CFD5-C033-B9D5-6412-42D9A1BC6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</a:t>
            </a:r>
            <a:r>
              <a:rPr lang="en-US">
                <a:solidFill>
                  <a:srgbClr val="0070C0"/>
                </a:solidFill>
                <a:ea typeface="+mn-lt"/>
                <a:cs typeface="+mn-lt"/>
              </a:rPr>
              <a:t> </a:t>
            </a:r>
            <a:r>
              <a:rPr lang="en-US">
                <a:solidFill>
                  <a:srgbClr val="0070C0"/>
                </a:solidFill>
                <a:latin typeface="Consolas"/>
              </a:rPr>
              <a:t>continue</a:t>
            </a:r>
            <a:r>
              <a:rPr lang="en-US">
                <a:ea typeface="+mn-lt"/>
                <a:cs typeface="+mn-lt"/>
              </a:rPr>
              <a:t> statement breaks one iteration (in the loop), if a specified condition occurs, and continues with the next iteration in the loop.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A86DB-76AD-498E-8214-2DE337755C1E}"/>
              </a:ext>
            </a:extLst>
          </p:cNvPr>
          <p:cNvSpPr/>
          <p:nvPr/>
        </p:nvSpPr>
        <p:spPr>
          <a:xfrm>
            <a:off x="1239328" y="3216215"/>
            <a:ext cx="3464942" cy="2961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10;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++) </a:t>
            </a:r>
          </a:p>
          <a:p>
            <a:r>
              <a:rPr lang="en-US" b="1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if (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== 5)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  continue;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975078-A57D-8006-4079-E2F43CF6166A}"/>
              </a:ext>
            </a:extLst>
          </p:cNvPr>
          <p:cNvSpPr/>
          <p:nvPr/>
        </p:nvSpPr>
        <p:spPr>
          <a:xfrm>
            <a:off x="5781675" y="3215316"/>
            <a:ext cx="3292414" cy="2904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for (int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= 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10;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++)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if (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 5)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{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  continue;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  </a:t>
            </a:r>
            <a:r>
              <a:rPr lang="en-US" b="1" err="1">
                <a:solidFill>
                  <a:schemeClr val="tx1"/>
                </a:solidFill>
              </a:rPr>
              <a:t>cout</a:t>
            </a:r>
            <a:r>
              <a:rPr lang="en-US" b="1">
                <a:solidFill>
                  <a:schemeClr val="tx1"/>
                </a:solidFill>
              </a:rPr>
              <a:t> &lt;&lt; </a:t>
            </a:r>
            <a:r>
              <a:rPr lang="en-US" b="1" err="1">
                <a:solidFill>
                  <a:schemeClr val="tx1"/>
                </a:solidFill>
              </a:rPr>
              <a:t>i</a:t>
            </a:r>
            <a:r>
              <a:rPr lang="en-US" b="1">
                <a:solidFill>
                  <a:schemeClr val="tx1"/>
                </a:solidFill>
              </a:rPr>
              <a:t> &lt;&lt; "\n";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chemeClr val="tx1"/>
                </a:solidFill>
              </a:rPr>
              <a:t>}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424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Introduction To Programming</vt:lpstr>
      <vt:lpstr>Contents</vt:lpstr>
      <vt:lpstr>Increment/Decrement </vt:lpstr>
      <vt:lpstr>Loops</vt:lpstr>
      <vt:lpstr>While Loop</vt:lpstr>
      <vt:lpstr>While Loop...</vt:lpstr>
      <vt:lpstr>Do/While Loop </vt:lpstr>
      <vt:lpstr>Do/While Loop...</vt:lpstr>
      <vt:lpstr>For Loop </vt:lpstr>
      <vt:lpstr>For Loop...</vt:lpstr>
      <vt:lpstr>For Loop...</vt:lpstr>
      <vt:lpstr>Break</vt:lpstr>
      <vt:lpstr>Continue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58</cp:revision>
  <dcterms:created xsi:type="dcterms:W3CDTF">2022-06-01T04:16:52Z</dcterms:created>
  <dcterms:modified xsi:type="dcterms:W3CDTF">2022-06-07T05:53:22Z</dcterms:modified>
</cp:coreProperties>
</file>