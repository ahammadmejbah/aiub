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E5144-9D64-BF6D-ED22-BC2401605A3B}" v="86" dt="2022-07-09T14:03:27.512"/>
    <p1510:client id="{C8B5E4F1-8333-F240-AB37-F8A6264D9CAF}" v="103" dt="2022-07-09T14:53:29.215"/>
    <p1510:client id="{FD4854AF-F743-4A5C-B58E-151478731ABD}" v="142" dt="2022-07-09T06:00:01.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2" d="100"/>
          <a:sy n="72" d="100"/>
        </p:scale>
        <p:origin x="4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cs typeface="Calibri Light"/>
              </a:rPr>
              <a:t>Introduction To Programming</a:t>
            </a:r>
            <a:endParaRPr lang="en-US" b="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CF4AE-C9F5-37C5-D36E-6245AAEC38EB}"/>
              </a:ext>
            </a:extLst>
          </p:cNvPr>
          <p:cNvSpPr>
            <a:spLocks noGrp="1"/>
          </p:cNvSpPr>
          <p:nvPr>
            <p:ph type="title"/>
          </p:nvPr>
        </p:nvSpPr>
        <p:spPr/>
        <p:txBody>
          <a:bodyPr/>
          <a:lstStyle/>
          <a:p>
            <a:r>
              <a:rPr lang="en-US" b="1" dirty="0">
                <a:cs typeface="Calibri Light"/>
              </a:rPr>
              <a:t>Content</a:t>
            </a:r>
            <a:endParaRPr lang="en-US" b="1" dirty="0"/>
          </a:p>
        </p:txBody>
      </p:sp>
      <p:sp>
        <p:nvSpPr>
          <p:cNvPr id="3" name="Content Placeholder 2">
            <a:extLst>
              <a:ext uri="{FF2B5EF4-FFF2-40B4-BE49-F238E27FC236}">
                <a16:creationId xmlns:a16="http://schemas.microsoft.com/office/drawing/2014/main" id="{C0EE7B30-BBDD-5CCB-B3DB-9C77D14319FD}"/>
              </a:ext>
            </a:extLst>
          </p:cNvPr>
          <p:cNvSpPr>
            <a:spLocks noGrp="1"/>
          </p:cNvSpPr>
          <p:nvPr>
            <p:ph idx="1"/>
          </p:nvPr>
        </p:nvSpPr>
        <p:spPr/>
        <p:txBody>
          <a:bodyPr vert="horz" lIns="91440" tIns="45720" rIns="91440" bIns="45720" rtlCol="0" anchor="t">
            <a:normAutofit/>
          </a:bodyPr>
          <a:lstStyle/>
          <a:p>
            <a:r>
              <a:rPr lang="en-US">
                <a:cs typeface="Calibri"/>
              </a:rPr>
              <a:t>Constructors</a:t>
            </a:r>
          </a:p>
          <a:p>
            <a:r>
              <a:rPr lang="en-US">
                <a:cs typeface="Calibri"/>
              </a:rPr>
              <a:t>Destructors</a:t>
            </a:r>
            <a:endParaRPr lang="en-US" dirty="0">
              <a:cs typeface="Calibri"/>
            </a:endParaRPr>
          </a:p>
          <a:p>
            <a:endParaRPr lang="en-US" dirty="0">
              <a:cs typeface="Calibri"/>
            </a:endParaRPr>
          </a:p>
        </p:txBody>
      </p:sp>
    </p:spTree>
    <p:extLst>
      <p:ext uri="{BB962C8B-B14F-4D97-AF65-F5344CB8AC3E}">
        <p14:creationId xmlns:p14="http://schemas.microsoft.com/office/powerpoint/2010/main" val="269659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1A48-76B4-2CBC-D701-D200E68A67A0}"/>
              </a:ext>
            </a:extLst>
          </p:cNvPr>
          <p:cNvSpPr>
            <a:spLocks noGrp="1"/>
          </p:cNvSpPr>
          <p:nvPr>
            <p:ph type="title"/>
          </p:nvPr>
        </p:nvSpPr>
        <p:spPr/>
        <p:txBody>
          <a:bodyPr/>
          <a:lstStyle/>
          <a:p>
            <a:r>
              <a:rPr lang="en-US" b="1" dirty="0"/>
              <a:t>Constructors</a:t>
            </a:r>
          </a:p>
          <a:p>
            <a:endParaRPr lang="en-US" dirty="0">
              <a:cs typeface="Calibri Light"/>
            </a:endParaRPr>
          </a:p>
        </p:txBody>
      </p:sp>
      <p:sp>
        <p:nvSpPr>
          <p:cNvPr id="3" name="Content Placeholder 2">
            <a:extLst>
              <a:ext uri="{FF2B5EF4-FFF2-40B4-BE49-F238E27FC236}">
                <a16:creationId xmlns:a16="http://schemas.microsoft.com/office/drawing/2014/main" id="{3BD7F310-2AE0-D110-CC89-46E54DB05E2F}"/>
              </a:ext>
            </a:extLst>
          </p:cNvPr>
          <p:cNvSpPr>
            <a:spLocks noGrp="1"/>
          </p:cNvSpPr>
          <p:nvPr>
            <p:ph idx="1"/>
          </p:nvPr>
        </p:nvSpPr>
        <p:spPr/>
        <p:txBody>
          <a:bodyPr vert="horz" lIns="91440" tIns="45720" rIns="91440" bIns="45720" rtlCol="0" anchor="t">
            <a:normAutofit/>
          </a:bodyPr>
          <a:lstStyle/>
          <a:p>
            <a:pPr algn="just"/>
            <a:r>
              <a:rPr lang="en-US" dirty="0">
                <a:ea typeface="+mn-lt"/>
                <a:cs typeface="+mn-lt"/>
              </a:rPr>
              <a:t>A constructor in C++ is a </a:t>
            </a:r>
            <a:r>
              <a:rPr lang="en-US" b="1" dirty="0">
                <a:ea typeface="+mn-lt"/>
                <a:cs typeface="+mn-lt"/>
              </a:rPr>
              <a:t>special method</a:t>
            </a:r>
            <a:r>
              <a:rPr lang="en-US" dirty="0">
                <a:ea typeface="+mn-lt"/>
                <a:cs typeface="+mn-lt"/>
              </a:rPr>
              <a:t> that is automatically called when an object of a class is created.</a:t>
            </a:r>
            <a:endParaRPr lang="en-US" dirty="0">
              <a:ea typeface="Calibri" panose="020F0502020204030204"/>
              <a:cs typeface="Calibri" panose="020F0502020204030204"/>
            </a:endParaRPr>
          </a:p>
          <a:p>
            <a:pPr algn="just"/>
            <a:r>
              <a:rPr lang="en-US" dirty="0">
                <a:ea typeface="+mn-lt"/>
                <a:cs typeface="+mn-lt"/>
              </a:rPr>
              <a:t>To create a constructor, use the same name as the class, followed by parentheses </a:t>
            </a:r>
            <a:r>
              <a:rPr lang="en-US" dirty="0">
                <a:latin typeface="Consolas"/>
              </a:rPr>
              <a:t>()</a:t>
            </a:r>
            <a:endParaRPr lang="en-US" dirty="0">
              <a:ea typeface="Calibri" panose="020F0502020204030204"/>
              <a:cs typeface="Calibri" panose="020F0502020204030204"/>
            </a:endParaRPr>
          </a:p>
          <a:p>
            <a:pPr algn="just"/>
            <a:r>
              <a:rPr lang="en-US" dirty="0">
                <a:ea typeface="+mn-lt"/>
                <a:cs typeface="+mn-lt"/>
              </a:rPr>
              <a:t>The constructor has the same name as the class, it is always </a:t>
            </a:r>
            <a:r>
              <a:rPr lang="en-US" dirty="0">
                <a:latin typeface="Consolas"/>
                <a:cs typeface="Calibri"/>
              </a:rPr>
              <a:t>public</a:t>
            </a:r>
            <a:r>
              <a:rPr lang="en-US" dirty="0">
                <a:ea typeface="+mn-lt"/>
                <a:cs typeface="+mn-lt"/>
              </a:rPr>
              <a:t>, and it does not have any return value not even void and it is called automatically.</a:t>
            </a:r>
          </a:p>
          <a:p>
            <a:pPr algn="just"/>
            <a:r>
              <a:rPr lang="en-US" dirty="0">
                <a:ea typeface="+mn-lt"/>
                <a:cs typeface="+mn-lt"/>
              </a:rPr>
              <a:t>Constructors can also take </a:t>
            </a:r>
            <a:r>
              <a:rPr lang="en-US" b="1" dirty="0">
                <a:ea typeface="+mn-lt"/>
                <a:cs typeface="+mn-lt"/>
              </a:rPr>
              <a:t>parameters</a:t>
            </a:r>
            <a:r>
              <a:rPr lang="en-US" dirty="0">
                <a:ea typeface="+mn-lt"/>
                <a:cs typeface="+mn-lt"/>
              </a:rPr>
              <a:t> (just like regular functions), which can be useful for setting initial values for attributes.</a:t>
            </a:r>
            <a:endParaRPr lang="en-US" dirty="0">
              <a:ea typeface="Calibri" panose="020F0502020204030204"/>
              <a:cs typeface="Calibri"/>
            </a:endParaRPr>
          </a:p>
        </p:txBody>
      </p:sp>
    </p:spTree>
    <p:extLst>
      <p:ext uri="{BB962C8B-B14F-4D97-AF65-F5344CB8AC3E}">
        <p14:creationId xmlns:p14="http://schemas.microsoft.com/office/powerpoint/2010/main" val="2268002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1152A-D6D0-0726-E2DA-468F08F90F5D}"/>
              </a:ext>
            </a:extLst>
          </p:cNvPr>
          <p:cNvSpPr>
            <a:spLocks noGrp="1"/>
          </p:cNvSpPr>
          <p:nvPr>
            <p:ph type="title"/>
          </p:nvPr>
        </p:nvSpPr>
        <p:spPr/>
        <p:txBody>
          <a:bodyPr/>
          <a:lstStyle/>
          <a:p>
            <a:r>
              <a:rPr lang="en-US" b="1" dirty="0">
                <a:ea typeface="+mj-lt"/>
                <a:cs typeface="+mj-lt"/>
              </a:rPr>
              <a:t>Constructors...</a:t>
            </a:r>
            <a:endParaRPr lang="en-US" dirty="0"/>
          </a:p>
        </p:txBody>
      </p:sp>
      <p:sp>
        <p:nvSpPr>
          <p:cNvPr id="3" name="Content Placeholder 2">
            <a:extLst>
              <a:ext uri="{FF2B5EF4-FFF2-40B4-BE49-F238E27FC236}">
                <a16:creationId xmlns:a16="http://schemas.microsoft.com/office/drawing/2014/main" id="{E5D5BDFD-B4E9-A46D-5CAF-52846A2CC02A}"/>
              </a:ext>
            </a:extLst>
          </p:cNvPr>
          <p:cNvSpPr>
            <a:spLocks noGrp="1"/>
          </p:cNvSpPr>
          <p:nvPr>
            <p:ph idx="1"/>
          </p:nvPr>
        </p:nvSpPr>
        <p:spPr/>
        <p:txBody>
          <a:bodyPr/>
          <a:lstStyle/>
          <a:p>
            <a:endParaRPr lang="en-US"/>
          </a:p>
        </p:txBody>
      </p:sp>
      <p:sp>
        <p:nvSpPr>
          <p:cNvPr id="5" name="Rectangle 4">
            <a:extLst>
              <a:ext uri="{FF2B5EF4-FFF2-40B4-BE49-F238E27FC236}">
                <a16:creationId xmlns:a16="http://schemas.microsoft.com/office/drawing/2014/main" id="{1372E05B-217F-03AA-71A6-10A8EE2C5955}"/>
              </a:ext>
            </a:extLst>
          </p:cNvPr>
          <p:cNvSpPr/>
          <p:nvPr/>
        </p:nvSpPr>
        <p:spPr>
          <a:xfrm>
            <a:off x="878996" y="1820713"/>
            <a:ext cx="7878791" cy="435633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b="1" dirty="0"/>
              <a:t>#include &lt;iostream&gt;</a:t>
            </a:r>
            <a:endParaRPr lang="en-US" b="1" dirty="0">
              <a:cs typeface="Calibri"/>
            </a:endParaRPr>
          </a:p>
          <a:p>
            <a:r>
              <a:rPr lang="en-US" b="1" dirty="0"/>
              <a:t>using namespace std;</a:t>
            </a:r>
            <a:endParaRPr lang="en-US" b="1" dirty="0">
              <a:cs typeface="Calibri"/>
            </a:endParaRPr>
          </a:p>
          <a:p>
            <a:endParaRPr lang="en-US" b="1" dirty="0">
              <a:cs typeface="Calibri"/>
            </a:endParaRPr>
          </a:p>
          <a:p>
            <a:r>
              <a:rPr lang="en-US" b="1" dirty="0"/>
              <a:t>class </a:t>
            </a:r>
            <a:r>
              <a:rPr lang="en-US" b="1" dirty="0" err="1"/>
              <a:t>MyClass</a:t>
            </a:r>
            <a:r>
              <a:rPr lang="en-US" b="1" dirty="0"/>
              <a:t>        </a:t>
            </a:r>
            <a:r>
              <a:rPr lang="en-US" dirty="0"/>
              <a:t>// The class</a:t>
            </a:r>
            <a:endParaRPr lang="en-US" dirty="0">
              <a:cs typeface="Calibri"/>
            </a:endParaRPr>
          </a:p>
          <a:p>
            <a:r>
              <a:rPr lang="en-US" b="1" dirty="0"/>
              <a:t>{</a:t>
            </a:r>
            <a:endParaRPr lang="en-US" b="1" dirty="0">
              <a:cs typeface="Calibri"/>
            </a:endParaRPr>
          </a:p>
          <a:p>
            <a:r>
              <a:rPr lang="en-US" b="1" dirty="0"/>
              <a:t>  public:                </a:t>
            </a:r>
            <a:r>
              <a:rPr lang="en-US" dirty="0"/>
              <a:t> // Access specifier</a:t>
            </a:r>
            <a:endParaRPr lang="en-US" dirty="0">
              <a:cs typeface="Calibri"/>
            </a:endParaRPr>
          </a:p>
          <a:p>
            <a:r>
              <a:rPr lang="en-US" b="1" dirty="0"/>
              <a:t>    </a:t>
            </a:r>
            <a:r>
              <a:rPr lang="en-US" b="1" dirty="0" err="1"/>
              <a:t>MyClass</a:t>
            </a:r>
            <a:r>
              <a:rPr lang="en-US" b="1" dirty="0"/>
              <a:t>()       </a:t>
            </a:r>
            <a:r>
              <a:rPr lang="en-US" dirty="0"/>
              <a:t> // Constructor</a:t>
            </a:r>
            <a:endParaRPr lang="en-US" dirty="0">
              <a:cs typeface="Calibri"/>
            </a:endParaRPr>
          </a:p>
          <a:p>
            <a:r>
              <a:rPr lang="en-US" b="1" dirty="0"/>
              <a:t>    {</a:t>
            </a:r>
            <a:endParaRPr lang="en-US" b="1" dirty="0">
              <a:cs typeface="Calibri"/>
            </a:endParaRPr>
          </a:p>
          <a:p>
            <a:r>
              <a:rPr lang="en-US" b="1" dirty="0"/>
              <a:t>      </a:t>
            </a:r>
            <a:r>
              <a:rPr lang="en-US" b="1" dirty="0" err="1"/>
              <a:t>cout</a:t>
            </a:r>
            <a:r>
              <a:rPr lang="en-US" b="1" dirty="0"/>
              <a:t> &lt;&lt; "I am learning Constructor";</a:t>
            </a:r>
            <a:endParaRPr lang="en-US" b="1" dirty="0">
              <a:cs typeface="Calibri"/>
            </a:endParaRPr>
          </a:p>
          <a:p>
            <a:r>
              <a:rPr lang="en-US" b="1" dirty="0"/>
              <a:t>    }</a:t>
            </a:r>
            <a:endParaRPr lang="en-US" b="1" dirty="0">
              <a:cs typeface="Calibri"/>
            </a:endParaRPr>
          </a:p>
          <a:p>
            <a:r>
              <a:rPr lang="en-US" b="1" dirty="0"/>
              <a:t>};</a:t>
            </a:r>
            <a:endParaRPr lang="en-US" b="1" dirty="0">
              <a:cs typeface="Calibri"/>
            </a:endParaRPr>
          </a:p>
          <a:p>
            <a:endParaRPr lang="en-US" b="1" dirty="0">
              <a:cs typeface="Calibri"/>
            </a:endParaRPr>
          </a:p>
          <a:p>
            <a:r>
              <a:rPr lang="en-US" b="1" dirty="0"/>
              <a:t>int main() {</a:t>
            </a:r>
            <a:endParaRPr lang="en-US" b="1" dirty="0">
              <a:cs typeface="Calibri"/>
            </a:endParaRPr>
          </a:p>
          <a:p>
            <a:r>
              <a:rPr lang="en-US" b="1" dirty="0"/>
              <a:t>  </a:t>
            </a:r>
            <a:r>
              <a:rPr lang="en-US" b="1" dirty="0" err="1"/>
              <a:t>MyClass</a:t>
            </a:r>
            <a:r>
              <a:rPr lang="en-US" b="1" dirty="0"/>
              <a:t> </a:t>
            </a:r>
            <a:r>
              <a:rPr lang="en-US" b="1" dirty="0" err="1"/>
              <a:t>myObj</a:t>
            </a:r>
            <a:r>
              <a:rPr lang="en-US" b="1" dirty="0"/>
              <a:t>;    </a:t>
            </a:r>
            <a:r>
              <a:rPr lang="en-US" dirty="0"/>
              <a:t>// Create an object of </a:t>
            </a:r>
            <a:r>
              <a:rPr lang="en-US" dirty="0" err="1"/>
              <a:t>MyClass</a:t>
            </a:r>
            <a:r>
              <a:rPr lang="en-US" dirty="0"/>
              <a:t> (this will call the constructor)</a:t>
            </a:r>
            <a:endParaRPr lang="en-US">
              <a:cs typeface="Calibri"/>
            </a:endParaRPr>
          </a:p>
          <a:p>
            <a:r>
              <a:rPr lang="en-US" b="1" dirty="0"/>
              <a:t>  return 0;</a:t>
            </a:r>
            <a:endParaRPr lang="en-US" b="1" dirty="0">
              <a:cs typeface="Calibri"/>
            </a:endParaRPr>
          </a:p>
          <a:p>
            <a:r>
              <a:rPr lang="en-US" b="1" dirty="0"/>
              <a:t>}</a:t>
            </a:r>
            <a:endParaRPr lang="en-US" b="1" dirty="0">
              <a:cs typeface="Calibri"/>
            </a:endParaRPr>
          </a:p>
        </p:txBody>
      </p:sp>
    </p:spTree>
    <p:extLst>
      <p:ext uri="{BB962C8B-B14F-4D97-AF65-F5344CB8AC3E}">
        <p14:creationId xmlns:p14="http://schemas.microsoft.com/office/powerpoint/2010/main" val="516587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8568-971D-815C-C813-A31DC385ED8F}"/>
              </a:ext>
            </a:extLst>
          </p:cNvPr>
          <p:cNvSpPr>
            <a:spLocks noGrp="1"/>
          </p:cNvSpPr>
          <p:nvPr>
            <p:ph type="title"/>
          </p:nvPr>
        </p:nvSpPr>
        <p:spPr/>
        <p:txBody>
          <a:bodyPr/>
          <a:lstStyle/>
          <a:p>
            <a:r>
              <a:rPr lang="en-US" b="1" dirty="0"/>
              <a:t>Constructors (Parameters)</a:t>
            </a:r>
          </a:p>
          <a:p>
            <a:endParaRPr lang="en-US" dirty="0">
              <a:cs typeface="Calibri Light"/>
            </a:endParaRPr>
          </a:p>
        </p:txBody>
      </p:sp>
      <p:sp>
        <p:nvSpPr>
          <p:cNvPr id="3" name="Content Placeholder 2">
            <a:extLst>
              <a:ext uri="{FF2B5EF4-FFF2-40B4-BE49-F238E27FC236}">
                <a16:creationId xmlns:a16="http://schemas.microsoft.com/office/drawing/2014/main" id="{39F410D9-B954-59E8-41DA-A8E3099F798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1BB53BF7-E517-2D5D-9E35-FA3818D5D44D}"/>
              </a:ext>
            </a:extLst>
          </p:cNvPr>
          <p:cNvSpPr/>
          <p:nvPr/>
        </p:nvSpPr>
        <p:spPr>
          <a:xfrm>
            <a:off x="836763" y="1706594"/>
            <a:ext cx="4169434" cy="442822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b="1" dirty="0"/>
              <a:t>#include &lt;iostream&gt;</a:t>
            </a:r>
            <a:endParaRPr lang="en-US" b="1" dirty="0">
              <a:cs typeface="Calibri"/>
            </a:endParaRPr>
          </a:p>
          <a:p>
            <a:r>
              <a:rPr lang="en-US" b="1" dirty="0"/>
              <a:t>using namespace std;</a:t>
            </a:r>
            <a:endParaRPr lang="en-US" b="1">
              <a:cs typeface="Calibri"/>
            </a:endParaRPr>
          </a:p>
          <a:p>
            <a:endParaRPr lang="en-US" b="1" dirty="0">
              <a:cs typeface="Calibri"/>
            </a:endParaRPr>
          </a:p>
          <a:p>
            <a:r>
              <a:rPr lang="en-US" b="1" dirty="0"/>
              <a:t>class Student {             </a:t>
            </a:r>
            <a:r>
              <a:rPr lang="en-US" dirty="0"/>
              <a:t>// The class</a:t>
            </a:r>
            <a:endParaRPr lang="en-US">
              <a:cs typeface="Calibri"/>
            </a:endParaRPr>
          </a:p>
          <a:p>
            <a:r>
              <a:rPr lang="en-US" b="1" dirty="0"/>
              <a:t>  public:                    </a:t>
            </a:r>
            <a:r>
              <a:rPr lang="en-US" dirty="0"/>
              <a:t>    // Access specifier</a:t>
            </a:r>
            <a:endParaRPr lang="en-US" dirty="0">
              <a:cs typeface="Calibri"/>
            </a:endParaRPr>
          </a:p>
          <a:p>
            <a:r>
              <a:rPr lang="en-US" b="1" dirty="0"/>
              <a:t>    string name;         </a:t>
            </a:r>
            <a:r>
              <a:rPr lang="en-US" dirty="0"/>
              <a:t> // Attribute</a:t>
            </a:r>
            <a:endParaRPr lang="en-US">
              <a:cs typeface="Calibri"/>
            </a:endParaRPr>
          </a:p>
          <a:p>
            <a:r>
              <a:rPr lang="en-US" b="1" dirty="0"/>
              <a:t>    int id;                  </a:t>
            </a:r>
            <a:r>
              <a:rPr lang="en-US" dirty="0"/>
              <a:t>   // Attribute</a:t>
            </a:r>
            <a:endParaRPr lang="en-US" dirty="0">
              <a:cs typeface="Calibri"/>
            </a:endParaRPr>
          </a:p>
          <a:p>
            <a:r>
              <a:rPr lang="en-US" b="1" dirty="0"/>
              <a:t>    string </a:t>
            </a:r>
            <a:r>
              <a:rPr lang="en-US" b="1" dirty="0" err="1"/>
              <a:t>bg</a:t>
            </a:r>
            <a:r>
              <a:rPr lang="en-US" b="1" dirty="0"/>
              <a:t>;   </a:t>
            </a:r>
            <a:r>
              <a:rPr lang="en-US" dirty="0"/>
              <a:t>          // Attribute</a:t>
            </a:r>
            <a:endParaRPr lang="en-US" dirty="0">
              <a:cs typeface="Calibri"/>
            </a:endParaRPr>
          </a:p>
          <a:p>
            <a:endParaRPr lang="en-US"/>
          </a:p>
          <a:p>
            <a:r>
              <a:rPr lang="en-US" b="1" dirty="0"/>
              <a:t>    Student(string x, int y, string z) { </a:t>
            </a:r>
            <a:r>
              <a:rPr lang="en-US" dirty="0"/>
              <a:t> </a:t>
            </a:r>
          </a:p>
          <a:p>
            <a:r>
              <a:rPr lang="en-US" dirty="0"/>
              <a:t>// Constructor with parameters</a:t>
            </a:r>
          </a:p>
          <a:p>
            <a:r>
              <a:rPr lang="en-US" dirty="0"/>
              <a:t>   </a:t>
            </a:r>
            <a:r>
              <a:rPr lang="en-US" b="1" dirty="0"/>
              <a:t>   name = x;</a:t>
            </a:r>
            <a:endParaRPr lang="en-US" b="1">
              <a:cs typeface="Calibri" panose="020F0502020204030204"/>
            </a:endParaRPr>
          </a:p>
          <a:p>
            <a:r>
              <a:rPr lang="en-US" b="1" dirty="0"/>
              <a:t>      id = y;</a:t>
            </a:r>
            <a:endParaRPr lang="en-US" b="1">
              <a:cs typeface="Calibri" panose="020F0502020204030204"/>
            </a:endParaRPr>
          </a:p>
          <a:p>
            <a:r>
              <a:rPr lang="en-US" b="1" dirty="0"/>
              <a:t>      </a:t>
            </a:r>
            <a:r>
              <a:rPr lang="en-US" b="1" dirty="0" err="1"/>
              <a:t>bg</a:t>
            </a:r>
            <a:r>
              <a:rPr lang="en-US" b="1" dirty="0"/>
              <a:t> = z;</a:t>
            </a:r>
            <a:endParaRPr lang="en-US" b="1">
              <a:cs typeface="Calibri"/>
            </a:endParaRPr>
          </a:p>
          <a:p>
            <a:r>
              <a:rPr lang="en-US" b="1" dirty="0"/>
              <a:t>    }</a:t>
            </a:r>
            <a:endParaRPr lang="en-US" b="1">
              <a:cs typeface="Calibri"/>
            </a:endParaRPr>
          </a:p>
          <a:p>
            <a:r>
              <a:rPr lang="en-US" b="1" dirty="0"/>
              <a:t>};</a:t>
            </a:r>
            <a:endParaRPr lang="en-US" b="1" dirty="0">
              <a:cs typeface="Calibri"/>
            </a:endParaRPr>
          </a:p>
        </p:txBody>
      </p:sp>
      <p:sp>
        <p:nvSpPr>
          <p:cNvPr id="5" name="Rectangle 4">
            <a:extLst>
              <a:ext uri="{FF2B5EF4-FFF2-40B4-BE49-F238E27FC236}">
                <a16:creationId xmlns:a16="http://schemas.microsoft.com/office/drawing/2014/main" id="{488F706B-78DA-1CF7-B23A-DA076B616989}"/>
              </a:ext>
            </a:extLst>
          </p:cNvPr>
          <p:cNvSpPr/>
          <p:nvPr/>
        </p:nvSpPr>
        <p:spPr>
          <a:xfrm>
            <a:off x="5220960" y="1705695"/>
            <a:ext cx="6081620" cy="442822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b="1" dirty="0"/>
              <a:t>int main() {</a:t>
            </a:r>
          </a:p>
          <a:p>
            <a:r>
              <a:rPr lang="en-US" dirty="0"/>
              <a:t>  // Create Student objects and call the constructor with different values</a:t>
            </a:r>
            <a:endParaRPr lang="en-US" dirty="0">
              <a:cs typeface="Calibri"/>
            </a:endParaRPr>
          </a:p>
          <a:p>
            <a:r>
              <a:rPr lang="en-US" dirty="0"/>
              <a:t>  </a:t>
            </a:r>
            <a:r>
              <a:rPr lang="en-US" b="1" dirty="0"/>
              <a:t>Student obj1("Padma", 45729, "A+");</a:t>
            </a:r>
            <a:endParaRPr lang="en-US" b="1" dirty="0">
              <a:cs typeface="Calibri"/>
            </a:endParaRPr>
          </a:p>
          <a:p>
            <a:r>
              <a:rPr lang="en-US" b="1" dirty="0"/>
              <a:t>  Student obj2("Shetu", 45728, "B+");</a:t>
            </a:r>
            <a:endParaRPr lang="en-US" b="1" dirty="0">
              <a:cs typeface="Calibri"/>
            </a:endParaRPr>
          </a:p>
          <a:p>
            <a:endParaRPr lang="en-US"/>
          </a:p>
          <a:p>
            <a:r>
              <a:rPr lang="en-US" dirty="0"/>
              <a:t>  // Print values</a:t>
            </a:r>
            <a:endParaRPr lang="en-US" dirty="0">
              <a:cs typeface="Calibri"/>
            </a:endParaRPr>
          </a:p>
          <a:p>
            <a:r>
              <a:rPr lang="en-US" b="1" dirty="0"/>
              <a:t>  </a:t>
            </a:r>
            <a:r>
              <a:rPr lang="en-US" b="1" dirty="0" err="1"/>
              <a:t>cout</a:t>
            </a:r>
            <a:r>
              <a:rPr lang="en-US" b="1" dirty="0"/>
              <a:t> &lt;&lt; obj1.name &lt;&lt; " " &lt;&lt; obj1.id &lt;&lt; " " &lt;&lt; obj1.bg &lt;&lt; "\n";</a:t>
            </a:r>
            <a:endParaRPr lang="en-US" b="1" dirty="0">
              <a:cs typeface="Calibri"/>
            </a:endParaRPr>
          </a:p>
          <a:p>
            <a:r>
              <a:rPr lang="en-US" b="1" dirty="0"/>
              <a:t>  </a:t>
            </a:r>
            <a:r>
              <a:rPr lang="en-US" b="1" dirty="0" err="1"/>
              <a:t>cout</a:t>
            </a:r>
            <a:r>
              <a:rPr lang="en-US" b="1" dirty="0"/>
              <a:t> &lt;&lt; obj2.name &lt;&lt; " " &lt;&lt; obj2.id &lt;&lt; " " &lt;&lt; obj2.bg &lt;&lt; "\n";</a:t>
            </a:r>
            <a:endParaRPr lang="en-US" b="1" dirty="0">
              <a:cs typeface="Calibri"/>
            </a:endParaRPr>
          </a:p>
          <a:p>
            <a:r>
              <a:rPr lang="en-US" b="1" dirty="0"/>
              <a:t>  return 0;</a:t>
            </a:r>
            <a:endParaRPr lang="en-US" b="1" dirty="0">
              <a:cs typeface="Calibri"/>
            </a:endParaRPr>
          </a:p>
          <a:p>
            <a:r>
              <a:rPr lang="en-US" b="1" dirty="0"/>
              <a:t>}</a:t>
            </a:r>
            <a:endParaRPr lang="en-US" b="1" dirty="0">
              <a:cs typeface="Calibri"/>
            </a:endParaRPr>
          </a:p>
        </p:txBody>
      </p:sp>
    </p:spTree>
    <p:extLst>
      <p:ext uri="{BB962C8B-B14F-4D97-AF65-F5344CB8AC3E}">
        <p14:creationId xmlns:p14="http://schemas.microsoft.com/office/powerpoint/2010/main" val="878692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0282B-B94B-FCC3-FA20-FABE6B8AB8EB}"/>
              </a:ext>
            </a:extLst>
          </p:cNvPr>
          <p:cNvSpPr>
            <a:spLocks noGrp="1"/>
          </p:cNvSpPr>
          <p:nvPr>
            <p:ph type="title"/>
          </p:nvPr>
        </p:nvSpPr>
        <p:spPr/>
        <p:txBody>
          <a:bodyPr/>
          <a:lstStyle/>
          <a:p>
            <a:r>
              <a:rPr lang="en-US" b="1" dirty="0">
                <a:ea typeface="+mj-lt"/>
                <a:cs typeface="+mj-lt"/>
              </a:rPr>
              <a:t>Constructors (Parameters)...</a:t>
            </a:r>
            <a:endParaRPr lang="en-US" dirty="0"/>
          </a:p>
        </p:txBody>
      </p:sp>
      <p:sp>
        <p:nvSpPr>
          <p:cNvPr id="3" name="Content Placeholder 2">
            <a:extLst>
              <a:ext uri="{FF2B5EF4-FFF2-40B4-BE49-F238E27FC236}">
                <a16:creationId xmlns:a16="http://schemas.microsoft.com/office/drawing/2014/main" id="{6D21432F-E23E-92BB-3860-74C3236F3DF8}"/>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3F1C56B5-A011-FE8D-BE41-848FCFCB55A2}"/>
              </a:ext>
            </a:extLst>
          </p:cNvPr>
          <p:cNvSpPr/>
          <p:nvPr/>
        </p:nvSpPr>
        <p:spPr>
          <a:xfrm>
            <a:off x="879896" y="1821612"/>
            <a:ext cx="3666225" cy="42125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b="1" dirty="0">
                <a:ea typeface="+mn-lt"/>
                <a:cs typeface="+mn-lt"/>
              </a:rPr>
              <a:t>#include &lt;iostream&gt;</a:t>
            </a:r>
            <a:endParaRPr lang="en-US" b="1" dirty="0">
              <a:cs typeface="Calibri"/>
            </a:endParaRPr>
          </a:p>
          <a:p>
            <a:r>
              <a:rPr lang="en-US" b="1" dirty="0">
                <a:ea typeface="+mn-lt"/>
                <a:cs typeface="+mn-lt"/>
              </a:rPr>
              <a:t>using namespace std;</a:t>
            </a:r>
            <a:endParaRPr lang="en-US" b="1" dirty="0">
              <a:cs typeface="Calibri"/>
            </a:endParaRPr>
          </a:p>
          <a:p>
            <a:endParaRPr lang="en-US" b="1" dirty="0">
              <a:cs typeface="Calibri"/>
            </a:endParaRPr>
          </a:p>
          <a:p>
            <a:r>
              <a:rPr lang="en-US" b="1" dirty="0">
                <a:ea typeface="+mn-lt"/>
                <a:cs typeface="+mn-lt"/>
              </a:rPr>
              <a:t>class Student {        </a:t>
            </a:r>
          </a:p>
          <a:p>
            <a:r>
              <a:rPr lang="en-US" b="1" dirty="0">
                <a:ea typeface="+mn-lt"/>
                <a:cs typeface="+mn-lt"/>
              </a:rPr>
              <a:t>  public:          </a:t>
            </a:r>
            <a:endParaRPr lang="en-US" b="1" dirty="0">
              <a:cs typeface="Calibri"/>
            </a:endParaRPr>
          </a:p>
          <a:p>
            <a:r>
              <a:rPr lang="en-US" b="1" dirty="0">
                <a:ea typeface="+mn-lt"/>
                <a:cs typeface="+mn-lt"/>
              </a:rPr>
              <a:t>    string name;  </a:t>
            </a:r>
            <a:endParaRPr lang="en-US" b="1" dirty="0">
              <a:cs typeface="Calibri"/>
            </a:endParaRPr>
          </a:p>
          <a:p>
            <a:r>
              <a:rPr lang="en-US" b="1" dirty="0">
                <a:ea typeface="+mn-lt"/>
                <a:cs typeface="+mn-lt"/>
              </a:rPr>
              <a:t>    int id;  </a:t>
            </a:r>
            <a:endParaRPr lang="en-US" b="1" dirty="0">
              <a:cs typeface="Calibri"/>
            </a:endParaRPr>
          </a:p>
          <a:p>
            <a:r>
              <a:rPr lang="en-US" b="1" dirty="0">
                <a:ea typeface="+mn-lt"/>
                <a:cs typeface="+mn-lt"/>
              </a:rPr>
              <a:t>    string </a:t>
            </a:r>
            <a:r>
              <a:rPr lang="en-US" b="1" dirty="0" err="1">
                <a:ea typeface="+mn-lt"/>
                <a:cs typeface="+mn-lt"/>
              </a:rPr>
              <a:t>bg</a:t>
            </a:r>
            <a:r>
              <a:rPr lang="en-US" b="1" dirty="0">
                <a:ea typeface="+mn-lt"/>
                <a:cs typeface="+mn-lt"/>
              </a:rPr>
              <a:t>;  </a:t>
            </a:r>
            <a:endParaRPr lang="en-US" b="1" dirty="0">
              <a:cs typeface="Calibri"/>
            </a:endParaRPr>
          </a:p>
          <a:p>
            <a:endParaRPr lang="en-US" b="1" dirty="0">
              <a:cs typeface="Calibri"/>
            </a:endParaRPr>
          </a:p>
          <a:p>
            <a:r>
              <a:rPr lang="en-US" b="1" dirty="0">
                <a:ea typeface="+mn-lt"/>
                <a:cs typeface="+mn-lt"/>
              </a:rPr>
              <a:t> Student(string x, int y, string z);   </a:t>
            </a:r>
            <a:endParaRPr lang="en-US" dirty="0">
              <a:ea typeface="+mn-lt"/>
              <a:cs typeface="+mn-lt"/>
            </a:endParaRPr>
          </a:p>
          <a:p>
            <a:r>
              <a:rPr lang="en-US" dirty="0">
                <a:ea typeface="+mn-lt"/>
                <a:cs typeface="+mn-lt"/>
              </a:rPr>
              <a:t>// Constructor declaration</a:t>
            </a:r>
            <a:endParaRPr lang="en-US">
              <a:cs typeface="Calibri"/>
            </a:endParaRPr>
          </a:p>
          <a:p>
            <a:endParaRPr lang="en-US" b="1" dirty="0">
              <a:cs typeface="Calibri"/>
            </a:endParaRPr>
          </a:p>
          <a:p>
            <a:r>
              <a:rPr lang="en-US" b="1" dirty="0">
                <a:ea typeface="+mn-lt"/>
                <a:cs typeface="+mn-lt"/>
              </a:rPr>
              <a:t>};</a:t>
            </a:r>
            <a:endParaRPr lang="en-US" b="1" dirty="0">
              <a:cs typeface="Calibri"/>
            </a:endParaRPr>
          </a:p>
          <a:p>
            <a:pPr algn="ctr"/>
            <a:endParaRPr lang="en-US" dirty="0">
              <a:cs typeface="Calibri"/>
            </a:endParaRPr>
          </a:p>
        </p:txBody>
      </p:sp>
      <p:sp>
        <p:nvSpPr>
          <p:cNvPr id="5" name="Rectangle 4">
            <a:extLst>
              <a:ext uri="{FF2B5EF4-FFF2-40B4-BE49-F238E27FC236}">
                <a16:creationId xmlns:a16="http://schemas.microsoft.com/office/drawing/2014/main" id="{FCF225DA-4FE6-FAD1-F22E-15FCBFDAAE9D}"/>
              </a:ext>
            </a:extLst>
          </p:cNvPr>
          <p:cNvSpPr/>
          <p:nvPr/>
        </p:nvSpPr>
        <p:spPr>
          <a:xfrm>
            <a:off x="5005298" y="1820714"/>
            <a:ext cx="6239772" cy="41694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b="1" dirty="0">
                <a:ea typeface="+mn-lt"/>
                <a:cs typeface="+mn-lt"/>
              </a:rPr>
              <a:t>Student::Student(string x, int y, string z)  </a:t>
            </a:r>
            <a:r>
              <a:rPr lang="en-US" dirty="0">
                <a:ea typeface="+mn-lt"/>
                <a:cs typeface="+mn-lt"/>
              </a:rPr>
              <a:t>// Constructor definition outside the class</a:t>
            </a:r>
          </a:p>
          <a:p>
            <a:r>
              <a:rPr lang="en-US" b="1" dirty="0">
                <a:ea typeface="+mn-lt"/>
                <a:cs typeface="+mn-lt"/>
              </a:rPr>
              <a:t>    {</a:t>
            </a:r>
            <a:endParaRPr lang="en-US" dirty="0">
              <a:ea typeface="+mn-lt"/>
              <a:cs typeface="+mn-lt"/>
            </a:endParaRPr>
          </a:p>
          <a:p>
            <a:r>
              <a:rPr lang="en-US" b="1" dirty="0">
                <a:ea typeface="+mn-lt"/>
                <a:cs typeface="+mn-lt"/>
              </a:rPr>
              <a:t>      name = x;</a:t>
            </a:r>
            <a:endParaRPr lang="en-US" dirty="0">
              <a:ea typeface="+mn-lt"/>
              <a:cs typeface="+mn-lt"/>
            </a:endParaRPr>
          </a:p>
          <a:p>
            <a:r>
              <a:rPr lang="en-US" b="1" dirty="0">
                <a:ea typeface="+mn-lt"/>
                <a:cs typeface="+mn-lt"/>
              </a:rPr>
              <a:t>      id = y;</a:t>
            </a:r>
            <a:endParaRPr lang="en-US" dirty="0">
              <a:ea typeface="+mn-lt"/>
              <a:cs typeface="+mn-lt"/>
            </a:endParaRPr>
          </a:p>
          <a:p>
            <a:r>
              <a:rPr lang="en-US" b="1" dirty="0">
                <a:ea typeface="+mn-lt"/>
                <a:cs typeface="+mn-lt"/>
              </a:rPr>
              <a:t>      </a:t>
            </a:r>
            <a:r>
              <a:rPr lang="en-US" b="1" dirty="0" err="1">
                <a:ea typeface="+mn-lt"/>
                <a:cs typeface="+mn-lt"/>
              </a:rPr>
              <a:t>bg</a:t>
            </a:r>
            <a:r>
              <a:rPr lang="en-US" b="1" dirty="0">
                <a:ea typeface="+mn-lt"/>
                <a:cs typeface="+mn-lt"/>
              </a:rPr>
              <a:t> = z;</a:t>
            </a:r>
            <a:endParaRPr lang="en-US" dirty="0">
              <a:ea typeface="+mn-lt"/>
              <a:cs typeface="+mn-lt"/>
            </a:endParaRPr>
          </a:p>
          <a:p>
            <a:r>
              <a:rPr lang="en-US" b="1" dirty="0">
                <a:ea typeface="+mn-lt"/>
                <a:cs typeface="+mn-lt"/>
              </a:rPr>
              <a:t>    }</a:t>
            </a:r>
            <a:endParaRPr lang="en-US" dirty="0">
              <a:ea typeface="+mn-lt"/>
              <a:cs typeface="+mn-lt"/>
            </a:endParaRPr>
          </a:p>
          <a:p>
            <a:r>
              <a:rPr lang="en-US" b="1" dirty="0">
                <a:ea typeface="+mn-lt"/>
                <a:cs typeface="+mn-lt"/>
              </a:rPr>
              <a:t>int main() {</a:t>
            </a:r>
            <a:endParaRPr lang="en-US" b="1" dirty="0">
              <a:cs typeface="Calibri"/>
            </a:endParaRPr>
          </a:p>
          <a:p>
            <a:r>
              <a:rPr lang="en-US" b="1" dirty="0">
                <a:ea typeface="+mn-lt"/>
                <a:cs typeface="+mn-lt"/>
              </a:rPr>
              <a:t>  Student obj1("Padma", 45729, "A+");</a:t>
            </a:r>
            <a:endParaRPr lang="en-US" b="1">
              <a:cs typeface="Calibri" panose="020F0502020204030204"/>
            </a:endParaRPr>
          </a:p>
          <a:p>
            <a:r>
              <a:rPr lang="en-US" b="1" dirty="0">
                <a:ea typeface="+mn-lt"/>
                <a:cs typeface="+mn-lt"/>
              </a:rPr>
              <a:t>  Student obj2("Shetu", 45728, "B+");</a:t>
            </a:r>
            <a:endParaRPr lang="en-US" b="1">
              <a:cs typeface="Calibri" panose="020F0502020204030204"/>
            </a:endParaRPr>
          </a:p>
          <a:p>
            <a:r>
              <a:rPr lang="en-US" b="1" dirty="0">
                <a:ea typeface="+mn-lt"/>
                <a:cs typeface="+mn-lt"/>
              </a:rPr>
              <a:t>  </a:t>
            </a:r>
            <a:r>
              <a:rPr lang="en-US" b="1" dirty="0" err="1">
                <a:ea typeface="+mn-lt"/>
                <a:cs typeface="+mn-lt"/>
              </a:rPr>
              <a:t>cout</a:t>
            </a:r>
            <a:r>
              <a:rPr lang="en-US" b="1" dirty="0">
                <a:ea typeface="+mn-lt"/>
                <a:cs typeface="+mn-lt"/>
              </a:rPr>
              <a:t> &lt;&lt; obj1.name &lt;&lt; " " &lt;&lt; obj1.id &lt;&lt; " " &lt;&lt; obj1.bg &lt;&lt; "\n";</a:t>
            </a:r>
            <a:endParaRPr lang="en-US" b="1">
              <a:cs typeface="Calibri" panose="020F0502020204030204"/>
            </a:endParaRPr>
          </a:p>
          <a:p>
            <a:r>
              <a:rPr lang="en-US" b="1" dirty="0">
                <a:ea typeface="+mn-lt"/>
                <a:cs typeface="+mn-lt"/>
              </a:rPr>
              <a:t>  </a:t>
            </a:r>
            <a:r>
              <a:rPr lang="en-US" b="1" dirty="0" err="1">
                <a:ea typeface="+mn-lt"/>
                <a:cs typeface="+mn-lt"/>
              </a:rPr>
              <a:t>cout</a:t>
            </a:r>
            <a:r>
              <a:rPr lang="en-US" b="1" dirty="0">
                <a:ea typeface="+mn-lt"/>
                <a:cs typeface="+mn-lt"/>
              </a:rPr>
              <a:t> &lt;&lt; obj2.name &lt;&lt; " " &lt;&lt; obj2.id &lt;&lt; " " &lt;&lt; obj2.bg &lt;&lt; "\n";</a:t>
            </a:r>
            <a:endParaRPr lang="en-US" b="1">
              <a:cs typeface="Calibri" panose="020F0502020204030204"/>
            </a:endParaRPr>
          </a:p>
          <a:p>
            <a:r>
              <a:rPr lang="en-US" b="1" dirty="0">
                <a:ea typeface="+mn-lt"/>
                <a:cs typeface="+mn-lt"/>
              </a:rPr>
              <a:t>  return 0;</a:t>
            </a:r>
            <a:endParaRPr lang="en-US" b="1">
              <a:cs typeface="Calibri" panose="020F0502020204030204"/>
            </a:endParaRPr>
          </a:p>
          <a:p>
            <a:r>
              <a:rPr lang="en-US" b="1" dirty="0">
                <a:ea typeface="+mn-lt"/>
                <a:cs typeface="+mn-lt"/>
              </a:rPr>
              <a:t>}</a:t>
            </a:r>
            <a:endParaRPr lang="en-US" b="1" dirty="0">
              <a:cs typeface="Calibri"/>
            </a:endParaRPr>
          </a:p>
          <a:p>
            <a:endParaRPr lang="en-US" b="1" dirty="0">
              <a:cs typeface="Calibri"/>
            </a:endParaRPr>
          </a:p>
        </p:txBody>
      </p:sp>
    </p:spTree>
    <p:extLst>
      <p:ext uri="{BB962C8B-B14F-4D97-AF65-F5344CB8AC3E}">
        <p14:creationId xmlns:p14="http://schemas.microsoft.com/office/powerpoint/2010/main" val="1861686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3FF8-5816-D144-EC92-18C4AA9D9E0B}"/>
              </a:ext>
            </a:extLst>
          </p:cNvPr>
          <p:cNvSpPr>
            <a:spLocks noGrp="1"/>
          </p:cNvSpPr>
          <p:nvPr>
            <p:ph type="title"/>
          </p:nvPr>
        </p:nvSpPr>
        <p:spPr/>
        <p:txBody>
          <a:bodyPr/>
          <a:lstStyle/>
          <a:p>
            <a:r>
              <a:rPr lang="en-US" b="1" dirty="0">
                <a:ea typeface="+mj-lt"/>
                <a:cs typeface="+mj-lt"/>
              </a:rPr>
              <a:t>Destructors</a:t>
            </a:r>
            <a:endParaRPr lang="en-US" dirty="0"/>
          </a:p>
        </p:txBody>
      </p:sp>
      <p:sp>
        <p:nvSpPr>
          <p:cNvPr id="3" name="Content Placeholder 2">
            <a:extLst>
              <a:ext uri="{FF2B5EF4-FFF2-40B4-BE49-F238E27FC236}">
                <a16:creationId xmlns:a16="http://schemas.microsoft.com/office/drawing/2014/main" id="{EC1DFCF8-D780-0F81-E33C-763ED2518890}"/>
              </a:ext>
            </a:extLst>
          </p:cNvPr>
          <p:cNvSpPr>
            <a:spLocks noGrp="1"/>
          </p:cNvSpPr>
          <p:nvPr>
            <p:ph idx="1"/>
          </p:nvPr>
        </p:nvSpPr>
        <p:spPr/>
        <p:txBody>
          <a:bodyPr vert="horz" lIns="91440" tIns="45720" rIns="91440" bIns="45720" rtlCol="0" anchor="t">
            <a:normAutofit/>
          </a:bodyPr>
          <a:lstStyle/>
          <a:p>
            <a:pPr algn="just"/>
            <a:r>
              <a:rPr lang="en-US" b="1" dirty="0">
                <a:ea typeface="+mn-lt"/>
                <a:cs typeface="+mn-lt"/>
              </a:rPr>
              <a:t>Destructors</a:t>
            </a:r>
            <a:r>
              <a:rPr lang="en-US" dirty="0">
                <a:ea typeface="+mn-lt"/>
                <a:cs typeface="+mn-lt"/>
              </a:rPr>
              <a:t> are functions which are just the opposite of constructors. We all know that constructors are functions which initialize an object. On the other hand, destructors are functions which destroy the object whenever the object goes out of scope.</a:t>
            </a:r>
            <a:endParaRPr lang="en-US" dirty="0">
              <a:cs typeface="Calibri" panose="020F0502020204030204"/>
            </a:endParaRPr>
          </a:p>
          <a:p>
            <a:pPr algn="just"/>
            <a:r>
              <a:rPr lang="en-US" dirty="0">
                <a:ea typeface="+mn-lt"/>
                <a:cs typeface="+mn-lt"/>
              </a:rPr>
              <a:t>Destructor has the same name as that of the class with a </a:t>
            </a:r>
            <a:r>
              <a:rPr lang="en-US" b="1" dirty="0">
                <a:ea typeface="+mn-lt"/>
                <a:cs typeface="+mn-lt"/>
              </a:rPr>
              <a:t>tilde (~)</a:t>
            </a:r>
            <a:r>
              <a:rPr lang="en-US" dirty="0">
                <a:ea typeface="+mn-lt"/>
                <a:cs typeface="+mn-lt"/>
              </a:rPr>
              <a:t> sign before it.</a:t>
            </a:r>
            <a:endParaRPr lang="en-US" dirty="0"/>
          </a:p>
          <a:p>
            <a:r>
              <a:rPr lang="en-US" dirty="0">
                <a:ea typeface="+mn-lt"/>
                <a:cs typeface="+mn-lt"/>
              </a:rPr>
              <a:t>A destructor </a:t>
            </a:r>
            <a:r>
              <a:rPr lang="en-US">
                <a:ea typeface="+mn-lt"/>
                <a:cs typeface="+mn-lt"/>
              </a:rPr>
              <a:t>is always </a:t>
            </a:r>
            <a:r>
              <a:rPr lang="en-US" b="1" dirty="0">
                <a:ea typeface="+mn-lt"/>
                <a:cs typeface="+mn-lt"/>
              </a:rPr>
              <a:t>non-parameterized</a:t>
            </a:r>
            <a:r>
              <a:rPr lang="en-US" dirty="0">
                <a:ea typeface="+mn-lt"/>
                <a:cs typeface="+mn-lt"/>
              </a:rPr>
              <a:t>, it gets called when the object goes out of scope and destroys the object.</a:t>
            </a:r>
            <a:endParaRPr lang="en-US" dirty="0">
              <a:cs typeface="Calibri"/>
            </a:endParaRPr>
          </a:p>
        </p:txBody>
      </p:sp>
    </p:spTree>
    <p:extLst>
      <p:ext uri="{BB962C8B-B14F-4D97-AF65-F5344CB8AC3E}">
        <p14:creationId xmlns:p14="http://schemas.microsoft.com/office/powerpoint/2010/main" val="319293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5C64D-1A16-BB11-567B-47EA18108EAE}"/>
              </a:ext>
            </a:extLst>
          </p:cNvPr>
          <p:cNvSpPr>
            <a:spLocks noGrp="1"/>
          </p:cNvSpPr>
          <p:nvPr>
            <p:ph type="title"/>
          </p:nvPr>
        </p:nvSpPr>
        <p:spPr/>
        <p:txBody>
          <a:bodyPr/>
          <a:lstStyle/>
          <a:p>
            <a:r>
              <a:rPr lang="en-US" b="1" dirty="0">
                <a:cs typeface="Calibri Light"/>
              </a:rPr>
              <a:t>Destructors...</a:t>
            </a:r>
            <a:endParaRPr lang="en-US" dirty="0"/>
          </a:p>
        </p:txBody>
      </p:sp>
      <p:sp>
        <p:nvSpPr>
          <p:cNvPr id="3" name="Content Placeholder 2">
            <a:extLst>
              <a:ext uri="{FF2B5EF4-FFF2-40B4-BE49-F238E27FC236}">
                <a16:creationId xmlns:a16="http://schemas.microsoft.com/office/drawing/2014/main" id="{7E55A06D-AF81-E23D-B6BB-BC850653FA26}"/>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482CC619-F1C3-FB79-24F4-0F621AAA7F7B}"/>
              </a:ext>
            </a:extLst>
          </p:cNvPr>
          <p:cNvSpPr/>
          <p:nvPr/>
        </p:nvSpPr>
        <p:spPr>
          <a:xfrm>
            <a:off x="937404" y="1821612"/>
            <a:ext cx="4327584" cy="418380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b="1" dirty="0">
                <a:ea typeface="+mn-lt"/>
                <a:cs typeface="+mn-lt"/>
              </a:rPr>
              <a:t>#include &lt;iostream&gt;</a:t>
            </a:r>
            <a:endParaRPr lang="en-US" b="1">
              <a:cs typeface="Calibri" panose="020F0502020204030204"/>
            </a:endParaRPr>
          </a:p>
          <a:p>
            <a:r>
              <a:rPr lang="en-US" b="1" dirty="0">
                <a:ea typeface="+mn-lt"/>
                <a:cs typeface="+mn-lt"/>
              </a:rPr>
              <a:t>using namespace std;</a:t>
            </a:r>
            <a:endParaRPr lang="en-US" b="1">
              <a:cs typeface="Calibri" panose="020F0502020204030204"/>
            </a:endParaRPr>
          </a:p>
          <a:p>
            <a:r>
              <a:rPr lang="en-US" b="1" dirty="0">
                <a:ea typeface="+mn-lt"/>
                <a:cs typeface="+mn-lt"/>
              </a:rPr>
              <a:t>class Student</a:t>
            </a:r>
            <a:endParaRPr lang="en-US" b="1">
              <a:cs typeface="Calibri" panose="020F0502020204030204"/>
            </a:endParaRPr>
          </a:p>
          <a:p>
            <a:r>
              <a:rPr lang="en-US" b="1" dirty="0">
                <a:ea typeface="+mn-lt"/>
                <a:cs typeface="+mn-lt"/>
              </a:rPr>
              <a:t>{</a:t>
            </a:r>
            <a:endParaRPr lang="en-US" b="1">
              <a:cs typeface="Calibri" panose="020F0502020204030204"/>
            </a:endParaRPr>
          </a:p>
          <a:p>
            <a:r>
              <a:rPr lang="en-US" b="1" dirty="0">
                <a:ea typeface="+mn-lt"/>
                <a:cs typeface="+mn-lt"/>
              </a:rPr>
              <a:t>   public:</a:t>
            </a:r>
            <a:endParaRPr lang="en-US" b="1">
              <a:cs typeface="Calibri" panose="020F0502020204030204"/>
            </a:endParaRPr>
          </a:p>
          <a:p>
            <a:r>
              <a:rPr lang="en-US" b="1" dirty="0">
                <a:ea typeface="+mn-lt"/>
                <a:cs typeface="+mn-lt"/>
              </a:rPr>
              <a:t>        Student()</a:t>
            </a:r>
            <a:endParaRPr lang="en-US" b="1">
              <a:cs typeface="Calibri" panose="020F0502020204030204"/>
            </a:endParaRPr>
          </a:p>
          <a:p>
            <a:r>
              <a:rPr lang="en-US" b="1" dirty="0">
                <a:ea typeface="+mn-lt"/>
                <a:cs typeface="+mn-lt"/>
              </a:rPr>
              <a:t>        {</a:t>
            </a:r>
            <a:endParaRPr lang="en-US" b="1">
              <a:cs typeface="Calibri" panose="020F0502020204030204"/>
            </a:endParaRPr>
          </a:p>
          <a:p>
            <a:r>
              <a:rPr lang="en-US" b="1" dirty="0">
                <a:ea typeface="+mn-lt"/>
                <a:cs typeface="+mn-lt"/>
              </a:rPr>
              <a:t>            </a:t>
            </a:r>
            <a:r>
              <a:rPr lang="en-US" b="1" dirty="0" err="1">
                <a:ea typeface="+mn-lt"/>
                <a:cs typeface="+mn-lt"/>
              </a:rPr>
              <a:t>cout</a:t>
            </a:r>
            <a:r>
              <a:rPr lang="en-US" b="1" dirty="0">
                <a:ea typeface="+mn-lt"/>
                <a:cs typeface="+mn-lt"/>
              </a:rPr>
              <a:t>&lt;&lt;"Constructor Called"&lt;&lt;</a:t>
            </a:r>
            <a:r>
              <a:rPr lang="en-US" b="1" dirty="0" err="1">
                <a:ea typeface="+mn-lt"/>
                <a:cs typeface="+mn-lt"/>
              </a:rPr>
              <a:t>endl</a:t>
            </a:r>
            <a:r>
              <a:rPr lang="en-US" b="1" dirty="0">
                <a:ea typeface="+mn-lt"/>
                <a:cs typeface="+mn-lt"/>
              </a:rPr>
              <a:t>;</a:t>
            </a:r>
            <a:endParaRPr lang="en-US" b="1">
              <a:cs typeface="Calibri" panose="020F0502020204030204"/>
            </a:endParaRPr>
          </a:p>
          <a:p>
            <a:r>
              <a:rPr lang="en-US" b="1" dirty="0">
                <a:ea typeface="+mn-lt"/>
                <a:cs typeface="+mn-lt"/>
              </a:rPr>
              <a:t>        }</a:t>
            </a:r>
            <a:endParaRPr lang="en-US" b="1">
              <a:cs typeface="Calibri" panose="020F0502020204030204"/>
            </a:endParaRPr>
          </a:p>
          <a:p>
            <a:r>
              <a:rPr lang="en-US" b="1" dirty="0">
                <a:ea typeface="+mn-lt"/>
                <a:cs typeface="+mn-lt"/>
              </a:rPr>
              <a:t>        ~Student()</a:t>
            </a:r>
            <a:endParaRPr lang="en-US" b="1">
              <a:cs typeface="Calibri" panose="020F0502020204030204"/>
            </a:endParaRPr>
          </a:p>
          <a:p>
            <a:r>
              <a:rPr lang="en-US" b="1" dirty="0">
                <a:ea typeface="+mn-lt"/>
                <a:cs typeface="+mn-lt"/>
              </a:rPr>
              <a:t>        {</a:t>
            </a:r>
            <a:endParaRPr lang="en-US" b="1">
              <a:cs typeface="Calibri" panose="020F0502020204030204"/>
            </a:endParaRPr>
          </a:p>
          <a:p>
            <a:r>
              <a:rPr lang="en-US" b="1" dirty="0">
                <a:ea typeface="+mn-lt"/>
                <a:cs typeface="+mn-lt"/>
              </a:rPr>
              <a:t>            </a:t>
            </a:r>
            <a:r>
              <a:rPr lang="en-US" b="1" dirty="0" err="1">
                <a:ea typeface="+mn-lt"/>
                <a:cs typeface="+mn-lt"/>
              </a:rPr>
              <a:t>cout</a:t>
            </a:r>
            <a:r>
              <a:rPr lang="en-US" b="1" dirty="0">
                <a:ea typeface="+mn-lt"/>
                <a:cs typeface="+mn-lt"/>
              </a:rPr>
              <a:t>&lt;&lt;"Destructor Called"&lt;&lt;</a:t>
            </a:r>
            <a:r>
              <a:rPr lang="en-US" b="1" dirty="0" err="1">
                <a:ea typeface="+mn-lt"/>
                <a:cs typeface="+mn-lt"/>
              </a:rPr>
              <a:t>endl</a:t>
            </a:r>
            <a:r>
              <a:rPr lang="en-US" b="1" dirty="0">
                <a:ea typeface="+mn-lt"/>
                <a:cs typeface="+mn-lt"/>
              </a:rPr>
              <a:t>;</a:t>
            </a:r>
            <a:endParaRPr lang="en-US" b="1">
              <a:cs typeface="Calibri" panose="020F0502020204030204"/>
            </a:endParaRPr>
          </a:p>
          <a:p>
            <a:r>
              <a:rPr lang="en-US" b="1" dirty="0">
                <a:ea typeface="+mn-lt"/>
                <a:cs typeface="+mn-lt"/>
              </a:rPr>
              <a:t>        }</a:t>
            </a:r>
            <a:endParaRPr lang="en-US" b="1">
              <a:cs typeface="Calibri" panose="020F0502020204030204"/>
            </a:endParaRPr>
          </a:p>
          <a:p>
            <a:r>
              <a:rPr lang="en-US" b="1" dirty="0">
                <a:ea typeface="+mn-lt"/>
                <a:cs typeface="+mn-lt"/>
              </a:rPr>
              <a:t>};</a:t>
            </a:r>
            <a:endParaRPr lang="en-US" b="1" dirty="0">
              <a:cs typeface="Calibri"/>
            </a:endParaRPr>
          </a:p>
          <a:p>
            <a:pPr algn="ctr"/>
            <a:endParaRPr lang="en-US" dirty="0">
              <a:cs typeface="Calibri"/>
            </a:endParaRPr>
          </a:p>
        </p:txBody>
      </p:sp>
      <p:sp>
        <p:nvSpPr>
          <p:cNvPr id="5" name="Rectangle 4">
            <a:extLst>
              <a:ext uri="{FF2B5EF4-FFF2-40B4-BE49-F238E27FC236}">
                <a16:creationId xmlns:a16="http://schemas.microsoft.com/office/drawing/2014/main" id="{7885DDC4-F14A-FE23-916C-76DDBE422644}"/>
              </a:ext>
            </a:extLst>
          </p:cNvPr>
          <p:cNvSpPr/>
          <p:nvPr/>
        </p:nvSpPr>
        <p:spPr>
          <a:xfrm>
            <a:off x="5939826" y="1820714"/>
            <a:ext cx="4270074" cy="418380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rtl="0"/>
            <a:r>
              <a:rPr lang="en-US" b="1" dirty="0">
                <a:latin typeface="Calibri"/>
                <a:ea typeface="Segoe UI"/>
                <a:cs typeface="Segoe UI"/>
              </a:rPr>
              <a:t>int main()​</a:t>
            </a:r>
            <a:endParaRPr lang="en-US" b="1" dirty="0">
              <a:cs typeface="Calibri"/>
            </a:endParaRPr>
          </a:p>
          <a:p>
            <a:pPr rtl="0"/>
            <a:r>
              <a:rPr lang="en-US" b="1" dirty="0">
                <a:latin typeface="Calibri"/>
                <a:ea typeface="Segoe UI"/>
                <a:cs typeface="Segoe UI"/>
              </a:rPr>
              <a:t>{​</a:t>
            </a:r>
          </a:p>
          <a:p>
            <a:pPr rtl="0"/>
            <a:r>
              <a:rPr lang="en-US" b="1" dirty="0">
                <a:latin typeface="Calibri"/>
                <a:ea typeface="Segoe UI"/>
                <a:cs typeface="Segoe UI"/>
              </a:rPr>
              <a:t>    Student s1; //creating an object​</a:t>
            </a:r>
          </a:p>
          <a:p>
            <a:pPr rtl="0"/>
            <a:r>
              <a:rPr lang="en-US" b="1" dirty="0">
                <a:latin typeface="Calibri"/>
                <a:ea typeface="Segoe UI"/>
                <a:cs typeface="Segoe UI"/>
              </a:rPr>
              <a:t>    Student s2; //creating an object​</a:t>
            </a:r>
          </a:p>
          <a:p>
            <a:pPr rtl="0"/>
            <a:r>
              <a:rPr lang="en-US" b="1" dirty="0">
                <a:latin typeface="Calibri"/>
                <a:ea typeface="Segoe UI"/>
                <a:cs typeface="Segoe UI"/>
              </a:rPr>
              <a:t>    return 0;​</a:t>
            </a:r>
          </a:p>
          <a:p>
            <a:pPr rtl="0"/>
            <a:r>
              <a:rPr lang="en-US" b="1" dirty="0">
                <a:latin typeface="Calibri"/>
                <a:ea typeface="Segoe UI"/>
                <a:cs typeface="Segoe UI"/>
              </a:rPr>
              <a:t>}​</a:t>
            </a:r>
          </a:p>
          <a:p>
            <a:pPr algn="ctr" rtl="0"/>
            <a:r>
              <a:rPr lang="en-US" dirty="0">
                <a:latin typeface="Calibri"/>
                <a:ea typeface="Segoe UI"/>
                <a:cs typeface="Segoe UI"/>
              </a:rPr>
              <a:t>​</a:t>
            </a:r>
            <a:endParaRPr lang="en-US" dirty="0"/>
          </a:p>
        </p:txBody>
      </p:sp>
    </p:spTree>
    <p:extLst>
      <p:ext uri="{BB962C8B-B14F-4D97-AF65-F5344CB8AC3E}">
        <p14:creationId xmlns:p14="http://schemas.microsoft.com/office/powerpoint/2010/main" val="89621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2B91-A972-A16C-8525-466930828662}"/>
              </a:ext>
            </a:extLst>
          </p:cNvPr>
          <p:cNvSpPr>
            <a:spLocks noGrp="1"/>
          </p:cNvSpPr>
          <p:nvPr>
            <p:ph type="title"/>
          </p:nvPr>
        </p:nvSpPr>
        <p:spPr/>
        <p:txBody>
          <a:bodyPr/>
          <a:lstStyle/>
          <a:p>
            <a:r>
              <a:rPr lang="en-US" b="1" dirty="0">
                <a:cs typeface="Calibri Light"/>
              </a:rPr>
              <a:t>Example</a:t>
            </a:r>
            <a:endParaRPr lang="en-US" b="1" dirty="0"/>
          </a:p>
        </p:txBody>
      </p:sp>
      <p:sp>
        <p:nvSpPr>
          <p:cNvPr id="3" name="Content Placeholder 2">
            <a:extLst>
              <a:ext uri="{FF2B5EF4-FFF2-40B4-BE49-F238E27FC236}">
                <a16:creationId xmlns:a16="http://schemas.microsoft.com/office/drawing/2014/main" id="{233E30B1-A9D4-991F-25D6-C4D55E64A512}"/>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6741638E-2D9F-4075-09CB-D2C8409E10BC}"/>
              </a:ext>
            </a:extLst>
          </p:cNvPr>
          <p:cNvSpPr/>
          <p:nvPr/>
        </p:nvSpPr>
        <p:spPr>
          <a:xfrm>
            <a:off x="836762" y="1821611"/>
            <a:ext cx="4313206" cy="421256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b="1" dirty="0"/>
              <a:t>#include &lt;iostream&gt;</a:t>
            </a:r>
            <a:endParaRPr lang="en-US" b="1" dirty="0">
              <a:cs typeface="Calibri"/>
            </a:endParaRPr>
          </a:p>
          <a:p>
            <a:r>
              <a:rPr lang="en-US" b="1" dirty="0"/>
              <a:t>using namespace std;</a:t>
            </a:r>
            <a:endParaRPr lang="en-US" b="1">
              <a:cs typeface="Calibri"/>
            </a:endParaRPr>
          </a:p>
          <a:p>
            <a:r>
              <a:rPr lang="en-US" b="1" dirty="0"/>
              <a:t>class Student</a:t>
            </a:r>
            <a:endParaRPr lang="en-US" b="1">
              <a:cs typeface="Calibri"/>
            </a:endParaRPr>
          </a:p>
          <a:p>
            <a:r>
              <a:rPr lang="en-US" b="1" dirty="0"/>
              <a:t> {</a:t>
            </a:r>
            <a:endParaRPr lang="en-US" b="1">
              <a:cs typeface="Calibri"/>
            </a:endParaRPr>
          </a:p>
          <a:p>
            <a:r>
              <a:rPr lang="en-US" b="1" dirty="0"/>
              <a:t>   public:</a:t>
            </a:r>
            <a:endParaRPr lang="en-US" b="1">
              <a:cs typeface="Calibri"/>
            </a:endParaRPr>
          </a:p>
          <a:p>
            <a:r>
              <a:rPr lang="en-US" b="1" dirty="0"/>
              <a:t>        Student()</a:t>
            </a:r>
            <a:endParaRPr lang="en-US" b="1">
              <a:cs typeface="Calibri"/>
            </a:endParaRPr>
          </a:p>
          <a:p>
            <a:r>
              <a:rPr lang="en-US" b="1" dirty="0"/>
              <a:t>        {</a:t>
            </a:r>
            <a:endParaRPr lang="en-US" b="1">
              <a:cs typeface="Calibri"/>
            </a:endParaRPr>
          </a:p>
          <a:p>
            <a:r>
              <a:rPr lang="en-US" b="1" dirty="0"/>
              <a:t>            </a:t>
            </a:r>
            <a:r>
              <a:rPr lang="en-US" b="1" dirty="0" err="1"/>
              <a:t>cout</a:t>
            </a:r>
            <a:r>
              <a:rPr lang="en-US" b="1" dirty="0"/>
              <a:t>&lt;&lt;"Constructor Called"&lt;&lt;</a:t>
            </a:r>
            <a:r>
              <a:rPr lang="en-US" b="1" dirty="0" err="1"/>
              <a:t>endl</a:t>
            </a:r>
            <a:r>
              <a:rPr lang="en-US" b="1" dirty="0"/>
              <a:t>;</a:t>
            </a:r>
            <a:endParaRPr lang="en-US" b="1">
              <a:cs typeface="Calibri"/>
            </a:endParaRPr>
          </a:p>
          <a:p>
            <a:r>
              <a:rPr lang="en-US" b="1" dirty="0"/>
              <a:t>        }</a:t>
            </a:r>
            <a:endParaRPr lang="en-US" b="1">
              <a:cs typeface="Calibri"/>
            </a:endParaRPr>
          </a:p>
          <a:p>
            <a:r>
              <a:rPr lang="en-US" b="1" dirty="0"/>
              <a:t>        ~Student()</a:t>
            </a:r>
            <a:endParaRPr lang="en-US" b="1">
              <a:cs typeface="Calibri"/>
            </a:endParaRPr>
          </a:p>
          <a:p>
            <a:r>
              <a:rPr lang="en-US" b="1" dirty="0"/>
              <a:t>        {</a:t>
            </a:r>
            <a:endParaRPr lang="en-US" b="1">
              <a:cs typeface="Calibri"/>
            </a:endParaRPr>
          </a:p>
          <a:p>
            <a:r>
              <a:rPr lang="en-US" b="1" dirty="0"/>
              <a:t>            </a:t>
            </a:r>
            <a:r>
              <a:rPr lang="en-US" b="1" dirty="0" err="1"/>
              <a:t>cout</a:t>
            </a:r>
            <a:r>
              <a:rPr lang="en-US" b="1" dirty="0"/>
              <a:t>&lt;&lt;"Destructor Called"&lt;&lt;</a:t>
            </a:r>
            <a:r>
              <a:rPr lang="en-US" b="1" dirty="0" err="1"/>
              <a:t>endl</a:t>
            </a:r>
            <a:r>
              <a:rPr lang="en-US" b="1" dirty="0"/>
              <a:t>;</a:t>
            </a:r>
            <a:endParaRPr lang="en-US" b="1">
              <a:cs typeface="Calibri"/>
            </a:endParaRPr>
          </a:p>
          <a:p>
            <a:r>
              <a:rPr lang="en-US" b="1" dirty="0"/>
              <a:t>        }</a:t>
            </a:r>
            <a:endParaRPr lang="en-US" b="1">
              <a:cs typeface="Calibri"/>
            </a:endParaRPr>
          </a:p>
          <a:p>
            <a:r>
              <a:rPr lang="en-US" b="1" dirty="0"/>
              <a:t>        </a:t>
            </a:r>
            <a:endParaRPr lang="en-US" b="1" dirty="0">
              <a:cs typeface="Calibri"/>
            </a:endParaRPr>
          </a:p>
        </p:txBody>
      </p:sp>
      <p:sp>
        <p:nvSpPr>
          <p:cNvPr id="5" name="Rectangle 4">
            <a:extLst>
              <a:ext uri="{FF2B5EF4-FFF2-40B4-BE49-F238E27FC236}">
                <a16:creationId xmlns:a16="http://schemas.microsoft.com/office/drawing/2014/main" id="{878555CB-6741-F620-2E1E-0B7618709385}"/>
              </a:ext>
            </a:extLst>
          </p:cNvPr>
          <p:cNvSpPr/>
          <p:nvPr/>
        </p:nvSpPr>
        <p:spPr>
          <a:xfrm>
            <a:off x="5781675" y="1820713"/>
            <a:ext cx="4471357" cy="42125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rtl="0"/>
            <a:r>
              <a:rPr lang="en-US" b="1" dirty="0">
                <a:latin typeface="Calibri"/>
                <a:ea typeface="Segoe UI"/>
                <a:cs typeface="Segoe UI"/>
              </a:rPr>
              <a:t>void show()​</a:t>
            </a:r>
          </a:p>
          <a:p>
            <a:pPr rtl="0"/>
            <a:r>
              <a:rPr lang="en-US" b="1" dirty="0">
                <a:latin typeface="Calibri"/>
                <a:ea typeface="Segoe UI"/>
                <a:cs typeface="Segoe UI"/>
              </a:rPr>
              <a:t>        {​</a:t>
            </a:r>
          </a:p>
          <a:p>
            <a:pPr rtl="0"/>
            <a:r>
              <a:rPr lang="en-US" b="1" dirty="0">
                <a:latin typeface="Calibri"/>
                <a:ea typeface="Segoe UI"/>
                <a:cs typeface="Segoe UI"/>
              </a:rPr>
              <a:t>            </a:t>
            </a:r>
            <a:r>
              <a:rPr lang="en-US" b="1" dirty="0" err="1">
                <a:latin typeface="Calibri"/>
                <a:ea typeface="Segoe UI"/>
                <a:cs typeface="Segoe UI"/>
              </a:rPr>
              <a:t>cout</a:t>
            </a:r>
            <a:r>
              <a:rPr lang="en-US" b="1" dirty="0">
                <a:latin typeface="Calibri"/>
                <a:ea typeface="Segoe UI"/>
                <a:cs typeface="Segoe UI"/>
              </a:rPr>
              <a:t>&lt;&lt;"Function Called"&lt;&lt;</a:t>
            </a:r>
            <a:r>
              <a:rPr lang="en-US" b="1" dirty="0" err="1">
                <a:latin typeface="Calibri"/>
                <a:ea typeface="Segoe UI"/>
                <a:cs typeface="Segoe UI"/>
              </a:rPr>
              <a:t>endl</a:t>
            </a:r>
            <a:r>
              <a:rPr lang="en-US" b="1" dirty="0">
                <a:latin typeface="Calibri"/>
                <a:ea typeface="Segoe UI"/>
                <a:cs typeface="Segoe UI"/>
              </a:rPr>
              <a:t>;​</a:t>
            </a:r>
          </a:p>
          <a:p>
            <a:pPr rtl="0"/>
            <a:r>
              <a:rPr lang="en-US" b="1" dirty="0">
                <a:latin typeface="Calibri"/>
                <a:ea typeface="Segoe UI"/>
                <a:cs typeface="Segoe UI"/>
              </a:rPr>
              <a:t>        }​</a:t>
            </a:r>
          </a:p>
          <a:p>
            <a:pPr rtl="0"/>
            <a:r>
              <a:rPr lang="en-US" b="1" dirty="0">
                <a:latin typeface="Calibri"/>
                <a:ea typeface="Segoe UI"/>
                <a:cs typeface="Segoe UI"/>
              </a:rPr>
              <a:t>};​</a:t>
            </a:r>
          </a:p>
          <a:p>
            <a:pPr rtl="0"/>
            <a:r>
              <a:rPr lang="en-US" b="1" dirty="0">
                <a:latin typeface="Calibri"/>
                <a:ea typeface="Segoe UI"/>
                <a:cs typeface="Segoe UI"/>
              </a:rPr>
              <a:t>int main()​</a:t>
            </a:r>
          </a:p>
          <a:p>
            <a:pPr rtl="0"/>
            <a:r>
              <a:rPr lang="en-US" b="1" dirty="0">
                <a:latin typeface="Calibri"/>
                <a:ea typeface="Segoe UI"/>
                <a:cs typeface="Segoe UI"/>
              </a:rPr>
              <a:t>{​</a:t>
            </a:r>
          </a:p>
          <a:p>
            <a:pPr rtl="0"/>
            <a:r>
              <a:rPr lang="en-US" b="1" dirty="0">
                <a:latin typeface="Calibri"/>
                <a:ea typeface="Segoe UI"/>
                <a:cs typeface="Segoe UI"/>
              </a:rPr>
              <a:t>    Student s1; ​</a:t>
            </a:r>
          </a:p>
          <a:p>
            <a:r>
              <a:rPr lang="en-US" b="1" dirty="0">
                <a:latin typeface="Calibri"/>
                <a:ea typeface="Segoe UI"/>
                <a:cs typeface="Segoe UI"/>
              </a:rPr>
              <a:t>    Student s2; </a:t>
            </a:r>
          </a:p>
          <a:p>
            <a:pPr rtl="0"/>
            <a:r>
              <a:rPr lang="en-US" b="1" dirty="0">
                <a:latin typeface="Calibri"/>
                <a:ea typeface="Segoe UI"/>
                <a:cs typeface="Segoe UI"/>
              </a:rPr>
              <a:t>    s1.show();​</a:t>
            </a:r>
          </a:p>
          <a:p>
            <a:pPr rtl="0"/>
            <a:r>
              <a:rPr lang="en-US" b="1" dirty="0">
                <a:latin typeface="Calibri"/>
                <a:ea typeface="Segoe UI"/>
                <a:cs typeface="Segoe UI"/>
              </a:rPr>
              <a:t>​</a:t>
            </a:r>
          </a:p>
          <a:p>
            <a:pPr rtl="0"/>
            <a:r>
              <a:rPr lang="en-US" b="1" dirty="0">
                <a:latin typeface="Calibri"/>
                <a:ea typeface="Segoe UI"/>
                <a:cs typeface="Segoe UI"/>
              </a:rPr>
              <a:t>    return 0;​</a:t>
            </a:r>
          </a:p>
          <a:p>
            <a:pPr rtl="0"/>
            <a:r>
              <a:rPr lang="en-US" b="1" dirty="0">
                <a:latin typeface="Calibri"/>
                <a:ea typeface="Segoe UI"/>
                <a:cs typeface="Segoe UI"/>
              </a:rPr>
              <a:t>}​</a:t>
            </a:r>
            <a:endParaRPr lang="en-US" b="1" dirty="0"/>
          </a:p>
        </p:txBody>
      </p:sp>
    </p:spTree>
    <p:extLst>
      <p:ext uri="{BB962C8B-B14F-4D97-AF65-F5344CB8AC3E}">
        <p14:creationId xmlns:p14="http://schemas.microsoft.com/office/powerpoint/2010/main" val="36733914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768</Words>
  <Application>Microsoft Office PowerPoint</Application>
  <PresentationFormat>Widescreen</PresentationFormat>
  <Paragraphs>134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Consolas</vt:lpstr>
      <vt:lpstr>office theme</vt:lpstr>
      <vt:lpstr>Introduction To Programming</vt:lpstr>
      <vt:lpstr>Content</vt:lpstr>
      <vt:lpstr>Constructors </vt:lpstr>
      <vt:lpstr>Constructors...</vt:lpstr>
      <vt:lpstr>Constructors (Parameters) </vt:lpstr>
      <vt:lpstr>Constructors (Parameters)...</vt:lpstr>
      <vt:lpstr>Destructors</vt:lpstr>
      <vt:lpstr>Destructors...</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Methila Farzana Woishe</cp:lastModifiedBy>
  <cp:revision>143</cp:revision>
  <dcterms:created xsi:type="dcterms:W3CDTF">2022-07-09T05:38:18Z</dcterms:created>
  <dcterms:modified xsi:type="dcterms:W3CDTF">2022-11-13T01:35:36Z</dcterms:modified>
</cp:coreProperties>
</file>