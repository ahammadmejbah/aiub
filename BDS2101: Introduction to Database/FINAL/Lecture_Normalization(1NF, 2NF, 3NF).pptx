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66" r:id="rId4"/>
    <p:sldId id="267" r:id="rId5"/>
    <p:sldId id="280" r:id="rId6"/>
    <p:sldId id="281" r:id="rId7"/>
    <p:sldId id="282" r:id="rId8"/>
    <p:sldId id="283" r:id="rId9"/>
    <p:sldId id="284" r:id="rId10"/>
    <p:sldId id="285" r:id="rId11"/>
    <p:sldId id="286" r:id="rId12"/>
    <p:sldId id="287" r:id="rId13"/>
    <p:sldId id="289" r:id="rId14"/>
    <p:sldId id="288" r:id="rId15"/>
    <p:sldId id="290" r:id="rId16"/>
    <p:sldId id="292" r:id="rId17"/>
    <p:sldId id="291" r:id="rId18"/>
    <p:sldId id="293"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24"/>
  </p:normalViewPr>
  <p:slideViewPr>
    <p:cSldViewPr snapToGrid="0" snapToObjects="1">
      <p:cViewPr>
        <p:scale>
          <a:sx n="59" d="100"/>
          <a:sy n="59" d="100"/>
        </p:scale>
        <p:origin x="940" y="5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108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8969BD-DD10-4020-9F56-F0AD47ED36A3}" type="datetimeFigureOut">
              <a:rPr lang="en-US" smtClean="0"/>
              <a:t>7/27/2022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03DAF-F491-4105-8CCE-C2E32FD98A04}" type="slidenum">
              <a:rPr lang="en-US" smtClean="0"/>
              <a:t>‹#›</a:t>
            </a:fld>
            <a:endParaRPr lang="en-US"/>
          </a:p>
        </p:txBody>
      </p:sp>
    </p:spTree>
    <p:extLst>
      <p:ext uri="{BB962C8B-B14F-4D97-AF65-F5344CB8AC3E}">
        <p14:creationId xmlns:p14="http://schemas.microsoft.com/office/powerpoint/2010/main" val="1315062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03DAF-F491-4105-8CCE-C2E32FD98A04}" type="slidenum">
              <a:rPr lang="en-US" smtClean="0"/>
              <a:t>14</a:t>
            </a:fld>
            <a:endParaRPr lang="en-US"/>
          </a:p>
        </p:txBody>
      </p:sp>
    </p:spTree>
    <p:extLst>
      <p:ext uri="{BB962C8B-B14F-4D97-AF65-F5344CB8AC3E}">
        <p14:creationId xmlns:p14="http://schemas.microsoft.com/office/powerpoint/2010/main" val="2535188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03DAF-F491-4105-8CCE-C2E32FD98A04}" type="slidenum">
              <a:rPr lang="en-US" smtClean="0"/>
              <a:t>15</a:t>
            </a:fld>
            <a:endParaRPr lang="en-US"/>
          </a:p>
        </p:txBody>
      </p:sp>
    </p:spTree>
    <p:extLst>
      <p:ext uri="{BB962C8B-B14F-4D97-AF65-F5344CB8AC3E}">
        <p14:creationId xmlns:p14="http://schemas.microsoft.com/office/powerpoint/2010/main" val="28460415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378885" y="444729"/>
            <a:ext cx="11432116"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378885" y="1906543"/>
            <a:ext cx="11435164"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ctrTitle"/>
          </p:nvPr>
        </p:nvSpPr>
        <p:spPr>
          <a:xfrm>
            <a:off x="561788" y="449005"/>
            <a:ext cx="10411968"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634940" y="1532427"/>
            <a:ext cx="10338816"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378885" y="6227064"/>
            <a:ext cx="11432116"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9918128" y="459900"/>
            <a:ext cx="1892872"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378885" y="455774"/>
            <a:ext cx="11432116"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8" name="Group 7"/>
          <p:cNvGrpSpPr/>
          <p:nvPr/>
        </p:nvGrpSpPr>
        <p:grpSpPr>
          <a:xfrm>
            <a:off x="378885" y="1577848"/>
            <a:ext cx="11435164"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378885" y="444729"/>
            <a:ext cx="11432116"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378883" y="2017059"/>
            <a:ext cx="11432116"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629894" y="1532965"/>
            <a:ext cx="10339045"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378885" y="1906543"/>
            <a:ext cx="11435164"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9" name="TextBox 18"/>
          <p:cNvSpPr txBox="1"/>
          <p:nvPr/>
        </p:nvSpPr>
        <p:spPr>
          <a:xfrm>
            <a:off x="10974519" y="444729"/>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558178" y="444729"/>
            <a:ext cx="10414623"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378885" y="4801576"/>
            <a:ext cx="11432116"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378885" y="6263390"/>
            <a:ext cx="11435164"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3" name="TextBox 12"/>
          <p:cNvSpPr txBox="1"/>
          <p:nvPr/>
        </p:nvSpPr>
        <p:spPr>
          <a:xfrm>
            <a:off x="10974519" y="4801576"/>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573024" y="4814125"/>
            <a:ext cx="103632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633984" y="5861304"/>
            <a:ext cx="10314432"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378883" y="443755"/>
            <a:ext cx="11432116"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378885" y="4801576"/>
            <a:ext cx="11432116"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378885" y="6263390"/>
            <a:ext cx="11435164"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2" name="TextBox 11"/>
          <p:cNvSpPr txBox="1"/>
          <p:nvPr/>
        </p:nvSpPr>
        <p:spPr>
          <a:xfrm>
            <a:off x="10974519" y="4801576"/>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573741" y="4814048"/>
            <a:ext cx="103632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627530" y="5862918"/>
            <a:ext cx="10309412"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378885" y="455774"/>
            <a:ext cx="11432116"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9" name="Group 8"/>
          <p:cNvGrpSpPr/>
          <p:nvPr/>
        </p:nvGrpSpPr>
        <p:grpSpPr>
          <a:xfrm>
            <a:off x="378885" y="1577848"/>
            <a:ext cx="11435164"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537883" y="2151063"/>
            <a:ext cx="524256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6370917" y="2151063"/>
            <a:ext cx="524256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378885" y="455774"/>
            <a:ext cx="11432116"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11" name="Group 10"/>
          <p:cNvGrpSpPr/>
          <p:nvPr/>
        </p:nvGrpSpPr>
        <p:grpSpPr>
          <a:xfrm>
            <a:off x="378885" y="1577848"/>
            <a:ext cx="11435164"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537883" y="1735138"/>
            <a:ext cx="524256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537883" y="2590800"/>
            <a:ext cx="524256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6372660" y="1735138"/>
            <a:ext cx="524256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6372660" y="2590800"/>
            <a:ext cx="524256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378885" y="455774"/>
            <a:ext cx="11432116"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7" name="Group 6"/>
          <p:cNvGrpSpPr/>
          <p:nvPr/>
        </p:nvGrpSpPr>
        <p:grpSpPr>
          <a:xfrm>
            <a:off x="378885" y="1577848"/>
            <a:ext cx="11435164"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7/27/2022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378885" y="452719"/>
            <a:ext cx="982028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10199166" y="55844"/>
            <a:ext cx="1705548"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588" y="1298762"/>
            <a:ext cx="542544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6378089" y="914401"/>
            <a:ext cx="542544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358588" y="2456329"/>
            <a:ext cx="542544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378885" y="452719"/>
            <a:ext cx="11435164"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78885" y="4801576"/>
            <a:ext cx="11432116"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378885" y="6263390"/>
            <a:ext cx="11435164"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484095" y="4800600"/>
            <a:ext cx="11146989"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78884" y="457199"/>
            <a:ext cx="11436096"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558799" y="5367338"/>
            <a:ext cx="11072284"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378885" y="4280648"/>
            <a:ext cx="11435164"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484095" y="4778189"/>
            <a:ext cx="11146989"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378884" y="457200"/>
            <a:ext cx="11436096"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558799" y="5344927"/>
            <a:ext cx="11072284"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876801" y="914401"/>
            <a:ext cx="6926729"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378884" y="4267201"/>
            <a:ext cx="36576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558802" y="4953001"/>
            <a:ext cx="3296023"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547686" y="4419600"/>
            <a:ext cx="3300527"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378885" y="594360"/>
            <a:ext cx="36576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378885" y="461683"/>
            <a:ext cx="11435164"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4028018" y="4801576"/>
            <a:ext cx="7782983"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378885" y="6263390"/>
            <a:ext cx="11435164"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4042215" y="4800600"/>
            <a:ext cx="7588868"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4028019" y="457199"/>
            <a:ext cx="7778496"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093074" y="5367338"/>
            <a:ext cx="7538009"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378886" y="457200"/>
            <a:ext cx="3649133"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378886" y="3364992"/>
            <a:ext cx="3649133"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378885" y="455774"/>
            <a:ext cx="11432116"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8" name="Group 7"/>
          <p:cNvGrpSpPr/>
          <p:nvPr/>
        </p:nvGrpSpPr>
        <p:grpSpPr>
          <a:xfrm>
            <a:off x="378885" y="1577848"/>
            <a:ext cx="11435164"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378885" y="2133600"/>
            <a:ext cx="11432116"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8074279" y="2668544"/>
            <a:ext cx="5934615" cy="151193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260165" y="473076"/>
            <a:ext cx="1292352"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378885" y="457200"/>
            <a:ext cx="8663516"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7200708" y="3332822"/>
            <a:ext cx="5934456" cy="183215"/>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75338" y="2133601"/>
            <a:ext cx="9435663"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9059915" y="6437033"/>
            <a:ext cx="28448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7/27/2022</a:t>
            </a:fld>
            <a:endParaRPr lang="en-US"/>
          </a:p>
        </p:txBody>
      </p:sp>
      <p:sp>
        <p:nvSpPr>
          <p:cNvPr id="5" name="Footer Placeholder 4"/>
          <p:cNvSpPr>
            <a:spLocks noGrp="1"/>
          </p:cNvSpPr>
          <p:nvPr>
            <p:ph type="ftr" sz="quarter" idx="3"/>
          </p:nvPr>
        </p:nvSpPr>
        <p:spPr>
          <a:xfrm>
            <a:off x="266264" y="6437033"/>
            <a:ext cx="8166536"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11075279" y="167347"/>
            <a:ext cx="840828"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378885" y="630382"/>
            <a:ext cx="11432116"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docs.oracle.com/en/database/oracle/oracle-database/20/sqlrf/SQL-Standards.html" TargetMode="External"/><Relationship Id="rId2" Type="http://schemas.openxmlformats.org/officeDocument/2006/relationships/hyperlink" Target="https://www.db-book.com/db6/slide-dir/index.html" TargetMode="External"/><Relationship Id="rId1" Type="http://schemas.openxmlformats.org/officeDocument/2006/relationships/slideLayout" Target="../slideLayouts/slideLayout9.xml"/><Relationship Id="rId6" Type="http://schemas.openxmlformats.org/officeDocument/2006/relationships/hyperlink" Target="https://www.slideshare.net/thinnaphat.bo/" TargetMode="External"/><Relationship Id="rId5" Type="http://schemas.openxmlformats.org/officeDocument/2006/relationships/hyperlink" Target="https://www.slideshare.net/tabinhasan/from-data-to-wisdom" TargetMode="External"/><Relationship Id="rId4" Type="http://schemas.openxmlformats.org/officeDocument/2006/relationships/hyperlink" Target="https://www.slideshare.net/HaaMeemMohiyuddin1/data-knowledge-and-inform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Normalization</a:t>
            </a:r>
            <a:endParaRPr lang="en-US" dirty="0"/>
          </a:p>
        </p:txBody>
      </p:sp>
      <p:sp>
        <p:nvSpPr>
          <p:cNvPr id="3" name="Subtitle 2"/>
          <p:cNvSpPr>
            <a:spLocks noGrp="1"/>
          </p:cNvSpPr>
          <p:nvPr>
            <p:ph type="subTitle" idx="1"/>
          </p:nvPr>
        </p:nvSpPr>
        <p:spPr>
          <a:xfrm>
            <a:off x="561788" y="1453120"/>
            <a:ext cx="2789509" cy="484632"/>
          </a:xfrm>
        </p:spPr>
        <p:txBody>
          <a:bodyPr>
            <a:normAutofit/>
          </a:bodyPr>
          <a:lstStyle/>
          <a:p>
            <a:r>
              <a:rPr lang="en-US" dirty="0"/>
              <a:t>Course Code: CSC 2108</a:t>
            </a:r>
          </a:p>
          <a:p>
            <a:endParaRPr lang="en-US" dirty="0"/>
          </a:p>
        </p:txBody>
      </p:sp>
      <p:sp>
        <p:nvSpPr>
          <p:cNvPr id="4" name="TextBox 3"/>
          <p:cNvSpPr txBox="1"/>
          <p:nvPr/>
        </p:nvSpPr>
        <p:spPr>
          <a:xfrm>
            <a:off x="1600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281701564"/>
              </p:ext>
            </p:extLst>
          </p:nvPr>
        </p:nvGraphicFramePr>
        <p:xfrm>
          <a:off x="1119696" y="5031297"/>
          <a:ext cx="9296152" cy="1018816"/>
        </p:xfrm>
        <a:graphic>
          <a:graphicData uri="http://schemas.openxmlformats.org/drawingml/2006/table">
            <a:tbl>
              <a:tblPr firstRow="1" bandRow="1">
                <a:tableStyleId>{D7AC3CCA-C797-4891-BE02-D94E43425B78}</a:tableStyleId>
              </a:tblPr>
              <a:tblGrid>
                <a:gridCol w="1654104">
                  <a:extLst>
                    <a:ext uri="{9D8B030D-6E8A-4147-A177-3AD203B41FA5}">
                      <a16:colId xmlns:a16="http://schemas.microsoft.com/office/drawing/2014/main" val="3905988420"/>
                    </a:ext>
                  </a:extLst>
                </a:gridCol>
                <a:gridCol w="1558755">
                  <a:extLst>
                    <a:ext uri="{9D8B030D-6E8A-4147-A177-3AD203B41FA5}">
                      <a16:colId xmlns:a16="http://schemas.microsoft.com/office/drawing/2014/main" val="2889894460"/>
                    </a:ext>
                  </a:extLst>
                </a:gridCol>
                <a:gridCol w="1369374">
                  <a:extLst>
                    <a:ext uri="{9D8B030D-6E8A-4147-A177-3AD203B41FA5}">
                      <a16:colId xmlns:a16="http://schemas.microsoft.com/office/drawing/2014/main" val="3023211198"/>
                    </a:ext>
                  </a:extLst>
                </a:gridCol>
                <a:gridCol w="1719001">
                  <a:extLst>
                    <a:ext uri="{9D8B030D-6E8A-4147-A177-3AD203B41FA5}">
                      <a16:colId xmlns:a16="http://schemas.microsoft.com/office/drawing/2014/main" val="1762131981"/>
                    </a:ext>
                  </a:extLst>
                </a:gridCol>
                <a:gridCol w="1383941">
                  <a:extLst>
                    <a:ext uri="{9D8B030D-6E8A-4147-A177-3AD203B41FA5}">
                      <a16:colId xmlns:a16="http://schemas.microsoft.com/office/drawing/2014/main" val="445458238"/>
                    </a:ext>
                  </a:extLst>
                </a:gridCol>
                <a:gridCol w="1610977">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a:t>14</a:t>
                      </a:r>
                      <a:endParaRPr lang="en-US" dirty="0"/>
                    </a:p>
                  </a:txBody>
                  <a:tcPr/>
                </a:tc>
                <a:tc>
                  <a:txBody>
                    <a:bodyPr/>
                    <a:lstStyle/>
                    <a:p>
                      <a:r>
                        <a:rPr lang="en-US" dirty="0"/>
                        <a:t>Week No:</a:t>
                      </a:r>
                    </a:p>
                  </a:txBody>
                  <a:tcPr/>
                </a:tc>
                <a:tc>
                  <a:txBody>
                    <a:bodyPr/>
                    <a:lstStyle/>
                    <a:p>
                      <a:r>
                        <a:rPr lang="en-US"/>
                        <a:t>09</a:t>
                      </a:r>
                      <a:endParaRPr lang="en-US" dirty="0"/>
                    </a:p>
                  </a:txBody>
                  <a:tcPr/>
                </a:tc>
                <a:tc>
                  <a:txBody>
                    <a:bodyPr/>
                    <a:lstStyle/>
                    <a:p>
                      <a:r>
                        <a:rPr lang="en-US" dirty="0"/>
                        <a:t>Semester:</a:t>
                      </a:r>
                    </a:p>
                  </a:txBody>
                  <a:tcPr/>
                </a:tc>
                <a:tc>
                  <a:txBody>
                    <a:bodyPr/>
                    <a:lstStyle/>
                    <a:p>
                      <a:r>
                        <a:rPr lang="en-US"/>
                        <a:t>TBA</a:t>
                      </a:r>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Nazia Alfaz</a:t>
                      </a:r>
                    </a:p>
                    <a:p>
                      <a:r>
                        <a:rPr lang="en-US" i="1" dirty="0"/>
                        <a:t>nazia.alfaz@aiub.edu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4085884" y="1443008"/>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Introduction to Database</a:t>
            </a:r>
          </a:p>
          <a:p>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2010697" y="2363928"/>
            <a:ext cx="7754112" cy="3009930"/>
          </a:xfrm>
        </p:spPr>
        <p:txBody>
          <a:bodyPr>
            <a:normAutofit/>
          </a:bodyPr>
          <a:lstStyle/>
          <a:p>
            <a:pPr marL="457200" indent="-457200">
              <a:buFont typeface="+mj-lt"/>
              <a:buAutoNum type="arabicPeriod"/>
            </a:pPr>
            <a:r>
              <a:rPr lang="en-US" altLang="en-US" sz="2400" dirty="0">
                <a:solidFill>
                  <a:schemeClr val="tx1"/>
                </a:solidFill>
              </a:rPr>
              <a:t>Introduction</a:t>
            </a:r>
          </a:p>
          <a:p>
            <a:pPr marL="457200" indent="-457200">
              <a:buFont typeface="+mj-lt"/>
              <a:buAutoNum type="arabicPeriod"/>
            </a:pPr>
            <a:r>
              <a:rPr lang="en-US" altLang="en-US" sz="2400" dirty="0">
                <a:solidFill>
                  <a:schemeClr val="tx1"/>
                </a:solidFill>
              </a:rPr>
              <a:t>The Normal Forms</a:t>
            </a:r>
          </a:p>
          <a:p>
            <a:pPr marL="457200" indent="-457200">
              <a:buFont typeface="+mj-lt"/>
              <a:buAutoNum type="arabicPeriod"/>
            </a:pPr>
            <a:r>
              <a:rPr lang="en-US" altLang="en-US" sz="2400" dirty="0">
                <a:solidFill>
                  <a:schemeClr val="tx1"/>
                </a:solidFill>
              </a:rPr>
              <a:t>Modification Anomalies</a:t>
            </a:r>
          </a:p>
          <a:p>
            <a:pPr marL="457200" indent="-457200">
              <a:buFont typeface="+mj-lt"/>
              <a:buAutoNum type="arabicPeriod"/>
            </a:pPr>
            <a:r>
              <a:rPr lang="en-US" altLang="en-US" sz="2400" dirty="0">
                <a:solidFill>
                  <a:schemeClr val="tx1"/>
                </a:solidFill>
              </a:rPr>
              <a:t>Real World Exercise</a:t>
            </a:r>
          </a:p>
          <a:p>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Why Normalize?</a:t>
            </a:r>
            <a:r>
              <a:rPr lang="en-US" dirty="0"/>
              <a:t>..</a:t>
            </a:r>
          </a:p>
        </p:txBody>
      </p:sp>
      <p:sp>
        <p:nvSpPr>
          <p:cNvPr id="6" name="TextBox 5">
            <a:extLst>
              <a:ext uri="{FF2B5EF4-FFF2-40B4-BE49-F238E27FC236}">
                <a16:creationId xmlns:a16="http://schemas.microsoft.com/office/drawing/2014/main" id="{37C26D19-85DA-834B-9600-C9820C508897}"/>
              </a:ext>
            </a:extLst>
          </p:cNvPr>
          <p:cNvSpPr txBox="1"/>
          <p:nvPr/>
        </p:nvSpPr>
        <p:spPr>
          <a:xfrm>
            <a:off x="310160" y="2224882"/>
            <a:ext cx="9565360" cy="3416320"/>
          </a:xfrm>
          <a:prstGeom prst="rect">
            <a:avLst/>
          </a:prstGeom>
          <a:noFill/>
        </p:spPr>
        <p:txBody>
          <a:bodyPr wrap="square" rtlCol="0">
            <a:spAutoFit/>
          </a:bodyPr>
          <a:lstStyle/>
          <a:p>
            <a:pPr marL="285750" indent="-285750">
              <a:buFont typeface="Arial" pitchFamily="34" charset="0"/>
              <a:buChar char="•"/>
            </a:pPr>
            <a:r>
              <a:rPr lang="en-US" altLang="en-US" sz="2400" dirty="0">
                <a:latin typeface="Times New Roman" panose="02020603050405020304" pitchFamily="18" charset="0"/>
                <a:cs typeface="Times New Roman" panose="02020603050405020304" pitchFamily="18" charset="0"/>
              </a:rPr>
              <a:t>Flexibility</a:t>
            </a:r>
          </a:p>
          <a:p>
            <a:pPr lvl="1"/>
            <a:r>
              <a:rPr lang="en-US" altLang="en-US" sz="2400" dirty="0">
                <a:latin typeface="Times New Roman" panose="02020603050405020304" pitchFamily="18" charset="0"/>
                <a:cs typeface="Times New Roman" panose="02020603050405020304" pitchFamily="18" charset="0"/>
              </a:rPr>
              <a:t>Structure supports many ways to look at the data</a:t>
            </a:r>
          </a:p>
          <a:p>
            <a:pPr marL="285750" indent="-285750">
              <a:buFont typeface="Arial" pitchFamily="34" charset="0"/>
              <a:buChar char="•"/>
            </a:pPr>
            <a:r>
              <a:rPr lang="en-US" altLang="en-US" sz="2400" dirty="0">
                <a:latin typeface="Times New Roman" panose="02020603050405020304" pitchFamily="18" charset="0"/>
                <a:cs typeface="Times New Roman" panose="02020603050405020304" pitchFamily="18" charset="0"/>
              </a:rPr>
              <a:t>Data Integrity</a:t>
            </a:r>
          </a:p>
          <a:p>
            <a:pPr lvl="1"/>
            <a:r>
              <a:rPr lang="en-US" altLang="en-US" sz="2400" dirty="0">
                <a:latin typeface="Times New Roman" panose="02020603050405020304" pitchFamily="18" charset="0"/>
                <a:cs typeface="Times New Roman" panose="02020603050405020304" pitchFamily="18" charset="0"/>
              </a:rPr>
              <a:t>“Modification Anomalies”</a:t>
            </a:r>
          </a:p>
          <a:p>
            <a:pPr marL="1200150" lvl="2" indent="-285750">
              <a:buFont typeface="Arial" pitchFamily="34" charset="0"/>
              <a:buChar char="•"/>
            </a:pPr>
            <a:r>
              <a:rPr lang="en-US" altLang="en-US" sz="2400" dirty="0">
                <a:latin typeface="Times New Roman" panose="02020603050405020304" pitchFamily="18" charset="0"/>
                <a:cs typeface="Times New Roman" panose="02020603050405020304" pitchFamily="18" charset="0"/>
              </a:rPr>
              <a:t>Deletion</a:t>
            </a:r>
          </a:p>
          <a:p>
            <a:pPr marL="1200150" lvl="2" indent="-285750">
              <a:buFont typeface="Arial" pitchFamily="34" charset="0"/>
              <a:buChar char="•"/>
            </a:pPr>
            <a:r>
              <a:rPr lang="en-US" altLang="en-US" sz="2400" dirty="0">
                <a:latin typeface="Times New Roman" panose="02020603050405020304" pitchFamily="18" charset="0"/>
                <a:cs typeface="Times New Roman" panose="02020603050405020304" pitchFamily="18" charset="0"/>
              </a:rPr>
              <a:t>Insertion</a:t>
            </a:r>
          </a:p>
          <a:p>
            <a:pPr marL="1200150" lvl="2" indent="-285750">
              <a:buFont typeface="Arial" pitchFamily="34" charset="0"/>
              <a:buChar char="•"/>
            </a:pPr>
            <a:r>
              <a:rPr lang="en-US" altLang="en-US" sz="2400" dirty="0">
                <a:latin typeface="Times New Roman" panose="02020603050405020304" pitchFamily="18" charset="0"/>
                <a:cs typeface="Times New Roman" panose="02020603050405020304" pitchFamily="18" charset="0"/>
              </a:rPr>
              <a:t>Update</a:t>
            </a:r>
          </a:p>
          <a:p>
            <a:pPr marL="285750" indent="-285750">
              <a:buFont typeface="Arial" pitchFamily="34" charset="0"/>
              <a:buChar char="•"/>
            </a:pPr>
            <a:r>
              <a:rPr lang="en-US" altLang="en-US" sz="2400" dirty="0">
                <a:latin typeface="Times New Roman" panose="02020603050405020304" pitchFamily="18" charset="0"/>
                <a:cs typeface="Times New Roman" panose="02020603050405020304" pitchFamily="18" charset="0"/>
              </a:rPr>
              <a:t>Efficiency</a:t>
            </a:r>
          </a:p>
          <a:p>
            <a:pPr lvl="1"/>
            <a:r>
              <a:rPr lang="en-US" altLang="en-US" sz="2400" dirty="0">
                <a:latin typeface="Times New Roman" panose="02020603050405020304" pitchFamily="18" charset="0"/>
                <a:cs typeface="Times New Roman" panose="02020603050405020304" pitchFamily="18" charset="0"/>
              </a:rPr>
              <a:t>Eliminate redundant data and save space</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latin typeface="Arial" charset="0"/>
              </a:rPr>
              <a:t>Normalization</a:t>
            </a:r>
            <a:endParaRPr lang="en-US"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09489" y="2238949"/>
            <a:ext cx="11704320" cy="3170099"/>
          </a:xfrm>
          <a:prstGeom prst="rect">
            <a:avLst/>
          </a:prstGeom>
          <a:noFill/>
        </p:spPr>
        <p:txBody>
          <a:bodyPr wrap="square" rtlCol="0">
            <a:spAutoFit/>
          </a:bodyPr>
          <a:lstStyle/>
          <a:p>
            <a:r>
              <a:rPr lang="en-US" sz="2000" b="1" i="1" dirty="0">
                <a:latin typeface="Times New Roman" panose="02020603050405020304" pitchFamily="18" charset="0"/>
                <a:cs typeface="Times New Roman" panose="02020603050405020304" pitchFamily="18" charset="0"/>
              </a:rPr>
              <a:t>Normalization</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database design technique that reduces data redundancy and eliminates undesirable characteristics like Insertion, Update and Deletion Anomalies. </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Divides larger tables into smaller tables and links them using relationships. </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purpose of Normalization in SQL is to eliminate redundant (repetitive) data and ensure data is stored logically.</a:t>
            </a:r>
          </a:p>
          <a:p>
            <a:endParaRPr lang="en-US" sz="2000"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Normal Form</a:t>
            </a:r>
          </a:p>
          <a:p>
            <a:r>
              <a:rPr lang="en-US" sz="2000" dirty="0">
                <a:latin typeface="Times New Roman" panose="02020603050405020304" pitchFamily="18" charset="0"/>
                <a:cs typeface="Times New Roman" panose="02020603050405020304" pitchFamily="18" charset="0"/>
              </a:rPr>
              <a:t>A relation that results from applying simple rules regarding Functional Dependences (or relationship between attributes) to that relation.</a:t>
            </a:r>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Redundancy</a:t>
            </a:r>
          </a:p>
        </p:txBody>
      </p:sp>
      <p:sp>
        <p:nvSpPr>
          <p:cNvPr id="4" name="TextBox 3">
            <a:extLst>
              <a:ext uri="{FF2B5EF4-FFF2-40B4-BE49-F238E27FC236}">
                <a16:creationId xmlns:a16="http://schemas.microsoft.com/office/drawing/2014/main" id="{E00A471B-FCB5-3949-B014-0D06C67E41B3}"/>
              </a:ext>
            </a:extLst>
          </p:cNvPr>
          <p:cNvSpPr txBox="1"/>
          <p:nvPr/>
        </p:nvSpPr>
        <p:spPr>
          <a:xfrm>
            <a:off x="286981" y="2238949"/>
            <a:ext cx="11375136" cy="2215991"/>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Major aim of relational database design is to group attributes into relations to minimize data redundancy and reduce file storage space required by base relations. </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Problems associated with data redundancy are illustrated by comparing the following Staff and Branch relations with the </a:t>
            </a:r>
            <a:r>
              <a:rPr lang="en-US" sz="2400" dirty="0" err="1">
                <a:latin typeface="Times New Roman" panose="02020603050405020304" pitchFamily="18" charset="0"/>
                <a:cs typeface="Times New Roman" panose="02020603050405020304" pitchFamily="18" charset="0"/>
              </a:rPr>
              <a:t>StaffBranch</a:t>
            </a:r>
            <a:r>
              <a:rPr lang="en-US" sz="24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271244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Redundancy</a:t>
            </a:r>
          </a:p>
        </p:txBody>
      </p:sp>
      <p:pic>
        <p:nvPicPr>
          <p:cNvPr id="6" name="Picture 5">
            <a:extLst>
              <a:ext uri="{FF2B5EF4-FFF2-40B4-BE49-F238E27FC236}">
                <a16:creationId xmlns:a16="http://schemas.microsoft.com/office/drawing/2014/main" id="{FA1B6167-D0BD-443D-A100-F8C1667ED0C5}"/>
              </a:ext>
            </a:extLst>
          </p:cNvPr>
          <p:cNvPicPr>
            <a:picLocks noChangeAspect="1"/>
          </p:cNvPicPr>
          <p:nvPr/>
        </p:nvPicPr>
        <p:blipFill>
          <a:blip r:embed="rId2"/>
          <a:stretch>
            <a:fillRect/>
          </a:stretch>
        </p:blipFill>
        <p:spPr>
          <a:xfrm>
            <a:off x="1945341" y="2615485"/>
            <a:ext cx="7807720" cy="2678409"/>
          </a:xfrm>
          <a:prstGeom prst="rect">
            <a:avLst/>
          </a:prstGeom>
        </p:spPr>
      </p:pic>
    </p:spTree>
    <p:extLst>
      <p:ext uri="{BB962C8B-B14F-4D97-AF65-F5344CB8AC3E}">
        <p14:creationId xmlns:p14="http://schemas.microsoft.com/office/powerpoint/2010/main" val="1323485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Redundancy</a:t>
            </a:r>
          </a:p>
        </p:txBody>
      </p:sp>
      <p:sp>
        <p:nvSpPr>
          <p:cNvPr id="11" name="TextBox 10">
            <a:extLst>
              <a:ext uri="{FF2B5EF4-FFF2-40B4-BE49-F238E27FC236}">
                <a16:creationId xmlns:a16="http://schemas.microsoft.com/office/drawing/2014/main" id="{2E506701-E823-48FA-AE1D-D6D536F49E19}"/>
              </a:ext>
            </a:extLst>
          </p:cNvPr>
          <p:cNvSpPr txBox="1"/>
          <p:nvPr/>
        </p:nvSpPr>
        <p:spPr>
          <a:xfrm>
            <a:off x="5426242" y="2303661"/>
            <a:ext cx="6569242" cy="3139321"/>
          </a:xfrm>
          <a:prstGeom prst="rect">
            <a:avLst/>
          </a:prstGeom>
          <a:noFill/>
        </p:spPr>
        <p:txBody>
          <a:bodyPr wrap="square">
            <a:spAutoFit/>
          </a:bodyPr>
          <a:lstStyle/>
          <a:p>
            <a:pPr marL="285750" indent="-285750" algn="just">
              <a:buFont typeface="Wingdings" panose="05000000000000000000" pitchFamily="2" charset="2"/>
              <a:buChar char="q"/>
            </a:pPr>
            <a:r>
              <a:rPr lang="en-US" dirty="0" err="1">
                <a:latin typeface="Times New Roman" panose="02020603050405020304" pitchFamily="18" charset="0"/>
                <a:cs typeface="Times New Roman" panose="02020603050405020304" pitchFamily="18" charset="0"/>
              </a:rPr>
              <a:t>StaffBranch</a:t>
            </a:r>
            <a:r>
              <a:rPr lang="en-US" dirty="0">
                <a:latin typeface="Times New Roman" panose="02020603050405020304" pitchFamily="18" charset="0"/>
                <a:cs typeface="Times New Roman" panose="02020603050405020304" pitchFamily="18" charset="0"/>
              </a:rPr>
              <a:t> relation has redundant data: details of a branch are repeated for every member of staff.</a:t>
            </a: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 contrast, branch information appears only once for each branch in Branch relation and only </a:t>
            </a:r>
            <a:r>
              <a:rPr lang="en-US" dirty="0" err="1">
                <a:latin typeface="Times New Roman" panose="02020603050405020304" pitchFamily="18" charset="0"/>
                <a:cs typeface="Times New Roman" panose="02020603050405020304" pitchFamily="18" charset="0"/>
              </a:rPr>
              <a:t>branchNo</a:t>
            </a:r>
            <a:r>
              <a:rPr lang="en-US" dirty="0">
                <a:latin typeface="Times New Roman" panose="02020603050405020304" pitchFamily="18" charset="0"/>
                <a:cs typeface="Times New Roman" panose="02020603050405020304" pitchFamily="18" charset="0"/>
              </a:rPr>
              <a:t> is repeated in Staff relation, to represent where each member of staff works</a:t>
            </a:r>
          </a:p>
        </p:txBody>
      </p:sp>
      <p:pic>
        <p:nvPicPr>
          <p:cNvPr id="8" name="Picture 7">
            <a:extLst>
              <a:ext uri="{FF2B5EF4-FFF2-40B4-BE49-F238E27FC236}">
                <a16:creationId xmlns:a16="http://schemas.microsoft.com/office/drawing/2014/main" id="{5A060167-0DCA-437E-A8F1-B98DD2918568}"/>
              </a:ext>
            </a:extLst>
          </p:cNvPr>
          <p:cNvPicPr>
            <a:picLocks noChangeAspect="1"/>
          </p:cNvPicPr>
          <p:nvPr/>
        </p:nvPicPr>
        <p:blipFill>
          <a:blip r:embed="rId2"/>
          <a:stretch>
            <a:fillRect/>
          </a:stretch>
        </p:blipFill>
        <p:spPr>
          <a:xfrm>
            <a:off x="336884" y="2149509"/>
            <a:ext cx="4306496" cy="1477327"/>
          </a:xfrm>
          <a:prstGeom prst="rect">
            <a:avLst/>
          </a:prstGeom>
        </p:spPr>
      </p:pic>
      <p:pic>
        <p:nvPicPr>
          <p:cNvPr id="9" name="Picture 8">
            <a:extLst>
              <a:ext uri="{FF2B5EF4-FFF2-40B4-BE49-F238E27FC236}">
                <a16:creationId xmlns:a16="http://schemas.microsoft.com/office/drawing/2014/main" id="{B904BED0-A267-4DB8-84AF-E2A25A6AA44B}"/>
              </a:ext>
            </a:extLst>
          </p:cNvPr>
          <p:cNvPicPr>
            <a:picLocks noChangeAspect="1"/>
          </p:cNvPicPr>
          <p:nvPr/>
        </p:nvPicPr>
        <p:blipFill>
          <a:blip r:embed="rId3"/>
          <a:stretch>
            <a:fillRect/>
          </a:stretch>
        </p:blipFill>
        <p:spPr>
          <a:xfrm>
            <a:off x="109673" y="4315829"/>
            <a:ext cx="2960935" cy="1477327"/>
          </a:xfrm>
          <a:prstGeom prst="rect">
            <a:avLst/>
          </a:prstGeom>
        </p:spPr>
      </p:pic>
      <p:pic>
        <p:nvPicPr>
          <p:cNvPr id="10" name="Picture 9">
            <a:extLst>
              <a:ext uri="{FF2B5EF4-FFF2-40B4-BE49-F238E27FC236}">
                <a16:creationId xmlns:a16="http://schemas.microsoft.com/office/drawing/2014/main" id="{15EA3AEE-EEAF-4F6E-9F1C-23A2A607DCAE}"/>
              </a:ext>
            </a:extLst>
          </p:cNvPr>
          <p:cNvPicPr>
            <a:picLocks noChangeAspect="1"/>
          </p:cNvPicPr>
          <p:nvPr/>
        </p:nvPicPr>
        <p:blipFill>
          <a:blip r:embed="rId4"/>
          <a:stretch>
            <a:fillRect/>
          </a:stretch>
        </p:blipFill>
        <p:spPr>
          <a:xfrm>
            <a:off x="3321492" y="4371294"/>
            <a:ext cx="1646181" cy="1366395"/>
          </a:xfrm>
          <a:prstGeom prst="rect">
            <a:avLst/>
          </a:prstGeom>
        </p:spPr>
      </p:pic>
      <p:cxnSp>
        <p:nvCxnSpPr>
          <p:cNvPr id="12" name="Straight Arrow Connector 11">
            <a:extLst>
              <a:ext uri="{FF2B5EF4-FFF2-40B4-BE49-F238E27FC236}">
                <a16:creationId xmlns:a16="http://schemas.microsoft.com/office/drawing/2014/main" id="{A84977DA-F2F3-4ADE-B23D-70225A915CE8}"/>
              </a:ext>
            </a:extLst>
          </p:cNvPr>
          <p:cNvCxnSpPr>
            <a:stCxn id="8" idx="2"/>
          </p:cNvCxnSpPr>
          <p:nvPr/>
        </p:nvCxnSpPr>
        <p:spPr>
          <a:xfrm>
            <a:off x="2490132" y="3626836"/>
            <a:ext cx="0" cy="58421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85247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Insertion Anomalies</a:t>
            </a:r>
          </a:p>
        </p:txBody>
      </p:sp>
      <p:sp>
        <p:nvSpPr>
          <p:cNvPr id="7" name="TextBox 6">
            <a:extLst>
              <a:ext uri="{FF2B5EF4-FFF2-40B4-BE49-F238E27FC236}">
                <a16:creationId xmlns:a16="http://schemas.microsoft.com/office/drawing/2014/main" id="{E27701F7-14C4-4788-A679-D05ABB3282A6}"/>
              </a:ext>
            </a:extLst>
          </p:cNvPr>
          <p:cNvSpPr txBox="1"/>
          <p:nvPr/>
        </p:nvSpPr>
        <p:spPr>
          <a:xfrm>
            <a:off x="397894" y="2106251"/>
            <a:ext cx="9463557" cy="378565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New member of staff joins branch B005</a:t>
            </a:r>
          </a:p>
          <a:p>
            <a:r>
              <a:rPr lang="en-US" sz="2400" dirty="0">
                <a:latin typeface="Times New Roman" panose="02020603050405020304" pitchFamily="18" charset="0"/>
                <a:cs typeface="Times New Roman" panose="02020603050405020304" pitchFamily="18" charset="0"/>
              </a:rPr>
              <a:t>● Insert new row into </a:t>
            </a:r>
            <a:r>
              <a:rPr lang="en-US" sz="2400" dirty="0" err="1">
                <a:latin typeface="Times New Roman" panose="02020603050405020304" pitchFamily="18" charset="0"/>
                <a:cs typeface="Times New Roman" panose="02020603050405020304" pitchFamily="18" charset="0"/>
              </a:rPr>
              <a:t>StaffBranch</a:t>
            </a:r>
            <a:r>
              <a:rPr lang="en-US" sz="2400" dirty="0">
                <a:latin typeface="Times New Roman" panose="02020603050405020304" pitchFamily="18" charset="0"/>
                <a:cs typeface="Times New Roman" panose="02020603050405020304" pitchFamily="18" charset="0"/>
              </a:rPr>
              <a:t> table</a:t>
            </a:r>
          </a:p>
          <a:p>
            <a:r>
              <a:rPr lang="en-US" sz="2400" dirty="0">
                <a:latin typeface="Times New Roman" panose="02020603050405020304" pitchFamily="18" charset="0"/>
                <a:cs typeface="Times New Roman" panose="02020603050405020304" pitchFamily="18" charset="0"/>
              </a:rPr>
              <a:t>● Type wrong address: 163 Main St, Glasgow.</a:t>
            </a:r>
          </a:p>
          <a:p>
            <a:r>
              <a:rPr lang="en-US" sz="2400" dirty="0">
                <a:latin typeface="Times New Roman" panose="02020603050405020304" pitchFamily="18" charset="0"/>
                <a:cs typeface="Times New Roman" panose="02020603050405020304" pitchFamily="18" charset="0"/>
              </a:rPr>
              <a:t>● Database is now inconsistent!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Establish new branch with no members of staff</a:t>
            </a:r>
          </a:p>
          <a:p>
            <a:r>
              <a:rPr lang="en-US" sz="2400" dirty="0">
                <a:latin typeface="Times New Roman" panose="02020603050405020304" pitchFamily="18" charset="0"/>
                <a:cs typeface="Times New Roman" panose="02020603050405020304" pitchFamily="18" charset="0"/>
              </a:rPr>
              <a:t>● B008, 57 Princes St, Edinburgh</a:t>
            </a:r>
          </a:p>
          <a:p>
            <a:r>
              <a:rPr lang="en-US" sz="2400" dirty="0">
                <a:latin typeface="Times New Roman" panose="02020603050405020304" pitchFamily="18" charset="0"/>
                <a:cs typeface="Times New Roman" panose="02020603050405020304" pitchFamily="18" charset="0"/>
              </a:rPr>
              <a:t>● No staff members, so </a:t>
            </a:r>
            <a:r>
              <a:rPr lang="en-US" sz="2400" dirty="0" err="1">
                <a:latin typeface="Times New Roman" panose="02020603050405020304" pitchFamily="18" charset="0"/>
                <a:cs typeface="Times New Roman" panose="02020603050405020304" pitchFamily="18" charset="0"/>
              </a:rPr>
              <a:t>staffNo</a:t>
            </a:r>
            <a:r>
              <a:rPr lang="en-US" sz="2400" dirty="0">
                <a:latin typeface="Times New Roman" panose="02020603050405020304" pitchFamily="18" charset="0"/>
                <a:cs typeface="Times New Roman" panose="02020603050405020304" pitchFamily="18" charset="0"/>
              </a:rPr>
              <a:t> must be NULL</a:t>
            </a:r>
          </a:p>
          <a:p>
            <a:r>
              <a:rPr lang="en-US" sz="2400" dirty="0">
                <a:latin typeface="Times New Roman" panose="02020603050405020304" pitchFamily="18" charset="0"/>
                <a:cs typeface="Times New Roman" panose="02020603050405020304" pitchFamily="18" charset="0"/>
              </a:rPr>
              <a:t>● But </a:t>
            </a:r>
            <a:r>
              <a:rPr lang="en-US" sz="2400" dirty="0" err="1">
                <a:latin typeface="Times New Roman" panose="02020603050405020304" pitchFamily="18" charset="0"/>
                <a:cs typeface="Times New Roman" panose="02020603050405020304" pitchFamily="18" charset="0"/>
              </a:rPr>
              <a:t>staffNo</a:t>
            </a:r>
            <a:r>
              <a:rPr lang="en-US" sz="2400" dirty="0">
                <a:latin typeface="Times New Roman" panose="02020603050405020304" pitchFamily="18" charset="0"/>
                <a:cs typeface="Times New Roman" panose="02020603050405020304" pitchFamily="18" charset="0"/>
              </a:rPr>
              <a:t> is the primary key of the </a:t>
            </a:r>
            <a:r>
              <a:rPr lang="en-US" sz="2400" dirty="0" err="1">
                <a:latin typeface="Times New Roman" panose="02020603050405020304" pitchFamily="18" charset="0"/>
                <a:cs typeface="Times New Roman" panose="02020603050405020304" pitchFamily="18" charset="0"/>
              </a:rPr>
              <a:t>StaffBranch</a:t>
            </a:r>
            <a:r>
              <a:rPr lang="en-US" sz="2400" dirty="0">
                <a:latin typeface="Times New Roman" panose="02020603050405020304" pitchFamily="18" charset="0"/>
                <a:cs typeface="Times New Roman" panose="02020603050405020304" pitchFamily="18" charset="0"/>
              </a:rPr>
              <a:t> table, so</a:t>
            </a:r>
          </a:p>
          <a:p>
            <a:r>
              <a:rPr lang="en-US" sz="2400" dirty="0">
                <a:latin typeface="Times New Roman" panose="02020603050405020304" pitchFamily="18" charset="0"/>
                <a:cs typeface="Times New Roman" panose="02020603050405020304" pitchFamily="18" charset="0"/>
              </a:rPr>
              <a:t>cannot be NULL!</a:t>
            </a:r>
          </a:p>
        </p:txBody>
      </p:sp>
      <p:pic>
        <p:nvPicPr>
          <p:cNvPr id="4" name="Picture 3">
            <a:extLst>
              <a:ext uri="{FF2B5EF4-FFF2-40B4-BE49-F238E27FC236}">
                <a16:creationId xmlns:a16="http://schemas.microsoft.com/office/drawing/2014/main" id="{EF9C20A4-4F7A-4F00-A316-ACDBB2238877}"/>
              </a:ext>
            </a:extLst>
          </p:cNvPr>
          <p:cNvPicPr>
            <a:picLocks noChangeAspect="1"/>
          </p:cNvPicPr>
          <p:nvPr/>
        </p:nvPicPr>
        <p:blipFill>
          <a:blip r:embed="rId2"/>
          <a:stretch>
            <a:fillRect/>
          </a:stretch>
        </p:blipFill>
        <p:spPr>
          <a:xfrm>
            <a:off x="6675593" y="2142346"/>
            <a:ext cx="5118513" cy="1755886"/>
          </a:xfrm>
          <a:prstGeom prst="rect">
            <a:avLst/>
          </a:prstGeom>
        </p:spPr>
      </p:pic>
    </p:spTree>
    <p:extLst>
      <p:ext uri="{BB962C8B-B14F-4D97-AF65-F5344CB8AC3E}">
        <p14:creationId xmlns:p14="http://schemas.microsoft.com/office/powerpoint/2010/main" val="1982513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Deletion Anomalies</a:t>
            </a:r>
          </a:p>
        </p:txBody>
      </p:sp>
      <p:sp>
        <p:nvSpPr>
          <p:cNvPr id="7" name="TextBox 6">
            <a:extLst>
              <a:ext uri="{FF2B5EF4-FFF2-40B4-BE49-F238E27FC236}">
                <a16:creationId xmlns:a16="http://schemas.microsoft.com/office/drawing/2014/main" id="{E27701F7-14C4-4788-A679-D05ABB3282A6}"/>
              </a:ext>
            </a:extLst>
          </p:cNvPr>
          <p:cNvSpPr txBox="1"/>
          <p:nvPr/>
        </p:nvSpPr>
        <p:spPr>
          <a:xfrm>
            <a:off x="294501" y="2176588"/>
            <a:ext cx="5801499" cy="3046988"/>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Mary Howe, </a:t>
            </a:r>
            <a:r>
              <a:rPr lang="en-US" sz="2400" dirty="0" err="1">
                <a:latin typeface="Times New Roman" panose="02020603050405020304" pitchFamily="18" charset="0"/>
                <a:cs typeface="Times New Roman" panose="02020603050405020304" pitchFamily="18" charset="0"/>
              </a:rPr>
              <a:t>staffNo</a:t>
            </a:r>
            <a:r>
              <a:rPr lang="en-US" sz="2400" dirty="0">
                <a:latin typeface="Times New Roman" panose="02020603050405020304" pitchFamily="18" charset="0"/>
                <a:cs typeface="Times New Roman" panose="02020603050405020304" pitchFamily="18" charset="0"/>
              </a:rPr>
              <a:t> SA9, leaves the company</a:t>
            </a:r>
          </a:p>
          <a:p>
            <a:r>
              <a:rPr lang="en-US" sz="2400" dirty="0">
                <a:latin typeface="Times New Roman" panose="02020603050405020304" pitchFamily="18" charset="0"/>
                <a:cs typeface="Times New Roman" panose="02020603050405020304" pitchFamily="18" charset="0"/>
              </a:rPr>
              <a:t>● Delete the appropriate row of </a:t>
            </a:r>
            <a:r>
              <a:rPr lang="en-US" sz="2400" dirty="0" err="1">
                <a:latin typeface="Times New Roman" panose="02020603050405020304" pitchFamily="18" charset="0"/>
                <a:cs typeface="Times New Roman" panose="02020603050405020304" pitchFamily="18" charset="0"/>
              </a:rPr>
              <a:t>StaffBranch</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This also deletes details of branch B007 where Mary Howe works</a:t>
            </a:r>
          </a:p>
          <a:p>
            <a:r>
              <a:rPr lang="en-US" sz="2400" dirty="0">
                <a:latin typeface="Times New Roman" panose="02020603050405020304" pitchFamily="18" charset="0"/>
                <a:cs typeface="Times New Roman" panose="02020603050405020304" pitchFamily="18" charset="0"/>
              </a:rPr>
              <a:t>● But no-one else works at branch B007, so we no longer know the address of this branch!</a:t>
            </a:r>
          </a:p>
        </p:txBody>
      </p:sp>
      <p:pic>
        <p:nvPicPr>
          <p:cNvPr id="4" name="Picture 3">
            <a:extLst>
              <a:ext uri="{FF2B5EF4-FFF2-40B4-BE49-F238E27FC236}">
                <a16:creationId xmlns:a16="http://schemas.microsoft.com/office/drawing/2014/main" id="{91D67F5A-1C61-467B-B580-4D664EF7C6AF}"/>
              </a:ext>
            </a:extLst>
          </p:cNvPr>
          <p:cNvPicPr>
            <a:picLocks noChangeAspect="1"/>
          </p:cNvPicPr>
          <p:nvPr/>
        </p:nvPicPr>
        <p:blipFill>
          <a:blip r:embed="rId2"/>
          <a:stretch>
            <a:fillRect/>
          </a:stretch>
        </p:blipFill>
        <p:spPr>
          <a:xfrm>
            <a:off x="6675593" y="2142345"/>
            <a:ext cx="5118513" cy="1996517"/>
          </a:xfrm>
          <a:prstGeom prst="rect">
            <a:avLst/>
          </a:prstGeom>
        </p:spPr>
      </p:pic>
    </p:spTree>
    <p:extLst>
      <p:ext uri="{BB962C8B-B14F-4D97-AF65-F5344CB8AC3E}">
        <p14:creationId xmlns:p14="http://schemas.microsoft.com/office/powerpoint/2010/main" val="20655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Modification Anomalies</a:t>
            </a:r>
          </a:p>
        </p:txBody>
      </p:sp>
      <p:sp>
        <p:nvSpPr>
          <p:cNvPr id="7" name="TextBox 6">
            <a:extLst>
              <a:ext uri="{FF2B5EF4-FFF2-40B4-BE49-F238E27FC236}">
                <a16:creationId xmlns:a16="http://schemas.microsoft.com/office/drawing/2014/main" id="{E27701F7-14C4-4788-A679-D05ABB3282A6}"/>
              </a:ext>
            </a:extLst>
          </p:cNvPr>
          <p:cNvSpPr txBox="1"/>
          <p:nvPr/>
        </p:nvSpPr>
        <p:spPr>
          <a:xfrm>
            <a:off x="299422" y="2148452"/>
            <a:ext cx="6029190" cy="156966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Branch B003 has transferred to a new location</a:t>
            </a:r>
          </a:p>
          <a:p>
            <a:r>
              <a:rPr lang="en-US" sz="2400" dirty="0">
                <a:latin typeface="Times New Roman" panose="02020603050405020304" pitchFamily="18" charset="0"/>
                <a:cs typeface="Times New Roman" panose="02020603050405020304" pitchFamily="18" charset="0"/>
              </a:rPr>
              <a:t>● New address is 145 Main St, Glasgow</a:t>
            </a:r>
          </a:p>
          <a:p>
            <a:r>
              <a:rPr lang="en-US" sz="2400" dirty="0">
                <a:latin typeface="Times New Roman" panose="02020603050405020304" pitchFamily="18" charset="0"/>
                <a:cs typeface="Times New Roman" panose="02020603050405020304" pitchFamily="18" charset="0"/>
              </a:rPr>
              <a:t>● Must change three rows of the </a:t>
            </a:r>
            <a:r>
              <a:rPr lang="en-US" sz="2400" dirty="0" err="1">
                <a:latin typeface="Times New Roman" panose="02020603050405020304" pitchFamily="18" charset="0"/>
                <a:cs typeface="Times New Roman" panose="02020603050405020304" pitchFamily="18" charset="0"/>
              </a:rPr>
              <a:t>StaffBranch</a:t>
            </a:r>
            <a:r>
              <a:rPr lang="en-US" sz="2400" dirty="0">
                <a:latin typeface="Times New Roman" panose="02020603050405020304" pitchFamily="18" charset="0"/>
                <a:cs typeface="Times New Roman" panose="02020603050405020304" pitchFamily="18" charset="0"/>
              </a:rPr>
              <a:t> relation</a:t>
            </a:r>
          </a:p>
        </p:txBody>
      </p:sp>
      <p:pic>
        <p:nvPicPr>
          <p:cNvPr id="4" name="Picture 3">
            <a:extLst>
              <a:ext uri="{FF2B5EF4-FFF2-40B4-BE49-F238E27FC236}">
                <a16:creationId xmlns:a16="http://schemas.microsoft.com/office/drawing/2014/main" id="{6E9C5C35-583F-4B5B-A2AC-8AD9DF166289}"/>
              </a:ext>
            </a:extLst>
          </p:cNvPr>
          <p:cNvPicPr>
            <a:picLocks noChangeAspect="1"/>
          </p:cNvPicPr>
          <p:nvPr/>
        </p:nvPicPr>
        <p:blipFill>
          <a:blip r:embed="rId2"/>
          <a:stretch>
            <a:fillRect/>
          </a:stretch>
        </p:blipFill>
        <p:spPr>
          <a:xfrm>
            <a:off x="6675593" y="2142346"/>
            <a:ext cx="5118513" cy="1755886"/>
          </a:xfrm>
          <a:prstGeom prst="rect">
            <a:avLst/>
          </a:prstGeom>
        </p:spPr>
      </p:pic>
    </p:spTree>
    <p:extLst>
      <p:ext uri="{BB962C8B-B14F-4D97-AF65-F5344CB8AC3E}">
        <p14:creationId xmlns:p14="http://schemas.microsoft.com/office/powerpoint/2010/main" val="3769766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7895" y="475979"/>
            <a:ext cx="5219804" cy="1088136"/>
          </a:xfrm>
        </p:spPr>
        <p:txBody>
          <a:bodyPr>
            <a:normAutofit/>
          </a:bodyPr>
          <a:lstStyle/>
          <a:p>
            <a:r>
              <a:rPr lang="en-US" dirty="0"/>
              <a:t>1st Normal Form</a:t>
            </a:r>
          </a:p>
        </p:txBody>
      </p:sp>
      <p:sp>
        <p:nvSpPr>
          <p:cNvPr id="7" name="TextBox 6">
            <a:extLst>
              <a:ext uri="{FF2B5EF4-FFF2-40B4-BE49-F238E27FC236}">
                <a16:creationId xmlns:a16="http://schemas.microsoft.com/office/drawing/2014/main" id="{E27701F7-14C4-4788-A679-D05ABB3282A6}"/>
              </a:ext>
            </a:extLst>
          </p:cNvPr>
          <p:cNvSpPr txBox="1"/>
          <p:nvPr/>
        </p:nvSpPr>
        <p:spPr>
          <a:xfrm>
            <a:off x="1945341" y="2136338"/>
            <a:ext cx="9491693"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relation in which intersection of each row and column contains one and only one value. Each column contains only one value and no duplicate rows are allowed. If no unique is present add a unique key (primary key)</a:t>
            </a:r>
          </a:p>
        </p:txBody>
      </p:sp>
      <p:graphicFrame>
        <p:nvGraphicFramePr>
          <p:cNvPr id="4" name="Table 4">
            <a:extLst>
              <a:ext uri="{FF2B5EF4-FFF2-40B4-BE49-F238E27FC236}">
                <a16:creationId xmlns:a16="http://schemas.microsoft.com/office/drawing/2014/main" id="{FE6A522E-14AA-478D-B14B-A2FE7F7C807C}"/>
              </a:ext>
            </a:extLst>
          </p:cNvPr>
          <p:cNvGraphicFramePr>
            <a:graphicFrameLocks noGrp="1"/>
          </p:cNvGraphicFramePr>
          <p:nvPr>
            <p:extLst>
              <p:ext uri="{D42A27DB-BD31-4B8C-83A1-F6EECF244321}">
                <p14:modId xmlns:p14="http://schemas.microsoft.com/office/powerpoint/2010/main" val="2637181195"/>
              </p:ext>
            </p:extLst>
          </p:nvPr>
        </p:nvGraphicFramePr>
        <p:xfrm>
          <a:off x="397895" y="3120135"/>
          <a:ext cx="11644049" cy="2538044"/>
        </p:xfrm>
        <a:graphic>
          <a:graphicData uri="http://schemas.openxmlformats.org/drawingml/2006/table">
            <a:tbl>
              <a:tblPr firstRow="1" bandRow="1">
                <a:tableStyleId>{5940675A-B579-460E-94D1-54222C63F5DA}</a:tableStyleId>
              </a:tblPr>
              <a:tblGrid>
                <a:gridCol w="896333">
                  <a:extLst>
                    <a:ext uri="{9D8B030D-6E8A-4147-A177-3AD203B41FA5}">
                      <a16:colId xmlns:a16="http://schemas.microsoft.com/office/drawing/2014/main" val="2152645353"/>
                    </a:ext>
                  </a:extLst>
                </a:gridCol>
                <a:gridCol w="858129">
                  <a:extLst>
                    <a:ext uri="{9D8B030D-6E8A-4147-A177-3AD203B41FA5}">
                      <a16:colId xmlns:a16="http://schemas.microsoft.com/office/drawing/2014/main" val="1834078718"/>
                    </a:ext>
                  </a:extLst>
                </a:gridCol>
                <a:gridCol w="1322363">
                  <a:extLst>
                    <a:ext uri="{9D8B030D-6E8A-4147-A177-3AD203B41FA5}">
                      <a16:colId xmlns:a16="http://schemas.microsoft.com/office/drawing/2014/main" val="986980089"/>
                    </a:ext>
                  </a:extLst>
                </a:gridCol>
                <a:gridCol w="641198">
                  <a:extLst>
                    <a:ext uri="{9D8B030D-6E8A-4147-A177-3AD203B41FA5}">
                      <a16:colId xmlns:a16="http://schemas.microsoft.com/office/drawing/2014/main" val="619471652"/>
                    </a:ext>
                  </a:extLst>
                </a:gridCol>
                <a:gridCol w="1103196">
                  <a:extLst>
                    <a:ext uri="{9D8B030D-6E8A-4147-A177-3AD203B41FA5}">
                      <a16:colId xmlns:a16="http://schemas.microsoft.com/office/drawing/2014/main" val="2512641716"/>
                    </a:ext>
                  </a:extLst>
                </a:gridCol>
                <a:gridCol w="1125415">
                  <a:extLst>
                    <a:ext uri="{9D8B030D-6E8A-4147-A177-3AD203B41FA5}">
                      <a16:colId xmlns:a16="http://schemas.microsoft.com/office/drawing/2014/main" val="1517753523"/>
                    </a:ext>
                  </a:extLst>
                </a:gridCol>
                <a:gridCol w="928468">
                  <a:extLst>
                    <a:ext uri="{9D8B030D-6E8A-4147-A177-3AD203B41FA5}">
                      <a16:colId xmlns:a16="http://schemas.microsoft.com/office/drawing/2014/main" val="3906433867"/>
                    </a:ext>
                  </a:extLst>
                </a:gridCol>
                <a:gridCol w="1308295">
                  <a:extLst>
                    <a:ext uri="{9D8B030D-6E8A-4147-A177-3AD203B41FA5}">
                      <a16:colId xmlns:a16="http://schemas.microsoft.com/office/drawing/2014/main" val="1958570845"/>
                    </a:ext>
                  </a:extLst>
                </a:gridCol>
                <a:gridCol w="2236763">
                  <a:extLst>
                    <a:ext uri="{9D8B030D-6E8A-4147-A177-3AD203B41FA5}">
                      <a16:colId xmlns:a16="http://schemas.microsoft.com/office/drawing/2014/main" val="793824382"/>
                    </a:ext>
                  </a:extLst>
                </a:gridCol>
                <a:gridCol w="1223889">
                  <a:extLst>
                    <a:ext uri="{9D8B030D-6E8A-4147-A177-3AD203B41FA5}">
                      <a16:colId xmlns:a16="http://schemas.microsoft.com/office/drawing/2014/main" val="3916905823"/>
                    </a:ext>
                  </a:extLst>
                </a:gridCol>
              </a:tblGrid>
              <a:tr h="693876">
                <a:tc>
                  <a:txBody>
                    <a:bodyPr/>
                    <a:lstStyle/>
                    <a:p>
                      <a:pPr algn="ctr"/>
                      <a:r>
                        <a:rPr lang="en-US" sz="1600" b="1" dirty="0"/>
                        <a:t>Student </a:t>
                      </a:r>
                    </a:p>
                    <a:p>
                      <a:pPr algn="ctr"/>
                      <a:r>
                        <a:rPr lang="en-US" sz="1600" b="1" dirty="0"/>
                        <a:t>ID</a:t>
                      </a:r>
                    </a:p>
                  </a:txBody>
                  <a:tcPr>
                    <a:solidFill>
                      <a:schemeClr val="bg2">
                        <a:lumMod val="50000"/>
                      </a:schemeClr>
                    </a:solidFill>
                  </a:tcPr>
                </a:tc>
                <a:tc>
                  <a:txBody>
                    <a:bodyPr/>
                    <a:lstStyle/>
                    <a:p>
                      <a:pPr algn="ctr"/>
                      <a:r>
                        <a:rPr lang="en-US" sz="1600" b="1" dirty="0"/>
                        <a:t>Student</a:t>
                      </a:r>
                    </a:p>
                    <a:p>
                      <a:pPr algn="ctr"/>
                      <a:r>
                        <a:rPr lang="en-US" sz="1600" b="1" dirty="0"/>
                        <a:t>Name</a:t>
                      </a:r>
                    </a:p>
                  </a:txBody>
                  <a:tcPr>
                    <a:solidFill>
                      <a:schemeClr val="bg2">
                        <a:lumMod val="50000"/>
                      </a:schemeClr>
                    </a:solidFill>
                  </a:tcPr>
                </a:tc>
                <a:tc>
                  <a:txBody>
                    <a:bodyPr/>
                    <a:lstStyle/>
                    <a:p>
                      <a:pPr algn="ctr"/>
                      <a:r>
                        <a:rPr lang="en-US" sz="1600" b="1" dirty="0"/>
                        <a:t>Address</a:t>
                      </a:r>
                    </a:p>
                  </a:txBody>
                  <a:tcPr>
                    <a:solidFill>
                      <a:schemeClr val="bg2">
                        <a:lumMod val="50000"/>
                      </a:schemeClr>
                    </a:solidFill>
                  </a:tcPr>
                </a:tc>
                <a:tc>
                  <a:txBody>
                    <a:bodyPr/>
                    <a:lstStyle/>
                    <a:p>
                      <a:pPr algn="ctr"/>
                      <a:r>
                        <a:rPr lang="en-US" sz="1600" b="1" dirty="0"/>
                        <a:t>CGPA</a:t>
                      </a:r>
                    </a:p>
                  </a:txBody>
                  <a:tcPr>
                    <a:solidFill>
                      <a:schemeClr val="bg2">
                        <a:lumMod val="50000"/>
                      </a:schemeClr>
                    </a:solidFill>
                  </a:tcPr>
                </a:tc>
                <a:tc>
                  <a:txBody>
                    <a:bodyPr/>
                    <a:lstStyle/>
                    <a:p>
                      <a:pPr algn="ctr"/>
                      <a:r>
                        <a:rPr lang="en-US" sz="1600" b="1" dirty="0"/>
                        <a:t>Course </a:t>
                      </a:r>
                    </a:p>
                    <a:p>
                      <a:pPr algn="ctr"/>
                      <a:r>
                        <a:rPr lang="en-US" sz="1600" b="1" dirty="0"/>
                        <a:t>ID</a:t>
                      </a:r>
                    </a:p>
                  </a:txBody>
                  <a:tcPr>
                    <a:solidFill>
                      <a:schemeClr val="bg2">
                        <a:lumMod val="50000"/>
                      </a:schemeClr>
                    </a:solidFill>
                  </a:tcPr>
                </a:tc>
                <a:tc>
                  <a:txBody>
                    <a:bodyPr/>
                    <a:lstStyle/>
                    <a:p>
                      <a:pPr algn="ctr"/>
                      <a:r>
                        <a:rPr lang="en-US" sz="1600" b="1" dirty="0"/>
                        <a:t>Course</a:t>
                      </a:r>
                    </a:p>
                    <a:p>
                      <a:pPr algn="ctr"/>
                      <a:r>
                        <a:rPr lang="en-US" sz="1600" b="1" dirty="0"/>
                        <a:t>Title</a:t>
                      </a:r>
                    </a:p>
                  </a:txBody>
                  <a:tcPr>
                    <a:solidFill>
                      <a:schemeClr val="bg2">
                        <a:lumMod val="50000"/>
                      </a:schemeClr>
                    </a:solidFill>
                  </a:tcPr>
                </a:tc>
                <a:tc>
                  <a:txBody>
                    <a:bodyPr/>
                    <a:lstStyle/>
                    <a:p>
                      <a:pPr algn="ctr"/>
                      <a:r>
                        <a:rPr lang="en-US" sz="1600" b="1" dirty="0"/>
                        <a:t>Course</a:t>
                      </a:r>
                    </a:p>
                    <a:p>
                      <a:pPr algn="ctr"/>
                      <a:r>
                        <a:rPr lang="en-US" sz="1600" b="1" dirty="0"/>
                        <a:t>Grade</a:t>
                      </a:r>
                    </a:p>
                  </a:txBody>
                  <a:tcPr>
                    <a:solidFill>
                      <a:schemeClr val="bg2">
                        <a:lumMod val="50000"/>
                      </a:schemeClr>
                    </a:solidFill>
                  </a:tcPr>
                </a:tc>
                <a:tc>
                  <a:txBody>
                    <a:bodyPr/>
                    <a:lstStyle/>
                    <a:p>
                      <a:pPr algn="ctr"/>
                      <a:r>
                        <a:rPr lang="en-US" sz="1600" b="1" dirty="0"/>
                        <a:t>Faculty</a:t>
                      </a:r>
                    </a:p>
                    <a:p>
                      <a:pPr algn="ctr"/>
                      <a:r>
                        <a:rPr lang="en-US" sz="1600" b="1" dirty="0"/>
                        <a:t>Name</a:t>
                      </a:r>
                    </a:p>
                  </a:txBody>
                  <a:tcPr>
                    <a:solidFill>
                      <a:schemeClr val="bg2">
                        <a:lumMod val="50000"/>
                      </a:schemeClr>
                    </a:solidFill>
                  </a:tcPr>
                </a:tc>
                <a:tc>
                  <a:txBody>
                    <a:bodyPr/>
                    <a:lstStyle/>
                    <a:p>
                      <a:pPr algn="ctr"/>
                      <a:r>
                        <a:rPr lang="en-US" sz="1600" b="1" dirty="0"/>
                        <a:t>Faculty </a:t>
                      </a:r>
                    </a:p>
                    <a:p>
                      <a:pPr algn="ctr"/>
                      <a:r>
                        <a:rPr lang="en-US" sz="1600" b="1" dirty="0"/>
                        <a:t>Designation</a:t>
                      </a:r>
                    </a:p>
                  </a:txBody>
                  <a:tcPr>
                    <a:solidFill>
                      <a:schemeClr val="bg2">
                        <a:lumMod val="50000"/>
                      </a:schemeClr>
                    </a:solidFill>
                  </a:tcPr>
                </a:tc>
                <a:tc>
                  <a:txBody>
                    <a:bodyPr/>
                    <a:lstStyle/>
                    <a:p>
                      <a:pPr algn="ctr"/>
                      <a:r>
                        <a:rPr lang="en-US" sz="1600" b="1" dirty="0"/>
                        <a:t>Faculty ID</a:t>
                      </a:r>
                    </a:p>
                  </a:txBody>
                  <a:tcPr>
                    <a:solidFill>
                      <a:schemeClr val="bg2">
                        <a:lumMod val="50000"/>
                      </a:schemeClr>
                    </a:solidFill>
                  </a:tcPr>
                </a:tc>
                <a:extLst>
                  <a:ext uri="{0D108BD9-81ED-4DB2-BD59-A6C34878D82A}">
                    <a16:rowId xmlns:a16="http://schemas.microsoft.com/office/drawing/2014/main" val="2528340938"/>
                  </a:ext>
                </a:extLst>
              </a:tr>
              <a:tr h="759363">
                <a:tc>
                  <a:txBody>
                    <a:bodyPr/>
                    <a:lstStyle/>
                    <a:p>
                      <a:pPr algn="ctr"/>
                      <a:r>
                        <a:rPr lang="en-US" sz="1600" dirty="0"/>
                        <a:t>10</a:t>
                      </a:r>
                    </a:p>
                  </a:txBody>
                  <a:tcPr>
                    <a:solidFill>
                      <a:schemeClr val="bg2">
                        <a:lumMod val="90000"/>
                      </a:schemeClr>
                    </a:solidFill>
                  </a:tcPr>
                </a:tc>
                <a:tc>
                  <a:txBody>
                    <a:bodyPr/>
                    <a:lstStyle/>
                    <a:p>
                      <a:pPr algn="ctr"/>
                      <a:r>
                        <a:rPr lang="en-US" sz="1600" dirty="0"/>
                        <a:t>Timmy</a:t>
                      </a:r>
                    </a:p>
                  </a:txBody>
                  <a:tcPr>
                    <a:solidFill>
                      <a:schemeClr val="bg2">
                        <a:lumMod val="90000"/>
                      </a:schemeClr>
                    </a:solidFill>
                  </a:tcPr>
                </a:tc>
                <a:tc>
                  <a:txBody>
                    <a:bodyPr/>
                    <a:lstStyle/>
                    <a:p>
                      <a:pPr algn="ctr"/>
                      <a:r>
                        <a:rPr lang="en-US" sz="1600" dirty="0"/>
                        <a:t>800/2, Gulshan</a:t>
                      </a:r>
                    </a:p>
                  </a:txBody>
                  <a:tcPr>
                    <a:solidFill>
                      <a:schemeClr val="bg2">
                        <a:lumMod val="90000"/>
                      </a:schemeClr>
                    </a:solidFill>
                  </a:tcPr>
                </a:tc>
                <a:tc>
                  <a:txBody>
                    <a:bodyPr/>
                    <a:lstStyle/>
                    <a:p>
                      <a:pPr algn="ctr"/>
                      <a:r>
                        <a:rPr lang="en-US" sz="1600" dirty="0"/>
                        <a:t>3.48</a:t>
                      </a:r>
                    </a:p>
                  </a:txBody>
                  <a:tcPr>
                    <a:solidFill>
                      <a:schemeClr val="bg2">
                        <a:lumMod val="90000"/>
                      </a:schemeClr>
                    </a:solidFill>
                  </a:tcPr>
                </a:tc>
                <a:tc>
                  <a:txBody>
                    <a:bodyPr/>
                    <a:lstStyle/>
                    <a:p>
                      <a:pPr algn="ctr"/>
                      <a:r>
                        <a:rPr lang="en-US" sz="1600" dirty="0"/>
                        <a:t>ENG101</a:t>
                      </a:r>
                    </a:p>
                    <a:p>
                      <a:pPr algn="ctr"/>
                      <a:r>
                        <a:rPr lang="en-US" sz="1600" dirty="0"/>
                        <a:t>FS05</a:t>
                      </a:r>
                    </a:p>
                  </a:txBody>
                  <a:tcPr>
                    <a:solidFill>
                      <a:schemeClr val="bg2">
                        <a:lumMod val="90000"/>
                      </a:schemeClr>
                    </a:solidFill>
                  </a:tcPr>
                </a:tc>
                <a:tc>
                  <a:txBody>
                    <a:bodyPr/>
                    <a:lstStyle/>
                    <a:p>
                      <a:pPr algn="ctr"/>
                      <a:r>
                        <a:rPr lang="en-US" sz="1600" dirty="0"/>
                        <a:t>English-2</a:t>
                      </a:r>
                    </a:p>
                    <a:p>
                      <a:pPr algn="ctr"/>
                      <a:r>
                        <a:rPr lang="en-US" sz="1600" dirty="0"/>
                        <a:t>Physics-1</a:t>
                      </a:r>
                    </a:p>
                  </a:txBody>
                  <a:tcPr>
                    <a:solidFill>
                      <a:schemeClr val="bg2">
                        <a:lumMod val="90000"/>
                      </a:schemeClr>
                    </a:solidFill>
                  </a:tcPr>
                </a:tc>
                <a:tc>
                  <a:txBody>
                    <a:bodyPr/>
                    <a:lstStyle/>
                    <a:p>
                      <a:pPr algn="ctr"/>
                      <a:r>
                        <a:rPr lang="en-US" sz="1600" dirty="0"/>
                        <a:t>A+</a:t>
                      </a:r>
                    </a:p>
                    <a:p>
                      <a:pPr algn="ctr"/>
                      <a:r>
                        <a:rPr lang="en-US" sz="1600" dirty="0"/>
                        <a:t>B</a:t>
                      </a:r>
                    </a:p>
                  </a:txBody>
                  <a:tcPr>
                    <a:solidFill>
                      <a:schemeClr val="bg2">
                        <a:lumMod val="90000"/>
                      </a:schemeClr>
                    </a:solidFill>
                  </a:tcPr>
                </a:tc>
                <a:tc>
                  <a:txBody>
                    <a:bodyPr/>
                    <a:lstStyle/>
                    <a:p>
                      <a:pPr algn="ctr"/>
                      <a:r>
                        <a:rPr lang="en-US" sz="1600" dirty="0"/>
                        <a:t>MR. Ron</a:t>
                      </a:r>
                    </a:p>
                    <a:p>
                      <a:pPr algn="ctr"/>
                      <a:r>
                        <a:rPr lang="en-US" sz="1600" dirty="0"/>
                        <a:t>MS. Mira</a:t>
                      </a:r>
                    </a:p>
                  </a:txBody>
                  <a:tcPr>
                    <a:solidFill>
                      <a:schemeClr val="bg2">
                        <a:lumMod val="90000"/>
                      </a:schemeClr>
                    </a:solidFill>
                  </a:tcPr>
                </a:tc>
                <a:tc>
                  <a:txBody>
                    <a:bodyPr/>
                    <a:lstStyle/>
                    <a:p>
                      <a:pPr algn="ctr"/>
                      <a:r>
                        <a:rPr lang="en-US" sz="1600" dirty="0"/>
                        <a:t>Lecturer</a:t>
                      </a:r>
                    </a:p>
                    <a:p>
                      <a:pPr algn="ctr"/>
                      <a:r>
                        <a:rPr lang="en-US" sz="1600" dirty="0"/>
                        <a:t>Assistant Professor</a:t>
                      </a:r>
                    </a:p>
                  </a:txBody>
                  <a:tcPr>
                    <a:solidFill>
                      <a:schemeClr val="bg2">
                        <a:lumMod val="90000"/>
                      </a:schemeClr>
                    </a:solidFill>
                  </a:tcPr>
                </a:tc>
                <a:tc>
                  <a:txBody>
                    <a:bodyPr/>
                    <a:lstStyle/>
                    <a:p>
                      <a:pPr algn="ctr"/>
                      <a:r>
                        <a:rPr lang="en-US" sz="1600" dirty="0"/>
                        <a:t>333</a:t>
                      </a:r>
                    </a:p>
                    <a:p>
                      <a:pPr algn="ctr"/>
                      <a:r>
                        <a:rPr lang="en-US" sz="1600" dirty="0"/>
                        <a:t>555</a:t>
                      </a:r>
                    </a:p>
                  </a:txBody>
                  <a:tcPr>
                    <a:solidFill>
                      <a:schemeClr val="bg2">
                        <a:lumMod val="90000"/>
                      </a:schemeClr>
                    </a:solidFill>
                  </a:tcPr>
                </a:tc>
                <a:extLst>
                  <a:ext uri="{0D108BD9-81ED-4DB2-BD59-A6C34878D82A}">
                    <a16:rowId xmlns:a16="http://schemas.microsoft.com/office/drawing/2014/main" val="1009276669"/>
                  </a:ext>
                </a:extLst>
              </a:tr>
              <a:tr h="1084805">
                <a:tc>
                  <a:txBody>
                    <a:bodyPr/>
                    <a:lstStyle/>
                    <a:p>
                      <a:pPr algn="ctr"/>
                      <a:r>
                        <a:rPr lang="en-US" sz="1600" dirty="0"/>
                        <a:t>20</a:t>
                      </a:r>
                    </a:p>
                  </a:txBody>
                  <a:tcPr>
                    <a:solidFill>
                      <a:schemeClr val="bg2">
                        <a:lumMod val="90000"/>
                      </a:schemeClr>
                    </a:solidFill>
                  </a:tcPr>
                </a:tc>
                <a:tc>
                  <a:txBody>
                    <a:bodyPr/>
                    <a:lstStyle/>
                    <a:p>
                      <a:pPr algn="ctr"/>
                      <a:r>
                        <a:rPr lang="en-US" sz="1600" dirty="0" err="1"/>
                        <a:t>Rimmy</a:t>
                      </a:r>
                      <a:endParaRPr lang="en-US" sz="1600" dirty="0"/>
                    </a:p>
                  </a:txBody>
                  <a:tcPr>
                    <a:solidFill>
                      <a:schemeClr val="bg2">
                        <a:lumMod val="90000"/>
                      </a:schemeClr>
                    </a:solidFill>
                  </a:tcPr>
                </a:tc>
                <a:tc>
                  <a:txBody>
                    <a:bodyPr/>
                    <a:lstStyle/>
                    <a:p>
                      <a:pPr algn="ctr"/>
                      <a:r>
                        <a:rPr lang="en-US" sz="1600" dirty="0"/>
                        <a:t>60/A,</a:t>
                      </a:r>
                    </a:p>
                    <a:p>
                      <a:pPr algn="ctr"/>
                      <a:r>
                        <a:rPr lang="en-US" sz="1600" dirty="0" err="1"/>
                        <a:t>Boshundhora</a:t>
                      </a:r>
                      <a:endParaRPr lang="en-US" sz="1600" dirty="0"/>
                    </a:p>
                  </a:txBody>
                  <a:tcPr>
                    <a:solidFill>
                      <a:schemeClr val="bg2">
                        <a:lumMod val="90000"/>
                      </a:schemeClr>
                    </a:solidFill>
                  </a:tcPr>
                </a:tc>
                <a:tc>
                  <a:txBody>
                    <a:bodyPr/>
                    <a:lstStyle/>
                    <a:p>
                      <a:pPr algn="ctr"/>
                      <a:r>
                        <a:rPr lang="en-US" sz="1600" dirty="0"/>
                        <a:t>3.60</a:t>
                      </a:r>
                    </a:p>
                  </a:txBody>
                  <a:tcPr>
                    <a:solidFill>
                      <a:schemeClr val="bg2">
                        <a:lumMod val="90000"/>
                      </a:schemeClr>
                    </a:solidFill>
                  </a:tcPr>
                </a:tc>
                <a:tc>
                  <a:txBody>
                    <a:bodyPr/>
                    <a:lstStyle/>
                    <a:p>
                      <a:pPr algn="ctr"/>
                      <a:r>
                        <a:rPr lang="en-US" sz="1600" dirty="0"/>
                        <a:t>ENG101</a:t>
                      </a:r>
                    </a:p>
                    <a:p>
                      <a:pPr algn="ctr"/>
                      <a:r>
                        <a:rPr lang="en-US" sz="1600" dirty="0"/>
                        <a:t>CS230</a:t>
                      </a:r>
                    </a:p>
                    <a:p>
                      <a:pPr algn="ctr"/>
                      <a:r>
                        <a:rPr lang="en-US" sz="1600" dirty="0"/>
                        <a:t>CS210</a:t>
                      </a:r>
                    </a:p>
                  </a:txBody>
                  <a:tcPr>
                    <a:solidFill>
                      <a:schemeClr val="bg2">
                        <a:lumMod val="90000"/>
                      </a:schemeClr>
                    </a:solidFill>
                  </a:tcPr>
                </a:tc>
                <a:tc>
                  <a:txBody>
                    <a:bodyPr/>
                    <a:lstStyle/>
                    <a:p>
                      <a:pPr algn="ctr"/>
                      <a:r>
                        <a:rPr lang="en-US" sz="1600" dirty="0"/>
                        <a:t>English-2</a:t>
                      </a:r>
                    </a:p>
                    <a:p>
                      <a:pPr algn="ctr"/>
                      <a:r>
                        <a:rPr lang="en-US" sz="1600" dirty="0"/>
                        <a:t>IDB</a:t>
                      </a:r>
                    </a:p>
                    <a:p>
                      <a:pPr algn="ctr"/>
                      <a:r>
                        <a:rPr lang="en-US" sz="1600" dirty="0"/>
                        <a:t>C++</a:t>
                      </a:r>
                    </a:p>
                  </a:txBody>
                  <a:tcPr>
                    <a:solidFill>
                      <a:schemeClr val="bg2">
                        <a:lumMod val="90000"/>
                      </a:schemeClr>
                    </a:solidFill>
                  </a:tcPr>
                </a:tc>
                <a:tc>
                  <a:txBody>
                    <a:bodyPr/>
                    <a:lstStyle/>
                    <a:p>
                      <a:pPr algn="ctr"/>
                      <a:r>
                        <a:rPr lang="en-US" sz="1600" dirty="0"/>
                        <a:t>A</a:t>
                      </a:r>
                    </a:p>
                    <a:p>
                      <a:pPr algn="ctr"/>
                      <a:r>
                        <a:rPr lang="en-US" sz="1600" dirty="0"/>
                        <a:t>A-</a:t>
                      </a:r>
                    </a:p>
                    <a:p>
                      <a:pPr algn="ctr"/>
                      <a:r>
                        <a:rPr lang="en-US" sz="1600" dirty="0"/>
                        <a:t>B+</a:t>
                      </a:r>
                    </a:p>
                  </a:txBody>
                  <a:tcPr>
                    <a:solidFill>
                      <a:schemeClr val="bg2">
                        <a:lumMod val="90000"/>
                      </a:schemeClr>
                    </a:solidFill>
                  </a:tcPr>
                </a:tc>
                <a:tc>
                  <a:txBody>
                    <a:bodyPr/>
                    <a:lstStyle/>
                    <a:p>
                      <a:pPr algn="ctr"/>
                      <a:r>
                        <a:rPr lang="en-US" sz="1600" dirty="0"/>
                        <a:t>MR. Ron</a:t>
                      </a:r>
                    </a:p>
                    <a:p>
                      <a:pPr algn="ctr"/>
                      <a:r>
                        <a:rPr lang="en-US" sz="1600" dirty="0"/>
                        <a:t>MS. Hasina</a:t>
                      </a:r>
                    </a:p>
                    <a:p>
                      <a:pPr algn="ctr"/>
                      <a:r>
                        <a:rPr lang="en-US" sz="1600" dirty="0"/>
                        <a:t>MS. Hasina</a:t>
                      </a:r>
                    </a:p>
                  </a:txBody>
                  <a:tcPr>
                    <a:solidFill>
                      <a:schemeClr val="bg2">
                        <a:lumMod val="90000"/>
                      </a:schemeClr>
                    </a:solidFill>
                  </a:tcPr>
                </a:tc>
                <a:tc>
                  <a:txBody>
                    <a:bodyPr/>
                    <a:lstStyle/>
                    <a:p>
                      <a:pPr algn="ctr"/>
                      <a:r>
                        <a:rPr lang="en-US" sz="1600" dirty="0"/>
                        <a:t>Lecturer</a:t>
                      </a:r>
                    </a:p>
                    <a:p>
                      <a:pPr algn="ctr"/>
                      <a:r>
                        <a:rPr lang="en-US" sz="1600" dirty="0"/>
                        <a:t>Lecturer</a:t>
                      </a:r>
                    </a:p>
                    <a:p>
                      <a:pPr algn="ctr"/>
                      <a:r>
                        <a:rPr lang="en-US" sz="1600" dirty="0"/>
                        <a:t>Lecturer</a:t>
                      </a:r>
                    </a:p>
                  </a:txBody>
                  <a:tcPr>
                    <a:solidFill>
                      <a:schemeClr val="bg2">
                        <a:lumMod val="90000"/>
                      </a:schemeClr>
                    </a:solidFill>
                  </a:tcPr>
                </a:tc>
                <a:tc>
                  <a:txBody>
                    <a:bodyPr/>
                    <a:lstStyle/>
                    <a:p>
                      <a:pPr algn="ctr"/>
                      <a:r>
                        <a:rPr lang="en-US" sz="1600" dirty="0"/>
                        <a:t>333</a:t>
                      </a:r>
                    </a:p>
                    <a:p>
                      <a:pPr algn="ctr"/>
                      <a:r>
                        <a:rPr lang="en-US" sz="1600" dirty="0"/>
                        <a:t>888</a:t>
                      </a:r>
                    </a:p>
                    <a:p>
                      <a:pPr algn="ctr"/>
                      <a:r>
                        <a:rPr lang="en-US" sz="1600" dirty="0"/>
                        <a:t>888</a:t>
                      </a:r>
                    </a:p>
                  </a:txBody>
                  <a:tcPr>
                    <a:solidFill>
                      <a:schemeClr val="bg2">
                        <a:lumMod val="90000"/>
                      </a:schemeClr>
                    </a:solidFill>
                  </a:tcPr>
                </a:tc>
                <a:extLst>
                  <a:ext uri="{0D108BD9-81ED-4DB2-BD59-A6C34878D82A}">
                    <a16:rowId xmlns:a16="http://schemas.microsoft.com/office/drawing/2014/main" val="3162138193"/>
                  </a:ext>
                </a:extLst>
              </a:tr>
            </a:tbl>
          </a:graphicData>
        </a:graphic>
      </p:graphicFrame>
      <p:sp>
        <p:nvSpPr>
          <p:cNvPr id="5" name="TextBox 4">
            <a:extLst>
              <a:ext uri="{FF2B5EF4-FFF2-40B4-BE49-F238E27FC236}">
                <a16:creationId xmlns:a16="http://schemas.microsoft.com/office/drawing/2014/main" id="{E4BFD714-B612-4049-8498-DAB4A0D2B8C8}"/>
              </a:ext>
            </a:extLst>
          </p:cNvPr>
          <p:cNvSpPr txBox="1"/>
          <p:nvPr/>
        </p:nvSpPr>
        <p:spPr>
          <a:xfrm>
            <a:off x="5050301" y="2750803"/>
            <a:ext cx="199761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Student-Report</a:t>
            </a:r>
          </a:p>
        </p:txBody>
      </p:sp>
    </p:spTree>
    <p:extLst>
      <p:ext uri="{BB962C8B-B14F-4D97-AF65-F5344CB8AC3E}">
        <p14:creationId xmlns:p14="http://schemas.microsoft.com/office/powerpoint/2010/main" val="152099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909" y="630724"/>
            <a:ext cx="8746105" cy="1088136"/>
          </a:xfrm>
        </p:spPr>
        <p:txBody>
          <a:bodyPr>
            <a:normAutofit/>
          </a:bodyPr>
          <a:lstStyle/>
          <a:p>
            <a:r>
              <a:rPr lang="en-US" dirty="0"/>
              <a:t>Application Of 1st Normal Form</a:t>
            </a:r>
          </a:p>
        </p:txBody>
      </p:sp>
      <p:graphicFrame>
        <p:nvGraphicFramePr>
          <p:cNvPr id="4" name="Table 4">
            <a:extLst>
              <a:ext uri="{FF2B5EF4-FFF2-40B4-BE49-F238E27FC236}">
                <a16:creationId xmlns:a16="http://schemas.microsoft.com/office/drawing/2014/main" id="{FE6A522E-14AA-478D-B14B-A2FE7F7C807C}"/>
              </a:ext>
            </a:extLst>
          </p:cNvPr>
          <p:cNvGraphicFramePr>
            <a:graphicFrameLocks noGrp="1"/>
          </p:cNvGraphicFramePr>
          <p:nvPr>
            <p:extLst>
              <p:ext uri="{D42A27DB-BD31-4B8C-83A1-F6EECF244321}">
                <p14:modId xmlns:p14="http://schemas.microsoft.com/office/powerpoint/2010/main" val="2904715197"/>
              </p:ext>
            </p:extLst>
          </p:nvPr>
        </p:nvGraphicFramePr>
        <p:xfrm>
          <a:off x="236528" y="2450344"/>
          <a:ext cx="11718944" cy="4044771"/>
        </p:xfrm>
        <a:graphic>
          <a:graphicData uri="http://schemas.openxmlformats.org/drawingml/2006/table">
            <a:tbl>
              <a:tblPr firstRow="1" bandRow="1">
                <a:tableStyleId>{5940675A-B579-460E-94D1-54222C63F5DA}</a:tableStyleId>
              </a:tblPr>
              <a:tblGrid>
                <a:gridCol w="1037990">
                  <a:extLst>
                    <a:ext uri="{9D8B030D-6E8A-4147-A177-3AD203B41FA5}">
                      <a16:colId xmlns:a16="http://schemas.microsoft.com/office/drawing/2014/main" val="2152645353"/>
                    </a:ext>
                  </a:extLst>
                </a:gridCol>
                <a:gridCol w="965759">
                  <a:extLst>
                    <a:ext uri="{9D8B030D-6E8A-4147-A177-3AD203B41FA5}">
                      <a16:colId xmlns:a16="http://schemas.microsoft.com/office/drawing/2014/main" val="1834078718"/>
                    </a:ext>
                  </a:extLst>
                </a:gridCol>
                <a:gridCol w="1358541">
                  <a:extLst>
                    <a:ext uri="{9D8B030D-6E8A-4147-A177-3AD203B41FA5}">
                      <a16:colId xmlns:a16="http://schemas.microsoft.com/office/drawing/2014/main" val="986980089"/>
                    </a:ext>
                  </a:extLst>
                </a:gridCol>
                <a:gridCol w="757417">
                  <a:extLst>
                    <a:ext uri="{9D8B030D-6E8A-4147-A177-3AD203B41FA5}">
                      <a16:colId xmlns:a16="http://schemas.microsoft.com/office/drawing/2014/main" val="619471652"/>
                    </a:ext>
                  </a:extLst>
                </a:gridCol>
                <a:gridCol w="865620">
                  <a:extLst>
                    <a:ext uri="{9D8B030D-6E8A-4147-A177-3AD203B41FA5}">
                      <a16:colId xmlns:a16="http://schemas.microsoft.com/office/drawing/2014/main" val="2512641716"/>
                    </a:ext>
                  </a:extLst>
                </a:gridCol>
                <a:gridCol w="1094047">
                  <a:extLst>
                    <a:ext uri="{9D8B030D-6E8A-4147-A177-3AD203B41FA5}">
                      <a16:colId xmlns:a16="http://schemas.microsoft.com/office/drawing/2014/main" val="1517753523"/>
                    </a:ext>
                  </a:extLst>
                </a:gridCol>
                <a:gridCol w="890855">
                  <a:extLst>
                    <a:ext uri="{9D8B030D-6E8A-4147-A177-3AD203B41FA5}">
                      <a16:colId xmlns:a16="http://schemas.microsoft.com/office/drawing/2014/main" val="3906433867"/>
                    </a:ext>
                  </a:extLst>
                </a:gridCol>
                <a:gridCol w="1461142">
                  <a:extLst>
                    <a:ext uri="{9D8B030D-6E8A-4147-A177-3AD203B41FA5}">
                      <a16:colId xmlns:a16="http://schemas.microsoft.com/office/drawing/2014/main" val="1958570845"/>
                    </a:ext>
                  </a:extLst>
                </a:gridCol>
                <a:gridCol w="2220937">
                  <a:extLst>
                    <a:ext uri="{9D8B030D-6E8A-4147-A177-3AD203B41FA5}">
                      <a16:colId xmlns:a16="http://schemas.microsoft.com/office/drawing/2014/main" val="793824382"/>
                    </a:ext>
                  </a:extLst>
                </a:gridCol>
                <a:gridCol w="1066636">
                  <a:extLst>
                    <a:ext uri="{9D8B030D-6E8A-4147-A177-3AD203B41FA5}">
                      <a16:colId xmlns:a16="http://schemas.microsoft.com/office/drawing/2014/main" val="665151230"/>
                    </a:ext>
                  </a:extLst>
                </a:gridCol>
              </a:tblGrid>
              <a:tr h="705849">
                <a:tc>
                  <a:txBody>
                    <a:bodyPr/>
                    <a:lstStyle/>
                    <a:p>
                      <a:pPr algn="ctr"/>
                      <a:r>
                        <a:rPr lang="en-US" sz="1600" b="1" dirty="0"/>
                        <a:t>Student </a:t>
                      </a:r>
                    </a:p>
                    <a:p>
                      <a:pPr algn="ctr"/>
                      <a:r>
                        <a:rPr lang="en-US" sz="1600" b="1" dirty="0"/>
                        <a:t>ID</a:t>
                      </a:r>
                    </a:p>
                  </a:txBody>
                  <a:tcPr>
                    <a:solidFill>
                      <a:schemeClr val="bg2">
                        <a:lumMod val="50000"/>
                      </a:schemeClr>
                    </a:solidFill>
                  </a:tcPr>
                </a:tc>
                <a:tc>
                  <a:txBody>
                    <a:bodyPr/>
                    <a:lstStyle/>
                    <a:p>
                      <a:pPr algn="ctr"/>
                      <a:r>
                        <a:rPr lang="en-US" sz="1600" b="1" dirty="0"/>
                        <a:t>Student</a:t>
                      </a:r>
                    </a:p>
                    <a:p>
                      <a:pPr algn="ctr"/>
                      <a:r>
                        <a:rPr lang="en-US" sz="1600" b="1" dirty="0"/>
                        <a:t>Name</a:t>
                      </a:r>
                    </a:p>
                  </a:txBody>
                  <a:tcPr>
                    <a:solidFill>
                      <a:schemeClr val="bg2">
                        <a:lumMod val="50000"/>
                      </a:schemeClr>
                    </a:solidFill>
                  </a:tcPr>
                </a:tc>
                <a:tc>
                  <a:txBody>
                    <a:bodyPr/>
                    <a:lstStyle/>
                    <a:p>
                      <a:pPr algn="ctr"/>
                      <a:r>
                        <a:rPr lang="en-US" sz="1600" b="1" dirty="0"/>
                        <a:t>Address</a:t>
                      </a:r>
                    </a:p>
                  </a:txBody>
                  <a:tcPr>
                    <a:solidFill>
                      <a:schemeClr val="bg2">
                        <a:lumMod val="50000"/>
                      </a:schemeClr>
                    </a:solidFill>
                  </a:tcPr>
                </a:tc>
                <a:tc>
                  <a:txBody>
                    <a:bodyPr/>
                    <a:lstStyle/>
                    <a:p>
                      <a:pPr algn="ctr"/>
                      <a:r>
                        <a:rPr lang="en-US" sz="1600" b="1" dirty="0"/>
                        <a:t>CGPA</a:t>
                      </a:r>
                    </a:p>
                  </a:txBody>
                  <a:tcPr>
                    <a:solidFill>
                      <a:schemeClr val="bg2">
                        <a:lumMod val="50000"/>
                      </a:schemeClr>
                    </a:solidFill>
                  </a:tcPr>
                </a:tc>
                <a:tc>
                  <a:txBody>
                    <a:bodyPr/>
                    <a:lstStyle/>
                    <a:p>
                      <a:pPr algn="ctr"/>
                      <a:r>
                        <a:rPr lang="en-US" sz="1600" b="1" dirty="0"/>
                        <a:t>Course </a:t>
                      </a:r>
                    </a:p>
                    <a:p>
                      <a:pPr algn="ctr"/>
                      <a:r>
                        <a:rPr lang="en-US" sz="1600" b="1" dirty="0"/>
                        <a:t>ID</a:t>
                      </a:r>
                    </a:p>
                  </a:txBody>
                  <a:tcPr>
                    <a:solidFill>
                      <a:schemeClr val="bg2">
                        <a:lumMod val="50000"/>
                      </a:schemeClr>
                    </a:solidFill>
                  </a:tcPr>
                </a:tc>
                <a:tc>
                  <a:txBody>
                    <a:bodyPr/>
                    <a:lstStyle/>
                    <a:p>
                      <a:pPr algn="ctr"/>
                      <a:r>
                        <a:rPr lang="en-US" sz="1600" b="1" dirty="0"/>
                        <a:t>Course</a:t>
                      </a:r>
                    </a:p>
                    <a:p>
                      <a:pPr algn="ctr"/>
                      <a:r>
                        <a:rPr lang="en-US" sz="1600" b="1" dirty="0"/>
                        <a:t>Title</a:t>
                      </a:r>
                    </a:p>
                  </a:txBody>
                  <a:tcPr>
                    <a:solidFill>
                      <a:schemeClr val="bg2">
                        <a:lumMod val="50000"/>
                      </a:schemeClr>
                    </a:solidFill>
                  </a:tcPr>
                </a:tc>
                <a:tc>
                  <a:txBody>
                    <a:bodyPr/>
                    <a:lstStyle/>
                    <a:p>
                      <a:pPr algn="ctr"/>
                      <a:r>
                        <a:rPr lang="en-US" sz="1600" b="1" dirty="0"/>
                        <a:t>Course</a:t>
                      </a:r>
                    </a:p>
                    <a:p>
                      <a:pPr algn="ctr"/>
                      <a:r>
                        <a:rPr lang="en-US" sz="1600" b="1" dirty="0"/>
                        <a:t>Grade</a:t>
                      </a:r>
                    </a:p>
                  </a:txBody>
                  <a:tcPr>
                    <a:solidFill>
                      <a:schemeClr val="bg2">
                        <a:lumMod val="50000"/>
                      </a:schemeClr>
                    </a:solidFill>
                  </a:tcPr>
                </a:tc>
                <a:tc>
                  <a:txBody>
                    <a:bodyPr/>
                    <a:lstStyle/>
                    <a:p>
                      <a:pPr algn="ctr"/>
                      <a:r>
                        <a:rPr lang="en-US" sz="1600" b="1" dirty="0"/>
                        <a:t>Faculty</a:t>
                      </a:r>
                    </a:p>
                    <a:p>
                      <a:pPr algn="ctr"/>
                      <a:r>
                        <a:rPr lang="en-US" sz="1600" b="1" dirty="0"/>
                        <a:t>Name</a:t>
                      </a:r>
                    </a:p>
                  </a:txBody>
                  <a:tcPr>
                    <a:solidFill>
                      <a:schemeClr val="bg2">
                        <a:lumMod val="50000"/>
                      </a:schemeClr>
                    </a:solidFill>
                  </a:tcPr>
                </a:tc>
                <a:tc>
                  <a:txBody>
                    <a:bodyPr/>
                    <a:lstStyle/>
                    <a:p>
                      <a:pPr algn="ctr"/>
                      <a:r>
                        <a:rPr lang="en-US" sz="1600" b="1" dirty="0"/>
                        <a:t>Faculty </a:t>
                      </a:r>
                    </a:p>
                    <a:p>
                      <a:pPr algn="ctr"/>
                      <a:r>
                        <a:rPr lang="en-US" sz="1600" b="1" dirty="0"/>
                        <a:t>Designation</a:t>
                      </a:r>
                    </a:p>
                  </a:txBody>
                  <a:tcPr>
                    <a:solidFill>
                      <a:schemeClr val="bg2">
                        <a:lumMod val="50000"/>
                      </a:schemeClr>
                    </a:solidFill>
                  </a:tcPr>
                </a:tc>
                <a:tc>
                  <a:txBody>
                    <a:bodyPr/>
                    <a:lstStyle/>
                    <a:p>
                      <a:pPr algn="ctr"/>
                      <a:r>
                        <a:rPr lang="en-US" sz="1600" b="1" dirty="0"/>
                        <a:t>Faculty</a:t>
                      </a:r>
                    </a:p>
                    <a:p>
                      <a:pPr algn="ctr"/>
                      <a:r>
                        <a:rPr lang="en-US" sz="1600" b="1" dirty="0"/>
                        <a:t>ID</a:t>
                      </a:r>
                    </a:p>
                  </a:txBody>
                  <a:tcPr>
                    <a:solidFill>
                      <a:schemeClr val="bg2">
                        <a:lumMod val="50000"/>
                      </a:schemeClr>
                    </a:solidFill>
                  </a:tcPr>
                </a:tc>
                <a:extLst>
                  <a:ext uri="{0D108BD9-81ED-4DB2-BD59-A6C34878D82A}">
                    <a16:rowId xmlns:a16="http://schemas.microsoft.com/office/drawing/2014/main" val="2528340938"/>
                  </a:ext>
                </a:extLst>
              </a:tr>
              <a:tr h="559258">
                <a:tc>
                  <a:txBody>
                    <a:bodyPr/>
                    <a:lstStyle/>
                    <a:p>
                      <a:pPr algn="ctr"/>
                      <a:r>
                        <a:rPr lang="en-US" sz="1600" dirty="0"/>
                        <a:t>10</a:t>
                      </a:r>
                    </a:p>
                  </a:txBody>
                  <a:tcPr>
                    <a:solidFill>
                      <a:schemeClr val="bg2">
                        <a:lumMod val="90000"/>
                      </a:schemeClr>
                    </a:solidFill>
                  </a:tcPr>
                </a:tc>
                <a:tc>
                  <a:txBody>
                    <a:bodyPr/>
                    <a:lstStyle/>
                    <a:p>
                      <a:pPr algn="ctr"/>
                      <a:r>
                        <a:rPr lang="en-US" sz="1600" dirty="0"/>
                        <a:t>Timmy</a:t>
                      </a:r>
                    </a:p>
                  </a:txBody>
                  <a:tcPr>
                    <a:solidFill>
                      <a:schemeClr val="bg2">
                        <a:lumMod val="90000"/>
                      </a:schemeClr>
                    </a:solidFill>
                  </a:tcPr>
                </a:tc>
                <a:tc>
                  <a:txBody>
                    <a:bodyPr/>
                    <a:lstStyle/>
                    <a:p>
                      <a:pPr algn="ctr"/>
                      <a:r>
                        <a:rPr lang="en-US" sz="1600" dirty="0"/>
                        <a:t>800/2, Gulshan</a:t>
                      </a:r>
                    </a:p>
                  </a:txBody>
                  <a:tcPr>
                    <a:solidFill>
                      <a:schemeClr val="bg2">
                        <a:lumMod val="90000"/>
                      </a:schemeClr>
                    </a:solidFill>
                  </a:tcPr>
                </a:tc>
                <a:tc>
                  <a:txBody>
                    <a:bodyPr/>
                    <a:lstStyle/>
                    <a:p>
                      <a:pPr algn="ctr"/>
                      <a:r>
                        <a:rPr lang="en-US" sz="1600" dirty="0"/>
                        <a:t>3.48</a:t>
                      </a:r>
                    </a:p>
                  </a:txBody>
                  <a:tcPr>
                    <a:solidFill>
                      <a:schemeClr val="bg2">
                        <a:lumMod val="90000"/>
                      </a:schemeClr>
                    </a:solidFill>
                  </a:tcPr>
                </a:tc>
                <a:tc>
                  <a:txBody>
                    <a:bodyPr/>
                    <a:lstStyle/>
                    <a:p>
                      <a:pPr algn="ctr"/>
                      <a:r>
                        <a:rPr lang="en-US" sz="1600" dirty="0"/>
                        <a:t>ENG101</a:t>
                      </a:r>
                    </a:p>
                  </a:txBody>
                  <a:tcPr>
                    <a:solidFill>
                      <a:schemeClr val="bg2">
                        <a:lumMod val="90000"/>
                      </a:schemeClr>
                    </a:solidFill>
                  </a:tcPr>
                </a:tc>
                <a:tc>
                  <a:txBody>
                    <a:bodyPr/>
                    <a:lstStyle/>
                    <a:p>
                      <a:pPr algn="ctr"/>
                      <a:r>
                        <a:rPr lang="en-US" sz="1600" dirty="0"/>
                        <a:t>English-2</a:t>
                      </a:r>
                    </a:p>
                  </a:txBody>
                  <a:tcPr>
                    <a:solidFill>
                      <a:schemeClr val="bg2">
                        <a:lumMod val="90000"/>
                      </a:schemeClr>
                    </a:solidFill>
                  </a:tcPr>
                </a:tc>
                <a:tc>
                  <a:txBody>
                    <a:bodyPr/>
                    <a:lstStyle/>
                    <a:p>
                      <a:pPr algn="ctr"/>
                      <a:r>
                        <a:rPr lang="en-US" sz="1600" dirty="0"/>
                        <a:t>A+</a:t>
                      </a:r>
                    </a:p>
                  </a:txBody>
                  <a:tcPr>
                    <a:solidFill>
                      <a:schemeClr val="bg2">
                        <a:lumMod val="90000"/>
                      </a:schemeClr>
                    </a:solidFill>
                  </a:tcPr>
                </a:tc>
                <a:tc>
                  <a:txBody>
                    <a:bodyPr/>
                    <a:lstStyle/>
                    <a:p>
                      <a:pPr algn="ctr"/>
                      <a:r>
                        <a:rPr lang="en-US" sz="1600" dirty="0"/>
                        <a:t>MR. Ron</a:t>
                      </a:r>
                    </a:p>
                  </a:txBody>
                  <a:tcPr>
                    <a:solidFill>
                      <a:schemeClr val="bg2">
                        <a:lumMod val="90000"/>
                      </a:schemeClr>
                    </a:solidFill>
                  </a:tcPr>
                </a:tc>
                <a:tc>
                  <a:txBody>
                    <a:bodyPr/>
                    <a:lstStyle/>
                    <a:p>
                      <a:pPr algn="ctr"/>
                      <a:r>
                        <a:rPr lang="en-US" sz="1600" dirty="0"/>
                        <a:t>Lecturer</a:t>
                      </a:r>
                    </a:p>
                  </a:txBody>
                  <a:tcPr>
                    <a:solidFill>
                      <a:schemeClr val="bg2">
                        <a:lumMod val="90000"/>
                      </a:schemeClr>
                    </a:solidFill>
                  </a:tcPr>
                </a:tc>
                <a:tc>
                  <a:txBody>
                    <a:bodyPr/>
                    <a:lstStyle/>
                    <a:p>
                      <a:pPr algn="ctr"/>
                      <a:r>
                        <a:rPr lang="en-US" sz="1600" dirty="0"/>
                        <a:t>333</a:t>
                      </a:r>
                    </a:p>
                  </a:txBody>
                  <a:tcPr>
                    <a:solidFill>
                      <a:schemeClr val="bg2">
                        <a:lumMod val="90000"/>
                      </a:schemeClr>
                    </a:solidFill>
                  </a:tcPr>
                </a:tc>
                <a:extLst>
                  <a:ext uri="{0D108BD9-81ED-4DB2-BD59-A6C34878D82A}">
                    <a16:rowId xmlns:a16="http://schemas.microsoft.com/office/drawing/2014/main" val="1009276669"/>
                  </a:ext>
                </a:extLst>
              </a:tr>
              <a:tr h="559258">
                <a:tc>
                  <a:txBody>
                    <a:bodyPr/>
                    <a:lstStyle/>
                    <a:p>
                      <a:pPr algn="ctr"/>
                      <a:r>
                        <a:rPr lang="en-US" sz="1600" dirty="0"/>
                        <a:t>10</a:t>
                      </a:r>
                    </a:p>
                  </a:txBody>
                  <a:tcPr>
                    <a:solidFill>
                      <a:schemeClr val="bg2">
                        <a:lumMod val="90000"/>
                      </a:schemeClr>
                    </a:solidFill>
                  </a:tcPr>
                </a:tc>
                <a:tc>
                  <a:txBody>
                    <a:bodyPr/>
                    <a:lstStyle/>
                    <a:p>
                      <a:pPr algn="ctr"/>
                      <a:r>
                        <a:rPr lang="en-US" sz="1600" dirty="0"/>
                        <a:t>Timmy</a:t>
                      </a:r>
                    </a:p>
                  </a:txBody>
                  <a:tcPr>
                    <a:solidFill>
                      <a:schemeClr val="bg2">
                        <a:lumMod val="90000"/>
                      </a:schemeClr>
                    </a:solidFill>
                  </a:tcPr>
                </a:tc>
                <a:tc>
                  <a:txBody>
                    <a:bodyPr/>
                    <a:lstStyle/>
                    <a:p>
                      <a:pPr algn="ctr"/>
                      <a:r>
                        <a:rPr lang="en-US" sz="1600" dirty="0"/>
                        <a:t>800/2, Gulshan</a:t>
                      </a:r>
                    </a:p>
                  </a:txBody>
                  <a:tcPr>
                    <a:solidFill>
                      <a:schemeClr val="bg2">
                        <a:lumMod val="90000"/>
                      </a:schemeClr>
                    </a:solidFill>
                  </a:tcPr>
                </a:tc>
                <a:tc>
                  <a:txBody>
                    <a:bodyPr/>
                    <a:lstStyle/>
                    <a:p>
                      <a:pPr algn="ctr"/>
                      <a:r>
                        <a:rPr lang="en-US" sz="1600" dirty="0"/>
                        <a:t>3.48</a:t>
                      </a:r>
                    </a:p>
                  </a:txBody>
                  <a:tcPr>
                    <a:solidFill>
                      <a:schemeClr val="bg2">
                        <a:lumMod val="90000"/>
                      </a:schemeClr>
                    </a:solidFill>
                  </a:tcPr>
                </a:tc>
                <a:tc>
                  <a:txBody>
                    <a:bodyPr/>
                    <a:lstStyle/>
                    <a:p>
                      <a:pPr algn="ctr"/>
                      <a:r>
                        <a:rPr lang="en-US" sz="1600" dirty="0"/>
                        <a:t>FS05</a:t>
                      </a:r>
                    </a:p>
                  </a:txBody>
                  <a:tcPr>
                    <a:solidFill>
                      <a:schemeClr val="bg2">
                        <a:lumMod val="90000"/>
                      </a:schemeClr>
                    </a:solidFill>
                  </a:tcPr>
                </a:tc>
                <a:tc>
                  <a:txBody>
                    <a:bodyPr/>
                    <a:lstStyle/>
                    <a:p>
                      <a:pPr algn="ctr"/>
                      <a:r>
                        <a:rPr lang="en-US" sz="1600" dirty="0"/>
                        <a:t>Physics-1</a:t>
                      </a:r>
                    </a:p>
                  </a:txBody>
                  <a:tcPr>
                    <a:solidFill>
                      <a:schemeClr val="bg2">
                        <a:lumMod val="90000"/>
                      </a:schemeClr>
                    </a:solidFill>
                  </a:tcPr>
                </a:tc>
                <a:tc>
                  <a:txBody>
                    <a:bodyPr/>
                    <a:lstStyle/>
                    <a:p>
                      <a:pPr algn="ctr"/>
                      <a:r>
                        <a:rPr lang="en-US" sz="1600" dirty="0"/>
                        <a:t>B</a:t>
                      </a:r>
                    </a:p>
                  </a:txBody>
                  <a:tcPr>
                    <a:solidFill>
                      <a:schemeClr val="bg2">
                        <a:lumMod val="90000"/>
                      </a:schemeClr>
                    </a:solidFill>
                  </a:tcPr>
                </a:tc>
                <a:tc>
                  <a:txBody>
                    <a:bodyPr/>
                    <a:lstStyle/>
                    <a:p>
                      <a:pPr algn="ctr"/>
                      <a:r>
                        <a:rPr lang="en-US" sz="1600" dirty="0"/>
                        <a:t>MS. Mira</a:t>
                      </a:r>
                    </a:p>
                  </a:txBody>
                  <a:tcPr>
                    <a:solidFill>
                      <a:schemeClr val="bg2">
                        <a:lumMod val="90000"/>
                      </a:schemeClr>
                    </a:solidFill>
                  </a:tcPr>
                </a:tc>
                <a:tc>
                  <a:txBody>
                    <a:bodyPr/>
                    <a:lstStyle/>
                    <a:p>
                      <a:pPr algn="ctr"/>
                      <a:r>
                        <a:rPr lang="en-US" sz="1600" dirty="0"/>
                        <a:t>Assistant Professor</a:t>
                      </a:r>
                    </a:p>
                  </a:txBody>
                  <a:tcPr>
                    <a:solidFill>
                      <a:schemeClr val="bg2">
                        <a:lumMod val="90000"/>
                      </a:schemeClr>
                    </a:solidFill>
                  </a:tcPr>
                </a:tc>
                <a:tc>
                  <a:txBody>
                    <a:bodyPr/>
                    <a:lstStyle/>
                    <a:p>
                      <a:pPr algn="ctr"/>
                      <a:r>
                        <a:rPr lang="en-US" sz="1600" dirty="0"/>
                        <a:t>555</a:t>
                      </a:r>
                    </a:p>
                  </a:txBody>
                  <a:tcPr>
                    <a:solidFill>
                      <a:schemeClr val="bg2">
                        <a:lumMod val="90000"/>
                      </a:schemeClr>
                    </a:solidFill>
                  </a:tcPr>
                </a:tc>
                <a:extLst>
                  <a:ext uri="{0D108BD9-81ED-4DB2-BD59-A6C34878D82A}">
                    <a16:rowId xmlns:a16="http://schemas.microsoft.com/office/drawing/2014/main" val="575882382"/>
                  </a:ext>
                </a:extLst>
              </a:tr>
              <a:tr h="726894">
                <a:tc>
                  <a:txBody>
                    <a:bodyPr/>
                    <a:lstStyle/>
                    <a:p>
                      <a:pPr algn="ctr"/>
                      <a:r>
                        <a:rPr lang="en-US" sz="1600" dirty="0"/>
                        <a:t>20</a:t>
                      </a:r>
                    </a:p>
                  </a:txBody>
                  <a:tcPr>
                    <a:solidFill>
                      <a:schemeClr val="bg2">
                        <a:lumMod val="90000"/>
                      </a:schemeClr>
                    </a:solidFill>
                  </a:tcPr>
                </a:tc>
                <a:tc>
                  <a:txBody>
                    <a:bodyPr/>
                    <a:lstStyle/>
                    <a:p>
                      <a:pPr algn="ctr"/>
                      <a:r>
                        <a:rPr lang="en-US" sz="1600" dirty="0" err="1"/>
                        <a:t>Rimmy</a:t>
                      </a:r>
                      <a:endParaRPr lang="en-US" sz="1600" dirty="0"/>
                    </a:p>
                  </a:txBody>
                  <a:tcPr>
                    <a:solidFill>
                      <a:schemeClr val="bg2">
                        <a:lumMod val="90000"/>
                      </a:schemeClr>
                    </a:solidFill>
                  </a:tcPr>
                </a:tc>
                <a:tc>
                  <a:txBody>
                    <a:bodyPr/>
                    <a:lstStyle/>
                    <a:p>
                      <a:pPr algn="ctr"/>
                      <a:r>
                        <a:rPr lang="en-US" sz="1600" dirty="0"/>
                        <a:t>60/A,</a:t>
                      </a:r>
                    </a:p>
                    <a:p>
                      <a:pPr algn="ctr"/>
                      <a:r>
                        <a:rPr lang="en-US" sz="1600" dirty="0" err="1"/>
                        <a:t>Boshundhora</a:t>
                      </a:r>
                      <a:endParaRPr lang="en-US" sz="1600" dirty="0"/>
                    </a:p>
                  </a:txBody>
                  <a:tcPr>
                    <a:solidFill>
                      <a:schemeClr val="bg2">
                        <a:lumMod val="90000"/>
                      </a:schemeClr>
                    </a:solidFill>
                  </a:tcPr>
                </a:tc>
                <a:tc>
                  <a:txBody>
                    <a:bodyPr/>
                    <a:lstStyle/>
                    <a:p>
                      <a:pPr algn="ctr"/>
                      <a:r>
                        <a:rPr lang="en-US" sz="1600" dirty="0"/>
                        <a:t>3.60</a:t>
                      </a:r>
                    </a:p>
                  </a:txBody>
                  <a:tcPr>
                    <a:solidFill>
                      <a:schemeClr val="bg2">
                        <a:lumMod val="90000"/>
                      </a:schemeClr>
                    </a:solidFill>
                  </a:tcPr>
                </a:tc>
                <a:tc>
                  <a:txBody>
                    <a:bodyPr/>
                    <a:lstStyle/>
                    <a:p>
                      <a:pPr algn="ctr"/>
                      <a:r>
                        <a:rPr lang="en-US" sz="1600" dirty="0"/>
                        <a:t>ENG101</a:t>
                      </a:r>
                    </a:p>
                  </a:txBody>
                  <a:tcPr>
                    <a:solidFill>
                      <a:schemeClr val="bg2">
                        <a:lumMod val="90000"/>
                      </a:schemeClr>
                    </a:solidFill>
                  </a:tcPr>
                </a:tc>
                <a:tc>
                  <a:txBody>
                    <a:bodyPr/>
                    <a:lstStyle/>
                    <a:p>
                      <a:pPr algn="ctr"/>
                      <a:r>
                        <a:rPr lang="en-US" sz="1600" dirty="0"/>
                        <a:t>English-2</a:t>
                      </a:r>
                    </a:p>
                  </a:txBody>
                  <a:tcPr>
                    <a:solidFill>
                      <a:schemeClr val="bg2">
                        <a:lumMod val="90000"/>
                      </a:schemeClr>
                    </a:solidFill>
                  </a:tcPr>
                </a:tc>
                <a:tc>
                  <a:txBody>
                    <a:bodyPr/>
                    <a:lstStyle/>
                    <a:p>
                      <a:pPr algn="ctr"/>
                      <a:r>
                        <a:rPr lang="en-US" sz="1600" dirty="0"/>
                        <a:t>A</a:t>
                      </a:r>
                    </a:p>
                  </a:txBody>
                  <a:tcPr>
                    <a:solidFill>
                      <a:schemeClr val="bg2">
                        <a:lumMod val="90000"/>
                      </a:schemeClr>
                    </a:solidFill>
                  </a:tcPr>
                </a:tc>
                <a:tc>
                  <a:txBody>
                    <a:bodyPr/>
                    <a:lstStyle/>
                    <a:p>
                      <a:pPr algn="ctr"/>
                      <a:r>
                        <a:rPr lang="en-US" sz="1600" dirty="0"/>
                        <a:t>MR. Ron</a:t>
                      </a:r>
                    </a:p>
                  </a:txBody>
                  <a:tcPr>
                    <a:solidFill>
                      <a:schemeClr val="bg2">
                        <a:lumMod val="90000"/>
                      </a:schemeClr>
                    </a:solidFill>
                  </a:tcPr>
                </a:tc>
                <a:tc>
                  <a:txBody>
                    <a:bodyPr/>
                    <a:lstStyle/>
                    <a:p>
                      <a:pPr algn="ctr"/>
                      <a:r>
                        <a:rPr lang="en-US" sz="1600" dirty="0"/>
                        <a:t>Lecturer</a:t>
                      </a:r>
                    </a:p>
                  </a:txBody>
                  <a:tcPr>
                    <a:solidFill>
                      <a:schemeClr val="bg2">
                        <a:lumMod val="90000"/>
                      </a:schemeClr>
                    </a:solidFill>
                  </a:tcPr>
                </a:tc>
                <a:tc>
                  <a:txBody>
                    <a:bodyPr/>
                    <a:lstStyle/>
                    <a:p>
                      <a:pPr algn="ctr"/>
                      <a:r>
                        <a:rPr lang="en-US" sz="1600" dirty="0"/>
                        <a:t>333</a:t>
                      </a:r>
                    </a:p>
                  </a:txBody>
                  <a:tcPr>
                    <a:solidFill>
                      <a:schemeClr val="bg2">
                        <a:lumMod val="90000"/>
                      </a:schemeClr>
                    </a:solidFill>
                  </a:tcPr>
                </a:tc>
                <a:extLst>
                  <a:ext uri="{0D108BD9-81ED-4DB2-BD59-A6C34878D82A}">
                    <a16:rowId xmlns:a16="http://schemas.microsoft.com/office/drawing/2014/main" val="3162138193"/>
                  </a:ext>
                </a:extLst>
              </a:tr>
              <a:tr h="726894">
                <a:tc>
                  <a:txBody>
                    <a:bodyPr/>
                    <a:lstStyle/>
                    <a:p>
                      <a:pPr algn="ctr"/>
                      <a:r>
                        <a:rPr lang="en-US" sz="1600" dirty="0"/>
                        <a:t>20</a:t>
                      </a:r>
                    </a:p>
                  </a:txBody>
                  <a:tcPr>
                    <a:solidFill>
                      <a:schemeClr val="bg2">
                        <a:lumMod val="90000"/>
                      </a:schemeClr>
                    </a:solidFill>
                  </a:tcPr>
                </a:tc>
                <a:tc>
                  <a:txBody>
                    <a:bodyPr/>
                    <a:lstStyle/>
                    <a:p>
                      <a:pPr algn="ctr"/>
                      <a:r>
                        <a:rPr lang="en-US" sz="1600" dirty="0" err="1"/>
                        <a:t>Rimmy</a:t>
                      </a:r>
                      <a:endParaRPr lang="en-US" sz="1600" dirty="0"/>
                    </a:p>
                  </a:txBody>
                  <a:tcPr>
                    <a:solidFill>
                      <a:schemeClr val="bg2">
                        <a:lumMod val="90000"/>
                      </a:schemeClr>
                    </a:solidFill>
                  </a:tcPr>
                </a:tc>
                <a:tc>
                  <a:txBody>
                    <a:bodyPr/>
                    <a:lstStyle/>
                    <a:p>
                      <a:pPr algn="ctr"/>
                      <a:r>
                        <a:rPr lang="en-US" sz="1600" dirty="0"/>
                        <a:t>60/A,</a:t>
                      </a:r>
                    </a:p>
                    <a:p>
                      <a:pPr algn="ctr"/>
                      <a:r>
                        <a:rPr lang="en-US" sz="1600" dirty="0" err="1"/>
                        <a:t>Boshundhora</a:t>
                      </a: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3.60</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CS230</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IDB</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A-</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MS. Hasina</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Lecturer</a:t>
                      </a:r>
                    </a:p>
                    <a:p>
                      <a:pPr algn="ctr"/>
                      <a:endParaRPr lang="en-US" sz="1600" dirty="0"/>
                    </a:p>
                  </a:txBody>
                  <a:tcPr>
                    <a:solidFill>
                      <a:schemeClr val="bg2">
                        <a:lumMod val="90000"/>
                      </a:schemeClr>
                    </a:solidFill>
                  </a:tcPr>
                </a:tc>
                <a:tc>
                  <a:txBody>
                    <a:bodyPr/>
                    <a:lstStyle/>
                    <a:p>
                      <a:pPr algn="ctr"/>
                      <a:r>
                        <a:rPr lang="en-US" sz="1600" dirty="0"/>
                        <a:t>888</a:t>
                      </a:r>
                    </a:p>
                  </a:txBody>
                  <a:tcPr>
                    <a:solidFill>
                      <a:schemeClr val="bg2">
                        <a:lumMod val="90000"/>
                      </a:schemeClr>
                    </a:solidFill>
                  </a:tcPr>
                </a:tc>
                <a:extLst>
                  <a:ext uri="{0D108BD9-81ED-4DB2-BD59-A6C34878D82A}">
                    <a16:rowId xmlns:a16="http://schemas.microsoft.com/office/drawing/2014/main" val="1284736332"/>
                  </a:ext>
                </a:extLst>
              </a:tr>
              <a:tr h="726894">
                <a:tc>
                  <a:txBody>
                    <a:bodyPr/>
                    <a:lstStyle/>
                    <a:p>
                      <a:pPr algn="ctr"/>
                      <a:r>
                        <a:rPr lang="en-US" sz="1600" dirty="0"/>
                        <a:t>20</a:t>
                      </a:r>
                    </a:p>
                  </a:txBody>
                  <a:tcPr>
                    <a:solidFill>
                      <a:schemeClr val="bg2">
                        <a:lumMod val="90000"/>
                      </a:schemeClr>
                    </a:solidFill>
                  </a:tcPr>
                </a:tc>
                <a:tc>
                  <a:txBody>
                    <a:bodyPr/>
                    <a:lstStyle/>
                    <a:p>
                      <a:pPr algn="ctr"/>
                      <a:r>
                        <a:rPr lang="en-US" sz="1600" dirty="0" err="1"/>
                        <a:t>Rimmy</a:t>
                      </a:r>
                      <a:endParaRPr lang="en-US" sz="1600" dirty="0"/>
                    </a:p>
                  </a:txBody>
                  <a:tcPr>
                    <a:solidFill>
                      <a:schemeClr val="bg2">
                        <a:lumMod val="90000"/>
                      </a:schemeClr>
                    </a:solidFill>
                  </a:tcPr>
                </a:tc>
                <a:tc>
                  <a:txBody>
                    <a:bodyPr/>
                    <a:lstStyle/>
                    <a:p>
                      <a:pPr algn="ctr"/>
                      <a:r>
                        <a:rPr lang="en-US" sz="1600" dirty="0"/>
                        <a:t>60/A,</a:t>
                      </a:r>
                    </a:p>
                    <a:p>
                      <a:pPr algn="ctr"/>
                      <a:r>
                        <a:rPr lang="en-US" sz="1600" dirty="0" err="1"/>
                        <a:t>Boshundhora</a:t>
                      </a: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3.60</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CS210</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C++</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B+</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MS. Hasina</a:t>
                      </a:r>
                    </a:p>
                    <a:p>
                      <a:pPr algn="ctr"/>
                      <a:endParaRPr lang="en-US" sz="1600" dirty="0"/>
                    </a:p>
                  </a:txBody>
                  <a:tcP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Lecturer</a:t>
                      </a:r>
                    </a:p>
                    <a:p>
                      <a:pPr algn="ctr"/>
                      <a:endParaRPr lang="en-US" sz="1600" dirty="0"/>
                    </a:p>
                  </a:txBody>
                  <a:tcPr>
                    <a:solidFill>
                      <a:schemeClr val="bg2">
                        <a:lumMod val="90000"/>
                      </a:schemeClr>
                    </a:solidFill>
                  </a:tcPr>
                </a:tc>
                <a:tc>
                  <a:txBody>
                    <a:bodyPr/>
                    <a:lstStyle/>
                    <a:p>
                      <a:pPr algn="ctr"/>
                      <a:r>
                        <a:rPr lang="en-US" sz="1600" dirty="0"/>
                        <a:t>888</a:t>
                      </a:r>
                    </a:p>
                  </a:txBody>
                  <a:tcPr>
                    <a:solidFill>
                      <a:schemeClr val="bg2">
                        <a:lumMod val="90000"/>
                      </a:schemeClr>
                    </a:solidFill>
                  </a:tcPr>
                </a:tc>
                <a:extLst>
                  <a:ext uri="{0D108BD9-81ED-4DB2-BD59-A6C34878D82A}">
                    <a16:rowId xmlns:a16="http://schemas.microsoft.com/office/drawing/2014/main" val="1065504239"/>
                  </a:ext>
                </a:extLst>
              </a:tr>
            </a:tbl>
          </a:graphicData>
        </a:graphic>
      </p:graphicFrame>
      <p:sp>
        <p:nvSpPr>
          <p:cNvPr id="5" name="TextBox 4">
            <a:extLst>
              <a:ext uri="{FF2B5EF4-FFF2-40B4-BE49-F238E27FC236}">
                <a16:creationId xmlns:a16="http://schemas.microsoft.com/office/drawing/2014/main" id="{11A6825F-0145-43A5-BE3A-5230386C9AFF}"/>
              </a:ext>
            </a:extLst>
          </p:cNvPr>
          <p:cNvSpPr txBox="1"/>
          <p:nvPr/>
        </p:nvSpPr>
        <p:spPr>
          <a:xfrm>
            <a:off x="4981961" y="2100647"/>
            <a:ext cx="199761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Student-Report</a:t>
            </a:r>
          </a:p>
        </p:txBody>
      </p:sp>
    </p:spTree>
    <p:extLst>
      <p:ext uri="{BB962C8B-B14F-4D97-AF65-F5344CB8AC3E}">
        <p14:creationId xmlns:p14="http://schemas.microsoft.com/office/powerpoint/2010/main" val="3991316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909" y="630724"/>
            <a:ext cx="8746105" cy="1088136"/>
          </a:xfrm>
        </p:spPr>
        <p:txBody>
          <a:bodyPr>
            <a:normAutofit/>
          </a:bodyPr>
          <a:lstStyle/>
          <a:p>
            <a:r>
              <a:rPr lang="en-US" dirty="0"/>
              <a:t>Anomalies in 1st Normal Form</a:t>
            </a:r>
          </a:p>
        </p:txBody>
      </p:sp>
      <p:sp>
        <p:nvSpPr>
          <p:cNvPr id="6" name="TextBox 5">
            <a:extLst>
              <a:ext uri="{FF2B5EF4-FFF2-40B4-BE49-F238E27FC236}">
                <a16:creationId xmlns:a16="http://schemas.microsoft.com/office/drawing/2014/main" id="{AF131669-51F1-448B-9A3D-DCE260E37918}"/>
              </a:ext>
            </a:extLst>
          </p:cNvPr>
          <p:cNvSpPr txBox="1"/>
          <p:nvPr/>
        </p:nvSpPr>
        <p:spPr>
          <a:xfrm>
            <a:off x="6808762" y="2315212"/>
            <a:ext cx="5261318" cy="4247317"/>
          </a:xfrm>
          <a:prstGeom prst="rect">
            <a:avLst/>
          </a:prstGeom>
          <a:noFill/>
        </p:spPr>
        <p:txBody>
          <a:bodyPr wrap="square" rtlCol="0">
            <a:spAutoFit/>
          </a:bodyPr>
          <a:lstStyle/>
          <a:p>
            <a:r>
              <a:rPr lang="en-US" dirty="0"/>
              <a:t>Composite Key(Student ID, Course ID)</a:t>
            </a:r>
          </a:p>
          <a:p>
            <a:r>
              <a:rPr lang="en-US" dirty="0">
                <a:highlight>
                  <a:srgbClr val="FFFF00"/>
                </a:highlight>
              </a:rPr>
              <a:t>Insertion Anomaly: </a:t>
            </a:r>
          </a:p>
          <a:p>
            <a:r>
              <a:rPr lang="en-US" dirty="0"/>
              <a:t>If A new course is introduced and no students are registered in that course the student ID will be NULL and primary key can’t be NULL.</a:t>
            </a:r>
          </a:p>
          <a:p>
            <a:r>
              <a:rPr lang="en-US" dirty="0">
                <a:highlight>
                  <a:srgbClr val="FFFF00"/>
                </a:highlight>
              </a:rPr>
              <a:t>Deletion Anomaly:</a:t>
            </a:r>
          </a:p>
          <a:p>
            <a:r>
              <a:rPr lang="en-US" dirty="0"/>
              <a:t>If </a:t>
            </a:r>
            <a:r>
              <a:rPr lang="en-US" dirty="0" err="1"/>
              <a:t>timmy</a:t>
            </a:r>
            <a:r>
              <a:rPr lang="en-US" dirty="0"/>
              <a:t> leave the university, we can not make the student ID NULL. Moreover, the course details of Physics-1 and details of MS. Mira will be lost.</a:t>
            </a:r>
          </a:p>
          <a:p>
            <a:r>
              <a:rPr lang="en-US" dirty="0" err="1">
                <a:highlight>
                  <a:srgbClr val="FFFF00"/>
                </a:highlight>
              </a:rPr>
              <a:t>Updation</a:t>
            </a:r>
            <a:r>
              <a:rPr lang="en-US" dirty="0">
                <a:highlight>
                  <a:srgbClr val="FFFF00"/>
                </a:highlight>
              </a:rPr>
              <a:t> Anomaly:</a:t>
            </a:r>
          </a:p>
          <a:p>
            <a:r>
              <a:rPr lang="en-US" dirty="0"/>
              <a:t>To change the address of student </a:t>
            </a:r>
            <a:r>
              <a:rPr lang="en-US" dirty="0" err="1"/>
              <a:t>Rimmy</a:t>
            </a:r>
            <a:r>
              <a:rPr lang="en-US" dirty="0"/>
              <a:t>, we need to change three rows from the table. Which can occur data redundancy, data inconsistency and extra space consumption issue.</a:t>
            </a:r>
          </a:p>
          <a:p>
            <a:endParaRPr lang="en-US" dirty="0"/>
          </a:p>
        </p:txBody>
      </p:sp>
      <p:pic>
        <p:nvPicPr>
          <p:cNvPr id="9" name="Picture 8">
            <a:extLst>
              <a:ext uri="{FF2B5EF4-FFF2-40B4-BE49-F238E27FC236}">
                <a16:creationId xmlns:a16="http://schemas.microsoft.com/office/drawing/2014/main" id="{944CA006-E25B-4F42-B47F-15D4862A120C}"/>
              </a:ext>
            </a:extLst>
          </p:cNvPr>
          <p:cNvPicPr>
            <a:picLocks noChangeAspect="1"/>
          </p:cNvPicPr>
          <p:nvPr/>
        </p:nvPicPr>
        <p:blipFill>
          <a:blip r:embed="rId2"/>
          <a:stretch>
            <a:fillRect/>
          </a:stretch>
        </p:blipFill>
        <p:spPr>
          <a:xfrm>
            <a:off x="258090" y="2414045"/>
            <a:ext cx="6371310" cy="2211939"/>
          </a:xfrm>
          <a:prstGeom prst="rect">
            <a:avLst/>
          </a:prstGeom>
        </p:spPr>
      </p:pic>
    </p:spTree>
    <p:extLst>
      <p:ext uri="{BB962C8B-B14F-4D97-AF65-F5344CB8AC3E}">
        <p14:creationId xmlns:p14="http://schemas.microsoft.com/office/powerpoint/2010/main" val="3808239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909" y="630724"/>
            <a:ext cx="8746105" cy="1088136"/>
          </a:xfrm>
        </p:spPr>
        <p:txBody>
          <a:bodyPr>
            <a:normAutofit/>
          </a:bodyPr>
          <a:lstStyle/>
          <a:p>
            <a:r>
              <a:rPr lang="en-US" dirty="0"/>
              <a:t>2nd Normal Form</a:t>
            </a:r>
          </a:p>
        </p:txBody>
      </p:sp>
      <p:sp>
        <p:nvSpPr>
          <p:cNvPr id="7" name="TextBox 6">
            <a:extLst>
              <a:ext uri="{FF2B5EF4-FFF2-40B4-BE49-F238E27FC236}">
                <a16:creationId xmlns:a16="http://schemas.microsoft.com/office/drawing/2014/main" id="{E27701F7-14C4-4788-A679-D05ABB3282A6}"/>
              </a:ext>
            </a:extLst>
          </p:cNvPr>
          <p:cNvSpPr txBox="1"/>
          <p:nvPr/>
        </p:nvSpPr>
        <p:spPr>
          <a:xfrm>
            <a:off x="496370" y="2224723"/>
            <a:ext cx="10110670" cy="156966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A relation will be in 2NF if,</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relation is already in 1NF</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non-key attributes dependent on the primary key</a:t>
            </a: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844DBAB-B907-C816-3A0C-F89F0CA5B956}"/>
              </a:ext>
            </a:extLst>
          </p:cNvPr>
          <p:cNvPicPr>
            <a:picLocks noChangeAspect="1"/>
          </p:cNvPicPr>
          <p:nvPr/>
        </p:nvPicPr>
        <p:blipFill>
          <a:blip r:embed="rId3"/>
          <a:stretch>
            <a:fillRect/>
          </a:stretch>
        </p:blipFill>
        <p:spPr>
          <a:xfrm>
            <a:off x="2378666" y="3624202"/>
            <a:ext cx="6538453" cy="2269966"/>
          </a:xfrm>
          <a:prstGeom prst="rect">
            <a:avLst/>
          </a:prstGeom>
        </p:spPr>
      </p:pic>
    </p:spTree>
    <p:extLst>
      <p:ext uri="{BB962C8B-B14F-4D97-AF65-F5344CB8AC3E}">
        <p14:creationId xmlns:p14="http://schemas.microsoft.com/office/powerpoint/2010/main" val="3527898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909" y="630724"/>
            <a:ext cx="8746105" cy="1088136"/>
          </a:xfrm>
        </p:spPr>
        <p:txBody>
          <a:bodyPr>
            <a:normAutofit/>
          </a:bodyPr>
          <a:lstStyle/>
          <a:p>
            <a:r>
              <a:rPr lang="en-US" dirty="0"/>
              <a:t>2nd Normal Form</a:t>
            </a:r>
          </a:p>
        </p:txBody>
      </p:sp>
      <p:sp>
        <p:nvSpPr>
          <p:cNvPr id="22" name="TextBox 21">
            <a:extLst>
              <a:ext uri="{FF2B5EF4-FFF2-40B4-BE49-F238E27FC236}">
                <a16:creationId xmlns:a16="http://schemas.microsoft.com/office/drawing/2014/main" id="{7831202F-8C20-4F9B-B56D-398CF96476D5}"/>
              </a:ext>
            </a:extLst>
          </p:cNvPr>
          <p:cNvSpPr txBox="1"/>
          <p:nvPr/>
        </p:nvSpPr>
        <p:spPr>
          <a:xfrm>
            <a:off x="323560" y="2198174"/>
            <a:ext cx="3851398"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There are 3 functional dependency in the Student-Report relation-</a:t>
            </a:r>
          </a:p>
          <a:p>
            <a:pPr marL="342900" indent="-3429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Student </a:t>
            </a:r>
            <a:r>
              <a:rPr lang="en-US" dirty="0" err="1">
                <a:latin typeface="Times New Roman" panose="02020603050405020304" pitchFamily="18" charset="0"/>
                <a:cs typeface="Times New Roman" panose="02020603050405020304" pitchFamily="18" charset="0"/>
              </a:rPr>
              <a:t>ID,Student</a:t>
            </a:r>
            <a:r>
              <a:rPr lang="en-US" dirty="0">
                <a:latin typeface="Times New Roman" panose="02020603050405020304" pitchFamily="18" charset="0"/>
                <a:cs typeface="Times New Roman" panose="02020603050405020304" pitchFamily="18" charset="0"/>
              </a:rPr>
              <a:t> Name, Address, CGPA</a:t>
            </a:r>
          </a:p>
          <a:p>
            <a:pPr marL="342900" indent="-3429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Course ID, Course Title, Faculty Name, Faculty ID, Faculty Designation</a:t>
            </a:r>
          </a:p>
          <a:p>
            <a:pPr marL="342900" indent="-3429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Student ID, Course ID, Course Grade</a:t>
            </a:r>
          </a:p>
          <a:p>
            <a:endParaRPr lang="en-US" dirty="0">
              <a:latin typeface="Times New Roman" panose="02020603050405020304" pitchFamily="18" charset="0"/>
              <a:cs typeface="Times New Roman" panose="02020603050405020304" pitchFamily="18" charset="0"/>
            </a:endParaRPr>
          </a:p>
          <a:p>
            <a:endParaRPr lang="en-US" dirty="0"/>
          </a:p>
        </p:txBody>
      </p:sp>
      <p:pic>
        <p:nvPicPr>
          <p:cNvPr id="3" name="Picture 2">
            <a:extLst>
              <a:ext uri="{FF2B5EF4-FFF2-40B4-BE49-F238E27FC236}">
                <a16:creationId xmlns:a16="http://schemas.microsoft.com/office/drawing/2014/main" id="{3244644F-E098-44C4-91F4-70338C93843D}"/>
              </a:ext>
            </a:extLst>
          </p:cNvPr>
          <p:cNvPicPr>
            <a:picLocks noChangeAspect="1"/>
          </p:cNvPicPr>
          <p:nvPr/>
        </p:nvPicPr>
        <p:blipFill>
          <a:blip r:embed="rId3"/>
          <a:stretch>
            <a:fillRect/>
          </a:stretch>
        </p:blipFill>
        <p:spPr>
          <a:xfrm>
            <a:off x="5023894" y="2198174"/>
            <a:ext cx="6538453" cy="2269966"/>
          </a:xfrm>
          <a:prstGeom prst="rect">
            <a:avLst/>
          </a:prstGeom>
        </p:spPr>
      </p:pic>
    </p:spTree>
    <p:extLst>
      <p:ext uri="{BB962C8B-B14F-4D97-AF65-F5344CB8AC3E}">
        <p14:creationId xmlns:p14="http://schemas.microsoft.com/office/powerpoint/2010/main" val="1479783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909" y="630724"/>
            <a:ext cx="8746105" cy="1088136"/>
          </a:xfrm>
        </p:spPr>
        <p:txBody>
          <a:bodyPr>
            <a:normAutofit/>
          </a:bodyPr>
          <a:lstStyle/>
          <a:p>
            <a:r>
              <a:rPr lang="en-US" dirty="0"/>
              <a:t>Application of 2nd Normal Form</a:t>
            </a:r>
          </a:p>
        </p:txBody>
      </p:sp>
      <p:pic>
        <p:nvPicPr>
          <p:cNvPr id="16" name="Picture 15">
            <a:extLst>
              <a:ext uri="{FF2B5EF4-FFF2-40B4-BE49-F238E27FC236}">
                <a16:creationId xmlns:a16="http://schemas.microsoft.com/office/drawing/2014/main" id="{5D5BC831-7047-482D-81DB-7FFD99DD37F2}"/>
              </a:ext>
            </a:extLst>
          </p:cNvPr>
          <p:cNvPicPr>
            <a:picLocks noChangeAspect="1"/>
          </p:cNvPicPr>
          <p:nvPr/>
        </p:nvPicPr>
        <p:blipFill>
          <a:blip r:embed="rId2"/>
          <a:stretch>
            <a:fillRect/>
          </a:stretch>
        </p:blipFill>
        <p:spPr>
          <a:xfrm>
            <a:off x="8719738" y="2637679"/>
            <a:ext cx="3129106" cy="1453249"/>
          </a:xfrm>
          <a:prstGeom prst="rect">
            <a:avLst/>
          </a:prstGeom>
        </p:spPr>
      </p:pic>
      <p:pic>
        <p:nvPicPr>
          <p:cNvPr id="21" name="Picture 20">
            <a:extLst>
              <a:ext uri="{FF2B5EF4-FFF2-40B4-BE49-F238E27FC236}">
                <a16:creationId xmlns:a16="http://schemas.microsoft.com/office/drawing/2014/main" id="{296B84B5-13DA-4489-AFCB-EBDB6625608A}"/>
              </a:ext>
            </a:extLst>
          </p:cNvPr>
          <p:cNvPicPr>
            <a:picLocks noChangeAspect="1"/>
          </p:cNvPicPr>
          <p:nvPr/>
        </p:nvPicPr>
        <p:blipFill rotWithShape="1">
          <a:blip r:embed="rId3"/>
          <a:srcRect r="26060"/>
          <a:stretch/>
        </p:blipFill>
        <p:spPr>
          <a:xfrm>
            <a:off x="6228934" y="4120830"/>
            <a:ext cx="2097210" cy="1863946"/>
          </a:xfrm>
          <a:prstGeom prst="rect">
            <a:avLst/>
          </a:prstGeom>
        </p:spPr>
      </p:pic>
      <p:sp>
        <p:nvSpPr>
          <p:cNvPr id="3" name="TextBox 2">
            <a:extLst>
              <a:ext uri="{FF2B5EF4-FFF2-40B4-BE49-F238E27FC236}">
                <a16:creationId xmlns:a16="http://schemas.microsoft.com/office/drawing/2014/main" id="{83D07B75-0B16-4344-B619-AD780D0A613C}"/>
              </a:ext>
            </a:extLst>
          </p:cNvPr>
          <p:cNvSpPr txBox="1"/>
          <p:nvPr/>
        </p:nvSpPr>
        <p:spPr>
          <a:xfrm>
            <a:off x="2157050" y="1997322"/>
            <a:ext cx="1948294" cy="369332"/>
          </a:xfrm>
          <a:prstGeom prst="rect">
            <a:avLst/>
          </a:prstGeom>
          <a:noFill/>
        </p:spPr>
        <p:txBody>
          <a:bodyPr wrap="square" rtlCol="0">
            <a:spAutoFit/>
          </a:bodyPr>
          <a:lstStyle/>
          <a:p>
            <a:r>
              <a:rPr lang="en-US" b="1" dirty="0"/>
              <a:t>Course-Faculty</a:t>
            </a:r>
          </a:p>
        </p:txBody>
      </p:sp>
      <p:sp>
        <p:nvSpPr>
          <p:cNvPr id="9" name="TextBox 8">
            <a:extLst>
              <a:ext uri="{FF2B5EF4-FFF2-40B4-BE49-F238E27FC236}">
                <a16:creationId xmlns:a16="http://schemas.microsoft.com/office/drawing/2014/main" id="{649622D2-EBD3-4CC8-B8AE-0E0715F85ED0}"/>
              </a:ext>
            </a:extLst>
          </p:cNvPr>
          <p:cNvSpPr txBox="1"/>
          <p:nvPr/>
        </p:nvSpPr>
        <p:spPr>
          <a:xfrm>
            <a:off x="9728489" y="2125469"/>
            <a:ext cx="1111603" cy="369332"/>
          </a:xfrm>
          <a:prstGeom prst="rect">
            <a:avLst/>
          </a:prstGeom>
          <a:noFill/>
        </p:spPr>
        <p:txBody>
          <a:bodyPr wrap="square" rtlCol="0">
            <a:spAutoFit/>
          </a:bodyPr>
          <a:lstStyle/>
          <a:p>
            <a:r>
              <a:rPr lang="en-US" b="1" dirty="0"/>
              <a:t>Student</a:t>
            </a:r>
          </a:p>
        </p:txBody>
      </p:sp>
      <p:sp>
        <p:nvSpPr>
          <p:cNvPr id="4" name="TextBox 3">
            <a:extLst>
              <a:ext uri="{FF2B5EF4-FFF2-40B4-BE49-F238E27FC236}">
                <a16:creationId xmlns:a16="http://schemas.microsoft.com/office/drawing/2014/main" id="{E87F1D88-9316-4E3D-9A06-046D751DCA45}"/>
              </a:ext>
            </a:extLst>
          </p:cNvPr>
          <p:cNvSpPr txBox="1"/>
          <p:nvPr/>
        </p:nvSpPr>
        <p:spPr>
          <a:xfrm>
            <a:off x="6750000" y="3721596"/>
            <a:ext cx="1055077" cy="369332"/>
          </a:xfrm>
          <a:prstGeom prst="rect">
            <a:avLst/>
          </a:prstGeom>
          <a:noFill/>
        </p:spPr>
        <p:txBody>
          <a:bodyPr wrap="square" rtlCol="0">
            <a:spAutoFit/>
          </a:bodyPr>
          <a:lstStyle/>
          <a:p>
            <a:r>
              <a:rPr lang="en-US" b="1" dirty="0"/>
              <a:t>Grade</a:t>
            </a:r>
          </a:p>
        </p:txBody>
      </p:sp>
      <p:pic>
        <p:nvPicPr>
          <p:cNvPr id="6" name="Picture 5">
            <a:extLst>
              <a:ext uri="{FF2B5EF4-FFF2-40B4-BE49-F238E27FC236}">
                <a16:creationId xmlns:a16="http://schemas.microsoft.com/office/drawing/2014/main" id="{0414B5D9-E7A0-499F-9A54-E6D314F50034}"/>
              </a:ext>
            </a:extLst>
          </p:cNvPr>
          <p:cNvPicPr>
            <a:picLocks noChangeAspect="1"/>
          </p:cNvPicPr>
          <p:nvPr/>
        </p:nvPicPr>
        <p:blipFill>
          <a:blip r:embed="rId4"/>
          <a:stretch>
            <a:fillRect/>
          </a:stretch>
        </p:blipFill>
        <p:spPr>
          <a:xfrm>
            <a:off x="608909" y="2427478"/>
            <a:ext cx="4916625" cy="2416043"/>
          </a:xfrm>
          <a:prstGeom prst="rect">
            <a:avLst/>
          </a:prstGeom>
        </p:spPr>
      </p:pic>
    </p:spTree>
    <p:extLst>
      <p:ext uri="{BB962C8B-B14F-4D97-AF65-F5344CB8AC3E}">
        <p14:creationId xmlns:p14="http://schemas.microsoft.com/office/powerpoint/2010/main" val="2652193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909" y="630724"/>
            <a:ext cx="8746105" cy="1088136"/>
          </a:xfrm>
        </p:spPr>
        <p:txBody>
          <a:bodyPr>
            <a:normAutofit/>
          </a:bodyPr>
          <a:lstStyle/>
          <a:p>
            <a:r>
              <a:rPr lang="en-US" dirty="0"/>
              <a:t>3rd Normal Form</a:t>
            </a:r>
          </a:p>
        </p:txBody>
      </p:sp>
      <p:sp>
        <p:nvSpPr>
          <p:cNvPr id="6" name="TextBox 5">
            <a:extLst>
              <a:ext uri="{FF2B5EF4-FFF2-40B4-BE49-F238E27FC236}">
                <a16:creationId xmlns:a16="http://schemas.microsoft.com/office/drawing/2014/main" id="{77B3787D-C6D9-472A-B634-9C2CC1E38CB8}"/>
              </a:ext>
            </a:extLst>
          </p:cNvPr>
          <p:cNvSpPr txBox="1"/>
          <p:nvPr/>
        </p:nvSpPr>
        <p:spPr>
          <a:xfrm>
            <a:off x="481263" y="2197312"/>
            <a:ext cx="5614737" cy="224676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 relation will be in 3</a:t>
            </a:r>
            <a:r>
              <a:rPr lang="en-US" sz="2000" baseline="30000" dirty="0">
                <a:latin typeface="Times New Roman" panose="02020603050405020304" pitchFamily="18" charset="0"/>
                <a:cs typeface="Times New Roman" panose="02020603050405020304" pitchFamily="18" charset="0"/>
              </a:rPr>
              <a:t>rd</a:t>
            </a:r>
            <a:r>
              <a:rPr lang="en-US" sz="2000" dirty="0">
                <a:latin typeface="Times New Roman" panose="02020603050405020304" pitchFamily="18" charset="0"/>
                <a:cs typeface="Times New Roman" panose="02020603050405020304" pitchFamily="18" charset="0"/>
              </a:rPr>
              <a:t> normal for if</a:t>
            </a: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It is already in 2</a:t>
            </a:r>
            <a:r>
              <a:rPr lang="en-US" sz="2000" baseline="30000" dirty="0">
                <a:latin typeface="Times New Roman" panose="02020603050405020304" pitchFamily="18" charset="0"/>
                <a:cs typeface="Times New Roman" panose="02020603050405020304" pitchFamily="18" charset="0"/>
              </a:rPr>
              <a:t>nd</a:t>
            </a:r>
            <a:r>
              <a:rPr lang="en-US" sz="2000" dirty="0">
                <a:latin typeface="Times New Roman" panose="02020603050405020304" pitchFamily="18" charset="0"/>
                <a:cs typeface="Times New Roman" panose="02020603050405020304" pitchFamily="18" charset="0"/>
              </a:rPr>
              <a:t> normal form</a:t>
            </a: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If there is no transitive dependency in the relation. All the columns can be determined by only the key column not by any other column. A functional dependency is said to be transitive if it is indirectly formed by two functional dependencies.</a:t>
            </a:r>
          </a:p>
        </p:txBody>
      </p:sp>
      <p:pic>
        <p:nvPicPr>
          <p:cNvPr id="17" name="Picture 16">
            <a:extLst>
              <a:ext uri="{FF2B5EF4-FFF2-40B4-BE49-F238E27FC236}">
                <a16:creationId xmlns:a16="http://schemas.microsoft.com/office/drawing/2014/main" id="{46ED414C-0EB6-464F-80E6-0642D8ECD408}"/>
              </a:ext>
            </a:extLst>
          </p:cNvPr>
          <p:cNvPicPr>
            <a:picLocks noChangeAspect="1"/>
          </p:cNvPicPr>
          <p:nvPr/>
        </p:nvPicPr>
        <p:blipFill>
          <a:blip r:embed="rId2"/>
          <a:stretch>
            <a:fillRect/>
          </a:stretch>
        </p:blipFill>
        <p:spPr>
          <a:xfrm>
            <a:off x="6896701" y="2723098"/>
            <a:ext cx="4916625" cy="2416043"/>
          </a:xfrm>
          <a:prstGeom prst="rect">
            <a:avLst/>
          </a:prstGeom>
        </p:spPr>
      </p:pic>
      <p:sp>
        <p:nvSpPr>
          <p:cNvPr id="19" name="TextBox 18">
            <a:extLst>
              <a:ext uri="{FF2B5EF4-FFF2-40B4-BE49-F238E27FC236}">
                <a16:creationId xmlns:a16="http://schemas.microsoft.com/office/drawing/2014/main" id="{D070BA71-50AC-4B27-87D2-50CDA96A7648}"/>
              </a:ext>
            </a:extLst>
          </p:cNvPr>
          <p:cNvSpPr txBox="1"/>
          <p:nvPr/>
        </p:nvSpPr>
        <p:spPr>
          <a:xfrm>
            <a:off x="8509723" y="2197312"/>
            <a:ext cx="1948294" cy="369332"/>
          </a:xfrm>
          <a:prstGeom prst="rect">
            <a:avLst/>
          </a:prstGeom>
          <a:noFill/>
        </p:spPr>
        <p:txBody>
          <a:bodyPr wrap="square" rtlCol="0">
            <a:spAutoFit/>
          </a:bodyPr>
          <a:lstStyle/>
          <a:p>
            <a:r>
              <a:rPr lang="en-US" b="1" dirty="0"/>
              <a:t>Course-Faculty</a:t>
            </a:r>
          </a:p>
        </p:txBody>
      </p:sp>
    </p:spTree>
    <p:extLst>
      <p:ext uri="{BB962C8B-B14F-4D97-AF65-F5344CB8AC3E}">
        <p14:creationId xmlns:p14="http://schemas.microsoft.com/office/powerpoint/2010/main" val="1798353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909" y="630724"/>
            <a:ext cx="8746105" cy="1088136"/>
          </a:xfrm>
        </p:spPr>
        <p:txBody>
          <a:bodyPr>
            <a:normAutofit/>
          </a:bodyPr>
          <a:lstStyle/>
          <a:p>
            <a:r>
              <a:rPr lang="en-US" dirty="0"/>
              <a:t>Application of 3rd Normal Form</a:t>
            </a:r>
          </a:p>
        </p:txBody>
      </p:sp>
      <p:pic>
        <p:nvPicPr>
          <p:cNvPr id="14" name="Picture 13">
            <a:extLst>
              <a:ext uri="{FF2B5EF4-FFF2-40B4-BE49-F238E27FC236}">
                <a16:creationId xmlns:a16="http://schemas.microsoft.com/office/drawing/2014/main" id="{7DF9DAD6-E091-4D26-8172-7D629E1303F5}"/>
              </a:ext>
            </a:extLst>
          </p:cNvPr>
          <p:cNvPicPr>
            <a:picLocks noChangeAspect="1"/>
          </p:cNvPicPr>
          <p:nvPr/>
        </p:nvPicPr>
        <p:blipFill>
          <a:blip r:embed="rId2"/>
          <a:stretch>
            <a:fillRect/>
          </a:stretch>
        </p:blipFill>
        <p:spPr>
          <a:xfrm>
            <a:off x="7038613" y="2488682"/>
            <a:ext cx="3129106" cy="1514225"/>
          </a:xfrm>
          <a:prstGeom prst="rect">
            <a:avLst/>
          </a:prstGeom>
        </p:spPr>
      </p:pic>
      <p:pic>
        <p:nvPicPr>
          <p:cNvPr id="16" name="Picture 15">
            <a:extLst>
              <a:ext uri="{FF2B5EF4-FFF2-40B4-BE49-F238E27FC236}">
                <a16:creationId xmlns:a16="http://schemas.microsoft.com/office/drawing/2014/main" id="{5D5BC831-7047-482D-81DB-7FFD99DD37F2}"/>
              </a:ext>
            </a:extLst>
          </p:cNvPr>
          <p:cNvPicPr>
            <a:picLocks noChangeAspect="1"/>
          </p:cNvPicPr>
          <p:nvPr/>
        </p:nvPicPr>
        <p:blipFill>
          <a:blip r:embed="rId3"/>
          <a:stretch>
            <a:fillRect/>
          </a:stretch>
        </p:blipFill>
        <p:spPr>
          <a:xfrm>
            <a:off x="3647104" y="2519169"/>
            <a:ext cx="3129106" cy="1453249"/>
          </a:xfrm>
          <a:prstGeom prst="rect">
            <a:avLst/>
          </a:prstGeom>
        </p:spPr>
      </p:pic>
      <p:pic>
        <p:nvPicPr>
          <p:cNvPr id="21" name="Picture 20">
            <a:extLst>
              <a:ext uri="{FF2B5EF4-FFF2-40B4-BE49-F238E27FC236}">
                <a16:creationId xmlns:a16="http://schemas.microsoft.com/office/drawing/2014/main" id="{296B84B5-13DA-4489-AFCB-EBDB6625608A}"/>
              </a:ext>
            </a:extLst>
          </p:cNvPr>
          <p:cNvPicPr>
            <a:picLocks noChangeAspect="1"/>
          </p:cNvPicPr>
          <p:nvPr/>
        </p:nvPicPr>
        <p:blipFill rotWithShape="1">
          <a:blip r:embed="rId4"/>
          <a:srcRect r="25765"/>
          <a:stretch/>
        </p:blipFill>
        <p:spPr>
          <a:xfrm>
            <a:off x="10167719" y="4147491"/>
            <a:ext cx="1839798" cy="1863946"/>
          </a:xfrm>
          <a:prstGeom prst="rect">
            <a:avLst/>
          </a:prstGeom>
        </p:spPr>
      </p:pic>
      <p:sp>
        <p:nvSpPr>
          <p:cNvPr id="3" name="TextBox 2">
            <a:extLst>
              <a:ext uri="{FF2B5EF4-FFF2-40B4-BE49-F238E27FC236}">
                <a16:creationId xmlns:a16="http://schemas.microsoft.com/office/drawing/2014/main" id="{83D07B75-0B16-4344-B619-AD780D0A613C}"/>
              </a:ext>
            </a:extLst>
          </p:cNvPr>
          <p:cNvSpPr txBox="1"/>
          <p:nvPr/>
        </p:nvSpPr>
        <p:spPr>
          <a:xfrm>
            <a:off x="1164710" y="2701116"/>
            <a:ext cx="1111603" cy="369332"/>
          </a:xfrm>
          <a:prstGeom prst="rect">
            <a:avLst/>
          </a:prstGeom>
          <a:noFill/>
        </p:spPr>
        <p:txBody>
          <a:bodyPr wrap="square" rtlCol="0">
            <a:spAutoFit/>
          </a:bodyPr>
          <a:lstStyle/>
          <a:p>
            <a:r>
              <a:rPr lang="en-US" b="1" dirty="0"/>
              <a:t>Course</a:t>
            </a:r>
          </a:p>
        </p:txBody>
      </p:sp>
      <p:sp>
        <p:nvSpPr>
          <p:cNvPr id="9" name="TextBox 8">
            <a:extLst>
              <a:ext uri="{FF2B5EF4-FFF2-40B4-BE49-F238E27FC236}">
                <a16:creationId xmlns:a16="http://schemas.microsoft.com/office/drawing/2014/main" id="{649622D2-EBD3-4CC8-B8AE-0E0715F85ED0}"/>
              </a:ext>
            </a:extLst>
          </p:cNvPr>
          <p:cNvSpPr txBox="1"/>
          <p:nvPr/>
        </p:nvSpPr>
        <p:spPr>
          <a:xfrm>
            <a:off x="4655855" y="2098676"/>
            <a:ext cx="1111603" cy="369332"/>
          </a:xfrm>
          <a:prstGeom prst="rect">
            <a:avLst/>
          </a:prstGeom>
          <a:noFill/>
        </p:spPr>
        <p:txBody>
          <a:bodyPr wrap="square" rtlCol="0">
            <a:spAutoFit/>
          </a:bodyPr>
          <a:lstStyle/>
          <a:p>
            <a:r>
              <a:rPr lang="en-US" b="1" dirty="0"/>
              <a:t>Student</a:t>
            </a:r>
          </a:p>
        </p:txBody>
      </p:sp>
      <p:sp>
        <p:nvSpPr>
          <p:cNvPr id="10" name="TextBox 9">
            <a:extLst>
              <a:ext uri="{FF2B5EF4-FFF2-40B4-BE49-F238E27FC236}">
                <a16:creationId xmlns:a16="http://schemas.microsoft.com/office/drawing/2014/main" id="{46B4598B-DB09-4289-9752-926597D828D5}"/>
              </a:ext>
            </a:extLst>
          </p:cNvPr>
          <p:cNvSpPr txBox="1"/>
          <p:nvPr/>
        </p:nvSpPr>
        <p:spPr>
          <a:xfrm>
            <a:off x="8047364" y="2056539"/>
            <a:ext cx="1111603" cy="369332"/>
          </a:xfrm>
          <a:prstGeom prst="rect">
            <a:avLst/>
          </a:prstGeom>
          <a:noFill/>
        </p:spPr>
        <p:txBody>
          <a:bodyPr wrap="square" rtlCol="0">
            <a:spAutoFit/>
          </a:bodyPr>
          <a:lstStyle/>
          <a:p>
            <a:r>
              <a:rPr lang="en-US" b="1" dirty="0"/>
              <a:t>Faculty</a:t>
            </a:r>
          </a:p>
        </p:txBody>
      </p:sp>
      <p:sp>
        <p:nvSpPr>
          <p:cNvPr id="4" name="TextBox 3">
            <a:extLst>
              <a:ext uri="{FF2B5EF4-FFF2-40B4-BE49-F238E27FC236}">
                <a16:creationId xmlns:a16="http://schemas.microsoft.com/office/drawing/2014/main" id="{E87F1D88-9316-4E3D-9A06-046D751DCA45}"/>
              </a:ext>
            </a:extLst>
          </p:cNvPr>
          <p:cNvSpPr txBox="1"/>
          <p:nvPr/>
        </p:nvSpPr>
        <p:spPr>
          <a:xfrm>
            <a:off x="10661930" y="3736391"/>
            <a:ext cx="1055077" cy="369332"/>
          </a:xfrm>
          <a:prstGeom prst="rect">
            <a:avLst/>
          </a:prstGeom>
          <a:noFill/>
        </p:spPr>
        <p:txBody>
          <a:bodyPr wrap="square" rtlCol="0">
            <a:spAutoFit/>
          </a:bodyPr>
          <a:lstStyle/>
          <a:p>
            <a:r>
              <a:rPr lang="en-US" b="1" dirty="0"/>
              <a:t>Grade</a:t>
            </a:r>
          </a:p>
        </p:txBody>
      </p:sp>
      <p:pic>
        <p:nvPicPr>
          <p:cNvPr id="5" name="Picture 4">
            <a:extLst>
              <a:ext uri="{FF2B5EF4-FFF2-40B4-BE49-F238E27FC236}">
                <a16:creationId xmlns:a16="http://schemas.microsoft.com/office/drawing/2014/main" id="{40CB2197-296B-45F5-BDC6-F68388DA2D0F}"/>
              </a:ext>
            </a:extLst>
          </p:cNvPr>
          <p:cNvPicPr>
            <a:picLocks noChangeAspect="1"/>
          </p:cNvPicPr>
          <p:nvPr/>
        </p:nvPicPr>
        <p:blipFill>
          <a:blip r:embed="rId5"/>
          <a:stretch>
            <a:fillRect/>
          </a:stretch>
        </p:blipFill>
        <p:spPr>
          <a:xfrm>
            <a:off x="511910" y="3134478"/>
            <a:ext cx="2649133" cy="2876959"/>
          </a:xfrm>
          <a:prstGeom prst="rect">
            <a:avLst/>
          </a:prstGeom>
        </p:spPr>
      </p:pic>
    </p:spTree>
    <p:extLst>
      <p:ext uri="{BB962C8B-B14F-4D97-AF65-F5344CB8AC3E}">
        <p14:creationId xmlns:p14="http://schemas.microsoft.com/office/powerpoint/2010/main" val="2097943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859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1859494" y="1407887"/>
            <a:ext cx="8416620" cy="3693319"/>
          </a:xfrm>
          <a:prstGeom prst="rect">
            <a:avLst/>
          </a:prstGeom>
          <a:noFill/>
        </p:spPr>
        <p:txBody>
          <a:bodyPr wrap="square" rtlCol="0">
            <a:spAutoFit/>
          </a:bodyPr>
          <a:lstStyle/>
          <a:p>
            <a:pPr marL="342900" indent="-342900">
              <a:buFont typeface="+mj-lt"/>
              <a:buAutoNum type="arabicPeriod"/>
            </a:pPr>
            <a:r>
              <a:rPr lang="en-US" dirty="0"/>
              <a:t>Modern Database Management (Sixth Edition) by Fred R. McFadden, Jeffrey A. </a:t>
            </a:r>
            <a:r>
              <a:rPr lang="en-US" dirty="0" err="1"/>
              <a:t>Hoffer</a:t>
            </a:r>
            <a:r>
              <a:rPr lang="en-US" dirty="0"/>
              <a:t>, Mary B. Prescott</a:t>
            </a:r>
          </a:p>
          <a:p>
            <a:pPr marL="342900" indent="-342900">
              <a:buFont typeface="+mj-lt"/>
              <a:buAutoNum type="arabicPeriod"/>
            </a:pPr>
            <a:r>
              <a:rPr lang="en-US" dirty="0"/>
              <a:t>Database System Concepts (Fifth Edition) by Henry F. Korth, S. Sudarshan, A. Silberschatz</a:t>
            </a:r>
          </a:p>
          <a:p>
            <a:pPr marL="342900" indent="-342900">
              <a:buFont typeface="+mj-lt"/>
              <a:buAutoNum type="arabicPeriod"/>
            </a:pPr>
            <a:r>
              <a:rPr lang="en-US" dirty="0"/>
              <a:t>Oracle-database-10g-sql-fundamentals-1-student-guide-volume-1</a:t>
            </a:r>
          </a:p>
          <a:p>
            <a:pPr marL="342900" indent="-342900">
              <a:buFont typeface="+mj-lt"/>
              <a:buAutoNum type="arabicPeriod"/>
            </a:pPr>
            <a:r>
              <a:rPr lang="en-US" dirty="0"/>
              <a:t>SQL and Relational Theory: How to Write Accurate SQL Code by C.J. Date</a:t>
            </a:r>
          </a:p>
          <a:p>
            <a:pPr marL="342900" indent="-342900">
              <a:buFont typeface="+mj-lt"/>
              <a:buAutoNum type="arabicPeriod"/>
            </a:pPr>
            <a:r>
              <a:rPr lang="en-US" dirty="0"/>
              <a:t>Database Systems: A Practical Approach to Design, Implementation and Management (4th Edition) by Thomas M. Connolly, Carolyn E. </a:t>
            </a:r>
            <a:r>
              <a:rPr lang="en-US" dirty="0" err="1"/>
              <a:t>Begg</a:t>
            </a:r>
            <a:endParaRPr lang="en-US" dirty="0"/>
          </a:p>
          <a:p>
            <a:pPr marL="342900" indent="-342900">
              <a:buFont typeface="+mj-lt"/>
              <a:buAutoNum type="arabicPeriod"/>
            </a:pPr>
            <a:r>
              <a:rPr lang="en-US" dirty="0"/>
              <a:t>Fundamentals of Database Systems, 5th Edition by </a:t>
            </a:r>
            <a:r>
              <a:rPr lang="en-US" dirty="0" err="1"/>
              <a:t>RamezElmasri</a:t>
            </a:r>
            <a:r>
              <a:rPr lang="en-US" dirty="0"/>
              <a:t>, </a:t>
            </a:r>
            <a:r>
              <a:rPr lang="en-US" dirty="0" err="1"/>
              <a:t>Shamkant</a:t>
            </a:r>
            <a:r>
              <a:rPr lang="en-US" dirty="0"/>
              <a:t> B. </a:t>
            </a:r>
            <a:r>
              <a:rPr lang="en-US" dirty="0" err="1"/>
              <a:t>Navathe</a:t>
            </a:r>
            <a:endParaRPr lang="en-US" dirty="0"/>
          </a:p>
          <a:p>
            <a:pPr marL="342900" indent="-342900">
              <a:buFont typeface="+mj-lt"/>
              <a:buAutoNum type="arabicPeriod"/>
            </a:pPr>
            <a:r>
              <a:rPr lang="en-US" dirty="0"/>
              <a:t>Database Design and Relational Theory: Normal Forms and All That Jazz by C. J. Date</a:t>
            </a:r>
          </a:p>
          <a:p>
            <a:pPr marL="342900" indent="-342900">
              <a:buFont typeface="+mj-lt"/>
              <a:buAutoNum type="arabicPeriod"/>
            </a:pPr>
            <a:r>
              <a:rPr lang="en-US" dirty="0"/>
              <a:t>An Introduction to Database Systems 8th Edition, by C.J. Date</a:t>
            </a:r>
          </a:p>
          <a:p>
            <a:endParaRPr lang="x-none" dirty="0"/>
          </a:p>
        </p:txBody>
      </p:sp>
    </p:spTree>
    <p:extLst>
      <p:ext uri="{BB962C8B-B14F-4D97-AF65-F5344CB8AC3E}">
        <p14:creationId xmlns:p14="http://schemas.microsoft.com/office/powerpoint/2010/main" val="106801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1859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1859495" y="1420235"/>
            <a:ext cx="7895771" cy="3416320"/>
          </a:xfrm>
          <a:prstGeom prst="rect">
            <a:avLst/>
          </a:prstGeom>
          <a:noFill/>
        </p:spPr>
        <p:txBody>
          <a:bodyPr wrap="square" rtlCol="0">
            <a:spAutoFit/>
          </a:bodyPr>
          <a:lstStyle/>
          <a:p>
            <a:pPr marL="342900" indent="-342900">
              <a:buAutoNum type="arabicPeriod"/>
            </a:pPr>
            <a:r>
              <a:rPr lang="en-US" dirty="0">
                <a:hlinkClick r:id="rId2"/>
              </a:rPr>
              <a:t>https://www.db-book.com/db6/slide-dir/index.html</a:t>
            </a:r>
            <a:endParaRPr lang="en-US" dirty="0"/>
          </a:p>
          <a:p>
            <a:pPr marL="342900" indent="-342900">
              <a:buAutoNum type="arabicPeriod"/>
            </a:pPr>
            <a:r>
              <a:rPr lang="en-US" dirty="0">
                <a:hlinkClick r:id="rId3"/>
              </a:rPr>
              <a:t>https://docs.oracle.com/en/database/oracle/oracle-database/20/sqlrf/SQL-Standards.html#GUID-BCCCFF75-D2A4-43AD-8CAF-C3C97D92AC63</a:t>
            </a:r>
            <a:endParaRPr lang="en-US" dirty="0"/>
          </a:p>
          <a:p>
            <a:pPr marL="342900" indent="-342900">
              <a:buAutoNum type="arabicPeriod"/>
            </a:pPr>
            <a:r>
              <a:rPr lang="en-US" dirty="0">
                <a:hlinkClick r:id="rId4"/>
              </a:rPr>
              <a:t>https://www.slideshare.net/HaaMeemMohiyuddin1/data-knowledge-and-information</a:t>
            </a:r>
            <a:endParaRPr lang="en-US" dirty="0"/>
          </a:p>
          <a:p>
            <a:pPr marL="342900" indent="-342900">
              <a:buAutoNum type="arabicPeriod"/>
            </a:pPr>
            <a:r>
              <a:rPr lang="en-US" u="sng" dirty="0">
                <a:solidFill>
                  <a:srgbClr val="7030A0"/>
                </a:solidFill>
              </a:rPr>
              <a:t>https://www.tutorialspoint.com/index.htm</a:t>
            </a:r>
          </a:p>
          <a:p>
            <a:pPr marL="342900" indent="-342900">
              <a:buAutoNum type="arabicPeriod"/>
            </a:pPr>
            <a:r>
              <a:rPr lang="en-US" dirty="0">
                <a:hlinkClick r:id="rId5"/>
              </a:rPr>
              <a:t>https://www.slideshare.net/tabinhasan/from-data-to-wisdom</a:t>
            </a:r>
            <a:endParaRPr lang="en-US" dirty="0"/>
          </a:p>
          <a:p>
            <a:pPr marL="342900" indent="-342900">
              <a:buAutoNum type="arabicPeriod"/>
            </a:pPr>
            <a:r>
              <a:rPr lang="en-US" dirty="0">
                <a:hlinkClick r:id="rId6"/>
              </a:rPr>
              <a:t>https://www.slideshare.net/thinnaphat.bo/</a:t>
            </a:r>
            <a:endParaRPr lang="en-US" dirty="0"/>
          </a:p>
          <a:p>
            <a:pPr marL="342900" indent="-342900">
              <a:buAutoNum type="arabicPeriod"/>
            </a:pPr>
            <a:endParaRPr lang="en-US" dirty="0"/>
          </a:p>
          <a:p>
            <a:pPr marL="342900" indent="-342900"/>
            <a:endParaRPr lang="en-US" dirty="0"/>
          </a:p>
          <a:p>
            <a:pPr marL="342900" indent="-342900">
              <a:buAutoNum type="arabicPeriod"/>
            </a:pPr>
            <a:endParaRPr lang="en-US" dirty="0"/>
          </a:p>
          <a:p>
            <a:pPr marL="342900" indent="-342900">
              <a:buAutoNum type="arabicPeriod"/>
            </a:pPr>
            <a:endParaRPr lang="x-none" dirty="0"/>
          </a:p>
        </p:txBody>
      </p:sp>
    </p:spTree>
    <p:extLst>
      <p:ext uri="{BB962C8B-B14F-4D97-AF65-F5344CB8AC3E}">
        <p14:creationId xmlns:p14="http://schemas.microsoft.com/office/powerpoint/2010/main" val="391874469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3041</TotalTime>
  <Words>1128</Words>
  <Application>Microsoft Office PowerPoint</Application>
  <PresentationFormat>Widescreen</PresentationFormat>
  <Paragraphs>255</Paragraphs>
  <Slides>20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Corbel</vt:lpstr>
      <vt:lpstr>Times New Roman</vt:lpstr>
      <vt:lpstr>Wingdings</vt:lpstr>
      <vt:lpstr>Spectrum</vt:lpstr>
      <vt:lpstr>Normalization</vt:lpstr>
      <vt:lpstr>Lecture Outline</vt:lpstr>
      <vt:lpstr>Why Normalize?..</vt:lpstr>
      <vt:lpstr>Normalization</vt:lpstr>
      <vt:lpstr>Data Redundancy</vt:lpstr>
      <vt:lpstr>Data Redundancy</vt:lpstr>
      <vt:lpstr>Data Redundancy</vt:lpstr>
      <vt:lpstr>Insertion Anomalies</vt:lpstr>
      <vt:lpstr>Deletion Anomalies</vt:lpstr>
      <vt:lpstr>Modification Anomalies</vt:lpstr>
      <vt:lpstr>1st Normal Form</vt:lpstr>
      <vt:lpstr>Application Of 1st Normal Form</vt:lpstr>
      <vt:lpstr>Anomalies in 1st Normal Form</vt:lpstr>
      <vt:lpstr>2nd Normal Form</vt:lpstr>
      <vt:lpstr>2nd Normal Form</vt:lpstr>
      <vt:lpstr>Application of 2nd Normal Form</vt:lpstr>
      <vt:lpstr>3rd Normal Form</vt:lpstr>
      <vt:lpstr>Application of 3rd Normal Form</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Nazia Alfaz</cp:lastModifiedBy>
  <cp:revision>81</cp:revision>
  <dcterms:created xsi:type="dcterms:W3CDTF">2018-12-10T17:20:29Z</dcterms:created>
  <dcterms:modified xsi:type="dcterms:W3CDTF">2022-07-26T20:47:19Z</dcterms:modified>
</cp:coreProperties>
</file>