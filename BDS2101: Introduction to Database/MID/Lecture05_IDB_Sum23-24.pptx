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8" r:id="rId5"/>
    <p:sldId id="269" r:id="rId6"/>
    <p:sldId id="270" r:id="rId7"/>
    <p:sldId id="271" r:id="rId8"/>
    <p:sldId id="272" r:id="rId9"/>
    <p:sldId id="273" r:id="rId10"/>
    <p:sldId id="291" r:id="rId11"/>
    <p:sldId id="276" r:id="rId12"/>
    <p:sldId id="277" r:id="rId13"/>
    <p:sldId id="292" r:id="rId14"/>
    <p:sldId id="278" r:id="rId15"/>
    <p:sldId id="293" r:id="rId16"/>
    <p:sldId id="279" r:id="rId17"/>
    <p:sldId id="295" r:id="rId18"/>
    <p:sldId id="280" r:id="rId19"/>
    <p:sldId id="294" r:id="rId20"/>
    <p:sldId id="283" r:id="rId21"/>
    <p:sldId id="274" r:id="rId22"/>
    <p:sldId id="275" r:id="rId23"/>
    <p:sldId id="284" r:id="rId24"/>
    <p:sldId id="285" r:id="rId25"/>
    <p:sldId id="286" r:id="rId26"/>
    <p:sldId id="287" r:id="rId27"/>
    <p:sldId id="290" r:id="rId28"/>
    <p:sldId id="288" r:id="rId29"/>
    <p:sldId id="289" r:id="rId30"/>
    <p:sldId id="264" r:id="rId31"/>
    <p:sldId id="265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NAYEM SIDDIKI" userId="95e3d929-67ef-41a6-8f7f-5c1508644185" providerId="ADAL" clId="{590CF5C6-66D3-41F9-92DA-D3A1B5DECE27}"/>
    <pc:docChg chg="modSld">
      <pc:chgData name="NAYEM SIDDIKI" userId="95e3d929-67ef-41a6-8f7f-5c1508644185" providerId="ADAL" clId="{590CF5C6-66D3-41F9-92DA-D3A1B5DECE27}" dt="2024-09-16T17:15:01.936" v="2" actId="120"/>
      <pc:docMkLst>
        <pc:docMk/>
      </pc:docMkLst>
      <pc:sldChg chg="modSp mod">
        <pc:chgData name="NAYEM SIDDIKI" userId="95e3d929-67ef-41a6-8f7f-5c1508644185" providerId="ADAL" clId="{590CF5C6-66D3-41F9-92DA-D3A1B5DECE27}" dt="2024-09-16T17:15:01.936" v="2" actId="120"/>
        <pc:sldMkLst>
          <pc:docMk/>
          <pc:sldMk cId="2134390752" sldId="266"/>
        </pc:sldMkLst>
        <pc:spChg chg="mod">
          <ac:chgData name="NAYEM SIDDIKI" userId="95e3d929-67ef-41a6-8f7f-5c1508644185" providerId="ADAL" clId="{590CF5C6-66D3-41F9-92DA-D3A1B5DECE27}" dt="2024-09-16T17:15:01.936" v="2" actId="120"/>
          <ac:spMkLst>
            <pc:docMk/>
            <pc:sldMk cId="2134390752" sldId="266"/>
            <ac:spMk id="8" creationId="{00000000-0000-0000-0000-000000000000}"/>
          </ac:spMkLst>
        </pc:spChg>
      </pc:sldChg>
    </pc:docChg>
  </pc:docChgLst>
  <pc:docChgLst>
    <pc:chgData name="NAYEM SIDDIKI" userId="95e3d929-67ef-41a6-8f7f-5c1508644185" providerId="ADAL" clId="{FFD7CDF0-5E4E-4C5E-9F76-235DFA5A9578}"/>
    <pc:docChg chg="undo custSel modSld">
      <pc:chgData name="NAYEM SIDDIKI" userId="95e3d929-67ef-41a6-8f7f-5c1508644185" providerId="ADAL" clId="{FFD7CDF0-5E4E-4C5E-9F76-235DFA5A9578}" dt="2024-07-09T01:01:44.423" v="15" actId="478"/>
      <pc:docMkLst>
        <pc:docMk/>
      </pc:docMkLst>
      <pc:sldChg chg="delSp mod">
        <pc:chgData name="NAYEM SIDDIKI" userId="95e3d929-67ef-41a6-8f7f-5c1508644185" providerId="ADAL" clId="{FFD7CDF0-5E4E-4C5E-9F76-235DFA5A9578}" dt="2024-07-06T02:35:01.977" v="0" actId="478"/>
        <pc:sldMkLst>
          <pc:docMk/>
          <pc:sldMk cId="424874041" sldId="257"/>
        </pc:sldMkLst>
        <pc:spChg chg="del">
          <ac:chgData name="NAYEM SIDDIKI" userId="95e3d929-67ef-41a6-8f7f-5c1508644185" providerId="ADAL" clId="{FFD7CDF0-5E4E-4C5E-9F76-235DFA5A9578}" dt="2024-07-06T02:35:01.977" v="0" actId="478"/>
          <ac:spMkLst>
            <pc:docMk/>
            <pc:sldMk cId="424874041" sldId="257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FFD7CDF0-5E4E-4C5E-9F76-235DFA5A9578}" dt="2024-07-09T01:01:44.423" v="15" actId="478"/>
        <pc:sldMkLst>
          <pc:docMk/>
          <pc:sldMk cId="2134390752" sldId="283"/>
        </pc:sldMkLst>
        <pc:spChg chg="del">
          <ac:chgData name="NAYEM SIDDIKI" userId="95e3d929-67ef-41a6-8f7f-5c1508644185" providerId="ADAL" clId="{FFD7CDF0-5E4E-4C5E-9F76-235DFA5A9578}" dt="2024-07-09T01:01:44.423" v="15" actId="478"/>
          <ac:spMkLst>
            <pc:docMk/>
            <pc:sldMk cId="2134390752" sldId="283"/>
            <ac:spMk id="5" creationId="{3322CB79-31E6-2043-9768-6699756B1FD4}"/>
          </ac:spMkLst>
        </pc:spChg>
      </pc:sldChg>
      <pc:sldChg chg="delSp mod">
        <pc:chgData name="NAYEM SIDDIKI" userId="95e3d929-67ef-41a6-8f7f-5c1508644185" providerId="ADAL" clId="{FFD7CDF0-5E4E-4C5E-9F76-235DFA5A9578}" dt="2024-07-09T01:01:37.314" v="14" actId="478"/>
        <pc:sldMkLst>
          <pc:docMk/>
          <pc:sldMk cId="2134390752" sldId="284"/>
        </pc:sldMkLst>
        <pc:spChg chg="del">
          <ac:chgData name="NAYEM SIDDIKI" userId="95e3d929-67ef-41a6-8f7f-5c1508644185" providerId="ADAL" clId="{FFD7CDF0-5E4E-4C5E-9F76-235DFA5A9578}" dt="2024-07-09T01:01:37.314" v="14" actId="478"/>
          <ac:spMkLst>
            <pc:docMk/>
            <pc:sldMk cId="2134390752" sldId="284"/>
            <ac:spMk id="5" creationId="{3322CB79-31E6-2043-9768-6699756B1FD4}"/>
          </ac:spMkLst>
        </pc:spChg>
      </pc:sldChg>
      <pc:sldChg chg="delSp mod">
        <pc:chgData name="NAYEM SIDDIKI" userId="95e3d929-67ef-41a6-8f7f-5c1508644185" providerId="ADAL" clId="{FFD7CDF0-5E4E-4C5E-9F76-235DFA5A9578}" dt="2024-07-09T01:01:08.113" v="8" actId="478"/>
        <pc:sldMkLst>
          <pc:docMk/>
          <pc:sldMk cId="2134390752" sldId="285"/>
        </pc:sldMkLst>
        <pc:spChg chg="del">
          <ac:chgData name="NAYEM SIDDIKI" userId="95e3d929-67ef-41a6-8f7f-5c1508644185" providerId="ADAL" clId="{FFD7CDF0-5E4E-4C5E-9F76-235DFA5A9578}" dt="2024-07-09T01:01:08.113" v="8" actId="478"/>
          <ac:spMkLst>
            <pc:docMk/>
            <pc:sldMk cId="2134390752" sldId="285"/>
            <ac:spMk id="5" creationId="{3322CB79-31E6-2043-9768-6699756B1FD4}"/>
          </ac:spMkLst>
        </pc:spChg>
      </pc:sldChg>
      <pc:sldChg chg="delSp mod">
        <pc:chgData name="NAYEM SIDDIKI" userId="95e3d929-67ef-41a6-8f7f-5c1508644185" providerId="ADAL" clId="{FFD7CDF0-5E4E-4C5E-9F76-235DFA5A9578}" dt="2024-07-09T01:01:13.472" v="9" actId="478"/>
        <pc:sldMkLst>
          <pc:docMk/>
          <pc:sldMk cId="2134390752" sldId="286"/>
        </pc:sldMkLst>
        <pc:spChg chg="del">
          <ac:chgData name="NAYEM SIDDIKI" userId="95e3d929-67ef-41a6-8f7f-5c1508644185" providerId="ADAL" clId="{FFD7CDF0-5E4E-4C5E-9F76-235DFA5A9578}" dt="2024-07-09T01:01:13.472" v="9" actId="478"/>
          <ac:spMkLst>
            <pc:docMk/>
            <pc:sldMk cId="2134390752" sldId="286"/>
            <ac:spMk id="5" creationId="{3322CB79-31E6-2043-9768-6699756B1FD4}"/>
          </ac:spMkLst>
        </pc:spChg>
      </pc:sldChg>
      <pc:sldChg chg="addSp delSp modSp mod">
        <pc:chgData name="NAYEM SIDDIKI" userId="95e3d929-67ef-41a6-8f7f-5c1508644185" providerId="ADAL" clId="{FFD7CDF0-5E4E-4C5E-9F76-235DFA5A9578}" dt="2024-07-09T01:01:27.300" v="12" actId="478"/>
        <pc:sldMkLst>
          <pc:docMk/>
          <pc:sldMk cId="2134390752" sldId="287"/>
        </pc:sldMkLst>
        <pc:spChg chg="add del">
          <ac:chgData name="NAYEM SIDDIKI" userId="95e3d929-67ef-41a6-8f7f-5c1508644185" providerId="ADAL" clId="{FFD7CDF0-5E4E-4C5E-9F76-235DFA5A9578}" dt="2024-07-09T01:01:21.487" v="11" actId="478"/>
          <ac:spMkLst>
            <pc:docMk/>
            <pc:sldMk cId="2134390752" sldId="287"/>
            <ac:spMk id="2" creationId="{00000000-0000-0000-0000-000000000000}"/>
          </ac:spMkLst>
        </pc:spChg>
        <pc:spChg chg="add del mod">
          <ac:chgData name="NAYEM SIDDIKI" userId="95e3d929-67ef-41a6-8f7f-5c1508644185" providerId="ADAL" clId="{FFD7CDF0-5E4E-4C5E-9F76-235DFA5A9578}" dt="2024-07-09T01:01:21.487" v="11" actId="478"/>
          <ac:spMkLst>
            <pc:docMk/>
            <pc:sldMk cId="2134390752" sldId="287"/>
            <ac:spMk id="4" creationId="{5099AFBF-B451-927D-A306-D2ADB22D8CC1}"/>
          </ac:spMkLst>
        </pc:spChg>
        <pc:spChg chg="del">
          <ac:chgData name="NAYEM SIDDIKI" userId="95e3d929-67ef-41a6-8f7f-5c1508644185" providerId="ADAL" clId="{FFD7CDF0-5E4E-4C5E-9F76-235DFA5A9578}" dt="2024-07-09T01:01:27.300" v="12" actId="478"/>
          <ac:spMkLst>
            <pc:docMk/>
            <pc:sldMk cId="2134390752" sldId="287"/>
            <ac:spMk id="5" creationId="{3322CB79-31E6-2043-9768-6699756B1FD4}"/>
          </ac:spMkLst>
        </pc:spChg>
      </pc:sldChg>
      <pc:sldChg chg="delSp modSp mod">
        <pc:chgData name="NAYEM SIDDIKI" userId="95e3d929-67ef-41a6-8f7f-5c1508644185" providerId="ADAL" clId="{FFD7CDF0-5E4E-4C5E-9F76-235DFA5A9578}" dt="2024-07-08T08:24:37.632" v="7" actId="1076"/>
        <pc:sldMkLst>
          <pc:docMk/>
          <pc:sldMk cId="2134390752" sldId="288"/>
        </pc:sldMkLst>
        <pc:spChg chg="del">
          <ac:chgData name="NAYEM SIDDIKI" userId="95e3d929-67ef-41a6-8f7f-5c1508644185" providerId="ADAL" clId="{FFD7CDF0-5E4E-4C5E-9F76-235DFA5A9578}" dt="2024-07-08T08:24:25.329" v="3" actId="478"/>
          <ac:spMkLst>
            <pc:docMk/>
            <pc:sldMk cId="2134390752" sldId="288"/>
            <ac:spMk id="5" creationId="{3322CB79-31E6-2043-9768-6699756B1FD4}"/>
          </ac:spMkLst>
        </pc:spChg>
        <pc:picChg chg="mod">
          <ac:chgData name="NAYEM SIDDIKI" userId="95e3d929-67ef-41a6-8f7f-5c1508644185" providerId="ADAL" clId="{FFD7CDF0-5E4E-4C5E-9F76-235DFA5A9578}" dt="2024-07-08T08:24:37.632" v="7" actId="1076"/>
          <ac:picMkLst>
            <pc:docMk/>
            <pc:sldMk cId="2134390752" sldId="288"/>
            <ac:picMk id="6" creationId="{00000000-0000-0000-0000-000000000000}"/>
          </ac:picMkLst>
        </pc:picChg>
        <pc:picChg chg="mod">
          <ac:chgData name="NAYEM SIDDIKI" userId="95e3d929-67ef-41a6-8f7f-5c1508644185" providerId="ADAL" clId="{FFD7CDF0-5E4E-4C5E-9F76-235DFA5A9578}" dt="2024-07-08T08:24:35.500" v="6" actId="1076"/>
          <ac:picMkLst>
            <pc:docMk/>
            <pc:sldMk cId="2134390752" sldId="288"/>
            <ac:picMk id="7" creationId="{00000000-0000-0000-0000-000000000000}"/>
          </ac:picMkLst>
        </pc:picChg>
      </pc:sldChg>
      <pc:sldChg chg="delSp mod">
        <pc:chgData name="NAYEM SIDDIKI" userId="95e3d929-67ef-41a6-8f7f-5c1508644185" providerId="ADAL" clId="{FFD7CDF0-5E4E-4C5E-9F76-235DFA5A9578}" dt="2024-07-09T01:01:30.721" v="13" actId="478"/>
        <pc:sldMkLst>
          <pc:docMk/>
          <pc:sldMk cId="2134390752" sldId="290"/>
        </pc:sldMkLst>
        <pc:spChg chg="del">
          <ac:chgData name="NAYEM SIDDIKI" userId="95e3d929-67ef-41a6-8f7f-5c1508644185" providerId="ADAL" clId="{FFD7CDF0-5E4E-4C5E-9F76-235DFA5A9578}" dt="2024-07-09T01:01:30.721" v="13" actId="478"/>
          <ac:spMkLst>
            <pc:docMk/>
            <pc:sldMk cId="2134390752" sldId="290"/>
            <ac:spMk id="5" creationId="{3322CB79-31E6-2043-9768-6699756B1FD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  <p:transition spd="slow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  <p:transition spd="slow"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p:transition spd="slow"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p:transition spd="slow">
    <p:wedg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  <p:transition spd="slow">
    <p:wedg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p:transition spd="slow">
    <p:wedg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 spd="slow">
    <p:wedge/>
  </p:transition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database/oracle/oracle-database/20/sqlrf/SQL-Standards.html" TargetMode="External"/><Relationship Id="rId2" Type="http://schemas.openxmlformats.org/officeDocument/2006/relationships/hyperlink" Target="https://www.db-book.com/db6/slide-dir/index.html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slideshare.net/thinnaphat.bo/" TargetMode="External"/><Relationship Id="rId5" Type="http://schemas.openxmlformats.org/officeDocument/2006/relationships/hyperlink" Target="https://www.slideshare.net/tabinhasan/from-data-to-wisdom" TargetMode="External"/><Relationship Id="rId4" Type="http://schemas.openxmlformats.org/officeDocument/2006/relationships/hyperlink" Target="https://www.slideshare.net/HaaMeemMohiyuddin1/data-knowledge-and-inform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Entity-Relationship Model: </a:t>
            </a:r>
            <a:r>
              <a:rPr lang="en-US" sz="2400" dirty="0"/>
              <a:t>PART 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 CSC 2108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505934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Summer23-24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Nazia Alfaz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Introduction To Database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  <p:transition spd="slow"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6205" y="2274838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74320" indent="-274320">
              <a:buFont typeface="Wingdings 2"/>
              <a:buChar char=""/>
              <a:defRPr/>
            </a:pPr>
            <a:r>
              <a:rPr lang="en-US" sz="2400" dirty="0"/>
              <a:t>ER Diagram 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sz="2400" dirty="0"/>
              <a:t>Alternative ER Notation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sz="2400" dirty="0"/>
              <a:t>Participation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sz="2400" dirty="0"/>
              <a:t>Cardinality Limits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sz="2400" dirty="0"/>
              <a:t>Keys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sz="2400" dirty="0"/>
              <a:t>Weak Entity Set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sz="2400" dirty="0"/>
              <a:t>Generalization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sz="2400" dirty="0"/>
              <a:t>Specialization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sz="2400" dirty="0"/>
              <a:t>Aggregation</a:t>
            </a:r>
          </a:p>
          <a:p>
            <a:pPr marL="274320" indent="-274320">
              <a:buFont typeface="Wingdings 2"/>
              <a:buChar char=""/>
              <a:defRPr/>
            </a:pPr>
            <a:endParaRPr lang="en-US" dirty="0"/>
          </a:p>
          <a:p>
            <a:pPr marL="274320" indent="-274320">
              <a:buFont typeface="Wingdings 2"/>
              <a:buChar char=""/>
              <a:defRPr/>
            </a:pPr>
            <a:endParaRPr lang="en-US" dirty="0"/>
          </a:p>
          <a:p>
            <a:pPr marL="274320" indent="-274320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Notation</a:t>
            </a:r>
            <a:endParaRPr lang="x-none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 l="1064" t="30733" r="1064" b="30733"/>
          <a:stretch>
            <a:fillRect/>
          </a:stretch>
        </p:blipFill>
        <p:spPr bwMode="auto">
          <a:xfrm>
            <a:off x="4205523" y="2208629"/>
            <a:ext cx="4502379" cy="3685734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73767" y="2017059"/>
            <a:ext cx="3665187" cy="4177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b="1" dirty="0"/>
              <a:t>Rectangles</a:t>
            </a:r>
            <a:r>
              <a:rPr kumimoji="1" lang="en-US" dirty="0"/>
              <a:t> represent entity sets.</a:t>
            </a: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b="1" dirty="0"/>
              <a:t>Diamonds</a:t>
            </a:r>
            <a:r>
              <a:rPr kumimoji="1" lang="en-US" dirty="0"/>
              <a:t> represent relationship sets.</a:t>
            </a: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b="1" dirty="0"/>
              <a:t>Lines</a:t>
            </a:r>
            <a:r>
              <a:rPr kumimoji="1" lang="en-US" dirty="0"/>
              <a:t> link attributes to entity sets and entity sets to relationship sets.</a:t>
            </a: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b="1" dirty="0"/>
              <a:t>Ellipses</a:t>
            </a:r>
            <a:r>
              <a:rPr kumimoji="1" lang="en-US" dirty="0"/>
              <a:t> represent attributes</a:t>
            </a:r>
          </a:p>
          <a:p>
            <a:pPr marL="742950" lvl="1" indent="-28575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b="1" dirty="0"/>
              <a:t>Double ellipses</a:t>
            </a:r>
            <a:r>
              <a:rPr kumimoji="1" lang="en-US" dirty="0"/>
              <a:t> represent </a:t>
            </a:r>
            <a:r>
              <a:rPr kumimoji="1" lang="en-US" dirty="0" err="1"/>
              <a:t>multivalued</a:t>
            </a:r>
            <a:r>
              <a:rPr kumimoji="1" lang="en-US" dirty="0"/>
              <a:t> attributes.</a:t>
            </a:r>
          </a:p>
          <a:p>
            <a:pPr marL="742950" lvl="1" indent="-28575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b="1" dirty="0"/>
              <a:t>Dashed ellipses</a:t>
            </a:r>
            <a:r>
              <a:rPr kumimoji="1" lang="en-US" dirty="0"/>
              <a:t> denote derived attributes.</a:t>
            </a: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b="1" dirty="0"/>
              <a:t>Underline</a:t>
            </a:r>
            <a:r>
              <a:rPr kumimoji="1" lang="en-US" dirty="0"/>
              <a:t> indicates primary key attributes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Entity Sets</a:t>
            </a:r>
            <a:endParaRPr lang="x-none" dirty="0"/>
          </a:p>
        </p:txBody>
      </p:sp>
      <p:sp>
        <p:nvSpPr>
          <p:cNvPr id="6" name="Rectangle 5"/>
          <p:cNvSpPr/>
          <p:nvPr/>
        </p:nvSpPr>
        <p:spPr>
          <a:xfrm>
            <a:off x="239151" y="2017059"/>
            <a:ext cx="869383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400" dirty="0"/>
              <a:t>A </a:t>
            </a:r>
            <a:r>
              <a:rPr lang="en-US" sz="2400" i="1" dirty="0"/>
              <a:t>database</a:t>
            </a:r>
            <a:r>
              <a:rPr lang="en-US" sz="2400" dirty="0"/>
              <a:t> can be modeled as a collection of entities or</a:t>
            </a:r>
          </a:p>
          <a:p>
            <a:pPr algn="just"/>
            <a:r>
              <a:rPr lang="en-US" sz="2400" dirty="0"/>
              <a:t>relationship among entities.</a:t>
            </a:r>
          </a:p>
          <a:p>
            <a:pPr algn="just"/>
            <a:endParaRPr lang="en-US" sz="2400" dirty="0"/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An </a:t>
            </a:r>
            <a:r>
              <a:rPr lang="en-US" sz="2400" i="1" dirty="0"/>
              <a:t>entity</a:t>
            </a:r>
            <a:r>
              <a:rPr lang="en-US" sz="2400" dirty="0"/>
              <a:t> is an object that exists and is distinguishable from other objects. Example:  specific person, company, event etc.</a:t>
            </a:r>
          </a:p>
          <a:p>
            <a:pPr algn="just"/>
            <a:endParaRPr lang="en-US" sz="2400" dirty="0"/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Entities have </a:t>
            </a:r>
            <a:r>
              <a:rPr lang="en-US" sz="2400" i="1" dirty="0"/>
              <a:t>attributes. </a:t>
            </a:r>
            <a:r>
              <a:rPr lang="en-US" sz="2400" dirty="0"/>
              <a:t>Example: people have </a:t>
            </a:r>
            <a:r>
              <a:rPr lang="en-US" sz="2400" i="1" dirty="0"/>
              <a:t>names </a:t>
            </a:r>
            <a:r>
              <a:rPr lang="en-US" sz="2400" dirty="0"/>
              <a:t>and </a:t>
            </a:r>
            <a:r>
              <a:rPr lang="en-US" sz="2400" i="1" dirty="0"/>
              <a:t>addresses</a:t>
            </a:r>
          </a:p>
          <a:p>
            <a:pPr algn="just"/>
            <a:r>
              <a:rPr lang="en-US" sz="2400" i="1" dirty="0"/>
              <a:t>	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An </a:t>
            </a:r>
            <a:r>
              <a:rPr lang="en-US" sz="2400" i="1" dirty="0"/>
              <a:t>entity set</a:t>
            </a:r>
            <a:r>
              <a:rPr lang="en-US" sz="2400" dirty="0"/>
              <a:t> is a set of entities of the same type that share the same properties. Example: set of all persons, companies, trees, holidays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Attributes</a:t>
            </a:r>
            <a:endParaRPr lang="x-none" dirty="0"/>
          </a:p>
        </p:txBody>
      </p:sp>
      <p:sp>
        <p:nvSpPr>
          <p:cNvPr id="7" name="Rectangle 6"/>
          <p:cNvSpPr/>
          <p:nvPr/>
        </p:nvSpPr>
        <p:spPr>
          <a:xfrm>
            <a:off x="421341" y="2136339"/>
            <a:ext cx="823029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An entity is represented by a set of attributes, that is descriptive properties possessed by all members of an entity set.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dirty="0"/>
              <a:t>	</a:t>
            </a:r>
            <a:endParaRPr lang="en-US" sz="2400" i="1" dirty="0"/>
          </a:p>
          <a:p>
            <a:pPr>
              <a:lnSpc>
                <a:spcPct val="90000"/>
              </a:lnSpc>
            </a:pPr>
            <a:endParaRPr lang="en-US" sz="2400" i="1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endParaRPr lang="en-US" sz="2400" i="1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endParaRPr lang="en-US" sz="2400" i="1" dirty="0"/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endParaRPr lang="en-US" sz="2400" i="1" dirty="0"/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endParaRPr lang="en-US" sz="2400" i="1" dirty="0"/>
          </a:p>
          <a:p>
            <a:pPr>
              <a:lnSpc>
                <a:spcPct val="90000"/>
              </a:lnSpc>
            </a:pPr>
            <a:endParaRPr lang="en-US" sz="2400" i="1" dirty="0"/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i="1" dirty="0"/>
              <a:t>Domain</a:t>
            </a:r>
            <a:r>
              <a:rPr lang="en-US" sz="2400" dirty="0"/>
              <a:t>  is the set of permitted values for each attribute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6205" y="3277772"/>
          <a:ext cx="6096000" cy="148481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Attributes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1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customer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sz="1800" i="1" dirty="0"/>
                        <a:t>customer-id, customer-name, customer-street, customer-city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sz="1800" i="1" dirty="0"/>
                        <a:t>loan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sz="1800" i="1" dirty="0"/>
                        <a:t>loan-number, amount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Attribute Types</a:t>
            </a:r>
            <a:endParaRPr lang="x-none" dirty="0"/>
          </a:p>
        </p:txBody>
      </p:sp>
      <p:sp>
        <p:nvSpPr>
          <p:cNvPr id="6" name="Rectangle 5"/>
          <p:cNvSpPr/>
          <p:nvPr/>
        </p:nvSpPr>
        <p:spPr>
          <a:xfrm>
            <a:off x="421341" y="2278966"/>
            <a:ext cx="457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i="1" dirty="0"/>
              <a:t>Simple</a:t>
            </a:r>
            <a:r>
              <a:rPr lang="en-US" sz="2400" dirty="0"/>
              <a:t> and </a:t>
            </a:r>
            <a:r>
              <a:rPr lang="en-US" sz="2400" i="1" dirty="0"/>
              <a:t>composite</a:t>
            </a:r>
            <a:r>
              <a:rPr lang="en-US" sz="2400" dirty="0"/>
              <a:t> attributes.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i="1" dirty="0"/>
              <a:t>Single-valued</a:t>
            </a:r>
            <a:r>
              <a:rPr lang="en-US" sz="2400" dirty="0"/>
              <a:t> and </a:t>
            </a:r>
            <a:r>
              <a:rPr lang="en-US" sz="2400" i="1" dirty="0"/>
              <a:t>multi-valued</a:t>
            </a:r>
            <a:r>
              <a:rPr lang="en-US" sz="2400" dirty="0"/>
              <a:t> attributes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/>
              <a:t>   E.g. multi-valued attribute: </a:t>
            </a:r>
            <a:r>
              <a:rPr lang="en-US" sz="2400" i="1" dirty="0"/>
              <a:t>phone-numbers</a:t>
            </a:r>
          </a:p>
          <a:p>
            <a:pPr>
              <a:lnSpc>
                <a:spcPct val="90000"/>
              </a:lnSpc>
              <a:buNone/>
            </a:pPr>
            <a:endParaRPr lang="en-US" sz="2400" i="1" dirty="0"/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i="1" dirty="0"/>
              <a:t>Derived</a:t>
            </a:r>
            <a:r>
              <a:rPr lang="en-US" sz="2400" dirty="0"/>
              <a:t> attributes can be computed from other attributes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/>
              <a:t>   E.g.  </a:t>
            </a:r>
            <a:r>
              <a:rPr lang="en-US" sz="2400" i="1" dirty="0"/>
              <a:t>age</a:t>
            </a:r>
            <a:r>
              <a:rPr lang="en-US" sz="2400" dirty="0"/>
              <a:t>, given date of birth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/>
          <a:srcRect l="1147" t="29082" r="1913" b="28827"/>
          <a:stretch>
            <a:fillRect/>
          </a:stretch>
        </p:blipFill>
        <p:spPr bwMode="auto">
          <a:xfrm>
            <a:off x="4993341" y="2278966"/>
            <a:ext cx="3812343" cy="3756074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Composite, Multivalued and Derived</a:t>
            </a:r>
            <a:endParaRPr lang="x-none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 l="948" t="14647" r="1704" b="16919"/>
          <a:stretch>
            <a:fillRect/>
          </a:stretch>
        </p:blipFill>
        <p:spPr bwMode="auto">
          <a:xfrm>
            <a:off x="421341" y="2278966"/>
            <a:ext cx="8051800" cy="3593197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Relationship Sets</a:t>
            </a:r>
            <a:endParaRPr lang="x-none" dirty="0"/>
          </a:p>
        </p:txBody>
      </p:sp>
      <p:sp>
        <p:nvSpPr>
          <p:cNvPr id="6" name="Rectangle 5"/>
          <p:cNvSpPr/>
          <p:nvPr/>
        </p:nvSpPr>
        <p:spPr>
          <a:xfrm>
            <a:off x="476205" y="2321169"/>
            <a:ext cx="82739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  <a:tabLst>
                <a:tab pos="1536700" algn="ctr"/>
                <a:tab pos="3543300" algn="ctr"/>
                <a:tab pos="5481638" algn="ctr"/>
              </a:tabLst>
            </a:pPr>
            <a:r>
              <a:rPr lang="en-US" sz="2400" dirty="0"/>
              <a:t>A </a:t>
            </a:r>
            <a:r>
              <a:rPr lang="en-US" sz="2400" dirty="0">
                <a:solidFill>
                  <a:schemeClr val="tx2"/>
                </a:solidFill>
              </a:rPr>
              <a:t>relationship</a:t>
            </a:r>
            <a:r>
              <a:rPr lang="en-US" sz="2400" dirty="0"/>
              <a:t> is an association among several entities</a:t>
            </a:r>
          </a:p>
          <a:p>
            <a:pPr>
              <a:buFont typeface="Monotype Sorts" pitchFamily="2" charset="2"/>
              <a:buNone/>
              <a:tabLst>
                <a:tab pos="1536700" algn="ctr"/>
                <a:tab pos="3543300" algn="ctr"/>
                <a:tab pos="5481638" algn="ctr"/>
              </a:tabLst>
            </a:pPr>
            <a:r>
              <a:rPr lang="en-US" sz="2400" dirty="0"/>
              <a:t>Example:</a:t>
            </a:r>
          </a:p>
          <a:p>
            <a:pPr>
              <a:buFont typeface="Monotype Sorts" pitchFamily="2" charset="2"/>
              <a:buNone/>
              <a:tabLst>
                <a:tab pos="1536700" algn="ctr"/>
                <a:tab pos="3543300" algn="ctr"/>
                <a:tab pos="5481638" algn="ctr"/>
              </a:tabLst>
            </a:pPr>
            <a:br>
              <a:rPr lang="en-US" sz="2400" dirty="0"/>
            </a:br>
            <a:r>
              <a:rPr lang="en-US" sz="2400" dirty="0"/>
              <a:t>	</a:t>
            </a:r>
          </a:p>
          <a:p>
            <a:pPr>
              <a:buFont typeface="Arial" pitchFamily="34" charset="0"/>
              <a:buChar char="•"/>
              <a:tabLst>
                <a:tab pos="1536700" algn="ctr"/>
                <a:tab pos="3543300" algn="ctr"/>
                <a:tab pos="5481638" algn="ctr"/>
              </a:tabLst>
            </a:pPr>
            <a:endParaRPr lang="en-US" sz="2400" dirty="0"/>
          </a:p>
          <a:p>
            <a:pPr>
              <a:buFont typeface="Arial" pitchFamily="34" charset="0"/>
              <a:buChar char="•"/>
              <a:tabLst>
                <a:tab pos="1536700" algn="ctr"/>
                <a:tab pos="3543300" algn="ctr"/>
                <a:tab pos="5481638" algn="ctr"/>
              </a:tabLst>
            </a:pPr>
            <a:endParaRPr lang="en-US" sz="2400" dirty="0"/>
          </a:p>
          <a:p>
            <a:pPr>
              <a:buFont typeface="Arial" pitchFamily="34" charset="0"/>
              <a:buChar char="•"/>
              <a:tabLst>
                <a:tab pos="1536700" algn="ctr"/>
                <a:tab pos="3543300" algn="ctr"/>
                <a:tab pos="5481638" algn="ctr"/>
              </a:tabLst>
            </a:pPr>
            <a:r>
              <a:rPr lang="en-US" sz="2400" dirty="0"/>
              <a:t>A </a:t>
            </a:r>
            <a:r>
              <a:rPr lang="en-US" sz="2400" i="1" dirty="0">
                <a:solidFill>
                  <a:schemeClr val="tx2"/>
                </a:solidFill>
              </a:rPr>
              <a:t>relationship </a:t>
            </a:r>
            <a:r>
              <a:rPr lang="en-US" sz="2400" dirty="0">
                <a:solidFill>
                  <a:schemeClr val="tx2"/>
                </a:solidFill>
              </a:rPr>
              <a:t>set</a:t>
            </a:r>
            <a:r>
              <a:rPr lang="en-US" sz="2400" dirty="0"/>
              <a:t> is a mathematical relation among </a:t>
            </a:r>
            <a:r>
              <a:rPr lang="en-US" sz="2400" i="1" dirty="0"/>
              <a:t>n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 2 entities</a:t>
            </a:r>
          </a:p>
          <a:p>
            <a:pPr>
              <a:buFont typeface="Arial" pitchFamily="34" charset="0"/>
              <a:buChar char="•"/>
              <a:tabLst>
                <a:tab pos="1536700" algn="ctr"/>
                <a:tab pos="3543300" algn="ctr"/>
                <a:tab pos="5481638" algn="ctr"/>
              </a:tabLst>
            </a:pPr>
            <a:r>
              <a:rPr lang="en-US" sz="2400" dirty="0"/>
              <a:t>An </a:t>
            </a:r>
            <a:r>
              <a:rPr lang="en-US" sz="2400" i="1" dirty="0"/>
              <a:t>attribute</a:t>
            </a:r>
            <a:r>
              <a:rPr lang="en-US" sz="2400" dirty="0"/>
              <a:t> can also be property of a relationship set.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1182" y="3404382"/>
          <a:ext cx="6096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Deposit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A_102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Relationship Sets with Attributes</a:t>
            </a:r>
            <a:endParaRPr lang="x-none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/>
          <a:srcRect l="1100" t="28851" r="1651" b="28606"/>
          <a:stretch>
            <a:fillRect/>
          </a:stretch>
        </p:blipFill>
        <p:spPr bwMode="auto">
          <a:xfrm>
            <a:off x="231628" y="2475914"/>
            <a:ext cx="8323263" cy="27305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341" y="1581119"/>
            <a:ext cx="7754112" cy="484632"/>
          </a:xfrm>
        </p:spPr>
        <p:txBody>
          <a:bodyPr/>
          <a:lstStyle/>
          <a:p>
            <a:r>
              <a:rPr lang="en-GB" dirty="0"/>
              <a:t>Roles</a:t>
            </a:r>
            <a:endParaRPr lang="x-none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/>
          <a:srcRect l="1768" t="22791" r="2357" b="23051"/>
          <a:stretch>
            <a:fillRect/>
          </a:stretch>
        </p:blipFill>
        <p:spPr bwMode="auto">
          <a:xfrm>
            <a:off x="4614204" y="2532185"/>
            <a:ext cx="4199914" cy="285432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239151" y="2307102"/>
            <a:ext cx="417810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125000"/>
              <a:buFont typeface="Arial" pitchFamily="34" charset="0"/>
              <a:buChar char="•"/>
            </a:pPr>
            <a:r>
              <a:rPr lang="en-US" sz="2000" dirty="0"/>
              <a:t>Entity sets of a relationship need not be distinct</a:t>
            </a:r>
          </a:p>
          <a:p>
            <a:pPr>
              <a:buSzPct val="125000"/>
              <a:buFont typeface="Arial" pitchFamily="34" charset="0"/>
              <a:buChar char="•"/>
            </a:pPr>
            <a:r>
              <a:rPr lang="en-US" sz="2000" dirty="0"/>
              <a:t>The labels “manager” and “worker” are called roles; they specify how employee entities interact via the works-for relationship set.</a:t>
            </a:r>
          </a:p>
          <a:p>
            <a:pPr>
              <a:buSzPct val="125000"/>
              <a:buFont typeface="Arial" pitchFamily="34" charset="0"/>
              <a:buChar char="•"/>
            </a:pPr>
            <a:r>
              <a:rPr lang="en-US" sz="2000" dirty="0"/>
              <a:t>Roles are indicated in E-R diagrams by labeling the lines that connect diamonds to rectangles.</a:t>
            </a:r>
          </a:p>
          <a:p>
            <a:pPr>
              <a:buSzPct val="125000"/>
              <a:buFont typeface="Arial" pitchFamily="34" charset="0"/>
              <a:buChar char="•"/>
            </a:pPr>
            <a:r>
              <a:rPr lang="en-US" sz="2000" dirty="0"/>
              <a:t>Role labels are optional, and are used to clarify semantics of the relationship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Mapping Cardinality </a:t>
            </a:r>
            <a:endParaRPr lang="x-none" dirty="0"/>
          </a:p>
        </p:txBody>
      </p:sp>
      <p:sp>
        <p:nvSpPr>
          <p:cNvPr id="10" name="Rectangle 9"/>
          <p:cNvSpPr/>
          <p:nvPr/>
        </p:nvSpPr>
        <p:spPr>
          <a:xfrm>
            <a:off x="421340" y="2194560"/>
            <a:ext cx="8174019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000" dirty="0"/>
              <a:t>Express the number of entities to which another entity can be associated via a relationship set.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/>
              <a:t>Most useful in describing binary relationship sets.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/>
              <a:t>Mapping Cardinalities affect ER Design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/>
              <a:t>We express cardinality constraints by drawing either a directed line (</a:t>
            </a:r>
            <a:r>
              <a:rPr lang="en-US" sz="2000" dirty="0">
                <a:sym typeface="Symbol" pitchFamily="18" charset="2"/>
              </a:rPr>
              <a:t>), signifying “one,” or an undirected line (—), signifying “many,” between the relationship set and the entity set.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/>
              <a:t>For a binary relationship set the mapping cardinality must be one of the following types: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sz="2000" dirty="0"/>
              <a:t>One to one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sz="2000" dirty="0"/>
              <a:t>One to many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sz="2000" dirty="0"/>
              <a:t>Many to one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sz="2000" dirty="0"/>
              <a:t>Many to many</a:t>
            </a:r>
            <a:endParaRPr lang="en-US" sz="2000" dirty="0">
              <a:sym typeface="Symbol" pitchFamily="18" charset="2"/>
            </a:endParaRPr>
          </a:p>
          <a:p>
            <a:pPr>
              <a:buFont typeface="Arial" pitchFamily="34" charset="0"/>
              <a:buChar char="•"/>
            </a:pPr>
            <a:endParaRPr lang="en-US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One-to-One Relationship </a:t>
            </a:r>
            <a:endParaRPr lang="x-none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/>
          <a:srcRect l="16525" t="63831" r="16737" b="5560"/>
          <a:stretch>
            <a:fillRect/>
          </a:stretch>
        </p:blipFill>
        <p:spPr bwMode="auto">
          <a:xfrm>
            <a:off x="476205" y="2405575"/>
            <a:ext cx="6623050" cy="2278062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One-to-One Relationship </a:t>
            </a:r>
            <a:endParaRPr lang="x-non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D108B5-B013-E1C6-767D-C24821346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534" y="2333472"/>
            <a:ext cx="6614065" cy="1813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8AE152-4F16-2207-FD18-DCE14A0A5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248" y="4369116"/>
            <a:ext cx="5819409" cy="166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893789"/>
      </p:ext>
    </p:extLst>
  </p:cSld>
  <p:clrMapOvr>
    <a:masterClrMapping/>
  </p:clrMapOvr>
  <p:transition spd="slow">
    <p:wedg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One-to-Many Relationship </a:t>
            </a:r>
            <a:endParaRPr lang="x-none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/>
          <a:srcRect l="16525" t="847" r="16737" b="72424"/>
          <a:stretch>
            <a:fillRect/>
          </a:stretch>
        </p:blipFill>
        <p:spPr bwMode="auto">
          <a:xfrm>
            <a:off x="401864" y="2480694"/>
            <a:ext cx="8037513" cy="241458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One-to-Many Relationship </a:t>
            </a:r>
            <a:endParaRPr lang="x-non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D530D-35A1-3CFB-BA8F-AF8F9F81D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693" y="2213975"/>
            <a:ext cx="6882053" cy="18899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E99FB1-46A6-1C66-D2F1-950037CE0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00" y="4300830"/>
            <a:ext cx="7234800" cy="176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734325"/>
      </p:ext>
    </p:extLst>
  </p:cSld>
  <p:clrMapOvr>
    <a:masterClrMapping/>
  </p:clrMapOvr>
  <p:transition spd="slow">
    <p:wedg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Many-to-One Relationship </a:t>
            </a:r>
            <a:endParaRPr lang="x-none" dirty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/>
          <a:srcRect l="16525" t="31747" r="16737" b="39993"/>
          <a:stretch>
            <a:fillRect/>
          </a:stretch>
        </p:blipFill>
        <p:spPr bwMode="auto">
          <a:xfrm>
            <a:off x="421341" y="2489982"/>
            <a:ext cx="7508875" cy="238442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Many-to-One Relationship </a:t>
            </a:r>
            <a:endParaRPr lang="x-non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70EE6B-492F-6F82-8C44-7011C5145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706" y="4183902"/>
            <a:ext cx="6544588" cy="18195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52C20-8E4E-F3E5-4513-6E961301A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475" y="2336635"/>
            <a:ext cx="5389571" cy="152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105941"/>
      </p:ext>
    </p:extLst>
  </p:cSld>
  <p:clrMapOvr>
    <a:masterClrMapping/>
  </p:clrMapOvr>
  <p:transition spd="slow">
    <p:wedg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Many-to-Many Relationship </a:t>
            </a:r>
            <a:endParaRPr lang="x-none" dirty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/>
          <a:srcRect l="1064" t="30733" r="1064" b="30733"/>
          <a:stretch>
            <a:fillRect/>
          </a:stretch>
        </p:blipFill>
        <p:spPr bwMode="auto">
          <a:xfrm>
            <a:off x="421341" y="2461846"/>
            <a:ext cx="7651750" cy="23495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Many-to-Many Relationship </a:t>
            </a:r>
            <a:endParaRPr lang="x-non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E0FC19-CCE7-4132-8E5F-671AF6808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191" y="4183902"/>
            <a:ext cx="6574971" cy="17505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65EF7C-488E-8B42-AEBD-F993E860A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383" y="2243111"/>
            <a:ext cx="6182588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37119"/>
      </p:ext>
    </p:extLst>
  </p:cSld>
  <p:clrMapOvr>
    <a:masterClrMapping/>
  </p:clrMapOvr>
  <p:transition spd="slow">
    <p:wedg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Alternate ER Notation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 l="1154" t="6154" r="1154" b="5641"/>
          <a:stretch>
            <a:fillRect/>
          </a:stretch>
        </p:blipFill>
        <p:spPr bwMode="auto">
          <a:xfrm>
            <a:off x="476205" y="2264898"/>
            <a:ext cx="6958013" cy="3643532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Degree of a Relationship Set </a:t>
            </a:r>
            <a:endParaRPr lang="x-none" dirty="0"/>
          </a:p>
        </p:txBody>
      </p:sp>
      <p:sp>
        <p:nvSpPr>
          <p:cNvPr id="6" name="Rectangle 5"/>
          <p:cNvSpPr/>
          <p:nvPr/>
        </p:nvSpPr>
        <p:spPr>
          <a:xfrm>
            <a:off x="252527" y="2250830"/>
            <a:ext cx="855384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400" dirty="0"/>
              <a:t>Refers to number of entity sets that participate in a relationship set.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Relationship sets that involve two entity sets are </a:t>
            </a:r>
            <a:r>
              <a:rPr lang="en-US" sz="2400" i="1" dirty="0">
                <a:solidFill>
                  <a:schemeClr val="tx2"/>
                </a:solidFill>
              </a:rPr>
              <a:t>binary</a:t>
            </a:r>
            <a:r>
              <a:rPr lang="en-US" sz="2400" dirty="0"/>
              <a:t> (or degree two).  Generally, most relationship sets in a database system are binary.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Relationship sets may involve more than two entity sets. 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Relationships between more than two entity sets are rare.  Most relationships are binary.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Ternary Relationship </a:t>
            </a:r>
            <a:endParaRPr lang="x-none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 l="1160" t="27061" r="774" b="26804"/>
          <a:stretch>
            <a:fillRect/>
          </a:stretch>
        </p:blipFill>
        <p:spPr bwMode="auto">
          <a:xfrm>
            <a:off x="252529" y="2321169"/>
            <a:ext cx="8278813" cy="29210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32117" y="2208628"/>
            <a:ext cx="5831058" cy="1020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b="1" dirty="0"/>
              <a:t>Total participation </a:t>
            </a: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b="1" dirty="0"/>
              <a:t>Partial participation</a:t>
            </a:r>
            <a:endParaRPr lang="en-US" dirty="0"/>
          </a:p>
          <a:p>
            <a:pPr marL="274320" indent="-274320">
              <a:buFont typeface="Wingdings 2"/>
              <a:buChar char=""/>
              <a:defRPr/>
            </a:pPr>
            <a:endParaRPr lang="en-US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/>
          <a:srcRect l="1141" t="32826" r="978" b="34566"/>
          <a:stretch>
            <a:fillRect/>
          </a:stretch>
        </p:blipFill>
        <p:spPr bwMode="auto">
          <a:xfrm>
            <a:off x="668214" y="3228907"/>
            <a:ext cx="7350369" cy="266417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Cardinality Limits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 l="1701" t="30498" r="1323" b="29489"/>
          <a:stretch>
            <a:fillRect/>
          </a:stretch>
        </p:blipFill>
        <p:spPr bwMode="auto">
          <a:xfrm>
            <a:off x="508000" y="2405575"/>
            <a:ext cx="8197850" cy="308292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Keys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204" y="2307102"/>
            <a:ext cx="7754113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400" dirty="0"/>
              <a:t>A </a:t>
            </a:r>
            <a:r>
              <a:rPr lang="en-US" sz="2400" i="1" dirty="0">
                <a:solidFill>
                  <a:schemeClr val="tx2"/>
                </a:solidFill>
              </a:rPr>
              <a:t>super key</a:t>
            </a:r>
            <a:r>
              <a:rPr lang="en-US" sz="2400" dirty="0"/>
              <a:t> of an entity set is a set of one or more attributes whose values uniquely determine each entity.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A </a:t>
            </a:r>
            <a:r>
              <a:rPr lang="en-US" sz="2400" i="1" dirty="0">
                <a:solidFill>
                  <a:schemeClr val="tx2"/>
                </a:solidFill>
              </a:rPr>
              <a:t>candidate key</a:t>
            </a:r>
            <a:r>
              <a:rPr lang="en-US" sz="2400" dirty="0"/>
              <a:t> of an entity set is a minimal super key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Although several candidate keys may exist, one of the candidate keys is selected to be the </a:t>
            </a:r>
            <a:r>
              <a:rPr lang="en-US" sz="2400" i="1" dirty="0">
                <a:solidFill>
                  <a:schemeClr val="tx2"/>
                </a:solidFill>
              </a:rPr>
              <a:t>primary key</a:t>
            </a:r>
            <a:r>
              <a:rPr lang="en-US" sz="2400" dirty="0"/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Every candidate key is a super key but, every super key may or may not be a candidate key.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b="1" dirty="0"/>
              <a:t>Foreign Key</a:t>
            </a:r>
            <a:r>
              <a:rPr lang="en-US" sz="2400" dirty="0"/>
              <a:t> of the entity attribute is the entity which is the primary key of the related entity. Foreign key helps to establish the mapping between two or more entities. 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Weak Entity 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04" y="2194560"/>
            <a:ext cx="804881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125000"/>
              <a:buFont typeface="Arial" pitchFamily="34" charset="0"/>
              <a:buChar char="•"/>
            </a:pPr>
            <a:r>
              <a:rPr lang="en-US" dirty="0"/>
              <a:t>An entity set that does not have a primary key is referred to as a weak entity set.</a:t>
            </a:r>
          </a:p>
          <a:p>
            <a:pPr>
              <a:buSzPct val="125000"/>
              <a:buFont typeface="Arial" pitchFamily="34" charset="0"/>
              <a:buChar char="•"/>
            </a:pPr>
            <a:r>
              <a:rPr lang="en-US" dirty="0"/>
              <a:t>The existence of a weak entity set depends on the existence of a identifying entity set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 it must relate to the identifying entity set via a total, one-to-many relationship set from the identifying to the weak entity set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Identifying relationship depicted using a double diamond</a:t>
            </a:r>
          </a:p>
          <a:p>
            <a:pPr>
              <a:buSzPct val="125000"/>
              <a:buFont typeface="Arial" pitchFamily="34" charset="0"/>
              <a:buChar char="•"/>
            </a:pPr>
            <a:r>
              <a:rPr lang="en-US" dirty="0"/>
              <a:t>The discriminator (or partial key) of a weak entity set is the set of attributes that distinguishes among all the entities of a weak entity set.</a:t>
            </a:r>
          </a:p>
          <a:p>
            <a:pPr>
              <a:buSzPct val="125000"/>
              <a:buFont typeface="Arial" pitchFamily="34" charset="0"/>
              <a:buChar char="•"/>
            </a:pPr>
            <a:r>
              <a:rPr lang="en-US" dirty="0"/>
              <a:t>The primary key of a weak entity set is formed by the primary key of the strong entity set on which the weak entity set is existence dependent, plus the weak entity set’s discriminator.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Weak Entity Sets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/>
          <a:srcRect l="900" t="27867" r="1082" b="27628"/>
          <a:stretch>
            <a:fillRect/>
          </a:stretch>
        </p:blipFill>
        <p:spPr bwMode="auto">
          <a:xfrm>
            <a:off x="4093698" y="2349305"/>
            <a:ext cx="4762965" cy="371387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89914" y="2274837"/>
            <a:ext cx="373497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125000"/>
              <a:buFont typeface="Arial" pitchFamily="34" charset="0"/>
              <a:buChar char="•"/>
            </a:pPr>
            <a:r>
              <a:rPr lang="en-US" sz="2000" dirty="0"/>
              <a:t>We depict a weak entity set by double rectangles.</a:t>
            </a:r>
          </a:p>
          <a:p>
            <a:pPr>
              <a:buSzPct val="125000"/>
              <a:buFont typeface="Arial" pitchFamily="34" charset="0"/>
              <a:buChar char="•"/>
            </a:pPr>
            <a:r>
              <a:rPr lang="en-US" sz="2000" dirty="0"/>
              <a:t>We underline the discriminator of a weak entity set  with a dashed line.</a:t>
            </a:r>
          </a:p>
          <a:p>
            <a:pPr>
              <a:buSzPct val="125000"/>
              <a:buFont typeface="Arial" pitchFamily="34" charset="0"/>
              <a:buChar char="•"/>
            </a:pPr>
            <a:r>
              <a:rPr lang="en-US" sz="2000" i="1" dirty="0"/>
              <a:t>payment-number</a:t>
            </a:r>
            <a:r>
              <a:rPr lang="en-US" sz="2000" dirty="0"/>
              <a:t> – discriminator of the </a:t>
            </a:r>
            <a:r>
              <a:rPr lang="en-US" sz="2000" i="1" dirty="0"/>
              <a:t>payment </a:t>
            </a:r>
            <a:r>
              <a:rPr lang="en-US" sz="2000" dirty="0"/>
              <a:t>entity set </a:t>
            </a:r>
          </a:p>
          <a:p>
            <a:pPr>
              <a:buSzPct val="125000"/>
              <a:buFont typeface="Arial" pitchFamily="34" charset="0"/>
              <a:buChar char="•"/>
            </a:pPr>
            <a:r>
              <a:rPr lang="en-US" sz="2000" dirty="0"/>
              <a:t>Primary key for </a:t>
            </a:r>
            <a:r>
              <a:rPr lang="en-US" sz="2000" i="1" dirty="0"/>
              <a:t>payment </a:t>
            </a:r>
            <a:r>
              <a:rPr lang="en-US" sz="2000" dirty="0"/>
              <a:t>– (</a:t>
            </a:r>
            <a:r>
              <a:rPr lang="en-US" sz="2000" i="1" dirty="0"/>
              <a:t>loan-number, payment-number</a:t>
            </a:r>
            <a:r>
              <a:rPr lang="en-US" sz="20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Generalization and Specialization</a:t>
            </a:r>
          </a:p>
        </p:txBody>
      </p:sp>
      <p:pic>
        <p:nvPicPr>
          <p:cNvPr id="6" name="Picture 2" descr="C:\Users\user pc\Desktop\8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7570" y="2230557"/>
            <a:ext cx="4597399" cy="3707678"/>
          </a:xfrm>
          <a:prstGeom prst="rect">
            <a:avLst/>
          </a:prstGeom>
          <a:noFill/>
        </p:spPr>
      </p:pic>
      <p:pic>
        <p:nvPicPr>
          <p:cNvPr id="7" name="Picture 2" descr="C:\Users\user pc\Desktop\9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2405575"/>
            <a:ext cx="4216400" cy="31511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Aggregation</a:t>
            </a:r>
          </a:p>
        </p:txBody>
      </p:sp>
      <p:pic>
        <p:nvPicPr>
          <p:cNvPr id="8" name="Picture 2" descr="C:\Users\user pc\Desktop\1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97612" y="2250830"/>
            <a:ext cx="5162844" cy="35919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ransition spd="slow">
    <p:wedg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407886"/>
            <a:ext cx="84166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Modern Database Management (Sixth Edition) by Fred R. McFadden, Jeffrey A. </a:t>
            </a:r>
            <a:r>
              <a:rPr lang="en-US" dirty="0" err="1"/>
              <a:t>Hoffer</a:t>
            </a:r>
            <a:r>
              <a:rPr lang="en-US" dirty="0"/>
              <a:t>, Mary B. Prescott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Database System Concepts (Fifth Edition) by Henry F. Korth, S. Sudarshan, A. Silberschatz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Oracle-database-10g-sql-fundamentals-1-student-guide-volume-1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SQL and Relational Theory: How to Write Accurate SQL Code by C.J. Date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Database Systems: A Practical Approach to Design, Implementation and Management (4th Edition) by Thomas M. Connolly, Carolyn E. </a:t>
            </a:r>
            <a:r>
              <a:rPr lang="en-US" dirty="0" err="1"/>
              <a:t>Begg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Fundamentals of Database Systems, 5th Edition by </a:t>
            </a:r>
            <a:r>
              <a:rPr lang="en-US" dirty="0" err="1"/>
              <a:t>RamezElmasri</a:t>
            </a:r>
            <a:r>
              <a:rPr lang="en-US" dirty="0"/>
              <a:t>, </a:t>
            </a:r>
            <a:r>
              <a:rPr lang="en-US" dirty="0" err="1"/>
              <a:t>Shamkant</a:t>
            </a:r>
            <a:r>
              <a:rPr lang="en-US" dirty="0"/>
              <a:t> B. </a:t>
            </a:r>
            <a:r>
              <a:rPr lang="en-US" dirty="0" err="1"/>
              <a:t>Navathe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Database Design and Relational Theory: Normal Forms and All That Jazz by C. J. Date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An Introduction to Database Systems 8th Edition, by C.J. Date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  <p:transition spd="slow">
    <p:wedg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35494" y="1420234"/>
            <a:ext cx="78957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https://www.db-book.com/db6/slide-dir/index.html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https://docs.oracle.com/en/database/oracle/oracle-database/20/sqlrf/SQL-Standards.html#GUID-BCCCFF75-D2A4-43AD-8CAF-C3C97D92AC63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4"/>
              </a:rPr>
              <a:t>https://www.slideshare.net/HaaMeemMohiyuddin1/data-knowledge-and-information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5"/>
              </a:rPr>
              <a:t>https://www.slideshare.net/tabinhasan/from-data-to-wisdom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6"/>
              </a:rPr>
              <a:t>https</a:t>
            </a:r>
            <a:r>
              <a:rPr lang="en-US">
                <a:hlinkClick r:id="rId6"/>
              </a:rPr>
              <a:t>://www.slideshare.net/thinnaphat.bo/</a:t>
            </a:r>
            <a:endParaRPr lang="en-US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/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  <p:transition spd="slow">
    <p:wedge/>
  </p:transition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748</TotalTime>
  <Words>1120</Words>
  <Application>Microsoft Office PowerPoint</Application>
  <PresentationFormat>On-screen Show (4:3)</PresentationFormat>
  <Paragraphs>171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Corbel</vt:lpstr>
      <vt:lpstr>Monotype Sorts</vt:lpstr>
      <vt:lpstr>Symbol</vt:lpstr>
      <vt:lpstr>Wingdings</vt:lpstr>
      <vt:lpstr>Wingdings 2</vt:lpstr>
      <vt:lpstr>Spectrum</vt:lpstr>
      <vt:lpstr>Entity-Relationship Model: PART 01</vt:lpstr>
      <vt:lpstr>Lecture Outline</vt:lpstr>
      <vt:lpstr>ER Diagram</vt:lpstr>
      <vt:lpstr>ER Diagram</vt:lpstr>
      <vt:lpstr>ER Diagram</vt:lpstr>
      <vt:lpstr>ER Diagram</vt:lpstr>
      <vt:lpstr>ER Diagram</vt:lpstr>
      <vt:lpstr>ER Diagram</vt:lpstr>
      <vt:lpstr>ER Diagram</vt:lpstr>
      <vt:lpstr>ER Diagram</vt:lpstr>
      <vt:lpstr>ER Diagram</vt:lpstr>
      <vt:lpstr>ER Diagram</vt:lpstr>
      <vt:lpstr>ER Diagram</vt:lpstr>
      <vt:lpstr>ER Diagram</vt:lpstr>
      <vt:lpstr>ER Diagram</vt:lpstr>
      <vt:lpstr>ER Diagram</vt:lpstr>
      <vt:lpstr>ER Diagram</vt:lpstr>
      <vt:lpstr>ER Diagram</vt:lpstr>
      <vt:lpstr>ER Diagram</vt:lpstr>
      <vt:lpstr>Alternate ER Notation</vt:lpstr>
      <vt:lpstr>ER Diagram</vt:lpstr>
      <vt:lpstr>ER Diagram</vt:lpstr>
      <vt:lpstr>Participation</vt:lpstr>
      <vt:lpstr>Cardinality Limits</vt:lpstr>
      <vt:lpstr>Keys</vt:lpstr>
      <vt:lpstr>Weak Entity Sets</vt:lpstr>
      <vt:lpstr>Weak Entity Sets</vt:lpstr>
      <vt:lpstr>Generalization and Specialization</vt:lpstr>
      <vt:lpstr>Aggregation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NAYEM SIDDIKI</cp:lastModifiedBy>
  <cp:revision>36</cp:revision>
  <dcterms:created xsi:type="dcterms:W3CDTF">2018-12-10T17:20:29Z</dcterms:created>
  <dcterms:modified xsi:type="dcterms:W3CDTF">2024-09-16T17:15:03Z</dcterms:modified>
</cp:coreProperties>
</file>