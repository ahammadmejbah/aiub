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66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299" r:id="rId27"/>
    <p:sldId id="26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AYEM SIDDIKI" userId="95e3d929-67ef-41a6-8f7f-5c1508644185" providerId="ADAL" clId="{D980D572-F1BF-4B14-B9A4-1794AED5237C}"/>
    <pc:docChg chg="custSel modSld">
      <pc:chgData name="NAYEM SIDDIKI" userId="95e3d929-67ef-41a6-8f7f-5c1508644185" providerId="ADAL" clId="{D980D572-F1BF-4B14-B9A4-1794AED5237C}" dt="2024-07-08T03:45:12.118" v="3" actId="478"/>
      <pc:docMkLst>
        <pc:docMk/>
      </pc:docMkLst>
      <pc:sldChg chg="delSp mod">
        <pc:chgData name="NAYEM SIDDIKI" userId="95e3d929-67ef-41a6-8f7f-5c1508644185" providerId="ADAL" clId="{D980D572-F1BF-4B14-B9A4-1794AED5237C}" dt="2024-07-08T03:14:39.653" v="0" actId="478"/>
        <pc:sldMkLst>
          <pc:docMk/>
          <pc:sldMk cId="2134390752" sldId="266"/>
        </pc:sldMkLst>
        <pc:spChg chg="del">
          <ac:chgData name="NAYEM SIDDIKI" userId="95e3d929-67ef-41a6-8f7f-5c1508644185" providerId="ADAL" clId="{D980D572-F1BF-4B14-B9A4-1794AED5237C}" dt="2024-07-08T03:14:39.653" v="0" actId="478"/>
          <ac:spMkLst>
            <pc:docMk/>
            <pc:sldMk cId="2134390752" sldId="266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D980D572-F1BF-4B14-B9A4-1794AED5237C}" dt="2024-07-08T03:44:58.124" v="1" actId="478"/>
        <pc:sldMkLst>
          <pc:docMk/>
          <pc:sldMk cId="2134390752" sldId="303"/>
        </pc:sldMkLst>
        <pc:spChg chg="del">
          <ac:chgData name="NAYEM SIDDIKI" userId="95e3d929-67ef-41a6-8f7f-5c1508644185" providerId="ADAL" clId="{D980D572-F1BF-4B14-B9A4-1794AED5237C}" dt="2024-07-08T03:44:58.124" v="1" actId="478"/>
          <ac:spMkLst>
            <pc:docMk/>
            <pc:sldMk cId="2134390752" sldId="303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D980D572-F1BF-4B14-B9A4-1794AED5237C}" dt="2024-07-08T03:45:04.901" v="2" actId="478"/>
        <pc:sldMkLst>
          <pc:docMk/>
          <pc:sldMk cId="2134390752" sldId="304"/>
        </pc:sldMkLst>
        <pc:spChg chg="del">
          <ac:chgData name="NAYEM SIDDIKI" userId="95e3d929-67ef-41a6-8f7f-5c1508644185" providerId="ADAL" clId="{D980D572-F1BF-4B14-B9A4-1794AED5237C}" dt="2024-07-08T03:45:04.901" v="2" actId="478"/>
          <ac:spMkLst>
            <pc:docMk/>
            <pc:sldMk cId="2134390752" sldId="304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D980D572-F1BF-4B14-B9A4-1794AED5237C}" dt="2024-07-08T03:45:12.118" v="3" actId="478"/>
        <pc:sldMkLst>
          <pc:docMk/>
          <pc:sldMk cId="2134390752" sldId="305"/>
        </pc:sldMkLst>
        <pc:spChg chg="del">
          <ac:chgData name="NAYEM SIDDIKI" userId="95e3d929-67ef-41a6-8f7f-5c1508644185" providerId="ADAL" clId="{D980D572-F1BF-4B14-B9A4-1794AED5237C}" dt="2024-07-08T03:45:12.118" v="3" actId="478"/>
          <ac:spMkLst>
            <pc:docMk/>
            <pc:sldMk cId="2134390752" sldId="305"/>
            <ac:spMk id="107" creationId="{00000000-0000-0000-0000-000000000000}"/>
          </ac:spMkLst>
        </pc:spChg>
      </pc:sldChg>
    </pc:docChg>
  </pc:docChgLst>
  <pc:docChgLst>
    <pc:chgData name="NAYEM SIDDIKI" userId="95e3d929-67ef-41a6-8f7f-5c1508644185" providerId="ADAL" clId="{FA0C38CF-106D-4C49-A58A-C8F39CC48C5C}"/>
    <pc:docChg chg="custSel modSld">
      <pc:chgData name="NAYEM SIDDIKI" userId="95e3d929-67ef-41a6-8f7f-5c1508644185" providerId="ADAL" clId="{FA0C38CF-106D-4C49-A58A-C8F39CC48C5C}" dt="2024-06-11T00:42:19.903" v="9" actId="478"/>
      <pc:docMkLst>
        <pc:docMk/>
      </pc:docMkLst>
      <pc:sldChg chg="delSp mod">
        <pc:chgData name="NAYEM SIDDIKI" userId="95e3d929-67ef-41a6-8f7f-5c1508644185" providerId="ADAL" clId="{FA0C38CF-106D-4C49-A58A-C8F39CC48C5C}" dt="2024-06-11T00:23:02.678" v="0" actId="478"/>
        <pc:sldMkLst>
          <pc:docMk/>
          <pc:sldMk cId="2134390752" sldId="306"/>
        </pc:sldMkLst>
        <pc:spChg chg="del">
          <ac:chgData name="NAYEM SIDDIKI" userId="95e3d929-67ef-41a6-8f7f-5c1508644185" providerId="ADAL" clId="{FA0C38CF-106D-4C49-A58A-C8F39CC48C5C}" dt="2024-06-11T00:23:02.678" v="0" actId="478"/>
          <ac:spMkLst>
            <pc:docMk/>
            <pc:sldMk cId="2134390752" sldId="306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FA0C38CF-106D-4C49-A58A-C8F39CC48C5C}" dt="2024-06-11T00:28:47.605" v="1" actId="478"/>
        <pc:sldMkLst>
          <pc:docMk/>
          <pc:sldMk cId="2134390752" sldId="307"/>
        </pc:sldMkLst>
        <pc:spChg chg="del">
          <ac:chgData name="NAYEM SIDDIKI" userId="95e3d929-67ef-41a6-8f7f-5c1508644185" providerId="ADAL" clId="{FA0C38CF-106D-4C49-A58A-C8F39CC48C5C}" dt="2024-06-11T00:28:47.605" v="1" actId="478"/>
          <ac:spMkLst>
            <pc:docMk/>
            <pc:sldMk cId="2134390752" sldId="307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FA0C38CF-106D-4C49-A58A-C8F39CC48C5C}" dt="2024-06-11T00:30:23.644" v="2" actId="478"/>
        <pc:sldMkLst>
          <pc:docMk/>
          <pc:sldMk cId="2134390752" sldId="308"/>
        </pc:sldMkLst>
        <pc:spChg chg="del">
          <ac:chgData name="NAYEM SIDDIKI" userId="95e3d929-67ef-41a6-8f7f-5c1508644185" providerId="ADAL" clId="{FA0C38CF-106D-4C49-A58A-C8F39CC48C5C}" dt="2024-06-11T00:30:23.644" v="2" actId="478"/>
          <ac:spMkLst>
            <pc:docMk/>
            <pc:sldMk cId="2134390752" sldId="308"/>
            <ac:spMk id="107" creationId="{00000000-0000-0000-0000-000000000000}"/>
          </ac:spMkLst>
        </pc:spChg>
      </pc:sldChg>
      <pc:sldChg chg="delSp modSp mod">
        <pc:chgData name="NAYEM SIDDIKI" userId="95e3d929-67ef-41a6-8f7f-5c1508644185" providerId="ADAL" clId="{FA0C38CF-106D-4C49-A58A-C8F39CC48C5C}" dt="2024-06-11T00:32:12.391" v="4" actId="14100"/>
        <pc:sldMkLst>
          <pc:docMk/>
          <pc:sldMk cId="2134390752" sldId="309"/>
        </pc:sldMkLst>
        <pc:spChg chg="mod">
          <ac:chgData name="NAYEM SIDDIKI" userId="95e3d929-67ef-41a6-8f7f-5c1508644185" providerId="ADAL" clId="{FA0C38CF-106D-4C49-A58A-C8F39CC48C5C}" dt="2024-06-11T00:32:12.391" v="4" actId="14100"/>
          <ac:spMkLst>
            <pc:docMk/>
            <pc:sldMk cId="2134390752" sldId="309"/>
            <ac:spMk id="21" creationId="{00000000-0000-0000-0000-000000000000}"/>
          </ac:spMkLst>
        </pc:spChg>
        <pc:spChg chg="del">
          <ac:chgData name="NAYEM SIDDIKI" userId="95e3d929-67ef-41a6-8f7f-5c1508644185" providerId="ADAL" clId="{FA0C38CF-106D-4C49-A58A-C8F39CC48C5C}" dt="2024-06-11T00:31:24.974" v="3" actId="478"/>
          <ac:spMkLst>
            <pc:docMk/>
            <pc:sldMk cId="2134390752" sldId="309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FA0C38CF-106D-4C49-A58A-C8F39CC48C5C}" dt="2024-06-11T00:32:31.187" v="5" actId="478"/>
        <pc:sldMkLst>
          <pc:docMk/>
          <pc:sldMk cId="2134390752" sldId="310"/>
        </pc:sldMkLst>
        <pc:spChg chg="del">
          <ac:chgData name="NAYEM SIDDIKI" userId="95e3d929-67ef-41a6-8f7f-5c1508644185" providerId="ADAL" clId="{FA0C38CF-106D-4C49-A58A-C8F39CC48C5C}" dt="2024-06-11T00:32:31.187" v="5" actId="478"/>
          <ac:spMkLst>
            <pc:docMk/>
            <pc:sldMk cId="2134390752" sldId="310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FA0C38CF-106D-4C49-A58A-C8F39CC48C5C}" dt="2024-06-11T00:33:34.183" v="6" actId="478"/>
        <pc:sldMkLst>
          <pc:docMk/>
          <pc:sldMk cId="2134390752" sldId="311"/>
        </pc:sldMkLst>
        <pc:spChg chg="del">
          <ac:chgData name="NAYEM SIDDIKI" userId="95e3d929-67ef-41a6-8f7f-5c1508644185" providerId="ADAL" clId="{FA0C38CF-106D-4C49-A58A-C8F39CC48C5C}" dt="2024-06-11T00:33:34.183" v="6" actId="478"/>
          <ac:spMkLst>
            <pc:docMk/>
            <pc:sldMk cId="2134390752" sldId="311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FA0C38CF-106D-4C49-A58A-C8F39CC48C5C}" dt="2024-06-11T00:34:26.181" v="7" actId="478"/>
        <pc:sldMkLst>
          <pc:docMk/>
          <pc:sldMk cId="2134390752" sldId="312"/>
        </pc:sldMkLst>
        <pc:spChg chg="del">
          <ac:chgData name="NAYEM SIDDIKI" userId="95e3d929-67ef-41a6-8f7f-5c1508644185" providerId="ADAL" clId="{FA0C38CF-106D-4C49-A58A-C8F39CC48C5C}" dt="2024-06-11T00:34:26.181" v="7" actId="478"/>
          <ac:spMkLst>
            <pc:docMk/>
            <pc:sldMk cId="2134390752" sldId="312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FA0C38CF-106D-4C49-A58A-C8F39CC48C5C}" dt="2024-06-11T00:35:04.237" v="8" actId="478"/>
        <pc:sldMkLst>
          <pc:docMk/>
          <pc:sldMk cId="2134390752" sldId="314"/>
        </pc:sldMkLst>
        <pc:spChg chg="del">
          <ac:chgData name="NAYEM SIDDIKI" userId="95e3d929-67ef-41a6-8f7f-5c1508644185" providerId="ADAL" clId="{FA0C38CF-106D-4C49-A58A-C8F39CC48C5C}" dt="2024-06-11T00:35:04.237" v="8" actId="478"/>
          <ac:spMkLst>
            <pc:docMk/>
            <pc:sldMk cId="2134390752" sldId="314"/>
            <ac:spMk id="107" creationId="{00000000-0000-0000-0000-000000000000}"/>
          </ac:spMkLst>
        </pc:spChg>
      </pc:sldChg>
      <pc:sldChg chg="delSp mod">
        <pc:chgData name="NAYEM SIDDIKI" userId="95e3d929-67ef-41a6-8f7f-5c1508644185" providerId="ADAL" clId="{FA0C38CF-106D-4C49-A58A-C8F39CC48C5C}" dt="2024-06-11T00:42:19.903" v="9" actId="478"/>
        <pc:sldMkLst>
          <pc:docMk/>
          <pc:sldMk cId="2134390752" sldId="321"/>
        </pc:sldMkLst>
        <pc:spChg chg="del">
          <ac:chgData name="NAYEM SIDDIKI" userId="95e3d929-67ef-41a6-8f7f-5c1508644185" providerId="ADAL" clId="{FA0C38CF-106D-4C49-A58A-C8F39CC48C5C}" dt="2024-06-11T00:42:19.903" v="9" actId="478"/>
          <ac:spMkLst>
            <pc:docMk/>
            <pc:sldMk cId="2134390752" sldId="321"/>
            <ac:spMk id="10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A99E1-8B85-45F6-944E-0C79EDF482F3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17597-5948-418A-A35A-DE3AB2844C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17597-5948-418A-A35A-DE3AB2844C63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  <p:transition spd="slow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7/8/2024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wedge/>
  </p:transition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azia.alfaz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20/sqlrf/SQL-Standards.html" TargetMode="External"/><Relationship Id="rId2" Type="http://schemas.openxmlformats.org/officeDocument/2006/relationships/hyperlink" Target="https://www.db-book.com/db6/slide-dir/index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lideshare.net/thinnaphat.bo/" TargetMode="External"/><Relationship Id="rId5" Type="http://schemas.openxmlformats.org/officeDocument/2006/relationships/hyperlink" Target="https://www.slideshare.net/tabinhasan/from-data-to-wisdom" TargetMode="External"/><Relationship Id="rId4" Type="http://schemas.openxmlformats.org/officeDocument/2006/relationships/hyperlink" Target="https://www.slideshare.net/HaaMeemMohiyuddin1/data-knowledge-and-inform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Restricting and Sorting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 CSC 2108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552241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NAZIA ALFAZ; </a:t>
                      </a:r>
                      <a:r>
                        <a:rPr lang="en-US" i="1" dirty="0">
                          <a:hlinkClick r:id="rId2"/>
                        </a:rPr>
                        <a:t>nazia.alfaz@aiub.edu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Database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21341" y="2228671"/>
            <a:ext cx="7808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The process to limit the rows retrieved by a query</a:t>
            </a:r>
          </a:p>
          <a:p>
            <a:pPr marL="274320" indent="-27432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The process to sort the rows retrieved by a query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Limiting Rows Using a Selection</a:t>
            </a:r>
          </a:p>
        </p:txBody>
      </p:sp>
      <p:grpSp>
        <p:nvGrpSpPr>
          <p:cNvPr id="79" name="Group 5"/>
          <p:cNvGrpSpPr>
            <a:grpSpLocks/>
          </p:cNvGrpSpPr>
          <p:nvPr/>
        </p:nvGrpSpPr>
        <p:grpSpPr bwMode="auto">
          <a:xfrm>
            <a:off x="5778501" y="2536172"/>
            <a:ext cx="2716212" cy="2227262"/>
            <a:chOff x="3761" y="1079"/>
            <a:chExt cx="1711" cy="1403"/>
          </a:xfrm>
        </p:grpSpPr>
        <p:sp>
          <p:nvSpPr>
            <p:cNvPr id="80" name="Rectangle 3"/>
            <p:cNvSpPr>
              <a:spLocks noChangeArrowheads="1"/>
            </p:cNvSpPr>
            <p:nvPr/>
          </p:nvSpPr>
          <p:spPr bwMode="auto">
            <a:xfrm>
              <a:off x="3761" y="1079"/>
              <a:ext cx="1711" cy="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defTabSz="346075">
                <a:lnSpc>
                  <a:spcPct val="95000"/>
                </a:lnSpc>
                <a:spcBef>
                  <a:spcPct val="35000"/>
                </a:spcBef>
                <a:tabLst>
                  <a:tab pos="576263" algn="l"/>
                </a:tabLst>
                <a:defRPr/>
              </a:pPr>
              <a:r>
                <a:rPr lang="en-US" sz="22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"…retrieve all</a:t>
              </a:r>
              <a:br>
                <a:rPr lang="en-US" sz="22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sz="22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employees</a:t>
              </a:r>
              <a:br>
                <a:rPr lang="en-US" sz="22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sz="2200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in department 10"</a:t>
              </a:r>
            </a:p>
          </p:txBody>
        </p:sp>
        <p:sp>
          <p:nvSpPr>
            <p:cNvPr id="81" name="Arc 4"/>
            <p:cNvSpPr>
              <a:spLocks/>
            </p:cNvSpPr>
            <p:nvPr/>
          </p:nvSpPr>
          <p:spPr bwMode="auto">
            <a:xfrm>
              <a:off x="3875" y="1834"/>
              <a:ext cx="997" cy="648"/>
            </a:xfrm>
            <a:custGeom>
              <a:avLst/>
              <a:gdLst>
                <a:gd name="G0" fmla="+- 22 0 0"/>
                <a:gd name="G1" fmla="+- 21600 0 0"/>
                <a:gd name="G2" fmla="+- 21600 0 0"/>
                <a:gd name="T0" fmla="*/ 0 w 21608"/>
                <a:gd name="T1" fmla="*/ 0 h 21600"/>
                <a:gd name="T2" fmla="*/ 21608 w 21608"/>
                <a:gd name="T3" fmla="*/ 20833 h 21600"/>
                <a:gd name="T4" fmla="*/ 22 w 2160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8" h="21600" fill="none" extrusionOk="0">
                  <a:moveTo>
                    <a:pt x="0" y="0"/>
                  </a:moveTo>
                  <a:cubicBezTo>
                    <a:pt x="7" y="0"/>
                    <a:pt x="14" y="-1"/>
                    <a:pt x="22" y="0"/>
                  </a:cubicBezTo>
                  <a:cubicBezTo>
                    <a:pt x="11652" y="0"/>
                    <a:pt x="21195" y="9209"/>
                    <a:pt x="21608" y="20832"/>
                  </a:cubicBezTo>
                </a:path>
                <a:path w="21608" h="21600" stroke="0" extrusionOk="0">
                  <a:moveTo>
                    <a:pt x="0" y="0"/>
                  </a:moveTo>
                  <a:cubicBezTo>
                    <a:pt x="7" y="0"/>
                    <a:pt x="14" y="-1"/>
                    <a:pt x="22" y="0"/>
                  </a:cubicBezTo>
                  <a:cubicBezTo>
                    <a:pt x="11652" y="0"/>
                    <a:pt x="21195" y="9209"/>
                    <a:pt x="21608" y="20832"/>
                  </a:cubicBezTo>
                  <a:lnTo>
                    <a:pt x="22" y="21600"/>
                  </a:lnTo>
                  <a:close/>
                </a:path>
              </a:pathLst>
            </a:custGeom>
            <a:noFill/>
            <a:ln w="50800" cap="rnd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82" name="Group 18"/>
          <p:cNvGrpSpPr>
            <a:grpSpLocks/>
          </p:cNvGrpSpPr>
          <p:nvPr/>
        </p:nvGrpSpPr>
        <p:grpSpPr bwMode="auto">
          <a:xfrm>
            <a:off x="404813" y="2017059"/>
            <a:ext cx="5746750" cy="2360613"/>
            <a:chOff x="376" y="752"/>
            <a:chExt cx="3620" cy="1487"/>
          </a:xfrm>
        </p:grpSpPr>
        <p:sp>
          <p:nvSpPr>
            <p:cNvPr id="83" name="Rectangle 6"/>
            <p:cNvSpPr>
              <a:spLocks noChangeArrowheads="1"/>
            </p:cNvSpPr>
            <p:nvPr/>
          </p:nvSpPr>
          <p:spPr bwMode="blackWhite">
            <a:xfrm>
              <a:off x="431" y="987"/>
              <a:ext cx="3299" cy="1222"/>
            </a:xfrm>
            <a:prstGeom prst="rect">
              <a:avLst/>
            </a:prstGeom>
            <a:solidFill>
              <a:srgbClr val="FFCC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</p:txBody>
        </p:sp>
        <p:sp>
          <p:nvSpPr>
            <p:cNvPr id="84" name="Rectangle 7"/>
            <p:cNvSpPr>
              <a:spLocks noChangeArrowheads="1"/>
            </p:cNvSpPr>
            <p:nvPr/>
          </p:nvSpPr>
          <p:spPr bwMode="auto">
            <a:xfrm>
              <a:off x="376" y="752"/>
              <a:ext cx="4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EMP</a:t>
              </a:r>
            </a:p>
          </p:txBody>
        </p:sp>
        <p:sp>
          <p:nvSpPr>
            <p:cNvPr id="85" name="Line 8"/>
            <p:cNvSpPr>
              <a:spLocks noChangeShapeType="1"/>
            </p:cNvSpPr>
            <p:nvPr/>
          </p:nvSpPr>
          <p:spPr bwMode="auto">
            <a:xfrm>
              <a:off x="432" y="1273"/>
              <a:ext cx="3312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9"/>
            <p:cNvSpPr>
              <a:spLocks noChangeShapeType="1"/>
            </p:cNvSpPr>
            <p:nvPr/>
          </p:nvSpPr>
          <p:spPr bwMode="auto">
            <a:xfrm>
              <a:off x="428" y="1521"/>
              <a:ext cx="33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1060" y="981"/>
              <a:ext cx="0" cy="12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11"/>
            <p:cNvSpPr>
              <a:spLocks noChangeShapeType="1"/>
            </p:cNvSpPr>
            <p:nvPr/>
          </p:nvSpPr>
          <p:spPr bwMode="auto">
            <a:xfrm>
              <a:off x="1596" y="981"/>
              <a:ext cx="0" cy="124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12"/>
            <p:cNvSpPr>
              <a:spLocks noChangeShapeType="1"/>
            </p:cNvSpPr>
            <p:nvPr/>
          </p:nvSpPr>
          <p:spPr bwMode="auto">
            <a:xfrm>
              <a:off x="2538" y="981"/>
              <a:ext cx="0" cy="123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13"/>
            <p:cNvSpPr>
              <a:spLocks noChangeShapeType="1"/>
            </p:cNvSpPr>
            <p:nvPr/>
          </p:nvSpPr>
          <p:spPr bwMode="auto">
            <a:xfrm>
              <a:off x="2928" y="981"/>
              <a:ext cx="0" cy="125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14"/>
            <p:cNvSpPr>
              <a:spLocks noChangeShapeType="1"/>
            </p:cNvSpPr>
            <p:nvPr/>
          </p:nvSpPr>
          <p:spPr bwMode="auto">
            <a:xfrm>
              <a:off x="428" y="2029"/>
              <a:ext cx="332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Rectangle 15"/>
            <p:cNvSpPr>
              <a:spLocks noChangeArrowheads="1"/>
            </p:cNvSpPr>
            <p:nvPr/>
          </p:nvSpPr>
          <p:spPr bwMode="blackWhite">
            <a:xfrm>
              <a:off x="451" y="1013"/>
              <a:ext cx="3545" cy="12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EMPNO 	ENAME 	JOB		 ...  DEPTNO     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  <a:tab pos="3200400" algn="l"/>
                  <a:tab pos="3771900" algn="l"/>
                </a:tabLst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 7839	KING	PRESIDENT		      10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 7698	BLAKE	MANAGER		      30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 7782	CLARK	MANAGER		      10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 7566	JONES	MANAGER		      20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 ...</a:t>
              </a:r>
            </a:p>
          </p:txBody>
        </p:sp>
        <p:sp>
          <p:nvSpPr>
            <p:cNvPr id="93" name="Line 16"/>
            <p:cNvSpPr>
              <a:spLocks noChangeShapeType="1"/>
            </p:cNvSpPr>
            <p:nvPr/>
          </p:nvSpPr>
          <p:spPr bwMode="auto">
            <a:xfrm>
              <a:off x="428" y="1677"/>
              <a:ext cx="33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17"/>
            <p:cNvSpPr>
              <a:spLocks noChangeShapeType="1"/>
            </p:cNvSpPr>
            <p:nvPr/>
          </p:nvSpPr>
          <p:spPr bwMode="auto">
            <a:xfrm>
              <a:off x="428" y="1845"/>
              <a:ext cx="33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" name="Group 30"/>
          <p:cNvGrpSpPr>
            <a:grpSpLocks/>
          </p:cNvGrpSpPr>
          <p:nvPr/>
        </p:nvGrpSpPr>
        <p:grpSpPr bwMode="auto">
          <a:xfrm>
            <a:off x="3128963" y="4588809"/>
            <a:ext cx="5746750" cy="1808163"/>
            <a:chOff x="2092" y="2372"/>
            <a:chExt cx="3620" cy="1139"/>
          </a:xfrm>
        </p:grpSpPr>
        <p:sp>
          <p:nvSpPr>
            <p:cNvPr id="96" name="Rectangle 19"/>
            <p:cNvSpPr>
              <a:spLocks noChangeArrowheads="1"/>
            </p:cNvSpPr>
            <p:nvPr/>
          </p:nvSpPr>
          <p:spPr bwMode="blackWhite">
            <a:xfrm>
              <a:off x="2147" y="2607"/>
              <a:ext cx="3299" cy="894"/>
            </a:xfrm>
            <a:prstGeom prst="rect">
              <a:avLst/>
            </a:prstGeom>
            <a:solidFill>
              <a:srgbClr val="FFCC99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00000">
                  <a:alpha val="50000"/>
                </a:srgbClr>
              </a:outerShdw>
            </a:effectLst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2457450" algn="l"/>
                </a:tabLst>
                <a:defRPr/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</p:txBody>
        </p:sp>
        <p:sp>
          <p:nvSpPr>
            <p:cNvPr id="97" name="Rectangle 20"/>
            <p:cNvSpPr>
              <a:spLocks noChangeArrowheads="1"/>
            </p:cNvSpPr>
            <p:nvPr/>
          </p:nvSpPr>
          <p:spPr bwMode="auto">
            <a:xfrm>
              <a:off x="2092" y="2372"/>
              <a:ext cx="4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EMP</a:t>
              </a:r>
            </a:p>
          </p:txBody>
        </p:sp>
        <p:sp>
          <p:nvSpPr>
            <p:cNvPr id="98" name="Line 21"/>
            <p:cNvSpPr>
              <a:spLocks noChangeShapeType="1"/>
            </p:cNvSpPr>
            <p:nvPr/>
          </p:nvSpPr>
          <p:spPr bwMode="auto">
            <a:xfrm>
              <a:off x="2148" y="2893"/>
              <a:ext cx="3312" cy="0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22"/>
            <p:cNvSpPr>
              <a:spLocks noChangeShapeType="1"/>
            </p:cNvSpPr>
            <p:nvPr/>
          </p:nvSpPr>
          <p:spPr bwMode="auto">
            <a:xfrm>
              <a:off x="2144" y="3141"/>
              <a:ext cx="33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0" name="Group 27"/>
            <p:cNvGrpSpPr>
              <a:grpSpLocks/>
            </p:cNvGrpSpPr>
            <p:nvPr/>
          </p:nvGrpSpPr>
          <p:grpSpPr bwMode="auto">
            <a:xfrm>
              <a:off x="2776" y="2601"/>
              <a:ext cx="1868" cy="903"/>
              <a:chOff x="2776" y="2601"/>
              <a:chExt cx="1868" cy="903"/>
            </a:xfrm>
          </p:grpSpPr>
          <p:sp>
            <p:nvSpPr>
              <p:cNvPr id="103" name="Line 23"/>
              <p:cNvSpPr>
                <a:spLocks noChangeShapeType="1"/>
              </p:cNvSpPr>
              <p:nvPr/>
            </p:nvSpPr>
            <p:spPr bwMode="auto">
              <a:xfrm>
                <a:off x="2776" y="2601"/>
                <a:ext cx="0" cy="89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Line 24"/>
              <p:cNvSpPr>
                <a:spLocks noChangeShapeType="1"/>
              </p:cNvSpPr>
              <p:nvPr/>
            </p:nvSpPr>
            <p:spPr bwMode="auto">
              <a:xfrm>
                <a:off x="3384" y="2601"/>
                <a:ext cx="0" cy="895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Line 25"/>
              <p:cNvSpPr>
                <a:spLocks noChangeShapeType="1"/>
              </p:cNvSpPr>
              <p:nvPr/>
            </p:nvSpPr>
            <p:spPr bwMode="auto">
              <a:xfrm>
                <a:off x="4254" y="2601"/>
                <a:ext cx="0" cy="885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26"/>
              <p:cNvSpPr>
                <a:spLocks noChangeShapeType="1"/>
              </p:cNvSpPr>
              <p:nvPr/>
            </p:nvSpPr>
            <p:spPr bwMode="auto">
              <a:xfrm>
                <a:off x="4644" y="2601"/>
                <a:ext cx="0" cy="90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1" name="Rectangle 28"/>
            <p:cNvSpPr>
              <a:spLocks noChangeArrowheads="1"/>
            </p:cNvSpPr>
            <p:nvPr/>
          </p:nvSpPr>
          <p:spPr bwMode="blackWhite">
            <a:xfrm>
              <a:off x="2167" y="2633"/>
              <a:ext cx="3545" cy="8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194310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EMPNO 	ENAME 		JOB		 ...  DEPTNO     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1943100" algn="l"/>
                  <a:tab pos="2457450" algn="l"/>
                  <a:tab pos="3200400" algn="l"/>
                  <a:tab pos="3771900" algn="l"/>
                </a:tabLst>
              </a:pPr>
              <a:endParaRPr lang="en-US" sz="1800">
                <a:solidFill>
                  <a:srgbClr val="000000"/>
                </a:solidFill>
                <a:latin typeface="Courier New" pitchFamily="49" charset="0"/>
              </a:endParaRP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194310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 7839	KING		PRESIDENT		      10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194310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 7782	CLARK		MANAGER		      10</a:t>
              </a:r>
            </a:p>
            <a:p>
              <a:pPr algn="l">
                <a:lnSpc>
                  <a:spcPct val="95000"/>
                </a:lnSpc>
                <a:spcBef>
                  <a:spcPct val="0"/>
                </a:spcBef>
                <a:tabLst>
                  <a:tab pos="966788" algn="l"/>
                  <a:tab pos="1885950" algn="l"/>
                  <a:tab pos="1943100" algn="l"/>
                  <a:tab pos="2457450" algn="l"/>
                  <a:tab pos="3200400" algn="l"/>
                  <a:tab pos="3771900" algn="l"/>
                </a:tabLst>
              </a:pPr>
              <a:r>
                <a:rPr lang="en-US" sz="1800">
                  <a:solidFill>
                    <a:srgbClr val="000000"/>
                  </a:solidFill>
                  <a:latin typeface="Courier New" pitchFamily="49" charset="0"/>
                </a:rPr>
                <a:t>  7934	MILLER		CLERK		      10</a:t>
              </a:r>
            </a:p>
          </p:txBody>
        </p:sp>
        <p:sp>
          <p:nvSpPr>
            <p:cNvPr id="102" name="Line 29"/>
            <p:cNvSpPr>
              <a:spLocks noChangeShapeType="1"/>
            </p:cNvSpPr>
            <p:nvPr/>
          </p:nvSpPr>
          <p:spPr bwMode="auto">
            <a:xfrm>
              <a:off x="2144" y="3297"/>
              <a:ext cx="33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Limiting Rows Selected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76205" y="2344994"/>
            <a:ext cx="77541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Restrict the rows returned by using the WHERE clause.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The WHERE clause follows the FROM clause</a:t>
            </a:r>
          </a:p>
        </p:txBody>
      </p:sp>
      <p:sp>
        <p:nvSpPr>
          <p:cNvPr id="33" name="Rectangle 2"/>
          <p:cNvSpPr>
            <a:spLocks noChangeArrowheads="1"/>
          </p:cNvSpPr>
          <p:nvPr/>
        </p:nvSpPr>
        <p:spPr bwMode="blackWhite">
          <a:xfrm>
            <a:off x="1032592" y="3522611"/>
            <a:ext cx="7197725" cy="9779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ltGray">
          <a:xfrm>
            <a:off x="1099267" y="4176661"/>
            <a:ext cx="3709987" cy="260350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blackWhite">
          <a:xfrm>
            <a:off x="1007192" y="3509911"/>
            <a:ext cx="7223125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SELECT		[DISTINCT] {*| 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column 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alias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], ...}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FROM 	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table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[WHERE	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condition(s)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WHERE Clause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blackWhite">
          <a:xfrm>
            <a:off x="609600" y="2420938"/>
            <a:ext cx="7289800" cy="915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blackWhite">
          <a:xfrm>
            <a:off x="609600" y="3887788"/>
            <a:ext cx="7315200" cy="176530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1344613" y="2998788"/>
            <a:ext cx="2687637" cy="2576512"/>
            <a:chOff x="1003" y="1517"/>
            <a:chExt cx="1693" cy="1623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ltGray">
            <a:xfrm>
              <a:off x="1003" y="1517"/>
              <a:ext cx="1693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ltGray">
            <a:xfrm>
              <a:off x="1507" y="2101"/>
              <a:ext cx="845" cy="103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" name="Rectangle 8"/>
          <p:cNvSpPr>
            <a:spLocks noChangeArrowheads="1"/>
          </p:cNvSpPr>
          <p:nvPr/>
        </p:nvSpPr>
        <p:spPr bwMode="blackWhite">
          <a:xfrm>
            <a:off x="622300" y="2408238"/>
            <a:ext cx="7315200" cy="94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ename, job, deptno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  job='CLERK';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blackWhite">
          <a:xfrm>
            <a:off x="622300" y="3875088"/>
            <a:ext cx="73406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JOB          DEPTNO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JAMES      CLERK            30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SMITH      CLERK            20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ADAMS      CLERK            20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MILLER     CLERK            10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Character Strings and Dates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21341" y="2271252"/>
            <a:ext cx="849507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Character strings and date values are enclosed in single quotation marks.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Character values are case sensitive and date values are format sensitive.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The default date format is DD-MON-YY</a:t>
            </a:r>
            <a:r>
              <a:rPr lang="en-US" sz="2400" dirty="0">
                <a:latin typeface="Courier New" pitchFamily="49" charset="0"/>
              </a:rPr>
              <a:t>.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blackWhite">
          <a:xfrm>
            <a:off x="1047750" y="4492625"/>
            <a:ext cx="7239000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ename, job,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ename = 'JAMES';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Comparison Operators</a:t>
            </a:r>
          </a:p>
        </p:txBody>
      </p:sp>
      <p:pic>
        <p:nvPicPr>
          <p:cNvPr id="1026" name="Picture 2" descr="C:\Users\user pc\Desktop\jj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130" y="2595716"/>
            <a:ext cx="4668786" cy="2890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Comparison Operators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blackWhite">
          <a:xfrm>
            <a:off x="928688" y="2368550"/>
            <a:ext cx="7289800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blackWhite">
          <a:xfrm>
            <a:off x="928688" y="3860800"/>
            <a:ext cx="7289800" cy="915988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2468563" y="2960688"/>
            <a:ext cx="1582737" cy="1776412"/>
            <a:chOff x="1555" y="1865"/>
            <a:chExt cx="997" cy="1119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ltGray">
            <a:xfrm>
              <a:off x="1627" y="1865"/>
              <a:ext cx="925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ltGray">
            <a:xfrm>
              <a:off x="1555" y="2465"/>
              <a:ext cx="845" cy="51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blackWhite">
          <a:xfrm>
            <a:off x="903288" y="2355850"/>
            <a:ext cx="731520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comm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&lt;=comm;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blackWhite">
          <a:xfrm>
            <a:off x="903288" y="3848100"/>
            <a:ext cx="731520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      SAL      COMM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     1250      1400</a:t>
            </a: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3905250" y="4572000"/>
            <a:ext cx="552450" cy="0"/>
          </a:xfrm>
          <a:prstGeom prst="line">
            <a:avLst/>
          </a:prstGeom>
          <a:noFill/>
          <a:ln w="25400">
            <a:solidFill>
              <a:srgbClr val="FF0033"/>
            </a:solidFill>
            <a:round/>
            <a:headEnd type="stealth" w="med" len="lg"/>
            <a:tailEnd type="stealth" w="med" len="lg"/>
          </a:ln>
          <a:effectLst>
            <a:outerShdw dist="17961" dir="2700000" algn="ctr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Other Comparison Operators</a:t>
            </a:r>
          </a:p>
        </p:txBody>
      </p:sp>
      <p:pic>
        <p:nvPicPr>
          <p:cNvPr id="2050" name="Picture 2" descr="C:\Users\user pc\Desktop\jj\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647" y="2447924"/>
            <a:ext cx="4467533" cy="2581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BETWEEN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40" y="2459504"/>
            <a:ext cx="7424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Use the BETWEEN operator to display rows based on a range of values.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blackWhite">
          <a:xfrm>
            <a:off x="554754" y="2864644"/>
            <a:ext cx="7265987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blackWhite">
          <a:xfrm>
            <a:off x="554754" y="3958432"/>
            <a:ext cx="7289800" cy="2138362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2135904" y="3439319"/>
            <a:ext cx="3932237" cy="2536825"/>
            <a:chOff x="1579" y="1870"/>
            <a:chExt cx="2477" cy="1598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ltGray">
            <a:xfrm>
              <a:off x="1763" y="1870"/>
              <a:ext cx="2293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ltGray">
            <a:xfrm>
              <a:off x="1579" y="2238"/>
              <a:ext cx="845" cy="123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" name="Rectangle 8"/>
          <p:cNvSpPr>
            <a:spLocks noChangeArrowheads="1"/>
          </p:cNvSpPr>
          <p:nvPr/>
        </p:nvSpPr>
        <p:spPr bwMode="blackWhite">
          <a:xfrm>
            <a:off x="554754" y="3717132"/>
            <a:ext cx="7315200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     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     1250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TURNER          1500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WARD            1250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ADAMS           1100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MILLER          1300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2994741" y="3442494"/>
            <a:ext cx="2311400" cy="307975"/>
            <a:chOff x="2120" y="1872"/>
            <a:chExt cx="1456" cy="194"/>
          </a:xfrm>
        </p:grpSpPr>
        <p:sp>
          <p:nvSpPr>
            <p:cNvPr id="13" name="Rectangle 9"/>
            <p:cNvSpPr>
              <a:spLocks noChangeArrowheads="1"/>
            </p:cNvSpPr>
            <p:nvPr/>
          </p:nvSpPr>
          <p:spPr bwMode="ltGray">
            <a:xfrm>
              <a:off x="2120" y="1872"/>
              <a:ext cx="664" cy="194"/>
            </a:xfrm>
            <a:prstGeom prst="rect">
              <a:avLst/>
            </a:prstGeom>
            <a:solidFill>
              <a:srgbClr val="FF0033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ltGray">
            <a:xfrm>
              <a:off x="3236" y="1872"/>
              <a:ext cx="340" cy="194"/>
            </a:xfrm>
            <a:prstGeom prst="rect">
              <a:avLst/>
            </a:prstGeom>
            <a:solidFill>
              <a:srgbClr val="FF0033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Rectangle 12"/>
          <p:cNvSpPr>
            <a:spLocks noChangeArrowheads="1"/>
          </p:cNvSpPr>
          <p:nvPr/>
        </p:nvSpPr>
        <p:spPr bwMode="blackWhite">
          <a:xfrm>
            <a:off x="554754" y="2851944"/>
            <a:ext cx="7291387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ename,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BETWEEN 1000 AND 1500;</a:t>
            </a:r>
          </a:p>
        </p:txBody>
      </p:sp>
      <p:grpSp>
        <p:nvGrpSpPr>
          <p:cNvPr id="16" name="Group 19"/>
          <p:cNvGrpSpPr>
            <a:grpSpLocks/>
          </p:cNvGrpSpPr>
          <p:nvPr/>
        </p:nvGrpSpPr>
        <p:grpSpPr bwMode="auto">
          <a:xfrm>
            <a:off x="3945654" y="3671094"/>
            <a:ext cx="2139950" cy="1212850"/>
            <a:chOff x="2719" y="2016"/>
            <a:chExt cx="1348" cy="764"/>
          </a:xfrm>
        </p:grpSpPr>
        <p:grpSp>
          <p:nvGrpSpPr>
            <p:cNvPr id="17" name="Group 15"/>
            <p:cNvGrpSpPr>
              <a:grpSpLocks/>
            </p:cNvGrpSpPr>
            <p:nvPr/>
          </p:nvGrpSpPr>
          <p:grpSpPr bwMode="auto">
            <a:xfrm>
              <a:off x="2719" y="2016"/>
              <a:ext cx="540" cy="764"/>
              <a:chOff x="2719" y="2016"/>
              <a:chExt cx="540" cy="764"/>
            </a:xfrm>
          </p:grpSpPr>
          <p:sp>
            <p:nvSpPr>
              <p:cNvPr id="21" name="Rectangle 13"/>
              <p:cNvSpPr>
                <a:spLocks noChangeArrowheads="1"/>
              </p:cNvSpPr>
              <p:nvPr/>
            </p:nvSpPr>
            <p:spPr bwMode="auto">
              <a:xfrm>
                <a:off x="2719" y="2376"/>
                <a:ext cx="540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rial" charset="0"/>
                  </a:rPr>
                  <a:t>Lower</a:t>
                </a:r>
                <a:br>
                  <a:rPr lang="en-US" sz="1800">
                    <a:solidFill>
                      <a:srgbClr val="000000"/>
                    </a:solidFill>
                    <a:latin typeface="Arial" charset="0"/>
                  </a:rPr>
                </a:br>
                <a:r>
                  <a:rPr lang="en-US" sz="1800">
                    <a:solidFill>
                      <a:srgbClr val="000000"/>
                    </a:solidFill>
                    <a:latin typeface="Arial" charset="0"/>
                  </a:rPr>
                  <a:t>limit</a:t>
                </a:r>
              </a:p>
            </p:txBody>
          </p:sp>
          <p:sp>
            <p:nvSpPr>
              <p:cNvPr id="22" name="Line 14"/>
              <p:cNvSpPr>
                <a:spLocks noChangeShapeType="1"/>
              </p:cNvSpPr>
              <p:nvPr/>
            </p:nvSpPr>
            <p:spPr bwMode="auto">
              <a:xfrm>
                <a:off x="2976" y="2016"/>
                <a:ext cx="0" cy="324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stealth" w="med" len="lg"/>
                <a:tailEnd type="none" w="sm" len="sm"/>
              </a:ln>
              <a:effectLst>
                <a:outerShdw dist="17961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8" name="Group 18"/>
            <p:cNvGrpSpPr>
              <a:grpSpLocks/>
            </p:cNvGrpSpPr>
            <p:nvPr/>
          </p:nvGrpSpPr>
          <p:grpSpPr bwMode="auto">
            <a:xfrm>
              <a:off x="3495" y="2016"/>
              <a:ext cx="572" cy="764"/>
              <a:chOff x="3495" y="2016"/>
              <a:chExt cx="572" cy="764"/>
            </a:xfrm>
          </p:grpSpPr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3495" y="2376"/>
                <a:ext cx="572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rial" charset="0"/>
                  </a:rPr>
                  <a:t>Higher</a:t>
                </a:r>
                <a:br>
                  <a:rPr lang="en-US" sz="1800">
                    <a:solidFill>
                      <a:srgbClr val="000000"/>
                    </a:solidFill>
                    <a:latin typeface="Arial" charset="0"/>
                  </a:rPr>
                </a:br>
                <a:r>
                  <a:rPr lang="en-US" sz="1800">
                    <a:solidFill>
                      <a:srgbClr val="000000"/>
                    </a:solidFill>
                    <a:latin typeface="Arial" charset="0"/>
                  </a:rPr>
                  <a:t>limit</a:t>
                </a:r>
              </a:p>
            </p:txBody>
          </p:sp>
          <p:sp>
            <p:nvSpPr>
              <p:cNvPr id="20" name="Line 17"/>
              <p:cNvSpPr>
                <a:spLocks noChangeShapeType="1"/>
              </p:cNvSpPr>
              <p:nvPr/>
            </p:nvSpPr>
            <p:spPr bwMode="auto">
              <a:xfrm>
                <a:off x="3768" y="2016"/>
                <a:ext cx="0" cy="324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stealth" w="med" len="lg"/>
                <a:tailEnd type="none" w="sm" len="sm"/>
              </a:ln>
              <a:effectLst>
                <a:outerShdw dist="17961" dir="2700000" algn="ctr" rotWithShape="0">
                  <a:srgbClr val="00000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IN Operator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05" y="2256503"/>
            <a:ext cx="4429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Use the IN operator to test for values in a list.</a:t>
            </a:r>
          </a:p>
        </p:txBody>
      </p:sp>
      <p:sp>
        <p:nvSpPr>
          <p:cNvPr id="24" name="Rectangle 2"/>
          <p:cNvSpPr>
            <a:spLocks noChangeArrowheads="1"/>
          </p:cNvSpPr>
          <p:nvPr/>
        </p:nvSpPr>
        <p:spPr bwMode="blackWhite">
          <a:xfrm>
            <a:off x="712429" y="2693988"/>
            <a:ext cx="7289800" cy="915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blackWhite">
          <a:xfrm>
            <a:off x="712429" y="4079875"/>
            <a:ext cx="7289800" cy="173990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26" name="Group 8"/>
          <p:cNvGrpSpPr>
            <a:grpSpLocks/>
          </p:cNvGrpSpPr>
          <p:nvPr/>
        </p:nvGrpSpPr>
        <p:grpSpPr bwMode="auto">
          <a:xfrm>
            <a:off x="2507892" y="3278188"/>
            <a:ext cx="3843337" cy="2500312"/>
            <a:chOff x="1747" y="2073"/>
            <a:chExt cx="2421" cy="1575"/>
          </a:xfrm>
        </p:grpSpPr>
        <p:sp>
          <p:nvSpPr>
            <p:cNvPr id="27" name="Rectangle 6"/>
            <p:cNvSpPr>
              <a:spLocks noChangeArrowheads="1"/>
            </p:cNvSpPr>
            <p:nvPr/>
          </p:nvSpPr>
          <p:spPr bwMode="ltGray">
            <a:xfrm>
              <a:off x="1747" y="2073"/>
              <a:ext cx="2229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7"/>
            <p:cNvSpPr>
              <a:spLocks noChangeArrowheads="1"/>
            </p:cNvSpPr>
            <p:nvPr/>
          </p:nvSpPr>
          <p:spPr bwMode="ltGray">
            <a:xfrm>
              <a:off x="3323" y="2609"/>
              <a:ext cx="845" cy="103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Rectangle 9"/>
          <p:cNvSpPr>
            <a:spLocks noChangeArrowheads="1"/>
          </p:cNvSpPr>
          <p:nvPr/>
        </p:nvSpPr>
        <p:spPr bwMode="blackWhite">
          <a:xfrm>
            <a:off x="687029" y="2681288"/>
            <a:ext cx="7315200" cy="94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	empno, ename, sal, mgr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	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	mgr IN (7902, 7566, 7788);</a:t>
            </a: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blackWhite">
          <a:xfrm>
            <a:off x="687029" y="4067175"/>
            <a:ext cx="731520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EMPNO ENAME            SAL       MGR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7902 FORD            3000      7566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7369 SMITH            800      7902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7788 SCOTT           3000      7566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7876 ADAMS           1100      7788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LIKE Operator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341" y="2226165"/>
            <a:ext cx="81368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lvl="1" indent="-227013" defTabSz="346075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25000"/>
              <a:buFontTx/>
              <a:buChar char="•"/>
              <a:tabLst>
                <a:tab pos="571500" algn="l"/>
              </a:tabLst>
            </a:pPr>
            <a:r>
              <a:rPr lang="en-US" sz="2400" dirty="0"/>
              <a:t>Use the LIKE operator to perform wildcard searches of valid search string values.</a:t>
            </a:r>
          </a:p>
          <a:p>
            <a:pPr marL="341313" lvl="1" indent="-227013" defTabSz="346075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125000"/>
              <a:buFontTx/>
              <a:buChar char="•"/>
              <a:tabLst>
                <a:tab pos="571500" algn="l"/>
              </a:tabLst>
            </a:pPr>
            <a:r>
              <a:rPr lang="en-US" sz="2400" dirty="0"/>
              <a:t>Search conditions can contain either literal characters or numbers.</a:t>
            </a:r>
          </a:p>
          <a:p>
            <a:pPr marL="741363" lvl="2" indent="-285750" defTabSz="346075">
              <a:lnSpc>
                <a:spcPct val="95000"/>
              </a:lnSpc>
              <a:spcBef>
                <a:spcPct val="35000"/>
              </a:spcBef>
              <a:buClr>
                <a:srgbClr val="FFCC66"/>
              </a:buClr>
              <a:buSzPct val="90000"/>
              <a:tabLst>
                <a:tab pos="571500" algn="l"/>
              </a:tabLst>
            </a:pPr>
            <a:r>
              <a:rPr lang="en-US" sz="2400" dirty="0"/>
              <a:t>-&gt;  % denotes zero or many characters.</a:t>
            </a:r>
          </a:p>
          <a:p>
            <a:pPr marL="741363" lvl="2" indent="-285750" defTabSz="346075">
              <a:lnSpc>
                <a:spcPct val="95000"/>
              </a:lnSpc>
              <a:spcBef>
                <a:spcPct val="35000"/>
              </a:spcBef>
              <a:buClr>
                <a:srgbClr val="FFCC66"/>
              </a:buClr>
              <a:buSzPct val="90000"/>
              <a:tabLst>
                <a:tab pos="571500" algn="l"/>
              </a:tabLst>
            </a:pPr>
            <a:r>
              <a:rPr lang="en-US" sz="2400" dirty="0"/>
              <a:t>-&gt;  _ denotes one character.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925513" y="4860925"/>
            <a:ext cx="7278687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ltGray">
          <a:xfrm>
            <a:off x="3630613" y="5443538"/>
            <a:ext cx="1525587" cy="309562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blackWhite">
          <a:xfrm>
            <a:off x="1001713" y="4886325"/>
            <a:ext cx="7304087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	ename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	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	ename LIKE 'S%';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LIKE Operator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05" y="2105561"/>
            <a:ext cx="77541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000" dirty="0"/>
              <a:t>You can combine pattern-matching characters.</a:t>
            </a:r>
          </a:p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000" dirty="0"/>
              <a:t>You can use the ESCAPE identifier to search for "%" or "_".</a:t>
            </a: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blackWhite">
          <a:xfrm>
            <a:off x="989013" y="3097212"/>
            <a:ext cx="7278688" cy="11969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blackWhite">
          <a:xfrm>
            <a:off x="990601" y="4445000"/>
            <a:ext cx="7278687" cy="142875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1116013" y="3832225"/>
            <a:ext cx="4237038" cy="2011362"/>
            <a:chOff x="702" y="2133"/>
            <a:chExt cx="2669" cy="1267"/>
          </a:xfrm>
        </p:grpSpPr>
        <p:sp>
          <p:nvSpPr>
            <p:cNvPr id="19" name="Rectangle 4"/>
            <p:cNvSpPr>
              <a:spLocks noChangeArrowheads="1"/>
            </p:cNvSpPr>
            <p:nvPr/>
          </p:nvSpPr>
          <p:spPr bwMode="ltGray">
            <a:xfrm>
              <a:off x="2326" y="2133"/>
              <a:ext cx="1045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ltGray">
            <a:xfrm>
              <a:off x="702" y="2559"/>
              <a:ext cx="914" cy="841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1030287" y="3235325"/>
            <a:ext cx="486906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	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LIKE '_A%';</a:t>
            </a: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1095376" y="4422775"/>
            <a:ext cx="1693862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JAMES  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WARD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IS NULL Operator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341" y="2197510"/>
            <a:ext cx="4428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Test for null values with the IS NULL operator.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501605" y="2717800"/>
            <a:ext cx="7289800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blackWhite">
          <a:xfrm>
            <a:off x="501605" y="4168775"/>
            <a:ext cx="7289800" cy="915988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5" name="Group 8"/>
          <p:cNvGrpSpPr>
            <a:grpSpLocks/>
          </p:cNvGrpSpPr>
          <p:nvPr/>
        </p:nvGrpSpPr>
        <p:grpSpPr bwMode="auto">
          <a:xfrm>
            <a:off x="2031955" y="3309938"/>
            <a:ext cx="2027237" cy="1712912"/>
            <a:chOff x="1579" y="2297"/>
            <a:chExt cx="1277" cy="1079"/>
          </a:xfrm>
        </p:grpSpPr>
        <p:sp>
          <p:nvSpPr>
            <p:cNvPr id="18" name="Rectangle 6"/>
            <p:cNvSpPr>
              <a:spLocks noChangeArrowheads="1"/>
            </p:cNvSpPr>
            <p:nvPr/>
          </p:nvSpPr>
          <p:spPr bwMode="ltGray">
            <a:xfrm>
              <a:off x="1731" y="2297"/>
              <a:ext cx="1125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ltGray">
            <a:xfrm>
              <a:off x="1579" y="2873"/>
              <a:ext cx="845" cy="503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Rectangle 9"/>
          <p:cNvSpPr>
            <a:spLocks noChangeArrowheads="1"/>
          </p:cNvSpPr>
          <p:nvPr/>
        </p:nvSpPr>
        <p:spPr bwMode="blackWhite">
          <a:xfrm>
            <a:off x="476205" y="2705100"/>
            <a:ext cx="731520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 ename, mgr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   mgr IS NULL;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blackWhite">
          <a:xfrm>
            <a:off x="476205" y="4156075"/>
            <a:ext cx="731520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      MGR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Logical Operators</a:t>
            </a:r>
          </a:p>
        </p:txBody>
      </p:sp>
      <p:pic>
        <p:nvPicPr>
          <p:cNvPr id="3074" name="Picture 2" descr="C:\Users\user pc\Desktop\jj\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340" y="2405063"/>
            <a:ext cx="5360027" cy="2889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AND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05" y="2344994"/>
            <a:ext cx="4106637" cy="3554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6075">
              <a:lnSpc>
                <a:spcPct val="95000"/>
              </a:lnSpc>
              <a:spcBef>
                <a:spcPct val="35000"/>
              </a:spcBef>
              <a:tabLst>
                <a:tab pos="571500" algn="l"/>
              </a:tabLst>
              <a:defRPr/>
            </a:pPr>
            <a:r>
              <a:rPr lang="en-US" dirty="0"/>
              <a:t>AND requires both conditions to be TRUE.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blackWhite">
          <a:xfrm>
            <a:off x="635000" y="2798763"/>
            <a:ext cx="7289800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blackWhite">
          <a:xfrm>
            <a:off x="635000" y="4391026"/>
            <a:ext cx="7289800" cy="11906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1346200" y="3419476"/>
            <a:ext cx="4940300" cy="2138362"/>
            <a:chOff x="1072" y="1869"/>
            <a:chExt cx="3112" cy="1347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ltGray">
            <a:xfrm>
              <a:off x="1072" y="1869"/>
              <a:ext cx="1616" cy="351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ltGray">
            <a:xfrm>
              <a:off x="2451" y="2521"/>
              <a:ext cx="837" cy="6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ltGray">
            <a:xfrm>
              <a:off x="3347" y="2521"/>
              <a:ext cx="837" cy="6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" name="Rectangle 10"/>
          <p:cNvSpPr>
            <a:spLocks noChangeArrowheads="1"/>
          </p:cNvSpPr>
          <p:nvPr/>
        </p:nvSpPr>
        <p:spPr bwMode="blackWhite">
          <a:xfrm>
            <a:off x="609600" y="2786063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empno, ename, job,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  sal&gt;=1100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4  AND    job='CLERK';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blackWhite">
          <a:xfrm>
            <a:off x="609600" y="4378326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EMPNO ENAME      JOB            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7876 ADAMS      CLERK          1100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7934 MILLER     CLERK          1300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OR Operator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421341" y="2107532"/>
            <a:ext cx="7724775" cy="502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41313" lvl="1" indent="-227013" algn="l" defTabSz="346075">
              <a:lnSpc>
                <a:spcPct val="95000"/>
              </a:lnSpc>
              <a:spcBef>
                <a:spcPct val="35000"/>
              </a:spcBef>
              <a:tabLst>
                <a:tab pos="571500" algn="l"/>
              </a:tabLst>
              <a:defRPr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OR requires either condition to be TRUE.</a:t>
            </a: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blackWhite">
          <a:xfrm>
            <a:off x="693737" y="2436813"/>
            <a:ext cx="7289800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blackWhite">
          <a:xfrm>
            <a:off x="693737" y="3673475"/>
            <a:ext cx="7289800" cy="3122613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25" name="Group 9"/>
          <p:cNvGrpSpPr>
            <a:grpSpLocks/>
          </p:cNvGrpSpPr>
          <p:nvPr/>
        </p:nvGrpSpPr>
        <p:grpSpPr bwMode="auto">
          <a:xfrm>
            <a:off x="1346200" y="2998788"/>
            <a:ext cx="5024437" cy="3362325"/>
            <a:chOff x="1035" y="1527"/>
            <a:chExt cx="3165" cy="2118"/>
          </a:xfrm>
        </p:grpSpPr>
        <p:sp>
          <p:nvSpPr>
            <p:cNvPr id="26" name="Rectangle 6"/>
            <p:cNvSpPr>
              <a:spLocks noChangeArrowheads="1"/>
            </p:cNvSpPr>
            <p:nvPr/>
          </p:nvSpPr>
          <p:spPr bwMode="ltGray">
            <a:xfrm>
              <a:off x="1035" y="1527"/>
              <a:ext cx="1693" cy="35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Rectangle 7"/>
            <p:cNvSpPr>
              <a:spLocks noChangeArrowheads="1"/>
            </p:cNvSpPr>
            <p:nvPr/>
          </p:nvSpPr>
          <p:spPr bwMode="ltGray">
            <a:xfrm>
              <a:off x="2451" y="2019"/>
              <a:ext cx="845" cy="162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ltGray">
            <a:xfrm>
              <a:off x="3355" y="2019"/>
              <a:ext cx="845" cy="162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" name="Rectangle 10"/>
          <p:cNvSpPr>
            <a:spLocks noChangeArrowheads="1"/>
          </p:cNvSpPr>
          <p:nvPr/>
        </p:nvSpPr>
        <p:spPr bwMode="blackWhite">
          <a:xfrm>
            <a:off x="673100" y="2424113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empno, ename, job,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  sal&gt;=1100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4  OR     job='CLERK';</a:t>
            </a:r>
          </a:p>
        </p:txBody>
      </p:sp>
      <p:sp>
        <p:nvSpPr>
          <p:cNvPr id="30" name="Rectangle 11"/>
          <p:cNvSpPr>
            <a:spLocks noChangeArrowheads="1"/>
          </p:cNvSpPr>
          <p:nvPr/>
        </p:nvSpPr>
        <p:spPr bwMode="blackWhite">
          <a:xfrm>
            <a:off x="673100" y="3840163"/>
            <a:ext cx="7315200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EMPNO ENAME      JOB            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7839 KING       PRESIDENT      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7698 BLAKE      MANAGER        2850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7782 CLARK      MANAGER        2450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7566 JONES      MANAGER        2975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7654 MARTIN     SALESMAN       1250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...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7900 JAMES      CLERK           950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NOT Operator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651528" y="2422526"/>
            <a:ext cx="7507288" cy="915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blackWhite">
          <a:xfrm>
            <a:off x="651528" y="4011613"/>
            <a:ext cx="7499350" cy="2014538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6" name="Group 7"/>
          <p:cNvGrpSpPr>
            <a:grpSpLocks/>
          </p:cNvGrpSpPr>
          <p:nvPr/>
        </p:nvGrpSpPr>
        <p:grpSpPr bwMode="auto">
          <a:xfrm>
            <a:off x="1335741" y="3006726"/>
            <a:ext cx="6688137" cy="2957512"/>
            <a:chOff x="971" y="1449"/>
            <a:chExt cx="4213" cy="1863"/>
          </a:xfrm>
        </p:grpSpPr>
        <p:sp>
          <p:nvSpPr>
            <p:cNvPr id="17" name="Rectangle 5"/>
            <p:cNvSpPr>
              <a:spLocks noChangeArrowheads="1"/>
            </p:cNvSpPr>
            <p:nvPr/>
          </p:nvSpPr>
          <p:spPr bwMode="ltGray">
            <a:xfrm>
              <a:off x="971" y="1449"/>
              <a:ext cx="4213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6"/>
            <p:cNvSpPr>
              <a:spLocks noChangeArrowheads="1"/>
            </p:cNvSpPr>
            <p:nvPr/>
          </p:nvSpPr>
          <p:spPr bwMode="ltGray">
            <a:xfrm>
              <a:off x="1507" y="2111"/>
              <a:ext cx="845" cy="1201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" name="Rectangle 8"/>
          <p:cNvSpPr>
            <a:spLocks noChangeArrowheads="1"/>
          </p:cNvSpPr>
          <p:nvPr/>
        </p:nvSpPr>
        <p:spPr bwMode="blackWhite">
          <a:xfrm>
            <a:off x="613428" y="2409826"/>
            <a:ext cx="7532688" cy="94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ename, job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  job NOT IN ('CLERK','MANAGER','ANALYST');</a:t>
            </a: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blackWhite">
          <a:xfrm>
            <a:off x="613428" y="3998913"/>
            <a:ext cx="7524750" cy="203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JOB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PRESIDENT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SALESMAN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ALLEN      SALESMAN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TURNER     SALESMAN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WARD       SALESMAN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Rules of Precedence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C:\Users\user pc\Desktop\jj\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341" y="2371725"/>
            <a:ext cx="5890969" cy="2333010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476205" y="4896465"/>
            <a:ext cx="6735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Override rules of precedence by using parentheses.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Rules of Precedence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6205" y="2271252"/>
            <a:ext cx="3565913" cy="3554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6075">
              <a:lnSpc>
                <a:spcPct val="95000"/>
              </a:lnSpc>
              <a:spcBef>
                <a:spcPct val="35000"/>
              </a:spcBef>
              <a:tabLst>
                <a:tab pos="571500" algn="l"/>
              </a:tabLst>
              <a:defRPr/>
            </a:pPr>
            <a:r>
              <a:rPr lang="en-US" dirty="0">
                <a:latin typeface="Arial" charset="0"/>
              </a:rPr>
              <a:t>Use parentheses to force priority.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blackWhite">
          <a:xfrm>
            <a:off x="692304" y="2758281"/>
            <a:ext cx="7289800" cy="146526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blackWhite">
          <a:xfrm>
            <a:off x="692304" y="4768056"/>
            <a:ext cx="7289800" cy="11906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JOB            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PRESIDENT      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ALLEN      SALESMAN       1600</a:t>
            </a:r>
          </a:p>
        </p:txBody>
      </p: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1387629" y="3510756"/>
            <a:ext cx="1208087" cy="374650"/>
            <a:chOff x="1029" y="1750"/>
            <a:chExt cx="761" cy="236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ltGray">
            <a:xfrm>
              <a:off x="1029" y="1814"/>
              <a:ext cx="386" cy="172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1562" y="1750"/>
              <a:ext cx="228" cy="147"/>
            </a:xfrm>
            <a:custGeom>
              <a:avLst/>
              <a:gdLst/>
              <a:ahLst/>
              <a:cxnLst>
                <a:cxn ang="0">
                  <a:pos x="0" y="146"/>
                </a:cxn>
                <a:cxn ang="0">
                  <a:pos x="0" y="0"/>
                </a:cxn>
                <a:cxn ang="0">
                  <a:pos x="227" y="0"/>
                </a:cxn>
              </a:cxnLst>
              <a:rect l="0" t="0" r="r" b="b"/>
              <a:pathLst>
                <a:path w="228" h="147">
                  <a:moveTo>
                    <a:pt x="0" y="146"/>
                  </a:moveTo>
                  <a:lnTo>
                    <a:pt x="0" y="0"/>
                  </a:lnTo>
                  <a:lnTo>
                    <a:pt x="227" y="0"/>
                  </a:lnTo>
                </a:path>
              </a:pathLst>
            </a:custGeom>
            <a:noFill/>
            <a:ln w="25400" cap="rnd" cmpd="sng">
              <a:solidFill>
                <a:srgbClr val="FF0033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420" y="1907"/>
              <a:ext cx="369" cy="0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stealth" w="med" len="lg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4" name="Rectangle 10"/>
          <p:cNvSpPr>
            <a:spLocks noChangeArrowheads="1"/>
          </p:cNvSpPr>
          <p:nvPr/>
        </p:nvSpPr>
        <p:spPr bwMode="ltGray">
          <a:xfrm>
            <a:off x="1386041" y="3888581"/>
            <a:ext cx="612775" cy="273050"/>
          </a:xfrm>
          <a:prstGeom prst="rect">
            <a:avLst/>
          </a:prstGeom>
          <a:solidFill>
            <a:srgbClr val="0099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blackWhite">
          <a:xfrm>
            <a:off x="692304" y="2745581"/>
            <a:ext cx="7315200" cy="149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  ename, job,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    (job='SALESMAN'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4  OR       job='PRESIDENT')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5  AND      sal&gt;1500;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Rules of Precedence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blackWhite">
          <a:xfrm>
            <a:off x="434041" y="2094706"/>
            <a:ext cx="7289800" cy="146526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blackWhite">
          <a:xfrm>
            <a:off x="434041" y="4142581"/>
            <a:ext cx="7289800" cy="2014538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JOB            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PRESIDENT      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SALESMAN       1250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ALLEN      SALESMAN       1600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TURNER     SALESMAN       1500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WARD       SALESMAN       1250</a:t>
            </a:r>
          </a:p>
        </p:txBody>
      </p:sp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1100791" y="3131344"/>
            <a:ext cx="1062037" cy="374650"/>
            <a:chOff x="1003" y="1587"/>
            <a:chExt cx="669" cy="236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ltGray">
            <a:xfrm>
              <a:off x="1003" y="1651"/>
              <a:ext cx="386" cy="172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1444" y="1587"/>
              <a:ext cx="228" cy="147"/>
            </a:xfrm>
            <a:custGeom>
              <a:avLst/>
              <a:gdLst/>
              <a:ahLst/>
              <a:cxnLst>
                <a:cxn ang="0">
                  <a:pos x="0" y="146"/>
                </a:cxn>
                <a:cxn ang="0">
                  <a:pos x="0" y="0"/>
                </a:cxn>
                <a:cxn ang="0">
                  <a:pos x="227" y="0"/>
                </a:cxn>
              </a:cxnLst>
              <a:rect l="0" t="0" r="r" b="b"/>
              <a:pathLst>
                <a:path w="228" h="147">
                  <a:moveTo>
                    <a:pt x="0" y="146"/>
                  </a:moveTo>
                  <a:lnTo>
                    <a:pt x="0" y="0"/>
                  </a:lnTo>
                  <a:lnTo>
                    <a:pt x="227" y="0"/>
                  </a:lnTo>
                </a:path>
              </a:pathLst>
            </a:custGeom>
            <a:noFill/>
            <a:ln w="25400" cap="rnd" cmpd="sng">
              <a:solidFill>
                <a:srgbClr val="FF0033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1389" y="1744"/>
              <a:ext cx="282" cy="0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stealth" w="med" len="lg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2" name="Rectangle 9"/>
          <p:cNvSpPr>
            <a:spLocks noChangeArrowheads="1"/>
          </p:cNvSpPr>
          <p:nvPr/>
        </p:nvSpPr>
        <p:spPr bwMode="ltGray">
          <a:xfrm>
            <a:off x="1100791" y="2958306"/>
            <a:ext cx="612775" cy="273050"/>
          </a:xfrm>
          <a:prstGeom prst="rect">
            <a:avLst/>
          </a:prstGeom>
          <a:solidFill>
            <a:srgbClr val="0099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blackWhite">
          <a:xfrm>
            <a:off x="421341" y="2082006"/>
            <a:ext cx="7315200" cy="149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ename, job,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WHERE  job='SALESMAN'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4  OR     job='PRESIDENT'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5  AND    sal&gt;1500;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ORDER BY Clause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21341" y="2197510"/>
            <a:ext cx="78089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75000"/>
              </a:lnSpc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Sort rows with the ORDER BY clause</a:t>
            </a:r>
          </a:p>
          <a:p>
            <a:pPr lvl="2">
              <a:lnSpc>
                <a:spcPct val="75000"/>
              </a:lnSpc>
              <a:buNone/>
            </a:pPr>
            <a:r>
              <a:rPr lang="en-US" sz="2400" dirty="0"/>
              <a:t>-&gt;ASC: ascending order, default</a:t>
            </a:r>
          </a:p>
          <a:p>
            <a:pPr lvl="2">
              <a:lnSpc>
                <a:spcPct val="75000"/>
              </a:lnSpc>
              <a:buNone/>
            </a:pPr>
            <a:r>
              <a:rPr lang="en-US" sz="2400" dirty="0"/>
              <a:t>-&gt;DESC: descending order</a:t>
            </a:r>
          </a:p>
          <a:p>
            <a:pPr lvl="1">
              <a:lnSpc>
                <a:spcPct val="75000"/>
              </a:lnSpc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The ORDER BY clause comes last in the SELECT statement.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842963" y="3687538"/>
            <a:ext cx="7291387" cy="915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blackWhite">
          <a:xfrm>
            <a:off x="862013" y="4784500"/>
            <a:ext cx="7297737" cy="163195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5" name="Group 8"/>
          <p:cNvGrpSpPr>
            <a:grpSpLocks/>
          </p:cNvGrpSpPr>
          <p:nvPr/>
        </p:nvGrpSpPr>
        <p:grpSpPr bwMode="auto">
          <a:xfrm>
            <a:off x="1497013" y="4273325"/>
            <a:ext cx="5011737" cy="1622425"/>
            <a:chOff x="943" y="2530"/>
            <a:chExt cx="3157" cy="1022"/>
          </a:xfrm>
        </p:grpSpPr>
        <p:sp>
          <p:nvSpPr>
            <p:cNvPr id="18" name="Rectangle 6"/>
            <p:cNvSpPr>
              <a:spLocks noChangeArrowheads="1"/>
            </p:cNvSpPr>
            <p:nvPr/>
          </p:nvSpPr>
          <p:spPr bwMode="ltGray">
            <a:xfrm>
              <a:off x="943" y="2530"/>
              <a:ext cx="1693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ltGray">
            <a:xfrm>
              <a:off x="3255" y="2856"/>
              <a:ext cx="845" cy="69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Rectangle 9"/>
          <p:cNvSpPr>
            <a:spLocks noChangeArrowheads="1"/>
          </p:cNvSpPr>
          <p:nvPr/>
        </p:nvSpPr>
        <p:spPr bwMode="blackWhite">
          <a:xfrm>
            <a:off x="830263" y="3674838"/>
            <a:ext cx="7316787" cy="94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 	 ename, job, deptno, hiredate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 	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ORDER BY hiredate;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blackWhite">
          <a:xfrm>
            <a:off x="849313" y="4771800"/>
            <a:ext cx="7323137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ENAME      JOB          DEPTNO HIREDATE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---------- 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SMITH      CLERK            20 17-DEC-80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ALLEN      SALESMAN         30 20-FEB-81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Sorting in Descending Order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blackWhite">
          <a:xfrm>
            <a:off x="476205" y="2122488"/>
            <a:ext cx="7291388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blackWhite">
          <a:xfrm>
            <a:off x="493668" y="3405188"/>
            <a:ext cx="7289800" cy="3113088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3651205" y="2686051"/>
            <a:ext cx="2501900" cy="3249612"/>
            <a:chOff x="2560" y="1329"/>
            <a:chExt cx="1576" cy="2047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ltGray">
            <a:xfrm>
              <a:off x="2560" y="1329"/>
              <a:ext cx="520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ltGray">
            <a:xfrm>
              <a:off x="3291" y="1801"/>
              <a:ext cx="845" cy="157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Rectangle 8"/>
          <p:cNvSpPr>
            <a:spLocks noChangeArrowheads="1"/>
          </p:cNvSpPr>
          <p:nvPr/>
        </p:nvSpPr>
        <p:spPr bwMode="blackWhite">
          <a:xfrm>
            <a:off x="488905" y="2109788"/>
            <a:ext cx="7316788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 	 ename, job, deptno, hiredate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 	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ORDER BY hiredate DESC;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blackWhite">
          <a:xfrm>
            <a:off x="506368" y="3392488"/>
            <a:ext cx="7315200" cy="313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ENAME      JOB          DEPTNO HIREDATE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 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ADAMS      CLERK            20 12-JAN-83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SCOTT      ANALYST          20 09-DEC-82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MILLER     CLERK            10 23-JAN-82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JAMES      CLERK            30 03-DEC-81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FORD       ANALYST          20 03-DEC-81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KING       PRESIDENT        10 17-NOV-81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MARTIN     SALESMAN         30 28-SEP-81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Sorting in Column Alias</a:t>
            </a:r>
          </a:p>
        </p:txBody>
      </p:sp>
      <p:sp>
        <p:nvSpPr>
          <p:cNvPr id="107" name="Subtitle 10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blackWhite">
          <a:xfrm>
            <a:off x="488905" y="2029759"/>
            <a:ext cx="7291388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blackWhite">
          <a:xfrm>
            <a:off x="488905" y="3248959"/>
            <a:ext cx="7289800" cy="33877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3" name="Group 8"/>
          <p:cNvGrpSpPr>
            <a:grpSpLocks/>
          </p:cNvGrpSpPr>
          <p:nvPr/>
        </p:nvGrpSpPr>
        <p:grpSpPr bwMode="auto">
          <a:xfrm>
            <a:off x="2406605" y="2072622"/>
            <a:ext cx="3886200" cy="3973512"/>
            <a:chOff x="1784" y="1001"/>
            <a:chExt cx="2448" cy="2503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ltGray">
            <a:xfrm>
              <a:off x="1784" y="1337"/>
              <a:ext cx="696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ltGray">
            <a:xfrm>
              <a:off x="2419" y="1775"/>
              <a:ext cx="845" cy="172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ltGray">
            <a:xfrm>
              <a:off x="3592" y="1001"/>
              <a:ext cx="640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" name="Rectangle 9"/>
          <p:cNvSpPr>
            <a:spLocks noChangeArrowheads="1"/>
          </p:cNvSpPr>
          <p:nvPr/>
        </p:nvSpPr>
        <p:spPr bwMode="blackWhite">
          <a:xfrm>
            <a:off x="476205" y="2017059"/>
            <a:ext cx="7316788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  empno, ename, sal*12 annsal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ORDER BY annsal;</a:t>
            </a: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blackWhite">
          <a:xfrm>
            <a:off x="476205" y="3236259"/>
            <a:ext cx="7315200" cy="341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EMPNO ENAME         ANNSAL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7369 SMITH           9600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7900 JAMES          11400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7876 ADAMS          13200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7654 MARTIN         15000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7521 WARD           15000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7934 MILLER         15600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7844 TURNER         18000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Sorting by Multiple Columns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6205" y="2182505"/>
            <a:ext cx="7754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2400" dirty="0"/>
              <a:t>The order of ORDER BY list is the order of sort.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9975" y="6355229"/>
            <a:ext cx="73594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 can sort by a column that is not in the SELECT list.</a:t>
            </a: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blackWhite">
          <a:xfrm>
            <a:off x="1069975" y="2656870"/>
            <a:ext cx="6877050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blackWhite">
          <a:xfrm>
            <a:off x="1069975" y="3695095"/>
            <a:ext cx="6877050" cy="241300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21" name="Group 10"/>
          <p:cNvGrpSpPr>
            <a:grpSpLocks/>
          </p:cNvGrpSpPr>
          <p:nvPr/>
        </p:nvGrpSpPr>
        <p:grpSpPr bwMode="auto">
          <a:xfrm>
            <a:off x="1724025" y="3252183"/>
            <a:ext cx="3721100" cy="2239962"/>
            <a:chOff x="1100" y="1673"/>
            <a:chExt cx="2344" cy="1411"/>
          </a:xfrm>
        </p:grpSpPr>
        <p:sp>
          <p:nvSpPr>
            <p:cNvPr id="22" name="Rectangle 7"/>
            <p:cNvSpPr>
              <a:spLocks noChangeArrowheads="1"/>
            </p:cNvSpPr>
            <p:nvPr/>
          </p:nvSpPr>
          <p:spPr bwMode="ltGray">
            <a:xfrm>
              <a:off x="1100" y="1673"/>
              <a:ext cx="2344" cy="195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ltGray">
            <a:xfrm>
              <a:off x="1667" y="2016"/>
              <a:ext cx="845" cy="106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ltGray">
            <a:xfrm>
              <a:off x="2563" y="2016"/>
              <a:ext cx="845" cy="106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Rectangle 11"/>
          <p:cNvSpPr>
            <a:spLocks noChangeArrowheads="1"/>
          </p:cNvSpPr>
          <p:nvPr/>
        </p:nvSpPr>
        <p:spPr bwMode="blackWhite">
          <a:xfrm>
            <a:off x="1066800" y="2644170"/>
            <a:ext cx="690245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	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ORDER BY	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DESC;</a:t>
            </a: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blackWhite">
          <a:xfrm>
            <a:off x="1066800" y="3401408"/>
            <a:ext cx="6902450" cy="313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ENAME         DEPTNO       SAL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KING              10      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CLARK             10      2450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MILLER            10      1300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FORD              20      3000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20015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407886"/>
            <a:ext cx="84166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Modern Database Management (Sixth Edition) by Fred R. McFadden, Jeffrey A. </a:t>
            </a:r>
            <a:r>
              <a:rPr lang="en-US" dirty="0" err="1"/>
              <a:t>Hoffer</a:t>
            </a:r>
            <a:r>
              <a:rPr lang="en-US" dirty="0"/>
              <a:t>, Mary B. Prescott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 Concepts (Fifth Edition) by Henry F. Korth, S. Sudarshan, A. Silberschatz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Oracle-database-10g-sql-fundamentals-1-student-guide-volume-1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SQL and Relational Theory: How to Write Accurate SQL Code by C.J.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Systems: A Practical Approach to Design, Implementation and Management (4th Edition) by Thomas M. Connolly, Carolyn E. </a:t>
            </a:r>
            <a:r>
              <a:rPr lang="en-US" dirty="0" err="1"/>
              <a:t>Begg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Fundamentals of Database Systems, 5th Edition by </a:t>
            </a:r>
            <a:r>
              <a:rPr lang="en-US" dirty="0" err="1"/>
              <a:t>RamezElmasri</a:t>
            </a:r>
            <a:r>
              <a:rPr lang="en-US" dirty="0"/>
              <a:t>, </a:t>
            </a:r>
            <a:r>
              <a:rPr lang="en-US" dirty="0" err="1"/>
              <a:t>Shamkant</a:t>
            </a:r>
            <a:r>
              <a:rPr lang="en-US" dirty="0"/>
              <a:t> B. </a:t>
            </a:r>
            <a:r>
              <a:rPr lang="en-US" dirty="0" err="1"/>
              <a:t>Navathe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Design and Relational Theory: Normal Forms and All That Jazz by C. 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An Introduction to Database Systems 8th Edition, by C.J. Date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  <p:transition spd="slow">
    <p:wedg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420234"/>
            <a:ext cx="78957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https://www.db-book.com/db6/slide-dir/index.html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https://docs.oracle.com/en/database/oracle/oracle-database/20/sqlrf/SQL-Standards.html#GUID-BCCCFF75-D2A4-43AD-8CAF-C3C97D92AC63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4"/>
              </a:rPr>
              <a:t>https://www.slideshare.net/HaaMeemMohiyuddin1/data-knowledge-and-information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5"/>
              </a:rPr>
              <a:t>https://www.slideshare.net/tabinhasan/from-data-to-wisdom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6"/>
              </a:rPr>
              <a:t>https://www.slideshare.net/thinnaphat.bo/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/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  <p:transition spd="slow">
    <p:wedge/>
  </p:transition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560</TotalTime>
  <Words>1467</Words>
  <Application>Microsoft Office PowerPoint</Application>
  <PresentationFormat>On-screen Show (4:3)</PresentationFormat>
  <Paragraphs>284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Wingdings</vt:lpstr>
      <vt:lpstr>Wingdings 2</vt:lpstr>
      <vt:lpstr>Spectrum</vt:lpstr>
      <vt:lpstr>Restricting and Sorting Data</vt:lpstr>
      <vt:lpstr>Lecture Outline</vt:lpstr>
      <vt:lpstr>Limiting Rows Using a Selection</vt:lpstr>
      <vt:lpstr>Limiting Rows Selected</vt:lpstr>
      <vt:lpstr>Using the WHERE Clause</vt:lpstr>
      <vt:lpstr>Character Strings and Dates</vt:lpstr>
      <vt:lpstr>Comparison Operators</vt:lpstr>
      <vt:lpstr>Using the Comparison Operators</vt:lpstr>
      <vt:lpstr>Other Comparison Operators</vt:lpstr>
      <vt:lpstr>Using the BETWEEN Operator</vt:lpstr>
      <vt:lpstr>Using the IN Operator</vt:lpstr>
      <vt:lpstr>Using the LIKE Operator</vt:lpstr>
      <vt:lpstr>Using the LIKE Operator</vt:lpstr>
      <vt:lpstr>Using the IS NULL Operator</vt:lpstr>
      <vt:lpstr>Logical Operators</vt:lpstr>
      <vt:lpstr>Using the AND Operator</vt:lpstr>
      <vt:lpstr>Using the OR Operator</vt:lpstr>
      <vt:lpstr>Using the NOT Operator</vt:lpstr>
      <vt:lpstr>Rules of Precedence</vt:lpstr>
      <vt:lpstr>Rules of Precedence</vt:lpstr>
      <vt:lpstr>Rules of Precedence</vt:lpstr>
      <vt:lpstr>ORDER BY Clause</vt:lpstr>
      <vt:lpstr>Sorting in Descending Order</vt:lpstr>
      <vt:lpstr>Sorting in Column Alias</vt:lpstr>
      <vt:lpstr>Sorting by Multiple Columns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NAYEM SIDDIKI</cp:lastModifiedBy>
  <cp:revision>25</cp:revision>
  <dcterms:created xsi:type="dcterms:W3CDTF">2018-12-10T17:20:29Z</dcterms:created>
  <dcterms:modified xsi:type="dcterms:W3CDTF">2024-07-08T03:45:15Z</dcterms:modified>
</cp:coreProperties>
</file>