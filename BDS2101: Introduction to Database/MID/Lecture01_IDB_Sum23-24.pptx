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74" r:id="rId5"/>
    <p:sldId id="276" r:id="rId6"/>
    <p:sldId id="277" r:id="rId7"/>
    <p:sldId id="270" r:id="rId8"/>
    <p:sldId id="271" r:id="rId9"/>
    <p:sldId id="272" r:id="rId10"/>
    <p:sldId id="282" r:id="rId11"/>
    <p:sldId id="284" r:id="rId12"/>
    <p:sldId id="283" r:id="rId13"/>
    <p:sldId id="267" r:id="rId14"/>
    <p:sldId id="285" r:id="rId15"/>
    <p:sldId id="281" r:id="rId16"/>
    <p:sldId id="286" r:id="rId17"/>
    <p:sldId id="278" r:id="rId18"/>
    <p:sldId id="288" r:id="rId19"/>
    <p:sldId id="287" r:id="rId20"/>
    <p:sldId id="289" r:id="rId21"/>
    <p:sldId id="290" r:id="rId22"/>
    <p:sldId id="279" r:id="rId23"/>
    <p:sldId id="280" r:id="rId24"/>
    <p:sldId id="264" r:id="rId25"/>
    <p:sldId id="26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transition spd="slow">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transition spd="slow">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6/2/2024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6/2/2024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6/2/2024</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transition spd="slow">
    <p:wedg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6/2/2024</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spd="slow">
    <p:wedge/>
  </p:transition>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azi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hyperlink" Target="https://docs.oracle.com/en/database/oracle/oracle-database/20/sqlrf/SQL-Standards.html" TargetMode="External"/><Relationship Id="rId2" Type="http://schemas.openxmlformats.org/officeDocument/2006/relationships/hyperlink" Target="https://www.db-book.com/db6/slide-dir/index.html" TargetMode="External"/><Relationship Id="rId1" Type="http://schemas.openxmlformats.org/officeDocument/2006/relationships/slideLayout" Target="../slideLayouts/slideLayout9.xml"/><Relationship Id="rId6" Type="http://schemas.openxmlformats.org/officeDocument/2006/relationships/hyperlink" Target="https://www.slideshare.net/thinnaphat.bo/" TargetMode="External"/><Relationship Id="rId5" Type="http://schemas.openxmlformats.org/officeDocument/2006/relationships/hyperlink" Target="https://www.slideshare.net/tabinhasan/from-data-to-wisdom" TargetMode="External"/><Relationship Id="rId4" Type="http://schemas.openxmlformats.org/officeDocument/2006/relationships/hyperlink" Target="https://www.slideshare.net/HaaMeemMohiyuddin1/data-knowledge-and-infor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 Complete Guideline</a:t>
            </a:r>
          </a:p>
        </p:txBody>
      </p:sp>
      <p:sp>
        <p:nvSpPr>
          <p:cNvPr id="3" name="Subtitle 2"/>
          <p:cNvSpPr>
            <a:spLocks noGrp="1"/>
          </p:cNvSpPr>
          <p:nvPr>
            <p:ph type="subTitle" idx="1"/>
          </p:nvPr>
        </p:nvSpPr>
        <p:spPr>
          <a:xfrm>
            <a:off x="476205" y="1532427"/>
            <a:ext cx="2789509" cy="484632"/>
          </a:xfrm>
        </p:spPr>
        <p:txBody>
          <a:bodyPr/>
          <a:lstStyle/>
          <a:p>
            <a:r>
              <a:rPr lang="en-US" dirty="0"/>
              <a:t>Course Code:  CSC 2108</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Department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28333440"/>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 No:</a:t>
                      </a:r>
                    </a:p>
                  </a:txBody>
                  <a:tcPr/>
                </a:tc>
                <a:tc>
                  <a:txBody>
                    <a:bodyPr/>
                    <a:lstStyle/>
                    <a:p>
                      <a:r>
                        <a:rPr lang="en-US" dirty="0"/>
                        <a:t>01</a:t>
                      </a:r>
                    </a:p>
                  </a:txBody>
                  <a:tcPr/>
                </a:tc>
                <a:tc>
                  <a:txBody>
                    <a:bodyPr/>
                    <a:lstStyle/>
                    <a:p>
                      <a:r>
                        <a:rPr lang="en-US" dirty="0"/>
                        <a:t>Week No:</a:t>
                      </a:r>
                    </a:p>
                  </a:txBody>
                  <a:tcPr/>
                </a:tc>
                <a:tc>
                  <a:txBody>
                    <a:bodyPr/>
                    <a:lstStyle/>
                    <a:p>
                      <a:r>
                        <a:rPr lang="en-US" dirty="0"/>
                        <a:t>01</a:t>
                      </a:r>
                    </a:p>
                  </a:txBody>
                  <a:tcPr/>
                </a:tc>
                <a:tc>
                  <a:txBody>
                    <a:bodyPr/>
                    <a:lstStyle/>
                    <a:p>
                      <a:r>
                        <a:rPr lang="en-US" dirty="0"/>
                        <a:t>Semester:</a:t>
                      </a:r>
                    </a:p>
                  </a:txBody>
                  <a:tcPr/>
                </a:tc>
                <a:tc>
                  <a:txBody>
                    <a:bodyPr/>
                    <a:lstStyle/>
                    <a:p>
                      <a:r>
                        <a:rPr lang="en-US" baseline="0" dirty="0"/>
                        <a:t>Summer 23-24</a:t>
                      </a:r>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baseline="0" dirty="0"/>
                        <a:t>Nazia Alfaz, </a:t>
                      </a:r>
                      <a:r>
                        <a:rPr lang="en-US" i="1" baseline="0" dirty="0">
                          <a:hlinkClick r:id="rId2"/>
                        </a:rPr>
                        <a:t>nazia@aiub.edu</a:t>
                      </a:r>
                      <a:r>
                        <a:rPr lang="en-US" i="1" baseline="0" dirty="0"/>
                        <a:t>, Office Room: D0201B</a:t>
                      </a:r>
                      <a:endParaRPr lang="en-US" i="1"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Introduction To Database</a:t>
            </a:r>
          </a:p>
        </p:txBody>
      </p:sp>
    </p:spTree>
    <p:extLst>
      <p:ext uri="{BB962C8B-B14F-4D97-AF65-F5344CB8AC3E}">
        <p14:creationId xmlns:p14="http://schemas.microsoft.com/office/powerpoint/2010/main" val="700707328"/>
      </p:ext>
    </p:extLst>
  </p:cSld>
  <p:clrMapOvr>
    <a:masterClrMapping/>
  </p:clrMapOvr>
  <p:transition spd="slow">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Font typeface="Arial" pitchFamily="34" charset="0"/>
              <a:buChar char="•"/>
            </a:pPr>
            <a:r>
              <a:rPr lang="en-US" sz="2400" dirty="0">
                <a:solidFill>
                  <a:schemeClr val="tx1"/>
                </a:solidFill>
              </a:rPr>
              <a:t>American International University-Bangladesh (AIUB)</a:t>
            </a:r>
          </a:p>
          <a:p>
            <a:pPr marL="342900" indent="-342900">
              <a:buFont typeface="Arial" pitchFamily="34" charset="0"/>
              <a:buChar char="•"/>
            </a:pPr>
            <a:r>
              <a:rPr lang="en-US" sz="2400" dirty="0">
                <a:solidFill>
                  <a:schemeClr val="tx1"/>
                </a:solidFill>
              </a:rPr>
              <a:t>Computer Science(CS) Department </a:t>
            </a:r>
            <a:r>
              <a:rPr lang="en-US" sz="2400" dirty="0"/>
              <a:t>of AIUB</a:t>
            </a:r>
            <a:endParaRPr lang="en-US" sz="2400" dirty="0">
              <a:solidFill>
                <a:schemeClr val="tx1"/>
              </a:solidFill>
            </a:endParaRPr>
          </a:p>
          <a:p>
            <a:pPr marL="342900" indent="-342900">
              <a:buFont typeface="Arial" pitchFamily="34" charset="0"/>
              <a:buChar char="•"/>
            </a:pPr>
            <a:r>
              <a:rPr lang="en-US" sz="2400" dirty="0">
                <a:solidFill>
                  <a:schemeClr val="tx1"/>
                </a:solidFill>
              </a:rPr>
              <a:t>Necessary Policies and Rules</a:t>
            </a:r>
          </a:p>
          <a:p>
            <a:pPr marL="342900" indent="-342900">
              <a:buFont typeface="Arial" pitchFamily="34" charset="0"/>
              <a:buChar char="•"/>
            </a:pPr>
            <a:r>
              <a:rPr lang="en-US" sz="2400" dirty="0">
                <a:solidFill>
                  <a:schemeClr val="tx1"/>
                </a:solidFill>
              </a:rPr>
              <a:t>Outcome Based Education (OBE)</a:t>
            </a:r>
          </a:p>
          <a:p>
            <a:pPr marL="342900" indent="-342900">
              <a:buFont typeface="Arial" pitchFamily="34" charset="0"/>
              <a:buChar char="•"/>
            </a:pPr>
            <a:r>
              <a:rPr lang="en-US" sz="2400" dirty="0">
                <a:solidFill>
                  <a:schemeClr val="tx1"/>
                </a:solidFill>
              </a:rPr>
              <a:t>Basic Information Regarding this Course</a:t>
            </a:r>
          </a:p>
          <a:p>
            <a:pPr marL="342900" indent="-342900">
              <a:buFont typeface="Arial" pitchFamily="34" charset="0"/>
              <a:buChar char="•"/>
            </a:pPr>
            <a:r>
              <a:rPr lang="en-US" sz="2400" dirty="0">
                <a:solidFill>
                  <a:schemeClr val="tx1"/>
                </a:solidFill>
              </a:rPr>
              <a:t>Database Terminology</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transition spd="slow">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400" dirty="0"/>
              <a:t>American International University- Bangladesh (AIUB)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Vision of AIUB</a:t>
            </a:r>
            <a:endParaRPr lang="x-none" dirty="0"/>
          </a:p>
        </p:txBody>
      </p:sp>
      <p:sp>
        <p:nvSpPr>
          <p:cNvPr id="10" name="Rectangle 9"/>
          <p:cNvSpPr/>
          <p:nvPr/>
        </p:nvSpPr>
        <p:spPr>
          <a:xfrm>
            <a:off x="421341" y="2377440"/>
            <a:ext cx="8413170" cy="1569660"/>
          </a:xfrm>
          <a:prstGeom prst="rect">
            <a:avLst/>
          </a:prstGeom>
        </p:spPr>
        <p:txBody>
          <a:bodyPr wrap="square">
            <a:spAutoFit/>
          </a:bodyPr>
          <a:lstStyle/>
          <a:p>
            <a:pPr algn="ctr"/>
            <a:r>
              <a:rPr lang="en-US" sz="2400" dirty="0"/>
              <a:t>AMERICAN INTERNATIONAL UNIVERSITY-BANGLADESH (AIUB) envisions promoting professionals and excellent leadership catering to the technological progress and development needs of the country.</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400" dirty="0"/>
              <a:t>American International University- Bangladesh (AIUB)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Mission of AIUB</a:t>
            </a:r>
            <a:endParaRPr lang="x-none" dirty="0"/>
          </a:p>
        </p:txBody>
      </p:sp>
      <p:sp>
        <p:nvSpPr>
          <p:cNvPr id="6" name="Rectangle 5"/>
          <p:cNvSpPr/>
          <p:nvPr/>
        </p:nvSpPr>
        <p:spPr>
          <a:xfrm>
            <a:off x="421341" y="2236763"/>
            <a:ext cx="8413170" cy="2677656"/>
          </a:xfrm>
          <a:prstGeom prst="rect">
            <a:avLst/>
          </a:prstGeom>
        </p:spPr>
        <p:txBody>
          <a:bodyPr wrap="square">
            <a:spAutoFit/>
          </a:bodyPr>
          <a:lstStyle/>
          <a:p>
            <a:pPr marL="342900" indent="-342900" algn="ctr"/>
            <a:r>
              <a:rPr lang="en-US" sz="2400"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400" dirty="0"/>
              <a:t>Computer Science(CS) Department of AIUB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Vision of CS Department</a:t>
            </a:r>
            <a:endParaRPr lang="x-none" dirty="0"/>
          </a:p>
        </p:txBody>
      </p:sp>
      <p:sp>
        <p:nvSpPr>
          <p:cNvPr id="7" name="Rectangle 6"/>
          <p:cNvSpPr/>
          <p:nvPr/>
        </p:nvSpPr>
        <p:spPr>
          <a:xfrm>
            <a:off x="421341" y="2413338"/>
            <a:ext cx="8385034" cy="1938992"/>
          </a:xfrm>
          <a:prstGeom prst="rect">
            <a:avLst/>
          </a:prstGeom>
        </p:spPr>
        <p:txBody>
          <a:bodyPr wrap="square">
            <a:spAutoFit/>
          </a:bodyPr>
          <a:lstStyle/>
          <a:p>
            <a:pPr algn="ctr"/>
            <a:r>
              <a:rPr lang="en-US" sz="2400" dirty="0"/>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400" dirty="0"/>
              <a:t>Computer Science(CS) Department of AIUB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Mission of CS Department</a:t>
            </a:r>
            <a:endParaRPr lang="x-none" dirty="0"/>
          </a:p>
        </p:txBody>
      </p:sp>
      <p:sp>
        <p:nvSpPr>
          <p:cNvPr id="6" name="Rectangle 5"/>
          <p:cNvSpPr/>
          <p:nvPr/>
        </p:nvSpPr>
        <p:spPr>
          <a:xfrm>
            <a:off x="421340" y="2274838"/>
            <a:ext cx="8356899" cy="2308324"/>
          </a:xfrm>
          <a:prstGeom prst="rect">
            <a:avLst/>
          </a:prstGeom>
        </p:spPr>
        <p:txBody>
          <a:bodyPr wrap="square">
            <a:spAutoFit/>
          </a:bodyPr>
          <a:lstStyle/>
          <a:p>
            <a:pPr marL="342900" indent="-342900" algn="ctr"/>
            <a:r>
              <a:rPr lang="en-US" sz="2400" dirty="0"/>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Necessary Policies and Rules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General University Rules</a:t>
            </a:r>
            <a:endParaRPr lang="x-none" dirty="0"/>
          </a:p>
        </p:txBody>
      </p:sp>
      <p:sp>
        <p:nvSpPr>
          <p:cNvPr id="6" name="Rectangle 5"/>
          <p:cNvSpPr/>
          <p:nvPr/>
        </p:nvSpPr>
        <p:spPr>
          <a:xfrm>
            <a:off x="476205" y="2293033"/>
            <a:ext cx="8330170" cy="1754326"/>
          </a:xfrm>
          <a:prstGeom prst="rect">
            <a:avLst/>
          </a:prstGeom>
        </p:spPr>
        <p:txBody>
          <a:bodyPr wrap="square">
            <a:spAutoFit/>
          </a:bodyPr>
          <a:lstStyle/>
          <a:p>
            <a:endParaRPr lang="en-US" sz="1200" dirty="0"/>
          </a:p>
          <a:p>
            <a:pPr marL="342900" indent="-342900">
              <a:buFont typeface="Arial" pitchFamily="34" charset="0"/>
              <a:buChar char="•"/>
            </a:pPr>
            <a:r>
              <a:rPr lang="en-US" sz="2400" dirty="0"/>
              <a:t>Entering the University without ID card is strictly prohibited</a:t>
            </a:r>
          </a:p>
          <a:p>
            <a:pPr marL="342900" indent="-342900">
              <a:buFont typeface="Arial" pitchFamily="34" charset="0"/>
              <a:buChar char="•"/>
            </a:pPr>
            <a:r>
              <a:rPr lang="en-US" sz="2400" dirty="0"/>
              <a:t>No students will be allowed to sit in the class/exams without student ID card</a:t>
            </a:r>
          </a:p>
          <a:p>
            <a:pPr marL="342900" indent="-342900">
              <a:buFont typeface="Arial" pitchFamily="34" charset="0"/>
              <a:buChar char="•"/>
            </a:pPr>
            <a:r>
              <a:rPr lang="en-US" sz="2400" dirty="0"/>
              <a:t>Keep your  campus clean</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Necessary Policies and Rules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Classroom/ Laboratory Policy</a:t>
            </a:r>
            <a:endParaRPr lang="x-none" dirty="0"/>
          </a:p>
        </p:txBody>
      </p:sp>
      <p:sp>
        <p:nvSpPr>
          <p:cNvPr id="7" name="Rectangle 6"/>
          <p:cNvSpPr/>
          <p:nvPr/>
        </p:nvSpPr>
        <p:spPr>
          <a:xfrm>
            <a:off x="182880" y="2017059"/>
            <a:ext cx="8792308" cy="4131900"/>
          </a:xfrm>
          <a:prstGeom prst="rect">
            <a:avLst/>
          </a:prstGeom>
        </p:spPr>
        <p:txBody>
          <a:bodyPr wrap="square">
            <a:spAutoFit/>
          </a:bodyPr>
          <a:lstStyle/>
          <a:p>
            <a:pPr marL="342900" indent="-342900">
              <a:buFont typeface="Arial" pitchFamily="34" charset="0"/>
              <a:buChar char="•"/>
            </a:pPr>
            <a:r>
              <a:rPr lang="en-US" sz="1750" dirty="0"/>
              <a:t>Please keep silent during lecture time</a:t>
            </a:r>
          </a:p>
          <a:p>
            <a:pPr marL="342900" indent="-342900">
              <a:buFont typeface="Arial" pitchFamily="34" charset="0"/>
              <a:buChar char="•"/>
            </a:pPr>
            <a:r>
              <a:rPr lang="en-US" sz="1750" dirty="0"/>
              <a:t>There will be session for questioning after completing each topic/subtopic/chapter</a:t>
            </a:r>
          </a:p>
          <a:p>
            <a:pPr marL="342900" indent="-342900">
              <a:buFont typeface="Arial" pitchFamily="34" charset="0"/>
              <a:buChar char="•"/>
            </a:pPr>
            <a:r>
              <a:rPr lang="en-US" sz="1750" dirty="0"/>
              <a:t>Please ask your personal question in break /after finishing lecture/ consulting hours</a:t>
            </a:r>
          </a:p>
          <a:p>
            <a:pPr marL="342900" indent="-342900">
              <a:buFont typeface="Arial" pitchFamily="34" charset="0"/>
              <a:buChar char="•"/>
            </a:pPr>
            <a:r>
              <a:rPr lang="en-US" sz="1750" dirty="0"/>
              <a:t>If some of you already know the materials I am discussing, give chance to other students to understand the matter</a:t>
            </a:r>
          </a:p>
          <a:p>
            <a:pPr marL="342900" indent="-342900">
              <a:buFont typeface="Arial" pitchFamily="34" charset="0"/>
              <a:buChar char="•"/>
            </a:pPr>
            <a:r>
              <a:rPr lang="en-US" sz="1750" dirty="0"/>
              <a:t>Break will be given during class. However you are strictly advised to follow proper protocols during the break time also. Remember break time is not for roaming around the halls or creating ruckus in the class/lab rooms. Even during break time you are a student so behave like a student.</a:t>
            </a:r>
          </a:p>
          <a:p>
            <a:pPr marL="342900" indent="-342900">
              <a:buFont typeface="Arial" pitchFamily="34" charset="0"/>
              <a:buChar char="•"/>
            </a:pPr>
            <a:r>
              <a:rPr lang="en-US" sz="1750" dirty="0"/>
              <a:t>You are encouraged to take notes of the lecture in your notebook if deemed necessary</a:t>
            </a:r>
          </a:p>
          <a:p>
            <a:pPr marL="342900" indent="-342900">
              <a:buFont typeface="Arial" pitchFamily="34" charset="0"/>
              <a:buChar char="•"/>
            </a:pPr>
            <a:r>
              <a:rPr lang="en-US" sz="1750" dirty="0"/>
              <a:t>Using smart phones/cameras to click photos during class is strictly prohibited. </a:t>
            </a:r>
          </a:p>
          <a:p>
            <a:pPr marL="342900" indent="-342900">
              <a:buFont typeface="Arial" pitchFamily="34" charset="0"/>
              <a:buChar char="•"/>
            </a:pPr>
            <a:r>
              <a:rPr lang="en-US" sz="1750" dirty="0"/>
              <a:t>You are specially prohibited to take snapshots of the classroom whiteboard. </a:t>
            </a:r>
          </a:p>
          <a:p>
            <a:pPr marL="342900" indent="-342900">
              <a:buFont typeface="Arial" pitchFamily="34" charset="0"/>
              <a:buChar char="•"/>
            </a:pPr>
            <a:r>
              <a:rPr lang="en-US" sz="1750" dirty="0"/>
              <a:t>Try to keep your smart phones/ mobile phones in your bag/pocket/purse during class hours</a:t>
            </a:r>
          </a:p>
          <a:p>
            <a:pPr marL="342900" indent="-342900">
              <a:buFont typeface="Arial" pitchFamily="34" charset="0"/>
              <a:buChar char="•"/>
            </a:pPr>
            <a:r>
              <a:rPr lang="en-US" sz="1750" dirty="0"/>
              <a:t>Make sure to log out of any personal account i.e. AIUB Student Portal/email account on the Lab PC that you are using once your allocated lab hours is over. </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Outcome Based Education (OBE)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Significance</a:t>
            </a:r>
            <a:endParaRPr lang="x-none" dirty="0"/>
          </a:p>
        </p:txBody>
      </p:sp>
      <p:sp>
        <p:nvSpPr>
          <p:cNvPr id="6" name="Rectangle 5"/>
          <p:cNvSpPr/>
          <p:nvPr/>
        </p:nvSpPr>
        <p:spPr>
          <a:xfrm>
            <a:off x="239152" y="2307102"/>
            <a:ext cx="8454682" cy="2308324"/>
          </a:xfrm>
          <a:prstGeom prst="rect">
            <a:avLst/>
          </a:prstGeom>
        </p:spPr>
        <p:txBody>
          <a:bodyPr wrap="square">
            <a:spAutoFit/>
          </a:bodyPr>
          <a:lstStyle/>
          <a:p>
            <a:pPr marL="342900" indent="-342900">
              <a:buFont typeface="Arial" pitchFamily="34" charset="0"/>
              <a:buChar char="•"/>
            </a:pPr>
            <a:r>
              <a:rPr lang="en-US" sz="2400" dirty="0"/>
              <a:t>Outcome Based Education</a:t>
            </a:r>
          </a:p>
          <a:p>
            <a:pPr marL="342900" indent="-342900">
              <a:buFont typeface="Arial" pitchFamily="34" charset="0"/>
              <a:buChar char="•"/>
            </a:pPr>
            <a:r>
              <a:rPr lang="en-US" sz="2400" dirty="0"/>
              <a:t>OBE is an educational process</a:t>
            </a:r>
          </a:p>
          <a:p>
            <a:pPr marL="342900" indent="-342900">
              <a:buFont typeface="Arial" pitchFamily="34" charset="0"/>
              <a:buChar char="•"/>
            </a:pPr>
            <a:r>
              <a:rPr lang="en-US" sz="2400" dirty="0"/>
              <a:t>Directed/focused at achieving certain specified outcomes in terms of individual student learning</a:t>
            </a:r>
          </a:p>
          <a:p>
            <a:pPr marL="342900" indent="-342900">
              <a:buFont typeface="Arial" pitchFamily="34" charset="0"/>
              <a:buChar char="•"/>
            </a:pPr>
            <a:r>
              <a:rPr lang="en-US" sz="2400" dirty="0"/>
              <a:t>Outcomes - key things students should understand and be able to do or the qualities they should develop</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Basic Information Regarding This Course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9" name="Title 1"/>
          <p:cNvSpPr txBox="1">
            <a:spLocks/>
          </p:cNvSpPr>
          <p:nvPr/>
        </p:nvSpPr>
        <p:spPr>
          <a:xfrm>
            <a:off x="1055715" y="2335237"/>
            <a:ext cx="6553200" cy="3824757"/>
          </a:xfrm>
          <a:prstGeom prst="rect">
            <a:avLst/>
          </a:prstGeom>
          <a:noFill/>
        </p:spPr>
        <p:txBody>
          <a:bodyPr vert="horz" lIns="91440" tIns="45720" rIns="91440" bIns="45720" rtlCol="0" anchor="b" anchorCtr="0">
            <a:normAutofit/>
          </a:bodyPr>
          <a:lstStyle/>
          <a:p>
            <a:pPr marL="0" marR="0" lvl="0" indent="0" algn="ctr" defTabSz="914400" rtl="0" eaLnBrk="1" fontAlgn="auto" latinLnBrk="0" hangingPunct="1">
              <a:lnSpc>
                <a:spcPts val="4600"/>
              </a:lnSpc>
              <a:spcBef>
                <a:spcPct val="0"/>
              </a:spcBef>
              <a:spcAft>
                <a:spcPts val="0"/>
              </a:spcAft>
              <a:buClrTx/>
              <a:buSzTx/>
              <a:buFontTx/>
              <a:buNone/>
              <a:tabLst/>
              <a:defRPr/>
            </a:pPr>
            <a:r>
              <a:rPr kumimoji="0" lang="en-US" b="0" i="0" u="none" strike="noStrike" kern="1200" cap="none" spc="0" normalizeH="0" baseline="0" noProof="0" dirty="0">
                <a:ln>
                  <a:noFill/>
                </a:ln>
                <a:effectLst/>
                <a:uLnTx/>
                <a:uFillTx/>
                <a:latin typeface="+mj-lt"/>
                <a:ea typeface="+mj-ea"/>
                <a:cs typeface="+mj-cs"/>
              </a:rPr>
              <a:t>COURSE </a:t>
            </a:r>
            <a:r>
              <a:rPr lang="en-US" dirty="0">
                <a:latin typeface="+mj-lt"/>
                <a:ea typeface="+mj-ea"/>
                <a:cs typeface="+mj-cs"/>
              </a:rPr>
              <a:t>C</a:t>
            </a:r>
            <a:r>
              <a:rPr kumimoji="0" lang="en-US" b="0" i="0" u="none" strike="noStrike" kern="1200" cap="none" spc="0" normalizeH="0" baseline="0" noProof="0" dirty="0">
                <a:ln>
                  <a:noFill/>
                </a:ln>
                <a:effectLst/>
                <a:uLnTx/>
                <a:uFillTx/>
                <a:latin typeface="+mj-lt"/>
                <a:ea typeface="+mj-ea"/>
                <a:cs typeface="+mj-cs"/>
              </a:rPr>
              <a:t>ODE:CSC 2108</a:t>
            </a:r>
            <a:br>
              <a:rPr kumimoji="0" lang="en-US" sz="1600" b="0" i="0" u="none" strike="noStrike" kern="1200" cap="none" spc="0" normalizeH="0" baseline="0" noProof="0" dirty="0">
                <a:ln>
                  <a:noFill/>
                </a:ln>
                <a:effectLst/>
                <a:uLnTx/>
                <a:uFillTx/>
                <a:latin typeface="+mj-lt"/>
                <a:ea typeface="+mj-ea"/>
                <a:cs typeface="+mj-cs"/>
              </a:rPr>
            </a:br>
            <a:r>
              <a:rPr kumimoji="0" lang="en-US" sz="1600" b="0" i="0" u="none" strike="noStrike" kern="1200" cap="none" spc="0" normalizeH="0" baseline="0" noProof="0" dirty="0">
                <a:ln>
                  <a:noFill/>
                </a:ln>
                <a:effectLst/>
                <a:uLnTx/>
                <a:uFillTx/>
                <a:latin typeface="+mj-lt"/>
                <a:ea typeface="+mj-ea"/>
                <a:cs typeface="+mj-cs"/>
              </a:rPr>
              <a:t>COURSE NAME:</a:t>
            </a:r>
            <a:br>
              <a:rPr kumimoji="0" lang="en-US" sz="1600" b="0" i="0" u="none" strike="noStrike" kern="1200" cap="none" spc="0" normalizeH="0" baseline="0" noProof="0" dirty="0">
                <a:ln>
                  <a:noFill/>
                </a:ln>
                <a:effectLst/>
                <a:uLnTx/>
                <a:uFillTx/>
                <a:latin typeface="+mj-lt"/>
                <a:ea typeface="+mj-ea"/>
                <a:cs typeface="+mj-cs"/>
              </a:rPr>
            </a:br>
            <a:r>
              <a:rPr kumimoji="0" lang="en-US" sz="4800" b="0" i="0" u="none" strike="noStrike" kern="1200" cap="none" spc="0" normalizeH="0" baseline="0" noProof="0" dirty="0">
                <a:ln>
                  <a:noFill/>
                </a:ln>
                <a:effectLst/>
                <a:uLnTx/>
                <a:uFillTx/>
                <a:latin typeface="+mj-lt"/>
                <a:ea typeface="+mj-ea"/>
                <a:cs typeface="+mj-cs"/>
              </a:rPr>
              <a:t>INTRODUCTION TO DATABASE</a:t>
            </a:r>
            <a:br>
              <a:rPr kumimoji="0" lang="en-US" sz="4800" b="0" i="0" u="none" strike="noStrike" kern="1200" cap="none" spc="0" normalizeH="0" baseline="0" noProof="0" dirty="0">
                <a:ln>
                  <a:noFill/>
                </a:ln>
                <a:effectLst/>
                <a:uLnTx/>
                <a:uFillTx/>
                <a:latin typeface="+mj-lt"/>
                <a:ea typeface="+mj-ea"/>
                <a:cs typeface="+mj-cs"/>
              </a:rPr>
            </a:br>
            <a:r>
              <a:rPr kumimoji="0" lang="en-US" sz="1600" b="0" i="0" u="none" strike="noStrike" kern="1200" cap="none" spc="0" normalizeH="0" baseline="0" noProof="0" dirty="0">
                <a:ln>
                  <a:noFill/>
                </a:ln>
                <a:effectLst/>
                <a:uLnTx/>
                <a:uFillTx/>
                <a:latin typeface="+mj-lt"/>
                <a:ea typeface="+mj-ea"/>
                <a:cs typeface="+mj-cs"/>
              </a:rPr>
              <a:t>COURSE </a:t>
            </a:r>
            <a:r>
              <a:rPr kumimoji="0" lang="en-US" sz="1600" b="0" i="0" u="none" strike="noStrike" kern="1200" cap="none" spc="0" normalizeH="0" baseline="0" noProof="0" dirty="0" err="1">
                <a:ln>
                  <a:noFill/>
                </a:ln>
                <a:effectLst/>
                <a:uLnTx/>
                <a:uFillTx/>
                <a:latin typeface="+mj-lt"/>
                <a:ea typeface="+mj-ea"/>
                <a:cs typeface="+mj-cs"/>
              </a:rPr>
              <a:t>TEACHER:Nazia</a:t>
            </a:r>
            <a:r>
              <a:rPr kumimoji="0" lang="en-US" sz="1600" b="0" i="0" u="none" strike="noStrike" kern="1200" cap="none" spc="0" normalizeH="0" baseline="0" noProof="0" dirty="0">
                <a:ln>
                  <a:noFill/>
                </a:ln>
                <a:effectLst/>
                <a:uLnTx/>
                <a:uFillTx/>
                <a:latin typeface="+mj-lt"/>
                <a:ea typeface="+mj-ea"/>
                <a:cs typeface="+mj-cs"/>
              </a:rPr>
              <a:t> Alfaz</a:t>
            </a:r>
            <a:br>
              <a:rPr kumimoji="0" lang="en-US" sz="1600" b="0" i="0" u="none" strike="noStrike" kern="1200" cap="none" spc="0" normalizeH="0" baseline="0" noProof="0" dirty="0">
                <a:ln>
                  <a:noFill/>
                </a:ln>
                <a:effectLst/>
                <a:uLnTx/>
                <a:uFillTx/>
                <a:latin typeface="+mj-lt"/>
                <a:ea typeface="+mj-ea"/>
                <a:cs typeface="+mj-cs"/>
              </a:rPr>
            </a:br>
            <a:endParaRPr kumimoji="0" lang="en-US" sz="1600" b="0" i="0" u="none" strike="noStrike" kern="1200" cap="none" spc="0" normalizeH="0" baseline="0" noProof="0" dirty="0">
              <a:ln>
                <a:noFill/>
              </a:ln>
              <a:effectLst/>
              <a:uLnTx/>
              <a:uFillTx/>
              <a:latin typeface="+mj-lt"/>
              <a:ea typeface="+mj-ea"/>
              <a:cs typeface="+mj-cs"/>
            </a:endParaRP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Basic Information Regarding This Course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Class Hours</a:t>
            </a:r>
            <a:endParaRPr lang="x-none" dirty="0"/>
          </a:p>
        </p:txBody>
      </p:sp>
      <p:sp>
        <p:nvSpPr>
          <p:cNvPr id="6" name="Rectangle 5"/>
          <p:cNvSpPr/>
          <p:nvPr/>
        </p:nvSpPr>
        <p:spPr>
          <a:xfrm>
            <a:off x="421341" y="2264898"/>
            <a:ext cx="4572000" cy="830997"/>
          </a:xfrm>
          <a:prstGeom prst="rect">
            <a:avLst/>
          </a:prstGeom>
        </p:spPr>
        <p:txBody>
          <a:bodyPr>
            <a:spAutoFit/>
          </a:bodyPr>
          <a:lstStyle/>
          <a:p>
            <a:pPr marL="342900" indent="-342900">
              <a:buFont typeface="Arial" pitchFamily="34" charset="0"/>
              <a:buChar char="•"/>
            </a:pPr>
            <a:r>
              <a:rPr lang="en-US" sz="2400" dirty="0"/>
              <a:t>Theory class- Three(3) hours</a:t>
            </a:r>
          </a:p>
          <a:p>
            <a:pPr marL="342900" indent="-342900">
              <a:buFont typeface="Arial" pitchFamily="34" charset="0"/>
              <a:buChar char="•"/>
            </a:pPr>
            <a:r>
              <a:rPr lang="en-US" sz="2400" dirty="0"/>
              <a:t>Lab class- Four(4) hours</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Basic Information Regarding This Course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Course Objective</a:t>
            </a:r>
            <a:endParaRPr lang="x-none" dirty="0"/>
          </a:p>
        </p:txBody>
      </p:sp>
      <p:sp>
        <p:nvSpPr>
          <p:cNvPr id="7" name="Rectangle 6"/>
          <p:cNvSpPr/>
          <p:nvPr/>
        </p:nvSpPr>
        <p:spPr>
          <a:xfrm>
            <a:off x="421341" y="2017058"/>
            <a:ext cx="8511644" cy="4093428"/>
          </a:xfrm>
          <a:prstGeom prst="rect">
            <a:avLst/>
          </a:prstGeom>
        </p:spPr>
        <p:txBody>
          <a:bodyPr wrap="square">
            <a:spAutoFit/>
          </a:bodyPr>
          <a:lstStyle/>
          <a:p>
            <a:pPr lvl="0" algn="just"/>
            <a:r>
              <a:rPr lang="en-US" sz="2000" dirty="0"/>
              <a:t>To be able to:</a:t>
            </a:r>
          </a:p>
          <a:p>
            <a:pPr lvl="0" algn="just">
              <a:buFont typeface="Arial" pitchFamily="34" charset="0"/>
              <a:buChar char="•"/>
            </a:pPr>
            <a:r>
              <a:rPr lang="en-US" sz="2000" dirty="0"/>
              <a:t>Identify the drawbacks of file-based management system and the necessity of Database management system</a:t>
            </a:r>
          </a:p>
          <a:p>
            <a:pPr lvl="0" algn="just">
              <a:buFont typeface="Arial" pitchFamily="34" charset="0"/>
              <a:buChar char="•"/>
            </a:pPr>
            <a:r>
              <a:rPr lang="en-US" sz="2000" dirty="0"/>
              <a:t>Use modern tools utilized in Database management system.</a:t>
            </a:r>
          </a:p>
          <a:p>
            <a:pPr lvl="0" algn="just">
              <a:buFont typeface="Arial" pitchFamily="34" charset="0"/>
              <a:buChar char="•"/>
            </a:pPr>
            <a:r>
              <a:rPr lang="en-US" sz="2000" dirty="0"/>
              <a:t>Understand different types of terminologies used in Database management system</a:t>
            </a:r>
          </a:p>
          <a:p>
            <a:pPr lvl="0" algn="just">
              <a:buFont typeface="Arial" pitchFamily="34" charset="0"/>
              <a:buChar char="•"/>
            </a:pPr>
            <a:r>
              <a:rPr lang="en-US" sz="2000" dirty="0"/>
              <a:t>Discuss different tools and techniques for better performance of Database management system</a:t>
            </a:r>
          </a:p>
          <a:p>
            <a:pPr lvl="0" algn="just">
              <a:buFont typeface="Arial" pitchFamily="34" charset="0"/>
              <a:buChar char="•"/>
            </a:pPr>
            <a:r>
              <a:rPr lang="en-US" sz="2000" dirty="0"/>
              <a:t>Execute necessary and sufficient SQLs</a:t>
            </a:r>
          </a:p>
          <a:p>
            <a:pPr lvl="0" algn="just">
              <a:buFont typeface="Arial" pitchFamily="34" charset="0"/>
              <a:buChar char="•"/>
            </a:pPr>
            <a:r>
              <a:rPr lang="en-US" sz="2000" dirty="0"/>
              <a:t>Design ER Models and Diagrams</a:t>
            </a:r>
          </a:p>
          <a:p>
            <a:pPr lvl="0" algn="just">
              <a:buFont typeface="Arial" pitchFamily="34" charset="0"/>
              <a:buChar char="•"/>
            </a:pPr>
            <a:r>
              <a:rPr lang="en-US" sz="2000" dirty="0"/>
              <a:t>Use different types of Normalization process</a:t>
            </a:r>
          </a:p>
          <a:p>
            <a:pPr lvl="0" algn="just">
              <a:buFont typeface="Arial" pitchFamily="34" charset="0"/>
              <a:buChar char="•"/>
            </a:pPr>
            <a:r>
              <a:rPr lang="en-US" sz="2000" dirty="0"/>
              <a:t>Analyze a system with a view to DBMS implementation</a:t>
            </a:r>
          </a:p>
          <a:p>
            <a:pPr lvl="0" algn="just">
              <a:buFont typeface="Arial" pitchFamily="34" charset="0"/>
              <a:buChar char="•"/>
            </a:pPr>
            <a:r>
              <a:rPr lang="en-US" sz="2000" dirty="0"/>
              <a:t>Understand different types of joining and use of different complex queries</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Data, Information, Knowledge and Wisdom</a:t>
            </a:r>
            <a:endParaRPr lang="x-none" dirty="0"/>
          </a:p>
        </p:txBody>
      </p:sp>
      <p:sp>
        <p:nvSpPr>
          <p:cNvPr id="15" name="Rectangle 14"/>
          <p:cNvSpPr/>
          <p:nvPr/>
        </p:nvSpPr>
        <p:spPr>
          <a:xfrm>
            <a:off x="181855" y="2261258"/>
            <a:ext cx="8613802" cy="3416320"/>
          </a:xfrm>
          <a:prstGeom prst="rect">
            <a:avLst/>
          </a:prstGeom>
        </p:spPr>
        <p:txBody>
          <a:bodyPr wrap="square">
            <a:spAutoFit/>
          </a:bodyPr>
          <a:lstStyle/>
          <a:p>
            <a:pPr marL="342900" indent="-342900">
              <a:buFont typeface="Wingdings" panose="05000000000000000000" pitchFamily="2" charset="2"/>
              <a:buChar char="q"/>
            </a:pPr>
            <a:r>
              <a:rPr lang="en-GB" sz="2400" dirty="0">
                <a:highlight>
                  <a:srgbClr val="00FFFF"/>
                </a:highlight>
              </a:rPr>
              <a:t>Data: </a:t>
            </a:r>
            <a:r>
              <a:rPr lang="en-GB" sz="2400" dirty="0"/>
              <a:t>Raw, unprocessed facts and figures that on their own have no meaning</a:t>
            </a:r>
          </a:p>
          <a:p>
            <a:pPr marL="800100" lvl="1" indent="-342900">
              <a:buFont typeface="Wingdings" panose="05000000000000000000" pitchFamily="2" charset="2"/>
              <a:buChar char="v"/>
            </a:pPr>
            <a:r>
              <a:rPr lang="en-GB" sz="2400" dirty="0"/>
              <a:t>Example: Mymensingh, 3.91, 23-53081-3</a:t>
            </a:r>
          </a:p>
          <a:p>
            <a:pPr marL="342900" indent="-342900">
              <a:buFont typeface="Wingdings" panose="05000000000000000000" pitchFamily="2" charset="2"/>
              <a:buChar char="q"/>
            </a:pPr>
            <a:r>
              <a:rPr lang="en-GB" sz="2400" dirty="0">
                <a:highlight>
                  <a:srgbClr val="00FFFF"/>
                </a:highlight>
              </a:rPr>
              <a:t>Information: </a:t>
            </a:r>
            <a:r>
              <a:rPr lang="en-GB" sz="2400" dirty="0"/>
              <a:t>Data that has been processed within  a context to give it meaning.</a:t>
            </a:r>
          </a:p>
          <a:p>
            <a:r>
              <a:rPr lang="en-GB" sz="2400" dirty="0"/>
              <a:t>Example: </a:t>
            </a:r>
          </a:p>
          <a:p>
            <a:pPr marL="800100" lvl="1" indent="-342900">
              <a:buFont typeface="Wingdings" panose="05000000000000000000" pitchFamily="2" charset="2"/>
              <a:buChar char="v"/>
            </a:pPr>
            <a:r>
              <a:rPr lang="en-GB" sz="2400" dirty="0"/>
              <a:t>The hometown of </a:t>
            </a:r>
            <a:r>
              <a:rPr lang="en-GB" sz="2400" dirty="0" err="1"/>
              <a:t>Rahad</a:t>
            </a:r>
            <a:r>
              <a:rPr lang="en-GB" sz="2400" dirty="0"/>
              <a:t> is Mymensingh.</a:t>
            </a:r>
          </a:p>
          <a:p>
            <a:pPr marL="800100" lvl="1" indent="-342900">
              <a:buFont typeface="Wingdings" panose="05000000000000000000" pitchFamily="2" charset="2"/>
              <a:buChar char="v"/>
            </a:pPr>
            <a:r>
              <a:rPr lang="en-GB" sz="2400" dirty="0"/>
              <a:t>The CGPA of SHREYA is 3.91.</a:t>
            </a:r>
          </a:p>
          <a:p>
            <a:pPr marL="800100" lvl="1" indent="-342900">
              <a:buFont typeface="Wingdings" panose="05000000000000000000" pitchFamily="2" charset="2"/>
              <a:buChar char="v"/>
            </a:pPr>
            <a:r>
              <a:rPr lang="en-GB" sz="2400" dirty="0"/>
              <a:t>The student ID of IMRAN is 23-53081-3.</a:t>
            </a:r>
          </a:p>
        </p:txBody>
      </p:sp>
    </p:spTree>
    <p:extLst>
      <p:ext uri="{BB962C8B-B14F-4D97-AF65-F5344CB8AC3E}">
        <p14:creationId xmlns:p14="http://schemas.microsoft.com/office/powerpoint/2010/main" val="3132154582"/>
      </p:ext>
    </p:extLst>
  </p:cSld>
  <p:clrMapOvr>
    <a:masterClrMapping/>
  </p:clrMapOvr>
  <p:transition spd="slow">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Data, Information, Knowledge and Wisdom</a:t>
            </a:r>
            <a:endParaRPr lang="x-none" dirty="0"/>
          </a:p>
        </p:txBody>
      </p:sp>
      <p:sp>
        <p:nvSpPr>
          <p:cNvPr id="15" name="Rectangle 14"/>
          <p:cNvSpPr/>
          <p:nvPr/>
        </p:nvSpPr>
        <p:spPr>
          <a:xfrm>
            <a:off x="421341" y="2250831"/>
            <a:ext cx="8025619" cy="3508653"/>
          </a:xfrm>
          <a:prstGeom prst="rect">
            <a:avLst/>
          </a:prstGeom>
        </p:spPr>
        <p:txBody>
          <a:bodyPr wrap="square">
            <a:spAutoFit/>
          </a:bodyPr>
          <a:lstStyle/>
          <a:p>
            <a:pPr marL="342900" lvl="1" indent="-342900">
              <a:buFont typeface="Wingdings" panose="05000000000000000000" pitchFamily="2" charset="2"/>
              <a:buChar char="q"/>
            </a:pPr>
            <a:r>
              <a:rPr lang="en-GB" sz="2400" dirty="0">
                <a:highlight>
                  <a:srgbClr val="00FFFF"/>
                </a:highlight>
              </a:rPr>
              <a:t>Knowledge</a:t>
            </a:r>
            <a:r>
              <a:rPr lang="en-GB" sz="2400" dirty="0"/>
              <a:t>-The capability of understanding the relationship between pieces of information and what to actually do with the information.</a:t>
            </a:r>
          </a:p>
          <a:p>
            <a:pPr marL="0" lvl="1">
              <a:buFont typeface="Arial" pitchFamily="34" charset="0"/>
              <a:buChar char="•"/>
            </a:pPr>
            <a:endParaRPr lang="en-GB" sz="2400" dirty="0"/>
          </a:p>
          <a:p>
            <a:pPr marL="342900" lvl="1" indent="-342900">
              <a:buFont typeface="Wingdings" panose="05000000000000000000" pitchFamily="2" charset="2"/>
              <a:buChar char="q"/>
            </a:pPr>
            <a:r>
              <a:rPr lang="en-GB" sz="2400" dirty="0">
                <a:highlight>
                  <a:srgbClr val="00FFFF"/>
                </a:highlight>
              </a:rPr>
              <a:t>Wisdom</a:t>
            </a:r>
            <a:r>
              <a:rPr lang="en-GB" sz="2400" dirty="0"/>
              <a:t>-</a:t>
            </a:r>
            <a:r>
              <a:rPr lang="en-US" sz="2400" dirty="0"/>
              <a:t>the ability to make well-informed decisions and take effective action based on understanding of the underlying knowledge.</a:t>
            </a:r>
            <a:endParaRPr lang="en-GB" sz="2400" dirty="0"/>
          </a:p>
          <a:p>
            <a:pPr marL="0" lvl="1"/>
            <a:endParaRPr lang="en-GB" dirty="0"/>
          </a:p>
          <a:p>
            <a:pPr>
              <a:buFont typeface="Arial" pitchFamily="34" charset="0"/>
              <a:buChar char="•"/>
            </a:pPr>
            <a:endParaRPr lang="en-GB" dirty="0"/>
          </a:p>
          <a:p>
            <a:pPr>
              <a:buFont typeface="Arial" pitchFamily="34" charset="0"/>
              <a:buChar char="•"/>
            </a:pPr>
            <a:endParaRPr lang="en-GB" dirty="0"/>
          </a:p>
        </p:txBody>
      </p:sp>
    </p:spTree>
    <p:extLst>
      <p:ext uri="{BB962C8B-B14F-4D97-AF65-F5344CB8AC3E}">
        <p14:creationId xmlns:p14="http://schemas.microsoft.com/office/powerpoint/2010/main" val="2027020321"/>
      </p:ext>
    </p:extLst>
  </p:cSld>
  <p:clrMapOvr>
    <a:masterClrMapping/>
  </p:clrMapOvr>
  <p:transition spd="slow">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The Knowledge Pyramid</a:t>
            </a:r>
            <a:endParaRPr lang="x-none" dirty="0"/>
          </a:p>
        </p:txBody>
      </p:sp>
      <p:pic>
        <p:nvPicPr>
          <p:cNvPr id="1026" name="Picture 2">
            <a:extLst>
              <a:ext uri="{FF2B5EF4-FFF2-40B4-BE49-F238E27FC236}">
                <a16:creationId xmlns:a16="http://schemas.microsoft.com/office/drawing/2014/main" id="{CA8A60DF-1047-5CE1-AB20-D74A3AC4C8F4}"/>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30561" b="3761"/>
          <a:stretch/>
        </p:blipFill>
        <p:spPr bwMode="auto">
          <a:xfrm>
            <a:off x="3091542" y="2017059"/>
            <a:ext cx="6052457" cy="4075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69558D1-A626-1DF9-7D7B-96DB2C7B98B4}"/>
              </a:ext>
            </a:extLst>
          </p:cNvPr>
          <p:cNvSpPr txBox="1"/>
          <p:nvPr/>
        </p:nvSpPr>
        <p:spPr>
          <a:xfrm>
            <a:off x="174170" y="2361817"/>
            <a:ext cx="2917372" cy="1477328"/>
          </a:xfrm>
          <a:prstGeom prst="rect">
            <a:avLst/>
          </a:prstGeom>
          <a:noFill/>
        </p:spPr>
        <p:txBody>
          <a:bodyPr wrap="square" rtlCol="0">
            <a:spAutoFit/>
          </a:bodyPr>
          <a:lstStyle/>
          <a:p>
            <a:r>
              <a:rPr lang="en-US" b="0" i="0" dirty="0">
                <a:effectLst/>
                <a:highlight>
                  <a:srgbClr val="FFFFFF"/>
                </a:highlight>
                <a:latin typeface="Calibri (Body)"/>
              </a:rPr>
              <a:t>The Data-Information-Knowledge-Wisdom (DIKW) pyramid illustrates the progression of raw data to valuable insights.</a:t>
            </a:r>
            <a:endParaRPr lang="en-US" dirty="0">
              <a:latin typeface="Calibri (Body)"/>
            </a:endParaRPr>
          </a:p>
        </p:txBody>
      </p:sp>
    </p:spTree>
    <p:extLst>
      <p:ext uri="{BB962C8B-B14F-4D97-AF65-F5344CB8AC3E}">
        <p14:creationId xmlns:p14="http://schemas.microsoft.com/office/powerpoint/2010/main" val="3132154582"/>
      </p:ext>
    </p:extLst>
  </p:cSld>
  <p:clrMapOvr>
    <a:masterClrMapping/>
  </p:clrMapOvr>
  <p:transition spd="slow">
    <p:wedg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Example: Fitness tracking</a:t>
            </a:r>
            <a:endParaRPr lang="x-none" dirty="0"/>
          </a:p>
        </p:txBody>
      </p:sp>
      <p:sp>
        <p:nvSpPr>
          <p:cNvPr id="6" name="TextBox 5">
            <a:extLst>
              <a:ext uri="{FF2B5EF4-FFF2-40B4-BE49-F238E27FC236}">
                <a16:creationId xmlns:a16="http://schemas.microsoft.com/office/drawing/2014/main" id="{249E53F1-C14C-7FB7-9046-E76D93491B29}"/>
              </a:ext>
            </a:extLst>
          </p:cNvPr>
          <p:cNvSpPr txBox="1"/>
          <p:nvPr/>
        </p:nvSpPr>
        <p:spPr>
          <a:xfrm>
            <a:off x="261256" y="2132151"/>
            <a:ext cx="8588829" cy="646331"/>
          </a:xfrm>
          <a:prstGeom prst="rect">
            <a:avLst/>
          </a:prstGeom>
          <a:noFill/>
        </p:spPr>
        <p:txBody>
          <a:bodyPr wrap="square">
            <a:spAutoFit/>
          </a:bodyPr>
          <a:lstStyle/>
          <a:p>
            <a:r>
              <a:rPr lang="en-US" b="0" i="0" dirty="0">
                <a:solidFill>
                  <a:srgbClr val="05192D"/>
                </a:solidFill>
                <a:effectLst/>
                <a:highlight>
                  <a:srgbClr val="FFFFFF"/>
                </a:highlight>
              </a:rPr>
              <a:t>Fitness tracking devices collect your health and activity data, but your end goal is to use that to make decisions about how to train or how to manage your health.</a:t>
            </a:r>
            <a:endParaRPr lang="en-US" dirty="0"/>
          </a:p>
        </p:txBody>
      </p:sp>
      <p:sp>
        <p:nvSpPr>
          <p:cNvPr id="8" name="TextBox 7">
            <a:extLst>
              <a:ext uri="{FF2B5EF4-FFF2-40B4-BE49-F238E27FC236}">
                <a16:creationId xmlns:a16="http://schemas.microsoft.com/office/drawing/2014/main" id="{10B1EB81-3E0F-F338-2E02-4439260AE02A}"/>
              </a:ext>
            </a:extLst>
          </p:cNvPr>
          <p:cNvSpPr txBox="1"/>
          <p:nvPr/>
        </p:nvSpPr>
        <p:spPr>
          <a:xfrm>
            <a:off x="421341" y="2782669"/>
            <a:ext cx="8080402" cy="646331"/>
          </a:xfrm>
          <a:prstGeom prst="rect">
            <a:avLst/>
          </a:prstGeom>
          <a:noFill/>
        </p:spPr>
        <p:txBody>
          <a:bodyPr wrap="square">
            <a:spAutoFit/>
          </a:bodyPr>
          <a:lstStyle/>
          <a:p>
            <a:pPr marL="285750" indent="-285750" algn="just">
              <a:buFont typeface="Wingdings" panose="05000000000000000000" pitchFamily="2" charset="2"/>
              <a:buChar char="q"/>
            </a:pPr>
            <a:r>
              <a:rPr lang="en-US" b="1" i="0" dirty="0">
                <a:solidFill>
                  <a:srgbClr val="05192D"/>
                </a:solidFill>
                <a:effectLst/>
                <a:highlight>
                  <a:srgbClr val="FFFFFF"/>
                </a:highlight>
                <a:latin typeface="Studio-Feixen-Sans"/>
              </a:rPr>
              <a:t>Data</a:t>
            </a:r>
            <a:r>
              <a:rPr lang="en-US" b="0" i="0" dirty="0">
                <a:solidFill>
                  <a:srgbClr val="05192D"/>
                </a:solidFill>
                <a:effectLst/>
                <a:highlight>
                  <a:srgbClr val="FFFFFF"/>
                </a:highlight>
                <a:latin typeface="Studio-Feixen-Sans"/>
              </a:rPr>
              <a:t>: The smartwatch collects raw data such as the number of steps taken, heart rate, and sleep duration.</a:t>
            </a:r>
            <a:endParaRPr lang="en-US" dirty="0"/>
          </a:p>
        </p:txBody>
      </p:sp>
      <p:sp>
        <p:nvSpPr>
          <p:cNvPr id="12" name="TextBox 11">
            <a:extLst>
              <a:ext uri="{FF2B5EF4-FFF2-40B4-BE49-F238E27FC236}">
                <a16:creationId xmlns:a16="http://schemas.microsoft.com/office/drawing/2014/main" id="{432051C0-6A9E-CBD2-636B-B2DD4BB10BF5}"/>
              </a:ext>
            </a:extLst>
          </p:cNvPr>
          <p:cNvSpPr txBox="1"/>
          <p:nvPr/>
        </p:nvSpPr>
        <p:spPr>
          <a:xfrm>
            <a:off x="357628" y="3452676"/>
            <a:ext cx="8428744" cy="923330"/>
          </a:xfrm>
          <a:prstGeom prst="rect">
            <a:avLst/>
          </a:prstGeom>
          <a:noFill/>
        </p:spPr>
        <p:txBody>
          <a:bodyPr wrap="square">
            <a:spAutoFit/>
          </a:bodyPr>
          <a:lstStyle/>
          <a:p>
            <a:pPr marL="285750" indent="-285750" algn="just">
              <a:buFont typeface="Wingdings" panose="05000000000000000000" pitchFamily="2" charset="2"/>
              <a:buChar char="q"/>
            </a:pPr>
            <a:r>
              <a:rPr lang="en-US" b="1" i="0" dirty="0">
                <a:solidFill>
                  <a:srgbClr val="05192D"/>
                </a:solidFill>
                <a:effectLst/>
                <a:highlight>
                  <a:srgbClr val="FFFFFF"/>
                </a:highlight>
              </a:rPr>
              <a:t>Information</a:t>
            </a:r>
            <a:r>
              <a:rPr lang="en-US" b="0" i="0" dirty="0">
                <a:solidFill>
                  <a:srgbClr val="05192D"/>
                </a:solidFill>
                <a:effectLst/>
                <a:highlight>
                  <a:srgbClr val="FFFFFF"/>
                </a:highlight>
              </a:rPr>
              <a:t>: The smartwatch app organizes and structures the data, displaying it in a comprehensible format, such as daily step count, average heart rate, and hours of sleep per night.</a:t>
            </a:r>
            <a:endParaRPr lang="en-US" dirty="0"/>
          </a:p>
        </p:txBody>
      </p:sp>
      <p:sp>
        <p:nvSpPr>
          <p:cNvPr id="14" name="TextBox 13">
            <a:extLst>
              <a:ext uri="{FF2B5EF4-FFF2-40B4-BE49-F238E27FC236}">
                <a16:creationId xmlns:a16="http://schemas.microsoft.com/office/drawing/2014/main" id="{C56DE970-BE86-CD08-433F-C0915FAF4CD0}"/>
              </a:ext>
            </a:extLst>
          </p:cNvPr>
          <p:cNvSpPr txBox="1"/>
          <p:nvPr/>
        </p:nvSpPr>
        <p:spPr>
          <a:xfrm>
            <a:off x="336655" y="4376006"/>
            <a:ext cx="8438030" cy="923330"/>
          </a:xfrm>
          <a:prstGeom prst="rect">
            <a:avLst/>
          </a:prstGeom>
          <a:noFill/>
        </p:spPr>
        <p:txBody>
          <a:bodyPr wrap="square">
            <a:spAutoFit/>
          </a:bodyPr>
          <a:lstStyle/>
          <a:p>
            <a:pPr marL="285750" indent="-285750" algn="just">
              <a:buFont typeface="Wingdings" panose="05000000000000000000" pitchFamily="2" charset="2"/>
              <a:buChar char="q"/>
            </a:pPr>
            <a:r>
              <a:rPr lang="en-US" b="1" i="0" dirty="0">
                <a:solidFill>
                  <a:srgbClr val="05192D"/>
                </a:solidFill>
                <a:effectLst/>
                <a:highlight>
                  <a:srgbClr val="FFFFFF"/>
                </a:highlight>
                <a:latin typeface="Studio-Feixen-Sans"/>
              </a:rPr>
              <a:t>Knowledge</a:t>
            </a:r>
            <a:r>
              <a:rPr lang="en-US" b="0" i="0" dirty="0">
                <a:solidFill>
                  <a:srgbClr val="05192D"/>
                </a:solidFill>
                <a:effectLst/>
                <a:highlight>
                  <a:srgbClr val="FFFFFF"/>
                </a:highlight>
                <a:latin typeface="Studio-Feixen-Sans"/>
              </a:rPr>
              <a:t>: Analyzing and interpreting the information may reveal patterns, such as increased step count leading to improved sleep quality or a correlation between heart rate and workout intensity.</a:t>
            </a:r>
            <a:endParaRPr lang="en-US" dirty="0"/>
          </a:p>
        </p:txBody>
      </p:sp>
      <p:sp>
        <p:nvSpPr>
          <p:cNvPr id="16" name="TextBox 15">
            <a:extLst>
              <a:ext uri="{FF2B5EF4-FFF2-40B4-BE49-F238E27FC236}">
                <a16:creationId xmlns:a16="http://schemas.microsoft.com/office/drawing/2014/main" id="{76901E62-6C25-26FC-6C77-59CF007D268D}"/>
              </a:ext>
            </a:extLst>
          </p:cNvPr>
          <p:cNvSpPr txBox="1"/>
          <p:nvPr/>
        </p:nvSpPr>
        <p:spPr>
          <a:xfrm>
            <a:off x="336655" y="5299336"/>
            <a:ext cx="8461404" cy="923330"/>
          </a:xfrm>
          <a:prstGeom prst="rect">
            <a:avLst/>
          </a:prstGeom>
          <a:noFill/>
        </p:spPr>
        <p:txBody>
          <a:bodyPr wrap="square">
            <a:spAutoFit/>
          </a:bodyPr>
          <a:lstStyle/>
          <a:p>
            <a:pPr marL="285750" indent="-285750" algn="just">
              <a:buFont typeface="Wingdings" panose="05000000000000000000" pitchFamily="2" charset="2"/>
              <a:buChar char="q"/>
            </a:pPr>
            <a:r>
              <a:rPr lang="en-US" b="1" i="0" dirty="0">
                <a:effectLst/>
                <a:highlight>
                  <a:srgbClr val="FFFFFF"/>
                </a:highlight>
              </a:rPr>
              <a:t>Wisdom</a:t>
            </a:r>
            <a:r>
              <a:rPr lang="en-US" b="0" i="0" dirty="0">
                <a:effectLst/>
                <a:highlight>
                  <a:srgbClr val="FFFFFF"/>
                </a:highlight>
              </a:rPr>
              <a:t>: Understanding these patterns lets you make informed decisions about adjusting your exercise routine, sleep habits, and other lifestyle factors to improve your health and fitness.</a:t>
            </a:r>
            <a:endParaRPr lang="en-US" dirty="0"/>
          </a:p>
        </p:txBody>
      </p:sp>
    </p:spTree>
    <p:extLst>
      <p:ext uri="{BB962C8B-B14F-4D97-AF65-F5344CB8AC3E}">
        <p14:creationId xmlns:p14="http://schemas.microsoft.com/office/powerpoint/2010/main" val="2746233982"/>
      </p:ext>
    </p:extLst>
  </p:cSld>
  <p:clrMapOvr>
    <a:masterClrMapping/>
  </p:clrMapOvr>
  <p:transition spd="slow">
    <p:wedg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Management System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a:xfrm>
            <a:off x="673496" y="1458591"/>
            <a:ext cx="7754112" cy="484632"/>
          </a:xfrm>
        </p:spPr>
        <p:txBody>
          <a:bodyPr>
            <a:normAutofit/>
          </a:bodyPr>
          <a:lstStyle/>
          <a:p>
            <a:r>
              <a:rPr lang="en-GB" sz="2000" b="1" dirty="0">
                <a:solidFill>
                  <a:schemeClr val="tx1"/>
                </a:solidFill>
                <a:highlight>
                  <a:srgbClr val="00FFFF"/>
                </a:highlight>
              </a:rPr>
              <a:t>File System</a:t>
            </a:r>
            <a:endParaRPr lang="x-none" sz="2000" b="1" dirty="0">
              <a:solidFill>
                <a:schemeClr val="tx1"/>
              </a:solidFill>
              <a:highlight>
                <a:srgbClr val="00FFFF"/>
              </a:highlight>
            </a:endParaRPr>
          </a:p>
        </p:txBody>
      </p:sp>
      <p:sp>
        <p:nvSpPr>
          <p:cNvPr id="15" name="Rectangle 14"/>
          <p:cNvSpPr/>
          <p:nvPr/>
        </p:nvSpPr>
        <p:spPr>
          <a:xfrm>
            <a:off x="421339" y="2175134"/>
            <a:ext cx="8258425" cy="1938992"/>
          </a:xfrm>
          <a:prstGeom prst="rect">
            <a:avLst/>
          </a:prstGeom>
        </p:spPr>
        <p:txBody>
          <a:bodyPr wrap="square">
            <a:spAutoFit/>
          </a:bodyPr>
          <a:lstStyle/>
          <a:p>
            <a:pPr algn="just"/>
            <a:r>
              <a:rPr lang="en-US" sz="2000" dirty="0"/>
              <a:t>The file system is basically a way of arranging the files in a storage medium like a hard disk. The file system organizes the files and helps in the retrieval of files when they are required. File systems consist of different files which are grouped into directories. The directories further contain other folders and files. The file system performs basic operations like management, file naming, giving access rules, etc. </a:t>
            </a:r>
          </a:p>
        </p:txBody>
      </p:sp>
      <p:pic>
        <p:nvPicPr>
          <p:cNvPr id="2050" name="Picture 2" descr="File System">
            <a:extLst>
              <a:ext uri="{FF2B5EF4-FFF2-40B4-BE49-F238E27FC236}">
                <a16:creationId xmlns:a16="http://schemas.microsoft.com/office/drawing/2014/main" id="{963C63D3-88F4-F4EA-C602-0815E6EA300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13685" y="4222983"/>
            <a:ext cx="4095972" cy="182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154582"/>
      </p:ext>
    </p:extLst>
  </p:cSld>
  <p:clrMapOvr>
    <a:masterClrMapping/>
  </p:clrMapOvr>
  <p:transition spd="slow">
    <p:wedg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Management System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a:xfrm>
            <a:off x="673496" y="1458591"/>
            <a:ext cx="7754112" cy="484632"/>
          </a:xfrm>
        </p:spPr>
        <p:txBody>
          <a:bodyPr>
            <a:normAutofit/>
          </a:bodyPr>
          <a:lstStyle/>
          <a:p>
            <a:r>
              <a:rPr lang="en-GB" sz="2000" b="1" dirty="0"/>
              <a:t>Drawbacks of File System</a:t>
            </a:r>
            <a:endParaRPr lang="x-none" sz="2000" b="1" dirty="0"/>
          </a:p>
        </p:txBody>
      </p:sp>
      <p:sp>
        <p:nvSpPr>
          <p:cNvPr id="3" name="TextBox 2">
            <a:extLst>
              <a:ext uri="{FF2B5EF4-FFF2-40B4-BE49-F238E27FC236}">
                <a16:creationId xmlns:a16="http://schemas.microsoft.com/office/drawing/2014/main" id="{49F2252E-B13C-84FF-0765-F3F297A1AFBE}"/>
              </a:ext>
            </a:extLst>
          </p:cNvPr>
          <p:cNvSpPr txBox="1"/>
          <p:nvPr/>
        </p:nvSpPr>
        <p:spPr>
          <a:xfrm>
            <a:off x="130629" y="2188029"/>
            <a:ext cx="8926285" cy="3662541"/>
          </a:xfrm>
          <a:prstGeom prst="rect">
            <a:avLst/>
          </a:prstGeom>
          <a:noFill/>
        </p:spPr>
        <p:txBody>
          <a:bodyPr wrap="square" rtlCol="0">
            <a:spAutoFit/>
          </a:bodyPr>
          <a:lstStyle/>
          <a:p>
            <a:pPr marL="285750" indent="-285750" algn="just">
              <a:buFont typeface="Wingdings" panose="05000000000000000000" pitchFamily="2" charset="2"/>
              <a:buChar char="q"/>
            </a:pPr>
            <a:r>
              <a:rPr lang="en-US" sz="2300" dirty="0"/>
              <a:t>Location: </a:t>
            </a:r>
            <a:r>
              <a:rPr lang="en-US" sz="2000" dirty="0"/>
              <a:t>The user should be aware of the location to access the data.</a:t>
            </a:r>
          </a:p>
          <a:p>
            <a:pPr marL="285750" indent="-285750" algn="just">
              <a:buFont typeface="Wingdings" panose="05000000000000000000" pitchFamily="2" charset="2"/>
              <a:buChar char="q"/>
            </a:pPr>
            <a:r>
              <a:rPr lang="en-US" sz="2300" dirty="0"/>
              <a:t>Data Hiding/Data Privacy: </a:t>
            </a:r>
            <a:r>
              <a:rPr lang="en-US" sz="2000" dirty="0"/>
              <a:t>It is difficult to hide data in file system and can result data redundancy.</a:t>
            </a:r>
          </a:p>
          <a:p>
            <a:pPr marL="285750" indent="-285750" algn="just">
              <a:buFont typeface="Wingdings" panose="05000000000000000000" pitchFamily="2" charset="2"/>
              <a:buChar char="q"/>
            </a:pPr>
            <a:r>
              <a:rPr lang="en-US" sz="2300" dirty="0"/>
              <a:t>Data Redundancy: </a:t>
            </a:r>
            <a:r>
              <a:rPr lang="en-US" sz="2000" dirty="0"/>
              <a:t>Data Redundancy means duplicate data and it is also stated that the same parts of data exist in multiple files. This condition is known as Data Redundancy. </a:t>
            </a:r>
          </a:p>
          <a:p>
            <a:pPr marL="285750" indent="-285750" algn="just">
              <a:buFont typeface="Wingdings" panose="05000000000000000000" pitchFamily="2" charset="2"/>
              <a:buChar char="q"/>
            </a:pPr>
            <a:r>
              <a:rPr lang="en-US" sz="2300" dirty="0"/>
              <a:t>Data Inconsistency: </a:t>
            </a:r>
            <a:r>
              <a:rPr lang="en-US" sz="2000" dirty="0"/>
              <a:t>Data inconsistency is the lack of standardization and uniformity in data across different files. This results in different data files containing conflicting, inaccurate, or incomplete information about the same entity or attribute.</a:t>
            </a:r>
          </a:p>
          <a:p>
            <a:pPr marL="285750" indent="-285750"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1464028997"/>
      </p:ext>
    </p:extLst>
  </p:cSld>
  <p:clrMapOvr>
    <a:masterClrMapping/>
  </p:clrMapOvr>
  <p:transition spd="slow">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solidFill>
                  <a:schemeClr val="tx1"/>
                </a:solidFill>
                <a:highlight>
                  <a:srgbClr val="00FFFF"/>
                </a:highlight>
              </a:rPr>
              <a:t>Database</a:t>
            </a:r>
            <a:endParaRPr lang="x-none" dirty="0">
              <a:solidFill>
                <a:schemeClr val="tx1"/>
              </a:solidFill>
              <a:highlight>
                <a:srgbClr val="00FFFF"/>
              </a:highlight>
            </a:endParaRPr>
          </a:p>
        </p:txBody>
      </p:sp>
      <p:sp>
        <p:nvSpPr>
          <p:cNvPr id="15" name="Rectangle 14"/>
          <p:cNvSpPr/>
          <p:nvPr/>
        </p:nvSpPr>
        <p:spPr>
          <a:xfrm>
            <a:off x="421340" y="2349305"/>
            <a:ext cx="8258425" cy="3077766"/>
          </a:xfrm>
          <a:prstGeom prst="rect">
            <a:avLst/>
          </a:prstGeom>
        </p:spPr>
        <p:txBody>
          <a:bodyPr wrap="square">
            <a:spAutoFit/>
          </a:bodyPr>
          <a:lstStyle/>
          <a:p>
            <a:pPr algn="just"/>
            <a:r>
              <a:rPr lang="en-US" sz="2200" dirty="0"/>
              <a:t>A database is an organized collection of structured information, or data, typically stored electronically in a computer system. It has collection of related data that represent some real world entities. A database is usually controlled by a database management system (DBMS). Together, the data and the DBMS, along with the applications that are associated with them, are referred to as a database system, often shortened to just database.</a:t>
            </a:r>
          </a:p>
          <a:p>
            <a:pPr algn="just"/>
            <a:endParaRPr lang="en-US" sz="2000" dirty="0"/>
          </a:p>
          <a:p>
            <a:pPr algn="just"/>
            <a:r>
              <a:rPr lang="en-US" sz="2000" dirty="0"/>
              <a:t>Example: University Management System, Library Management System</a:t>
            </a:r>
          </a:p>
        </p:txBody>
      </p:sp>
    </p:spTree>
    <p:extLst>
      <p:ext uri="{BB962C8B-B14F-4D97-AF65-F5344CB8AC3E}">
        <p14:creationId xmlns:p14="http://schemas.microsoft.com/office/powerpoint/2010/main" val="1228343371"/>
      </p:ext>
    </p:extLst>
  </p:cSld>
  <p:clrMapOvr>
    <a:masterClrMapping/>
  </p:clrMapOvr>
  <p:transition spd="slow">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solidFill>
                  <a:schemeClr val="tx1"/>
                </a:solidFill>
                <a:highlight>
                  <a:srgbClr val="00FFFF"/>
                </a:highlight>
              </a:rPr>
              <a:t>Database Management System</a:t>
            </a:r>
            <a:endParaRPr lang="x-none" dirty="0">
              <a:solidFill>
                <a:schemeClr val="tx1"/>
              </a:solidFill>
              <a:highlight>
                <a:srgbClr val="00FFFF"/>
              </a:highlight>
            </a:endParaRPr>
          </a:p>
        </p:txBody>
      </p:sp>
      <p:sp>
        <p:nvSpPr>
          <p:cNvPr id="15" name="Rectangle 14"/>
          <p:cNvSpPr/>
          <p:nvPr/>
        </p:nvSpPr>
        <p:spPr>
          <a:xfrm>
            <a:off x="272416" y="2189650"/>
            <a:ext cx="4626156" cy="3016210"/>
          </a:xfrm>
          <a:prstGeom prst="rect">
            <a:avLst/>
          </a:prstGeom>
        </p:spPr>
        <p:txBody>
          <a:bodyPr wrap="square">
            <a:spAutoFit/>
          </a:bodyPr>
          <a:lstStyle/>
          <a:p>
            <a:pPr algn="just"/>
            <a:r>
              <a:rPr lang="en-US" sz="1900" dirty="0"/>
              <a:t>A Database Management System (DBMS) is a software system that is designed to manage and organize data in a structured manner. It allows users to create, modify, and query a database, as well as manage the security and access controls for that database.</a:t>
            </a:r>
          </a:p>
          <a:p>
            <a:pPr algn="just"/>
            <a:endParaRPr lang="en-US" sz="1900" dirty="0"/>
          </a:p>
          <a:p>
            <a:pPr algn="just"/>
            <a:r>
              <a:rPr lang="en-US" sz="1900" dirty="0"/>
              <a:t>DBMS provides an environment to store and retrieve the data in coinvent and efficient manner.</a:t>
            </a:r>
          </a:p>
        </p:txBody>
      </p:sp>
      <p:pic>
        <p:nvPicPr>
          <p:cNvPr id="4098" name="Picture 2" descr="DBMS">
            <a:extLst>
              <a:ext uri="{FF2B5EF4-FFF2-40B4-BE49-F238E27FC236}">
                <a16:creationId xmlns:a16="http://schemas.microsoft.com/office/drawing/2014/main" id="{21982AD8-BD74-04A9-4E45-7D29978972E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32977" y="3153469"/>
            <a:ext cx="3332053" cy="2172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365422"/>
      </p:ext>
    </p:extLst>
  </p:cSld>
  <p:clrMapOvr>
    <a:masterClrMapping/>
  </p:clrMapOvr>
  <p:transition spd="slow">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sz="1800" dirty="0">
                <a:solidFill>
                  <a:schemeClr val="tx1"/>
                </a:solidFill>
                <a:highlight>
                  <a:srgbClr val="00FFFF"/>
                </a:highlight>
              </a:rPr>
              <a:t>Relational Database Management System (RDBMS)</a:t>
            </a:r>
            <a:endParaRPr lang="x-none" dirty="0">
              <a:solidFill>
                <a:schemeClr val="tx1"/>
              </a:solidFill>
              <a:highlight>
                <a:srgbClr val="00FFFF"/>
              </a:highlight>
            </a:endParaRPr>
          </a:p>
        </p:txBody>
      </p:sp>
      <p:sp>
        <p:nvSpPr>
          <p:cNvPr id="15" name="Rectangle 14"/>
          <p:cNvSpPr/>
          <p:nvPr/>
        </p:nvSpPr>
        <p:spPr>
          <a:xfrm>
            <a:off x="272416" y="2189650"/>
            <a:ext cx="4626156" cy="1261884"/>
          </a:xfrm>
          <a:prstGeom prst="rect">
            <a:avLst/>
          </a:prstGeom>
        </p:spPr>
        <p:txBody>
          <a:bodyPr wrap="square">
            <a:spAutoFit/>
          </a:bodyPr>
          <a:lstStyle/>
          <a:p>
            <a:pPr algn="just"/>
            <a:r>
              <a:rPr lang="en-US" sz="1900" dirty="0"/>
              <a:t>RDBMS: Data is organized in the form of tables and each table has a set of rows and columns. The data are related to each other through primary and foreign keys</a:t>
            </a:r>
          </a:p>
        </p:txBody>
      </p:sp>
      <p:pic>
        <p:nvPicPr>
          <p:cNvPr id="5122" name="Picture 2" descr="relational Database management Systems">
            <a:extLst>
              <a:ext uri="{FF2B5EF4-FFF2-40B4-BE49-F238E27FC236}">
                <a16:creationId xmlns:a16="http://schemas.microsoft.com/office/drawing/2014/main" id="{EE13AF23-C8E7-F722-A2C1-E2980414D0B5}"/>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11309" t="4772" r="9992" b="10778"/>
          <a:stretch/>
        </p:blipFill>
        <p:spPr bwMode="auto">
          <a:xfrm>
            <a:off x="4572000" y="3254829"/>
            <a:ext cx="4082143" cy="2782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239153"/>
      </p:ext>
    </p:extLst>
  </p:cSld>
  <p:clrMapOvr>
    <a:masterClrMapping/>
  </p:clrMapOvr>
  <p:transition spd="slow">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Oracle Database</a:t>
            </a:r>
            <a:endParaRPr lang="x-none" dirty="0"/>
          </a:p>
        </p:txBody>
      </p:sp>
      <p:sp>
        <p:nvSpPr>
          <p:cNvPr id="15" name="Rectangle 14"/>
          <p:cNvSpPr/>
          <p:nvPr/>
        </p:nvSpPr>
        <p:spPr>
          <a:xfrm>
            <a:off x="421340" y="2321168"/>
            <a:ext cx="8342831" cy="1938992"/>
          </a:xfrm>
          <a:prstGeom prst="rect">
            <a:avLst/>
          </a:prstGeom>
        </p:spPr>
        <p:txBody>
          <a:bodyPr wrap="square">
            <a:spAutoFit/>
          </a:bodyPr>
          <a:lstStyle/>
          <a:p>
            <a:pPr>
              <a:buFont typeface="Arial" pitchFamily="34" charset="0"/>
              <a:buChar char="•"/>
            </a:pPr>
            <a:r>
              <a:rPr lang="en-US" sz="2400" dirty="0"/>
              <a:t>A Relational Database Management System (RDBMS) produced and marketed  by Oracle Corporation.</a:t>
            </a:r>
          </a:p>
          <a:p>
            <a:pPr>
              <a:buFont typeface="Arial" pitchFamily="34" charset="0"/>
              <a:buChar char="•"/>
            </a:pPr>
            <a:r>
              <a:rPr lang="en-US" sz="2400" dirty="0"/>
              <a:t>Oracle 10g</a:t>
            </a:r>
          </a:p>
          <a:p>
            <a:pPr>
              <a:buFont typeface="Arial" pitchFamily="34" charset="0"/>
              <a:buChar char="•"/>
            </a:pPr>
            <a:r>
              <a:rPr lang="en-US" sz="2400" dirty="0"/>
              <a:t>Database Schema Scott </a:t>
            </a:r>
          </a:p>
          <a:p>
            <a:pPr>
              <a:buFont typeface="Arial" pitchFamily="34" charset="0"/>
              <a:buChar char="•"/>
            </a:pPr>
            <a:r>
              <a:rPr lang="en-US" sz="2400" dirty="0"/>
              <a:t>Tables: DEPT, EMP, BONUS and SALGRADE</a:t>
            </a:r>
          </a:p>
        </p:txBody>
      </p:sp>
    </p:spTree>
    <p:extLst>
      <p:ext uri="{BB962C8B-B14F-4D97-AF65-F5344CB8AC3E}">
        <p14:creationId xmlns:p14="http://schemas.microsoft.com/office/powerpoint/2010/main" val="3132154582"/>
      </p:ext>
    </p:extLst>
  </p:cSld>
  <p:clrMapOvr>
    <a:masterClrMapping/>
  </p:clrMapOvr>
  <p:transition spd="slow">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Terminology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SQL</a:t>
            </a:r>
            <a:endParaRPr lang="x-none" dirty="0"/>
          </a:p>
        </p:txBody>
      </p:sp>
      <p:sp>
        <p:nvSpPr>
          <p:cNvPr id="15" name="Rectangle 14"/>
          <p:cNvSpPr/>
          <p:nvPr/>
        </p:nvSpPr>
        <p:spPr>
          <a:xfrm>
            <a:off x="476204" y="2307102"/>
            <a:ext cx="8428645" cy="2954655"/>
          </a:xfrm>
          <a:prstGeom prst="rect">
            <a:avLst/>
          </a:prstGeom>
        </p:spPr>
        <p:txBody>
          <a:bodyPr wrap="square">
            <a:spAutoFit/>
          </a:bodyPr>
          <a:lstStyle/>
          <a:p>
            <a:pPr algn="just">
              <a:buFont typeface="Arial" pitchFamily="34" charset="0"/>
              <a:buChar char="•"/>
            </a:pPr>
            <a:r>
              <a:rPr lang="en-US" sz="2400" dirty="0"/>
              <a:t>SQL stands for Structured Query Language</a:t>
            </a:r>
          </a:p>
          <a:p>
            <a:pPr algn="just">
              <a:buFont typeface="Arial" pitchFamily="34" charset="0"/>
              <a:buChar char="•"/>
            </a:pPr>
            <a:r>
              <a:rPr lang="en-US" sz="2400" dirty="0"/>
              <a:t>SQL is used to communicate with a database</a:t>
            </a:r>
          </a:p>
          <a:p>
            <a:pPr algn="just">
              <a:buFont typeface="Arial" pitchFamily="34" charset="0"/>
              <a:buChar char="•"/>
            </a:pPr>
            <a:r>
              <a:rPr lang="en-US" sz="2400" dirty="0"/>
              <a:t>According to  American National Standard Institute (ANSI), it is standard language for Relational Database Management System (RDBMS)</a:t>
            </a:r>
          </a:p>
          <a:p>
            <a:pPr algn="just">
              <a:buFont typeface="Arial" pitchFamily="34" charset="0"/>
              <a:buChar char="•"/>
            </a:pPr>
            <a:r>
              <a:rPr lang="en-US" sz="2400" dirty="0"/>
              <a:t>SQL can execute queries against a Database.</a:t>
            </a:r>
          </a:p>
          <a:p>
            <a:pPr algn="just">
              <a:buFont typeface="Arial" pitchFamily="34" charset="0"/>
              <a:buChar char="•"/>
            </a:pPr>
            <a:r>
              <a:rPr lang="en-US" sz="2400" dirty="0"/>
              <a:t>Synonyms of query-&gt; to ask, questioning ,to inquire etc.</a:t>
            </a:r>
          </a:p>
          <a:p>
            <a:pPr>
              <a:buNone/>
            </a:pPr>
            <a:endParaRPr lang="en-US" dirty="0"/>
          </a:p>
        </p:txBody>
      </p:sp>
    </p:spTree>
    <p:extLst>
      <p:ext uri="{BB962C8B-B14F-4D97-AF65-F5344CB8AC3E}">
        <p14:creationId xmlns:p14="http://schemas.microsoft.com/office/powerpoint/2010/main" val="3132154582"/>
      </p:ext>
    </p:extLst>
  </p:cSld>
  <p:clrMapOvr>
    <a:masterClrMapping/>
  </p:clrMapOvr>
  <p:transition spd="slow">
    <p:wedg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35494" y="1407886"/>
            <a:ext cx="8416620" cy="3693319"/>
          </a:xfrm>
          <a:prstGeom prst="rect">
            <a:avLst/>
          </a:prstGeom>
          <a:noFill/>
        </p:spPr>
        <p:txBody>
          <a:bodyPr wrap="square" rtlCol="0">
            <a:spAutoFit/>
          </a:bodyPr>
          <a:lstStyle/>
          <a:p>
            <a:pPr marL="342900" lvl="0" indent="-342900">
              <a:buFont typeface="+mj-lt"/>
              <a:buAutoNum type="arabicPeriod"/>
            </a:pPr>
            <a:r>
              <a:rPr lang="en-US" dirty="0"/>
              <a:t>Modern Database Management (Sixth Edition) by Fred R. McFadden, Jeffrey A. </a:t>
            </a:r>
            <a:r>
              <a:rPr lang="en-US" dirty="0" err="1"/>
              <a:t>Hoffer</a:t>
            </a:r>
            <a:r>
              <a:rPr lang="en-US" dirty="0"/>
              <a:t>, Mary B. Prescott</a:t>
            </a:r>
          </a:p>
          <a:p>
            <a:pPr marL="342900" lvl="0" indent="-342900">
              <a:buFont typeface="+mj-lt"/>
              <a:buAutoNum type="arabicPeriod"/>
            </a:pPr>
            <a:r>
              <a:rPr lang="en-US" dirty="0">
                <a:solidFill>
                  <a:srgbClr val="FF0000"/>
                </a:solidFill>
              </a:rPr>
              <a:t>Database System Concepts (Fifth Edition) by Henry F. Korth, S. Sudarshan, A. Silberschatz</a:t>
            </a:r>
          </a:p>
          <a:p>
            <a:pPr marL="342900" lvl="0" indent="-342900">
              <a:buFont typeface="+mj-lt"/>
              <a:buAutoNum type="arabicPeriod"/>
            </a:pPr>
            <a:r>
              <a:rPr lang="en-US" dirty="0"/>
              <a:t>Oracle-database-10g-sql-fundamentals-1-student-guide-volume-1</a:t>
            </a:r>
          </a:p>
          <a:p>
            <a:pPr marL="342900" lvl="0" indent="-342900">
              <a:buFont typeface="+mj-lt"/>
              <a:buAutoNum type="arabicPeriod"/>
            </a:pPr>
            <a:r>
              <a:rPr lang="en-US" dirty="0"/>
              <a:t>SQL and Relational Theory: How to Write Accurate SQL Code by C.J. Date</a:t>
            </a:r>
          </a:p>
          <a:p>
            <a:pPr marL="342900" lvl="0" indent="-342900">
              <a:buFont typeface="+mj-lt"/>
              <a:buAutoNum type="arabicPeriod"/>
            </a:pPr>
            <a:r>
              <a:rPr lang="en-US" dirty="0"/>
              <a:t>Database Systems: A Practical Approach to Design, Implementation and Management (4th Edition) by Thomas M. Connolly, Carolyn E. </a:t>
            </a:r>
            <a:r>
              <a:rPr lang="en-US" dirty="0" err="1"/>
              <a:t>Begg</a:t>
            </a:r>
            <a:endParaRPr lang="en-US" dirty="0"/>
          </a:p>
          <a:p>
            <a:pPr marL="342900" lvl="0" indent="-342900">
              <a:buFont typeface="+mj-lt"/>
              <a:buAutoNum type="arabicPeriod"/>
            </a:pPr>
            <a:r>
              <a:rPr lang="en-US" dirty="0"/>
              <a:t>Fundamentals of Database Systems, 5th Edition by </a:t>
            </a:r>
            <a:r>
              <a:rPr lang="en-US" dirty="0" err="1"/>
              <a:t>RamezElmasri</a:t>
            </a:r>
            <a:r>
              <a:rPr lang="en-US" dirty="0"/>
              <a:t>, </a:t>
            </a:r>
            <a:r>
              <a:rPr lang="en-US" dirty="0" err="1"/>
              <a:t>Shamkant</a:t>
            </a:r>
            <a:r>
              <a:rPr lang="en-US" dirty="0"/>
              <a:t> B. </a:t>
            </a:r>
            <a:r>
              <a:rPr lang="en-US" dirty="0" err="1"/>
              <a:t>Navathe</a:t>
            </a:r>
            <a:endParaRPr lang="en-US" dirty="0"/>
          </a:p>
          <a:p>
            <a:pPr marL="342900" lvl="0" indent="-342900">
              <a:buFont typeface="+mj-lt"/>
              <a:buAutoNum type="arabicPeriod"/>
            </a:pPr>
            <a:r>
              <a:rPr lang="en-US" dirty="0"/>
              <a:t>Database Design and Relational Theory: Normal Forms and All That Jazz by C. J. Date</a:t>
            </a:r>
          </a:p>
          <a:p>
            <a:pPr marL="342900" lvl="0" indent="-342900">
              <a:buFont typeface="+mj-lt"/>
              <a:buAutoNum type="arabicPeriod"/>
            </a:pPr>
            <a:r>
              <a:rPr lang="en-US" dirty="0"/>
              <a:t>An Introduction to Database Systems 8th Edition, by C.J. Date</a:t>
            </a:r>
          </a:p>
          <a:p>
            <a:endParaRPr lang="x-none" dirty="0"/>
          </a:p>
        </p:txBody>
      </p:sp>
    </p:spTree>
    <p:extLst>
      <p:ext uri="{BB962C8B-B14F-4D97-AF65-F5344CB8AC3E}">
        <p14:creationId xmlns:p14="http://schemas.microsoft.com/office/powerpoint/2010/main" val="1923382373"/>
      </p:ext>
    </p:extLst>
  </p:cSld>
  <p:clrMapOvr>
    <a:masterClrMapping/>
  </p:clrMapOvr>
  <p:transition spd="slow">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420234"/>
            <a:ext cx="7895771" cy="3139321"/>
          </a:xfrm>
          <a:prstGeom prst="rect">
            <a:avLst/>
          </a:prstGeom>
          <a:noFill/>
        </p:spPr>
        <p:txBody>
          <a:bodyPr wrap="square" rtlCol="0">
            <a:spAutoFit/>
          </a:bodyPr>
          <a:lstStyle/>
          <a:p>
            <a:pPr marL="342900" indent="-342900">
              <a:buAutoNum type="arabicPeriod"/>
            </a:pPr>
            <a:r>
              <a:rPr lang="en-US" dirty="0">
                <a:hlinkClick r:id="rId2"/>
              </a:rPr>
              <a:t>https://www.db-book.com/db6/slide-dir/index.html</a:t>
            </a:r>
            <a:endParaRPr lang="en-US" dirty="0"/>
          </a:p>
          <a:p>
            <a:pPr marL="342900" indent="-342900">
              <a:buAutoNum type="arabicPeriod"/>
            </a:pPr>
            <a:r>
              <a:rPr lang="en-US" dirty="0">
                <a:hlinkClick r:id="rId3"/>
              </a:rPr>
              <a:t>https://docs.oracle.com/en/database/oracle/oracle-database/20/sqlrf/SQL-Standards.html#GUID-BCCCFF75-D2A4-43AD-8CAF-C3C97D92AC63</a:t>
            </a:r>
            <a:endParaRPr lang="en-US" dirty="0"/>
          </a:p>
          <a:p>
            <a:pPr marL="342900" indent="-342900">
              <a:buAutoNum type="arabicPeriod"/>
            </a:pPr>
            <a:r>
              <a:rPr lang="en-US" dirty="0">
                <a:hlinkClick r:id="rId4"/>
              </a:rPr>
              <a:t>https://www.slideshare.net/HaaMeemMohiyuddin1/data-knowledge-and-information</a:t>
            </a:r>
            <a:endParaRPr lang="en-US" dirty="0"/>
          </a:p>
          <a:p>
            <a:pPr marL="342900" indent="-342900">
              <a:buAutoNum type="arabicPeriod"/>
            </a:pPr>
            <a:r>
              <a:rPr lang="en-US" dirty="0">
                <a:hlinkClick r:id="rId5"/>
              </a:rPr>
              <a:t>https://www.slideshare.net/tabinhasan/from-data-to-wisdom</a:t>
            </a:r>
            <a:endParaRPr lang="en-US" dirty="0"/>
          </a:p>
          <a:p>
            <a:pPr marL="342900" indent="-342900">
              <a:buAutoNum type="arabicPeriod"/>
            </a:pPr>
            <a:r>
              <a:rPr lang="en-US" dirty="0">
                <a:hlinkClick r:id="rId6"/>
              </a:rPr>
              <a:t>https://www.slideshare.net/thinnaphat.bo/</a:t>
            </a:r>
            <a:endParaRPr lang="en-US" dirty="0"/>
          </a:p>
          <a:p>
            <a:pPr marL="342900" indent="-342900">
              <a:buAutoNum type="arabicPeriod"/>
            </a:pPr>
            <a:endParaRPr lang="en-US" dirty="0"/>
          </a:p>
          <a:p>
            <a:pPr marL="342900" indent="-342900"/>
            <a:endParaRPr lang="en-US" dirty="0"/>
          </a:p>
          <a:p>
            <a:pPr marL="342900" indent="-342900">
              <a:buAutoNum type="arabicPeriod"/>
            </a:pPr>
            <a:endParaRPr lang="en-US" dirty="0"/>
          </a:p>
          <a:p>
            <a:pPr marL="342900" indent="-342900">
              <a:buAutoNum type="arabicPeriod"/>
            </a:pPr>
            <a:endParaRPr lang="x-none" dirty="0"/>
          </a:p>
        </p:txBody>
      </p:sp>
    </p:spTree>
    <p:extLst>
      <p:ext uri="{BB962C8B-B14F-4D97-AF65-F5344CB8AC3E}">
        <p14:creationId xmlns:p14="http://schemas.microsoft.com/office/powerpoint/2010/main" val="3224969828"/>
      </p:ext>
    </p:extLst>
  </p:cSld>
  <p:clrMapOvr>
    <a:masterClrMapping/>
  </p:clrMapOvr>
  <p:transition spd="slow">
    <p:wedge/>
  </p:transition>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429</TotalTime>
  <Words>1735</Words>
  <Application>Microsoft Office PowerPoint</Application>
  <PresentationFormat>On-screen Show (4:3)</PresentationFormat>
  <Paragraphs>152</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Calibri (Body)</vt:lpstr>
      <vt:lpstr>Studio-Feixen-Sans</vt:lpstr>
      <vt:lpstr>Arial</vt:lpstr>
      <vt:lpstr>Calibri</vt:lpstr>
      <vt:lpstr>Corbel</vt:lpstr>
      <vt:lpstr>Wingdings</vt:lpstr>
      <vt:lpstr>Spectrum</vt:lpstr>
      <vt:lpstr>A Complete Guideline</vt:lpstr>
      <vt:lpstr>Lecture Outline</vt:lpstr>
      <vt:lpstr>American International University- Bangladesh (AIUB)</vt:lpstr>
      <vt:lpstr>American International University- Bangladesh (AIUB)</vt:lpstr>
      <vt:lpstr>Computer Science(CS) Department of AIUB</vt:lpstr>
      <vt:lpstr>Computer Science(CS) Department of AIUB</vt:lpstr>
      <vt:lpstr>Necessary Policies and Rules</vt:lpstr>
      <vt:lpstr>Necessary Policies and Rules</vt:lpstr>
      <vt:lpstr>Outcome Based Education (OBE)</vt:lpstr>
      <vt:lpstr>Basic Information Regarding This Course</vt:lpstr>
      <vt:lpstr>Basic Information Regarding This Course</vt:lpstr>
      <vt:lpstr>Basic Information Regarding This Course</vt:lpstr>
      <vt:lpstr>Database Terminology</vt:lpstr>
      <vt:lpstr>Database Terminology</vt:lpstr>
      <vt:lpstr>Database Terminology</vt:lpstr>
      <vt:lpstr>Database Terminology</vt:lpstr>
      <vt:lpstr>Data Management System</vt:lpstr>
      <vt:lpstr>Data Management System</vt:lpstr>
      <vt:lpstr>Database Terminology</vt:lpstr>
      <vt:lpstr>Database Terminology</vt:lpstr>
      <vt:lpstr>Database Terminology</vt:lpstr>
      <vt:lpstr>Database Terminology</vt:lpstr>
      <vt:lpstr>Database Terminology</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Nazia Alfaz</cp:lastModifiedBy>
  <cp:revision>33</cp:revision>
  <dcterms:created xsi:type="dcterms:W3CDTF">2018-12-10T17:20:29Z</dcterms:created>
  <dcterms:modified xsi:type="dcterms:W3CDTF">2024-06-01T20:53:29Z</dcterms:modified>
</cp:coreProperties>
</file>