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8" r:id="rId5"/>
    <p:sldId id="269" r:id="rId6"/>
    <p:sldId id="271" r:id="rId7"/>
    <p:sldId id="270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64" r:id="rId27"/>
    <p:sldId id="265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NAYEM SIDDIKI" userId="95e3d929-67ef-41a6-8f7f-5c1508644185" providerId="ADAL" clId="{734CE17D-67F1-4C5F-BA0B-C8DCE15A0EC1}"/>
    <pc:docChg chg="custSel modSld">
      <pc:chgData name="NAYEM SIDDIKI" userId="95e3d929-67ef-41a6-8f7f-5c1508644185" providerId="ADAL" clId="{734CE17D-67F1-4C5F-BA0B-C8DCE15A0EC1}" dt="2024-07-01T04:44:03.543" v="2" actId="478"/>
      <pc:docMkLst>
        <pc:docMk/>
      </pc:docMkLst>
      <pc:sldChg chg="delSp mod">
        <pc:chgData name="NAYEM SIDDIKI" userId="95e3d929-67ef-41a6-8f7f-5c1508644185" providerId="ADAL" clId="{734CE17D-67F1-4C5F-BA0B-C8DCE15A0EC1}" dt="2024-07-01T04:43:58.543" v="0" actId="478"/>
        <pc:sldMkLst>
          <pc:docMk/>
          <pc:sldMk cId="424874041" sldId="273"/>
        </pc:sldMkLst>
        <pc:spChg chg="del">
          <ac:chgData name="NAYEM SIDDIKI" userId="95e3d929-67ef-41a6-8f7f-5c1508644185" providerId="ADAL" clId="{734CE17D-67F1-4C5F-BA0B-C8DCE15A0EC1}" dt="2024-07-01T04:43:58.543" v="0" actId="478"/>
          <ac:spMkLst>
            <pc:docMk/>
            <pc:sldMk cId="424874041" sldId="273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734CE17D-67F1-4C5F-BA0B-C8DCE15A0EC1}" dt="2024-07-01T04:44:01.746" v="1" actId="478"/>
        <pc:sldMkLst>
          <pc:docMk/>
          <pc:sldMk cId="424874041" sldId="274"/>
        </pc:sldMkLst>
        <pc:spChg chg="del">
          <ac:chgData name="NAYEM SIDDIKI" userId="95e3d929-67ef-41a6-8f7f-5c1508644185" providerId="ADAL" clId="{734CE17D-67F1-4C5F-BA0B-C8DCE15A0EC1}" dt="2024-07-01T04:44:01.746" v="1" actId="478"/>
          <ac:spMkLst>
            <pc:docMk/>
            <pc:sldMk cId="424874041" sldId="274"/>
            <ac:spMk id="4" creationId="{00000000-0000-0000-0000-000000000000}"/>
          </ac:spMkLst>
        </pc:spChg>
      </pc:sldChg>
      <pc:sldChg chg="delSp mod">
        <pc:chgData name="NAYEM SIDDIKI" userId="95e3d929-67ef-41a6-8f7f-5c1508644185" providerId="ADAL" clId="{734CE17D-67F1-4C5F-BA0B-C8DCE15A0EC1}" dt="2024-07-01T04:44:03.543" v="2" actId="478"/>
        <pc:sldMkLst>
          <pc:docMk/>
          <pc:sldMk cId="424874041" sldId="275"/>
        </pc:sldMkLst>
        <pc:spChg chg="del">
          <ac:chgData name="NAYEM SIDDIKI" userId="95e3d929-67ef-41a6-8f7f-5c1508644185" providerId="ADAL" clId="{734CE17D-67F1-4C5F-BA0B-C8DCE15A0EC1}" dt="2024-07-01T04:44:03.543" v="2" actId="478"/>
          <ac:spMkLst>
            <pc:docMk/>
            <pc:sldMk cId="424874041" sldId="275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  <p:transition spd="slow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  <p:transition spd="slow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transition spd="slow"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transition spd="slow">
    <p:wedg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  <p:transition spd="slow">
    <p:wedg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wedg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  <p:transition spd="slow">
    <p:wedg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pPr/>
              <a:t>7/9/2024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ransition spd="slow">
    <p:wedge/>
  </p:transition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database/oracle/oracle-database/20/sqlrf/SQL-Standards.html" TargetMode="External"/><Relationship Id="rId2" Type="http://schemas.openxmlformats.org/officeDocument/2006/relationships/hyperlink" Target="https://www.db-book.com/db6/slide-dir/index.html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slideshare.net/thinnaphat.bo/" TargetMode="External"/><Relationship Id="rId5" Type="http://schemas.openxmlformats.org/officeDocument/2006/relationships/hyperlink" Target="https://www.slideshare.net/tabinhasan/from-data-to-wisdom" TargetMode="External"/><Relationship Id="rId4" Type="http://schemas.openxmlformats.org/officeDocument/2006/relationships/hyperlink" Target="https://www.slideshare.net/HaaMeemMohiyuddin1/data-knowledge-and-inform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Aggregate Functions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 CSC 2108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326223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Summer 23-24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Nazia Alfaz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Introduction To Database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  <p:transition spd="slow"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76205" y="2413338"/>
            <a:ext cx="65735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buFont typeface="Wingdings 2"/>
              <a:buChar char=""/>
              <a:defRPr/>
            </a:pPr>
            <a:r>
              <a:rPr lang="en-US" dirty="0"/>
              <a:t>Aggregate Functions/Group Functions/Multiple-Row Functions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dirty="0"/>
              <a:t>Types of Group Functions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dirty="0"/>
              <a:t>Group By Clause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dirty="0"/>
              <a:t>Having Clause 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dirty="0"/>
              <a:t>Nesting Group Functions</a:t>
            </a:r>
          </a:p>
          <a:p>
            <a:pPr marL="274320" indent="-274320">
              <a:buFont typeface="Wingdings 2"/>
              <a:buChar char="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Group Functions?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>
          <a:xfrm>
            <a:off x="421341" y="2017059"/>
            <a:ext cx="8686800" cy="714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Group functions operate on sets of rows to give one result per group.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blackWhite">
          <a:xfrm>
            <a:off x="6081667" y="4148932"/>
            <a:ext cx="1430338" cy="1162050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000000"/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blackWhite">
          <a:xfrm>
            <a:off x="576217" y="2585244"/>
            <a:ext cx="2905125" cy="4092575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000000"/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5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76205" y="2229644"/>
            <a:ext cx="7350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EMP</a:t>
            </a:r>
          </a:p>
        </p:txBody>
      </p:sp>
      <p:sp>
        <p:nvSpPr>
          <p:cNvPr id="10" name="Freeform 7"/>
          <p:cNvSpPr>
            <a:spLocks/>
          </p:cNvSpPr>
          <p:nvPr/>
        </p:nvSpPr>
        <p:spPr bwMode="auto">
          <a:xfrm>
            <a:off x="3479755" y="2593182"/>
            <a:ext cx="2608262" cy="4079875"/>
          </a:xfrm>
          <a:custGeom>
            <a:avLst/>
            <a:gdLst>
              <a:gd name="T0" fmla="*/ 0 w 1643"/>
              <a:gd name="T1" fmla="*/ 4078288 h 2570"/>
              <a:gd name="T2" fmla="*/ 0 w 1643"/>
              <a:gd name="T3" fmla="*/ 0 h 2570"/>
              <a:gd name="T4" fmla="*/ 2606675 w 1643"/>
              <a:gd name="T5" fmla="*/ 1544637 h 2570"/>
              <a:gd name="T6" fmla="*/ 2606675 w 1643"/>
              <a:gd name="T7" fmla="*/ 2732087 h 2570"/>
              <a:gd name="T8" fmla="*/ 0 w 1643"/>
              <a:gd name="T9" fmla="*/ 4078288 h 25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43"/>
              <a:gd name="T16" fmla="*/ 0 h 2570"/>
              <a:gd name="T17" fmla="*/ 1643 w 1643"/>
              <a:gd name="T18" fmla="*/ 2570 h 257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43" h="2570">
                <a:moveTo>
                  <a:pt x="0" y="2569"/>
                </a:moveTo>
                <a:lnTo>
                  <a:pt x="0" y="0"/>
                </a:lnTo>
                <a:lnTo>
                  <a:pt x="1642" y="973"/>
                </a:lnTo>
                <a:lnTo>
                  <a:pt x="1642" y="1721"/>
                </a:lnTo>
                <a:lnTo>
                  <a:pt x="0" y="2569"/>
                </a:lnTo>
              </a:path>
            </a:pathLst>
          </a:custGeom>
          <a:solidFill>
            <a:srgbClr val="FFCC99">
              <a:alpha val="50195"/>
            </a:srgbClr>
          </a:soli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3809955" y="4194969"/>
            <a:ext cx="1976437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“maximum  </a:t>
            </a:r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 salary in </a:t>
            </a:r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the EMP table”</a:t>
            </a:r>
          </a:p>
        </p:txBody>
      </p: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2130380" y="3090069"/>
            <a:ext cx="5297487" cy="3525838"/>
            <a:chOff x="1709" y="1658"/>
            <a:chExt cx="3337" cy="2221"/>
          </a:xfrm>
        </p:grpSpPr>
        <p:sp>
          <p:nvSpPr>
            <p:cNvPr id="13" name="Rectangle 9"/>
            <p:cNvSpPr>
              <a:spLocks noChangeArrowheads="1"/>
            </p:cNvSpPr>
            <p:nvPr/>
          </p:nvSpPr>
          <p:spPr bwMode="ltGray">
            <a:xfrm>
              <a:off x="1709" y="1658"/>
              <a:ext cx="786" cy="2221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ltGray">
            <a:xfrm>
              <a:off x="4258" y="2820"/>
              <a:ext cx="788" cy="200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636542" y="2615407"/>
            <a:ext cx="3192463" cy="405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DEPTNO       SAL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--------- ---------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10      2450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10      5000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10      1300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20       800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20      1100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20      3000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20      3000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20      2975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30      1600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30      2850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30      1250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30       950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30      1500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30      1250</a:t>
            </a:r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6076905" y="4155282"/>
            <a:ext cx="1419225" cy="112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MAX(SAL)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5000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Group Functions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229611" y="2413338"/>
            <a:ext cx="65104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rgbClr val="C00000"/>
              </a:buClr>
              <a:buSzPct val="100000"/>
              <a:buFont typeface="Arial" charset="0"/>
              <a:buChar char="•"/>
            </a:pPr>
            <a:r>
              <a:rPr lang="en-US" dirty="0"/>
              <a:t>AVG </a:t>
            </a:r>
          </a:p>
          <a:p>
            <a:pPr lvl="1">
              <a:buClr>
                <a:srgbClr val="C00000"/>
              </a:buClr>
              <a:buSzPct val="100000"/>
              <a:buFont typeface="Arial" charset="0"/>
              <a:buChar char="•"/>
            </a:pPr>
            <a:r>
              <a:rPr lang="en-US" dirty="0"/>
              <a:t>COUNT </a:t>
            </a:r>
          </a:p>
          <a:p>
            <a:pPr lvl="1">
              <a:buClr>
                <a:srgbClr val="C00000"/>
              </a:buClr>
              <a:buSzPct val="100000"/>
              <a:buFont typeface="Arial" charset="0"/>
              <a:buChar char="•"/>
            </a:pPr>
            <a:r>
              <a:rPr lang="en-US" dirty="0"/>
              <a:t>MAX</a:t>
            </a:r>
          </a:p>
          <a:p>
            <a:pPr lvl="1">
              <a:buClr>
                <a:srgbClr val="C00000"/>
              </a:buClr>
              <a:buSzPct val="100000"/>
              <a:buFont typeface="Arial" charset="0"/>
              <a:buChar char="•"/>
            </a:pPr>
            <a:r>
              <a:rPr lang="en-US" dirty="0"/>
              <a:t>MIN </a:t>
            </a:r>
          </a:p>
          <a:p>
            <a:pPr lvl="1">
              <a:buClr>
                <a:srgbClr val="C00000"/>
              </a:buClr>
              <a:buSzPct val="100000"/>
              <a:buFont typeface="Arial" charset="0"/>
              <a:buChar char="•"/>
            </a:pPr>
            <a:r>
              <a:rPr lang="en-US" dirty="0"/>
              <a:t>STDDEV </a:t>
            </a:r>
          </a:p>
          <a:p>
            <a:pPr lvl="1">
              <a:buClr>
                <a:srgbClr val="C00000"/>
              </a:buClr>
              <a:buSzPct val="100000"/>
              <a:buFont typeface="Arial" charset="0"/>
              <a:buChar char="•"/>
            </a:pPr>
            <a:r>
              <a:rPr lang="en-US" dirty="0"/>
              <a:t>SUM</a:t>
            </a:r>
          </a:p>
          <a:p>
            <a:pPr lvl="1">
              <a:buClr>
                <a:srgbClr val="C00000"/>
              </a:buClr>
              <a:buSzPct val="100000"/>
              <a:buFont typeface="Arial" charset="0"/>
              <a:buChar char="•"/>
            </a:pPr>
            <a:r>
              <a:rPr lang="en-US" dirty="0"/>
              <a:t>VARIANCE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Group Functions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blackWhite">
          <a:xfrm>
            <a:off x="603250" y="2487613"/>
            <a:ext cx="7169150" cy="1719263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ltGray">
          <a:xfrm>
            <a:off x="3783012" y="2643188"/>
            <a:ext cx="3130550" cy="265113"/>
          </a:xfrm>
          <a:prstGeom prst="rect">
            <a:avLst/>
          </a:prstGeom>
          <a:solidFill>
            <a:srgbClr val="FF505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blackWhite">
          <a:xfrm>
            <a:off x="577850" y="2587626"/>
            <a:ext cx="7194550" cy="149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SELECT	[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column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,] </a:t>
            </a:r>
            <a:r>
              <a:rPr lang="en-US" sz="1800" i="1" dirty="0" err="1">
                <a:solidFill>
                  <a:srgbClr val="000000"/>
                </a:solidFill>
                <a:latin typeface="Courier New" pitchFamily="49" charset="0"/>
              </a:rPr>
              <a:t>group_function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(column)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FROM		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table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[WHERE	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condition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]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[GROUP BY	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column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]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[ORDER BY	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column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MIN and MAX Functions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476205" y="2315497"/>
            <a:ext cx="45764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74320" indent="-274320">
              <a:buFont typeface="Wingdings 2"/>
              <a:buChar char=""/>
              <a:defRPr/>
            </a:pPr>
            <a:r>
              <a:rPr lang="en-US" dirty="0"/>
              <a:t>You can use MIN and MAX for any </a:t>
            </a:r>
            <a:r>
              <a:rPr lang="en-US" dirty="0" err="1"/>
              <a:t>datatype</a:t>
            </a:r>
            <a:r>
              <a:rPr lang="en-US" dirty="0"/>
              <a:t>.</a:t>
            </a:r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blackWhite">
          <a:xfrm>
            <a:off x="824578" y="2909888"/>
            <a:ext cx="6902450" cy="6413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blackWhite">
          <a:xfrm>
            <a:off x="810291" y="4125913"/>
            <a:ext cx="6927850" cy="941387"/>
          </a:xfrm>
          <a:prstGeom prst="rect">
            <a:avLst/>
          </a:prstGeom>
          <a:solidFill>
            <a:srgbClr val="EAEAEA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28" name="Group 6"/>
          <p:cNvGrpSpPr>
            <a:grpSpLocks/>
          </p:cNvGrpSpPr>
          <p:nvPr/>
        </p:nvGrpSpPr>
        <p:grpSpPr bwMode="auto">
          <a:xfrm>
            <a:off x="875378" y="2959100"/>
            <a:ext cx="3676650" cy="2073275"/>
            <a:chOff x="756" y="1502"/>
            <a:chExt cx="2316" cy="1306"/>
          </a:xfrm>
        </p:grpSpPr>
        <p:sp>
          <p:nvSpPr>
            <p:cNvPr id="29" name="Rectangle 4"/>
            <p:cNvSpPr>
              <a:spLocks noChangeArrowheads="1"/>
            </p:cNvSpPr>
            <p:nvPr/>
          </p:nvSpPr>
          <p:spPr bwMode="ltGray">
            <a:xfrm>
              <a:off x="1914" y="1502"/>
              <a:ext cx="1158" cy="17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5"/>
            <p:cNvSpPr>
              <a:spLocks noChangeArrowheads="1"/>
            </p:cNvSpPr>
            <p:nvPr/>
          </p:nvSpPr>
          <p:spPr bwMode="ltGray">
            <a:xfrm>
              <a:off x="756" y="2280"/>
              <a:ext cx="840" cy="528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" name="Group 9"/>
          <p:cNvGrpSpPr>
            <a:grpSpLocks/>
          </p:cNvGrpSpPr>
          <p:nvPr/>
        </p:nvGrpSpPr>
        <p:grpSpPr bwMode="auto">
          <a:xfrm>
            <a:off x="2256503" y="2959100"/>
            <a:ext cx="4352925" cy="2073275"/>
            <a:chOff x="1626" y="1502"/>
            <a:chExt cx="2742" cy="1306"/>
          </a:xfrm>
        </p:grpSpPr>
        <p:sp>
          <p:nvSpPr>
            <p:cNvPr id="32" name="Rectangle 7"/>
            <p:cNvSpPr>
              <a:spLocks noChangeArrowheads="1"/>
            </p:cNvSpPr>
            <p:nvPr/>
          </p:nvSpPr>
          <p:spPr bwMode="ltGray">
            <a:xfrm>
              <a:off x="3198" y="1502"/>
              <a:ext cx="1170" cy="179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Rectangle 8"/>
            <p:cNvSpPr>
              <a:spLocks noChangeArrowheads="1"/>
            </p:cNvSpPr>
            <p:nvPr/>
          </p:nvSpPr>
          <p:spPr bwMode="ltGray">
            <a:xfrm>
              <a:off x="1626" y="2280"/>
              <a:ext cx="846" cy="528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4" name="Rectangle 12"/>
          <p:cNvSpPr>
            <a:spLocks noChangeArrowheads="1"/>
          </p:cNvSpPr>
          <p:nvPr/>
        </p:nvSpPr>
        <p:spPr bwMode="blackWhite">
          <a:xfrm>
            <a:off x="837278" y="2897188"/>
            <a:ext cx="692785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	MIN(hiredate), MAX(hiredate)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	emp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35" name="Rectangle 13"/>
          <p:cNvSpPr>
            <a:spLocks noChangeArrowheads="1"/>
          </p:cNvSpPr>
          <p:nvPr/>
        </p:nvSpPr>
        <p:spPr bwMode="blackWhite">
          <a:xfrm>
            <a:off x="848391" y="4138613"/>
            <a:ext cx="690245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MIN(HIRED MAX(HIRED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17-DEC-80 12-JAN-83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AVG and SUM Functions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18"/>
          <p:cNvSpPr txBox="1">
            <a:spLocks noChangeArrowheads="1"/>
          </p:cNvSpPr>
          <p:nvPr/>
        </p:nvSpPr>
        <p:spPr>
          <a:xfrm>
            <a:off x="221226" y="2227006"/>
            <a:ext cx="9142413" cy="498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marR="0" lvl="0" indent="-27432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You can use AVG and SUM for numeric data.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blackWhite">
          <a:xfrm>
            <a:off x="558006" y="4686300"/>
            <a:ext cx="7265988" cy="941387"/>
          </a:xfrm>
          <a:prstGeom prst="rect">
            <a:avLst/>
          </a:prstGeom>
          <a:solidFill>
            <a:srgbClr val="EAEAEA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blackWhite">
          <a:xfrm>
            <a:off x="570706" y="2878137"/>
            <a:ext cx="7240588" cy="11906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1" name="Group 6"/>
          <p:cNvGrpSpPr>
            <a:grpSpLocks/>
          </p:cNvGrpSpPr>
          <p:nvPr/>
        </p:nvGrpSpPr>
        <p:grpSpPr bwMode="auto">
          <a:xfrm>
            <a:off x="637381" y="2932112"/>
            <a:ext cx="2984500" cy="2644775"/>
            <a:chOff x="660" y="1472"/>
            <a:chExt cx="1880" cy="1666"/>
          </a:xfrm>
        </p:grpSpPr>
        <p:sp>
          <p:nvSpPr>
            <p:cNvPr id="12" name="Rectangle 4"/>
            <p:cNvSpPr>
              <a:spLocks noChangeArrowheads="1"/>
            </p:cNvSpPr>
            <p:nvPr/>
          </p:nvSpPr>
          <p:spPr bwMode="ltGray">
            <a:xfrm>
              <a:off x="1776" y="1472"/>
              <a:ext cx="764" cy="17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Rectangle 5"/>
            <p:cNvSpPr>
              <a:spLocks noChangeArrowheads="1"/>
            </p:cNvSpPr>
            <p:nvPr/>
          </p:nvSpPr>
          <p:spPr bwMode="ltGray">
            <a:xfrm>
              <a:off x="660" y="2610"/>
              <a:ext cx="726" cy="528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" name="Group 9"/>
          <p:cNvGrpSpPr>
            <a:grpSpLocks/>
          </p:cNvGrpSpPr>
          <p:nvPr/>
        </p:nvGrpSpPr>
        <p:grpSpPr bwMode="auto">
          <a:xfrm>
            <a:off x="1904206" y="2932112"/>
            <a:ext cx="3076575" cy="2644775"/>
            <a:chOff x="1458" y="1472"/>
            <a:chExt cx="1938" cy="1666"/>
          </a:xfrm>
        </p:grpSpPr>
        <p:sp>
          <p:nvSpPr>
            <p:cNvPr id="15" name="Rectangle 7"/>
            <p:cNvSpPr>
              <a:spLocks noChangeArrowheads="1"/>
            </p:cNvSpPr>
            <p:nvPr/>
          </p:nvSpPr>
          <p:spPr bwMode="ltGray">
            <a:xfrm>
              <a:off x="1458" y="2610"/>
              <a:ext cx="798" cy="528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8"/>
            <p:cNvSpPr>
              <a:spLocks noChangeArrowheads="1"/>
            </p:cNvSpPr>
            <p:nvPr/>
          </p:nvSpPr>
          <p:spPr bwMode="ltGray">
            <a:xfrm>
              <a:off x="2648" y="1472"/>
              <a:ext cx="748" cy="179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7" name="Group 12"/>
          <p:cNvGrpSpPr>
            <a:grpSpLocks/>
          </p:cNvGrpSpPr>
          <p:nvPr/>
        </p:nvGrpSpPr>
        <p:grpSpPr bwMode="auto">
          <a:xfrm>
            <a:off x="2409031" y="3224212"/>
            <a:ext cx="2114550" cy="2352675"/>
            <a:chOff x="1776" y="1656"/>
            <a:chExt cx="1332" cy="1482"/>
          </a:xfrm>
        </p:grpSpPr>
        <p:sp>
          <p:nvSpPr>
            <p:cNvPr id="18" name="Rectangle 10"/>
            <p:cNvSpPr>
              <a:spLocks noChangeArrowheads="1"/>
            </p:cNvSpPr>
            <p:nvPr/>
          </p:nvSpPr>
          <p:spPr bwMode="ltGray">
            <a:xfrm>
              <a:off x="1776" y="1656"/>
              <a:ext cx="764" cy="179"/>
            </a:xfrm>
            <a:prstGeom prst="rect">
              <a:avLst/>
            </a:prstGeom>
            <a:solidFill>
              <a:srgbClr val="3399FF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ltGray">
            <a:xfrm>
              <a:off x="2310" y="2610"/>
              <a:ext cx="798" cy="528"/>
            </a:xfrm>
            <a:prstGeom prst="rect">
              <a:avLst/>
            </a:prstGeom>
            <a:solidFill>
              <a:srgbClr val="3399FF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0" name="Group 15"/>
          <p:cNvGrpSpPr>
            <a:grpSpLocks/>
          </p:cNvGrpSpPr>
          <p:nvPr/>
        </p:nvGrpSpPr>
        <p:grpSpPr bwMode="auto">
          <a:xfrm>
            <a:off x="3793331" y="3224212"/>
            <a:ext cx="2120900" cy="2352675"/>
            <a:chOff x="2648" y="1656"/>
            <a:chExt cx="1336" cy="1482"/>
          </a:xfrm>
        </p:grpSpPr>
        <p:sp>
          <p:nvSpPr>
            <p:cNvPr id="21" name="Rectangle 13"/>
            <p:cNvSpPr>
              <a:spLocks noChangeArrowheads="1"/>
            </p:cNvSpPr>
            <p:nvPr/>
          </p:nvSpPr>
          <p:spPr bwMode="ltGray">
            <a:xfrm>
              <a:off x="2648" y="1656"/>
              <a:ext cx="748" cy="179"/>
            </a:xfrm>
            <a:prstGeom prst="rect">
              <a:avLst/>
            </a:prstGeom>
            <a:solidFill>
              <a:srgbClr val="FF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Rectangle 14"/>
            <p:cNvSpPr>
              <a:spLocks noChangeArrowheads="1"/>
            </p:cNvSpPr>
            <p:nvPr/>
          </p:nvSpPr>
          <p:spPr bwMode="ltGray">
            <a:xfrm>
              <a:off x="3186" y="2610"/>
              <a:ext cx="798" cy="528"/>
            </a:xfrm>
            <a:prstGeom prst="rect">
              <a:avLst/>
            </a:prstGeom>
            <a:solidFill>
              <a:srgbClr val="FF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" name="Rectangle 17"/>
          <p:cNvSpPr>
            <a:spLocks noChangeArrowheads="1"/>
          </p:cNvSpPr>
          <p:nvPr/>
        </p:nvSpPr>
        <p:spPr bwMode="blackWhite">
          <a:xfrm>
            <a:off x="583406" y="4699000"/>
            <a:ext cx="7240588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AVG(SAL)  MAX(SAL)  MIN(SAL)  SUM(SAL)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-------- --------- 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1400      1600      1250      5600</a:t>
            </a: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blackWhite">
          <a:xfrm>
            <a:off x="570706" y="2865437"/>
            <a:ext cx="7265988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	AVG(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), MAX(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),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		MIN(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), SUM(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	FROM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4	WHERE	job LIKE 'SALES%';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the COUNT Function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76205" y="2227006"/>
            <a:ext cx="62490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buFont typeface="Wingdings 2"/>
              <a:buChar char=""/>
              <a:defRPr/>
            </a:pPr>
            <a:endParaRPr lang="en-US" dirty="0"/>
          </a:p>
          <a:p>
            <a:pPr marL="274320" indent="-274320">
              <a:buFont typeface="Wingdings 2"/>
              <a:buChar char=""/>
              <a:defRPr/>
            </a:pPr>
            <a:r>
              <a:rPr lang="en-US" dirty="0"/>
              <a:t>COUNT(*) returns the number of rows in a table.</a:t>
            </a:r>
          </a:p>
        </p:txBody>
      </p:sp>
      <p:sp>
        <p:nvSpPr>
          <p:cNvPr id="16" name="Rectangle 2"/>
          <p:cNvSpPr>
            <a:spLocks noChangeArrowheads="1"/>
          </p:cNvSpPr>
          <p:nvPr/>
        </p:nvSpPr>
        <p:spPr bwMode="blackWhite">
          <a:xfrm>
            <a:off x="812800" y="2886037"/>
            <a:ext cx="6832600" cy="91598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7" name="Rectangle 3"/>
          <p:cNvSpPr>
            <a:spLocks noChangeArrowheads="1"/>
          </p:cNvSpPr>
          <p:nvPr/>
        </p:nvSpPr>
        <p:spPr bwMode="blackWhite">
          <a:xfrm>
            <a:off x="809625" y="4127462"/>
            <a:ext cx="6858000" cy="941387"/>
          </a:xfrm>
          <a:prstGeom prst="rect">
            <a:avLst/>
          </a:prstGeom>
          <a:solidFill>
            <a:srgbClr val="EAEAEA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8" name="Group 7"/>
          <p:cNvGrpSpPr>
            <a:grpSpLocks/>
          </p:cNvGrpSpPr>
          <p:nvPr/>
        </p:nvGrpSpPr>
        <p:grpSpPr bwMode="auto">
          <a:xfrm>
            <a:off x="871537" y="2913024"/>
            <a:ext cx="3003550" cy="2084388"/>
            <a:chOff x="780" y="1490"/>
            <a:chExt cx="1892" cy="1313"/>
          </a:xfrm>
        </p:grpSpPr>
        <p:sp>
          <p:nvSpPr>
            <p:cNvPr id="19" name="Rectangle 5"/>
            <p:cNvSpPr>
              <a:spLocks noChangeArrowheads="1"/>
            </p:cNvSpPr>
            <p:nvPr/>
          </p:nvSpPr>
          <p:spPr bwMode="ltGray">
            <a:xfrm>
              <a:off x="1908" y="1490"/>
              <a:ext cx="764" cy="17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ltGray">
            <a:xfrm>
              <a:off x="780" y="2275"/>
              <a:ext cx="864" cy="528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" name="Rectangle 8"/>
          <p:cNvSpPr>
            <a:spLocks noChangeArrowheads="1"/>
          </p:cNvSpPr>
          <p:nvPr/>
        </p:nvSpPr>
        <p:spPr bwMode="blackWhite">
          <a:xfrm>
            <a:off x="835025" y="4140162"/>
            <a:ext cx="683260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COUNT(*)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 6</a:t>
            </a:r>
          </a:p>
        </p:txBody>
      </p:sp>
      <p:sp>
        <p:nvSpPr>
          <p:cNvPr id="22" name="Rectangle 9"/>
          <p:cNvSpPr>
            <a:spLocks noChangeArrowheads="1"/>
          </p:cNvSpPr>
          <p:nvPr/>
        </p:nvSpPr>
        <p:spPr bwMode="blackWhite">
          <a:xfrm>
            <a:off x="812800" y="2873337"/>
            <a:ext cx="6858000" cy="94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	COUNT(*)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WHERE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= 30;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the COUNT Function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205" y="2459504"/>
            <a:ext cx="7473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indent="-274320">
              <a:buFont typeface="Wingdings 2"/>
              <a:buChar char=""/>
              <a:defRPr/>
            </a:pPr>
            <a:r>
              <a:rPr lang="en-US" dirty="0"/>
              <a:t>COUNT(</a:t>
            </a:r>
            <a:r>
              <a:rPr lang="en-US" i="1" dirty="0" err="1"/>
              <a:t>expr</a:t>
            </a:r>
            <a:r>
              <a:rPr lang="en-US" dirty="0"/>
              <a:t>) returns the number of </a:t>
            </a:r>
            <a:r>
              <a:rPr lang="en-US" dirty="0" err="1"/>
              <a:t>nonnull</a:t>
            </a:r>
            <a:r>
              <a:rPr lang="en-US" dirty="0"/>
              <a:t> rows.</a:t>
            </a: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blackWhite">
          <a:xfrm>
            <a:off x="845524" y="2947988"/>
            <a:ext cx="6832600" cy="91598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blackWhite">
          <a:xfrm>
            <a:off x="848699" y="4170363"/>
            <a:ext cx="6858000" cy="941387"/>
          </a:xfrm>
          <a:prstGeom prst="rect">
            <a:avLst/>
          </a:prstGeom>
          <a:solidFill>
            <a:srgbClr val="EAEAEA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8" name="Group 6"/>
          <p:cNvGrpSpPr>
            <a:grpSpLocks/>
          </p:cNvGrpSpPr>
          <p:nvPr/>
        </p:nvGrpSpPr>
        <p:grpSpPr bwMode="auto">
          <a:xfrm>
            <a:off x="913786" y="2997200"/>
            <a:ext cx="3390900" cy="2063750"/>
            <a:chOff x="780" y="1670"/>
            <a:chExt cx="2136" cy="1300"/>
          </a:xfrm>
        </p:grpSpPr>
        <p:sp>
          <p:nvSpPr>
            <p:cNvPr id="23" name="Rectangle 4"/>
            <p:cNvSpPr>
              <a:spLocks noChangeArrowheads="1"/>
            </p:cNvSpPr>
            <p:nvPr/>
          </p:nvSpPr>
          <p:spPr bwMode="ltGray">
            <a:xfrm>
              <a:off x="1932" y="1670"/>
              <a:ext cx="984" cy="17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Rectangle 5"/>
            <p:cNvSpPr>
              <a:spLocks noChangeArrowheads="1"/>
            </p:cNvSpPr>
            <p:nvPr/>
          </p:nvSpPr>
          <p:spPr bwMode="ltGray">
            <a:xfrm>
              <a:off x="780" y="2442"/>
              <a:ext cx="1026" cy="528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" name="Rectangle 9"/>
          <p:cNvSpPr>
            <a:spLocks noChangeArrowheads="1"/>
          </p:cNvSpPr>
          <p:nvPr/>
        </p:nvSpPr>
        <p:spPr bwMode="blackWhite">
          <a:xfrm>
            <a:off x="858224" y="2935288"/>
            <a:ext cx="6858000" cy="94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	COUNT(comm)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	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WHERE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= 30;</a:t>
            </a: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blackWhite">
          <a:xfrm>
            <a:off x="886799" y="4183063"/>
            <a:ext cx="683260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COUNT(COMM)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-----------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   4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Group Functions and Null Values</a:t>
            </a: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blackWhite">
          <a:xfrm>
            <a:off x="906462" y="3513138"/>
            <a:ext cx="7289800" cy="6413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blackWhite">
          <a:xfrm>
            <a:off x="901699" y="4716463"/>
            <a:ext cx="7289800" cy="941388"/>
          </a:xfrm>
          <a:prstGeom prst="rect">
            <a:avLst/>
          </a:prstGeom>
          <a:solidFill>
            <a:srgbClr val="EAEAEA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7" name="Group 6"/>
          <p:cNvGrpSpPr>
            <a:grpSpLocks/>
          </p:cNvGrpSpPr>
          <p:nvPr/>
        </p:nvGrpSpPr>
        <p:grpSpPr bwMode="auto">
          <a:xfrm>
            <a:off x="963612" y="3559176"/>
            <a:ext cx="2909887" cy="2044700"/>
            <a:chOff x="645" y="1675"/>
            <a:chExt cx="1833" cy="1288"/>
          </a:xfrm>
        </p:grpSpPr>
        <p:sp>
          <p:nvSpPr>
            <p:cNvPr id="18" name="Rectangle 4"/>
            <p:cNvSpPr>
              <a:spLocks noChangeArrowheads="1"/>
            </p:cNvSpPr>
            <p:nvPr/>
          </p:nvSpPr>
          <p:spPr bwMode="ltGray">
            <a:xfrm>
              <a:off x="1671" y="1675"/>
              <a:ext cx="807" cy="17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5"/>
            <p:cNvSpPr>
              <a:spLocks noChangeArrowheads="1"/>
            </p:cNvSpPr>
            <p:nvPr/>
          </p:nvSpPr>
          <p:spPr bwMode="ltGray">
            <a:xfrm>
              <a:off x="645" y="2435"/>
              <a:ext cx="885" cy="528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" name="Rectangle 8"/>
          <p:cNvSpPr txBox="1">
            <a:spLocks noChangeArrowheads="1"/>
          </p:cNvSpPr>
          <p:nvPr/>
        </p:nvSpPr>
        <p:spPr>
          <a:xfrm>
            <a:off x="800099" y="2436813"/>
            <a:ext cx="7385050" cy="90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Group functions ignore null values in the column.</a:t>
            </a:r>
          </a:p>
        </p:txBody>
      </p:sp>
      <p:sp>
        <p:nvSpPr>
          <p:cNvPr id="21" name="Rectangle 9"/>
          <p:cNvSpPr>
            <a:spLocks noChangeArrowheads="1"/>
          </p:cNvSpPr>
          <p:nvPr/>
        </p:nvSpPr>
        <p:spPr bwMode="blackWhite">
          <a:xfrm>
            <a:off x="881062" y="3500438"/>
            <a:ext cx="731520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AVG(comm)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  emp;</a:t>
            </a:r>
          </a:p>
        </p:txBody>
      </p:sp>
      <p:sp>
        <p:nvSpPr>
          <p:cNvPr id="22" name="Rectangle 10"/>
          <p:cNvSpPr>
            <a:spLocks noChangeArrowheads="1"/>
          </p:cNvSpPr>
          <p:nvPr/>
        </p:nvSpPr>
        <p:spPr bwMode="blackWhite">
          <a:xfrm>
            <a:off x="901699" y="4729163"/>
            <a:ext cx="72644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AVG(COMM)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550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Using the NVL Function with Group Functions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blackWhite">
          <a:xfrm>
            <a:off x="528593" y="3544887"/>
            <a:ext cx="7289800" cy="6413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blackWhite">
          <a:xfrm>
            <a:off x="538118" y="4754562"/>
            <a:ext cx="7315200" cy="941388"/>
          </a:xfrm>
          <a:prstGeom prst="rect">
            <a:avLst/>
          </a:prstGeom>
          <a:solidFill>
            <a:srgbClr val="EAEAEA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4" name="Group 6"/>
          <p:cNvGrpSpPr>
            <a:grpSpLocks/>
          </p:cNvGrpSpPr>
          <p:nvPr/>
        </p:nvGrpSpPr>
        <p:grpSpPr bwMode="auto">
          <a:xfrm>
            <a:off x="603205" y="3582987"/>
            <a:ext cx="3848100" cy="2066925"/>
            <a:chOff x="620" y="2044"/>
            <a:chExt cx="2424" cy="1302"/>
          </a:xfrm>
        </p:grpSpPr>
        <p:sp>
          <p:nvSpPr>
            <p:cNvPr id="17" name="Rectangle 4"/>
            <p:cNvSpPr>
              <a:spLocks noChangeArrowheads="1"/>
            </p:cNvSpPr>
            <p:nvPr/>
          </p:nvSpPr>
          <p:spPr bwMode="ltGray">
            <a:xfrm>
              <a:off x="620" y="2818"/>
              <a:ext cx="1428" cy="528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Rectangle 5"/>
            <p:cNvSpPr>
              <a:spLocks noChangeArrowheads="1"/>
            </p:cNvSpPr>
            <p:nvPr/>
          </p:nvSpPr>
          <p:spPr bwMode="ltGray">
            <a:xfrm>
              <a:off x="1640" y="2044"/>
              <a:ext cx="1404" cy="17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" name="Rectangle 8"/>
          <p:cNvSpPr txBox="1">
            <a:spLocks noChangeArrowheads="1"/>
          </p:cNvSpPr>
          <p:nvPr/>
        </p:nvSpPr>
        <p:spPr>
          <a:xfrm>
            <a:off x="476205" y="2289175"/>
            <a:ext cx="7385050" cy="90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The NVL function forces group functions to include null values.</a:t>
            </a:r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blackWhite">
          <a:xfrm>
            <a:off x="515893" y="3532187"/>
            <a:ext cx="7315200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 AVG(NVL(comm,0))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blackWhite">
          <a:xfrm>
            <a:off x="550818" y="4767262"/>
            <a:ext cx="72898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AVG(NVL(COMM,0))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1828800" algn="l"/>
                <a:tab pos="3086100" algn="l"/>
                <a:tab pos="4229100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157.14286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Creating Groups of Data 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blackWhite">
          <a:xfrm>
            <a:off x="5875337" y="3487736"/>
            <a:ext cx="2546350" cy="1711325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000000"/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blackWhite">
          <a:xfrm>
            <a:off x="717550" y="2338386"/>
            <a:ext cx="3233737" cy="4079875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000000"/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622300" y="1952624"/>
            <a:ext cx="7350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EMP</a:t>
            </a:r>
          </a:p>
        </p:txBody>
      </p:sp>
      <p:sp>
        <p:nvSpPr>
          <p:cNvPr id="18" name="Freeform 6"/>
          <p:cNvSpPr>
            <a:spLocks/>
          </p:cNvSpPr>
          <p:nvPr/>
        </p:nvSpPr>
        <p:spPr bwMode="auto">
          <a:xfrm>
            <a:off x="3962400" y="2333624"/>
            <a:ext cx="1920875" cy="4079875"/>
          </a:xfrm>
          <a:custGeom>
            <a:avLst/>
            <a:gdLst>
              <a:gd name="T0" fmla="*/ 0 w 1210"/>
              <a:gd name="T1" fmla="*/ 4078288 h 2570"/>
              <a:gd name="T2" fmla="*/ 0 w 1210"/>
              <a:gd name="T3" fmla="*/ 0 h 2570"/>
              <a:gd name="T4" fmla="*/ 1919288 w 1210"/>
              <a:gd name="T5" fmla="*/ 1160462 h 2570"/>
              <a:gd name="T6" fmla="*/ 1919288 w 1210"/>
              <a:gd name="T7" fmla="*/ 2894012 h 2570"/>
              <a:gd name="T8" fmla="*/ 0 w 1210"/>
              <a:gd name="T9" fmla="*/ 4078288 h 25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10"/>
              <a:gd name="T16" fmla="*/ 0 h 2570"/>
              <a:gd name="T17" fmla="*/ 1210 w 1210"/>
              <a:gd name="T18" fmla="*/ 2570 h 257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10" h="2570">
                <a:moveTo>
                  <a:pt x="0" y="2569"/>
                </a:moveTo>
                <a:lnTo>
                  <a:pt x="0" y="0"/>
                </a:lnTo>
                <a:lnTo>
                  <a:pt x="1209" y="731"/>
                </a:lnTo>
                <a:lnTo>
                  <a:pt x="1209" y="1823"/>
                </a:lnTo>
                <a:lnTo>
                  <a:pt x="0" y="2569"/>
                </a:lnTo>
              </a:path>
            </a:pathLst>
          </a:custGeom>
          <a:solidFill>
            <a:srgbClr val="FFCC99">
              <a:alpha val="50195"/>
            </a:srgbClr>
          </a:soli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7"/>
          <p:cNvSpPr>
            <a:spLocks noChangeArrowheads="1"/>
          </p:cNvSpPr>
          <p:nvPr/>
        </p:nvSpPr>
        <p:spPr bwMode="auto">
          <a:xfrm>
            <a:off x="4362450" y="3459161"/>
            <a:ext cx="1543050" cy="173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“average</a:t>
            </a:r>
            <a:br>
              <a:rPr lang="en-US" sz="18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</a:br>
            <a:r>
              <a:rPr lang="en-US" sz="18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salary </a:t>
            </a:r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in EMP</a:t>
            </a:r>
            <a:br>
              <a:rPr lang="en-US" sz="18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</a:br>
            <a:r>
              <a:rPr lang="en-US" sz="18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table </a:t>
            </a:r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for each </a:t>
            </a:r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department”</a:t>
            </a:r>
          </a:p>
        </p:txBody>
      </p:sp>
      <p:grpSp>
        <p:nvGrpSpPr>
          <p:cNvPr id="20" name="Group 12"/>
          <p:cNvGrpSpPr>
            <a:grpSpLocks/>
          </p:cNvGrpSpPr>
          <p:nvPr/>
        </p:nvGrpSpPr>
        <p:grpSpPr bwMode="auto">
          <a:xfrm>
            <a:off x="787400" y="2844799"/>
            <a:ext cx="7561262" cy="1644650"/>
            <a:chOff x="547" y="1535"/>
            <a:chExt cx="4763" cy="1036"/>
          </a:xfrm>
        </p:grpSpPr>
        <p:grpSp>
          <p:nvGrpSpPr>
            <p:cNvPr id="21" name="Group 10"/>
            <p:cNvGrpSpPr>
              <a:grpSpLocks/>
            </p:cNvGrpSpPr>
            <p:nvPr/>
          </p:nvGrpSpPr>
          <p:grpSpPr bwMode="auto">
            <a:xfrm>
              <a:off x="547" y="1535"/>
              <a:ext cx="4763" cy="1036"/>
              <a:chOff x="547" y="1535"/>
              <a:chExt cx="4763" cy="1036"/>
            </a:xfrm>
          </p:grpSpPr>
          <p:sp>
            <p:nvSpPr>
              <p:cNvPr id="27" name="Rectangle 8"/>
              <p:cNvSpPr>
                <a:spLocks noChangeArrowheads="1"/>
              </p:cNvSpPr>
              <p:nvPr/>
            </p:nvSpPr>
            <p:spPr bwMode="ltGray">
              <a:xfrm>
                <a:off x="547" y="1535"/>
                <a:ext cx="1965" cy="489"/>
              </a:xfrm>
              <a:prstGeom prst="rect">
                <a:avLst/>
              </a:prstGeom>
              <a:solidFill>
                <a:srgbClr val="FF505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Rectangle 9"/>
              <p:cNvSpPr>
                <a:spLocks noChangeArrowheads="1"/>
              </p:cNvSpPr>
              <p:nvPr/>
            </p:nvSpPr>
            <p:spPr bwMode="ltGray">
              <a:xfrm>
                <a:off x="3800" y="2392"/>
                <a:ext cx="1510" cy="179"/>
              </a:xfrm>
              <a:prstGeom prst="rect">
                <a:avLst/>
              </a:prstGeom>
              <a:solidFill>
                <a:srgbClr val="FF505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" name="Rectangle 11"/>
            <p:cNvSpPr>
              <a:spLocks noChangeArrowheads="1"/>
            </p:cNvSpPr>
            <p:nvPr/>
          </p:nvSpPr>
          <p:spPr bwMode="auto">
            <a:xfrm>
              <a:off x="2536" y="1709"/>
              <a:ext cx="59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>
                <a:defRPr/>
              </a:pPr>
              <a:r>
                <a:rPr lang="en-US" sz="1200">
                  <a:solidFill>
                    <a:srgbClr val="FF505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</a:rPr>
                <a:t> 2916.6667</a:t>
              </a:r>
            </a:p>
          </p:txBody>
        </p:sp>
      </p:grpSp>
      <p:grpSp>
        <p:nvGrpSpPr>
          <p:cNvPr id="29" name="Group 17"/>
          <p:cNvGrpSpPr>
            <a:grpSpLocks/>
          </p:cNvGrpSpPr>
          <p:nvPr/>
        </p:nvGrpSpPr>
        <p:grpSpPr bwMode="auto">
          <a:xfrm>
            <a:off x="787400" y="3632199"/>
            <a:ext cx="7561262" cy="1233487"/>
            <a:chOff x="547" y="2031"/>
            <a:chExt cx="4763" cy="777"/>
          </a:xfrm>
        </p:grpSpPr>
        <p:grpSp>
          <p:nvGrpSpPr>
            <p:cNvPr id="30" name="Group 15"/>
            <p:cNvGrpSpPr>
              <a:grpSpLocks/>
            </p:cNvGrpSpPr>
            <p:nvPr/>
          </p:nvGrpSpPr>
          <p:grpSpPr bwMode="auto">
            <a:xfrm>
              <a:off x="547" y="2031"/>
              <a:ext cx="4763" cy="777"/>
              <a:chOff x="547" y="2031"/>
              <a:chExt cx="4763" cy="777"/>
            </a:xfrm>
          </p:grpSpPr>
          <p:sp>
            <p:nvSpPr>
              <p:cNvPr id="32" name="Rectangle 13"/>
              <p:cNvSpPr>
                <a:spLocks noChangeArrowheads="1"/>
              </p:cNvSpPr>
              <p:nvPr/>
            </p:nvSpPr>
            <p:spPr bwMode="ltGray">
              <a:xfrm>
                <a:off x="3800" y="2602"/>
                <a:ext cx="1510" cy="179"/>
              </a:xfrm>
              <a:prstGeom prst="rect">
                <a:avLst/>
              </a:prstGeom>
              <a:solidFill>
                <a:srgbClr val="0099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Rectangle 14"/>
              <p:cNvSpPr>
                <a:spLocks noChangeArrowheads="1"/>
              </p:cNvSpPr>
              <p:nvPr/>
            </p:nvSpPr>
            <p:spPr bwMode="ltGray">
              <a:xfrm>
                <a:off x="547" y="2031"/>
                <a:ext cx="1965" cy="777"/>
              </a:xfrm>
              <a:prstGeom prst="rect">
                <a:avLst/>
              </a:prstGeom>
              <a:solidFill>
                <a:srgbClr val="0099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1" name="Rectangle 16"/>
            <p:cNvSpPr>
              <a:spLocks noChangeArrowheads="1"/>
            </p:cNvSpPr>
            <p:nvPr/>
          </p:nvSpPr>
          <p:spPr bwMode="auto">
            <a:xfrm>
              <a:off x="2536" y="2333"/>
              <a:ext cx="35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>
                <a:defRPr/>
              </a:pPr>
              <a:r>
                <a:rPr lang="en-US" sz="1200">
                  <a:solidFill>
                    <a:srgbClr val="3399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</a:rPr>
                <a:t> 2175</a:t>
              </a:r>
            </a:p>
          </p:txBody>
        </p:sp>
      </p:grpSp>
      <p:grpSp>
        <p:nvGrpSpPr>
          <p:cNvPr id="34" name="Group 22"/>
          <p:cNvGrpSpPr>
            <a:grpSpLocks/>
          </p:cNvGrpSpPr>
          <p:nvPr/>
        </p:nvGrpSpPr>
        <p:grpSpPr bwMode="auto">
          <a:xfrm>
            <a:off x="787400" y="4872036"/>
            <a:ext cx="7561262" cy="1479550"/>
            <a:chOff x="547" y="2812"/>
            <a:chExt cx="4763" cy="932"/>
          </a:xfrm>
        </p:grpSpPr>
        <p:grpSp>
          <p:nvGrpSpPr>
            <p:cNvPr id="35" name="Group 20"/>
            <p:cNvGrpSpPr>
              <a:grpSpLocks/>
            </p:cNvGrpSpPr>
            <p:nvPr/>
          </p:nvGrpSpPr>
          <p:grpSpPr bwMode="auto">
            <a:xfrm>
              <a:off x="547" y="2812"/>
              <a:ext cx="4763" cy="932"/>
              <a:chOff x="547" y="2812"/>
              <a:chExt cx="4763" cy="932"/>
            </a:xfrm>
          </p:grpSpPr>
          <p:sp>
            <p:nvSpPr>
              <p:cNvPr id="37" name="Rectangle 18"/>
              <p:cNvSpPr>
                <a:spLocks noChangeArrowheads="1"/>
              </p:cNvSpPr>
              <p:nvPr/>
            </p:nvSpPr>
            <p:spPr bwMode="ltGray">
              <a:xfrm>
                <a:off x="3800" y="2812"/>
                <a:ext cx="1510" cy="179"/>
              </a:xfrm>
              <a:prstGeom prst="rect">
                <a:avLst/>
              </a:prstGeom>
              <a:solidFill>
                <a:srgbClr val="3399FF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Rectangle 19"/>
              <p:cNvSpPr>
                <a:spLocks noChangeArrowheads="1"/>
              </p:cNvSpPr>
              <p:nvPr/>
            </p:nvSpPr>
            <p:spPr bwMode="ltGray">
              <a:xfrm>
                <a:off x="547" y="2815"/>
                <a:ext cx="1965" cy="929"/>
              </a:xfrm>
              <a:prstGeom prst="rect">
                <a:avLst/>
              </a:prstGeom>
              <a:solidFill>
                <a:srgbClr val="3399FF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6" name="Rectangle 21"/>
            <p:cNvSpPr>
              <a:spLocks noChangeArrowheads="1"/>
            </p:cNvSpPr>
            <p:nvPr/>
          </p:nvSpPr>
          <p:spPr bwMode="auto">
            <a:xfrm>
              <a:off x="2536" y="3125"/>
              <a:ext cx="59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>
                <a:defRPr/>
              </a:pPr>
              <a:r>
                <a:rPr lang="en-US" sz="1200">
                  <a:solidFill>
                    <a:srgbClr val="66CC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pitchFamily="34" charset="0"/>
                </a:rPr>
                <a:t> 1566.6667</a:t>
              </a:r>
            </a:p>
          </p:txBody>
        </p:sp>
      </p:grpSp>
      <p:sp>
        <p:nvSpPr>
          <p:cNvPr id="39" name="Rectangle 23"/>
          <p:cNvSpPr>
            <a:spLocks noChangeArrowheads="1"/>
          </p:cNvSpPr>
          <p:nvPr/>
        </p:nvSpPr>
        <p:spPr bwMode="auto">
          <a:xfrm>
            <a:off x="1228725" y="2357436"/>
            <a:ext cx="2790825" cy="457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DEPTNO       SAL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--------- ---------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10      2450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10      5000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10      1300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20       800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20      1100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20      3000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20      3000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20      2975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30      1600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30      2850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30      1250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30       950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30      1500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30      1250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</a:pP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40" name="Rectangle 24"/>
          <p:cNvSpPr>
            <a:spLocks noChangeArrowheads="1"/>
          </p:cNvSpPr>
          <p:nvPr/>
        </p:nvSpPr>
        <p:spPr bwMode="auto">
          <a:xfrm>
            <a:off x="5638800" y="3440111"/>
            <a:ext cx="2790825" cy="180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DEPTNO  AVG(SAL)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------- ---------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10 2916.6667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20      2175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     30 1566.6667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Creating Groups of Data: GROUP BY Clause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6" name="Rectangle 2"/>
          <p:cNvSpPr>
            <a:spLocks noChangeArrowheads="1"/>
          </p:cNvSpPr>
          <p:nvPr/>
        </p:nvSpPr>
        <p:spPr bwMode="blackWhite">
          <a:xfrm>
            <a:off x="1008063" y="2541588"/>
            <a:ext cx="7169150" cy="1465262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29" name="Rectangle 6"/>
          <p:cNvSpPr txBox="1">
            <a:spLocks noChangeArrowheads="1"/>
          </p:cNvSpPr>
          <p:nvPr/>
        </p:nvSpPr>
        <p:spPr>
          <a:xfrm>
            <a:off x="850900" y="4530725"/>
            <a:ext cx="7577138" cy="90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Divide rows in a table into smaller groups by using the GROUP BY clause.</a:t>
            </a: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ltGray">
          <a:xfrm>
            <a:off x="1092200" y="3429000"/>
            <a:ext cx="4648200" cy="284163"/>
          </a:xfrm>
          <a:prstGeom prst="rect">
            <a:avLst/>
          </a:prstGeom>
          <a:solidFill>
            <a:srgbClr val="FF505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blackWhite">
          <a:xfrm>
            <a:off x="982663" y="2528888"/>
            <a:ext cx="7194550" cy="149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SELECT	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column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group_function(column)</a:t>
            </a: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FROM		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table</a:t>
            </a: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[WHERE	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condition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]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[GROUP BY	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group_by_expression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]</a:t>
            </a:r>
            <a:endParaRPr lang="en-US" sz="1800" i="1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[ORDER BY	</a:t>
            </a:r>
            <a:r>
              <a:rPr lang="en-US" sz="1800" i="1">
                <a:solidFill>
                  <a:srgbClr val="000000"/>
                </a:solidFill>
                <a:latin typeface="Courier New" pitchFamily="49" charset="0"/>
              </a:rPr>
              <a:t>column</a:t>
            </a: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Using the GROUP BY Clause 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blackWhite">
          <a:xfrm>
            <a:off x="923925" y="3236913"/>
            <a:ext cx="7289800" cy="915987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blackWhite">
          <a:xfrm>
            <a:off x="938213" y="4743450"/>
            <a:ext cx="7289800" cy="1465263"/>
          </a:xfrm>
          <a:prstGeom prst="rect">
            <a:avLst/>
          </a:prstGeom>
          <a:solidFill>
            <a:srgbClr val="EAEAEA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0" name="Rectangle 5"/>
          <p:cNvSpPr txBox="1">
            <a:spLocks noChangeArrowheads="1"/>
          </p:cNvSpPr>
          <p:nvPr/>
        </p:nvSpPr>
        <p:spPr>
          <a:xfrm>
            <a:off x="762000" y="2235200"/>
            <a:ext cx="7577138" cy="1311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 2"/>
              <a:buChar char="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All columns in the SELECT list that are not in group functions must be in the GROUP BY clause.</a:t>
            </a:r>
          </a:p>
        </p:txBody>
      </p:sp>
      <p:grpSp>
        <p:nvGrpSpPr>
          <p:cNvPr id="11" name="Group 12"/>
          <p:cNvGrpSpPr>
            <a:grpSpLocks/>
          </p:cNvGrpSpPr>
          <p:nvPr/>
        </p:nvGrpSpPr>
        <p:grpSpPr bwMode="auto">
          <a:xfrm>
            <a:off x="1016000" y="3262313"/>
            <a:ext cx="2895600" cy="2925762"/>
            <a:chOff x="640" y="1855"/>
            <a:chExt cx="1824" cy="1843"/>
          </a:xfrm>
        </p:grpSpPr>
        <p:grpSp>
          <p:nvGrpSpPr>
            <p:cNvPr id="12" name="Group 10"/>
            <p:cNvGrpSpPr>
              <a:grpSpLocks/>
            </p:cNvGrpSpPr>
            <p:nvPr/>
          </p:nvGrpSpPr>
          <p:grpSpPr bwMode="auto">
            <a:xfrm>
              <a:off x="640" y="2210"/>
              <a:ext cx="1824" cy="1488"/>
              <a:chOff x="640" y="2210"/>
              <a:chExt cx="1824" cy="1488"/>
            </a:xfrm>
          </p:grpSpPr>
          <p:sp>
            <p:nvSpPr>
              <p:cNvPr id="14" name="Rectangle 6"/>
              <p:cNvSpPr>
                <a:spLocks noChangeArrowheads="1"/>
              </p:cNvSpPr>
              <p:nvPr/>
            </p:nvSpPr>
            <p:spPr bwMode="ltGray">
              <a:xfrm>
                <a:off x="1016" y="2210"/>
                <a:ext cx="1448" cy="179"/>
              </a:xfrm>
              <a:prstGeom prst="rect">
                <a:avLst/>
              </a:prstGeom>
              <a:solidFill>
                <a:srgbClr val="FF505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Rectangle 7"/>
              <p:cNvSpPr>
                <a:spLocks noChangeArrowheads="1"/>
              </p:cNvSpPr>
              <p:nvPr/>
            </p:nvSpPr>
            <p:spPr bwMode="ltGray">
              <a:xfrm>
                <a:off x="640" y="3154"/>
                <a:ext cx="1664" cy="179"/>
              </a:xfrm>
              <a:prstGeom prst="rect">
                <a:avLst/>
              </a:prstGeom>
              <a:solidFill>
                <a:srgbClr val="FF505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Rectangle 8"/>
              <p:cNvSpPr>
                <a:spLocks noChangeArrowheads="1"/>
              </p:cNvSpPr>
              <p:nvPr/>
            </p:nvSpPr>
            <p:spPr bwMode="ltGray">
              <a:xfrm>
                <a:off x="640" y="3335"/>
                <a:ext cx="1664" cy="179"/>
              </a:xfrm>
              <a:prstGeom prst="rect">
                <a:avLst/>
              </a:prstGeom>
              <a:solidFill>
                <a:srgbClr val="0099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Rectangle 9"/>
              <p:cNvSpPr>
                <a:spLocks noChangeArrowheads="1"/>
              </p:cNvSpPr>
              <p:nvPr/>
            </p:nvSpPr>
            <p:spPr bwMode="ltGray">
              <a:xfrm>
                <a:off x="640" y="3519"/>
                <a:ext cx="1664" cy="179"/>
              </a:xfrm>
              <a:prstGeom prst="rect">
                <a:avLst/>
              </a:prstGeom>
              <a:solidFill>
                <a:srgbClr val="3399FF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" name="Rectangle 11"/>
            <p:cNvSpPr>
              <a:spLocks noChangeArrowheads="1"/>
            </p:cNvSpPr>
            <p:nvPr/>
          </p:nvSpPr>
          <p:spPr bwMode="ltGray">
            <a:xfrm>
              <a:off x="1772" y="1855"/>
              <a:ext cx="588" cy="17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" name="Rectangle 13"/>
          <p:cNvSpPr>
            <a:spLocks noChangeArrowheads="1"/>
          </p:cNvSpPr>
          <p:nvPr/>
        </p:nvSpPr>
        <p:spPr bwMode="blackWhite">
          <a:xfrm>
            <a:off x="889000" y="3224213"/>
            <a:ext cx="7315200" cy="94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AVG(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  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GROUP BY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blackWhite">
          <a:xfrm>
            <a:off x="903288" y="4730750"/>
            <a:ext cx="7315200" cy="149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DEPTNO  AVG(SAL)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10 2916.6667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20      2175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30 1566.6667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Using the GROUP BY Clause 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Rectangle 2"/>
          <p:cNvSpPr>
            <a:spLocks noChangeArrowheads="1"/>
          </p:cNvSpPr>
          <p:nvPr/>
        </p:nvSpPr>
        <p:spPr bwMode="blackWhite">
          <a:xfrm>
            <a:off x="889000" y="3259137"/>
            <a:ext cx="7289800" cy="91598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 bwMode="blackWhite">
          <a:xfrm>
            <a:off x="903288" y="4765675"/>
            <a:ext cx="7289800" cy="1465262"/>
          </a:xfrm>
          <a:prstGeom prst="rect">
            <a:avLst/>
          </a:prstGeom>
          <a:solidFill>
            <a:srgbClr val="EAEAEA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22" name="Rectangle 5"/>
          <p:cNvSpPr txBox="1">
            <a:spLocks noChangeArrowheads="1"/>
          </p:cNvSpPr>
          <p:nvPr/>
        </p:nvSpPr>
        <p:spPr>
          <a:xfrm>
            <a:off x="889000" y="2147887"/>
            <a:ext cx="7577138" cy="904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The GROUP BY column does not have to be in the SELECT list.</a:t>
            </a:r>
          </a:p>
        </p:txBody>
      </p:sp>
      <p:grpSp>
        <p:nvGrpSpPr>
          <p:cNvPr id="23" name="Group 10"/>
          <p:cNvGrpSpPr>
            <a:grpSpLocks/>
          </p:cNvGrpSpPr>
          <p:nvPr/>
        </p:nvGrpSpPr>
        <p:grpSpPr bwMode="auto">
          <a:xfrm>
            <a:off x="952500" y="3835400"/>
            <a:ext cx="2895600" cy="2362200"/>
            <a:chOff x="600" y="2009"/>
            <a:chExt cx="1824" cy="1488"/>
          </a:xfrm>
        </p:grpSpPr>
        <p:sp>
          <p:nvSpPr>
            <p:cNvPr id="24" name="Rectangle 6"/>
            <p:cNvSpPr>
              <a:spLocks noChangeArrowheads="1"/>
            </p:cNvSpPr>
            <p:nvPr/>
          </p:nvSpPr>
          <p:spPr bwMode="ltGray">
            <a:xfrm>
              <a:off x="976" y="2009"/>
              <a:ext cx="1448" cy="17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7"/>
            <p:cNvSpPr>
              <a:spLocks noChangeArrowheads="1"/>
            </p:cNvSpPr>
            <p:nvPr/>
          </p:nvSpPr>
          <p:spPr bwMode="ltGray">
            <a:xfrm>
              <a:off x="600" y="2953"/>
              <a:ext cx="848" cy="17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ltGray">
            <a:xfrm>
              <a:off x="600" y="3134"/>
              <a:ext cx="848" cy="179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Rectangle 9"/>
            <p:cNvSpPr>
              <a:spLocks noChangeArrowheads="1"/>
            </p:cNvSpPr>
            <p:nvPr/>
          </p:nvSpPr>
          <p:spPr bwMode="ltGray">
            <a:xfrm>
              <a:off x="600" y="3318"/>
              <a:ext cx="848" cy="179"/>
            </a:xfrm>
            <a:prstGeom prst="rect">
              <a:avLst/>
            </a:prstGeom>
            <a:solidFill>
              <a:srgbClr val="3399FF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" name="Rectangle 11"/>
          <p:cNvSpPr>
            <a:spLocks noChangeArrowheads="1"/>
          </p:cNvSpPr>
          <p:nvPr/>
        </p:nvSpPr>
        <p:spPr bwMode="blackWhite">
          <a:xfrm>
            <a:off x="863600" y="3246437"/>
            <a:ext cx="7315200" cy="94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SQL&gt; SELECT   AVG(sal)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2  FROM     emp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3  GROUP BY deptno;</a:t>
            </a:r>
          </a:p>
        </p:txBody>
      </p:sp>
      <p:sp>
        <p:nvSpPr>
          <p:cNvPr id="29" name="Rectangle 12"/>
          <p:cNvSpPr>
            <a:spLocks noChangeArrowheads="1"/>
          </p:cNvSpPr>
          <p:nvPr/>
        </p:nvSpPr>
        <p:spPr bwMode="blackWhite">
          <a:xfrm>
            <a:off x="877888" y="4752975"/>
            <a:ext cx="7315200" cy="1490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AVG(SAL)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2916.6667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2175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1566.6667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Grouping by More Than One Column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blackWhite">
          <a:xfrm>
            <a:off x="5452128" y="2951162"/>
            <a:ext cx="3263900" cy="3089275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000000"/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blackWhite">
          <a:xfrm>
            <a:off x="464203" y="2314575"/>
            <a:ext cx="3241675" cy="4327525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000000"/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370541" y="1947862"/>
            <a:ext cx="679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EMP</a:t>
            </a:r>
          </a:p>
        </p:txBody>
      </p:sp>
      <p:sp>
        <p:nvSpPr>
          <p:cNvPr id="17" name="Freeform 6"/>
          <p:cNvSpPr>
            <a:spLocks/>
          </p:cNvSpPr>
          <p:nvPr/>
        </p:nvSpPr>
        <p:spPr bwMode="auto">
          <a:xfrm>
            <a:off x="3710641" y="2327275"/>
            <a:ext cx="1730375" cy="4321175"/>
          </a:xfrm>
          <a:custGeom>
            <a:avLst/>
            <a:gdLst>
              <a:gd name="T0" fmla="*/ 0 w 1090"/>
              <a:gd name="T1" fmla="*/ 4319588 h 2722"/>
              <a:gd name="T2" fmla="*/ 0 w 1090"/>
              <a:gd name="T3" fmla="*/ 0 h 2722"/>
              <a:gd name="T4" fmla="*/ 1728788 w 1090"/>
              <a:gd name="T5" fmla="*/ 636587 h 2722"/>
              <a:gd name="T6" fmla="*/ 1728788 w 1090"/>
              <a:gd name="T7" fmla="*/ 3708400 h 2722"/>
              <a:gd name="T8" fmla="*/ 0 w 1090"/>
              <a:gd name="T9" fmla="*/ 4319588 h 27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90"/>
              <a:gd name="T16" fmla="*/ 0 h 2722"/>
              <a:gd name="T17" fmla="*/ 1090 w 1090"/>
              <a:gd name="T18" fmla="*/ 2722 h 27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90" h="2722">
                <a:moveTo>
                  <a:pt x="0" y="2721"/>
                </a:moveTo>
                <a:lnTo>
                  <a:pt x="0" y="0"/>
                </a:lnTo>
                <a:lnTo>
                  <a:pt x="1089" y="401"/>
                </a:lnTo>
                <a:lnTo>
                  <a:pt x="1089" y="2336"/>
                </a:lnTo>
                <a:lnTo>
                  <a:pt x="0" y="2721"/>
                </a:lnTo>
              </a:path>
            </a:pathLst>
          </a:custGeom>
          <a:solidFill>
            <a:srgbClr val="FFCC99">
              <a:alpha val="50195"/>
            </a:srgbClr>
          </a:soli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3704291" y="3690937"/>
            <a:ext cx="1811337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“sum salaries in </a:t>
            </a:r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the EMP table</a:t>
            </a:r>
            <a:br>
              <a:rPr lang="en-US" sz="16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</a:br>
            <a:r>
              <a:rPr lang="en-US" sz="16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for each job, </a:t>
            </a:r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grouped by </a:t>
            </a:r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6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department”</a:t>
            </a:r>
          </a:p>
        </p:txBody>
      </p:sp>
      <p:grpSp>
        <p:nvGrpSpPr>
          <p:cNvPr id="19" name="Group 10"/>
          <p:cNvGrpSpPr>
            <a:grpSpLocks/>
          </p:cNvGrpSpPr>
          <p:nvPr/>
        </p:nvGrpSpPr>
        <p:grpSpPr bwMode="auto">
          <a:xfrm>
            <a:off x="522941" y="2886075"/>
            <a:ext cx="8140700" cy="1411287"/>
            <a:chOff x="335" y="1487"/>
            <a:chExt cx="5128" cy="889"/>
          </a:xfrm>
        </p:grpSpPr>
        <p:sp>
          <p:nvSpPr>
            <p:cNvPr id="23" name="Rectangle 8"/>
            <p:cNvSpPr>
              <a:spLocks noChangeArrowheads="1"/>
            </p:cNvSpPr>
            <p:nvPr/>
          </p:nvSpPr>
          <p:spPr bwMode="ltGray">
            <a:xfrm>
              <a:off x="335" y="1487"/>
              <a:ext cx="1965" cy="48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9"/>
            <p:cNvSpPr>
              <a:spLocks noChangeArrowheads="1"/>
            </p:cNvSpPr>
            <p:nvPr/>
          </p:nvSpPr>
          <p:spPr bwMode="ltGray">
            <a:xfrm>
              <a:off x="3531" y="1896"/>
              <a:ext cx="1932" cy="480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1" name="Group 13"/>
          <p:cNvGrpSpPr>
            <a:grpSpLocks/>
          </p:cNvGrpSpPr>
          <p:nvPr/>
        </p:nvGrpSpPr>
        <p:grpSpPr bwMode="auto">
          <a:xfrm>
            <a:off x="522941" y="3668712"/>
            <a:ext cx="8140700" cy="1462088"/>
            <a:chOff x="335" y="1980"/>
            <a:chExt cx="5128" cy="921"/>
          </a:xfrm>
        </p:grpSpPr>
        <p:sp>
          <p:nvSpPr>
            <p:cNvPr id="32" name="Rectangle 11"/>
            <p:cNvSpPr>
              <a:spLocks noChangeArrowheads="1"/>
            </p:cNvSpPr>
            <p:nvPr/>
          </p:nvSpPr>
          <p:spPr bwMode="ltGray">
            <a:xfrm>
              <a:off x="3531" y="2380"/>
              <a:ext cx="1932" cy="521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ltGray">
            <a:xfrm>
              <a:off x="335" y="1980"/>
              <a:ext cx="1965" cy="852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4" name="Group 16"/>
          <p:cNvGrpSpPr>
            <a:grpSpLocks/>
          </p:cNvGrpSpPr>
          <p:nvPr/>
        </p:nvGrpSpPr>
        <p:grpSpPr bwMode="auto">
          <a:xfrm>
            <a:off x="526116" y="5027612"/>
            <a:ext cx="8137525" cy="1550988"/>
            <a:chOff x="337" y="2836"/>
            <a:chExt cx="5126" cy="977"/>
          </a:xfrm>
        </p:grpSpPr>
        <p:sp>
          <p:nvSpPr>
            <p:cNvPr id="35" name="Rectangle 14"/>
            <p:cNvSpPr>
              <a:spLocks noChangeArrowheads="1"/>
            </p:cNvSpPr>
            <p:nvPr/>
          </p:nvSpPr>
          <p:spPr bwMode="ltGray">
            <a:xfrm>
              <a:off x="3531" y="2905"/>
              <a:ext cx="1932" cy="488"/>
            </a:xfrm>
            <a:prstGeom prst="rect">
              <a:avLst/>
            </a:prstGeom>
            <a:solidFill>
              <a:srgbClr val="3399FF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Rectangle 15"/>
            <p:cNvSpPr>
              <a:spLocks noChangeArrowheads="1"/>
            </p:cNvSpPr>
            <p:nvPr/>
          </p:nvSpPr>
          <p:spPr bwMode="ltGray">
            <a:xfrm>
              <a:off x="337" y="2836"/>
              <a:ext cx="1965" cy="977"/>
            </a:xfrm>
            <a:prstGeom prst="rect">
              <a:avLst/>
            </a:prstGeom>
            <a:solidFill>
              <a:srgbClr val="3399FF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" name="Rectangle 17"/>
          <p:cNvSpPr>
            <a:spLocks noChangeArrowheads="1"/>
          </p:cNvSpPr>
          <p:nvPr/>
        </p:nvSpPr>
        <p:spPr bwMode="auto">
          <a:xfrm>
            <a:off x="421341" y="2300287"/>
            <a:ext cx="3278187" cy="435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DEPTNO JOB             SAL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--------- --------- ---------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10 MANAGER        2450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10 PRESIDENT      5000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10 CLERK          1300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20 CLERK           800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20 CLERK          1100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20 ANALYST        3000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20 ANALYST        3000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20 MANAGER        2975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30 SALESMAN       1600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30 MANAGER        2850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30 SALESMAN       1250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30 CLERK           950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30 SALESMAN       1500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 dirty="0">
                <a:solidFill>
                  <a:srgbClr val="000000"/>
                </a:solidFill>
                <a:latin typeface="Courier New" pitchFamily="49" charset="0"/>
              </a:rPr>
              <a:t>       30 SALESMAN       1250</a:t>
            </a:r>
          </a:p>
        </p:txBody>
      </p:sp>
      <p:sp>
        <p:nvSpPr>
          <p:cNvPr id="38" name="Rectangle 18"/>
          <p:cNvSpPr>
            <a:spLocks noChangeArrowheads="1"/>
          </p:cNvSpPr>
          <p:nvPr/>
        </p:nvSpPr>
        <p:spPr bwMode="auto">
          <a:xfrm>
            <a:off x="6496703" y="2947987"/>
            <a:ext cx="2211388" cy="302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JOB        SUM(SAL)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--------- ---------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CLERK          1300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MANAGER        2450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PRESIDENT      5000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ANALYST        6000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CLERK          1900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MANAGER        2975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CLERK           950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MANAGER        2850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SALESMAN       5600</a:t>
            </a:r>
          </a:p>
        </p:txBody>
      </p:sp>
      <p:sp>
        <p:nvSpPr>
          <p:cNvPr id="39" name="Rectangle 19"/>
          <p:cNvSpPr>
            <a:spLocks noChangeArrowheads="1"/>
          </p:cNvSpPr>
          <p:nvPr/>
        </p:nvSpPr>
        <p:spPr bwMode="auto">
          <a:xfrm>
            <a:off x="5463241" y="2947987"/>
            <a:ext cx="1038225" cy="302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r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DEPTNO</a:t>
            </a:r>
          </a:p>
          <a:p>
            <a:pPr algn="r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--------</a:t>
            </a:r>
          </a:p>
          <a:p>
            <a:pPr algn="r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10</a:t>
            </a:r>
          </a:p>
          <a:p>
            <a:pPr algn="r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10</a:t>
            </a:r>
          </a:p>
          <a:p>
            <a:pPr algn="r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10</a:t>
            </a:r>
          </a:p>
          <a:p>
            <a:pPr algn="r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20</a:t>
            </a:r>
          </a:p>
          <a:p>
            <a:pPr algn="r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20</a:t>
            </a:r>
          </a:p>
          <a:p>
            <a:pPr algn="r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20</a:t>
            </a:r>
          </a:p>
          <a:p>
            <a:pPr algn="r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30</a:t>
            </a:r>
          </a:p>
          <a:p>
            <a:pPr algn="r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30</a:t>
            </a:r>
          </a:p>
          <a:p>
            <a:pPr algn="r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Using the GROUP BY Clause on Multiple Columns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blackWhite">
          <a:xfrm>
            <a:off x="476205" y="2088356"/>
            <a:ext cx="7289800" cy="91598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22" name="Rectangle 3"/>
          <p:cNvSpPr>
            <a:spLocks noChangeArrowheads="1"/>
          </p:cNvSpPr>
          <p:nvPr/>
        </p:nvSpPr>
        <p:spPr bwMode="blackWhite">
          <a:xfrm>
            <a:off x="477793" y="3602831"/>
            <a:ext cx="7326312" cy="2566988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24" name="Group 7"/>
          <p:cNvGrpSpPr>
            <a:grpSpLocks/>
          </p:cNvGrpSpPr>
          <p:nvPr/>
        </p:nvGrpSpPr>
        <p:grpSpPr bwMode="auto">
          <a:xfrm>
            <a:off x="544468" y="2643981"/>
            <a:ext cx="3484562" cy="3198813"/>
            <a:chOff x="619" y="1604"/>
            <a:chExt cx="2195" cy="2015"/>
          </a:xfrm>
        </p:grpSpPr>
        <p:sp>
          <p:nvSpPr>
            <p:cNvPr id="25" name="Rectangle 5"/>
            <p:cNvSpPr>
              <a:spLocks noChangeArrowheads="1"/>
            </p:cNvSpPr>
            <p:nvPr/>
          </p:nvSpPr>
          <p:spPr bwMode="ltGray">
            <a:xfrm>
              <a:off x="1024" y="1604"/>
              <a:ext cx="1790" cy="17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Rectangle 6"/>
            <p:cNvSpPr>
              <a:spLocks noChangeArrowheads="1"/>
            </p:cNvSpPr>
            <p:nvPr/>
          </p:nvSpPr>
          <p:spPr bwMode="ltGray">
            <a:xfrm>
              <a:off x="619" y="2233"/>
              <a:ext cx="1701" cy="1386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" name="Rectangle 8"/>
          <p:cNvSpPr>
            <a:spLocks noChangeArrowheads="1"/>
          </p:cNvSpPr>
          <p:nvPr/>
        </p:nvSpPr>
        <p:spPr bwMode="blackWhite">
          <a:xfrm>
            <a:off x="476205" y="2075656"/>
            <a:ext cx="7315200" cy="94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job, sum(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  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GROUP BY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job;</a:t>
            </a:r>
          </a:p>
        </p:txBody>
      </p:sp>
      <p:sp>
        <p:nvSpPr>
          <p:cNvPr id="28" name="Rectangle 9"/>
          <p:cNvSpPr>
            <a:spLocks noChangeArrowheads="1"/>
          </p:cNvSpPr>
          <p:nvPr/>
        </p:nvSpPr>
        <p:spPr bwMode="blackWhite">
          <a:xfrm>
            <a:off x="477793" y="3590131"/>
            <a:ext cx="7351712" cy="25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DEPTNO JOB        SUM(SAL)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 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10 CLERK          1300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10 MANAGER        2450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10 PRESIDENT      5000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20 ANALYST        6000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20 CLERK          1900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...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9 rows selected.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Illegal Queries Using Group Functions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476205" y="2189414"/>
            <a:ext cx="7712075" cy="1311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Any column or expression in the SELECT list that is not an aggregate function must be in the GROUP BY clause.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blackWhite">
          <a:xfrm>
            <a:off x="625430" y="3816601"/>
            <a:ext cx="7137400" cy="80327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COUNT(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	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blackWhite">
          <a:xfrm>
            <a:off x="644480" y="4892926"/>
            <a:ext cx="7137400" cy="1346200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SELECT deptno, COUNT(ename)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*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ERROR at line 1: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ORA-00937: not a single-group group function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 rot="21180000">
            <a:off x="950867" y="4305551"/>
            <a:ext cx="6615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000000"/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Column missing in the GROUP BY clause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Illegal Queries Using Group Functions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421341" y="2394891"/>
            <a:ext cx="8628063" cy="1460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33"/>
              </a:buClr>
              <a:buSzPct val="100000"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cannot use the WHERE clause to restrict groups.</a:t>
            </a:r>
          </a:p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6633"/>
              </a:buClr>
              <a:buSzPct val="100000"/>
              <a:buFont typeface="Arial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use the HAVING clause to restrict groups.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blackWhite">
          <a:xfrm>
            <a:off x="902354" y="3982391"/>
            <a:ext cx="7385050" cy="127000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	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AVG(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	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WHERE	 </a:t>
            </a:r>
            <a:r>
              <a:rPr lang="en-US" dirty="0">
                <a:solidFill>
                  <a:srgbClr val="000000"/>
                </a:solidFill>
                <a:latin typeface="Courier New" pitchFamily="49" charset="0"/>
              </a:rPr>
              <a:t>AVG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 &gt; 2000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4  GROUP BY	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blackWhite">
          <a:xfrm>
            <a:off x="940454" y="5449241"/>
            <a:ext cx="7385050" cy="1274763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WHERE AVG(sal) &gt; 2000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*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ERROR at line 3: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ORA-00934: group function is not allowed here</a:t>
            </a: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 rot="19980000">
            <a:off x="2845454" y="4899966"/>
            <a:ext cx="52006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3882" dir="2700000" algn="ctr" rotWithShape="0">
              <a:srgbClr val="000000"/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Cannot use the WHERE clause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            to restrict groups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Excluding Group Results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blackWhite">
          <a:xfrm>
            <a:off x="6276975" y="3983971"/>
            <a:ext cx="2209800" cy="1108075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000000"/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blackWhite">
          <a:xfrm>
            <a:off x="993775" y="2383771"/>
            <a:ext cx="2273300" cy="4327525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000000"/>
            </a:outerShdw>
          </a:effectLst>
        </p:spPr>
        <p:txBody>
          <a:bodyPr lIns="92075" tIns="46038" rIns="92075" bIns="46038"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90000"/>
              </a:lnSpc>
              <a:spcBef>
                <a:spcPct val="0"/>
              </a:spcBef>
              <a:tabLst>
                <a:tab pos="914400" algn="l"/>
                <a:tab pos="1885950" algn="l"/>
                <a:tab pos="2457450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0" name="Freeform 4"/>
          <p:cNvSpPr>
            <a:spLocks/>
          </p:cNvSpPr>
          <p:nvPr/>
        </p:nvSpPr>
        <p:spPr bwMode="auto">
          <a:xfrm>
            <a:off x="3271838" y="2382184"/>
            <a:ext cx="3044825" cy="4321175"/>
          </a:xfrm>
          <a:custGeom>
            <a:avLst/>
            <a:gdLst>
              <a:gd name="T0" fmla="*/ 0 w 1918"/>
              <a:gd name="T1" fmla="*/ 4319588 h 2722"/>
              <a:gd name="T2" fmla="*/ 0 w 1918"/>
              <a:gd name="T3" fmla="*/ 0 h 2722"/>
              <a:gd name="T4" fmla="*/ 3043238 w 1918"/>
              <a:gd name="T5" fmla="*/ 1612900 h 2722"/>
              <a:gd name="T6" fmla="*/ 3043238 w 1918"/>
              <a:gd name="T7" fmla="*/ 2706687 h 2722"/>
              <a:gd name="T8" fmla="*/ 0 w 1918"/>
              <a:gd name="T9" fmla="*/ 4319588 h 27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18"/>
              <a:gd name="T16" fmla="*/ 0 h 2722"/>
              <a:gd name="T17" fmla="*/ 1918 w 1918"/>
              <a:gd name="T18" fmla="*/ 2722 h 272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18" h="2722">
                <a:moveTo>
                  <a:pt x="0" y="2721"/>
                </a:moveTo>
                <a:lnTo>
                  <a:pt x="0" y="0"/>
                </a:lnTo>
                <a:lnTo>
                  <a:pt x="1917" y="1016"/>
                </a:lnTo>
                <a:lnTo>
                  <a:pt x="1917" y="1705"/>
                </a:lnTo>
                <a:lnTo>
                  <a:pt x="0" y="2721"/>
                </a:lnTo>
              </a:path>
            </a:pathLst>
          </a:custGeom>
          <a:solidFill>
            <a:srgbClr val="FFCC99">
              <a:alpha val="50195"/>
            </a:srgbClr>
          </a:solidFill>
          <a:ln w="9525" cap="rnd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262438" y="3891896"/>
            <a:ext cx="1847850" cy="1465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“maximum</a:t>
            </a:r>
            <a:br>
              <a:rPr lang="en-US" sz="18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</a:br>
            <a:r>
              <a:rPr lang="en-US" sz="18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salary</a:t>
            </a:r>
            <a:br>
              <a:rPr lang="en-US" sz="18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</a:br>
            <a:r>
              <a:rPr lang="en-US" sz="18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per department</a:t>
            </a:r>
          </a:p>
          <a:p>
            <a:pPr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greater than</a:t>
            </a:r>
            <a:br>
              <a:rPr lang="en-US" sz="18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</a:br>
            <a:r>
              <a:rPr lang="en-US" sz="18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$2900”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915988" y="2017059"/>
            <a:ext cx="679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1800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EMP</a:t>
            </a:r>
          </a:p>
        </p:txBody>
      </p: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062038" y="2966384"/>
            <a:ext cx="7348537" cy="1843087"/>
            <a:chOff x="547" y="1391"/>
            <a:chExt cx="4629" cy="1161"/>
          </a:xfrm>
        </p:grpSpPr>
        <p:grpSp>
          <p:nvGrpSpPr>
            <p:cNvPr id="14" name="Group 10"/>
            <p:cNvGrpSpPr>
              <a:grpSpLocks/>
            </p:cNvGrpSpPr>
            <p:nvPr/>
          </p:nvGrpSpPr>
          <p:grpSpPr bwMode="auto">
            <a:xfrm>
              <a:off x="547" y="1391"/>
              <a:ext cx="4629" cy="1161"/>
              <a:chOff x="547" y="1391"/>
              <a:chExt cx="4629" cy="1161"/>
            </a:xfrm>
          </p:grpSpPr>
          <p:sp>
            <p:nvSpPr>
              <p:cNvPr id="20" name="Rectangle 8"/>
              <p:cNvSpPr>
                <a:spLocks noChangeArrowheads="1"/>
              </p:cNvSpPr>
              <p:nvPr/>
            </p:nvSpPr>
            <p:spPr bwMode="ltGray">
              <a:xfrm>
                <a:off x="547" y="1391"/>
                <a:ext cx="1333" cy="489"/>
              </a:xfrm>
              <a:prstGeom prst="rect">
                <a:avLst/>
              </a:prstGeom>
              <a:solidFill>
                <a:srgbClr val="FF505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Rectangle 9"/>
              <p:cNvSpPr>
                <a:spLocks noChangeArrowheads="1"/>
              </p:cNvSpPr>
              <p:nvPr/>
            </p:nvSpPr>
            <p:spPr bwMode="ltGray">
              <a:xfrm>
                <a:off x="3873" y="2382"/>
                <a:ext cx="1303" cy="170"/>
              </a:xfrm>
              <a:prstGeom prst="rect">
                <a:avLst/>
              </a:prstGeom>
              <a:solidFill>
                <a:srgbClr val="FF505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2026" y="1493"/>
              <a:ext cx="462" cy="2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>
                <a:lnSpc>
                  <a:spcPct val="125000"/>
                </a:lnSpc>
                <a:spcBef>
                  <a:spcPct val="0"/>
                </a:spcBef>
                <a:defRPr/>
              </a:pPr>
              <a:r>
                <a:rPr lang="en-US" sz="1800">
                  <a:solidFill>
                    <a:srgbClr val="FF66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urier New" pitchFamily="49" charset="0"/>
                </a:rPr>
                <a:t>5000</a:t>
              </a:r>
            </a:p>
          </p:txBody>
        </p:sp>
      </p:grpSp>
      <p:grpSp>
        <p:nvGrpSpPr>
          <p:cNvPr id="22" name="Group 17"/>
          <p:cNvGrpSpPr>
            <a:grpSpLocks/>
          </p:cNvGrpSpPr>
          <p:nvPr/>
        </p:nvGrpSpPr>
        <p:grpSpPr bwMode="auto">
          <a:xfrm>
            <a:off x="1062038" y="3749021"/>
            <a:ext cx="7348537" cy="1352550"/>
            <a:chOff x="547" y="1884"/>
            <a:chExt cx="4629" cy="852"/>
          </a:xfrm>
        </p:grpSpPr>
        <p:sp>
          <p:nvSpPr>
            <p:cNvPr id="23" name="Rectangle 13"/>
            <p:cNvSpPr>
              <a:spLocks noChangeArrowheads="1"/>
            </p:cNvSpPr>
            <p:nvPr/>
          </p:nvSpPr>
          <p:spPr bwMode="auto">
            <a:xfrm>
              <a:off x="2026" y="2205"/>
              <a:ext cx="462" cy="2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>
                <a:lnSpc>
                  <a:spcPct val="125000"/>
                </a:lnSpc>
                <a:spcBef>
                  <a:spcPct val="0"/>
                </a:spcBef>
                <a:defRPr/>
              </a:pPr>
              <a:r>
                <a:rPr lang="en-US" sz="1800">
                  <a:solidFill>
                    <a:srgbClr val="3399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urier New" pitchFamily="49" charset="0"/>
                </a:rPr>
                <a:t>3000</a:t>
              </a:r>
            </a:p>
          </p:txBody>
        </p:sp>
        <p:grpSp>
          <p:nvGrpSpPr>
            <p:cNvPr id="24" name="Group 16"/>
            <p:cNvGrpSpPr>
              <a:grpSpLocks/>
            </p:cNvGrpSpPr>
            <p:nvPr/>
          </p:nvGrpSpPr>
          <p:grpSpPr bwMode="auto">
            <a:xfrm>
              <a:off x="547" y="1884"/>
              <a:ext cx="4629" cy="852"/>
              <a:chOff x="547" y="1884"/>
              <a:chExt cx="4629" cy="852"/>
            </a:xfrm>
          </p:grpSpPr>
          <p:sp>
            <p:nvSpPr>
              <p:cNvPr id="25" name="Rectangle 14"/>
              <p:cNvSpPr>
                <a:spLocks noChangeArrowheads="1"/>
              </p:cNvSpPr>
              <p:nvPr/>
            </p:nvSpPr>
            <p:spPr bwMode="ltGray">
              <a:xfrm>
                <a:off x="3872" y="2555"/>
                <a:ext cx="1304" cy="160"/>
              </a:xfrm>
              <a:prstGeom prst="rect">
                <a:avLst/>
              </a:prstGeom>
              <a:solidFill>
                <a:srgbClr val="0099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Rectangle 15"/>
              <p:cNvSpPr>
                <a:spLocks noChangeArrowheads="1"/>
              </p:cNvSpPr>
              <p:nvPr/>
            </p:nvSpPr>
            <p:spPr bwMode="ltGray">
              <a:xfrm>
                <a:off x="547" y="1884"/>
                <a:ext cx="1333" cy="852"/>
              </a:xfrm>
              <a:prstGeom prst="rect">
                <a:avLst/>
              </a:prstGeom>
              <a:solidFill>
                <a:srgbClr val="009900">
                  <a:alpha val="50195"/>
                </a:srgbClr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7" name="Group 20"/>
          <p:cNvGrpSpPr>
            <a:grpSpLocks/>
          </p:cNvGrpSpPr>
          <p:nvPr/>
        </p:nvGrpSpPr>
        <p:grpSpPr bwMode="auto">
          <a:xfrm>
            <a:off x="1065213" y="5107921"/>
            <a:ext cx="3078162" cy="1550988"/>
            <a:chOff x="549" y="2740"/>
            <a:chExt cx="1939" cy="977"/>
          </a:xfrm>
        </p:grpSpPr>
        <p:sp>
          <p:nvSpPr>
            <p:cNvPr id="28" name="Rectangle 18"/>
            <p:cNvSpPr>
              <a:spLocks noChangeArrowheads="1"/>
            </p:cNvSpPr>
            <p:nvPr/>
          </p:nvSpPr>
          <p:spPr bwMode="ltGray">
            <a:xfrm>
              <a:off x="549" y="2740"/>
              <a:ext cx="1333" cy="977"/>
            </a:xfrm>
            <a:prstGeom prst="rect">
              <a:avLst/>
            </a:prstGeom>
            <a:solidFill>
              <a:srgbClr val="3399FF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Rectangle 19"/>
            <p:cNvSpPr>
              <a:spLocks noChangeArrowheads="1"/>
            </p:cNvSpPr>
            <p:nvPr/>
          </p:nvSpPr>
          <p:spPr bwMode="auto">
            <a:xfrm>
              <a:off x="2026" y="3085"/>
              <a:ext cx="462" cy="2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algn="l">
                <a:lnSpc>
                  <a:spcPct val="125000"/>
                </a:lnSpc>
                <a:spcBef>
                  <a:spcPct val="0"/>
                </a:spcBef>
                <a:defRPr/>
              </a:pPr>
              <a:r>
                <a:rPr lang="en-US" sz="1800">
                  <a:solidFill>
                    <a:srgbClr val="66CC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Courier New" pitchFamily="49" charset="0"/>
                </a:rPr>
                <a:t>2850</a:t>
              </a:r>
            </a:p>
          </p:txBody>
        </p:sp>
      </p:grpSp>
      <p:sp>
        <p:nvSpPr>
          <p:cNvPr id="30" name="Rectangle 21"/>
          <p:cNvSpPr>
            <a:spLocks noChangeArrowheads="1"/>
          </p:cNvSpPr>
          <p:nvPr/>
        </p:nvSpPr>
        <p:spPr bwMode="auto">
          <a:xfrm>
            <a:off x="1014413" y="2369484"/>
            <a:ext cx="2211387" cy="435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DEPTNO       SAL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--------- ---------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 10      2450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 10      5000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 10      1300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 20       800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 20      1100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 20      3000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 20      3000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 20      2975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 30      1600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 30      2850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 30      1250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 30       950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 30      1500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 30      1250</a:t>
            </a:r>
          </a:p>
        </p:txBody>
      </p:sp>
      <p:sp>
        <p:nvSpPr>
          <p:cNvPr id="31" name="Rectangle 22"/>
          <p:cNvSpPr>
            <a:spLocks noChangeArrowheads="1"/>
          </p:cNvSpPr>
          <p:nvPr/>
        </p:nvSpPr>
        <p:spPr bwMode="auto">
          <a:xfrm>
            <a:off x="6267450" y="3955396"/>
            <a:ext cx="2211388" cy="115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DEPTNO  MAX(SAL)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--------- ---------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 10      5000</a:t>
            </a:r>
          </a:p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Courier New" pitchFamily="49" charset="0"/>
              </a:rPr>
              <a:t>       20      3000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Excluding Group Results: HAVING Clause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Rectangle 2"/>
          <p:cNvSpPr>
            <a:spLocks noChangeArrowheads="1"/>
          </p:cNvSpPr>
          <p:nvPr/>
        </p:nvSpPr>
        <p:spPr bwMode="blackWhite">
          <a:xfrm>
            <a:off x="968375" y="4671359"/>
            <a:ext cx="7213600" cy="173990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27" name="Rectangle 4"/>
          <p:cNvSpPr txBox="1">
            <a:spLocks noChangeArrowheads="1"/>
          </p:cNvSpPr>
          <p:nvPr/>
        </p:nvSpPr>
        <p:spPr>
          <a:xfrm>
            <a:off x="911225" y="2017059"/>
            <a:ext cx="7699375" cy="1935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 the HAVING clause to restrict groups</a:t>
            </a:r>
          </a:p>
          <a:p>
            <a:pPr marL="914400" marR="0" lvl="2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Rows are grouped.</a:t>
            </a:r>
          </a:p>
          <a:p>
            <a:pPr marL="914400" marR="0" lvl="2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The group function is applied.</a:t>
            </a:r>
          </a:p>
          <a:p>
            <a:pPr marL="914400" marR="0" lvl="2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Groups matching the HAVING clause are displayed.</a:t>
            </a:r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ltGray">
          <a:xfrm>
            <a:off x="1046163" y="5812771"/>
            <a:ext cx="4059237" cy="304800"/>
          </a:xfrm>
          <a:prstGeom prst="rect">
            <a:avLst/>
          </a:prstGeom>
          <a:solidFill>
            <a:srgbClr val="FF5050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Rectangle 6"/>
          <p:cNvSpPr>
            <a:spLocks noChangeArrowheads="1"/>
          </p:cNvSpPr>
          <p:nvPr/>
        </p:nvSpPr>
        <p:spPr bwMode="blackWhite">
          <a:xfrm>
            <a:off x="955675" y="4658659"/>
            <a:ext cx="7239000" cy="176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SELECT	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column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1800" i="1" dirty="0" err="1">
                <a:solidFill>
                  <a:srgbClr val="000000"/>
                </a:solidFill>
                <a:latin typeface="Courier New" pitchFamily="49" charset="0"/>
              </a:rPr>
              <a:t>group_function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FROM		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table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[WHERE	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condition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]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[GROUP BY	</a:t>
            </a:r>
            <a:r>
              <a:rPr lang="en-US" sz="1800" i="1" dirty="0" err="1">
                <a:solidFill>
                  <a:srgbClr val="000000"/>
                </a:solidFill>
                <a:latin typeface="Courier New" pitchFamily="49" charset="0"/>
              </a:rPr>
              <a:t>group_by_expression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]</a:t>
            </a:r>
            <a:endParaRPr lang="en-US" sz="1800" i="1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[HAVING	</a:t>
            </a:r>
            <a:r>
              <a:rPr lang="en-US" sz="1800" i="1" dirty="0" err="1">
                <a:solidFill>
                  <a:srgbClr val="000000"/>
                </a:solidFill>
                <a:latin typeface="Courier New" pitchFamily="49" charset="0"/>
              </a:rPr>
              <a:t>group_condition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]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[ORDER BY	</a:t>
            </a:r>
            <a:r>
              <a:rPr lang="en-US" sz="1800" i="1" dirty="0">
                <a:solidFill>
                  <a:srgbClr val="000000"/>
                </a:solidFill>
                <a:latin typeface="Courier New" pitchFamily="49" charset="0"/>
              </a:rPr>
              <a:t>column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];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Using the HAVING Clause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blackWhite">
          <a:xfrm>
            <a:off x="434041" y="2655888"/>
            <a:ext cx="7289800" cy="11906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blackWhite">
          <a:xfrm>
            <a:off x="461029" y="4491038"/>
            <a:ext cx="7289800" cy="1190625"/>
          </a:xfrm>
          <a:prstGeom prst="rect">
            <a:avLst/>
          </a:prstGeom>
          <a:solidFill>
            <a:srgbClr val="EAEAEA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1150004" y="3482976"/>
            <a:ext cx="3259137" cy="2135187"/>
            <a:chOff x="1035" y="1759"/>
            <a:chExt cx="2053" cy="1345"/>
          </a:xfrm>
        </p:grpSpPr>
        <p:sp>
          <p:nvSpPr>
            <p:cNvPr id="11" name="Rectangle 5"/>
            <p:cNvSpPr>
              <a:spLocks noChangeArrowheads="1"/>
            </p:cNvSpPr>
            <p:nvPr/>
          </p:nvSpPr>
          <p:spPr bwMode="ltGray">
            <a:xfrm>
              <a:off x="1035" y="1759"/>
              <a:ext cx="2053" cy="192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ltGray">
            <a:xfrm>
              <a:off x="1539" y="2431"/>
              <a:ext cx="797" cy="673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3" name="Rectangle 8"/>
          <p:cNvSpPr>
            <a:spLocks noChangeArrowheads="1"/>
          </p:cNvSpPr>
          <p:nvPr/>
        </p:nvSpPr>
        <p:spPr bwMode="blackWhite">
          <a:xfrm>
            <a:off x="421341" y="2643188"/>
            <a:ext cx="73152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, max(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  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GROUP BY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4  HAVING   max(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)&gt;2900;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blackWhite">
          <a:xfrm>
            <a:off x="448329" y="4478338"/>
            <a:ext cx="73152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DEPTNO  MAX(SAL)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10      5000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   20      3000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Using the HAVING Clause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blackWhite">
          <a:xfrm>
            <a:off x="676275" y="2168525"/>
            <a:ext cx="7518400" cy="195580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blackWhite">
          <a:xfrm>
            <a:off x="739775" y="2527300"/>
            <a:ext cx="73152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    job, SUM(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 PAYROLL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   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WHERE	  job NOT LIKE 'SALES%'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4  GROUP BY  job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5  HAVING    SUM(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)&gt;5000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6  ORDER BY  SUM(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);</a:t>
            </a: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blackWhite">
          <a:xfrm>
            <a:off x="684213" y="4413250"/>
            <a:ext cx="7515225" cy="1190625"/>
          </a:xfrm>
          <a:prstGeom prst="rect">
            <a:avLst/>
          </a:prstGeom>
          <a:solidFill>
            <a:srgbClr val="EAEAEA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blackWhite">
          <a:xfrm>
            <a:off x="671513" y="4400550"/>
            <a:ext cx="73152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JOB         PAYROLL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 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ANALYST        6000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MANAGER        8275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Nesting Group Functions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blackWhite">
          <a:xfrm>
            <a:off x="573088" y="3436937"/>
            <a:ext cx="7289800" cy="92710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blackWhite">
          <a:xfrm>
            <a:off x="600076" y="4789487"/>
            <a:ext cx="7289800" cy="1003300"/>
          </a:xfrm>
          <a:prstGeom prst="rect">
            <a:avLst/>
          </a:prstGeom>
          <a:solidFill>
            <a:srgbClr val="EAEAEA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  <a:defRPr/>
            </a:pPr>
            <a:endParaRPr lang="en-US" sz="180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0" name="Rectangle 10"/>
          <p:cNvSpPr txBox="1">
            <a:spLocks noChangeArrowheads="1"/>
          </p:cNvSpPr>
          <p:nvPr/>
        </p:nvSpPr>
        <p:spPr>
          <a:xfrm>
            <a:off x="557213" y="2320925"/>
            <a:ext cx="7699375" cy="498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Display the maximum average salary. </a:t>
            </a:r>
          </a:p>
        </p:txBody>
      </p:sp>
      <p:grpSp>
        <p:nvGrpSpPr>
          <p:cNvPr id="11" name="Group 7"/>
          <p:cNvGrpSpPr>
            <a:grpSpLocks/>
          </p:cNvGrpSpPr>
          <p:nvPr/>
        </p:nvGrpSpPr>
        <p:grpSpPr bwMode="auto">
          <a:xfrm>
            <a:off x="622301" y="3473450"/>
            <a:ext cx="3767137" cy="2274887"/>
            <a:chOff x="615" y="1579"/>
            <a:chExt cx="2373" cy="1433"/>
          </a:xfrm>
        </p:grpSpPr>
        <p:sp>
          <p:nvSpPr>
            <p:cNvPr id="12" name="Rectangle 5"/>
            <p:cNvSpPr>
              <a:spLocks noChangeArrowheads="1"/>
            </p:cNvSpPr>
            <p:nvPr/>
          </p:nvSpPr>
          <p:spPr bwMode="ltGray">
            <a:xfrm>
              <a:off x="1803" y="1579"/>
              <a:ext cx="1185" cy="197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ltGray">
            <a:xfrm>
              <a:off x="615" y="2431"/>
              <a:ext cx="1173" cy="581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4" name="Rectangle 8"/>
          <p:cNvSpPr>
            <a:spLocks noChangeArrowheads="1"/>
          </p:cNvSpPr>
          <p:nvPr/>
        </p:nvSpPr>
        <p:spPr bwMode="blackWhite">
          <a:xfrm>
            <a:off x="598488" y="3300412"/>
            <a:ext cx="73152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SQL&gt; SELECT   max(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avg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sal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))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2  FROM    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emp</a:t>
            </a:r>
            <a:endParaRPr lang="en-US" sz="1800" dirty="0">
              <a:solidFill>
                <a:srgbClr val="00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  3  GROUP BY </a:t>
            </a:r>
            <a:r>
              <a:rPr lang="en-US" sz="1800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1800" dirty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</p:txBody>
      </p:sp>
      <p:sp>
        <p:nvSpPr>
          <p:cNvPr id="19" name="Rectangle 9"/>
          <p:cNvSpPr>
            <a:spLocks noChangeArrowheads="1"/>
          </p:cNvSpPr>
          <p:nvPr/>
        </p:nvSpPr>
        <p:spPr bwMode="blackWhite">
          <a:xfrm>
            <a:off x="587376" y="4678362"/>
            <a:ext cx="73152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MAX(AVG(SAL))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-------------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tabLst>
                <a:tab pos="682625" algn="l"/>
                <a:tab pos="1833563" algn="l"/>
              </a:tabLst>
            </a:pPr>
            <a:r>
              <a:rPr lang="en-US" sz="1800">
                <a:solidFill>
                  <a:srgbClr val="000000"/>
                </a:solidFill>
                <a:latin typeface="Courier New" pitchFamily="49" charset="0"/>
              </a:rPr>
              <a:t>    2916.6667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Order of Evaluation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76205" y="2228671"/>
            <a:ext cx="67357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Order of evaluation of the clauses:</a:t>
            </a:r>
          </a:p>
          <a:p>
            <a:pPr lvl="1"/>
            <a:r>
              <a:rPr lang="en-US" sz="3600" dirty="0"/>
              <a:t>WHERE clause</a:t>
            </a:r>
          </a:p>
          <a:p>
            <a:pPr lvl="1"/>
            <a:r>
              <a:rPr lang="en-US" sz="3600" dirty="0"/>
              <a:t>GROUP BY clause</a:t>
            </a:r>
          </a:p>
          <a:p>
            <a:pPr lvl="1"/>
            <a:r>
              <a:rPr lang="en-US" sz="3600" dirty="0"/>
              <a:t>HAVING clause 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ransition spd="slow">
    <p:wedg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407886"/>
            <a:ext cx="841662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dirty="0"/>
              <a:t>Modern Database Management (Sixth Edition) by Fred R. McFadden, Jeffrey A. </a:t>
            </a:r>
            <a:r>
              <a:rPr lang="en-US" dirty="0" err="1"/>
              <a:t>Hoffer</a:t>
            </a:r>
            <a:r>
              <a:rPr lang="en-US" dirty="0"/>
              <a:t>, Mary B. Prescott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Database System Concepts (Fifth Edition) by Henry F. Korth, S. Sudarshan, A. Silberschatz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Oracle-database-10g-sql-fundamentals-1-student-guide-volume-1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SQL and Relational Theory: How to Write Accurate SQL Code by C.J. Date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Database Systems: A Practical Approach to Design, Implementation and Management (4th Edition) by Thomas M. Connolly, Carolyn E. </a:t>
            </a:r>
            <a:r>
              <a:rPr lang="en-US" dirty="0" err="1"/>
              <a:t>Begg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Fundamentals of Database Systems, 5th Edition by </a:t>
            </a:r>
            <a:r>
              <a:rPr lang="en-US" dirty="0" err="1"/>
              <a:t>RamezElmasri</a:t>
            </a:r>
            <a:r>
              <a:rPr lang="en-US" dirty="0"/>
              <a:t>, </a:t>
            </a:r>
            <a:r>
              <a:rPr lang="en-US" dirty="0" err="1"/>
              <a:t>Shamkant</a:t>
            </a:r>
            <a:r>
              <a:rPr lang="en-US" dirty="0"/>
              <a:t> B. </a:t>
            </a:r>
            <a:r>
              <a:rPr lang="en-US" dirty="0" err="1"/>
              <a:t>Navathe</a:t>
            </a: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Database Design and Relational Theory: Normal Forms and All That Jazz by C. J. Date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dirty="0"/>
              <a:t>An Introduction to Database Systems 8th Edition, by C.J. Date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  <p:transition spd="slow">
    <p:wedg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335494" y="1420234"/>
            <a:ext cx="78957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https://www.db-book.com/db6/slide-dir/index.html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https://docs.oracle.com/en/database/oracle/oracle-database/20/sqlrf/SQL-Standards.html#GUID-BCCCFF75-D2A4-43AD-8CAF-C3C97D92AC63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4"/>
              </a:rPr>
              <a:t>https://www.slideshare.net/HaaMeemMohiyuddin1/data-knowledge-and-information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5"/>
              </a:rPr>
              <a:t>https://www.slideshare.net/tabinhasan/from-data-to-wisdom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6"/>
              </a:rPr>
              <a:t>https</a:t>
            </a:r>
            <a:r>
              <a:rPr lang="en-US">
                <a:hlinkClick r:id="rId6"/>
              </a:rPr>
              <a:t>://www.slideshare.net/thinnaphat.bo/</a:t>
            </a:r>
            <a:endParaRPr lang="en-US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/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  <p:transition spd="slow">
    <p:wedge/>
  </p:transition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880</TotalTime>
  <Words>1594</Words>
  <Application>Microsoft Office PowerPoint</Application>
  <PresentationFormat>On-screen Show (4:3)</PresentationFormat>
  <Paragraphs>413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Corbel</vt:lpstr>
      <vt:lpstr>Courier New</vt:lpstr>
      <vt:lpstr>Wingdings</vt:lpstr>
      <vt:lpstr>Wingdings 2</vt:lpstr>
      <vt:lpstr>Spectrum</vt:lpstr>
      <vt:lpstr>Aggregate Functions</vt:lpstr>
      <vt:lpstr>Lecture Outline</vt:lpstr>
      <vt:lpstr>What Are Group Functions?</vt:lpstr>
      <vt:lpstr>Types of Group Functions</vt:lpstr>
      <vt:lpstr>Using Group Functions</vt:lpstr>
      <vt:lpstr>Using MIN and MAX Functions</vt:lpstr>
      <vt:lpstr>Using AVG and SUM Functions</vt:lpstr>
      <vt:lpstr>Using the COUNT Function</vt:lpstr>
      <vt:lpstr>Using the COUNT Function</vt:lpstr>
      <vt:lpstr>Group Functions and Null Values</vt:lpstr>
      <vt:lpstr>Using the NVL Function with Group Functions</vt:lpstr>
      <vt:lpstr>Creating Groups of Data </vt:lpstr>
      <vt:lpstr>Creating Groups of Data: GROUP BY Clause</vt:lpstr>
      <vt:lpstr>Using the GROUP BY Clause </vt:lpstr>
      <vt:lpstr>Using the GROUP BY Clause </vt:lpstr>
      <vt:lpstr>Grouping by More Than One Column</vt:lpstr>
      <vt:lpstr>Using the GROUP BY Clause on Multiple Columns</vt:lpstr>
      <vt:lpstr>Illegal Queries Using Group Functions</vt:lpstr>
      <vt:lpstr>Illegal Queries Using Group Functions</vt:lpstr>
      <vt:lpstr>Excluding Group Results</vt:lpstr>
      <vt:lpstr>Excluding Group Results: HAVING Clause</vt:lpstr>
      <vt:lpstr>Using the HAVING Clause</vt:lpstr>
      <vt:lpstr>Using the HAVING Clause</vt:lpstr>
      <vt:lpstr>Nesting Group Functions</vt:lpstr>
      <vt:lpstr>Order of Evaluation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NAYEM SIDDIKI</cp:lastModifiedBy>
  <cp:revision>33</cp:revision>
  <dcterms:created xsi:type="dcterms:W3CDTF">2018-12-10T17:20:29Z</dcterms:created>
  <dcterms:modified xsi:type="dcterms:W3CDTF">2024-07-09T05:50:54Z</dcterms:modified>
</cp:coreProperties>
</file>