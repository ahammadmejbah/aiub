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74" r:id="rId5"/>
    <p:sldId id="276" r:id="rId6"/>
    <p:sldId id="277" r:id="rId7"/>
    <p:sldId id="270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9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4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edge/>
  </p:transition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20/sqlrf/SQL-Standards.html" TargetMode="External"/><Relationship Id="rId2" Type="http://schemas.openxmlformats.org/officeDocument/2006/relationships/hyperlink" Target="https://www.db-book.com/db6/slide-dir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thinnaphat.bo/" TargetMode="External"/><Relationship Id="rId5" Type="http://schemas.openxmlformats.org/officeDocument/2006/relationships/hyperlink" Target="https://www.slideshare.net/tabinhasan/from-data-to-wisdom" TargetMode="External"/><Relationship Id="rId4" Type="http://schemas.openxmlformats.org/officeDocument/2006/relationships/hyperlink" Target="https://www.slideshare.net/HaaMeemMohiyuddin1/data-knowledge-and-in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Writing Basic SQL Statements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2108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22170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Nazia Alfaz</a:t>
                      </a:r>
                      <a:r>
                        <a:rPr lang="en-US" i="1" baseline="0" dirty="0"/>
                        <a:t>, nazia@aiub.edu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Database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sz="2400" dirty="0">
                <a:solidFill>
                  <a:schemeClr val="tx1"/>
                </a:solidFill>
              </a:rPr>
              <a:t>The capabilities of SQL SELECT statements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>
                <a:solidFill>
                  <a:schemeClr val="tx1"/>
                </a:solidFill>
              </a:rPr>
              <a:t>The execution of a basic SELECT statement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>
                <a:solidFill>
                  <a:schemeClr val="tx1"/>
                </a:solidFill>
              </a:rPr>
              <a:t>The Difference between SQL statements and SQL*Plus commands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Capabilities of SQL SELECT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Selection, Projection, Join</a:t>
            </a:r>
            <a:endParaRPr lang="x-none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blackWhite">
          <a:xfrm>
            <a:off x="1641475" y="4391025"/>
            <a:ext cx="1841500" cy="13462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blackWhite">
          <a:xfrm>
            <a:off x="1646238" y="2205038"/>
            <a:ext cx="1841500" cy="13462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1655763" y="2368550"/>
            <a:ext cx="1825625" cy="1066800"/>
            <a:chOff x="1043" y="1492"/>
            <a:chExt cx="1150" cy="672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ltGray">
            <a:xfrm>
              <a:off x="1043" y="1684"/>
              <a:ext cx="1150" cy="91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ltGray">
            <a:xfrm>
              <a:off x="1043" y="1969"/>
              <a:ext cx="1150" cy="195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ltGray">
            <a:xfrm>
              <a:off x="1043" y="1492"/>
              <a:ext cx="1150" cy="85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Line 8"/>
          <p:cNvSpPr>
            <a:spLocks noChangeShapeType="1"/>
          </p:cNvSpPr>
          <p:nvPr/>
        </p:nvSpPr>
        <p:spPr bwMode="auto">
          <a:xfrm>
            <a:off x="2614613" y="21923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1919288" y="21923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>
            <a:off x="1633538" y="23637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>
            <a:off x="1633538" y="25161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>
            <a:off x="1633538" y="26685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1633538" y="28209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>
            <a:off x="1633538" y="29733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1633538" y="31257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1633538" y="32781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>
            <a:off x="1633538" y="34305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>
            <a:off x="2886075" y="21923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>
            <a:off x="3211513" y="2190750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blackWhite">
          <a:xfrm>
            <a:off x="5659438" y="2205038"/>
            <a:ext cx="1841500" cy="13462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blackWhite">
          <a:xfrm>
            <a:off x="5651500" y="4392613"/>
            <a:ext cx="1841500" cy="13462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8" name="Group 25"/>
          <p:cNvGrpSpPr>
            <a:grpSpLocks/>
          </p:cNvGrpSpPr>
          <p:nvPr/>
        </p:nvGrpSpPr>
        <p:grpSpPr bwMode="auto">
          <a:xfrm>
            <a:off x="5942013" y="2216150"/>
            <a:ext cx="1274762" cy="1327150"/>
            <a:chOff x="3743" y="1396"/>
            <a:chExt cx="803" cy="836"/>
          </a:xfrm>
        </p:grpSpPr>
        <p:sp>
          <p:nvSpPr>
            <p:cNvPr id="29" name="Rectangle 23"/>
            <p:cNvSpPr>
              <a:spLocks noChangeArrowheads="1"/>
            </p:cNvSpPr>
            <p:nvPr/>
          </p:nvSpPr>
          <p:spPr bwMode="ltGray">
            <a:xfrm>
              <a:off x="3743" y="1396"/>
              <a:ext cx="425" cy="836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ltGray">
            <a:xfrm>
              <a:off x="4351" y="1396"/>
              <a:ext cx="195" cy="836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28"/>
          <p:cNvGrpSpPr>
            <a:grpSpLocks/>
          </p:cNvGrpSpPr>
          <p:nvPr/>
        </p:nvGrpSpPr>
        <p:grpSpPr bwMode="auto">
          <a:xfrm>
            <a:off x="3216275" y="4398963"/>
            <a:ext cx="2708275" cy="1330325"/>
            <a:chOff x="2026" y="2771"/>
            <a:chExt cx="1706" cy="838"/>
          </a:xfrm>
        </p:grpSpPr>
        <p:sp>
          <p:nvSpPr>
            <p:cNvPr id="32" name="Rectangle 26"/>
            <p:cNvSpPr>
              <a:spLocks noChangeArrowheads="1"/>
            </p:cNvSpPr>
            <p:nvPr/>
          </p:nvSpPr>
          <p:spPr bwMode="ltGray">
            <a:xfrm>
              <a:off x="2026" y="2771"/>
              <a:ext cx="165" cy="835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ltGray">
            <a:xfrm>
              <a:off x="3567" y="2774"/>
              <a:ext cx="165" cy="835"/>
            </a:xfrm>
            <a:prstGeom prst="rect">
              <a:avLst/>
            </a:prstGeom>
            <a:solidFill>
              <a:srgbClr val="CC33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2609850" y="4378325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1914525" y="4378325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1628775" y="45497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1628775" y="47021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1628775" y="48545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1628775" y="50069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1628775" y="51593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1628775" y="53117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628775" y="54641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1628775" y="5616575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2881313" y="4378325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3206750" y="43767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6351588" y="4392613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5924550" y="4379913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Line 45"/>
          <p:cNvSpPr>
            <a:spLocks noChangeShapeType="1"/>
          </p:cNvSpPr>
          <p:nvPr/>
        </p:nvSpPr>
        <p:spPr bwMode="auto">
          <a:xfrm>
            <a:off x="5638800" y="45513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5638800" y="47037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5638800" y="48561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" name="Line 48"/>
          <p:cNvSpPr>
            <a:spLocks noChangeShapeType="1"/>
          </p:cNvSpPr>
          <p:nvPr/>
        </p:nvSpPr>
        <p:spPr bwMode="auto">
          <a:xfrm>
            <a:off x="5638800" y="50085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Line 49"/>
          <p:cNvSpPr>
            <a:spLocks noChangeShapeType="1"/>
          </p:cNvSpPr>
          <p:nvPr/>
        </p:nvSpPr>
        <p:spPr bwMode="auto">
          <a:xfrm>
            <a:off x="5638800" y="51609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5638800" y="53133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5638800" y="54657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5638800" y="5618163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6891338" y="4379913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7216775" y="4378325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" name="Line 55"/>
          <p:cNvSpPr>
            <a:spLocks noChangeShapeType="1"/>
          </p:cNvSpPr>
          <p:nvPr/>
        </p:nvSpPr>
        <p:spPr bwMode="auto">
          <a:xfrm>
            <a:off x="6643688" y="4375150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6"/>
          <p:cNvSpPr>
            <a:spLocks noChangeArrowheads="1"/>
          </p:cNvSpPr>
          <p:nvPr/>
        </p:nvSpPr>
        <p:spPr bwMode="auto">
          <a:xfrm>
            <a:off x="1541463" y="5800725"/>
            <a:ext cx="1222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Table</a:t>
            </a: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</a:t>
            </a: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5561013" y="5795963"/>
            <a:ext cx="12223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Table 2</a:t>
            </a:r>
          </a:p>
        </p:txBody>
      </p:sp>
      <p:sp>
        <p:nvSpPr>
          <p:cNvPr id="61" name="Rectangle 58"/>
          <p:cNvSpPr>
            <a:spLocks noChangeArrowheads="1"/>
          </p:cNvSpPr>
          <p:nvPr/>
        </p:nvSpPr>
        <p:spPr bwMode="auto">
          <a:xfrm>
            <a:off x="1543050" y="3606800"/>
            <a:ext cx="1222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Table</a:t>
            </a: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</a:t>
            </a:r>
          </a:p>
        </p:txBody>
      </p:sp>
      <p:sp>
        <p:nvSpPr>
          <p:cNvPr id="62" name="Rectangle 59"/>
          <p:cNvSpPr>
            <a:spLocks noChangeArrowheads="1"/>
          </p:cNvSpPr>
          <p:nvPr/>
        </p:nvSpPr>
        <p:spPr bwMode="auto">
          <a:xfrm>
            <a:off x="5551488" y="3598863"/>
            <a:ext cx="12223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Table</a:t>
            </a:r>
            <a:r>
              <a:rPr lang="en-US" sz="24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</a:t>
            </a:r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>
            <a:off x="6627813" y="21923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>
            <a:off x="5932488" y="21923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5" name="Line 62"/>
          <p:cNvSpPr>
            <a:spLocks noChangeShapeType="1"/>
          </p:cNvSpPr>
          <p:nvPr/>
        </p:nvSpPr>
        <p:spPr bwMode="auto">
          <a:xfrm>
            <a:off x="5646738" y="23637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" name="Line 63"/>
          <p:cNvSpPr>
            <a:spLocks noChangeShapeType="1"/>
          </p:cNvSpPr>
          <p:nvPr/>
        </p:nvSpPr>
        <p:spPr bwMode="auto">
          <a:xfrm>
            <a:off x="5646738" y="25161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7" name="Line 64"/>
          <p:cNvSpPr>
            <a:spLocks noChangeShapeType="1"/>
          </p:cNvSpPr>
          <p:nvPr/>
        </p:nvSpPr>
        <p:spPr bwMode="auto">
          <a:xfrm>
            <a:off x="5646738" y="26685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8" name="Line 65"/>
          <p:cNvSpPr>
            <a:spLocks noChangeShapeType="1"/>
          </p:cNvSpPr>
          <p:nvPr/>
        </p:nvSpPr>
        <p:spPr bwMode="auto">
          <a:xfrm>
            <a:off x="5646738" y="28209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9" name="Line 66"/>
          <p:cNvSpPr>
            <a:spLocks noChangeShapeType="1"/>
          </p:cNvSpPr>
          <p:nvPr/>
        </p:nvSpPr>
        <p:spPr bwMode="auto">
          <a:xfrm>
            <a:off x="5646738" y="29733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" name="Line 67"/>
          <p:cNvSpPr>
            <a:spLocks noChangeShapeType="1"/>
          </p:cNvSpPr>
          <p:nvPr/>
        </p:nvSpPr>
        <p:spPr bwMode="auto">
          <a:xfrm>
            <a:off x="5646738" y="31257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>
            <a:off x="5646738" y="32781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2" name="Line 69"/>
          <p:cNvSpPr>
            <a:spLocks noChangeShapeType="1"/>
          </p:cNvSpPr>
          <p:nvPr/>
        </p:nvSpPr>
        <p:spPr bwMode="auto">
          <a:xfrm>
            <a:off x="5646738" y="3430588"/>
            <a:ext cx="1866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3" name="Line 70"/>
          <p:cNvSpPr>
            <a:spLocks noChangeShapeType="1"/>
          </p:cNvSpPr>
          <p:nvPr/>
        </p:nvSpPr>
        <p:spPr bwMode="auto">
          <a:xfrm>
            <a:off x="6899275" y="2192338"/>
            <a:ext cx="0" cy="13763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71"/>
          <p:cNvSpPr>
            <a:spLocks noChangeShapeType="1"/>
          </p:cNvSpPr>
          <p:nvPr/>
        </p:nvSpPr>
        <p:spPr bwMode="auto">
          <a:xfrm>
            <a:off x="7224713" y="2190750"/>
            <a:ext cx="0" cy="13763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2"/>
          <p:cNvSpPr>
            <a:spLocks noChangeArrowheads="1"/>
          </p:cNvSpPr>
          <p:nvPr/>
        </p:nvSpPr>
        <p:spPr bwMode="auto">
          <a:xfrm>
            <a:off x="4259366" y="4332288"/>
            <a:ext cx="925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Join</a:t>
            </a:r>
          </a:p>
        </p:txBody>
      </p:sp>
      <p:sp>
        <p:nvSpPr>
          <p:cNvPr id="76" name="Line 73"/>
          <p:cNvSpPr>
            <a:spLocks noChangeShapeType="1"/>
          </p:cNvSpPr>
          <p:nvPr/>
        </p:nvSpPr>
        <p:spPr bwMode="auto">
          <a:xfrm flipV="1">
            <a:off x="3619500" y="5080000"/>
            <a:ext cx="1962150" cy="635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stealth" w="med" len="lg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" name="Rectangle 29"/>
          <p:cNvSpPr>
            <a:spLocks noChangeArrowheads="1"/>
          </p:cNvSpPr>
          <p:nvPr/>
        </p:nvSpPr>
        <p:spPr bwMode="auto">
          <a:xfrm>
            <a:off x="421341" y="2449513"/>
            <a:ext cx="1666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Selection</a:t>
            </a:r>
          </a:p>
        </p:txBody>
      </p:sp>
      <p:sp>
        <p:nvSpPr>
          <p:cNvPr id="78" name="Rectangle 30"/>
          <p:cNvSpPr>
            <a:spLocks noChangeArrowheads="1"/>
          </p:cNvSpPr>
          <p:nvPr/>
        </p:nvSpPr>
        <p:spPr bwMode="auto">
          <a:xfrm>
            <a:off x="7513638" y="2449513"/>
            <a:ext cx="1787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Projection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Basic SELECT Statement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845267" y="4586748"/>
            <a:ext cx="7385050" cy="105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identifies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columns.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FROM identifies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which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blackWhite">
          <a:xfrm>
            <a:off x="797642" y="3113548"/>
            <a:ext cx="7385050" cy="9239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SELECT	[DISTINCT] {*, 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[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alias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],...}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FROM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table;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Writing SQL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05" y="2374489"/>
            <a:ext cx="79598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SQL statements are not case sensitive. 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SQL statements can be on one or</a:t>
            </a:r>
            <a:br>
              <a:rPr lang="en-US" sz="2400" dirty="0"/>
            </a:br>
            <a:r>
              <a:rPr lang="en-US" sz="2400" dirty="0"/>
              <a:t>more lines.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Keywords cannot be abbreviated or split across lines.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Clauses are usually placed on separate lines.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Selecting All Columns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blackWhite">
          <a:xfrm>
            <a:off x="480967" y="3649663"/>
            <a:ext cx="7315200" cy="17653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blackWhite">
          <a:xfrm>
            <a:off x="476205" y="2532063"/>
            <a:ext cx="7319962" cy="8223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528592" y="2586038"/>
            <a:ext cx="5314950" cy="2781300"/>
            <a:chOff x="600" y="1188"/>
            <a:chExt cx="3348" cy="1752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ltGray">
            <a:xfrm>
              <a:off x="1620" y="1188"/>
              <a:ext cx="177" cy="22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ltGray">
            <a:xfrm>
              <a:off x="600" y="1884"/>
              <a:ext cx="3348" cy="105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" name="Rectangle 8"/>
          <p:cNvSpPr>
            <a:spLocks noChangeArrowheads="1"/>
          </p:cNvSpPr>
          <p:nvPr/>
        </p:nvSpPr>
        <p:spPr bwMode="blackWhite">
          <a:xfrm>
            <a:off x="488905" y="3662363"/>
            <a:ext cx="7289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 DNAME          LOC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-------------- 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ACCOUNTING     NEW YORK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 RESEARCH       DALLAS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30 SALES          CHICAGO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40 OPERATIONS     BOSTON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blackWhite">
          <a:xfrm>
            <a:off x="501605" y="2522538"/>
            <a:ext cx="7278687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*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	dept;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Selecting Specific Columns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blackWhite">
          <a:xfrm>
            <a:off x="592138" y="3602037"/>
            <a:ext cx="7315200" cy="17653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blackWhite">
          <a:xfrm>
            <a:off x="584200" y="2546349"/>
            <a:ext cx="7289800" cy="8223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671513" y="2597149"/>
            <a:ext cx="3268662" cy="2727325"/>
            <a:chOff x="639" y="1186"/>
            <a:chExt cx="2059" cy="1718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ltGray">
            <a:xfrm>
              <a:off x="1635" y="1186"/>
              <a:ext cx="1063" cy="227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ltGray">
            <a:xfrm>
              <a:off x="639" y="1846"/>
              <a:ext cx="2025" cy="105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" name="Rectangle 8"/>
          <p:cNvSpPr>
            <a:spLocks noChangeArrowheads="1"/>
          </p:cNvSpPr>
          <p:nvPr/>
        </p:nvSpPr>
        <p:spPr bwMode="blackWhite">
          <a:xfrm>
            <a:off x="585788" y="3614737"/>
            <a:ext cx="7289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 LOC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NEW YORK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 DALLAS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30 CHICAGO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40 BOSTON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blackWhite">
          <a:xfrm>
            <a:off x="571500" y="2506662"/>
            <a:ext cx="73152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deptno, loc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dept;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Column Heading Defaults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341" y="2418734"/>
            <a:ext cx="7808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b="1" dirty="0"/>
              <a:t>Default justification</a:t>
            </a:r>
          </a:p>
          <a:p>
            <a:pPr lvl="2">
              <a:buClr>
                <a:schemeClr val="accent1"/>
              </a:buClr>
              <a:buSzPct val="125000"/>
            </a:pPr>
            <a:r>
              <a:rPr lang="en-US" sz="2400" dirty="0"/>
              <a:t>Left: Date and character data</a:t>
            </a:r>
          </a:p>
          <a:p>
            <a:pPr lvl="2">
              <a:buClr>
                <a:schemeClr val="accent1"/>
              </a:buClr>
              <a:buSzPct val="125000"/>
            </a:pPr>
            <a:r>
              <a:rPr lang="en-US" sz="2400" dirty="0"/>
              <a:t>Right: Numeric data</a:t>
            </a:r>
          </a:p>
          <a:p>
            <a:pPr lvl="2">
              <a:buClr>
                <a:schemeClr val="accent1"/>
              </a:buClr>
              <a:buSzPct val="125000"/>
            </a:pPr>
            <a:endParaRPr lang="en-US" sz="2400" dirty="0"/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b="1" dirty="0"/>
              <a:t>Default display</a:t>
            </a:r>
          </a:p>
          <a:p>
            <a:pPr lvl="1">
              <a:buClr>
                <a:schemeClr val="accent1"/>
              </a:buClr>
              <a:buSzPct val="125000"/>
            </a:pPr>
            <a:r>
              <a:rPr lang="en-US" sz="2400" b="1" dirty="0"/>
              <a:t>	</a:t>
            </a:r>
            <a:r>
              <a:rPr lang="en-US" sz="2400" dirty="0"/>
              <a:t>Uppercase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800EF2C-51D9-851F-A32F-92282D30B3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216" r="8073"/>
          <a:stretch/>
        </p:blipFill>
        <p:spPr>
          <a:xfrm>
            <a:off x="3539417" y="4298684"/>
            <a:ext cx="5005869" cy="177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Arithmetic Expressions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973" y="2459504"/>
            <a:ext cx="85688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Create expressions on NUMBER and DATE data by using arithmetic operators.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302774" y="305291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Arithmetic Operators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blackWhite">
          <a:xfrm>
            <a:off x="634207" y="2271712"/>
            <a:ext cx="7265987" cy="8223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5" name="Arc 4"/>
          <p:cNvSpPr>
            <a:spLocks/>
          </p:cNvSpPr>
          <p:nvPr/>
        </p:nvSpPr>
        <p:spPr bwMode="ltGray">
          <a:xfrm>
            <a:off x="5171282" y="3163887"/>
            <a:ext cx="211137" cy="225425"/>
          </a:xfrm>
          <a:custGeom>
            <a:avLst/>
            <a:gdLst>
              <a:gd name="T0" fmla="*/ 20173698 w 21600"/>
              <a:gd name="T1" fmla="*/ 24552666 h 21600"/>
              <a:gd name="T2" fmla="*/ 0 w 21600"/>
              <a:gd name="T3" fmla="*/ 0 h 21600"/>
              <a:gd name="T4" fmla="*/ 20173698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9525" cap="rnd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blackWhite">
          <a:xfrm>
            <a:off x="597694" y="3351212"/>
            <a:ext cx="7315200" cy="286385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3501232" y="2366962"/>
            <a:ext cx="1590675" cy="3260725"/>
            <a:chOff x="2387" y="1078"/>
            <a:chExt cx="1002" cy="2054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ltGray">
            <a:xfrm>
              <a:off x="2688" y="1078"/>
              <a:ext cx="701" cy="21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ltGray">
            <a:xfrm>
              <a:off x="2387" y="1716"/>
              <a:ext cx="873" cy="141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" name="Rectangle 9"/>
          <p:cNvSpPr>
            <a:spLocks noChangeArrowheads="1"/>
          </p:cNvSpPr>
          <p:nvPr/>
        </p:nvSpPr>
        <p:spPr bwMode="blackWhite">
          <a:xfrm>
            <a:off x="637382" y="2259012"/>
            <a:ext cx="7291387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ename, sal, sal+300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165893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	emp;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blackWhite">
          <a:xfrm>
            <a:off x="600869" y="3338512"/>
            <a:ext cx="73406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SAL   SAL+300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     5000      5300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          2850      3150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           2450      2750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           2975      3275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     1250      1550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     1600      1900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Operator Precedence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175" y="3038168"/>
            <a:ext cx="7801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Multiplication and division take priority over addition and subtraction.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Operators of the same priority are evaluated from left to right.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Parentheses are used to force prioritized evaluation and to clarify statements.</a:t>
            </a: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832100" y="2133293"/>
            <a:ext cx="2965450" cy="831850"/>
            <a:chOff x="1860" y="856"/>
            <a:chExt cx="1868" cy="524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blackWhite">
            <a:xfrm>
              <a:off x="1868" y="920"/>
              <a:ext cx="1860" cy="456"/>
            </a:xfrm>
            <a:prstGeom prst="rect">
              <a:avLst/>
            </a:prstGeom>
            <a:gradFill rotWithShape="0">
              <a:gsLst>
                <a:gs pos="0">
                  <a:srgbClr val="FF5050"/>
                </a:gs>
                <a:gs pos="100000">
                  <a:srgbClr val="FF505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blackWhite">
            <a:xfrm>
              <a:off x="1860" y="1072"/>
              <a:ext cx="48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44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*</a:t>
              </a: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blackWhite">
            <a:xfrm>
              <a:off x="2298" y="988"/>
              <a:ext cx="48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36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/</a:t>
              </a: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blackWhite">
            <a:xfrm>
              <a:off x="2720" y="988"/>
              <a:ext cx="48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36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+</a:t>
              </a: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blackWhite">
            <a:xfrm>
              <a:off x="3205" y="856"/>
              <a:ext cx="48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36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Operator Precedence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blackWhite">
          <a:xfrm>
            <a:off x="427691" y="2149475"/>
            <a:ext cx="7289800" cy="8223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blackWhite">
          <a:xfrm>
            <a:off x="421341" y="3235325"/>
            <a:ext cx="7315200" cy="286385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3394729" y="2244725"/>
            <a:ext cx="1919287" cy="3260725"/>
            <a:chOff x="2453" y="1078"/>
            <a:chExt cx="1209" cy="205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ltGray">
            <a:xfrm>
              <a:off x="2672" y="1078"/>
              <a:ext cx="990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ltGray">
            <a:xfrm>
              <a:off x="2453" y="1742"/>
              <a:ext cx="919" cy="139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Rectangle 8"/>
          <p:cNvSpPr>
            <a:spLocks noChangeArrowheads="1"/>
          </p:cNvSpPr>
          <p:nvPr/>
        </p:nvSpPr>
        <p:spPr bwMode="blackWhite">
          <a:xfrm>
            <a:off x="434041" y="2136775"/>
            <a:ext cx="73152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ename,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12*sal+100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blackWhite">
          <a:xfrm>
            <a:off x="453091" y="3248025"/>
            <a:ext cx="72898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SAL 12*SAL+100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     5000      60100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          2850      34300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           2450      29500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           2975      35800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     1250      15100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     1600      19300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Parentheses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blackWhite">
          <a:xfrm>
            <a:off x="414991" y="2286000"/>
            <a:ext cx="7435850" cy="8572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blackWhite">
          <a:xfrm>
            <a:off x="402291" y="3381375"/>
            <a:ext cx="7448550" cy="258921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4" name="Group 7"/>
          <p:cNvGrpSpPr>
            <a:grpSpLocks/>
          </p:cNvGrpSpPr>
          <p:nvPr/>
        </p:nvGrpSpPr>
        <p:grpSpPr bwMode="auto">
          <a:xfrm>
            <a:off x="3343929" y="2393950"/>
            <a:ext cx="2171700" cy="2970213"/>
            <a:chOff x="2385" y="1080"/>
            <a:chExt cx="1368" cy="1871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ltGray">
            <a:xfrm>
              <a:off x="2639" y="1080"/>
              <a:ext cx="1114" cy="24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ltGray">
            <a:xfrm>
              <a:off x="2385" y="1740"/>
              <a:ext cx="1077" cy="121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Rectangle 8"/>
          <p:cNvSpPr>
            <a:spLocks noChangeArrowheads="1"/>
          </p:cNvSpPr>
          <p:nvPr/>
        </p:nvSpPr>
        <p:spPr bwMode="blackWhite">
          <a:xfrm>
            <a:off x="421341" y="2273300"/>
            <a:ext cx="746125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ename,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12*(sal+100)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blackWhite">
          <a:xfrm>
            <a:off x="434041" y="3394075"/>
            <a:ext cx="742315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SAL 12*(SAL+100)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     5000       61200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          2850       35400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           2450       30600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           2975       36900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     1250       16200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Defining a Null Value</a:t>
            </a: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421341" y="2256503"/>
            <a:ext cx="7742903" cy="1695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null is a value that is unavailable, unassigned, unknown, or inapplicable.</a:t>
            </a:r>
          </a:p>
          <a:p>
            <a:pPr marL="457200" marR="0" lvl="1" indent="0" algn="just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null is not the same as zero or a blank space.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blackWhite">
          <a:xfrm>
            <a:off x="906463" y="3438526"/>
            <a:ext cx="7265987" cy="7794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601788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blackWhite">
          <a:xfrm>
            <a:off x="893763" y="4395788"/>
            <a:ext cx="7291387" cy="22606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/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9" name="Group 8"/>
          <p:cNvGrpSpPr>
            <a:grpSpLocks/>
          </p:cNvGrpSpPr>
          <p:nvPr/>
        </p:nvGrpSpPr>
        <p:grpSpPr bwMode="auto">
          <a:xfrm>
            <a:off x="3833813" y="3503613"/>
            <a:ext cx="1312862" cy="2689225"/>
            <a:chOff x="2423" y="1894"/>
            <a:chExt cx="827" cy="1694"/>
          </a:xfrm>
        </p:grpSpPr>
        <p:sp>
          <p:nvSpPr>
            <p:cNvPr id="20" name="Rectangle 6"/>
            <p:cNvSpPr>
              <a:spLocks noChangeArrowheads="1"/>
            </p:cNvSpPr>
            <p:nvPr/>
          </p:nvSpPr>
          <p:spPr bwMode="ltGray">
            <a:xfrm>
              <a:off x="2797" y="1894"/>
              <a:ext cx="439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ltGray">
            <a:xfrm>
              <a:off x="2423" y="2524"/>
              <a:ext cx="827" cy="106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Rectangle 9"/>
          <p:cNvSpPr>
            <a:spLocks noChangeArrowheads="1"/>
          </p:cNvSpPr>
          <p:nvPr/>
        </p:nvSpPr>
        <p:spPr bwMode="blackWhite">
          <a:xfrm>
            <a:off x="931863" y="3425826"/>
            <a:ext cx="7291387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60178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	ename, job, comm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60178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		emp;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blackWhite">
          <a:xfrm>
            <a:off x="906463" y="4429126"/>
            <a:ext cx="72659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            COMM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PRESIDENT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     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TURNER     SALESMAN          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Null Values in Arithmetic Expressions</a:t>
            </a:r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421341" y="2217737"/>
            <a:ext cx="7385050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Arithmetic expressions containing a null value evaluate to null.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421341" y="2870200"/>
            <a:ext cx="7434262" cy="11366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blackWhite">
          <a:xfrm>
            <a:off x="440391" y="4614863"/>
            <a:ext cx="7415212" cy="941387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2019953" y="2974975"/>
            <a:ext cx="2719388" cy="2530475"/>
            <a:chOff x="1548" y="1898"/>
            <a:chExt cx="1713" cy="1594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ltGray">
            <a:xfrm>
              <a:off x="2225" y="1898"/>
              <a:ext cx="1036" cy="24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ltGray">
            <a:xfrm>
              <a:off x="1548" y="2952"/>
              <a:ext cx="996" cy="54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" name="Rectangle 9"/>
          <p:cNvSpPr>
            <a:spLocks noChangeArrowheads="1"/>
          </p:cNvSpPr>
          <p:nvPr/>
        </p:nvSpPr>
        <p:spPr bwMode="blackWhite">
          <a:xfrm>
            <a:off x="427691" y="2857500"/>
            <a:ext cx="7459662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ename, 12*sal+comm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ename='KING';</a:t>
            </a: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blackWhite">
          <a:xfrm>
            <a:off x="446741" y="4602163"/>
            <a:ext cx="7440612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12*SAL+COMM 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Defining a Column Alias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340" y="2197510"/>
            <a:ext cx="81032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Renames a column heading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Is useful with calculations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Immediately follows column name; optional AS keyword between column name and alias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Requires double quotation marks if it contains spaces or special characters or is case sensitive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Column Aliases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blackWhite">
          <a:xfrm>
            <a:off x="427691" y="1976437"/>
            <a:ext cx="7226300" cy="7016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blackWhite">
          <a:xfrm>
            <a:off x="422929" y="2995612"/>
            <a:ext cx="7246937" cy="11080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blackWhite">
          <a:xfrm>
            <a:off x="421341" y="4413250"/>
            <a:ext cx="7264400" cy="10064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blackWhite">
          <a:xfrm>
            <a:off x="422929" y="5735637"/>
            <a:ext cx="7246937" cy="11080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grpSp>
        <p:nvGrpSpPr>
          <p:cNvPr id="30" name="Group 11"/>
          <p:cNvGrpSpPr>
            <a:grpSpLocks/>
          </p:cNvGrpSpPr>
          <p:nvPr/>
        </p:nvGrpSpPr>
        <p:grpSpPr bwMode="auto">
          <a:xfrm>
            <a:off x="488016" y="2027237"/>
            <a:ext cx="5240338" cy="1416050"/>
            <a:chOff x="614" y="848"/>
            <a:chExt cx="3301" cy="892"/>
          </a:xfrm>
        </p:grpSpPr>
        <p:sp>
          <p:nvSpPr>
            <p:cNvPr id="31" name="Rectangle 7"/>
            <p:cNvSpPr>
              <a:spLocks noChangeArrowheads="1"/>
            </p:cNvSpPr>
            <p:nvPr/>
          </p:nvSpPr>
          <p:spPr bwMode="ltGray">
            <a:xfrm>
              <a:off x="2408" y="848"/>
              <a:ext cx="508" cy="24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ltGray">
            <a:xfrm>
              <a:off x="614" y="1503"/>
              <a:ext cx="478" cy="237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ltGray">
            <a:xfrm>
              <a:off x="3300" y="848"/>
              <a:ext cx="615" cy="241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ltGray">
            <a:xfrm>
              <a:off x="2039" y="1497"/>
              <a:ext cx="615" cy="24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" name="Group 16"/>
          <p:cNvGrpSpPr>
            <a:grpSpLocks/>
          </p:cNvGrpSpPr>
          <p:nvPr/>
        </p:nvGrpSpPr>
        <p:grpSpPr bwMode="auto">
          <a:xfrm>
            <a:off x="507066" y="4484687"/>
            <a:ext cx="4800600" cy="1701800"/>
            <a:chOff x="626" y="2396"/>
            <a:chExt cx="3024" cy="1072"/>
          </a:xfrm>
        </p:grpSpPr>
        <p:sp>
          <p:nvSpPr>
            <p:cNvPr id="36" name="Rectangle 12"/>
            <p:cNvSpPr>
              <a:spLocks noChangeArrowheads="1"/>
            </p:cNvSpPr>
            <p:nvPr/>
          </p:nvSpPr>
          <p:spPr bwMode="ltGray">
            <a:xfrm>
              <a:off x="2205" y="2396"/>
              <a:ext cx="615" cy="18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ltGray">
            <a:xfrm>
              <a:off x="626" y="3221"/>
              <a:ext cx="444" cy="23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ltGray">
            <a:xfrm>
              <a:off x="2277" y="2583"/>
              <a:ext cx="1373" cy="241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ltGray">
            <a:xfrm>
              <a:off x="1863" y="3226"/>
              <a:ext cx="1173" cy="24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Rectangle 17"/>
          <p:cNvSpPr>
            <a:spLocks noChangeArrowheads="1"/>
          </p:cNvSpPr>
          <p:nvPr/>
        </p:nvSpPr>
        <p:spPr bwMode="blackWhite">
          <a:xfrm>
            <a:off x="473729" y="3008312"/>
            <a:ext cx="7221537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41" name="Rectangle 18"/>
          <p:cNvSpPr>
            <a:spLocks noChangeArrowheads="1"/>
          </p:cNvSpPr>
          <p:nvPr/>
        </p:nvSpPr>
        <p:spPr bwMode="blackWhite">
          <a:xfrm>
            <a:off x="453091" y="1963737"/>
            <a:ext cx="725170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 AS name, sal salary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emp;</a:t>
            </a:r>
          </a:p>
        </p:txBody>
      </p:sp>
      <p:sp>
        <p:nvSpPr>
          <p:cNvPr id="42" name="Rectangle 19"/>
          <p:cNvSpPr>
            <a:spLocks noChangeArrowheads="1"/>
          </p:cNvSpPr>
          <p:nvPr/>
        </p:nvSpPr>
        <p:spPr bwMode="blackWhite">
          <a:xfrm>
            <a:off x="491191" y="2973387"/>
            <a:ext cx="3340100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NAME             SALARY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 ---------</a:t>
            </a:r>
            <a:br>
              <a:rPr lang="en-US" sz="18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</p:txBody>
      </p:sp>
      <p:sp>
        <p:nvSpPr>
          <p:cNvPr id="43" name="Rectangle 20"/>
          <p:cNvSpPr>
            <a:spLocks noChangeArrowheads="1"/>
          </p:cNvSpPr>
          <p:nvPr/>
        </p:nvSpPr>
        <p:spPr bwMode="blackWhite">
          <a:xfrm>
            <a:off x="446741" y="4400550"/>
            <a:ext cx="72898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 "Name",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       sal*12 "Annual Salary"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FROM   emp;</a:t>
            </a:r>
          </a:p>
        </p:txBody>
      </p:sp>
      <p:grpSp>
        <p:nvGrpSpPr>
          <p:cNvPr id="44" name="Group 23"/>
          <p:cNvGrpSpPr>
            <a:grpSpLocks/>
          </p:cNvGrpSpPr>
          <p:nvPr/>
        </p:nvGrpSpPr>
        <p:grpSpPr bwMode="auto">
          <a:xfrm>
            <a:off x="473729" y="5705475"/>
            <a:ext cx="7221537" cy="1125537"/>
            <a:chOff x="605" y="3165"/>
            <a:chExt cx="4549" cy="709"/>
          </a:xfrm>
        </p:grpSpPr>
        <p:sp>
          <p:nvSpPr>
            <p:cNvPr id="45" name="Rectangle 21"/>
            <p:cNvSpPr>
              <a:spLocks noChangeArrowheads="1"/>
            </p:cNvSpPr>
            <p:nvPr/>
          </p:nvSpPr>
          <p:spPr bwMode="blackWhite">
            <a:xfrm>
              <a:off x="605" y="3192"/>
              <a:ext cx="4549" cy="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0"/>
                </a:spcBef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0000"/>
                </a:lnSpc>
                <a:spcBef>
                  <a:spcPct val="0"/>
                </a:spcBef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0000"/>
                </a:lnSpc>
                <a:spcBef>
                  <a:spcPct val="0"/>
                </a:spcBef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</a:p>
          </p:txBody>
        </p:sp>
        <p:sp>
          <p:nvSpPr>
            <p:cNvPr id="46" name="Rectangle 22"/>
            <p:cNvSpPr>
              <a:spLocks noChangeArrowheads="1"/>
            </p:cNvSpPr>
            <p:nvPr/>
          </p:nvSpPr>
          <p:spPr bwMode="blackWhite">
            <a:xfrm>
              <a:off x="616" y="3165"/>
              <a:ext cx="2449" cy="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Name          Annual Salary</a:t>
              </a:r>
            </a:p>
            <a:p>
              <a:pPr algn="l">
                <a:lnSpc>
                  <a:spcPct val="125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------------- -------------</a:t>
              </a:r>
              <a:b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</a:b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Concatenation Operator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340" y="2448232"/>
            <a:ext cx="84276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Concatenates columns or character strings to other columns 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Is represented by two vertical bars (||)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Creates a resultant column that is a character expression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the Concatenation Operator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blackWhite">
          <a:xfrm>
            <a:off x="437216" y="2300287"/>
            <a:ext cx="7127875" cy="7016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blackWhite">
          <a:xfrm>
            <a:off x="421341" y="3411537"/>
            <a:ext cx="7175500" cy="286385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489604" y="2366962"/>
            <a:ext cx="2814637" cy="3546475"/>
            <a:chOff x="659" y="1270"/>
            <a:chExt cx="1773" cy="2234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ltGray">
            <a:xfrm>
              <a:off x="2269" y="1270"/>
              <a:ext cx="163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6"/>
            <p:cNvSpPr>
              <a:spLocks noChangeArrowheads="1"/>
            </p:cNvSpPr>
            <p:nvPr/>
          </p:nvSpPr>
          <p:spPr bwMode="ltGray">
            <a:xfrm>
              <a:off x="659" y="1964"/>
              <a:ext cx="1709" cy="154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" name="Rectangle 8"/>
          <p:cNvSpPr>
            <a:spLocks noChangeArrowheads="1"/>
          </p:cNvSpPr>
          <p:nvPr/>
        </p:nvSpPr>
        <p:spPr bwMode="blackWhite">
          <a:xfrm>
            <a:off x="424516" y="2287587"/>
            <a:ext cx="7153275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	ename||job AS "Employees"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	emp;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blackWhite">
          <a:xfrm>
            <a:off x="434041" y="3424237"/>
            <a:ext cx="71501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Employees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KINGPRESIDENT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MARTINSALESMAN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ALLENSALESMAN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Literal Character Strings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341" y="2330245"/>
            <a:ext cx="81622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A literal is a character, expression or number included in the SELECT list.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Date and character literal values must be enclosed within single quotation marks.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Each character string is output once for each row returned.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Literal Character Strings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blackWhite">
          <a:xfrm>
            <a:off x="400050" y="2070100"/>
            <a:ext cx="7289800" cy="10064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452688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452688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blackWhite">
          <a:xfrm>
            <a:off x="368300" y="3471862"/>
            <a:ext cx="7315200" cy="258921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Employee Details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is a PRESIDENT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BLAKE is a 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CLARK is a 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JONES is a MANAGER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is a SALESMAN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3333750" y="2151062"/>
            <a:ext cx="1928812" cy="317500"/>
            <a:chOff x="2449" y="1114"/>
            <a:chExt cx="1215" cy="20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ltGray">
            <a:xfrm>
              <a:off x="2449" y="1114"/>
              <a:ext cx="87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ltGray">
            <a:xfrm>
              <a:off x="3577" y="1114"/>
              <a:ext cx="87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ltGray">
            <a:xfrm>
              <a:off x="2881" y="1114"/>
              <a:ext cx="367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Rectangle 9"/>
          <p:cNvSpPr>
            <a:spLocks noChangeArrowheads="1"/>
          </p:cNvSpPr>
          <p:nvPr/>
        </p:nvSpPr>
        <p:spPr bwMode="blackWhite">
          <a:xfrm>
            <a:off x="368300" y="2057400"/>
            <a:ext cx="73152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45268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	||' '||'is a'||' '||job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45268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	         	AS "Employee Details"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45268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FROM   emp;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Duplicate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340" y="2227006"/>
            <a:ext cx="8427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The default display of queries is all rows, including duplicate rows.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blackWhite">
          <a:xfrm>
            <a:off x="407053" y="3846512"/>
            <a:ext cx="7315200" cy="23145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blackWhite">
          <a:xfrm>
            <a:off x="421341" y="2725737"/>
            <a:ext cx="7289800" cy="7016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deptno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emp;</a:t>
            </a:r>
          </a:p>
        </p:txBody>
      </p:sp>
      <p:grpSp>
        <p:nvGrpSpPr>
          <p:cNvPr id="14" name="Group 8"/>
          <p:cNvGrpSpPr>
            <a:grpSpLocks/>
          </p:cNvGrpSpPr>
          <p:nvPr/>
        </p:nvGrpSpPr>
        <p:grpSpPr bwMode="auto">
          <a:xfrm>
            <a:off x="1405591" y="4408487"/>
            <a:ext cx="404812" cy="866775"/>
            <a:chOff x="1269" y="2556"/>
            <a:chExt cx="255" cy="546"/>
          </a:xfrm>
        </p:grpSpPr>
        <p:sp>
          <p:nvSpPr>
            <p:cNvPr id="15" name="Rectangle 6"/>
            <p:cNvSpPr>
              <a:spLocks noChangeArrowheads="1"/>
            </p:cNvSpPr>
            <p:nvPr/>
          </p:nvSpPr>
          <p:spPr bwMode="ltGray">
            <a:xfrm>
              <a:off x="1269" y="2556"/>
              <a:ext cx="255" cy="19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ltGray">
            <a:xfrm>
              <a:off x="1269" y="2904"/>
              <a:ext cx="255" cy="19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Rectangle 9"/>
          <p:cNvSpPr>
            <a:spLocks noChangeArrowheads="1"/>
          </p:cNvSpPr>
          <p:nvPr/>
        </p:nvSpPr>
        <p:spPr bwMode="blackWhite">
          <a:xfrm>
            <a:off x="419753" y="3859212"/>
            <a:ext cx="72898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30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      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Eliminating Duplicate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341" y="2286000"/>
            <a:ext cx="8383446" cy="355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2325">
              <a:lnSpc>
                <a:spcPct val="95000"/>
              </a:lnSpc>
              <a:spcBef>
                <a:spcPct val="5000"/>
              </a:spcBef>
              <a:defRPr/>
            </a:pPr>
            <a:r>
              <a:rPr lang="en-US" dirty="0"/>
              <a:t>Eliminate duplicate rows by using the DISTINCT keyword in the SELECT clause.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blackWhite">
          <a:xfrm>
            <a:off x="640070" y="2813050"/>
            <a:ext cx="7289800" cy="7016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blackWhite">
          <a:xfrm>
            <a:off x="614670" y="3965575"/>
            <a:ext cx="7315200" cy="149066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9" name="Group 8"/>
          <p:cNvGrpSpPr>
            <a:grpSpLocks/>
          </p:cNvGrpSpPr>
          <p:nvPr/>
        </p:nvGrpSpPr>
        <p:grpSpPr bwMode="auto">
          <a:xfrm>
            <a:off x="676582" y="2841625"/>
            <a:ext cx="2871788" cy="2587625"/>
            <a:chOff x="612" y="1514"/>
            <a:chExt cx="1809" cy="1630"/>
          </a:xfrm>
        </p:grpSpPr>
        <p:sp>
          <p:nvSpPr>
            <p:cNvPr id="20" name="Rectangle 6"/>
            <p:cNvSpPr>
              <a:spLocks noChangeArrowheads="1"/>
            </p:cNvSpPr>
            <p:nvPr/>
          </p:nvSpPr>
          <p:spPr bwMode="ltGray">
            <a:xfrm>
              <a:off x="1680" y="1514"/>
              <a:ext cx="741" cy="21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ltGray">
            <a:xfrm>
              <a:off x="612" y="2256"/>
              <a:ext cx="864" cy="88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Rectangle 9"/>
          <p:cNvSpPr>
            <a:spLocks noChangeArrowheads="1"/>
          </p:cNvSpPr>
          <p:nvPr/>
        </p:nvSpPr>
        <p:spPr bwMode="blackWhite">
          <a:xfrm>
            <a:off x="646420" y="2800350"/>
            <a:ext cx="731520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DISTINCT deptno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emp;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blackWhite">
          <a:xfrm>
            <a:off x="646420" y="3978275"/>
            <a:ext cx="7289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30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340" y="2194560"/>
            <a:ext cx="82806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SQL</a:t>
            </a:r>
          </a:p>
          <a:p>
            <a:pPr lvl="1"/>
            <a:r>
              <a:rPr lang="en-US" sz="2400" i="1" dirty="0"/>
              <a:t>-&gt; </a:t>
            </a:r>
            <a:r>
              <a:rPr lang="en-US" sz="2400" dirty="0"/>
              <a:t>SQL is a command language for communication with the Oracle Server. </a:t>
            </a:r>
          </a:p>
          <a:p>
            <a:r>
              <a:rPr lang="en-US" sz="2800" dirty="0"/>
              <a:t>Features of SQL</a:t>
            </a:r>
          </a:p>
          <a:p>
            <a:r>
              <a:rPr lang="en-US" sz="2800" dirty="0"/>
              <a:t>      </a:t>
            </a:r>
            <a:r>
              <a:rPr lang="en-US" sz="2400" dirty="0"/>
              <a:t>-&gt; Can be used by a range of users, including those with little or no programming experience</a:t>
            </a:r>
          </a:p>
          <a:p>
            <a:r>
              <a:rPr lang="en-US" sz="2400" dirty="0"/>
              <a:t>       -&gt; Is an English-like language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407886"/>
            <a:ext cx="84166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Modern Database Management (Sixth Edition) by Fred R. McFadden, Jeffrey A. </a:t>
            </a:r>
            <a:r>
              <a:rPr lang="en-US" dirty="0" err="1"/>
              <a:t>Hoffer</a:t>
            </a:r>
            <a:r>
              <a:rPr lang="en-US" dirty="0"/>
              <a:t>, Mary B. Prescott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 Concepts (Fifth Edition) by Henry F. Korth, S. Sudarshan, A. Silberschatz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Oracle-database-10g-sql-fundamentals-1-student-guide-volume-1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SQL and Relational Theory: How to Write Accurate SQL Code by C.J.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Systems: A Practical Approach to Design, Implementation and Management (4th Edition) by Thomas M. Connolly, Carolyn E. </a:t>
            </a:r>
            <a:r>
              <a:rPr lang="en-US" dirty="0" err="1"/>
              <a:t>Begg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Fundamentals of Database Systems, 5th Edition by </a:t>
            </a:r>
            <a:r>
              <a:rPr lang="en-US" dirty="0" err="1"/>
              <a:t>RamezElmasri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Design and Relational Theory: Normal Forms and All That Jazz by C. 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 Introduction to Database Systems 8th Edition, by C.J. Date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20234"/>
            <a:ext cx="78957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https://www.db-book.com/db6/slide-dir/index.html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https://docs.oracle.com/en/database/oracle/oracle-database/20/sqlrf/SQL-Standards.html#GUID-BCCCFF75-D2A4-43AD-8CAF-C3C97D92AC63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https://www.slideshare.net/HaaMeemMohiyuddin1/data-knowledge-and-information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https://www.slideshare.net/tabinhasan/from-data-to-wisdom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https://www.slideshare.net/thinnaphat.bo/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/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472</TotalTime>
  <Words>1174</Words>
  <Application>Microsoft Office PowerPoint</Application>
  <PresentationFormat>On-screen Show (4:3)</PresentationFormat>
  <Paragraphs>318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 Unicode MS</vt:lpstr>
      <vt:lpstr>Arial</vt:lpstr>
      <vt:lpstr>Calibri</vt:lpstr>
      <vt:lpstr>Corbel</vt:lpstr>
      <vt:lpstr>Courier New</vt:lpstr>
      <vt:lpstr>Wingdings</vt:lpstr>
      <vt:lpstr>Wingdings 2</vt:lpstr>
      <vt:lpstr>Spectrum</vt:lpstr>
      <vt:lpstr>Writing Basic SQL Statements</vt:lpstr>
      <vt:lpstr>Lecture Outline</vt:lpstr>
      <vt:lpstr>Capabilities of SQL SELECT Statements</vt:lpstr>
      <vt:lpstr>Basic SELECT Statement</vt:lpstr>
      <vt:lpstr>Writing SQL Statements</vt:lpstr>
      <vt:lpstr>Selecting All Columns</vt:lpstr>
      <vt:lpstr>Selecting Specific Columns</vt:lpstr>
      <vt:lpstr>Column Heading Defaults</vt:lpstr>
      <vt:lpstr>Arithmetic Expressions</vt:lpstr>
      <vt:lpstr>Using Arithmetic Operators</vt:lpstr>
      <vt:lpstr>Operator Precedence</vt:lpstr>
      <vt:lpstr>Operator Precedence</vt:lpstr>
      <vt:lpstr>Using Parentheses</vt:lpstr>
      <vt:lpstr>Defining a Null Value</vt:lpstr>
      <vt:lpstr>Null Values in Arithmetic Expressions</vt:lpstr>
      <vt:lpstr>Defining a Column Alias</vt:lpstr>
      <vt:lpstr>Using Column Aliases</vt:lpstr>
      <vt:lpstr>Concatenation Operator</vt:lpstr>
      <vt:lpstr>Using the Concatenation Operator</vt:lpstr>
      <vt:lpstr>Literal Character Strings</vt:lpstr>
      <vt:lpstr>Using Literal Character Strings</vt:lpstr>
      <vt:lpstr>Duplicate Rows</vt:lpstr>
      <vt:lpstr>Eliminating Duplicate Rows</vt:lpstr>
      <vt:lpstr>SQL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Nazia Alfaz</cp:lastModifiedBy>
  <cp:revision>29</cp:revision>
  <dcterms:created xsi:type="dcterms:W3CDTF">2018-12-10T17:20:29Z</dcterms:created>
  <dcterms:modified xsi:type="dcterms:W3CDTF">2024-06-04T04:59:57Z</dcterms:modified>
</cp:coreProperties>
</file>