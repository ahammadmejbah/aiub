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gtEBHxiLOol/C5Tc1GWhy9ktzc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25F1AE-E953-44E0-8D5B-81662C501840}">
  <a:tblStyle styleId="{5B25F1AE-E953-44E0-8D5B-81662C5018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DFDBBB3-F007-4FC1-81D3-C86D0D1F7C7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CE7"/>
          </a:solidFill>
        </a:fill>
      </a:tcStyle>
    </a:wholeTbl>
    <a:band1H>
      <a:tcTxStyle b="off" i="off"/>
      <a:tcStyle>
        <a:tcBdr/>
        <a:fill>
          <a:solidFill>
            <a:srgbClr val="F8D6CC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8D6CC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8" name="Google Shape;45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4" name="Google Shape;50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2" name="Google Shape;55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7" name="Google Shape;62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8" name="Google Shape;69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9" name="Google Shape;76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0" name="Google Shape;83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8" name="Google Shape;86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1" name="Google Shape;95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8" name="Google Shape;102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1" name="Google Shape;111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4" name="Google Shape;118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0" name="Google Shape;1190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2" name="Google Shape;122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8aec3263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7" name="Google Shape;1257;g28aec3263c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g28aec3263c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2" name="Google Shape;1302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8" name="Google Shape;1308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4" name="Google Shape;131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Dynamic Programming 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Matrix Chain Multiplication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Longest Common Subsequence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3"/>
          <p:cNvSpPr txBox="1">
            <a:spLocks noGrp="1"/>
          </p:cNvSpPr>
          <p:nvPr>
            <p:ph type="ctrTitle"/>
          </p:nvPr>
        </p:nvSpPr>
        <p:spPr>
          <a:xfrm>
            <a:off x="1524000" y="19922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Matrix Chain Multiplication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 Chain Multiplication</a:t>
            </a:r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Let us consider 4 matrices A1, A2, A3 and A4.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 = A1 X A2 X A3 X A4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M=</a:t>
            </a:r>
            <a:endParaRPr/>
          </a:p>
        </p:txBody>
      </p:sp>
      <p:graphicFrame>
        <p:nvGraphicFramePr>
          <p:cNvPr id="101" name="Google Shape;101;p34"/>
          <p:cNvGraphicFramePr/>
          <p:nvPr/>
        </p:nvGraphicFramePr>
        <p:xfrm>
          <a:off x="907473" y="5292888"/>
          <a:ext cx="812800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(2,3)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(3,2)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(2,3)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2" name="Google Shape;102;p34"/>
          <p:cNvGraphicFramePr/>
          <p:nvPr/>
        </p:nvGraphicFramePr>
        <p:xfrm>
          <a:off x="1662546" y="3813848"/>
          <a:ext cx="1487025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3" name="Google Shape;103;p34"/>
          <p:cNvGraphicFramePr/>
          <p:nvPr/>
        </p:nvGraphicFramePr>
        <p:xfrm>
          <a:off x="3634510" y="3628428"/>
          <a:ext cx="991350" cy="111255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4" name="Google Shape;104;p34"/>
          <p:cNvGraphicFramePr/>
          <p:nvPr/>
        </p:nvGraphicFramePr>
        <p:xfrm>
          <a:off x="5104630" y="3803149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Google Shape;105;p34"/>
          <p:cNvGraphicFramePr/>
          <p:nvPr/>
        </p:nvGraphicFramePr>
        <p:xfrm>
          <a:off x="6759095" y="3814334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" name="Google Shape;106;p34"/>
          <p:cNvSpPr/>
          <p:nvPr/>
        </p:nvSpPr>
        <p:spPr>
          <a:xfrm>
            <a:off x="3288145" y="4073236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4"/>
          <p:cNvSpPr/>
          <p:nvPr/>
        </p:nvSpPr>
        <p:spPr>
          <a:xfrm>
            <a:off x="4759036" y="4035443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4"/>
          <p:cNvSpPr/>
          <p:nvPr/>
        </p:nvSpPr>
        <p:spPr>
          <a:xfrm>
            <a:off x="6229927" y="3997650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Multiplication Order</a:t>
            </a:r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matrix multiplication the matrix dimensions must agree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can multiply matrices in different ways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M= </a:t>
            </a:r>
            <a:r>
              <a:rPr lang="en-US">
                <a:solidFill>
                  <a:srgbClr val="2E75B5"/>
                </a:solidFill>
              </a:rPr>
              <a:t>(A</a:t>
            </a:r>
            <a:r>
              <a:rPr lang="en-US" sz="1600">
                <a:solidFill>
                  <a:srgbClr val="2E75B5"/>
                </a:solidFill>
              </a:rPr>
              <a:t>1</a:t>
            </a:r>
            <a:r>
              <a:rPr lang="en-US">
                <a:solidFill>
                  <a:srgbClr val="2E75B5"/>
                </a:solidFill>
              </a:rPr>
              <a:t> X A</a:t>
            </a:r>
            <a:r>
              <a:rPr lang="en-US" sz="1600">
                <a:solidFill>
                  <a:srgbClr val="2E75B5"/>
                </a:solidFill>
              </a:rPr>
              <a:t>2</a:t>
            </a:r>
            <a:r>
              <a:rPr lang="en-US">
                <a:solidFill>
                  <a:srgbClr val="2E75B5"/>
                </a:solidFill>
              </a:rPr>
              <a:t>)</a:t>
            </a:r>
            <a:r>
              <a:rPr lang="en-US"/>
              <a:t> X </a:t>
            </a:r>
            <a:r>
              <a:rPr lang="en-US">
                <a:solidFill>
                  <a:srgbClr val="FF0000"/>
                </a:solidFill>
              </a:rPr>
              <a:t>(A</a:t>
            </a:r>
            <a:r>
              <a:rPr lang="en-US" sz="1600">
                <a:solidFill>
                  <a:srgbClr val="FF0000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X A</a:t>
            </a:r>
            <a:r>
              <a:rPr lang="en-US" sz="16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=  </a:t>
            </a:r>
            <a:r>
              <a:rPr lang="en-US">
                <a:solidFill>
                  <a:srgbClr val="2E75B5"/>
                </a:solidFill>
              </a:rPr>
              <a:t>A</a:t>
            </a:r>
            <a:r>
              <a:rPr lang="en-US" sz="1600">
                <a:solidFill>
                  <a:srgbClr val="2E75B5"/>
                </a:solidFill>
              </a:rPr>
              <a:t>12</a:t>
            </a:r>
            <a:r>
              <a:rPr lang="en-US"/>
              <a:t> X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 sz="1600">
                <a:solidFill>
                  <a:srgbClr val="FF0000"/>
                </a:solidFill>
              </a:rPr>
              <a:t>34</a:t>
            </a:r>
            <a:endParaRPr>
              <a:solidFill>
                <a:srgbClr val="FF0000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=  A</a:t>
            </a:r>
            <a:r>
              <a:rPr lang="en-US" sz="1600"/>
              <a:t>14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OR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solidFill>
                  <a:srgbClr val="000000"/>
                </a:solidFill>
              </a:rPr>
              <a:t>M= 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(</a:t>
            </a:r>
            <a:r>
              <a:rPr lang="en-US">
                <a:solidFill>
                  <a:srgbClr val="2E75B5"/>
                </a:solidFill>
              </a:rPr>
              <a:t>(A</a:t>
            </a:r>
            <a:r>
              <a:rPr lang="en-US" sz="1600">
                <a:solidFill>
                  <a:srgbClr val="2E75B5"/>
                </a:solidFill>
              </a:rPr>
              <a:t>1</a:t>
            </a:r>
            <a:r>
              <a:rPr lang="en-US">
                <a:solidFill>
                  <a:srgbClr val="2E75B5"/>
                </a:solidFill>
              </a:rPr>
              <a:t> X A</a:t>
            </a:r>
            <a:r>
              <a:rPr lang="en-US" sz="1600">
                <a:solidFill>
                  <a:srgbClr val="2E75B5"/>
                </a:solidFill>
              </a:rPr>
              <a:t>2</a:t>
            </a:r>
            <a:r>
              <a:rPr lang="en-US">
                <a:solidFill>
                  <a:srgbClr val="2E75B5"/>
                </a:solidFill>
              </a:rPr>
              <a:t>)</a:t>
            </a:r>
            <a:r>
              <a:rPr lang="en-US">
                <a:solidFill>
                  <a:srgbClr val="000000"/>
                </a:solidFill>
              </a:rPr>
              <a:t> X </a:t>
            </a:r>
            <a:r>
              <a:rPr lang="en-US">
                <a:solidFill>
                  <a:schemeClr val="accent6"/>
                </a:solidFill>
              </a:rPr>
              <a:t>A</a:t>
            </a:r>
            <a:r>
              <a:rPr lang="en-US" sz="1600">
                <a:solidFill>
                  <a:schemeClr val="accent6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accent6"/>
                </a:solidFill>
              </a:rPr>
              <a:t>)</a:t>
            </a:r>
            <a:r>
              <a:rPr lang="en-US">
                <a:solidFill>
                  <a:srgbClr val="FF0000"/>
                </a:solidFill>
              </a:rPr>
              <a:t> X A</a:t>
            </a:r>
            <a:r>
              <a:rPr lang="en-US" sz="16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solidFill>
                  <a:srgbClr val="000000"/>
                </a:solidFill>
              </a:rPr>
              <a:t>    = 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(</a:t>
            </a:r>
            <a:r>
              <a:rPr lang="en-US">
                <a:solidFill>
                  <a:srgbClr val="2E75B5"/>
                </a:solidFill>
              </a:rPr>
              <a:t>A</a:t>
            </a:r>
            <a:r>
              <a:rPr lang="en-US" sz="1600">
                <a:solidFill>
                  <a:srgbClr val="2E75B5"/>
                </a:solidFill>
              </a:rPr>
              <a:t>12</a:t>
            </a:r>
            <a:r>
              <a:rPr lang="en-US">
                <a:solidFill>
                  <a:srgbClr val="000000"/>
                </a:solidFill>
              </a:rPr>
              <a:t> X </a:t>
            </a:r>
            <a:r>
              <a:rPr lang="en-US">
                <a:solidFill>
                  <a:schemeClr val="accent6"/>
                </a:solidFill>
              </a:rPr>
              <a:t>A</a:t>
            </a:r>
            <a:r>
              <a:rPr lang="en-US" sz="1600">
                <a:solidFill>
                  <a:schemeClr val="accent6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accent6"/>
                </a:solidFill>
              </a:rPr>
              <a:t>)</a:t>
            </a:r>
            <a:r>
              <a:rPr lang="en-US">
                <a:solidFill>
                  <a:srgbClr val="FF0000"/>
                </a:solidFill>
              </a:rPr>
              <a:t> X A</a:t>
            </a:r>
            <a:r>
              <a:rPr lang="en-US" sz="16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>
                <a:solidFill>
                  <a:srgbClr val="000000"/>
                </a:solidFill>
              </a:rPr>
              <a:t>    = 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>
                <a:solidFill>
                  <a:srgbClr val="2E75B5"/>
                </a:solidFill>
              </a:rPr>
              <a:t>A</a:t>
            </a:r>
            <a:r>
              <a:rPr lang="en-US" sz="1600">
                <a:solidFill>
                  <a:srgbClr val="2E75B5"/>
                </a:solidFill>
              </a:rPr>
              <a:t>1</a:t>
            </a:r>
            <a:r>
              <a:rPr lang="en-US" sz="1600">
                <a:solidFill>
                  <a:srgbClr val="70AD47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 X A</a:t>
            </a:r>
            <a:r>
              <a:rPr lang="en-US" sz="16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=  A</a:t>
            </a:r>
            <a:r>
              <a:rPr lang="en-US" sz="1600"/>
              <a:t>14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0000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FF0000"/>
              </a:solidFill>
            </a:endParaRPr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Multiplication Order</a:t>
            </a:r>
            <a:endParaRPr/>
          </a:p>
        </p:txBody>
      </p:sp>
      <p:sp>
        <p:nvSpPr>
          <p:cNvPr id="120" name="Google Shape;12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Question: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How many multiplication operations are needed for both the cases?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Let’s check using the given example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000000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FF0000"/>
              </a:solidFill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Lets check out the first ordering</a:t>
            </a:r>
            <a:endParaRPr/>
          </a:p>
        </p:txBody>
      </p:sp>
      <p:sp>
        <p:nvSpPr>
          <p:cNvPr id="126" name="Google Shape;126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M= </a:t>
            </a:r>
            <a:r>
              <a:rPr lang="en-US">
                <a:solidFill>
                  <a:srgbClr val="2E75B5"/>
                </a:solidFill>
              </a:rPr>
              <a:t>(A</a:t>
            </a:r>
            <a:r>
              <a:rPr lang="en-US" sz="1600">
                <a:solidFill>
                  <a:srgbClr val="2E75B5"/>
                </a:solidFill>
              </a:rPr>
              <a:t>1</a:t>
            </a:r>
            <a:r>
              <a:rPr lang="en-US">
                <a:solidFill>
                  <a:srgbClr val="2E75B5"/>
                </a:solidFill>
              </a:rPr>
              <a:t> X A</a:t>
            </a:r>
            <a:r>
              <a:rPr lang="en-US" sz="1600">
                <a:solidFill>
                  <a:srgbClr val="2E75B5"/>
                </a:solidFill>
              </a:rPr>
              <a:t>2</a:t>
            </a:r>
            <a:r>
              <a:rPr lang="en-US">
                <a:solidFill>
                  <a:srgbClr val="2E75B5"/>
                </a:solidFill>
              </a:rPr>
              <a:t>)</a:t>
            </a:r>
            <a:r>
              <a:rPr lang="en-US"/>
              <a:t> X </a:t>
            </a:r>
            <a:r>
              <a:rPr lang="en-US">
                <a:solidFill>
                  <a:srgbClr val="FF0000"/>
                </a:solidFill>
              </a:rPr>
              <a:t>(A</a:t>
            </a:r>
            <a:r>
              <a:rPr lang="en-US" sz="1600">
                <a:solidFill>
                  <a:srgbClr val="FF0000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X A</a:t>
            </a:r>
            <a:r>
              <a:rPr lang="en-US" sz="16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)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FF0000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M=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=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	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aphicFrame>
        <p:nvGraphicFramePr>
          <p:cNvPr id="127" name="Google Shape;127;p37"/>
          <p:cNvGraphicFramePr/>
          <p:nvPr/>
        </p:nvGraphicFramePr>
        <p:xfrm>
          <a:off x="1524001" y="2603884"/>
          <a:ext cx="1487025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8" name="Google Shape;128;p37"/>
          <p:cNvGraphicFramePr/>
          <p:nvPr/>
        </p:nvGraphicFramePr>
        <p:xfrm>
          <a:off x="3495965" y="2418464"/>
          <a:ext cx="991350" cy="111255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9" name="Google Shape;129;p37"/>
          <p:cNvGraphicFramePr/>
          <p:nvPr/>
        </p:nvGraphicFramePr>
        <p:xfrm>
          <a:off x="4966085" y="2593185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0" name="Google Shape;130;p37"/>
          <p:cNvGraphicFramePr/>
          <p:nvPr/>
        </p:nvGraphicFramePr>
        <p:xfrm>
          <a:off x="6620550" y="2604370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1" name="Google Shape;131;p37"/>
          <p:cNvSpPr/>
          <p:nvPr/>
        </p:nvSpPr>
        <p:spPr>
          <a:xfrm>
            <a:off x="3149600" y="2863272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7"/>
          <p:cNvSpPr/>
          <p:nvPr/>
        </p:nvSpPr>
        <p:spPr>
          <a:xfrm>
            <a:off x="4620491" y="2825479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7"/>
          <p:cNvSpPr/>
          <p:nvPr/>
        </p:nvSpPr>
        <p:spPr>
          <a:xfrm>
            <a:off x="6091382" y="2787686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7"/>
          <p:cNvSpPr/>
          <p:nvPr/>
        </p:nvSpPr>
        <p:spPr>
          <a:xfrm>
            <a:off x="1357745" y="2281382"/>
            <a:ext cx="314037" cy="1249602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7"/>
          <p:cNvSpPr/>
          <p:nvPr/>
        </p:nvSpPr>
        <p:spPr>
          <a:xfrm>
            <a:off x="4872183" y="2281382"/>
            <a:ext cx="314037" cy="1330036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7"/>
          <p:cNvSpPr/>
          <p:nvPr/>
        </p:nvSpPr>
        <p:spPr>
          <a:xfrm>
            <a:off x="4228520" y="2281382"/>
            <a:ext cx="352716" cy="1330036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7"/>
          <p:cNvSpPr/>
          <p:nvPr/>
        </p:nvSpPr>
        <p:spPr>
          <a:xfrm>
            <a:off x="7435563" y="2281382"/>
            <a:ext cx="352716" cy="1330036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37"/>
          <p:cNvGraphicFramePr/>
          <p:nvPr/>
        </p:nvGraphicFramePr>
        <p:xfrm>
          <a:off x="1523999" y="3767466"/>
          <a:ext cx="42579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212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" name="Google Shape;139;p37"/>
          <p:cNvGraphicFramePr/>
          <p:nvPr/>
        </p:nvGraphicFramePr>
        <p:xfrm>
          <a:off x="6613236" y="3664631"/>
          <a:ext cx="3243900" cy="94735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1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0" name="Google Shape;140;p37"/>
          <p:cNvSpPr/>
          <p:nvPr/>
        </p:nvSpPr>
        <p:spPr>
          <a:xfrm>
            <a:off x="6091381" y="3999760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37"/>
          <p:cNvGraphicFramePr/>
          <p:nvPr/>
        </p:nvGraphicFramePr>
        <p:xfrm>
          <a:off x="1654459" y="5246780"/>
          <a:ext cx="1025250" cy="73154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51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2" name="Google Shape;142;p37"/>
          <p:cNvGraphicFramePr/>
          <p:nvPr/>
        </p:nvGraphicFramePr>
        <p:xfrm>
          <a:off x="3203770" y="5136249"/>
          <a:ext cx="1283575" cy="91355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1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" name="Google Shape;143;p37"/>
          <p:cNvSpPr/>
          <p:nvPr/>
        </p:nvSpPr>
        <p:spPr>
          <a:xfrm>
            <a:off x="2798619" y="5473994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7"/>
          <p:cNvSpPr/>
          <p:nvPr/>
        </p:nvSpPr>
        <p:spPr>
          <a:xfrm>
            <a:off x="1215085" y="5429658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37"/>
          <p:cNvGraphicFramePr/>
          <p:nvPr/>
        </p:nvGraphicFramePr>
        <p:xfrm>
          <a:off x="5210780" y="5002477"/>
          <a:ext cx="3488925" cy="128018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116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6" name="Google Shape;146;p37"/>
          <p:cNvSpPr/>
          <p:nvPr/>
        </p:nvSpPr>
        <p:spPr>
          <a:xfrm>
            <a:off x="4872183" y="5459677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37"/>
          <p:cNvGraphicFramePr/>
          <p:nvPr/>
        </p:nvGraphicFramePr>
        <p:xfrm>
          <a:off x="9261924" y="5242919"/>
          <a:ext cx="2476725" cy="73154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8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8" name="Google Shape;148;p37"/>
          <p:cNvSpPr/>
          <p:nvPr/>
        </p:nvSpPr>
        <p:spPr>
          <a:xfrm>
            <a:off x="8800514" y="5425799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7"/>
          <p:cNvSpPr/>
          <p:nvPr/>
        </p:nvSpPr>
        <p:spPr>
          <a:xfrm>
            <a:off x="8699738" y="1036320"/>
            <a:ext cx="2801382" cy="124506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number of multiplications: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 txBox="1">
            <a:spLocks noGrp="1"/>
          </p:cNvSpPr>
          <p:nvPr>
            <p:ph type="title"/>
          </p:nvPr>
        </p:nvSpPr>
        <p:spPr>
          <a:xfrm>
            <a:off x="651657" y="811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Lets check out the second ordering</a:t>
            </a:r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1"/>
          </p:nvPr>
        </p:nvSpPr>
        <p:spPr>
          <a:xfrm>
            <a:off x="683491" y="1354570"/>
            <a:ext cx="1067030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M= </a:t>
            </a:r>
            <a:r>
              <a:rPr lang="en-US" sz="2600">
                <a:solidFill>
                  <a:srgbClr val="FF0000"/>
                </a:solidFill>
              </a:rPr>
              <a:t>(</a:t>
            </a:r>
            <a:r>
              <a:rPr lang="en-US" sz="2600">
                <a:solidFill>
                  <a:srgbClr val="70AD47"/>
                </a:solidFill>
              </a:rPr>
              <a:t>(</a:t>
            </a:r>
            <a:r>
              <a:rPr lang="en-US" sz="2600">
                <a:solidFill>
                  <a:srgbClr val="2E75B5"/>
                </a:solidFill>
              </a:rPr>
              <a:t>(A</a:t>
            </a:r>
            <a:r>
              <a:rPr lang="en-US" sz="1900">
                <a:solidFill>
                  <a:srgbClr val="2E75B5"/>
                </a:solidFill>
              </a:rPr>
              <a:t>1</a:t>
            </a:r>
            <a:r>
              <a:rPr lang="en-US" sz="2600">
                <a:solidFill>
                  <a:srgbClr val="2E75B5"/>
                </a:solidFill>
              </a:rPr>
              <a:t> X A</a:t>
            </a:r>
            <a:r>
              <a:rPr lang="en-US" sz="1900">
                <a:solidFill>
                  <a:srgbClr val="2E75B5"/>
                </a:solidFill>
              </a:rPr>
              <a:t>2</a:t>
            </a:r>
            <a:r>
              <a:rPr lang="en-US" sz="2600">
                <a:solidFill>
                  <a:srgbClr val="2E75B5"/>
                </a:solidFill>
              </a:rPr>
              <a:t>)</a:t>
            </a:r>
            <a:r>
              <a:rPr lang="en-US" sz="2600">
                <a:solidFill>
                  <a:srgbClr val="000000"/>
                </a:solidFill>
              </a:rPr>
              <a:t> X </a:t>
            </a:r>
            <a:r>
              <a:rPr lang="en-US" sz="2600">
                <a:solidFill>
                  <a:srgbClr val="70AD47"/>
                </a:solidFill>
              </a:rPr>
              <a:t>A</a:t>
            </a:r>
            <a:r>
              <a:rPr lang="en-US" sz="1900">
                <a:solidFill>
                  <a:srgbClr val="70AD47"/>
                </a:solidFill>
              </a:rPr>
              <a:t>3</a:t>
            </a:r>
            <a:r>
              <a:rPr lang="en-US" sz="2600">
                <a:solidFill>
                  <a:srgbClr val="FF0000"/>
                </a:solidFill>
              </a:rPr>
              <a:t> </a:t>
            </a:r>
            <a:r>
              <a:rPr lang="en-US" sz="2600">
                <a:solidFill>
                  <a:srgbClr val="70AD47"/>
                </a:solidFill>
              </a:rPr>
              <a:t>)</a:t>
            </a:r>
            <a:r>
              <a:rPr lang="en-US" sz="2600">
                <a:solidFill>
                  <a:srgbClr val="FF0000"/>
                </a:solidFill>
              </a:rPr>
              <a:t> X A</a:t>
            </a:r>
            <a:r>
              <a:rPr lang="en-US" sz="1900">
                <a:solidFill>
                  <a:srgbClr val="FF0000"/>
                </a:solidFill>
              </a:rPr>
              <a:t>4</a:t>
            </a:r>
            <a:r>
              <a:rPr lang="en-US" sz="2600">
                <a:solidFill>
                  <a:srgbClr val="FF0000"/>
                </a:solidFill>
              </a:rPr>
              <a:t>)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FF0000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M=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	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aphicFrame>
        <p:nvGraphicFramePr>
          <p:cNvPr id="157" name="Google Shape;157;p38"/>
          <p:cNvGraphicFramePr/>
          <p:nvPr/>
        </p:nvGraphicFramePr>
        <p:xfrm>
          <a:off x="2258470" y="2133626"/>
          <a:ext cx="1487025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8" name="Google Shape;158;p38"/>
          <p:cNvGraphicFramePr/>
          <p:nvPr/>
        </p:nvGraphicFramePr>
        <p:xfrm>
          <a:off x="4230434" y="1948206"/>
          <a:ext cx="991350" cy="111255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9" name="Google Shape;159;p38"/>
          <p:cNvGraphicFramePr/>
          <p:nvPr/>
        </p:nvGraphicFramePr>
        <p:xfrm>
          <a:off x="5700554" y="2122927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0" name="Google Shape;160;p38"/>
          <p:cNvGraphicFramePr/>
          <p:nvPr/>
        </p:nvGraphicFramePr>
        <p:xfrm>
          <a:off x="7355019" y="2134112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1" name="Google Shape;161;p38"/>
          <p:cNvSpPr/>
          <p:nvPr/>
        </p:nvSpPr>
        <p:spPr>
          <a:xfrm>
            <a:off x="3884069" y="2393014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8"/>
          <p:cNvSpPr/>
          <p:nvPr/>
        </p:nvSpPr>
        <p:spPr>
          <a:xfrm>
            <a:off x="5354960" y="2355221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8"/>
          <p:cNvSpPr/>
          <p:nvPr/>
        </p:nvSpPr>
        <p:spPr>
          <a:xfrm>
            <a:off x="6825851" y="2317428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8"/>
          <p:cNvSpPr/>
          <p:nvPr/>
        </p:nvSpPr>
        <p:spPr>
          <a:xfrm>
            <a:off x="2092214" y="1811124"/>
            <a:ext cx="314037" cy="1249602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8"/>
          <p:cNvSpPr/>
          <p:nvPr/>
        </p:nvSpPr>
        <p:spPr>
          <a:xfrm flipH="1">
            <a:off x="6449377" y="1764172"/>
            <a:ext cx="381574" cy="1330036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8"/>
          <p:cNvSpPr/>
          <p:nvPr/>
        </p:nvSpPr>
        <p:spPr>
          <a:xfrm>
            <a:off x="4962989" y="1811124"/>
            <a:ext cx="352716" cy="1330036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8"/>
          <p:cNvSpPr/>
          <p:nvPr/>
        </p:nvSpPr>
        <p:spPr>
          <a:xfrm>
            <a:off x="8168203" y="1755040"/>
            <a:ext cx="352716" cy="1330036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38"/>
          <p:cNvGraphicFramePr/>
          <p:nvPr/>
        </p:nvGraphicFramePr>
        <p:xfrm>
          <a:off x="1481852" y="3296411"/>
          <a:ext cx="42579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212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1+1</a:t>
                      </a: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Google Shape;169;p38"/>
          <p:cNvSpPr/>
          <p:nvPr/>
        </p:nvSpPr>
        <p:spPr>
          <a:xfrm>
            <a:off x="6049234" y="3528705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8"/>
          <p:cNvSpPr/>
          <p:nvPr/>
        </p:nvSpPr>
        <p:spPr>
          <a:xfrm>
            <a:off x="1693984" y="1811124"/>
            <a:ext cx="314037" cy="1249602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8"/>
          <p:cNvSpPr/>
          <p:nvPr/>
        </p:nvSpPr>
        <p:spPr>
          <a:xfrm>
            <a:off x="1256740" y="1811124"/>
            <a:ext cx="314037" cy="1249602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8"/>
          <p:cNvSpPr/>
          <p:nvPr/>
        </p:nvSpPr>
        <p:spPr>
          <a:xfrm>
            <a:off x="692842" y="3484369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38"/>
          <p:cNvGraphicFramePr/>
          <p:nvPr/>
        </p:nvGraphicFramePr>
        <p:xfrm>
          <a:off x="6417427" y="3243679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4" name="Google Shape;174;p38"/>
          <p:cNvSpPr/>
          <p:nvPr/>
        </p:nvSpPr>
        <p:spPr>
          <a:xfrm flipH="1">
            <a:off x="7408797" y="3031462"/>
            <a:ext cx="381574" cy="105008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281557" y="3133137"/>
            <a:ext cx="356255" cy="105008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8"/>
          <p:cNvSpPr/>
          <p:nvPr/>
        </p:nvSpPr>
        <p:spPr>
          <a:xfrm>
            <a:off x="942703" y="3141160"/>
            <a:ext cx="314037" cy="104205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38"/>
          <p:cNvGraphicFramePr/>
          <p:nvPr/>
        </p:nvGraphicFramePr>
        <p:xfrm>
          <a:off x="8478869" y="3230578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8" name="Google Shape;178;p38"/>
          <p:cNvSpPr/>
          <p:nvPr/>
        </p:nvSpPr>
        <p:spPr>
          <a:xfrm>
            <a:off x="7949701" y="3413894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8"/>
          <p:cNvSpPr/>
          <p:nvPr/>
        </p:nvSpPr>
        <p:spPr>
          <a:xfrm>
            <a:off x="9292053" y="3031462"/>
            <a:ext cx="352716" cy="1050080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38"/>
          <p:cNvGraphicFramePr/>
          <p:nvPr/>
        </p:nvGraphicFramePr>
        <p:xfrm>
          <a:off x="1442590" y="4556910"/>
          <a:ext cx="1147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57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1" name="Google Shape;181;p38"/>
          <p:cNvSpPr/>
          <p:nvPr/>
        </p:nvSpPr>
        <p:spPr>
          <a:xfrm>
            <a:off x="2753562" y="4789202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8"/>
          <p:cNvSpPr/>
          <p:nvPr/>
        </p:nvSpPr>
        <p:spPr>
          <a:xfrm>
            <a:off x="653580" y="4744868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38"/>
          <p:cNvGraphicFramePr/>
          <p:nvPr/>
        </p:nvGraphicFramePr>
        <p:xfrm>
          <a:off x="3148222" y="4580644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4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4" name="Google Shape;184;p38"/>
          <p:cNvSpPr/>
          <p:nvPr/>
        </p:nvSpPr>
        <p:spPr>
          <a:xfrm flipH="1">
            <a:off x="3965209" y="4393636"/>
            <a:ext cx="381574" cy="105008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8"/>
          <p:cNvSpPr/>
          <p:nvPr/>
        </p:nvSpPr>
        <p:spPr>
          <a:xfrm>
            <a:off x="1242295" y="4393636"/>
            <a:ext cx="356255" cy="105008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8"/>
          <p:cNvSpPr/>
          <p:nvPr/>
        </p:nvSpPr>
        <p:spPr>
          <a:xfrm>
            <a:off x="903441" y="4401659"/>
            <a:ext cx="314037" cy="104205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38"/>
          <p:cNvGraphicFramePr/>
          <p:nvPr/>
        </p:nvGraphicFramePr>
        <p:xfrm>
          <a:off x="4720657" y="4556910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8" name="Google Shape;188;p38"/>
          <p:cNvSpPr/>
          <p:nvPr/>
        </p:nvSpPr>
        <p:spPr>
          <a:xfrm>
            <a:off x="4423894" y="4747456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8"/>
          <p:cNvSpPr/>
          <p:nvPr/>
        </p:nvSpPr>
        <p:spPr>
          <a:xfrm>
            <a:off x="5533841" y="4357794"/>
            <a:ext cx="352716" cy="1050080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38"/>
          <p:cNvGraphicFramePr/>
          <p:nvPr/>
        </p:nvGraphicFramePr>
        <p:xfrm>
          <a:off x="6944015" y="4556910"/>
          <a:ext cx="222980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111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1+3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1" name="Google Shape;191;p38"/>
          <p:cNvSpPr/>
          <p:nvPr/>
        </p:nvSpPr>
        <p:spPr>
          <a:xfrm>
            <a:off x="6036841" y="4711419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8"/>
          <p:cNvSpPr/>
          <p:nvPr/>
        </p:nvSpPr>
        <p:spPr>
          <a:xfrm flipH="1">
            <a:off x="9086837" y="4358668"/>
            <a:ext cx="381574" cy="105008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8"/>
          <p:cNvSpPr/>
          <p:nvPr/>
        </p:nvSpPr>
        <p:spPr>
          <a:xfrm>
            <a:off x="6625556" y="4360187"/>
            <a:ext cx="356255" cy="105008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8"/>
          <p:cNvSpPr/>
          <p:nvPr/>
        </p:nvSpPr>
        <p:spPr>
          <a:xfrm>
            <a:off x="6286702" y="4368210"/>
            <a:ext cx="314037" cy="104205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38"/>
          <p:cNvGraphicFramePr/>
          <p:nvPr/>
        </p:nvGraphicFramePr>
        <p:xfrm>
          <a:off x="9902236" y="4518398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" name="Google Shape;196;p38"/>
          <p:cNvSpPr/>
          <p:nvPr/>
        </p:nvSpPr>
        <p:spPr>
          <a:xfrm>
            <a:off x="9593168" y="4711714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8"/>
          <p:cNvSpPr/>
          <p:nvPr/>
        </p:nvSpPr>
        <p:spPr>
          <a:xfrm>
            <a:off x="10917102" y="4324345"/>
            <a:ext cx="352716" cy="1050080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38"/>
          <p:cNvGraphicFramePr/>
          <p:nvPr/>
        </p:nvGraphicFramePr>
        <p:xfrm>
          <a:off x="1558831" y="5834074"/>
          <a:ext cx="11947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59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9" name="Google Shape;199;p38"/>
          <p:cNvSpPr/>
          <p:nvPr/>
        </p:nvSpPr>
        <p:spPr>
          <a:xfrm>
            <a:off x="651657" y="5988583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8"/>
          <p:cNvSpPr/>
          <p:nvPr/>
        </p:nvSpPr>
        <p:spPr>
          <a:xfrm>
            <a:off x="1185163" y="5643814"/>
            <a:ext cx="314037" cy="104205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1" name="Google Shape;201;p38"/>
          <p:cNvGraphicFramePr/>
          <p:nvPr/>
        </p:nvGraphicFramePr>
        <p:xfrm>
          <a:off x="3239063" y="5832309"/>
          <a:ext cx="99135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33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2" name="Google Shape;202;p38"/>
          <p:cNvSpPr/>
          <p:nvPr/>
        </p:nvSpPr>
        <p:spPr>
          <a:xfrm>
            <a:off x="2872825" y="6055123"/>
            <a:ext cx="212437" cy="277091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8"/>
          <p:cNvSpPr/>
          <p:nvPr/>
        </p:nvSpPr>
        <p:spPr>
          <a:xfrm>
            <a:off x="4207877" y="5668628"/>
            <a:ext cx="352716" cy="1050080"/>
          </a:xfrm>
          <a:prstGeom prst="rightBracket">
            <a:avLst>
              <a:gd name="adj" fmla="val 8333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38"/>
          <p:cNvGraphicFramePr/>
          <p:nvPr/>
        </p:nvGraphicFramePr>
        <p:xfrm>
          <a:off x="5820057" y="5810436"/>
          <a:ext cx="3266775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114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1+6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38"/>
          <p:cNvSpPr/>
          <p:nvPr/>
        </p:nvSpPr>
        <p:spPr>
          <a:xfrm>
            <a:off x="4912887" y="5964945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9379742" y="5983034"/>
            <a:ext cx="177338" cy="365761"/>
          </a:xfrm>
          <a:prstGeom prst="mathEqual">
            <a:avLst>
              <a:gd name="adj1" fmla="val 3381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38"/>
          <p:cNvGraphicFramePr/>
          <p:nvPr/>
        </p:nvGraphicFramePr>
        <p:xfrm>
          <a:off x="9622313" y="5830129"/>
          <a:ext cx="2476725" cy="73154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8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</a:rPr>
                        <a:t>12</a:t>
                      </a:r>
                      <a:endParaRPr sz="18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8" name="Google Shape;208;p38"/>
          <p:cNvSpPr/>
          <p:nvPr/>
        </p:nvSpPr>
        <p:spPr>
          <a:xfrm>
            <a:off x="9086836" y="1005553"/>
            <a:ext cx="2801382" cy="124506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number of multiplications: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Another Question (similar to the earlier one)</a:t>
            </a:r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How many multiplication operations are needed for the given matrices when you multiply them in the given order?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15" name="Google Shape;21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320" y="3047802"/>
            <a:ext cx="10226462" cy="1056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8337" y="4378268"/>
            <a:ext cx="6892290" cy="886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40"/>
          <p:cNvGrpSpPr/>
          <p:nvPr/>
        </p:nvGrpSpPr>
        <p:grpSpPr>
          <a:xfrm>
            <a:off x="909320" y="5354943"/>
            <a:ext cx="9648789" cy="1366413"/>
            <a:chOff x="1705010" y="5403273"/>
            <a:chExt cx="9648789" cy="1366413"/>
          </a:xfrm>
        </p:grpSpPr>
        <p:sp>
          <p:nvSpPr>
            <p:cNvPr id="218" name="Google Shape;218;p40"/>
            <p:cNvSpPr/>
            <p:nvPr/>
          </p:nvSpPr>
          <p:spPr>
            <a:xfrm>
              <a:off x="1705010" y="5879359"/>
              <a:ext cx="2526654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No_Of_Mults 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9" name="Google Shape;219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87745" y="5734008"/>
              <a:ext cx="6892290" cy="886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40"/>
            <p:cNvSpPr/>
            <p:nvPr/>
          </p:nvSpPr>
          <p:spPr>
            <a:xfrm>
              <a:off x="4087744" y="5403273"/>
              <a:ext cx="7266055" cy="1366413"/>
            </a:xfrm>
            <a:prstGeom prst="bracketPair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/>
          <p:nvPr/>
        </p:nvSpPr>
        <p:spPr>
          <a:xfrm>
            <a:off x="2234045" y="388461"/>
            <a:ext cx="6467837" cy="4243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1"/>
          <p:cNvSpPr/>
          <p:nvPr/>
        </p:nvSpPr>
        <p:spPr>
          <a:xfrm>
            <a:off x="53954" y="776127"/>
            <a:ext cx="469070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X 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X 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3611159" y="2817850"/>
            <a:ext cx="469070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X 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X 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997210" y="4197167"/>
            <a:ext cx="329288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X 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7295767" y="4197167"/>
            <a:ext cx="33618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X 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-116285" y="5742312"/>
            <a:ext cx="25010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2780663" y="5742312"/>
            <a:ext cx="25010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5956513" y="5742312"/>
            <a:ext cx="25699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8976676" y="5742312"/>
            <a:ext cx="25699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No_Of_Mults (</a:t>
            </a:r>
            <a:r>
              <a:rPr lang="en-US" sz="24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41"/>
          <p:cNvCxnSpPr>
            <a:stCxn id="227" idx="2"/>
            <a:endCxn id="228" idx="0"/>
          </p:cNvCxnSpPr>
          <p:nvPr/>
        </p:nvCxnSpPr>
        <p:spPr>
          <a:xfrm flipH="1">
            <a:off x="2643613" y="3279515"/>
            <a:ext cx="3312900" cy="91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5" name="Google Shape;235;p41"/>
          <p:cNvCxnSpPr>
            <a:stCxn id="227" idx="2"/>
            <a:endCxn id="229" idx="0"/>
          </p:cNvCxnSpPr>
          <p:nvPr/>
        </p:nvCxnSpPr>
        <p:spPr>
          <a:xfrm>
            <a:off x="5956513" y="3279515"/>
            <a:ext cx="3020100" cy="91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6" name="Google Shape;236;p41"/>
          <p:cNvCxnSpPr>
            <a:stCxn id="229" idx="2"/>
            <a:endCxn id="232" idx="0"/>
          </p:cNvCxnSpPr>
          <p:nvPr/>
        </p:nvCxnSpPr>
        <p:spPr>
          <a:xfrm flipH="1">
            <a:off x="7241476" y="4658832"/>
            <a:ext cx="1735200" cy="108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7" name="Google Shape;237;p41"/>
          <p:cNvCxnSpPr>
            <a:stCxn id="229" idx="2"/>
            <a:endCxn id="233" idx="0"/>
          </p:cNvCxnSpPr>
          <p:nvPr/>
        </p:nvCxnSpPr>
        <p:spPr>
          <a:xfrm>
            <a:off x="8976676" y="4658832"/>
            <a:ext cx="1284900" cy="108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8" name="Google Shape;238;p41"/>
          <p:cNvCxnSpPr>
            <a:stCxn id="228" idx="2"/>
            <a:endCxn id="230" idx="0"/>
          </p:cNvCxnSpPr>
          <p:nvPr/>
        </p:nvCxnSpPr>
        <p:spPr>
          <a:xfrm flipH="1">
            <a:off x="1134354" y="4658832"/>
            <a:ext cx="1509300" cy="108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9" name="Google Shape;239;p41"/>
          <p:cNvCxnSpPr>
            <a:stCxn id="228" idx="2"/>
            <a:endCxn id="231" idx="0"/>
          </p:cNvCxnSpPr>
          <p:nvPr/>
        </p:nvCxnSpPr>
        <p:spPr>
          <a:xfrm>
            <a:off x="2643655" y="4658832"/>
            <a:ext cx="1387500" cy="108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0" name="Google Shape;240;p41"/>
          <p:cNvSpPr txBox="1"/>
          <p:nvPr/>
        </p:nvSpPr>
        <p:spPr>
          <a:xfrm>
            <a:off x="741162" y="6263894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1"/>
          <p:cNvSpPr txBox="1"/>
          <p:nvPr/>
        </p:nvSpPr>
        <p:spPr>
          <a:xfrm>
            <a:off x="3638110" y="6222409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1"/>
          <p:cNvSpPr txBox="1"/>
          <p:nvPr/>
        </p:nvSpPr>
        <p:spPr>
          <a:xfrm>
            <a:off x="6535058" y="6180924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1"/>
          <p:cNvSpPr txBox="1"/>
          <p:nvPr/>
        </p:nvSpPr>
        <p:spPr>
          <a:xfrm>
            <a:off x="9432006" y="6139439"/>
            <a:ext cx="3930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1"/>
          <p:cNvSpPr txBox="1"/>
          <p:nvPr/>
        </p:nvSpPr>
        <p:spPr>
          <a:xfrm flipH="1">
            <a:off x="1362362" y="5187495"/>
            <a:ext cx="3013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 flipH="1">
            <a:off x="3455635" y="5148466"/>
            <a:ext cx="3013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 flipH="1">
            <a:off x="1945924" y="4973645"/>
            <a:ext cx="12355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1"/>
          <p:cNvSpPr txBox="1"/>
          <p:nvPr/>
        </p:nvSpPr>
        <p:spPr>
          <a:xfrm flipH="1">
            <a:off x="7573617" y="5157408"/>
            <a:ext cx="3013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1"/>
          <p:cNvSpPr txBox="1"/>
          <p:nvPr/>
        </p:nvSpPr>
        <p:spPr>
          <a:xfrm flipH="1">
            <a:off x="8233049" y="4958172"/>
            <a:ext cx="119385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1"/>
          <p:cNvSpPr txBox="1"/>
          <p:nvPr/>
        </p:nvSpPr>
        <p:spPr>
          <a:xfrm flipH="1">
            <a:off x="9768000" y="5171438"/>
            <a:ext cx="3013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41"/>
          <p:cNvGraphicFramePr/>
          <p:nvPr/>
        </p:nvGraphicFramePr>
        <p:xfrm>
          <a:off x="4064000" y="51157"/>
          <a:ext cx="812800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(2,3)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(3,2)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(2,3)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1" name="Google Shape;251;p41"/>
          <p:cNvSpPr txBox="1"/>
          <p:nvPr/>
        </p:nvSpPr>
        <p:spPr>
          <a:xfrm>
            <a:off x="5154891" y="1110347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1"/>
          <p:cNvSpPr txBox="1"/>
          <p:nvPr/>
        </p:nvSpPr>
        <p:spPr>
          <a:xfrm>
            <a:off x="6780491" y="1110347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1"/>
          <p:cNvSpPr txBox="1"/>
          <p:nvPr/>
        </p:nvSpPr>
        <p:spPr>
          <a:xfrm>
            <a:off x="8406091" y="1110347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1"/>
          <p:cNvSpPr txBox="1"/>
          <p:nvPr/>
        </p:nvSpPr>
        <p:spPr>
          <a:xfrm>
            <a:off x="10031691" y="1110347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1"/>
          <p:cNvSpPr txBox="1"/>
          <p:nvPr/>
        </p:nvSpPr>
        <p:spPr>
          <a:xfrm>
            <a:off x="11657291" y="1110347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41"/>
          <p:cNvCxnSpPr/>
          <p:nvPr/>
        </p:nvCxnSpPr>
        <p:spPr>
          <a:xfrm rot="10800000" flipH="1">
            <a:off x="5474931" y="744587"/>
            <a:ext cx="290869" cy="47752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7" name="Google Shape;257;p41"/>
          <p:cNvCxnSpPr/>
          <p:nvPr/>
        </p:nvCxnSpPr>
        <p:spPr>
          <a:xfrm rot="10800000">
            <a:off x="6127712" y="712833"/>
            <a:ext cx="774699" cy="659124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8" name="Google Shape;258;p41"/>
          <p:cNvCxnSpPr/>
          <p:nvPr/>
        </p:nvCxnSpPr>
        <p:spPr>
          <a:xfrm rot="10800000" flipH="1">
            <a:off x="6830100" y="650597"/>
            <a:ext cx="652779" cy="72136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9" name="Google Shape;259;p41"/>
          <p:cNvCxnSpPr/>
          <p:nvPr/>
        </p:nvCxnSpPr>
        <p:spPr>
          <a:xfrm rot="10800000">
            <a:off x="7745691" y="712833"/>
            <a:ext cx="736600" cy="72136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0" name="Google Shape;260;p41"/>
          <p:cNvCxnSpPr/>
          <p:nvPr/>
        </p:nvCxnSpPr>
        <p:spPr>
          <a:xfrm rot="10800000" flipH="1">
            <a:off x="8482291" y="712833"/>
            <a:ext cx="652779" cy="72136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1" name="Google Shape;261;p41"/>
          <p:cNvCxnSpPr/>
          <p:nvPr/>
        </p:nvCxnSpPr>
        <p:spPr>
          <a:xfrm rot="10800000">
            <a:off x="9361131" y="792837"/>
            <a:ext cx="899081" cy="50800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2" name="Google Shape;262;p41"/>
          <p:cNvCxnSpPr/>
          <p:nvPr/>
        </p:nvCxnSpPr>
        <p:spPr>
          <a:xfrm rot="10800000" flipH="1">
            <a:off x="10260212" y="846189"/>
            <a:ext cx="466207" cy="45464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3" name="Google Shape;263;p41"/>
          <p:cNvCxnSpPr/>
          <p:nvPr/>
        </p:nvCxnSpPr>
        <p:spPr>
          <a:xfrm rot="10800000">
            <a:off x="10981493" y="750945"/>
            <a:ext cx="866874" cy="549892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4" name="Google Shape;264;p41"/>
          <p:cNvSpPr txBox="1"/>
          <p:nvPr/>
        </p:nvSpPr>
        <p:spPr>
          <a:xfrm flipH="1">
            <a:off x="1821214" y="4603493"/>
            <a:ext cx="224120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2X3X2+0+0=12</a:t>
            </a:r>
            <a:endParaRPr sz="12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1"/>
          <p:cNvSpPr txBox="1"/>
          <p:nvPr/>
        </p:nvSpPr>
        <p:spPr>
          <a:xfrm flipH="1">
            <a:off x="8109078" y="4588157"/>
            <a:ext cx="224120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2X2X3+0+0=12</a:t>
            </a:r>
            <a:endParaRPr sz="12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1"/>
          <p:cNvSpPr txBox="1"/>
          <p:nvPr/>
        </p:nvSpPr>
        <p:spPr>
          <a:xfrm flipH="1">
            <a:off x="2768289" y="3577351"/>
            <a:ext cx="60514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1"/>
          <p:cNvSpPr txBox="1"/>
          <p:nvPr/>
        </p:nvSpPr>
        <p:spPr>
          <a:xfrm flipH="1">
            <a:off x="9269371" y="3681987"/>
            <a:ext cx="60514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1"/>
          <p:cNvSpPr txBox="1"/>
          <p:nvPr/>
        </p:nvSpPr>
        <p:spPr>
          <a:xfrm flipH="1">
            <a:off x="5351889" y="3502307"/>
            <a:ext cx="22412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1"/>
          <p:cNvSpPr txBox="1"/>
          <p:nvPr/>
        </p:nvSpPr>
        <p:spPr>
          <a:xfrm flipH="1">
            <a:off x="5131039" y="3189545"/>
            <a:ext cx="224120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2X2X3+12+12=36</a:t>
            </a:r>
            <a:endParaRPr sz="12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1"/>
          <p:cNvSpPr txBox="1"/>
          <p:nvPr/>
        </p:nvSpPr>
        <p:spPr>
          <a:xfrm flipH="1">
            <a:off x="5707787" y="2372895"/>
            <a:ext cx="60514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1189" y="-10278"/>
            <a:ext cx="7569622" cy="55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8578" y="1116849"/>
            <a:ext cx="3474843" cy="31571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2"/>
          <p:cNvSpPr txBox="1"/>
          <p:nvPr/>
        </p:nvSpPr>
        <p:spPr>
          <a:xfrm>
            <a:off x="4038389" y="2545452"/>
            <a:ext cx="16786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2"/>
          <p:cNvSpPr txBox="1"/>
          <p:nvPr/>
        </p:nvSpPr>
        <p:spPr>
          <a:xfrm>
            <a:off x="6583602" y="2545452"/>
            <a:ext cx="16097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((A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)A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419354" y="4045874"/>
            <a:ext cx="5100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2"/>
          <p:cNvSpPr/>
          <p:nvPr/>
        </p:nvSpPr>
        <p:spPr>
          <a:xfrm>
            <a:off x="3937988" y="4045874"/>
            <a:ext cx="11480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2"/>
          <p:cNvSpPr/>
          <p:nvPr/>
        </p:nvSpPr>
        <p:spPr>
          <a:xfrm>
            <a:off x="6404753" y="4045874"/>
            <a:ext cx="11480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2"/>
          <p:cNvSpPr txBox="1"/>
          <p:nvPr/>
        </p:nvSpPr>
        <p:spPr>
          <a:xfrm>
            <a:off x="10473922" y="3881370"/>
            <a:ext cx="5100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2"/>
          <p:cNvSpPr txBox="1"/>
          <p:nvPr/>
        </p:nvSpPr>
        <p:spPr>
          <a:xfrm>
            <a:off x="3384621" y="5419826"/>
            <a:ext cx="5100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2"/>
          <p:cNvSpPr txBox="1"/>
          <p:nvPr/>
        </p:nvSpPr>
        <p:spPr>
          <a:xfrm>
            <a:off x="4815933" y="5434532"/>
            <a:ext cx="5100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2"/>
          <p:cNvSpPr txBox="1"/>
          <p:nvPr/>
        </p:nvSpPr>
        <p:spPr>
          <a:xfrm>
            <a:off x="6201653" y="5373024"/>
            <a:ext cx="5100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2"/>
          <p:cNvSpPr txBox="1"/>
          <p:nvPr/>
        </p:nvSpPr>
        <p:spPr>
          <a:xfrm>
            <a:off x="7267398" y="5373024"/>
            <a:ext cx="5100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42"/>
          <p:cNvCxnSpPr>
            <a:stCxn id="276" idx="2"/>
            <a:endCxn id="277" idx="0"/>
          </p:cNvCxnSpPr>
          <p:nvPr/>
        </p:nvCxnSpPr>
        <p:spPr>
          <a:xfrm flipH="1">
            <a:off x="4877700" y="1432561"/>
            <a:ext cx="1218300" cy="111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8" name="Google Shape;288;p42"/>
          <p:cNvCxnSpPr>
            <a:stCxn id="276" idx="2"/>
            <a:endCxn id="278" idx="0"/>
          </p:cNvCxnSpPr>
          <p:nvPr/>
        </p:nvCxnSpPr>
        <p:spPr>
          <a:xfrm>
            <a:off x="6095999" y="1432561"/>
            <a:ext cx="1292400" cy="111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9" name="Google Shape;289;p42"/>
          <p:cNvCxnSpPr>
            <a:stCxn id="277" idx="2"/>
            <a:endCxn id="279" idx="0"/>
          </p:cNvCxnSpPr>
          <p:nvPr/>
        </p:nvCxnSpPr>
        <p:spPr>
          <a:xfrm flipH="1">
            <a:off x="674421" y="3068672"/>
            <a:ext cx="4203300" cy="977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0" name="Google Shape;290;p42"/>
          <p:cNvCxnSpPr>
            <a:stCxn id="277" idx="2"/>
            <a:endCxn id="280" idx="0"/>
          </p:cNvCxnSpPr>
          <p:nvPr/>
        </p:nvCxnSpPr>
        <p:spPr>
          <a:xfrm flipH="1">
            <a:off x="4512022" y="3068672"/>
            <a:ext cx="365700" cy="977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1" name="Google Shape;291;p42"/>
          <p:cNvCxnSpPr>
            <a:stCxn id="280" idx="2"/>
            <a:endCxn id="283" idx="0"/>
          </p:cNvCxnSpPr>
          <p:nvPr/>
        </p:nvCxnSpPr>
        <p:spPr>
          <a:xfrm flipH="1">
            <a:off x="3639624" y="4569094"/>
            <a:ext cx="872400" cy="85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2" name="Google Shape;292;p42"/>
          <p:cNvCxnSpPr>
            <a:stCxn id="280" idx="2"/>
            <a:endCxn id="284" idx="0"/>
          </p:cNvCxnSpPr>
          <p:nvPr/>
        </p:nvCxnSpPr>
        <p:spPr>
          <a:xfrm>
            <a:off x="4512024" y="4569094"/>
            <a:ext cx="558900" cy="86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3" name="Google Shape;293;p42"/>
          <p:cNvCxnSpPr>
            <a:stCxn id="281" idx="2"/>
            <a:endCxn id="285" idx="0"/>
          </p:cNvCxnSpPr>
          <p:nvPr/>
        </p:nvCxnSpPr>
        <p:spPr>
          <a:xfrm flipH="1">
            <a:off x="6456788" y="4569094"/>
            <a:ext cx="522000" cy="80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4" name="Google Shape;294;p42"/>
          <p:cNvCxnSpPr>
            <a:stCxn id="281" idx="2"/>
            <a:endCxn id="286" idx="0"/>
          </p:cNvCxnSpPr>
          <p:nvPr/>
        </p:nvCxnSpPr>
        <p:spPr>
          <a:xfrm>
            <a:off x="6978788" y="4569094"/>
            <a:ext cx="543600" cy="80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5" name="Google Shape;295;p42"/>
          <p:cNvCxnSpPr>
            <a:stCxn id="278" idx="2"/>
            <a:endCxn id="281" idx="0"/>
          </p:cNvCxnSpPr>
          <p:nvPr/>
        </p:nvCxnSpPr>
        <p:spPr>
          <a:xfrm flipH="1">
            <a:off x="6978670" y="3068672"/>
            <a:ext cx="409800" cy="977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6" name="Google Shape;296;p42"/>
          <p:cNvCxnSpPr>
            <a:stCxn id="278" idx="2"/>
          </p:cNvCxnSpPr>
          <p:nvPr/>
        </p:nvCxnSpPr>
        <p:spPr>
          <a:xfrm>
            <a:off x="7388470" y="3068672"/>
            <a:ext cx="3340500" cy="885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7" name="Google Shape;297;p42"/>
          <p:cNvSpPr txBox="1"/>
          <p:nvPr/>
        </p:nvSpPr>
        <p:spPr>
          <a:xfrm>
            <a:off x="1426572" y="349209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2"/>
          <p:cNvSpPr txBox="1"/>
          <p:nvPr/>
        </p:nvSpPr>
        <p:spPr>
          <a:xfrm>
            <a:off x="3552785" y="4896606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2"/>
          <p:cNvSpPr txBox="1"/>
          <p:nvPr/>
        </p:nvSpPr>
        <p:spPr>
          <a:xfrm>
            <a:off x="4916086" y="493787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2"/>
          <p:cNvSpPr txBox="1"/>
          <p:nvPr/>
        </p:nvSpPr>
        <p:spPr>
          <a:xfrm>
            <a:off x="6326945" y="47971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2"/>
          <p:cNvSpPr txBox="1"/>
          <p:nvPr/>
        </p:nvSpPr>
        <p:spPr>
          <a:xfrm>
            <a:off x="7330808" y="4838848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2"/>
          <p:cNvSpPr txBox="1"/>
          <p:nvPr/>
        </p:nvSpPr>
        <p:spPr>
          <a:xfrm>
            <a:off x="9462254" y="3280383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2798124" y="4570232"/>
            <a:ext cx="111120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P1P2P3=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3665911" y="406020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2"/>
          <p:cNvSpPr txBox="1"/>
          <p:nvPr/>
        </p:nvSpPr>
        <p:spPr>
          <a:xfrm>
            <a:off x="4780985" y="387354"/>
            <a:ext cx="4651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2"/>
          <p:cNvSpPr txBox="1"/>
          <p:nvPr/>
        </p:nvSpPr>
        <p:spPr>
          <a:xfrm>
            <a:off x="5842011" y="360425"/>
            <a:ext cx="4651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6663475" y="406020"/>
            <a:ext cx="4651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2"/>
          <p:cNvSpPr txBox="1"/>
          <p:nvPr/>
        </p:nvSpPr>
        <p:spPr>
          <a:xfrm>
            <a:off x="7653727" y="360424"/>
            <a:ext cx="4651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2"/>
          <p:cNvSpPr txBox="1"/>
          <p:nvPr/>
        </p:nvSpPr>
        <p:spPr>
          <a:xfrm>
            <a:off x="8701439" y="342016"/>
            <a:ext cx="4651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2"/>
          <p:cNvSpPr txBox="1"/>
          <p:nvPr/>
        </p:nvSpPr>
        <p:spPr>
          <a:xfrm>
            <a:off x="9200968" y="353569"/>
            <a:ext cx="4651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3780414" y="4570232"/>
            <a:ext cx="12442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35X15X5=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2"/>
          <p:cNvSpPr txBox="1"/>
          <p:nvPr/>
        </p:nvSpPr>
        <p:spPr>
          <a:xfrm>
            <a:off x="4854124" y="4570232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2625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2"/>
          <p:cNvSpPr txBox="1"/>
          <p:nvPr/>
        </p:nvSpPr>
        <p:spPr>
          <a:xfrm>
            <a:off x="6062919" y="4553167"/>
            <a:ext cx="111120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P3P4P5=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7045209" y="4553167"/>
            <a:ext cx="12442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5X10X20=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8118919" y="4553167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2"/>
          <p:cNvSpPr txBox="1"/>
          <p:nvPr/>
        </p:nvSpPr>
        <p:spPr>
          <a:xfrm>
            <a:off x="4718951" y="3555626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2625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2"/>
          <p:cNvSpPr txBox="1"/>
          <p:nvPr/>
        </p:nvSpPr>
        <p:spPr>
          <a:xfrm>
            <a:off x="6632964" y="3598476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2613888" y="3065378"/>
            <a:ext cx="111120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P0P1P3=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3596178" y="3065378"/>
            <a:ext cx="12442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30X35X5=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2"/>
          <p:cNvSpPr txBox="1"/>
          <p:nvPr/>
        </p:nvSpPr>
        <p:spPr>
          <a:xfrm>
            <a:off x="4669888" y="3065378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5250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6711662" y="2982643"/>
            <a:ext cx="111120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P3P5P6=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2"/>
          <p:cNvSpPr txBox="1"/>
          <p:nvPr/>
        </p:nvSpPr>
        <p:spPr>
          <a:xfrm>
            <a:off x="7693952" y="2982643"/>
            <a:ext cx="12442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5X20X25=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 txBox="1"/>
          <p:nvPr/>
        </p:nvSpPr>
        <p:spPr>
          <a:xfrm>
            <a:off x="8873873" y="2982643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2500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>
            <a:off x="4488409" y="2019784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7875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2"/>
          <p:cNvSpPr txBox="1"/>
          <p:nvPr/>
        </p:nvSpPr>
        <p:spPr>
          <a:xfrm>
            <a:off x="7086864" y="2019784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3500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4709444" y="1440014"/>
            <a:ext cx="111120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P0P3P6=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5691734" y="1440014"/>
            <a:ext cx="12442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30X5X25=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6871655" y="1440014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3750</a:t>
            </a:r>
            <a:endParaRPr sz="20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2"/>
          <p:cNvSpPr txBox="1"/>
          <p:nvPr/>
        </p:nvSpPr>
        <p:spPr>
          <a:xfrm>
            <a:off x="5867639" y="800155"/>
            <a:ext cx="89960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15,125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>
            <a:spLocks noGrp="1"/>
          </p:cNvSpPr>
          <p:nvPr>
            <p:ph type="body" idx="1"/>
          </p:nvPr>
        </p:nvSpPr>
        <p:spPr>
          <a:xfrm>
            <a:off x="91440" y="812800"/>
            <a:ext cx="1194816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 (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(</a:t>
            </a:r>
            <a:r>
              <a:rPr lang="en-US">
                <a:solidFill>
                  <a:srgbClr val="2E75B5"/>
                </a:solidFill>
              </a:rPr>
              <a:t>(A</a:t>
            </a:r>
            <a:r>
              <a:rPr lang="en-US" sz="2000">
                <a:solidFill>
                  <a:srgbClr val="2E75B5"/>
                </a:solidFill>
              </a:rPr>
              <a:t>1</a:t>
            </a:r>
            <a:r>
              <a:rPr lang="en-US">
                <a:solidFill>
                  <a:srgbClr val="2E75B5"/>
                </a:solidFill>
              </a:rPr>
              <a:t> X A</a:t>
            </a:r>
            <a:r>
              <a:rPr lang="en-US" sz="2000">
                <a:solidFill>
                  <a:srgbClr val="2E75B5"/>
                </a:solidFill>
              </a:rPr>
              <a:t>2</a:t>
            </a:r>
            <a:r>
              <a:rPr lang="en-US">
                <a:solidFill>
                  <a:srgbClr val="2E75B5"/>
                </a:solidFill>
              </a:rPr>
              <a:t>)</a:t>
            </a:r>
            <a:r>
              <a:rPr lang="en-US">
                <a:solidFill>
                  <a:srgbClr val="000000"/>
                </a:solidFill>
              </a:rPr>
              <a:t> X </a:t>
            </a:r>
            <a:r>
              <a:rPr lang="en-US">
                <a:solidFill>
                  <a:schemeClr val="accent6"/>
                </a:solidFill>
              </a:rPr>
              <a:t>A</a:t>
            </a:r>
            <a:r>
              <a:rPr lang="en-US" sz="2000">
                <a:solidFill>
                  <a:schemeClr val="accent6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accent6"/>
                </a:solidFill>
              </a:rPr>
              <a:t>)</a:t>
            </a:r>
            <a:r>
              <a:rPr lang="en-US">
                <a:solidFill>
                  <a:srgbClr val="FF0000"/>
                </a:solidFill>
              </a:rPr>
              <a:t> X A</a:t>
            </a:r>
            <a:r>
              <a:rPr lang="en-US" sz="2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)</a:t>
            </a:r>
            <a:r>
              <a:rPr lang="en-US"/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= number of multiplication operations required to multiply  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(</a:t>
            </a:r>
            <a:r>
              <a:rPr lang="en-US">
                <a:solidFill>
                  <a:srgbClr val="2E75B5"/>
                </a:solidFill>
              </a:rPr>
              <a:t>(A</a:t>
            </a:r>
            <a:r>
              <a:rPr lang="en-US" sz="2000">
                <a:solidFill>
                  <a:srgbClr val="2E75B5"/>
                </a:solidFill>
              </a:rPr>
              <a:t>1</a:t>
            </a:r>
            <a:r>
              <a:rPr lang="en-US">
                <a:solidFill>
                  <a:srgbClr val="2E75B5"/>
                </a:solidFill>
              </a:rPr>
              <a:t> X A</a:t>
            </a:r>
            <a:r>
              <a:rPr lang="en-US" sz="2000">
                <a:solidFill>
                  <a:srgbClr val="2E75B5"/>
                </a:solidFill>
              </a:rPr>
              <a:t>2</a:t>
            </a:r>
            <a:r>
              <a:rPr lang="en-US">
                <a:solidFill>
                  <a:srgbClr val="2E75B5"/>
                </a:solidFill>
              </a:rPr>
              <a:t>)</a:t>
            </a:r>
            <a:r>
              <a:rPr lang="en-US">
                <a:solidFill>
                  <a:srgbClr val="000000"/>
                </a:solidFill>
              </a:rPr>
              <a:t> X </a:t>
            </a:r>
            <a:r>
              <a:rPr lang="en-US">
                <a:solidFill>
                  <a:schemeClr val="accent6"/>
                </a:solidFill>
              </a:rPr>
              <a:t>A</a:t>
            </a:r>
            <a:r>
              <a:rPr lang="en-US" sz="2000">
                <a:solidFill>
                  <a:schemeClr val="accent6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accent6"/>
                </a:solidFill>
              </a:rPr>
              <a:t>)</a:t>
            </a:r>
            <a:r>
              <a:rPr lang="en-US">
                <a:solidFill>
                  <a:srgbClr val="FF0000"/>
                </a:solidFill>
              </a:rPr>
              <a:t> X A</a:t>
            </a:r>
            <a:r>
              <a:rPr lang="en-US" sz="2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)</a:t>
            </a: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FF0000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FF0000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FF0000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FF0000"/>
              </a:solidFill>
            </a:endParaRPr>
          </a:p>
          <a:p>
            <a:pPr marL="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graphicFrame>
        <p:nvGraphicFramePr>
          <p:cNvPr id="335" name="Google Shape;335;p43"/>
          <p:cNvGraphicFramePr/>
          <p:nvPr/>
        </p:nvGraphicFramePr>
        <p:xfrm>
          <a:off x="1764069" y="3952240"/>
          <a:ext cx="8128000" cy="741700"/>
        </p:xfrm>
        <a:graphic>
          <a:graphicData uri="http://schemas.openxmlformats.org/drawingml/2006/table">
            <a:tbl>
              <a:tblPr firstRow="1" bandRow="1">
                <a:noFill/>
                <a:tableStyleId>{5B25F1AE-E953-44E0-8D5B-81662C501840}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(2,3)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(3,2)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(2,3)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6" name="Google Shape;336;p43"/>
          <p:cNvSpPr txBox="1"/>
          <p:nvPr/>
        </p:nvSpPr>
        <p:spPr>
          <a:xfrm>
            <a:off x="2854960" y="5011430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4480560" y="5011430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6106160" y="5011430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7731760" y="5011430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3"/>
          <p:cNvSpPr txBox="1"/>
          <p:nvPr/>
        </p:nvSpPr>
        <p:spPr>
          <a:xfrm>
            <a:off x="9357360" y="5011430"/>
            <a:ext cx="500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43"/>
          <p:cNvCxnSpPr/>
          <p:nvPr/>
        </p:nvCxnSpPr>
        <p:spPr>
          <a:xfrm rot="10800000" flipH="1">
            <a:off x="3175000" y="4645670"/>
            <a:ext cx="290869" cy="47752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2" name="Google Shape;342;p43"/>
          <p:cNvCxnSpPr/>
          <p:nvPr/>
        </p:nvCxnSpPr>
        <p:spPr>
          <a:xfrm rot="10800000">
            <a:off x="3827781" y="4613916"/>
            <a:ext cx="763230" cy="588004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3" name="Google Shape;343;p43"/>
          <p:cNvCxnSpPr/>
          <p:nvPr/>
        </p:nvCxnSpPr>
        <p:spPr>
          <a:xfrm rot="10800000" flipH="1">
            <a:off x="4591011" y="4613916"/>
            <a:ext cx="580429" cy="588004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4" name="Google Shape;344;p43"/>
          <p:cNvCxnSpPr/>
          <p:nvPr/>
        </p:nvCxnSpPr>
        <p:spPr>
          <a:xfrm rot="10800000">
            <a:off x="5445760" y="4613916"/>
            <a:ext cx="736600" cy="72136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5" name="Google Shape;345;p43"/>
          <p:cNvCxnSpPr/>
          <p:nvPr/>
        </p:nvCxnSpPr>
        <p:spPr>
          <a:xfrm rot="10800000" flipH="1">
            <a:off x="6182360" y="4613916"/>
            <a:ext cx="652779" cy="72136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6" name="Google Shape;346;p43"/>
          <p:cNvCxnSpPr/>
          <p:nvPr/>
        </p:nvCxnSpPr>
        <p:spPr>
          <a:xfrm rot="10800000">
            <a:off x="7081520" y="4645670"/>
            <a:ext cx="878761" cy="55625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7" name="Google Shape;347;p43"/>
          <p:cNvCxnSpPr/>
          <p:nvPr/>
        </p:nvCxnSpPr>
        <p:spPr>
          <a:xfrm rot="10800000" flipH="1">
            <a:off x="7960281" y="4747272"/>
            <a:ext cx="466207" cy="45464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8" name="Google Shape;348;p43"/>
          <p:cNvCxnSpPr/>
          <p:nvPr/>
        </p:nvCxnSpPr>
        <p:spPr>
          <a:xfrm rot="10800000">
            <a:off x="8681562" y="4652028"/>
            <a:ext cx="866874" cy="549892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9" name="Google Shape;349;p43"/>
          <p:cNvSpPr txBox="1">
            <a:spLocks noGrp="1"/>
          </p:cNvSpPr>
          <p:nvPr>
            <p:ph type="title"/>
          </p:nvPr>
        </p:nvSpPr>
        <p:spPr>
          <a:xfrm>
            <a:off x="812800" y="290838"/>
            <a:ext cx="9709110" cy="76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you try 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 were learning Dynamic Programming Right?</a:t>
            </a:r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Let us see what the problem was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are given matrices A</a:t>
            </a:r>
            <a:r>
              <a:rPr lang="en-US" sz="2000"/>
              <a:t>1,</a:t>
            </a:r>
            <a:r>
              <a:rPr lang="en-US"/>
              <a:t> A</a:t>
            </a:r>
            <a:r>
              <a:rPr lang="en-US" sz="2000"/>
              <a:t>2, …</a:t>
            </a:r>
            <a:r>
              <a:rPr lang="en-US"/>
              <a:t> ,A</a:t>
            </a:r>
            <a:r>
              <a:rPr lang="en-US" sz="2000"/>
              <a:t>n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the </a:t>
            </a:r>
            <a:r>
              <a:rPr lang="en-US" b="1"/>
              <a:t>minimum</a:t>
            </a:r>
            <a:r>
              <a:rPr lang="en-US"/>
              <a:t> </a:t>
            </a:r>
            <a:r>
              <a:rPr lang="en-US" b="1"/>
              <a:t>number</a:t>
            </a:r>
            <a:r>
              <a:rPr lang="en-US"/>
              <a:t> of multiplications you need to get the final matrix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(</a:t>
            </a:r>
            <a:r>
              <a:rPr lang="en-US" sz="3600" b="1"/>
              <a:t>And how  </a:t>
            </a:r>
            <a:r>
              <a:rPr lang="en-US"/>
              <a:t>will you keep the matrix multiplication order to get that minimum number ?</a:t>
            </a:r>
            <a:r>
              <a:rPr lang="en-US" sz="3600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b="1"/>
              <a:t>(More simply </a:t>
            </a:r>
            <a:r>
              <a:rPr lang="en-US" sz="3600"/>
              <a:t>– </a:t>
            </a:r>
            <a:r>
              <a:rPr lang="en-US" sz="2400"/>
              <a:t>how will you place your brackets ?)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Bottom Up Approach</a:t>
            </a:r>
            <a:endParaRPr/>
          </a:p>
        </p:txBody>
      </p:sp>
      <p:sp>
        <p:nvSpPr>
          <p:cNvPr id="361" name="Google Shape;36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Build up the base cases.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Construct the other cases from the base cases.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let us observe something: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52"/>
          <p:cNvGrpSpPr/>
          <p:nvPr/>
        </p:nvGrpSpPr>
        <p:grpSpPr>
          <a:xfrm>
            <a:off x="85891" y="0"/>
            <a:ext cx="11950330" cy="6054047"/>
            <a:chOff x="53232" y="1647834"/>
            <a:chExt cx="11747602" cy="4799449"/>
          </a:xfrm>
        </p:grpSpPr>
        <p:sp>
          <p:nvSpPr>
            <p:cNvPr id="367" name="Google Shape;367;p52"/>
            <p:cNvSpPr txBox="1"/>
            <p:nvPr/>
          </p:nvSpPr>
          <p:spPr>
            <a:xfrm>
              <a:off x="4473261" y="1647834"/>
              <a:ext cx="1372492" cy="3089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N(A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52"/>
            <p:cNvSpPr/>
            <p:nvPr/>
          </p:nvSpPr>
          <p:spPr>
            <a:xfrm>
              <a:off x="4678070" y="2056031"/>
              <a:ext cx="792480" cy="43688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N(1,4)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52"/>
            <p:cNvSpPr/>
            <p:nvPr/>
          </p:nvSpPr>
          <p:spPr>
            <a:xfrm>
              <a:off x="446484" y="3440041"/>
              <a:ext cx="792480" cy="43688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N(1,1)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52"/>
            <p:cNvSpPr/>
            <p:nvPr/>
          </p:nvSpPr>
          <p:spPr>
            <a:xfrm>
              <a:off x="2213324" y="3440042"/>
              <a:ext cx="792480" cy="43688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N(2,4)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1" name="Google Shape;371;p52"/>
            <p:cNvCxnSpPr>
              <a:stCxn id="369" idx="0"/>
              <a:endCxn id="368" idx="2"/>
            </p:cNvCxnSpPr>
            <p:nvPr/>
          </p:nvCxnSpPr>
          <p:spPr>
            <a:xfrm rot="10800000" flipH="1">
              <a:off x="842724" y="2492941"/>
              <a:ext cx="4231500" cy="947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2" name="Google Shape;372;p52"/>
            <p:cNvCxnSpPr>
              <a:stCxn id="370" idx="0"/>
              <a:endCxn id="368" idx="2"/>
            </p:cNvCxnSpPr>
            <p:nvPr/>
          </p:nvCxnSpPr>
          <p:spPr>
            <a:xfrm rot="10800000" flipH="1">
              <a:off x="2609564" y="2492942"/>
              <a:ext cx="2464800" cy="947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3" name="Google Shape;373;p52"/>
            <p:cNvSpPr/>
            <p:nvPr/>
          </p:nvSpPr>
          <p:spPr>
            <a:xfrm>
              <a:off x="4184232" y="3440164"/>
              <a:ext cx="792480" cy="43688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N(1,2)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52"/>
            <p:cNvSpPr/>
            <p:nvPr/>
          </p:nvSpPr>
          <p:spPr>
            <a:xfrm>
              <a:off x="5861976" y="3442627"/>
              <a:ext cx="792480" cy="43688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N(3,4)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5" name="Google Shape;375;p52"/>
            <p:cNvCxnSpPr>
              <a:stCxn id="373" idx="0"/>
              <a:endCxn id="368" idx="2"/>
            </p:cNvCxnSpPr>
            <p:nvPr/>
          </p:nvCxnSpPr>
          <p:spPr>
            <a:xfrm rot="10800000" flipH="1">
              <a:off x="4580472" y="2492764"/>
              <a:ext cx="493800" cy="947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6" name="Google Shape;376;p52"/>
            <p:cNvCxnSpPr>
              <a:stCxn id="374" idx="0"/>
              <a:endCxn id="368" idx="2"/>
            </p:cNvCxnSpPr>
            <p:nvPr/>
          </p:nvCxnSpPr>
          <p:spPr>
            <a:xfrm rot="10800000">
              <a:off x="5074416" y="2492827"/>
              <a:ext cx="1183800" cy="949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7" name="Google Shape;377;p52"/>
            <p:cNvSpPr/>
            <p:nvPr/>
          </p:nvSpPr>
          <p:spPr>
            <a:xfrm>
              <a:off x="8114490" y="3461198"/>
              <a:ext cx="792480" cy="436880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N(1,3)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52"/>
            <p:cNvSpPr/>
            <p:nvPr/>
          </p:nvSpPr>
          <p:spPr>
            <a:xfrm>
              <a:off x="10287167" y="3442627"/>
              <a:ext cx="792480" cy="436880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N(4,4)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9" name="Google Shape;379;p52"/>
            <p:cNvCxnSpPr>
              <a:stCxn id="377" idx="0"/>
              <a:endCxn id="368" idx="3"/>
            </p:cNvCxnSpPr>
            <p:nvPr/>
          </p:nvCxnSpPr>
          <p:spPr>
            <a:xfrm rot="10800000">
              <a:off x="5470530" y="2274398"/>
              <a:ext cx="3040200" cy="118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0" name="Google Shape;380;p52"/>
            <p:cNvCxnSpPr>
              <a:stCxn id="368" idx="3"/>
              <a:endCxn id="378" idx="0"/>
            </p:cNvCxnSpPr>
            <p:nvPr/>
          </p:nvCxnSpPr>
          <p:spPr>
            <a:xfrm>
              <a:off x="5470550" y="2274471"/>
              <a:ext cx="5212800" cy="1168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81" name="Google Shape;381;p52"/>
            <p:cNvSpPr/>
            <p:nvPr/>
          </p:nvSpPr>
          <p:spPr>
            <a:xfrm>
              <a:off x="53232" y="4944856"/>
              <a:ext cx="792480" cy="43688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N(2,2)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52"/>
            <p:cNvSpPr/>
            <p:nvPr/>
          </p:nvSpPr>
          <p:spPr>
            <a:xfrm>
              <a:off x="1029418" y="4951543"/>
              <a:ext cx="792480" cy="43688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N(3,4)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3" name="Google Shape;383;p52"/>
            <p:cNvCxnSpPr>
              <a:stCxn id="370" idx="2"/>
              <a:endCxn id="381" idx="0"/>
            </p:cNvCxnSpPr>
            <p:nvPr/>
          </p:nvCxnSpPr>
          <p:spPr>
            <a:xfrm flipH="1">
              <a:off x="449564" y="3876922"/>
              <a:ext cx="2160000" cy="1068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84" name="Google Shape;384;p52"/>
            <p:cNvCxnSpPr>
              <a:stCxn id="370" idx="2"/>
              <a:endCxn id="382" idx="0"/>
            </p:cNvCxnSpPr>
            <p:nvPr/>
          </p:nvCxnSpPr>
          <p:spPr>
            <a:xfrm flipH="1">
              <a:off x="1425764" y="3876922"/>
              <a:ext cx="1183800" cy="1074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85" name="Google Shape;385;p52"/>
            <p:cNvSpPr/>
            <p:nvPr/>
          </p:nvSpPr>
          <p:spPr>
            <a:xfrm>
              <a:off x="107783" y="6005019"/>
              <a:ext cx="792480" cy="436880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N(3,3)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52"/>
            <p:cNvSpPr/>
            <p:nvPr/>
          </p:nvSpPr>
          <p:spPr>
            <a:xfrm>
              <a:off x="1109879" y="6010403"/>
              <a:ext cx="792480" cy="436880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N(4,4)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7" name="Google Shape;387;p52"/>
            <p:cNvCxnSpPr>
              <a:stCxn id="382" idx="2"/>
              <a:endCxn id="385" idx="0"/>
            </p:cNvCxnSpPr>
            <p:nvPr/>
          </p:nvCxnSpPr>
          <p:spPr>
            <a:xfrm flipH="1">
              <a:off x="504058" y="5388423"/>
              <a:ext cx="921600" cy="616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88" name="Google Shape;388;p52"/>
            <p:cNvCxnSpPr>
              <a:stCxn id="382" idx="2"/>
              <a:endCxn id="386" idx="0"/>
            </p:cNvCxnSpPr>
            <p:nvPr/>
          </p:nvCxnSpPr>
          <p:spPr>
            <a:xfrm>
              <a:off x="1425658" y="5388423"/>
              <a:ext cx="80400" cy="621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89" name="Google Shape;389;p52"/>
            <p:cNvSpPr/>
            <p:nvPr/>
          </p:nvSpPr>
          <p:spPr>
            <a:xfrm>
              <a:off x="3905047" y="4931720"/>
              <a:ext cx="792480" cy="436880"/>
            </a:xfrm>
            <a:prstGeom prst="rect">
              <a:avLst/>
            </a:prstGeom>
            <a:gradFill>
              <a:gsLst>
                <a:gs pos="0">
                  <a:srgbClr val="474747"/>
                </a:gs>
                <a:gs pos="50000">
                  <a:schemeClr val="dk1"/>
                </a:gs>
                <a:gs pos="100000">
                  <a:schemeClr val="dk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N(1,1)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4791570" y="4954878"/>
              <a:ext cx="792480" cy="436880"/>
            </a:xfrm>
            <a:prstGeom prst="rect">
              <a:avLst/>
            </a:prstGeom>
            <a:gradFill>
              <a:gsLst>
                <a:gs pos="0">
                  <a:srgbClr val="474747"/>
                </a:gs>
                <a:gs pos="50000">
                  <a:schemeClr val="dk1"/>
                </a:gs>
                <a:gs pos="100000">
                  <a:schemeClr val="dk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19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N(2,2)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1" name="Google Shape;391;p52"/>
            <p:cNvCxnSpPr>
              <a:stCxn id="389" idx="0"/>
              <a:endCxn id="373" idx="2"/>
            </p:cNvCxnSpPr>
            <p:nvPr/>
          </p:nvCxnSpPr>
          <p:spPr>
            <a:xfrm rot="10800000" flipH="1">
              <a:off x="4301287" y="3876920"/>
              <a:ext cx="279300" cy="1054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2" name="Google Shape;392;p52"/>
            <p:cNvCxnSpPr>
              <a:stCxn id="390" idx="0"/>
              <a:endCxn id="373" idx="2"/>
            </p:cNvCxnSpPr>
            <p:nvPr/>
          </p:nvCxnSpPr>
          <p:spPr>
            <a:xfrm rot="10800000">
              <a:off x="4580610" y="3876978"/>
              <a:ext cx="607200" cy="1077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93" name="Google Shape;393;p52"/>
            <p:cNvSpPr/>
            <p:nvPr/>
          </p:nvSpPr>
          <p:spPr>
            <a:xfrm>
              <a:off x="5686106" y="5004215"/>
              <a:ext cx="792480" cy="436880"/>
            </a:xfrm>
            <a:prstGeom prst="rect">
              <a:avLst/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N(3,3)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52"/>
            <p:cNvSpPr/>
            <p:nvPr/>
          </p:nvSpPr>
          <p:spPr>
            <a:xfrm>
              <a:off x="6597012" y="5004215"/>
              <a:ext cx="792480" cy="436880"/>
            </a:xfrm>
            <a:prstGeom prst="rect">
              <a:avLst/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N(4,4)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" name="Google Shape;395;p52"/>
            <p:cNvCxnSpPr>
              <a:stCxn id="393" idx="0"/>
              <a:endCxn id="374" idx="2"/>
            </p:cNvCxnSpPr>
            <p:nvPr/>
          </p:nvCxnSpPr>
          <p:spPr>
            <a:xfrm rot="10800000" flipH="1">
              <a:off x="6082346" y="3879515"/>
              <a:ext cx="175800" cy="11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6" name="Google Shape;396;p52"/>
            <p:cNvCxnSpPr>
              <a:stCxn id="394" idx="0"/>
              <a:endCxn id="374" idx="2"/>
            </p:cNvCxnSpPr>
            <p:nvPr/>
          </p:nvCxnSpPr>
          <p:spPr>
            <a:xfrm rot="10800000">
              <a:off x="6258252" y="3879515"/>
              <a:ext cx="735000" cy="11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97" name="Google Shape;397;p52"/>
            <p:cNvSpPr/>
            <p:nvPr/>
          </p:nvSpPr>
          <p:spPr>
            <a:xfrm>
              <a:off x="7648275" y="4997873"/>
              <a:ext cx="792480" cy="43688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N(1,1)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52"/>
            <p:cNvSpPr/>
            <p:nvPr/>
          </p:nvSpPr>
          <p:spPr>
            <a:xfrm>
              <a:off x="8651839" y="4997873"/>
              <a:ext cx="792480" cy="43688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N(2,3)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9" name="Google Shape;399;p52"/>
            <p:cNvCxnSpPr>
              <a:stCxn id="377" idx="2"/>
              <a:endCxn id="397" idx="0"/>
            </p:cNvCxnSpPr>
            <p:nvPr/>
          </p:nvCxnSpPr>
          <p:spPr>
            <a:xfrm flipH="1">
              <a:off x="8044530" y="3898078"/>
              <a:ext cx="466200" cy="1099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0" name="Google Shape;400;p52"/>
            <p:cNvCxnSpPr>
              <a:stCxn id="377" idx="2"/>
              <a:endCxn id="398" idx="0"/>
            </p:cNvCxnSpPr>
            <p:nvPr/>
          </p:nvCxnSpPr>
          <p:spPr>
            <a:xfrm>
              <a:off x="8510730" y="3898078"/>
              <a:ext cx="537300" cy="1099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01" name="Google Shape;401;p52"/>
            <p:cNvSpPr/>
            <p:nvPr/>
          </p:nvSpPr>
          <p:spPr>
            <a:xfrm>
              <a:off x="7259942" y="5998202"/>
              <a:ext cx="792480" cy="43688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48000">
                  <a:srgbClr val="070707"/>
                </a:gs>
                <a:gs pos="100000">
                  <a:srgbClr val="666666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N(2,2)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2"/>
            <p:cNvSpPr/>
            <p:nvPr/>
          </p:nvSpPr>
          <p:spPr>
            <a:xfrm>
              <a:off x="8159915" y="5998202"/>
              <a:ext cx="792480" cy="43688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48000">
                  <a:srgbClr val="070707"/>
                </a:gs>
                <a:gs pos="100000">
                  <a:srgbClr val="666666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N(3,3)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3" name="Google Shape;403;p52"/>
            <p:cNvCxnSpPr>
              <a:stCxn id="398" idx="2"/>
              <a:endCxn id="401" idx="0"/>
            </p:cNvCxnSpPr>
            <p:nvPr/>
          </p:nvCxnSpPr>
          <p:spPr>
            <a:xfrm flipH="1">
              <a:off x="7656079" y="5434753"/>
              <a:ext cx="1392000" cy="563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4" name="Google Shape;404;p52"/>
            <p:cNvCxnSpPr>
              <a:stCxn id="398" idx="2"/>
              <a:endCxn id="402" idx="0"/>
            </p:cNvCxnSpPr>
            <p:nvPr/>
          </p:nvCxnSpPr>
          <p:spPr>
            <a:xfrm flipH="1">
              <a:off x="8556079" y="5434753"/>
              <a:ext cx="492000" cy="563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05" name="Google Shape;405;p52"/>
            <p:cNvSpPr txBox="1"/>
            <p:nvPr/>
          </p:nvSpPr>
          <p:spPr>
            <a:xfrm>
              <a:off x="274296" y="5403519"/>
              <a:ext cx="184731" cy="3089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52"/>
            <p:cNvSpPr/>
            <p:nvPr/>
          </p:nvSpPr>
          <p:spPr>
            <a:xfrm>
              <a:off x="9819634" y="5065209"/>
              <a:ext cx="792480" cy="436880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N(1,2)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52"/>
            <p:cNvSpPr/>
            <p:nvPr/>
          </p:nvSpPr>
          <p:spPr>
            <a:xfrm>
              <a:off x="11008354" y="5065209"/>
              <a:ext cx="792480" cy="436880"/>
            </a:xfrm>
            <a:prstGeom prst="rect">
              <a:avLst/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N(3,3)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8" name="Google Shape;408;p52"/>
            <p:cNvCxnSpPr>
              <a:stCxn id="377" idx="3"/>
              <a:endCxn id="406" idx="0"/>
            </p:cNvCxnSpPr>
            <p:nvPr/>
          </p:nvCxnSpPr>
          <p:spPr>
            <a:xfrm>
              <a:off x="8906970" y="3679638"/>
              <a:ext cx="1308900" cy="138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9" name="Google Shape;409;p52"/>
            <p:cNvCxnSpPr>
              <a:stCxn id="377" idx="3"/>
              <a:endCxn id="407" idx="0"/>
            </p:cNvCxnSpPr>
            <p:nvPr/>
          </p:nvCxnSpPr>
          <p:spPr>
            <a:xfrm>
              <a:off x="8906970" y="3679638"/>
              <a:ext cx="2497500" cy="138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10" name="Google Shape;410;p52"/>
            <p:cNvSpPr txBox="1"/>
            <p:nvPr/>
          </p:nvSpPr>
          <p:spPr>
            <a:xfrm>
              <a:off x="11253750" y="5441812"/>
              <a:ext cx="184731" cy="3089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2"/>
            <p:cNvSpPr/>
            <p:nvPr/>
          </p:nvSpPr>
          <p:spPr>
            <a:xfrm>
              <a:off x="9364631" y="5998202"/>
              <a:ext cx="792480" cy="43688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517E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N(1,1)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52"/>
            <p:cNvSpPr/>
            <p:nvPr/>
          </p:nvSpPr>
          <p:spPr>
            <a:xfrm>
              <a:off x="10230490" y="5993042"/>
              <a:ext cx="792480" cy="43688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517E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N(2,2)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3" name="Google Shape;413;p52"/>
            <p:cNvCxnSpPr>
              <a:stCxn id="406" idx="2"/>
              <a:endCxn id="411" idx="0"/>
            </p:cNvCxnSpPr>
            <p:nvPr/>
          </p:nvCxnSpPr>
          <p:spPr>
            <a:xfrm flipH="1">
              <a:off x="9760774" y="5502089"/>
              <a:ext cx="455100" cy="496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4" name="Google Shape;414;p52"/>
            <p:cNvCxnSpPr>
              <a:stCxn id="406" idx="2"/>
              <a:endCxn id="412" idx="0"/>
            </p:cNvCxnSpPr>
            <p:nvPr/>
          </p:nvCxnSpPr>
          <p:spPr>
            <a:xfrm>
              <a:off x="10215874" y="5502089"/>
              <a:ext cx="411000" cy="491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15" name="Google Shape;415;p52"/>
            <p:cNvSpPr/>
            <p:nvPr/>
          </p:nvSpPr>
          <p:spPr>
            <a:xfrm>
              <a:off x="2132932" y="4917769"/>
              <a:ext cx="792480" cy="43688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N(2,3)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52"/>
            <p:cNvSpPr/>
            <p:nvPr/>
          </p:nvSpPr>
          <p:spPr>
            <a:xfrm>
              <a:off x="2158199" y="6005019"/>
              <a:ext cx="792480" cy="43688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N(2,2)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52"/>
            <p:cNvSpPr/>
            <p:nvPr/>
          </p:nvSpPr>
          <p:spPr>
            <a:xfrm>
              <a:off x="3206600" y="6005261"/>
              <a:ext cx="792480" cy="43688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N(3,3)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52"/>
            <p:cNvSpPr/>
            <p:nvPr/>
          </p:nvSpPr>
          <p:spPr>
            <a:xfrm>
              <a:off x="3027468" y="4889943"/>
              <a:ext cx="792480" cy="43688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N(4,4)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9" name="Google Shape;419;p52"/>
            <p:cNvCxnSpPr>
              <a:stCxn id="416" idx="0"/>
              <a:endCxn id="415" idx="2"/>
            </p:cNvCxnSpPr>
            <p:nvPr/>
          </p:nvCxnSpPr>
          <p:spPr>
            <a:xfrm rot="10800000">
              <a:off x="2529239" y="5354619"/>
              <a:ext cx="25200" cy="650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0" name="Google Shape;420;p52"/>
            <p:cNvCxnSpPr>
              <a:stCxn id="417" idx="0"/>
              <a:endCxn id="415" idx="2"/>
            </p:cNvCxnSpPr>
            <p:nvPr/>
          </p:nvCxnSpPr>
          <p:spPr>
            <a:xfrm rot="10800000">
              <a:off x="2529140" y="5354561"/>
              <a:ext cx="1073700" cy="650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1" name="Google Shape;421;p52"/>
            <p:cNvCxnSpPr>
              <a:stCxn id="415" idx="0"/>
              <a:endCxn id="370" idx="2"/>
            </p:cNvCxnSpPr>
            <p:nvPr/>
          </p:nvCxnSpPr>
          <p:spPr>
            <a:xfrm rot="10800000" flipH="1">
              <a:off x="2529172" y="3877069"/>
              <a:ext cx="80400" cy="1040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2" name="Google Shape;422;p52"/>
            <p:cNvCxnSpPr>
              <a:stCxn id="418" idx="0"/>
              <a:endCxn id="370" idx="2"/>
            </p:cNvCxnSpPr>
            <p:nvPr/>
          </p:nvCxnSpPr>
          <p:spPr>
            <a:xfrm rot="10800000">
              <a:off x="2609508" y="3876843"/>
              <a:ext cx="814200" cy="1013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23" name="Google Shape;423;p52"/>
          <p:cNvSpPr txBox="1"/>
          <p:nvPr/>
        </p:nvSpPr>
        <p:spPr>
          <a:xfrm>
            <a:off x="86094" y="606555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2"/>
          <p:cNvSpPr txBox="1"/>
          <p:nvPr/>
        </p:nvSpPr>
        <p:spPr>
          <a:xfrm>
            <a:off x="1027804" y="606555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2"/>
          <p:cNvSpPr txBox="1"/>
          <p:nvPr/>
        </p:nvSpPr>
        <p:spPr>
          <a:xfrm>
            <a:off x="2052238" y="606555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2"/>
          <p:cNvSpPr txBox="1"/>
          <p:nvPr/>
        </p:nvSpPr>
        <p:spPr>
          <a:xfrm>
            <a:off x="3098664" y="606555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2"/>
          <p:cNvSpPr txBox="1"/>
          <p:nvPr/>
        </p:nvSpPr>
        <p:spPr>
          <a:xfrm>
            <a:off x="7138923" y="6044873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2"/>
          <p:cNvSpPr txBox="1"/>
          <p:nvPr/>
        </p:nvSpPr>
        <p:spPr>
          <a:xfrm>
            <a:off x="8147148" y="6014623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2"/>
          <p:cNvSpPr txBox="1"/>
          <p:nvPr/>
        </p:nvSpPr>
        <p:spPr>
          <a:xfrm>
            <a:off x="9314808" y="6025580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2"/>
          <p:cNvSpPr txBox="1"/>
          <p:nvPr/>
        </p:nvSpPr>
        <p:spPr>
          <a:xfrm>
            <a:off x="10273028" y="603636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2"/>
          <p:cNvSpPr txBox="1"/>
          <p:nvPr/>
        </p:nvSpPr>
        <p:spPr>
          <a:xfrm>
            <a:off x="10943740" y="488587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2"/>
          <p:cNvSpPr txBox="1"/>
          <p:nvPr/>
        </p:nvSpPr>
        <p:spPr>
          <a:xfrm>
            <a:off x="0" y="4815098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2"/>
          <p:cNvSpPr txBox="1"/>
          <p:nvPr/>
        </p:nvSpPr>
        <p:spPr>
          <a:xfrm>
            <a:off x="2936839" y="4695885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2"/>
          <p:cNvSpPr txBox="1"/>
          <p:nvPr/>
        </p:nvSpPr>
        <p:spPr>
          <a:xfrm>
            <a:off x="3866786" y="474475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2"/>
          <p:cNvSpPr txBox="1"/>
          <p:nvPr/>
        </p:nvSpPr>
        <p:spPr>
          <a:xfrm>
            <a:off x="4720822" y="4867023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2"/>
          <p:cNvSpPr txBox="1"/>
          <p:nvPr/>
        </p:nvSpPr>
        <p:spPr>
          <a:xfrm>
            <a:off x="5718764" y="4832497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2"/>
          <p:cNvSpPr txBox="1"/>
          <p:nvPr/>
        </p:nvSpPr>
        <p:spPr>
          <a:xfrm>
            <a:off x="6716706" y="4797971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2"/>
          <p:cNvSpPr txBox="1"/>
          <p:nvPr/>
        </p:nvSpPr>
        <p:spPr>
          <a:xfrm>
            <a:off x="7714648" y="4763445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2"/>
          <p:cNvSpPr txBox="1"/>
          <p:nvPr/>
        </p:nvSpPr>
        <p:spPr>
          <a:xfrm>
            <a:off x="972134" y="4893414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Length=2</a:t>
            </a:r>
            <a:endParaRPr sz="16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2"/>
          <p:cNvSpPr txBox="1"/>
          <p:nvPr/>
        </p:nvSpPr>
        <p:spPr>
          <a:xfrm>
            <a:off x="2031100" y="4785654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Length=2</a:t>
            </a:r>
            <a:endParaRPr sz="16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2"/>
          <p:cNvSpPr txBox="1"/>
          <p:nvPr/>
        </p:nvSpPr>
        <p:spPr>
          <a:xfrm>
            <a:off x="8636638" y="4853894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Length=2</a:t>
            </a:r>
            <a:endParaRPr sz="16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2"/>
          <p:cNvSpPr txBox="1"/>
          <p:nvPr/>
        </p:nvSpPr>
        <p:spPr>
          <a:xfrm>
            <a:off x="9863600" y="4932722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Length=2</a:t>
            </a:r>
            <a:endParaRPr sz="16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2"/>
          <p:cNvSpPr txBox="1"/>
          <p:nvPr/>
        </p:nvSpPr>
        <p:spPr>
          <a:xfrm>
            <a:off x="10300959" y="2929201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2"/>
          <p:cNvSpPr txBox="1"/>
          <p:nvPr/>
        </p:nvSpPr>
        <p:spPr>
          <a:xfrm>
            <a:off x="372257" y="2966301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16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2"/>
          <p:cNvSpPr txBox="1"/>
          <p:nvPr/>
        </p:nvSpPr>
        <p:spPr>
          <a:xfrm>
            <a:off x="4112027" y="3005241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Length=2</a:t>
            </a:r>
            <a:endParaRPr sz="16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2"/>
          <p:cNvSpPr txBox="1"/>
          <p:nvPr/>
        </p:nvSpPr>
        <p:spPr>
          <a:xfrm>
            <a:off x="5916883" y="2974733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Length=2</a:t>
            </a:r>
            <a:endParaRPr sz="16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2"/>
          <p:cNvSpPr txBox="1"/>
          <p:nvPr/>
        </p:nvSpPr>
        <p:spPr>
          <a:xfrm>
            <a:off x="2075566" y="3043066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Length=3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52"/>
          <p:cNvSpPr txBox="1"/>
          <p:nvPr/>
        </p:nvSpPr>
        <p:spPr>
          <a:xfrm>
            <a:off x="8109636" y="3060379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Length=3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2"/>
          <p:cNvSpPr txBox="1"/>
          <p:nvPr/>
        </p:nvSpPr>
        <p:spPr>
          <a:xfrm>
            <a:off x="4659266" y="1350533"/>
            <a:ext cx="9739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Length=4</a:t>
            </a:r>
            <a:endParaRPr sz="16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3"/>
          <p:cNvSpPr txBox="1">
            <a:spLocks noGrp="1"/>
          </p:cNvSpPr>
          <p:nvPr>
            <p:ph type="title"/>
          </p:nvPr>
        </p:nvSpPr>
        <p:spPr>
          <a:xfrm>
            <a:off x="838200" y="228117"/>
            <a:ext cx="10515600" cy="67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Bottom Up Approach</a:t>
            </a:r>
            <a:endParaRPr/>
          </a:p>
        </p:txBody>
      </p:sp>
      <p:sp>
        <p:nvSpPr>
          <p:cNvPr id="455" name="Google Shape;455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need to call recursive functions for single matrices (A</a:t>
            </a:r>
            <a:r>
              <a:rPr lang="en-US" sz="2000"/>
              <a:t>11</a:t>
            </a:r>
            <a:r>
              <a:rPr lang="en-US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we need to call recursive functions for consecutive two matrices (A</a:t>
            </a:r>
            <a:r>
              <a:rPr lang="en-US" sz="2000"/>
              <a:t>1</a:t>
            </a:r>
            <a:r>
              <a:rPr lang="en-US"/>
              <a:t>A</a:t>
            </a:r>
            <a:r>
              <a:rPr lang="en-US" sz="2000"/>
              <a:t>2</a:t>
            </a:r>
            <a:r>
              <a:rPr lang="en-US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we need to call recursive functions for consecutive three (A</a:t>
            </a:r>
            <a:r>
              <a:rPr lang="en-US" sz="2000"/>
              <a:t>1</a:t>
            </a:r>
            <a:r>
              <a:rPr lang="en-US"/>
              <a:t> A</a:t>
            </a:r>
            <a:r>
              <a:rPr lang="en-US" sz="2000"/>
              <a:t>2</a:t>
            </a:r>
            <a:r>
              <a:rPr lang="en-US"/>
              <a:t> A</a:t>
            </a:r>
            <a:r>
              <a:rPr lang="en-US" sz="2000"/>
              <a:t>3</a:t>
            </a:r>
            <a:r>
              <a:rPr lang="en-US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so on….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4"/>
          <p:cNvSpPr txBox="1">
            <a:spLocks noGrp="1"/>
          </p:cNvSpPr>
          <p:nvPr>
            <p:ph type="title"/>
          </p:nvPr>
        </p:nvSpPr>
        <p:spPr>
          <a:xfrm>
            <a:off x="776467" y="299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Bottom Up Approach</a:t>
            </a:r>
            <a:endParaRPr/>
          </a:p>
        </p:txBody>
      </p:sp>
      <p:sp>
        <p:nvSpPr>
          <p:cNvPr id="461" name="Google Shape;461;p54"/>
          <p:cNvSpPr/>
          <p:nvPr/>
        </p:nvSpPr>
        <p:spPr>
          <a:xfrm>
            <a:off x="3993266" y="2060294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4"/>
          <p:cNvSpPr/>
          <p:nvPr/>
        </p:nvSpPr>
        <p:spPr>
          <a:xfrm>
            <a:off x="5013767" y="2060294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4"/>
          <p:cNvSpPr/>
          <p:nvPr/>
        </p:nvSpPr>
        <p:spPr>
          <a:xfrm>
            <a:off x="6034268" y="2060294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4"/>
          <p:cNvSpPr/>
          <p:nvPr/>
        </p:nvSpPr>
        <p:spPr>
          <a:xfrm>
            <a:off x="7054769" y="2060294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4"/>
          <p:cNvSpPr/>
          <p:nvPr/>
        </p:nvSpPr>
        <p:spPr>
          <a:xfrm>
            <a:off x="3993266" y="3051757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4"/>
          <p:cNvSpPr/>
          <p:nvPr/>
        </p:nvSpPr>
        <p:spPr>
          <a:xfrm>
            <a:off x="5013767" y="3051757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54"/>
          <p:cNvSpPr/>
          <p:nvPr/>
        </p:nvSpPr>
        <p:spPr>
          <a:xfrm>
            <a:off x="6034268" y="3051757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4"/>
          <p:cNvSpPr/>
          <p:nvPr/>
        </p:nvSpPr>
        <p:spPr>
          <a:xfrm>
            <a:off x="7054769" y="3051757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4"/>
          <p:cNvSpPr/>
          <p:nvPr/>
        </p:nvSpPr>
        <p:spPr>
          <a:xfrm>
            <a:off x="3993266" y="4043220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54"/>
          <p:cNvSpPr/>
          <p:nvPr/>
        </p:nvSpPr>
        <p:spPr>
          <a:xfrm>
            <a:off x="5013767" y="4043220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4"/>
          <p:cNvSpPr/>
          <p:nvPr/>
        </p:nvSpPr>
        <p:spPr>
          <a:xfrm>
            <a:off x="6034268" y="4043220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54"/>
          <p:cNvSpPr/>
          <p:nvPr/>
        </p:nvSpPr>
        <p:spPr>
          <a:xfrm>
            <a:off x="7054769" y="4043220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4"/>
          <p:cNvSpPr/>
          <p:nvPr/>
        </p:nvSpPr>
        <p:spPr>
          <a:xfrm>
            <a:off x="3993266" y="503468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4"/>
          <p:cNvSpPr/>
          <p:nvPr/>
        </p:nvSpPr>
        <p:spPr>
          <a:xfrm>
            <a:off x="5013767" y="503468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4"/>
          <p:cNvSpPr/>
          <p:nvPr/>
        </p:nvSpPr>
        <p:spPr>
          <a:xfrm>
            <a:off x="6034268" y="503468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4"/>
          <p:cNvSpPr/>
          <p:nvPr/>
        </p:nvSpPr>
        <p:spPr>
          <a:xfrm>
            <a:off x="7054769" y="503468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54"/>
          <p:cNvCxnSpPr/>
          <p:nvPr/>
        </p:nvCxnSpPr>
        <p:spPr>
          <a:xfrm rot="10800000">
            <a:off x="3321934" y="1458410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8" name="Google Shape;478;p54"/>
          <p:cNvSpPr txBox="1"/>
          <p:nvPr/>
        </p:nvSpPr>
        <p:spPr>
          <a:xfrm>
            <a:off x="3380504" y="2312819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4"/>
          <p:cNvSpPr txBox="1"/>
          <p:nvPr/>
        </p:nvSpPr>
        <p:spPr>
          <a:xfrm>
            <a:off x="4305648" y="1623494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4"/>
          <p:cNvSpPr txBox="1"/>
          <p:nvPr/>
        </p:nvSpPr>
        <p:spPr>
          <a:xfrm>
            <a:off x="3380504" y="3295354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4"/>
          <p:cNvSpPr txBox="1"/>
          <p:nvPr/>
        </p:nvSpPr>
        <p:spPr>
          <a:xfrm>
            <a:off x="3393874" y="4277889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4"/>
          <p:cNvSpPr txBox="1"/>
          <p:nvPr/>
        </p:nvSpPr>
        <p:spPr>
          <a:xfrm>
            <a:off x="3407244" y="5260424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4"/>
          <p:cNvSpPr txBox="1"/>
          <p:nvPr/>
        </p:nvSpPr>
        <p:spPr>
          <a:xfrm>
            <a:off x="5245958" y="1623494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6186268" y="1623494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4"/>
          <p:cNvSpPr txBox="1"/>
          <p:nvPr/>
        </p:nvSpPr>
        <p:spPr>
          <a:xfrm>
            <a:off x="7126578" y="1623494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4"/>
          <p:cNvSpPr/>
          <p:nvPr/>
        </p:nvSpPr>
        <p:spPr>
          <a:xfrm rot="2571679">
            <a:off x="3429633" y="3772757"/>
            <a:ext cx="5209269" cy="4440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Length=1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4"/>
          <p:cNvSpPr/>
          <p:nvPr/>
        </p:nvSpPr>
        <p:spPr>
          <a:xfrm rot="2571679">
            <a:off x="4522140" y="3251986"/>
            <a:ext cx="3932395" cy="4440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Length=2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4"/>
          <p:cNvSpPr/>
          <p:nvPr/>
        </p:nvSpPr>
        <p:spPr>
          <a:xfrm rot="2571679">
            <a:off x="5721144" y="2790238"/>
            <a:ext cx="2595295" cy="4440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Length=3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4"/>
          <p:cNvSpPr/>
          <p:nvPr/>
        </p:nvSpPr>
        <p:spPr>
          <a:xfrm rot="2571679">
            <a:off x="6794773" y="2257958"/>
            <a:ext cx="1445433" cy="444031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Length=4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4"/>
          <p:cNvSpPr txBox="1"/>
          <p:nvPr/>
        </p:nvSpPr>
        <p:spPr>
          <a:xfrm>
            <a:off x="3113377" y="1601644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54"/>
          <p:cNvSpPr txBox="1"/>
          <p:nvPr/>
        </p:nvSpPr>
        <p:spPr>
          <a:xfrm>
            <a:off x="3694799" y="1240849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4"/>
          <p:cNvSpPr/>
          <p:nvPr/>
        </p:nvSpPr>
        <p:spPr>
          <a:xfrm>
            <a:off x="462408" y="3988818"/>
            <a:ext cx="995423" cy="63078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A(1,1)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4"/>
          <p:cNvSpPr/>
          <p:nvPr/>
        </p:nvSpPr>
        <p:spPr>
          <a:xfrm>
            <a:off x="1541541" y="3988818"/>
            <a:ext cx="995423" cy="63078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A(2,2)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54"/>
          <p:cNvSpPr/>
          <p:nvPr/>
        </p:nvSpPr>
        <p:spPr>
          <a:xfrm>
            <a:off x="476926" y="4720507"/>
            <a:ext cx="995423" cy="63078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A(3,3)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4"/>
          <p:cNvSpPr/>
          <p:nvPr/>
        </p:nvSpPr>
        <p:spPr>
          <a:xfrm>
            <a:off x="1541541" y="4726294"/>
            <a:ext cx="995423" cy="63078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A(4,4)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4"/>
          <p:cNvSpPr/>
          <p:nvPr/>
        </p:nvSpPr>
        <p:spPr>
          <a:xfrm>
            <a:off x="8513566" y="4298834"/>
            <a:ext cx="995423" cy="63078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A(1,2)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4"/>
          <p:cNvSpPr/>
          <p:nvPr/>
        </p:nvSpPr>
        <p:spPr>
          <a:xfrm>
            <a:off x="9592699" y="4298834"/>
            <a:ext cx="995423" cy="63078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A(2,3)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54"/>
          <p:cNvSpPr/>
          <p:nvPr/>
        </p:nvSpPr>
        <p:spPr>
          <a:xfrm>
            <a:off x="10671832" y="4298834"/>
            <a:ext cx="995423" cy="63078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A(3,4)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4"/>
          <p:cNvSpPr/>
          <p:nvPr/>
        </p:nvSpPr>
        <p:spPr>
          <a:xfrm>
            <a:off x="8799361" y="2664569"/>
            <a:ext cx="995423" cy="63078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A(1,3)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4"/>
          <p:cNvSpPr/>
          <p:nvPr/>
        </p:nvSpPr>
        <p:spPr>
          <a:xfrm>
            <a:off x="9878494" y="2664569"/>
            <a:ext cx="995423" cy="63078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A(2,4)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4"/>
          <p:cNvSpPr/>
          <p:nvPr/>
        </p:nvSpPr>
        <p:spPr>
          <a:xfrm>
            <a:off x="1362003" y="2375498"/>
            <a:ext cx="995423" cy="630785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A(1,4)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0"/>
          <p:cNvSpPr txBox="1">
            <a:spLocks noGrp="1"/>
          </p:cNvSpPr>
          <p:nvPr>
            <p:ph type="title"/>
          </p:nvPr>
        </p:nvSpPr>
        <p:spPr>
          <a:xfrm>
            <a:off x="838200" y="228117"/>
            <a:ext cx="10515600" cy="67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Bottom Up Approach (as per Cormen’s book)</a:t>
            </a:r>
            <a:endParaRPr/>
          </a:p>
        </p:txBody>
      </p:sp>
      <p:sp>
        <p:nvSpPr>
          <p:cNvPr id="507" name="Google Shape;507;p70"/>
          <p:cNvSpPr/>
          <p:nvPr/>
        </p:nvSpPr>
        <p:spPr>
          <a:xfrm>
            <a:off x="4378960" y="5283200"/>
            <a:ext cx="2712720" cy="35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1250" y="1019375"/>
            <a:ext cx="7504424" cy="56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70"/>
          <p:cNvSpPr txBox="1"/>
          <p:nvPr/>
        </p:nvSpPr>
        <p:spPr>
          <a:xfrm>
            <a:off x="5205875" y="3103950"/>
            <a:ext cx="30345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row number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70"/>
          <p:cNvSpPr txBox="1"/>
          <p:nvPr/>
        </p:nvSpPr>
        <p:spPr>
          <a:xfrm>
            <a:off x="5205875" y="3484950"/>
            <a:ext cx="30345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for column number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70"/>
          <p:cNvSpPr txBox="1"/>
          <p:nvPr/>
        </p:nvSpPr>
        <p:spPr>
          <a:xfrm>
            <a:off x="5510675" y="4018350"/>
            <a:ext cx="37614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for multiplication combination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let us simulate</a:t>
            </a:r>
            <a:endParaRPr/>
          </a:p>
        </p:txBody>
      </p:sp>
      <p:sp>
        <p:nvSpPr>
          <p:cNvPr id="517" name="Google Shape;517;p58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8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8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8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8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8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8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58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8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8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8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58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8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8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8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58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58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4" name="Google Shape;534;p58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8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8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8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8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8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8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8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8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8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8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8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8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8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8"/>
          <p:cNvSpPr txBox="1"/>
          <p:nvPr/>
        </p:nvSpPr>
        <p:spPr>
          <a:xfrm>
            <a:off x="833120" y="2143383"/>
            <a:ext cx="35966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let us fill up the base cases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 cases with length/number of matrices=1)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8"/>
          <p:cNvSpPr txBox="1"/>
          <p:nvPr/>
        </p:nvSpPr>
        <p:spPr>
          <a:xfrm>
            <a:off x="937325" y="3391900"/>
            <a:ext cx="11328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l=1</a:t>
            </a:r>
            <a:endParaRPr sz="2200" b="1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9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9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9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9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9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9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9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9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9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9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9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9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9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9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9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9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59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1" name="Google Shape;571;p59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9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9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9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9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9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9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59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9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9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9"/>
          <p:cNvSpPr txBox="1"/>
          <p:nvPr/>
        </p:nvSpPr>
        <p:spPr>
          <a:xfrm>
            <a:off x="224306" y="222993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9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9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9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9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6" name="Google Shape;586;p59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7" name="Google Shape;587;p59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9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9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9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9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59"/>
          <p:cNvCxnSpPr>
            <a:stCxn id="587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3" name="Google Shape;593;p59"/>
          <p:cNvCxnSpPr>
            <a:stCxn id="588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4" name="Google Shape;594;p59"/>
          <p:cNvCxnSpPr>
            <a:stCxn id="588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5" name="Google Shape;595;p59"/>
          <p:cNvCxnSpPr>
            <a:stCxn id="589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6" name="Google Shape;596;p59"/>
          <p:cNvCxnSpPr>
            <a:stCxn id="589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p59"/>
          <p:cNvCxnSpPr>
            <a:stCxn id="590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p59"/>
          <p:cNvCxnSpPr>
            <a:stCxn id="590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9" name="Google Shape;599;p59"/>
          <p:cNvCxnSpPr>
            <a:stCxn id="591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0" name="Google Shape;600;p59"/>
          <p:cNvSpPr txBox="1"/>
          <p:nvPr/>
        </p:nvSpPr>
        <p:spPr>
          <a:xfrm>
            <a:off x="733046" y="1806318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N[1][2]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9"/>
          <p:cNvSpPr/>
          <p:nvPr/>
        </p:nvSpPr>
        <p:spPr>
          <a:xfrm>
            <a:off x="1554807" y="185248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9"/>
          <p:cNvSpPr txBox="1"/>
          <p:nvPr/>
        </p:nvSpPr>
        <p:spPr>
          <a:xfrm>
            <a:off x="1808773" y="1806317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N[1][1]+N[2][2]+P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9"/>
          <p:cNvSpPr/>
          <p:nvPr/>
        </p:nvSpPr>
        <p:spPr>
          <a:xfrm>
            <a:off x="1554807" y="228086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9"/>
          <p:cNvSpPr txBox="1"/>
          <p:nvPr/>
        </p:nvSpPr>
        <p:spPr>
          <a:xfrm>
            <a:off x="1808773" y="2234697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+  0  +   5X4X6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9"/>
          <p:cNvSpPr/>
          <p:nvPr/>
        </p:nvSpPr>
        <p:spPr>
          <a:xfrm>
            <a:off x="1554807" y="2660016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9"/>
          <p:cNvSpPr txBox="1"/>
          <p:nvPr/>
        </p:nvSpPr>
        <p:spPr>
          <a:xfrm>
            <a:off x="1808773" y="261384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9"/>
          <p:cNvSpPr txBox="1"/>
          <p:nvPr/>
        </p:nvSpPr>
        <p:spPr>
          <a:xfrm>
            <a:off x="733046" y="3145593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N[2][3]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9"/>
          <p:cNvSpPr/>
          <p:nvPr/>
        </p:nvSpPr>
        <p:spPr>
          <a:xfrm>
            <a:off x="1554807" y="3191759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9"/>
          <p:cNvSpPr txBox="1"/>
          <p:nvPr/>
        </p:nvSpPr>
        <p:spPr>
          <a:xfrm>
            <a:off x="1808773" y="3145592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N[2][2]+N[3][3]+P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9"/>
          <p:cNvSpPr/>
          <p:nvPr/>
        </p:nvSpPr>
        <p:spPr>
          <a:xfrm>
            <a:off x="1554807" y="3620139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9"/>
          <p:cNvSpPr txBox="1"/>
          <p:nvPr/>
        </p:nvSpPr>
        <p:spPr>
          <a:xfrm>
            <a:off x="1808773" y="3573972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+  0  +   4X6X2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9"/>
          <p:cNvSpPr/>
          <p:nvPr/>
        </p:nvSpPr>
        <p:spPr>
          <a:xfrm>
            <a:off x="1554807" y="399929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9"/>
          <p:cNvSpPr txBox="1"/>
          <p:nvPr/>
        </p:nvSpPr>
        <p:spPr>
          <a:xfrm>
            <a:off x="1808773" y="395312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59"/>
          <p:cNvSpPr txBox="1"/>
          <p:nvPr/>
        </p:nvSpPr>
        <p:spPr>
          <a:xfrm>
            <a:off x="692440" y="4627915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N[3][4]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9"/>
          <p:cNvSpPr/>
          <p:nvPr/>
        </p:nvSpPr>
        <p:spPr>
          <a:xfrm>
            <a:off x="1514201" y="467408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9"/>
          <p:cNvSpPr txBox="1"/>
          <p:nvPr/>
        </p:nvSpPr>
        <p:spPr>
          <a:xfrm>
            <a:off x="1768167" y="462791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N[3][3]+N[4][4]+P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9"/>
          <p:cNvSpPr/>
          <p:nvPr/>
        </p:nvSpPr>
        <p:spPr>
          <a:xfrm>
            <a:off x="1514201" y="510246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59"/>
          <p:cNvSpPr txBox="1"/>
          <p:nvPr/>
        </p:nvSpPr>
        <p:spPr>
          <a:xfrm>
            <a:off x="1768167" y="505629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+  0  +   6X2X7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9"/>
          <p:cNvSpPr/>
          <p:nvPr/>
        </p:nvSpPr>
        <p:spPr>
          <a:xfrm>
            <a:off x="1514201" y="5481613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9"/>
          <p:cNvSpPr txBox="1"/>
          <p:nvPr/>
        </p:nvSpPr>
        <p:spPr>
          <a:xfrm>
            <a:off x="1768167" y="5435446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9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9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9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59"/>
          <p:cNvSpPr txBox="1"/>
          <p:nvPr/>
        </p:nvSpPr>
        <p:spPr>
          <a:xfrm>
            <a:off x="795725" y="964300"/>
            <a:ext cx="13554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0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0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0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0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0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60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60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60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0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0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60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0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0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0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60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0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60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6" name="Google Shape;646;p60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60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60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0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60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60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60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60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60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0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60"/>
          <p:cNvSpPr txBox="1"/>
          <p:nvPr/>
        </p:nvSpPr>
        <p:spPr>
          <a:xfrm>
            <a:off x="224306" y="222993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60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0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0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0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1" name="Google Shape;661;p60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2" name="Google Shape;662;p60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60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60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0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0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60"/>
          <p:cNvCxnSpPr>
            <a:stCxn id="662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8" name="Google Shape;668;p60"/>
          <p:cNvCxnSpPr>
            <a:stCxn id="663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69" name="Google Shape;669;p60"/>
          <p:cNvCxnSpPr>
            <a:stCxn id="663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0" name="Google Shape;670;p60"/>
          <p:cNvCxnSpPr>
            <a:stCxn id="664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1" name="Google Shape;671;p60"/>
          <p:cNvCxnSpPr>
            <a:stCxn id="664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2" name="Google Shape;672;p60"/>
          <p:cNvCxnSpPr>
            <a:stCxn id="665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3" name="Google Shape;673;p60"/>
          <p:cNvCxnSpPr>
            <a:stCxn id="665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4" name="Google Shape;674;p60"/>
          <p:cNvCxnSpPr>
            <a:stCxn id="666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5" name="Google Shape;675;p60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0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0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0"/>
          <p:cNvSpPr txBox="1"/>
          <p:nvPr/>
        </p:nvSpPr>
        <p:spPr>
          <a:xfrm>
            <a:off x="733046" y="1806318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N[1][3]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0"/>
          <p:cNvSpPr/>
          <p:nvPr/>
        </p:nvSpPr>
        <p:spPr>
          <a:xfrm>
            <a:off x="1554807" y="185248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0"/>
          <p:cNvSpPr txBox="1"/>
          <p:nvPr/>
        </p:nvSpPr>
        <p:spPr>
          <a:xfrm>
            <a:off x="1984495" y="1483152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N[1][1]+N[2][3]+P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0"/>
          <p:cNvSpPr/>
          <p:nvPr/>
        </p:nvSpPr>
        <p:spPr>
          <a:xfrm>
            <a:off x="1818977" y="1373203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60"/>
          <p:cNvSpPr txBox="1"/>
          <p:nvPr/>
        </p:nvSpPr>
        <p:spPr>
          <a:xfrm>
            <a:off x="1968755" y="2040987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N[1][2]+N[3][3]+P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60"/>
          <p:cNvSpPr/>
          <p:nvPr/>
        </p:nvSpPr>
        <p:spPr>
          <a:xfrm>
            <a:off x="1538985" y="330853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0"/>
          <p:cNvSpPr txBox="1"/>
          <p:nvPr/>
        </p:nvSpPr>
        <p:spPr>
          <a:xfrm>
            <a:off x="1968673" y="293919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+48 + 5X4X2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0"/>
          <p:cNvSpPr/>
          <p:nvPr/>
        </p:nvSpPr>
        <p:spPr>
          <a:xfrm>
            <a:off x="1803155" y="2829250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60"/>
          <p:cNvSpPr txBox="1"/>
          <p:nvPr/>
        </p:nvSpPr>
        <p:spPr>
          <a:xfrm>
            <a:off x="1952933" y="349703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120+0+5X6X2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0"/>
          <p:cNvSpPr/>
          <p:nvPr/>
        </p:nvSpPr>
        <p:spPr>
          <a:xfrm>
            <a:off x="1523245" y="4888370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0"/>
          <p:cNvSpPr txBox="1"/>
          <p:nvPr/>
        </p:nvSpPr>
        <p:spPr>
          <a:xfrm>
            <a:off x="1952933" y="4519038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0"/>
          <p:cNvSpPr/>
          <p:nvPr/>
        </p:nvSpPr>
        <p:spPr>
          <a:xfrm>
            <a:off x="1787415" y="4409089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60"/>
          <p:cNvSpPr txBox="1"/>
          <p:nvPr/>
        </p:nvSpPr>
        <p:spPr>
          <a:xfrm>
            <a:off x="1937193" y="5076873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60"/>
          <p:cNvSpPr/>
          <p:nvPr/>
        </p:nvSpPr>
        <p:spPr>
          <a:xfrm>
            <a:off x="1559758" y="602033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60"/>
          <p:cNvSpPr txBox="1"/>
          <p:nvPr/>
        </p:nvSpPr>
        <p:spPr>
          <a:xfrm>
            <a:off x="1954714" y="602424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0"/>
          <p:cNvSpPr/>
          <p:nvPr/>
        </p:nvSpPr>
        <p:spPr>
          <a:xfrm>
            <a:off x="8240648" y="22254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60"/>
          <p:cNvSpPr/>
          <p:nvPr/>
        </p:nvSpPr>
        <p:spPr>
          <a:xfrm>
            <a:off x="3606557" y="1462943"/>
            <a:ext cx="640080" cy="37177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0"/>
          <p:cNvSpPr/>
          <p:nvPr/>
        </p:nvSpPr>
        <p:spPr>
          <a:xfrm>
            <a:off x="3606557" y="2005203"/>
            <a:ext cx="640080" cy="37177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1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61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61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1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61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61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1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61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61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61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61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61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1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1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1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1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61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7" name="Google Shape;717;p61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61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61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1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1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1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61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61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61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1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61"/>
          <p:cNvSpPr txBox="1"/>
          <p:nvPr/>
        </p:nvSpPr>
        <p:spPr>
          <a:xfrm>
            <a:off x="677179" y="319041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61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61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1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1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2" name="Google Shape;732;p61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3" name="Google Shape;733;p61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61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1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1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8" name="Google Shape;738;p61"/>
          <p:cNvCxnSpPr>
            <a:stCxn id="733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9" name="Google Shape;739;p61"/>
          <p:cNvCxnSpPr>
            <a:stCxn id="734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0" name="Google Shape;740;p61"/>
          <p:cNvCxnSpPr>
            <a:stCxn id="734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1" name="Google Shape;741;p61"/>
          <p:cNvCxnSpPr>
            <a:stCxn id="735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2" name="Google Shape;742;p61"/>
          <p:cNvCxnSpPr>
            <a:stCxn id="735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3" name="Google Shape;743;p61"/>
          <p:cNvCxnSpPr>
            <a:stCxn id="736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4" name="Google Shape;744;p61"/>
          <p:cNvCxnSpPr>
            <a:stCxn id="736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5" name="Google Shape;745;p61"/>
          <p:cNvCxnSpPr>
            <a:stCxn id="737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6" name="Google Shape;746;p61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8240648" y="22254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9257430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1"/>
          <p:cNvSpPr txBox="1"/>
          <p:nvPr/>
        </p:nvSpPr>
        <p:spPr>
          <a:xfrm>
            <a:off x="677179" y="1170977"/>
            <a:ext cx="35966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do this one now!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1"/>
          <p:cNvSpPr txBox="1"/>
          <p:nvPr/>
        </p:nvSpPr>
        <p:spPr>
          <a:xfrm>
            <a:off x="203771" y="2090169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N[2][4]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1"/>
          <p:cNvSpPr/>
          <p:nvPr/>
        </p:nvSpPr>
        <p:spPr>
          <a:xfrm>
            <a:off x="1025532" y="2136335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1"/>
          <p:cNvSpPr txBox="1"/>
          <p:nvPr/>
        </p:nvSpPr>
        <p:spPr>
          <a:xfrm>
            <a:off x="1455220" y="1767003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N[2][2]+N[3][4]+P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1"/>
          <p:cNvSpPr/>
          <p:nvPr/>
        </p:nvSpPr>
        <p:spPr>
          <a:xfrm>
            <a:off x="1289702" y="1657054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1"/>
          <p:cNvSpPr txBox="1"/>
          <p:nvPr/>
        </p:nvSpPr>
        <p:spPr>
          <a:xfrm>
            <a:off x="1439480" y="2324838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N[2][3]+N[4][4]+P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1"/>
          <p:cNvSpPr/>
          <p:nvPr/>
        </p:nvSpPr>
        <p:spPr>
          <a:xfrm>
            <a:off x="1009710" y="3592382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1"/>
          <p:cNvSpPr txBox="1"/>
          <p:nvPr/>
        </p:nvSpPr>
        <p:spPr>
          <a:xfrm>
            <a:off x="1439398" y="3223050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+84 + 4X6X7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1"/>
          <p:cNvSpPr/>
          <p:nvPr/>
        </p:nvSpPr>
        <p:spPr>
          <a:xfrm>
            <a:off x="1273880" y="3113101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1"/>
          <p:cNvSpPr txBox="1"/>
          <p:nvPr/>
        </p:nvSpPr>
        <p:spPr>
          <a:xfrm>
            <a:off x="1423658" y="3780885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48+0+ 4X2X7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61"/>
          <p:cNvSpPr/>
          <p:nvPr/>
        </p:nvSpPr>
        <p:spPr>
          <a:xfrm>
            <a:off x="993970" y="517222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1"/>
          <p:cNvSpPr txBox="1"/>
          <p:nvPr/>
        </p:nvSpPr>
        <p:spPr>
          <a:xfrm>
            <a:off x="1423658" y="480288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1"/>
          <p:cNvSpPr/>
          <p:nvPr/>
        </p:nvSpPr>
        <p:spPr>
          <a:xfrm>
            <a:off x="1258140" y="4692940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61"/>
          <p:cNvSpPr txBox="1"/>
          <p:nvPr/>
        </p:nvSpPr>
        <p:spPr>
          <a:xfrm>
            <a:off x="1407918" y="536072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1"/>
          <p:cNvSpPr/>
          <p:nvPr/>
        </p:nvSpPr>
        <p:spPr>
          <a:xfrm>
            <a:off x="1030483" y="6304185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61"/>
          <p:cNvSpPr txBox="1"/>
          <p:nvPr/>
        </p:nvSpPr>
        <p:spPr>
          <a:xfrm>
            <a:off x="1425439" y="6308100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2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62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2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62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2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62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62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2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2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2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2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2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2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2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2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62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7" name="Google Shape;787;p62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8" name="Google Shape;788;p62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62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2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2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2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2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62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62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62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62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62"/>
          <p:cNvSpPr txBox="1"/>
          <p:nvPr/>
        </p:nvSpPr>
        <p:spPr>
          <a:xfrm>
            <a:off x="677179" y="319041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62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2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2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62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3" name="Google Shape;803;p62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04" name="Google Shape;804;p62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62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2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2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62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9" name="Google Shape;809;p62"/>
          <p:cNvCxnSpPr>
            <a:stCxn id="804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0" name="Google Shape;810;p62"/>
          <p:cNvCxnSpPr>
            <a:stCxn id="805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1" name="Google Shape;811;p62"/>
          <p:cNvCxnSpPr>
            <a:stCxn id="805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2" name="Google Shape;812;p62"/>
          <p:cNvCxnSpPr>
            <a:stCxn id="806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3" name="Google Shape;813;p62"/>
          <p:cNvCxnSpPr>
            <a:stCxn id="806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4" name="Google Shape;814;p62"/>
          <p:cNvCxnSpPr>
            <a:stCxn id="807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5" name="Google Shape;815;p62"/>
          <p:cNvCxnSpPr>
            <a:stCxn id="807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6" name="Google Shape;816;p62"/>
          <p:cNvCxnSpPr>
            <a:stCxn id="808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17" name="Google Shape;817;p62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2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62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62"/>
          <p:cNvSpPr/>
          <p:nvPr/>
        </p:nvSpPr>
        <p:spPr>
          <a:xfrm>
            <a:off x="8240648" y="22254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62"/>
          <p:cNvSpPr/>
          <p:nvPr/>
        </p:nvSpPr>
        <p:spPr>
          <a:xfrm>
            <a:off x="9257430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62"/>
          <p:cNvSpPr txBox="1"/>
          <p:nvPr/>
        </p:nvSpPr>
        <p:spPr>
          <a:xfrm>
            <a:off x="646809" y="1614895"/>
            <a:ext cx="45402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min{ N[1]}[1]+N[2][4]+5X4X7,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    N[1][2]+N[3][4]+5X6X7,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N[1][3]+N[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][4]+5X2X7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}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2"/>
          <p:cNvSpPr/>
          <p:nvPr/>
        </p:nvSpPr>
        <p:spPr>
          <a:xfrm>
            <a:off x="9244883" y="2208298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62"/>
          <p:cNvSpPr txBox="1"/>
          <p:nvPr/>
        </p:nvSpPr>
        <p:spPr>
          <a:xfrm>
            <a:off x="677179" y="1118924"/>
            <a:ext cx="35966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this one as well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62"/>
          <p:cNvSpPr txBox="1"/>
          <p:nvPr/>
        </p:nvSpPr>
        <p:spPr>
          <a:xfrm>
            <a:off x="633395" y="2941353"/>
            <a:ext cx="454017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min{ 0 + 104+ 140,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120+84+210,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88+0+70}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62"/>
          <p:cNvSpPr txBox="1"/>
          <p:nvPr/>
        </p:nvSpPr>
        <p:spPr>
          <a:xfrm>
            <a:off x="646809" y="6035647"/>
            <a:ext cx="454017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158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62"/>
          <p:cNvSpPr txBox="1"/>
          <p:nvPr/>
        </p:nvSpPr>
        <p:spPr>
          <a:xfrm>
            <a:off x="633394" y="4488500"/>
            <a:ext cx="454017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min{ 0 + 104+ 140=244,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414,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158}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3"/>
          <p:cNvSpPr txBox="1">
            <a:spLocks noGrp="1"/>
          </p:cNvSpPr>
          <p:nvPr>
            <p:ph type="title"/>
          </p:nvPr>
        </p:nvSpPr>
        <p:spPr>
          <a:xfrm>
            <a:off x="134438" y="913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Keeping track of the splits (Lets denote it using k)</a:t>
            </a:r>
            <a:endParaRPr/>
          </a:p>
        </p:txBody>
      </p:sp>
      <p:sp>
        <p:nvSpPr>
          <p:cNvPr id="833" name="Google Shape;833;p63"/>
          <p:cNvSpPr txBox="1"/>
          <p:nvPr/>
        </p:nvSpPr>
        <p:spPr>
          <a:xfrm>
            <a:off x="6260486" y="962671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4" name="Google Shape;834;p63"/>
          <p:cNvGrpSpPr/>
          <p:nvPr/>
        </p:nvGrpSpPr>
        <p:grpSpPr>
          <a:xfrm>
            <a:off x="5663990" y="1027906"/>
            <a:ext cx="6040329" cy="5830094"/>
            <a:chOff x="5524596" y="1623769"/>
            <a:chExt cx="4635661" cy="4432799"/>
          </a:xfrm>
        </p:grpSpPr>
        <p:sp>
          <p:nvSpPr>
            <p:cNvPr id="835" name="Google Shape;835;p63"/>
            <p:cNvSpPr/>
            <p:nvPr/>
          </p:nvSpPr>
          <p:spPr>
            <a:xfrm>
              <a:off x="6195928" y="2225653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63"/>
            <p:cNvSpPr/>
            <p:nvPr/>
          </p:nvSpPr>
          <p:spPr>
            <a:xfrm>
              <a:off x="7216429" y="2225653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63"/>
            <p:cNvSpPr/>
            <p:nvPr/>
          </p:nvSpPr>
          <p:spPr>
            <a:xfrm>
              <a:off x="8236930" y="2225653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63"/>
            <p:cNvSpPr/>
            <p:nvPr/>
          </p:nvSpPr>
          <p:spPr>
            <a:xfrm>
              <a:off x="9257431" y="2225653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63"/>
            <p:cNvSpPr/>
            <p:nvPr/>
          </p:nvSpPr>
          <p:spPr>
            <a:xfrm>
              <a:off x="6195928" y="3217116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63"/>
            <p:cNvSpPr/>
            <p:nvPr/>
          </p:nvSpPr>
          <p:spPr>
            <a:xfrm>
              <a:off x="7216429" y="3217116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63"/>
            <p:cNvSpPr/>
            <p:nvPr/>
          </p:nvSpPr>
          <p:spPr>
            <a:xfrm>
              <a:off x="8236930" y="3217116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63"/>
            <p:cNvSpPr/>
            <p:nvPr/>
          </p:nvSpPr>
          <p:spPr>
            <a:xfrm>
              <a:off x="9257431" y="3217116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63"/>
            <p:cNvSpPr/>
            <p:nvPr/>
          </p:nvSpPr>
          <p:spPr>
            <a:xfrm>
              <a:off x="6195928" y="4208579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63"/>
            <p:cNvSpPr/>
            <p:nvPr/>
          </p:nvSpPr>
          <p:spPr>
            <a:xfrm>
              <a:off x="7216429" y="4208579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63"/>
            <p:cNvSpPr/>
            <p:nvPr/>
          </p:nvSpPr>
          <p:spPr>
            <a:xfrm>
              <a:off x="8236930" y="4208579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63"/>
            <p:cNvSpPr/>
            <p:nvPr/>
          </p:nvSpPr>
          <p:spPr>
            <a:xfrm>
              <a:off x="9257431" y="4208579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63"/>
            <p:cNvSpPr/>
            <p:nvPr/>
          </p:nvSpPr>
          <p:spPr>
            <a:xfrm>
              <a:off x="6195928" y="5200042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63"/>
            <p:cNvSpPr/>
            <p:nvPr/>
          </p:nvSpPr>
          <p:spPr>
            <a:xfrm>
              <a:off x="7216429" y="5200042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63"/>
            <p:cNvSpPr/>
            <p:nvPr/>
          </p:nvSpPr>
          <p:spPr>
            <a:xfrm>
              <a:off x="8236930" y="5200042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63"/>
            <p:cNvSpPr/>
            <p:nvPr/>
          </p:nvSpPr>
          <p:spPr>
            <a:xfrm>
              <a:off x="9257431" y="5200042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1" name="Google Shape;851;p63"/>
            <p:cNvCxnSpPr/>
            <p:nvPr/>
          </p:nvCxnSpPr>
          <p:spPr>
            <a:xfrm rot="10800000">
              <a:off x="5524596" y="1623769"/>
              <a:ext cx="671332" cy="601884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52" name="Google Shape;852;p63"/>
            <p:cNvSpPr txBox="1"/>
            <p:nvPr/>
          </p:nvSpPr>
          <p:spPr>
            <a:xfrm>
              <a:off x="5583166" y="2478178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63"/>
            <p:cNvSpPr txBox="1"/>
            <p:nvPr/>
          </p:nvSpPr>
          <p:spPr>
            <a:xfrm>
              <a:off x="6508310" y="1788853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63"/>
            <p:cNvSpPr txBox="1"/>
            <p:nvPr/>
          </p:nvSpPr>
          <p:spPr>
            <a:xfrm>
              <a:off x="5583166" y="3460713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63"/>
            <p:cNvSpPr txBox="1"/>
            <p:nvPr/>
          </p:nvSpPr>
          <p:spPr>
            <a:xfrm>
              <a:off x="5596536" y="4443248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63"/>
            <p:cNvSpPr txBox="1"/>
            <p:nvPr/>
          </p:nvSpPr>
          <p:spPr>
            <a:xfrm>
              <a:off x="5609906" y="5425783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63"/>
            <p:cNvSpPr txBox="1"/>
            <p:nvPr/>
          </p:nvSpPr>
          <p:spPr>
            <a:xfrm>
              <a:off x="7448620" y="1788853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63"/>
            <p:cNvSpPr txBox="1"/>
            <p:nvPr/>
          </p:nvSpPr>
          <p:spPr>
            <a:xfrm>
              <a:off x="8388930" y="1788853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63"/>
            <p:cNvSpPr txBox="1"/>
            <p:nvPr/>
          </p:nvSpPr>
          <p:spPr>
            <a:xfrm>
              <a:off x="9329240" y="1788853"/>
              <a:ext cx="278059" cy="35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63"/>
            <p:cNvSpPr txBox="1"/>
            <p:nvPr/>
          </p:nvSpPr>
          <p:spPr>
            <a:xfrm>
              <a:off x="5609906" y="1932761"/>
              <a:ext cx="222917" cy="491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63"/>
            <p:cNvSpPr/>
            <p:nvPr/>
          </p:nvSpPr>
          <p:spPr>
            <a:xfrm>
              <a:off x="6195926" y="2225653"/>
              <a:ext cx="902825" cy="856526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BA8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63"/>
            <p:cNvSpPr/>
            <p:nvPr/>
          </p:nvSpPr>
          <p:spPr>
            <a:xfrm>
              <a:off x="7216428" y="3217116"/>
              <a:ext cx="902825" cy="856526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BA8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63"/>
            <p:cNvSpPr/>
            <p:nvPr/>
          </p:nvSpPr>
          <p:spPr>
            <a:xfrm>
              <a:off x="8236930" y="4208579"/>
              <a:ext cx="902825" cy="856526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BA8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63"/>
            <p:cNvSpPr/>
            <p:nvPr/>
          </p:nvSpPr>
          <p:spPr>
            <a:xfrm>
              <a:off x="9257432" y="5200042"/>
              <a:ext cx="902825" cy="856526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BA8C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5" name="Google Shape;865;p63"/>
          <p:cNvSpPr txBox="1"/>
          <p:nvPr/>
        </p:nvSpPr>
        <p:spPr>
          <a:xfrm>
            <a:off x="422976" y="3097126"/>
            <a:ext cx="52406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base cases k=0, as no splits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4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4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4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64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4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4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4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4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64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64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4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4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64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64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64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64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6" name="Google Shape;886;p64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7" name="Google Shape;887;p64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64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64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64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4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4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4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64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4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4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4"/>
          <p:cNvSpPr txBox="1"/>
          <p:nvPr/>
        </p:nvSpPr>
        <p:spPr>
          <a:xfrm>
            <a:off x="224306" y="222993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4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64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64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64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2" name="Google Shape;902;p64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3" name="Google Shape;903;p64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64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4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4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4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8" name="Google Shape;908;p64"/>
          <p:cNvCxnSpPr>
            <a:stCxn id="903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9" name="Google Shape;909;p64"/>
          <p:cNvCxnSpPr>
            <a:stCxn id="904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0" name="Google Shape;910;p64"/>
          <p:cNvCxnSpPr>
            <a:stCxn id="904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1" name="Google Shape;911;p64"/>
          <p:cNvCxnSpPr>
            <a:stCxn id="905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2" name="Google Shape;912;p64"/>
          <p:cNvCxnSpPr>
            <a:stCxn id="905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3" name="Google Shape;913;p64"/>
          <p:cNvCxnSpPr>
            <a:stCxn id="906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4" name="Google Shape;914;p64"/>
          <p:cNvCxnSpPr>
            <a:stCxn id="906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5" name="Google Shape;915;p64"/>
          <p:cNvCxnSpPr>
            <a:stCxn id="907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16" name="Google Shape;916;p64"/>
          <p:cNvSpPr txBox="1"/>
          <p:nvPr/>
        </p:nvSpPr>
        <p:spPr>
          <a:xfrm>
            <a:off x="733046" y="1806318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N[1][2]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4"/>
          <p:cNvSpPr/>
          <p:nvPr/>
        </p:nvSpPr>
        <p:spPr>
          <a:xfrm>
            <a:off x="1554807" y="185248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4"/>
          <p:cNvSpPr txBox="1"/>
          <p:nvPr/>
        </p:nvSpPr>
        <p:spPr>
          <a:xfrm>
            <a:off x="1808773" y="1806317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N[1][1]+N[2][2]+P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64"/>
          <p:cNvSpPr/>
          <p:nvPr/>
        </p:nvSpPr>
        <p:spPr>
          <a:xfrm>
            <a:off x="1554807" y="228086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4"/>
          <p:cNvSpPr txBox="1"/>
          <p:nvPr/>
        </p:nvSpPr>
        <p:spPr>
          <a:xfrm>
            <a:off x="1808773" y="2234697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+  0  +   5X4X6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64"/>
          <p:cNvSpPr/>
          <p:nvPr/>
        </p:nvSpPr>
        <p:spPr>
          <a:xfrm>
            <a:off x="1554807" y="2660016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4"/>
          <p:cNvSpPr txBox="1"/>
          <p:nvPr/>
        </p:nvSpPr>
        <p:spPr>
          <a:xfrm>
            <a:off x="1808773" y="261384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4"/>
          <p:cNvSpPr txBox="1"/>
          <p:nvPr/>
        </p:nvSpPr>
        <p:spPr>
          <a:xfrm>
            <a:off x="733046" y="3145593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N[2][3]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64"/>
          <p:cNvSpPr/>
          <p:nvPr/>
        </p:nvSpPr>
        <p:spPr>
          <a:xfrm>
            <a:off x="1554807" y="3191759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64"/>
          <p:cNvSpPr txBox="1"/>
          <p:nvPr/>
        </p:nvSpPr>
        <p:spPr>
          <a:xfrm>
            <a:off x="1808773" y="3145592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N[2][2]+N[3][3]+P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64"/>
          <p:cNvSpPr/>
          <p:nvPr/>
        </p:nvSpPr>
        <p:spPr>
          <a:xfrm>
            <a:off x="1554807" y="3620139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64"/>
          <p:cNvSpPr txBox="1"/>
          <p:nvPr/>
        </p:nvSpPr>
        <p:spPr>
          <a:xfrm>
            <a:off x="1808773" y="3573972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+  0  +   4X6X2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4"/>
          <p:cNvSpPr/>
          <p:nvPr/>
        </p:nvSpPr>
        <p:spPr>
          <a:xfrm>
            <a:off x="1554807" y="399929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64"/>
          <p:cNvSpPr txBox="1"/>
          <p:nvPr/>
        </p:nvSpPr>
        <p:spPr>
          <a:xfrm>
            <a:off x="1808773" y="395312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64"/>
          <p:cNvSpPr txBox="1"/>
          <p:nvPr/>
        </p:nvSpPr>
        <p:spPr>
          <a:xfrm>
            <a:off x="692440" y="4627915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N[3][4]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64"/>
          <p:cNvSpPr/>
          <p:nvPr/>
        </p:nvSpPr>
        <p:spPr>
          <a:xfrm>
            <a:off x="1514201" y="467408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4"/>
          <p:cNvSpPr txBox="1"/>
          <p:nvPr/>
        </p:nvSpPr>
        <p:spPr>
          <a:xfrm>
            <a:off x="1768167" y="462791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N[3][3]+N[4][4]+P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64"/>
          <p:cNvSpPr/>
          <p:nvPr/>
        </p:nvSpPr>
        <p:spPr>
          <a:xfrm>
            <a:off x="1514201" y="510246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64"/>
          <p:cNvSpPr txBox="1"/>
          <p:nvPr/>
        </p:nvSpPr>
        <p:spPr>
          <a:xfrm>
            <a:off x="1768167" y="505629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+  0  +   6X2X7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4"/>
          <p:cNvSpPr/>
          <p:nvPr/>
        </p:nvSpPr>
        <p:spPr>
          <a:xfrm>
            <a:off x="1514201" y="5481613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64"/>
          <p:cNvSpPr txBox="1"/>
          <p:nvPr/>
        </p:nvSpPr>
        <p:spPr>
          <a:xfrm>
            <a:off x="1768167" y="5435446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4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4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4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64"/>
          <p:cNvSpPr/>
          <p:nvPr/>
        </p:nvSpPr>
        <p:spPr>
          <a:xfrm rot="-3297872">
            <a:off x="2376568" y="1538036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64"/>
          <p:cNvSpPr txBox="1"/>
          <p:nvPr/>
        </p:nvSpPr>
        <p:spPr>
          <a:xfrm>
            <a:off x="2639223" y="1151272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64"/>
          <p:cNvSpPr/>
          <p:nvPr/>
        </p:nvSpPr>
        <p:spPr>
          <a:xfrm rot="-3297872">
            <a:off x="2376568" y="2932344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4"/>
          <p:cNvSpPr txBox="1"/>
          <p:nvPr/>
        </p:nvSpPr>
        <p:spPr>
          <a:xfrm>
            <a:off x="2639223" y="2545580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64"/>
          <p:cNvSpPr/>
          <p:nvPr/>
        </p:nvSpPr>
        <p:spPr>
          <a:xfrm rot="-3297872">
            <a:off x="2376568" y="4326652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64"/>
          <p:cNvSpPr txBox="1"/>
          <p:nvPr/>
        </p:nvSpPr>
        <p:spPr>
          <a:xfrm>
            <a:off x="2639223" y="3939888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4"/>
          <p:cNvSpPr/>
          <p:nvPr/>
        </p:nvSpPr>
        <p:spPr>
          <a:xfrm>
            <a:off x="7957114" y="2722842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64"/>
          <p:cNvSpPr/>
          <p:nvPr/>
        </p:nvSpPr>
        <p:spPr>
          <a:xfrm>
            <a:off x="8997586" y="3699282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64"/>
          <p:cNvSpPr/>
          <p:nvPr/>
        </p:nvSpPr>
        <p:spPr>
          <a:xfrm>
            <a:off x="9997151" y="4689145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5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5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5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5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5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5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5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65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65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65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5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65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65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5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5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5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9" name="Google Shape;969;p65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0" name="Google Shape;970;p65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65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5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65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5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5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5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65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5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65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65"/>
          <p:cNvSpPr txBox="1"/>
          <p:nvPr/>
        </p:nvSpPr>
        <p:spPr>
          <a:xfrm>
            <a:off x="224306" y="222993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65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5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5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65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5" name="Google Shape;985;p65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6" name="Google Shape;986;p65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65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5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5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65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1" name="Google Shape;991;p65"/>
          <p:cNvCxnSpPr>
            <a:stCxn id="986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2" name="Google Shape;992;p65"/>
          <p:cNvCxnSpPr>
            <a:stCxn id="987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3" name="Google Shape;993;p65"/>
          <p:cNvCxnSpPr>
            <a:stCxn id="987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4" name="Google Shape;994;p65"/>
          <p:cNvCxnSpPr>
            <a:stCxn id="988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5" name="Google Shape;995;p65"/>
          <p:cNvCxnSpPr>
            <a:stCxn id="988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6" name="Google Shape;996;p65"/>
          <p:cNvCxnSpPr>
            <a:stCxn id="989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7" name="Google Shape;997;p65"/>
          <p:cNvCxnSpPr>
            <a:stCxn id="989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8" name="Google Shape;998;p65"/>
          <p:cNvCxnSpPr>
            <a:stCxn id="990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9" name="Google Shape;999;p65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65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65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65"/>
          <p:cNvSpPr txBox="1"/>
          <p:nvPr/>
        </p:nvSpPr>
        <p:spPr>
          <a:xfrm>
            <a:off x="733046" y="1806318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N[1][3]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65"/>
          <p:cNvSpPr/>
          <p:nvPr/>
        </p:nvSpPr>
        <p:spPr>
          <a:xfrm>
            <a:off x="1554807" y="185248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5"/>
          <p:cNvSpPr txBox="1"/>
          <p:nvPr/>
        </p:nvSpPr>
        <p:spPr>
          <a:xfrm>
            <a:off x="1984495" y="1483152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N[1][1]+N[2][3]+P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5"/>
          <p:cNvSpPr/>
          <p:nvPr/>
        </p:nvSpPr>
        <p:spPr>
          <a:xfrm>
            <a:off x="1818977" y="1373203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5"/>
          <p:cNvSpPr txBox="1"/>
          <p:nvPr/>
        </p:nvSpPr>
        <p:spPr>
          <a:xfrm>
            <a:off x="1968755" y="2040987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N[1][2]+N[3][3]+P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65"/>
          <p:cNvSpPr/>
          <p:nvPr/>
        </p:nvSpPr>
        <p:spPr>
          <a:xfrm>
            <a:off x="1538985" y="330853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5"/>
          <p:cNvSpPr txBox="1"/>
          <p:nvPr/>
        </p:nvSpPr>
        <p:spPr>
          <a:xfrm>
            <a:off x="1968673" y="293919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+48 + 5X4X2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65"/>
          <p:cNvSpPr/>
          <p:nvPr/>
        </p:nvSpPr>
        <p:spPr>
          <a:xfrm>
            <a:off x="1803155" y="2829250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5"/>
          <p:cNvSpPr txBox="1"/>
          <p:nvPr/>
        </p:nvSpPr>
        <p:spPr>
          <a:xfrm>
            <a:off x="1952933" y="349703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120+0+5X6X2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5"/>
          <p:cNvSpPr/>
          <p:nvPr/>
        </p:nvSpPr>
        <p:spPr>
          <a:xfrm>
            <a:off x="1523245" y="4888370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5"/>
          <p:cNvSpPr txBox="1"/>
          <p:nvPr/>
        </p:nvSpPr>
        <p:spPr>
          <a:xfrm>
            <a:off x="1952933" y="4519038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5"/>
          <p:cNvSpPr/>
          <p:nvPr/>
        </p:nvSpPr>
        <p:spPr>
          <a:xfrm>
            <a:off x="1787415" y="4409089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5"/>
          <p:cNvSpPr txBox="1"/>
          <p:nvPr/>
        </p:nvSpPr>
        <p:spPr>
          <a:xfrm>
            <a:off x="1937193" y="5076873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5"/>
          <p:cNvSpPr/>
          <p:nvPr/>
        </p:nvSpPr>
        <p:spPr>
          <a:xfrm>
            <a:off x="1559758" y="6020334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5"/>
          <p:cNvSpPr txBox="1"/>
          <p:nvPr/>
        </p:nvSpPr>
        <p:spPr>
          <a:xfrm>
            <a:off x="1954714" y="602424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5"/>
          <p:cNvSpPr/>
          <p:nvPr/>
        </p:nvSpPr>
        <p:spPr>
          <a:xfrm>
            <a:off x="8240648" y="22254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65"/>
          <p:cNvSpPr/>
          <p:nvPr/>
        </p:nvSpPr>
        <p:spPr>
          <a:xfrm rot="-3297872">
            <a:off x="2530094" y="1222315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65"/>
          <p:cNvSpPr txBox="1"/>
          <p:nvPr/>
        </p:nvSpPr>
        <p:spPr>
          <a:xfrm>
            <a:off x="2792749" y="835551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65"/>
          <p:cNvSpPr/>
          <p:nvPr/>
        </p:nvSpPr>
        <p:spPr>
          <a:xfrm rot="2965395">
            <a:off x="2563001" y="2392663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65"/>
          <p:cNvSpPr txBox="1"/>
          <p:nvPr/>
        </p:nvSpPr>
        <p:spPr>
          <a:xfrm>
            <a:off x="2935128" y="2390078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65"/>
          <p:cNvSpPr/>
          <p:nvPr/>
        </p:nvSpPr>
        <p:spPr>
          <a:xfrm>
            <a:off x="7957114" y="2722842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65"/>
          <p:cNvSpPr/>
          <p:nvPr/>
        </p:nvSpPr>
        <p:spPr>
          <a:xfrm>
            <a:off x="8997586" y="3699282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5"/>
          <p:cNvSpPr/>
          <p:nvPr/>
        </p:nvSpPr>
        <p:spPr>
          <a:xfrm>
            <a:off x="9997151" y="4689145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5"/>
          <p:cNvSpPr/>
          <p:nvPr/>
        </p:nvSpPr>
        <p:spPr>
          <a:xfrm>
            <a:off x="8973218" y="2713385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6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66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66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66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66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66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66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6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6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66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66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66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66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66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66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6" name="Google Shape;1046;p66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7" name="Google Shape;1047;p66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6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6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6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66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66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66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66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66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66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66"/>
          <p:cNvSpPr txBox="1"/>
          <p:nvPr/>
        </p:nvSpPr>
        <p:spPr>
          <a:xfrm>
            <a:off x="677179" y="319041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66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66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2" name="Google Shape;1062;p66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3" name="Google Shape;1063;p66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6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66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66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8" name="Google Shape;1068;p66"/>
          <p:cNvCxnSpPr>
            <a:stCxn id="1063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9" name="Google Shape;1069;p66"/>
          <p:cNvCxnSpPr>
            <a:stCxn id="1064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0" name="Google Shape;1070;p66"/>
          <p:cNvCxnSpPr>
            <a:stCxn id="1064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1" name="Google Shape;1071;p66"/>
          <p:cNvCxnSpPr>
            <a:stCxn id="1065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2" name="Google Shape;1072;p66"/>
          <p:cNvCxnSpPr>
            <a:stCxn id="1065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3" name="Google Shape;1073;p66"/>
          <p:cNvCxnSpPr>
            <a:stCxn id="1066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4" name="Google Shape;1074;p66"/>
          <p:cNvCxnSpPr>
            <a:stCxn id="1066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5" name="Google Shape;1075;p66"/>
          <p:cNvCxnSpPr>
            <a:stCxn id="1067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6" name="Google Shape;1076;p66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6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6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6"/>
          <p:cNvSpPr/>
          <p:nvPr/>
        </p:nvSpPr>
        <p:spPr>
          <a:xfrm>
            <a:off x="8240648" y="22254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6"/>
          <p:cNvSpPr/>
          <p:nvPr/>
        </p:nvSpPr>
        <p:spPr>
          <a:xfrm>
            <a:off x="9257430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6"/>
          <p:cNvSpPr txBox="1"/>
          <p:nvPr/>
        </p:nvSpPr>
        <p:spPr>
          <a:xfrm>
            <a:off x="677179" y="1170977"/>
            <a:ext cx="35966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do this one now!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66"/>
          <p:cNvSpPr txBox="1"/>
          <p:nvPr/>
        </p:nvSpPr>
        <p:spPr>
          <a:xfrm>
            <a:off x="203771" y="2090169"/>
            <a:ext cx="869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N[2][4]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66"/>
          <p:cNvSpPr/>
          <p:nvPr/>
        </p:nvSpPr>
        <p:spPr>
          <a:xfrm>
            <a:off x="1025532" y="2136335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66"/>
          <p:cNvSpPr txBox="1"/>
          <p:nvPr/>
        </p:nvSpPr>
        <p:spPr>
          <a:xfrm>
            <a:off x="1455220" y="1767003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N[2][2]+N[3][4]+P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66"/>
          <p:cNvSpPr/>
          <p:nvPr/>
        </p:nvSpPr>
        <p:spPr>
          <a:xfrm>
            <a:off x="1289702" y="1657054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66"/>
          <p:cNvSpPr txBox="1"/>
          <p:nvPr/>
        </p:nvSpPr>
        <p:spPr>
          <a:xfrm>
            <a:off x="1439480" y="2324838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N[2][3]+N[4][4]+P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66"/>
          <p:cNvSpPr/>
          <p:nvPr/>
        </p:nvSpPr>
        <p:spPr>
          <a:xfrm>
            <a:off x="1009710" y="3592382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66"/>
          <p:cNvSpPr txBox="1"/>
          <p:nvPr/>
        </p:nvSpPr>
        <p:spPr>
          <a:xfrm>
            <a:off x="1439398" y="3223050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+84 + 4X6X7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66"/>
          <p:cNvSpPr/>
          <p:nvPr/>
        </p:nvSpPr>
        <p:spPr>
          <a:xfrm>
            <a:off x="1273880" y="3113101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66"/>
          <p:cNvSpPr txBox="1"/>
          <p:nvPr/>
        </p:nvSpPr>
        <p:spPr>
          <a:xfrm>
            <a:off x="1423658" y="3780885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48+0+ 4X2X7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66"/>
          <p:cNvSpPr/>
          <p:nvPr/>
        </p:nvSpPr>
        <p:spPr>
          <a:xfrm>
            <a:off x="993970" y="5172221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66"/>
          <p:cNvSpPr txBox="1"/>
          <p:nvPr/>
        </p:nvSpPr>
        <p:spPr>
          <a:xfrm>
            <a:off x="1423658" y="4802889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66"/>
          <p:cNvSpPr/>
          <p:nvPr/>
        </p:nvSpPr>
        <p:spPr>
          <a:xfrm>
            <a:off x="1258140" y="4692940"/>
            <a:ext cx="261572" cy="124770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66"/>
          <p:cNvSpPr txBox="1"/>
          <p:nvPr/>
        </p:nvSpPr>
        <p:spPr>
          <a:xfrm>
            <a:off x="1407918" y="5360724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66"/>
          <p:cNvSpPr/>
          <p:nvPr/>
        </p:nvSpPr>
        <p:spPr>
          <a:xfrm>
            <a:off x="1030483" y="6304185"/>
            <a:ext cx="213360" cy="276999"/>
          </a:xfrm>
          <a:prstGeom prst="mathEqual">
            <a:avLst>
              <a:gd name="adj1" fmla="val 7015"/>
              <a:gd name="adj2" fmla="val 1176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6"/>
          <p:cNvSpPr txBox="1"/>
          <p:nvPr/>
        </p:nvSpPr>
        <p:spPr>
          <a:xfrm>
            <a:off x="1425439" y="6308100"/>
            <a:ext cx="2770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6"/>
          <p:cNvSpPr/>
          <p:nvPr/>
        </p:nvSpPr>
        <p:spPr>
          <a:xfrm rot="-3297872">
            <a:off x="2020916" y="1536877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6"/>
          <p:cNvSpPr txBox="1"/>
          <p:nvPr/>
        </p:nvSpPr>
        <p:spPr>
          <a:xfrm>
            <a:off x="2283571" y="1358184"/>
            <a:ext cx="41854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6"/>
          <p:cNvSpPr/>
          <p:nvPr/>
        </p:nvSpPr>
        <p:spPr>
          <a:xfrm rot="2965395">
            <a:off x="2053823" y="2707225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66"/>
          <p:cNvSpPr txBox="1"/>
          <p:nvPr/>
        </p:nvSpPr>
        <p:spPr>
          <a:xfrm>
            <a:off x="2425950" y="2704640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66"/>
          <p:cNvSpPr/>
          <p:nvPr/>
        </p:nvSpPr>
        <p:spPr>
          <a:xfrm>
            <a:off x="7957114" y="2722842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66"/>
          <p:cNvSpPr/>
          <p:nvPr/>
        </p:nvSpPr>
        <p:spPr>
          <a:xfrm>
            <a:off x="8997586" y="3699282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6"/>
          <p:cNvSpPr/>
          <p:nvPr/>
        </p:nvSpPr>
        <p:spPr>
          <a:xfrm>
            <a:off x="9997151" y="4689145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66"/>
          <p:cNvSpPr/>
          <p:nvPr/>
        </p:nvSpPr>
        <p:spPr>
          <a:xfrm>
            <a:off x="8973218" y="2713385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6"/>
          <p:cNvSpPr/>
          <p:nvPr/>
        </p:nvSpPr>
        <p:spPr>
          <a:xfrm>
            <a:off x="9925661" y="3717004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66"/>
          <p:cNvSpPr/>
          <p:nvPr/>
        </p:nvSpPr>
        <p:spPr>
          <a:xfrm>
            <a:off x="7984820" y="2732838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66"/>
          <p:cNvSpPr/>
          <p:nvPr/>
        </p:nvSpPr>
        <p:spPr>
          <a:xfrm>
            <a:off x="9025292" y="3709278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66"/>
          <p:cNvSpPr/>
          <p:nvPr/>
        </p:nvSpPr>
        <p:spPr>
          <a:xfrm>
            <a:off x="9000924" y="2723381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67"/>
          <p:cNvSpPr/>
          <p:nvPr/>
        </p:nvSpPr>
        <p:spPr>
          <a:xfrm>
            <a:off x="6195928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67"/>
          <p:cNvSpPr/>
          <p:nvPr/>
        </p:nvSpPr>
        <p:spPr>
          <a:xfrm>
            <a:off x="7216429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67"/>
          <p:cNvSpPr/>
          <p:nvPr/>
        </p:nvSpPr>
        <p:spPr>
          <a:xfrm>
            <a:off x="8236930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67"/>
          <p:cNvSpPr/>
          <p:nvPr/>
        </p:nvSpPr>
        <p:spPr>
          <a:xfrm>
            <a:off x="9257431" y="222565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67"/>
          <p:cNvSpPr/>
          <p:nvPr/>
        </p:nvSpPr>
        <p:spPr>
          <a:xfrm>
            <a:off x="6195928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67"/>
          <p:cNvSpPr/>
          <p:nvPr/>
        </p:nvSpPr>
        <p:spPr>
          <a:xfrm>
            <a:off x="7216429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67"/>
          <p:cNvSpPr/>
          <p:nvPr/>
        </p:nvSpPr>
        <p:spPr>
          <a:xfrm>
            <a:off x="8236930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67"/>
          <p:cNvSpPr/>
          <p:nvPr/>
        </p:nvSpPr>
        <p:spPr>
          <a:xfrm>
            <a:off x="9257431" y="321711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67"/>
          <p:cNvSpPr/>
          <p:nvPr/>
        </p:nvSpPr>
        <p:spPr>
          <a:xfrm>
            <a:off x="6195928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67"/>
          <p:cNvSpPr/>
          <p:nvPr/>
        </p:nvSpPr>
        <p:spPr>
          <a:xfrm>
            <a:off x="7216429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67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7"/>
          <p:cNvSpPr/>
          <p:nvPr/>
        </p:nvSpPr>
        <p:spPr>
          <a:xfrm>
            <a:off x="9257431" y="420857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67"/>
          <p:cNvSpPr/>
          <p:nvPr/>
        </p:nvSpPr>
        <p:spPr>
          <a:xfrm>
            <a:off x="6195928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67"/>
          <p:cNvSpPr/>
          <p:nvPr/>
        </p:nvSpPr>
        <p:spPr>
          <a:xfrm>
            <a:off x="7216429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67"/>
          <p:cNvSpPr/>
          <p:nvPr/>
        </p:nvSpPr>
        <p:spPr>
          <a:xfrm>
            <a:off x="8236930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67"/>
          <p:cNvSpPr/>
          <p:nvPr/>
        </p:nvSpPr>
        <p:spPr>
          <a:xfrm>
            <a:off x="9257431" y="520004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9" name="Google Shape;1129;p67"/>
          <p:cNvCxnSpPr/>
          <p:nvPr/>
        </p:nvCxnSpPr>
        <p:spPr>
          <a:xfrm rot="10800000">
            <a:off x="5524596" y="162376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0" name="Google Shape;1130;p67"/>
          <p:cNvSpPr txBox="1"/>
          <p:nvPr/>
        </p:nvSpPr>
        <p:spPr>
          <a:xfrm>
            <a:off x="5583166" y="247817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67"/>
          <p:cNvSpPr txBox="1"/>
          <p:nvPr/>
        </p:nvSpPr>
        <p:spPr>
          <a:xfrm>
            <a:off x="650831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67"/>
          <p:cNvSpPr txBox="1"/>
          <p:nvPr/>
        </p:nvSpPr>
        <p:spPr>
          <a:xfrm>
            <a:off x="5583166" y="346071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67"/>
          <p:cNvSpPr txBox="1"/>
          <p:nvPr/>
        </p:nvSpPr>
        <p:spPr>
          <a:xfrm>
            <a:off x="5596536" y="4443248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67"/>
          <p:cNvSpPr txBox="1"/>
          <p:nvPr/>
        </p:nvSpPr>
        <p:spPr>
          <a:xfrm>
            <a:off x="5609906" y="542578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67"/>
          <p:cNvSpPr txBox="1"/>
          <p:nvPr/>
        </p:nvSpPr>
        <p:spPr>
          <a:xfrm>
            <a:off x="744862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67"/>
          <p:cNvSpPr txBox="1"/>
          <p:nvPr/>
        </p:nvSpPr>
        <p:spPr>
          <a:xfrm>
            <a:off x="838893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67"/>
          <p:cNvSpPr txBox="1"/>
          <p:nvPr/>
        </p:nvSpPr>
        <p:spPr>
          <a:xfrm>
            <a:off x="9329240" y="1788853"/>
            <a:ext cx="2780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67"/>
          <p:cNvSpPr txBox="1"/>
          <p:nvPr/>
        </p:nvSpPr>
        <p:spPr>
          <a:xfrm>
            <a:off x="5316039" y="1767003"/>
            <a:ext cx="279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67"/>
          <p:cNvSpPr txBox="1"/>
          <p:nvPr/>
        </p:nvSpPr>
        <p:spPr>
          <a:xfrm>
            <a:off x="5897461" y="1406208"/>
            <a:ext cx="2824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67"/>
          <p:cNvSpPr txBox="1"/>
          <p:nvPr/>
        </p:nvSpPr>
        <p:spPr>
          <a:xfrm>
            <a:off x="677179" y="319041"/>
            <a:ext cx="35966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base cases of length 1 we will make the cases of length 2.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67"/>
          <p:cNvSpPr/>
          <p:nvPr/>
        </p:nvSpPr>
        <p:spPr>
          <a:xfrm>
            <a:off x="6195926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7"/>
          <p:cNvSpPr/>
          <p:nvPr/>
        </p:nvSpPr>
        <p:spPr>
          <a:xfrm>
            <a:off x="7216428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67"/>
          <p:cNvSpPr/>
          <p:nvPr/>
        </p:nvSpPr>
        <p:spPr>
          <a:xfrm>
            <a:off x="8236930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67"/>
          <p:cNvSpPr/>
          <p:nvPr/>
        </p:nvSpPr>
        <p:spPr>
          <a:xfrm>
            <a:off x="9257432" y="5200042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5" name="Google Shape;1145;p67"/>
          <p:cNvGraphicFramePr/>
          <p:nvPr/>
        </p:nvGraphicFramePr>
        <p:xfrm>
          <a:off x="6498106" y="123379"/>
          <a:ext cx="4094500" cy="741700"/>
        </p:xfrm>
        <a:graphic>
          <a:graphicData uri="http://schemas.openxmlformats.org/drawingml/2006/table">
            <a:tbl>
              <a:tblPr firstRow="1" bandRow="1">
                <a:noFill/>
                <a:tableStyleId>{0DFDBBB3-F007-4FC1-81D3-C86D0D1F7C7D}</a:tableStyleId>
              </a:tblPr>
              <a:tblGrid>
                <a:gridCol w="12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Matrix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(5,4)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(4,6)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(6,2)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(2,7)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6" name="Google Shape;1146;p67"/>
          <p:cNvSpPr txBox="1"/>
          <p:nvPr/>
        </p:nvSpPr>
        <p:spPr>
          <a:xfrm>
            <a:off x="7368525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67"/>
          <p:cNvSpPr txBox="1"/>
          <p:nvPr/>
        </p:nvSpPr>
        <p:spPr>
          <a:xfrm>
            <a:off x="8009846" y="1263486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67"/>
          <p:cNvSpPr txBox="1"/>
          <p:nvPr/>
        </p:nvSpPr>
        <p:spPr>
          <a:xfrm>
            <a:off x="8648451" y="128458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67"/>
          <p:cNvSpPr txBox="1"/>
          <p:nvPr/>
        </p:nvSpPr>
        <p:spPr>
          <a:xfrm>
            <a:off x="9287056" y="126722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67"/>
          <p:cNvSpPr txBox="1"/>
          <p:nvPr/>
        </p:nvSpPr>
        <p:spPr>
          <a:xfrm>
            <a:off x="9925661" y="1249874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1" name="Google Shape;1151;p67"/>
          <p:cNvCxnSpPr>
            <a:stCxn id="1146" idx="0"/>
          </p:cNvCxnSpPr>
          <p:nvPr/>
        </p:nvCxnSpPr>
        <p:spPr>
          <a:xfrm rot="10800000" flipH="1">
            <a:off x="7565855" y="779474"/>
            <a:ext cx="349500" cy="470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2" name="Google Shape;1152;p67"/>
          <p:cNvCxnSpPr>
            <a:stCxn id="1147" idx="0"/>
          </p:cNvCxnSpPr>
          <p:nvPr/>
        </p:nvCxnSpPr>
        <p:spPr>
          <a:xfrm rot="10800000">
            <a:off x="8159476" y="796386"/>
            <a:ext cx="47700" cy="467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3" name="Google Shape;1153;p67"/>
          <p:cNvCxnSpPr>
            <a:stCxn id="1147" idx="0"/>
          </p:cNvCxnSpPr>
          <p:nvPr/>
        </p:nvCxnSpPr>
        <p:spPr>
          <a:xfrm rot="10800000" flipH="1">
            <a:off x="8207176" y="865086"/>
            <a:ext cx="338100" cy="398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4" name="Google Shape;1154;p67"/>
          <p:cNvCxnSpPr>
            <a:stCxn id="1148" idx="0"/>
          </p:cNvCxnSpPr>
          <p:nvPr/>
        </p:nvCxnSpPr>
        <p:spPr>
          <a:xfrm rot="10800000">
            <a:off x="8845781" y="841184"/>
            <a:ext cx="0" cy="443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5" name="Google Shape;1155;p67"/>
          <p:cNvCxnSpPr>
            <a:stCxn id="1148" idx="0"/>
          </p:cNvCxnSpPr>
          <p:nvPr/>
        </p:nvCxnSpPr>
        <p:spPr>
          <a:xfrm rot="10800000" flipH="1">
            <a:off x="8845781" y="816584"/>
            <a:ext cx="425400" cy="46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6" name="Google Shape;1156;p67"/>
          <p:cNvCxnSpPr>
            <a:stCxn id="1149" idx="0"/>
          </p:cNvCxnSpPr>
          <p:nvPr/>
        </p:nvCxnSpPr>
        <p:spPr>
          <a:xfrm rot="10800000" flipH="1">
            <a:off x="9484386" y="823529"/>
            <a:ext cx="6900" cy="443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7" name="Google Shape;1157;p67"/>
          <p:cNvCxnSpPr>
            <a:stCxn id="1149" idx="0"/>
          </p:cNvCxnSpPr>
          <p:nvPr/>
        </p:nvCxnSpPr>
        <p:spPr>
          <a:xfrm rot="10800000" flipH="1">
            <a:off x="9484386" y="840929"/>
            <a:ext cx="401400" cy="426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8" name="Google Shape;1158;p67"/>
          <p:cNvCxnSpPr>
            <a:stCxn id="1150" idx="0"/>
          </p:cNvCxnSpPr>
          <p:nvPr/>
        </p:nvCxnSpPr>
        <p:spPr>
          <a:xfrm rot="10800000">
            <a:off x="10122991" y="816374"/>
            <a:ext cx="0" cy="433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59" name="Google Shape;1159;p67"/>
          <p:cNvSpPr/>
          <p:nvPr/>
        </p:nvSpPr>
        <p:spPr>
          <a:xfrm>
            <a:off x="7212032" y="22256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7"/>
          <p:cNvSpPr/>
          <p:nvPr/>
        </p:nvSpPr>
        <p:spPr>
          <a:xfrm>
            <a:off x="8236929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67"/>
          <p:cNvSpPr/>
          <p:nvPr/>
        </p:nvSpPr>
        <p:spPr>
          <a:xfrm>
            <a:off x="9261826" y="4208579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67"/>
          <p:cNvSpPr/>
          <p:nvPr/>
        </p:nvSpPr>
        <p:spPr>
          <a:xfrm>
            <a:off x="8240648" y="2225453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67"/>
          <p:cNvSpPr/>
          <p:nvPr/>
        </p:nvSpPr>
        <p:spPr>
          <a:xfrm>
            <a:off x="9257430" y="3217116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67"/>
          <p:cNvSpPr txBox="1"/>
          <p:nvPr/>
        </p:nvSpPr>
        <p:spPr>
          <a:xfrm>
            <a:off x="646809" y="1614895"/>
            <a:ext cx="454017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min{ N[1][1]+N[2][4]+5X4X7,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N[1][2]+N[3][4]+5X6X7,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N[1][3]+N[3][4]+5X2X7}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67"/>
          <p:cNvSpPr/>
          <p:nvPr/>
        </p:nvSpPr>
        <p:spPr>
          <a:xfrm>
            <a:off x="9244883" y="2208298"/>
            <a:ext cx="902825" cy="856526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158</a:t>
            </a: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67"/>
          <p:cNvSpPr txBox="1"/>
          <p:nvPr/>
        </p:nvSpPr>
        <p:spPr>
          <a:xfrm>
            <a:off x="677179" y="1118924"/>
            <a:ext cx="35966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this one as well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67"/>
          <p:cNvSpPr txBox="1"/>
          <p:nvPr/>
        </p:nvSpPr>
        <p:spPr>
          <a:xfrm>
            <a:off x="633395" y="2941353"/>
            <a:ext cx="454017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min{ 0 + 104+ 140,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120+84+210,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88+0+70}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67"/>
          <p:cNvSpPr txBox="1"/>
          <p:nvPr/>
        </p:nvSpPr>
        <p:spPr>
          <a:xfrm>
            <a:off x="646809" y="6035647"/>
            <a:ext cx="454017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158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67"/>
          <p:cNvSpPr txBox="1"/>
          <p:nvPr/>
        </p:nvSpPr>
        <p:spPr>
          <a:xfrm>
            <a:off x="633394" y="4488500"/>
            <a:ext cx="454017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N[1][4]= min{ 0 + 104+ 140=244,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414,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158}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7"/>
          <p:cNvSpPr/>
          <p:nvPr/>
        </p:nvSpPr>
        <p:spPr>
          <a:xfrm rot="-3297872">
            <a:off x="2783042" y="1364402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67"/>
          <p:cNvSpPr txBox="1"/>
          <p:nvPr/>
        </p:nvSpPr>
        <p:spPr>
          <a:xfrm>
            <a:off x="3045697" y="977638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67"/>
          <p:cNvSpPr/>
          <p:nvPr/>
        </p:nvSpPr>
        <p:spPr>
          <a:xfrm rot="2965395">
            <a:off x="1394601" y="2659341"/>
            <a:ext cx="426720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67"/>
          <p:cNvSpPr txBox="1"/>
          <p:nvPr/>
        </p:nvSpPr>
        <p:spPr>
          <a:xfrm>
            <a:off x="1766728" y="2656756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67"/>
          <p:cNvSpPr/>
          <p:nvPr/>
        </p:nvSpPr>
        <p:spPr>
          <a:xfrm rot="10800000">
            <a:off x="467967" y="1990983"/>
            <a:ext cx="766749" cy="2477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67"/>
          <p:cNvSpPr txBox="1"/>
          <p:nvPr/>
        </p:nvSpPr>
        <p:spPr>
          <a:xfrm>
            <a:off x="129505" y="1884004"/>
            <a:ext cx="3241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67"/>
          <p:cNvSpPr/>
          <p:nvPr/>
        </p:nvSpPr>
        <p:spPr>
          <a:xfrm>
            <a:off x="9997151" y="4689145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67"/>
          <p:cNvSpPr/>
          <p:nvPr/>
        </p:nvSpPr>
        <p:spPr>
          <a:xfrm>
            <a:off x="9925661" y="3717004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7"/>
          <p:cNvSpPr/>
          <p:nvPr/>
        </p:nvSpPr>
        <p:spPr>
          <a:xfrm>
            <a:off x="7984820" y="2732838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67"/>
          <p:cNvSpPr/>
          <p:nvPr/>
        </p:nvSpPr>
        <p:spPr>
          <a:xfrm>
            <a:off x="9025292" y="3709278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67"/>
          <p:cNvSpPr/>
          <p:nvPr/>
        </p:nvSpPr>
        <p:spPr>
          <a:xfrm>
            <a:off x="9000924" y="2723381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67"/>
          <p:cNvSpPr/>
          <p:nvPr/>
        </p:nvSpPr>
        <p:spPr>
          <a:xfrm>
            <a:off x="9943371" y="2750577"/>
            <a:ext cx="251679" cy="39571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Take away so far</a:t>
            </a:r>
            <a:endParaRPr/>
          </a:p>
        </p:txBody>
      </p:sp>
      <p:sp>
        <p:nvSpPr>
          <p:cNvPr id="1187" name="Google Shape;1187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Lengthwise cases are produced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seen how the equation works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understood the direction in which the tables are filled.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Lets write the pseudocode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/>
              <a:t>The final k table </a:t>
            </a:r>
            <a:endParaRPr sz="6600"/>
          </a:p>
        </p:txBody>
      </p:sp>
      <p:sp>
        <p:nvSpPr>
          <p:cNvPr id="1193" name="Google Shape;1193;p71"/>
          <p:cNvSpPr/>
          <p:nvPr/>
        </p:nvSpPr>
        <p:spPr>
          <a:xfrm>
            <a:off x="4367128" y="228661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71"/>
          <p:cNvSpPr/>
          <p:nvPr/>
        </p:nvSpPr>
        <p:spPr>
          <a:xfrm>
            <a:off x="5387629" y="228661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71"/>
          <p:cNvSpPr/>
          <p:nvPr/>
        </p:nvSpPr>
        <p:spPr>
          <a:xfrm>
            <a:off x="6408130" y="228661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71"/>
          <p:cNvSpPr/>
          <p:nvPr/>
        </p:nvSpPr>
        <p:spPr>
          <a:xfrm>
            <a:off x="7428631" y="2286613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71"/>
          <p:cNvSpPr/>
          <p:nvPr/>
        </p:nvSpPr>
        <p:spPr>
          <a:xfrm>
            <a:off x="4367128" y="327807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71"/>
          <p:cNvSpPr/>
          <p:nvPr/>
        </p:nvSpPr>
        <p:spPr>
          <a:xfrm>
            <a:off x="5387629" y="327807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71"/>
          <p:cNvSpPr/>
          <p:nvPr/>
        </p:nvSpPr>
        <p:spPr>
          <a:xfrm>
            <a:off x="6408130" y="327807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71"/>
          <p:cNvSpPr/>
          <p:nvPr/>
        </p:nvSpPr>
        <p:spPr>
          <a:xfrm>
            <a:off x="7428631" y="3278076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71"/>
          <p:cNvSpPr/>
          <p:nvPr/>
        </p:nvSpPr>
        <p:spPr>
          <a:xfrm>
            <a:off x="4367128" y="426953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71"/>
          <p:cNvSpPr/>
          <p:nvPr/>
        </p:nvSpPr>
        <p:spPr>
          <a:xfrm>
            <a:off x="5387629" y="426953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71"/>
          <p:cNvSpPr/>
          <p:nvPr/>
        </p:nvSpPr>
        <p:spPr>
          <a:xfrm>
            <a:off x="6408130" y="426953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71"/>
          <p:cNvSpPr/>
          <p:nvPr/>
        </p:nvSpPr>
        <p:spPr>
          <a:xfrm>
            <a:off x="7428631" y="4269539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71"/>
          <p:cNvSpPr/>
          <p:nvPr/>
        </p:nvSpPr>
        <p:spPr>
          <a:xfrm>
            <a:off x="4367128" y="526100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71"/>
          <p:cNvSpPr/>
          <p:nvPr/>
        </p:nvSpPr>
        <p:spPr>
          <a:xfrm>
            <a:off x="5387629" y="526100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71"/>
          <p:cNvSpPr/>
          <p:nvPr/>
        </p:nvSpPr>
        <p:spPr>
          <a:xfrm>
            <a:off x="6408130" y="526100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71"/>
          <p:cNvSpPr/>
          <p:nvPr/>
        </p:nvSpPr>
        <p:spPr>
          <a:xfrm>
            <a:off x="7428631" y="5261002"/>
            <a:ext cx="902825" cy="8565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9" name="Google Shape;1209;p71"/>
          <p:cNvCxnSpPr/>
          <p:nvPr/>
        </p:nvCxnSpPr>
        <p:spPr>
          <a:xfrm rot="10800000">
            <a:off x="3695796" y="1684729"/>
            <a:ext cx="671332" cy="60188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0" name="Google Shape;1210;p71"/>
          <p:cNvSpPr txBox="1"/>
          <p:nvPr/>
        </p:nvSpPr>
        <p:spPr>
          <a:xfrm>
            <a:off x="3754366" y="2539138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71"/>
          <p:cNvSpPr txBox="1"/>
          <p:nvPr/>
        </p:nvSpPr>
        <p:spPr>
          <a:xfrm>
            <a:off x="4679510" y="1849813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71"/>
          <p:cNvSpPr txBox="1"/>
          <p:nvPr/>
        </p:nvSpPr>
        <p:spPr>
          <a:xfrm>
            <a:off x="3754366" y="3521673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71"/>
          <p:cNvSpPr txBox="1"/>
          <p:nvPr/>
        </p:nvSpPr>
        <p:spPr>
          <a:xfrm>
            <a:off x="3767736" y="4504208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71"/>
          <p:cNvSpPr txBox="1"/>
          <p:nvPr/>
        </p:nvSpPr>
        <p:spPr>
          <a:xfrm>
            <a:off x="3781106" y="5486743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1"/>
          <p:cNvSpPr txBox="1"/>
          <p:nvPr/>
        </p:nvSpPr>
        <p:spPr>
          <a:xfrm>
            <a:off x="5619820" y="1849813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71"/>
          <p:cNvSpPr txBox="1"/>
          <p:nvPr/>
        </p:nvSpPr>
        <p:spPr>
          <a:xfrm>
            <a:off x="6560130" y="1849813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71"/>
          <p:cNvSpPr txBox="1"/>
          <p:nvPr/>
        </p:nvSpPr>
        <p:spPr>
          <a:xfrm>
            <a:off x="7500440" y="1849813"/>
            <a:ext cx="27805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71"/>
          <p:cNvSpPr txBox="1"/>
          <p:nvPr/>
        </p:nvSpPr>
        <p:spPr>
          <a:xfrm>
            <a:off x="3487239" y="1827963"/>
            <a:ext cx="32573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71"/>
          <p:cNvSpPr txBox="1"/>
          <p:nvPr/>
        </p:nvSpPr>
        <p:spPr>
          <a:xfrm>
            <a:off x="4140017" y="1237216"/>
            <a:ext cx="33214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72"/>
          <p:cNvSpPr txBox="1">
            <a:spLocks noGrp="1"/>
          </p:cNvSpPr>
          <p:nvPr>
            <p:ph type="title"/>
          </p:nvPr>
        </p:nvSpPr>
        <p:spPr>
          <a:xfrm>
            <a:off x="457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Printing the brackets</a:t>
            </a:r>
            <a:endParaRPr/>
          </a:p>
        </p:txBody>
      </p:sp>
      <p:sp>
        <p:nvSpPr>
          <p:cNvPr id="1225" name="Google Shape;1225;p72"/>
          <p:cNvSpPr/>
          <p:nvPr/>
        </p:nvSpPr>
        <p:spPr>
          <a:xfrm>
            <a:off x="7239830" y="5547360"/>
            <a:ext cx="33425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((A1(A2A3))A4)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6" name="Google Shape;1226;p72"/>
          <p:cNvGrpSpPr/>
          <p:nvPr/>
        </p:nvGrpSpPr>
        <p:grpSpPr>
          <a:xfrm>
            <a:off x="6047559" y="-87322"/>
            <a:ext cx="4844217" cy="4880312"/>
            <a:chOff x="6047559" y="-87322"/>
            <a:chExt cx="4844217" cy="4880312"/>
          </a:xfrm>
        </p:grpSpPr>
        <p:sp>
          <p:nvSpPr>
            <p:cNvPr id="1227" name="Google Shape;1227;p72"/>
            <p:cNvSpPr/>
            <p:nvPr/>
          </p:nvSpPr>
          <p:spPr>
            <a:xfrm>
              <a:off x="6927448" y="962075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72"/>
            <p:cNvSpPr/>
            <p:nvPr/>
          </p:nvSpPr>
          <p:spPr>
            <a:xfrm>
              <a:off x="7947949" y="962075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72"/>
            <p:cNvSpPr/>
            <p:nvPr/>
          </p:nvSpPr>
          <p:spPr>
            <a:xfrm>
              <a:off x="8968450" y="962075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72"/>
            <p:cNvSpPr/>
            <p:nvPr/>
          </p:nvSpPr>
          <p:spPr>
            <a:xfrm>
              <a:off x="9988951" y="962075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72"/>
            <p:cNvSpPr/>
            <p:nvPr/>
          </p:nvSpPr>
          <p:spPr>
            <a:xfrm>
              <a:off x="6927448" y="1953538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72"/>
            <p:cNvSpPr/>
            <p:nvPr/>
          </p:nvSpPr>
          <p:spPr>
            <a:xfrm>
              <a:off x="7947949" y="1953538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72"/>
            <p:cNvSpPr/>
            <p:nvPr/>
          </p:nvSpPr>
          <p:spPr>
            <a:xfrm>
              <a:off x="8968450" y="1953538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72"/>
            <p:cNvSpPr/>
            <p:nvPr/>
          </p:nvSpPr>
          <p:spPr>
            <a:xfrm>
              <a:off x="9988951" y="1953538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72"/>
            <p:cNvSpPr/>
            <p:nvPr/>
          </p:nvSpPr>
          <p:spPr>
            <a:xfrm>
              <a:off x="6927448" y="2945001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72"/>
            <p:cNvSpPr/>
            <p:nvPr/>
          </p:nvSpPr>
          <p:spPr>
            <a:xfrm>
              <a:off x="7947949" y="2945001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72"/>
            <p:cNvSpPr/>
            <p:nvPr/>
          </p:nvSpPr>
          <p:spPr>
            <a:xfrm>
              <a:off x="8968450" y="2945001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72"/>
            <p:cNvSpPr/>
            <p:nvPr/>
          </p:nvSpPr>
          <p:spPr>
            <a:xfrm>
              <a:off x="9988951" y="2945001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72"/>
            <p:cNvSpPr/>
            <p:nvPr/>
          </p:nvSpPr>
          <p:spPr>
            <a:xfrm>
              <a:off x="6927448" y="3936464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72"/>
            <p:cNvSpPr/>
            <p:nvPr/>
          </p:nvSpPr>
          <p:spPr>
            <a:xfrm>
              <a:off x="7947949" y="3936464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72"/>
            <p:cNvSpPr/>
            <p:nvPr/>
          </p:nvSpPr>
          <p:spPr>
            <a:xfrm>
              <a:off x="8968450" y="3936464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72"/>
            <p:cNvSpPr/>
            <p:nvPr/>
          </p:nvSpPr>
          <p:spPr>
            <a:xfrm>
              <a:off x="9988951" y="3936464"/>
              <a:ext cx="902825" cy="856526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43" name="Google Shape;1243;p72"/>
            <p:cNvCxnSpPr/>
            <p:nvPr/>
          </p:nvCxnSpPr>
          <p:spPr>
            <a:xfrm rot="10800000">
              <a:off x="6256116" y="360191"/>
              <a:ext cx="671332" cy="601884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44" name="Google Shape;1244;p72"/>
            <p:cNvSpPr txBox="1"/>
            <p:nvPr/>
          </p:nvSpPr>
          <p:spPr>
            <a:xfrm>
              <a:off x="6314686" y="1214600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72"/>
            <p:cNvSpPr txBox="1"/>
            <p:nvPr/>
          </p:nvSpPr>
          <p:spPr>
            <a:xfrm>
              <a:off x="7239830" y="525275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72"/>
            <p:cNvSpPr txBox="1"/>
            <p:nvPr/>
          </p:nvSpPr>
          <p:spPr>
            <a:xfrm>
              <a:off x="6314686" y="2197135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72"/>
            <p:cNvSpPr txBox="1"/>
            <p:nvPr/>
          </p:nvSpPr>
          <p:spPr>
            <a:xfrm>
              <a:off x="6328056" y="3179670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72"/>
            <p:cNvSpPr txBox="1"/>
            <p:nvPr/>
          </p:nvSpPr>
          <p:spPr>
            <a:xfrm>
              <a:off x="6341426" y="4162205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72"/>
            <p:cNvSpPr txBox="1"/>
            <p:nvPr/>
          </p:nvSpPr>
          <p:spPr>
            <a:xfrm>
              <a:off x="8180140" y="525275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72"/>
            <p:cNvSpPr txBox="1"/>
            <p:nvPr/>
          </p:nvSpPr>
          <p:spPr>
            <a:xfrm>
              <a:off x="9120450" y="525275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72"/>
            <p:cNvSpPr txBox="1"/>
            <p:nvPr/>
          </p:nvSpPr>
          <p:spPr>
            <a:xfrm>
              <a:off x="10060760" y="525275"/>
              <a:ext cx="2780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72"/>
            <p:cNvSpPr txBox="1"/>
            <p:nvPr/>
          </p:nvSpPr>
          <p:spPr>
            <a:xfrm>
              <a:off x="6047559" y="503425"/>
              <a:ext cx="325730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72"/>
            <p:cNvSpPr txBox="1"/>
            <p:nvPr/>
          </p:nvSpPr>
          <p:spPr>
            <a:xfrm>
              <a:off x="6700337" y="-87322"/>
              <a:ext cx="33214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endPara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4" name="Google Shape;125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225" y="1606949"/>
            <a:ext cx="5610326" cy="24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8aec3263ce_0_0"/>
          <p:cNvSpPr txBox="1"/>
          <p:nvPr/>
        </p:nvSpPr>
        <p:spPr>
          <a:xfrm>
            <a:off x="2168013" y="50630"/>
            <a:ext cx="7856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Programming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1" name="Google Shape;1261;g28aec3263ce_0_0"/>
          <p:cNvCxnSpPr/>
          <p:nvPr/>
        </p:nvCxnSpPr>
        <p:spPr>
          <a:xfrm>
            <a:off x="1602347" y="1066293"/>
            <a:ext cx="85491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2" name="Google Shape;1262;g28aec3263ce_0_0"/>
          <p:cNvSpPr txBox="1"/>
          <p:nvPr/>
        </p:nvSpPr>
        <p:spPr>
          <a:xfrm>
            <a:off x="4623004" y="1178507"/>
            <a:ext cx="111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J=4</a:t>
            </a:r>
            <a:endParaRPr/>
          </a:p>
        </p:txBody>
      </p:sp>
      <p:sp>
        <p:nvSpPr>
          <p:cNvPr id="1263" name="Google Shape;1263;g28aec3263ce_0_0"/>
          <p:cNvSpPr txBox="1"/>
          <p:nvPr/>
        </p:nvSpPr>
        <p:spPr>
          <a:xfrm>
            <a:off x="3325148" y="2727043"/>
            <a:ext cx="2288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(1,s (1,4))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300" b="1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4" name="Google Shape;1264;g28aec3263ce_0_0"/>
          <p:cNvSpPr txBox="1"/>
          <p:nvPr/>
        </p:nvSpPr>
        <p:spPr>
          <a:xfrm>
            <a:off x="4687529" y="1522102"/>
            <a:ext cx="228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(1,4)</a:t>
            </a:r>
            <a:endParaRPr/>
          </a:p>
        </p:txBody>
      </p:sp>
      <p:sp>
        <p:nvSpPr>
          <p:cNvPr id="1265" name="Google Shape;1265;g28aec3263ce_0_0"/>
          <p:cNvSpPr txBox="1"/>
          <p:nvPr/>
        </p:nvSpPr>
        <p:spPr>
          <a:xfrm>
            <a:off x="2973648" y="2364159"/>
            <a:ext cx="111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J=3</a:t>
            </a:r>
            <a:endParaRPr/>
          </a:p>
        </p:txBody>
      </p:sp>
      <p:sp>
        <p:nvSpPr>
          <p:cNvPr id="1266" name="Google Shape;1266;g28aec3263ce_0_0"/>
          <p:cNvSpPr txBox="1"/>
          <p:nvPr/>
        </p:nvSpPr>
        <p:spPr>
          <a:xfrm>
            <a:off x="1685002" y="4141839"/>
            <a:ext cx="2288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(1,s (1,3))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300" b="1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7" name="Google Shape;1267;g28aec3263ce_0_0"/>
          <p:cNvSpPr txBox="1"/>
          <p:nvPr/>
        </p:nvSpPr>
        <p:spPr>
          <a:xfrm>
            <a:off x="1340259" y="3781627"/>
            <a:ext cx="111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J=1</a:t>
            </a:r>
            <a:endParaRPr/>
          </a:p>
        </p:txBody>
      </p:sp>
      <p:sp>
        <p:nvSpPr>
          <p:cNvPr id="1268" name="Google Shape;1268;g28aec3263ce_0_0"/>
          <p:cNvSpPr txBox="1"/>
          <p:nvPr/>
        </p:nvSpPr>
        <p:spPr>
          <a:xfrm>
            <a:off x="4791995" y="4089404"/>
            <a:ext cx="2385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(s </a:t>
            </a:r>
            <a:r>
              <a:rPr lang="en-US" sz="2300" b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1,3</a:t>
            </a:r>
            <a:r>
              <a:rPr lang="en-US" sz="2300" b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+1,3)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300" b="1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9" name="Google Shape;1269;g28aec3263ce_0_0"/>
          <p:cNvSpPr txBox="1"/>
          <p:nvPr/>
        </p:nvSpPr>
        <p:spPr>
          <a:xfrm>
            <a:off x="3647765" y="5648288"/>
            <a:ext cx="2288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(2,s (2,3))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300" b="1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0" name="Google Shape;1270;g28aec3263ce_0_0"/>
          <p:cNvSpPr txBox="1"/>
          <p:nvPr/>
        </p:nvSpPr>
        <p:spPr>
          <a:xfrm>
            <a:off x="5824995" y="5643027"/>
            <a:ext cx="2555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(s </a:t>
            </a:r>
            <a:r>
              <a:rPr lang="en-US"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3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2,3</a:t>
            </a:r>
            <a:r>
              <a:rPr lang="en-US"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]+</a:t>
            </a: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1,3))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300" b="1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1" name="Google Shape;1271;g28aec3263ce_0_0"/>
          <p:cNvSpPr txBox="1"/>
          <p:nvPr/>
        </p:nvSpPr>
        <p:spPr>
          <a:xfrm>
            <a:off x="6064044" y="2711244"/>
            <a:ext cx="238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(s </a:t>
            </a:r>
            <a:r>
              <a:rPr lang="en-US" sz="2300" b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1,4</a:t>
            </a:r>
            <a:r>
              <a:rPr lang="en-US" sz="2300" b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]+</a:t>
            </a: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1,4)</a:t>
            </a:r>
            <a:endParaRPr/>
          </a:p>
        </p:txBody>
      </p:sp>
      <p:sp>
        <p:nvSpPr>
          <p:cNvPr id="1272" name="Google Shape;1272;g28aec3263ce_0_0"/>
          <p:cNvSpPr txBox="1"/>
          <p:nvPr/>
        </p:nvSpPr>
        <p:spPr>
          <a:xfrm>
            <a:off x="7125313" y="3800434"/>
            <a:ext cx="111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J=3</a:t>
            </a:r>
            <a:endParaRPr/>
          </a:p>
        </p:txBody>
      </p:sp>
      <p:sp>
        <p:nvSpPr>
          <p:cNvPr id="1273" name="Google Shape;1273;g28aec3263ce_0_0"/>
          <p:cNvSpPr txBox="1"/>
          <p:nvPr/>
        </p:nvSpPr>
        <p:spPr>
          <a:xfrm>
            <a:off x="3222524" y="5477335"/>
            <a:ext cx="111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J=2</a:t>
            </a:r>
            <a:endParaRPr/>
          </a:p>
        </p:txBody>
      </p:sp>
      <p:sp>
        <p:nvSpPr>
          <p:cNvPr id="1274" name="Google Shape;1274;g28aec3263ce_0_0"/>
          <p:cNvSpPr txBox="1"/>
          <p:nvPr/>
        </p:nvSpPr>
        <p:spPr>
          <a:xfrm>
            <a:off x="8370325" y="5335251"/>
            <a:ext cx="111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J=3</a:t>
            </a:r>
            <a:endParaRPr/>
          </a:p>
        </p:txBody>
      </p:sp>
      <p:cxnSp>
        <p:nvCxnSpPr>
          <p:cNvPr id="1275" name="Google Shape;1275;g28aec3263ce_0_0"/>
          <p:cNvCxnSpPr>
            <a:stCxn id="1264" idx="2"/>
            <a:endCxn id="1263" idx="0"/>
          </p:cNvCxnSpPr>
          <p:nvPr/>
        </p:nvCxnSpPr>
        <p:spPr>
          <a:xfrm flipH="1">
            <a:off x="4469429" y="1968502"/>
            <a:ext cx="1362300" cy="7584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6" name="Google Shape;1276;g28aec3263ce_0_0"/>
          <p:cNvCxnSpPr>
            <a:stCxn id="1263" idx="2"/>
            <a:endCxn id="1266" idx="0"/>
          </p:cNvCxnSpPr>
          <p:nvPr/>
        </p:nvCxnSpPr>
        <p:spPr>
          <a:xfrm flipH="1">
            <a:off x="2829248" y="3527443"/>
            <a:ext cx="1640100" cy="6144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7" name="Google Shape;1277;g28aec3263ce_0_0"/>
          <p:cNvCxnSpPr>
            <a:stCxn id="1263" idx="2"/>
            <a:endCxn id="1268" idx="0"/>
          </p:cNvCxnSpPr>
          <p:nvPr/>
        </p:nvCxnSpPr>
        <p:spPr>
          <a:xfrm>
            <a:off x="4469348" y="3527443"/>
            <a:ext cx="1515300" cy="5619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8" name="Google Shape;1278;g28aec3263ce_0_0"/>
          <p:cNvCxnSpPr>
            <a:stCxn id="1268" idx="2"/>
            <a:endCxn id="1269" idx="0"/>
          </p:cNvCxnSpPr>
          <p:nvPr/>
        </p:nvCxnSpPr>
        <p:spPr>
          <a:xfrm flipH="1">
            <a:off x="4791995" y="4889804"/>
            <a:ext cx="1192800" cy="7584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9" name="Google Shape;1279;g28aec3263ce_0_0"/>
          <p:cNvCxnSpPr>
            <a:stCxn id="1268" idx="2"/>
            <a:endCxn id="1270" idx="0"/>
          </p:cNvCxnSpPr>
          <p:nvPr/>
        </p:nvCxnSpPr>
        <p:spPr>
          <a:xfrm>
            <a:off x="5984795" y="4889804"/>
            <a:ext cx="1117800" cy="7533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0" name="Google Shape;1280;g28aec3263ce_0_0"/>
          <p:cNvCxnSpPr>
            <a:stCxn id="1264" idx="2"/>
            <a:endCxn id="1271" idx="0"/>
          </p:cNvCxnSpPr>
          <p:nvPr/>
        </p:nvCxnSpPr>
        <p:spPr>
          <a:xfrm>
            <a:off x="5831729" y="1968502"/>
            <a:ext cx="1425000" cy="7428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1" name="Google Shape;1281;g28aec3263ce_0_0"/>
          <p:cNvSpPr txBox="1"/>
          <p:nvPr/>
        </p:nvSpPr>
        <p:spPr>
          <a:xfrm>
            <a:off x="8370325" y="2364159"/>
            <a:ext cx="111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J=4</a:t>
            </a:r>
            <a:endParaRPr/>
          </a:p>
        </p:txBody>
      </p:sp>
      <p:sp>
        <p:nvSpPr>
          <p:cNvPr id="1282" name="Google Shape;1282;g28aec3263ce_0_0"/>
          <p:cNvSpPr txBox="1"/>
          <p:nvPr/>
        </p:nvSpPr>
        <p:spPr>
          <a:xfrm>
            <a:off x="5272548" y="2165802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(  </a:t>
            </a:r>
            <a:endParaRPr/>
          </a:p>
        </p:txBody>
      </p:sp>
      <p:sp>
        <p:nvSpPr>
          <p:cNvPr id="1283" name="Google Shape;1283;g28aec3263ce_0_0"/>
          <p:cNvSpPr txBox="1"/>
          <p:nvPr/>
        </p:nvSpPr>
        <p:spPr>
          <a:xfrm>
            <a:off x="4176865" y="3607322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(  </a:t>
            </a:r>
            <a:endParaRPr/>
          </a:p>
        </p:txBody>
      </p:sp>
      <p:sp>
        <p:nvSpPr>
          <p:cNvPr id="1284" name="Google Shape;1284;g28aec3263ce_0_0"/>
          <p:cNvSpPr txBox="1"/>
          <p:nvPr/>
        </p:nvSpPr>
        <p:spPr>
          <a:xfrm>
            <a:off x="1895782" y="4978864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A1  </a:t>
            </a:r>
            <a:endParaRPr/>
          </a:p>
        </p:txBody>
      </p:sp>
      <p:sp>
        <p:nvSpPr>
          <p:cNvPr id="1285" name="Google Shape;1285;g28aec3263ce_0_0"/>
          <p:cNvSpPr txBox="1"/>
          <p:nvPr/>
        </p:nvSpPr>
        <p:spPr>
          <a:xfrm>
            <a:off x="5613607" y="4983716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(  </a:t>
            </a:r>
            <a:endParaRPr/>
          </a:p>
        </p:txBody>
      </p:sp>
      <p:sp>
        <p:nvSpPr>
          <p:cNvPr id="1286" name="Google Shape;1286;g28aec3263ce_0_0"/>
          <p:cNvSpPr txBox="1"/>
          <p:nvPr/>
        </p:nvSpPr>
        <p:spPr>
          <a:xfrm>
            <a:off x="4280102" y="6356174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A2  </a:t>
            </a:r>
            <a:endParaRPr/>
          </a:p>
        </p:txBody>
      </p:sp>
      <p:sp>
        <p:nvSpPr>
          <p:cNvPr id="1287" name="Google Shape;1287;g28aec3263ce_0_0"/>
          <p:cNvSpPr txBox="1"/>
          <p:nvPr/>
        </p:nvSpPr>
        <p:spPr>
          <a:xfrm>
            <a:off x="6690242" y="6356174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A3 </a:t>
            </a:r>
            <a:endParaRPr/>
          </a:p>
        </p:txBody>
      </p:sp>
      <p:sp>
        <p:nvSpPr>
          <p:cNvPr id="1288" name="Google Shape;1288;g28aec3263ce_0_0"/>
          <p:cNvSpPr txBox="1"/>
          <p:nvPr/>
        </p:nvSpPr>
        <p:spPr>
          <a:xfrm>
            <a:off x="7400007" y="4978864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.7  </a:t>
            </a:r>
            <a:endParaRPr/>
          </a:p>
        </p:txBody>
      </p:sp>
      <p:sp>
        <p:nvSpPr>
          <p:cNvPr id="1289" name="Google Shape;1289;g28aec3263ce_0_0"/>
          <p:cNvSpPr txBox="1"/>
          <p:nvPr/>
        </p:nvSpPr>
        <p:spPr>
          <a:xfrm>
            <a:off x="6221360" y="3595945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.8  </a:t>
            </a:r>
            <a:endParaRPr/>
          </a:p>
        </p:txBody>
      </p:sp>
      <p:sp>
        <p:nvSpPr>
          <p:cNvPr id="1290" name="Google Shape;1290;g28aec3263ce_0_0"/>
          <p:cNvSpPr txBox="1"/>
          <p:nvPr/>
        </p:nvSpPr>
        <p:spPr>
          <a:xfrm>
            <a:off x="8005613" y="3276534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A4  </a:t>
            </a:r>
            <a:endParaRPr/>
          </a:p>
        </p:txBody>
      </p:sp>
      <p:sp>
        <p:nvSpPr>
          <p:cNvPr id="1291" name="Google Shape;1291;g28aec3263ce_0_0"/>
          <p:cNvSpPr txBox="1"/>
          <p:nvPr/>
        </p:nvSpPr>
        <p:spPr>
          <a:xfrm>
            <a:off x="7212577" y="2227464"/>
            <a:ext cx="118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.10  </a:t>
            </a:r>
            <a:endParaRPr/>
          </a:p>
        </p:txBody>
      </p:sp>
      <p:sp>
        <p:nvSpPr>
          <p:cNvPr id="1292" name="Google Shape;1292;g28aec3263ce_0_0"/>
          <p:cNvSpPr txBox="1"/>
          <p:nvPr/>
        </p:nvSpPr>
        <p:spPr>
          <a:xfrm>
            <a:off x="9481371" y="4135570"/>
            <a:ext cx="2442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((A1(A2A3))A4) </a:t>
            </a:r>
            <a:endParaRPr/>
          </a:p>
        </p:txBody>
      </p:sp>
      <p:sp>
        <p:nvSpPr>
          <p:cNvPr id="1293" name="Google Shape;1293;g28aec3263ce_0_0"/>
          <p:cNvSpPr txBox="1"/>
          <p:nvPr/>
        </p:nvSpPr>
        <p:spPr>
          <a:xfrm>
            <a:off x="3387212" y="3070379"/>
            <a:ext cx="228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(1,3)</a:t>
            </a:r>
            <a:endParaRPr/>
          </a:p>
        </p:txBody>
      </p:sp>
      <p:sp>
        <p:nvSpPr>
          <p:cNvPr id="1294" name="Google Shape;1294;g28aec3263ce_0_0"/>
          <p:cNvSpPr txBox="1"/>
          <p:nvPr/>
        </p:nvSpPr>
        <p:spPr>
          <a:xfrm>
            <a:off x="1475448" y="4502051"/>
            <a:ext cx="228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(1,1)</a:t>
            </a:r>
            <a:endParaRPr/>
          </a:p>
        </p:txBody>
      </p:sp>
      <p:sp>
        <p:nvSpPr>
          <p:cNvPr id="1295" name="Google Shape;1295;g28aec3263ce_0_0"/>
          <p:cNvSpPr txBox="1"/>
          <p:nvPr/>
        </p:nvSpPr>
        <p:spPr>
          <a:xfrm>
            <a:off x="4836854" y="4470707"/>
            <a:ext cx="228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(2,3)</a:t>
            </a:r>
            <a:endParaRPr dirty="0"/>
          </a:p>
        </p:txBody>
      </p:sp>
      <p:sp>
        <p:nvSpPr>
          <p:cNvPr id="1296" name="Google Shape;1296;g28aec3263ce_0_0"/>
          <p:cNvSpPr txBox="1"/>
          <p:nvPr/>
        </p:nvSpPr>
        <p:spPr>
          <a:xfrm>
            <a:off x="3588462" y="6009497"/>
            <a:ext cx="228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(2,2)</a:t>
            </a:r>
            <a:endParaRPr/>
          </a:p>
        </p:txBody>
      </p:sp>
      <p:sp>
        <p:nvSpPr>
          <p:cNvPr id="1297" name="Google Shape;1297;g28aec3263ce_0_0"/>
          <p:cNvSpPr txBox="1"/>
          <p:nvPr/>
        </p:nvSpPr>
        <p:spPr>
          <a:xfrm>
            <a:off x="5954964" y="6009734"/>
            <a:ext cx="228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(3,3)</a:t>
            </a:r>
            <a:endParaRPr/>
          </a:p>
        </p:txBody>
      </p:sp>
      <p:sp>
        <p:nvSpPr>
          <p:cNvPr id="1298" name="Google Shape;1298;g28aec3263ce_0_0"/>
          <p:cNvSpPr txBox="1"/>
          <p:nvPr/>
        </p:nvSpPr>
        <p:spPr>
          <a:xfrm>
            <a:off x="6126108" y="3040632"/>
            <a:ext cx="238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None/>
            </a:pPr>
            <a:r>
              <a:rPr lang="en-US" sz="2300" b="1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(4,4)</a:t>
            </a:r>
            <a:endParaRPr dirty="0"/>
          </a:p>
        </p:txBody>
      </p:sp>
      <p:sp>
        <p:nvSpPr>
          <p:cNvPr id="1299" name="Google Shape;1299;g28aec3263ce_0_0"/>
          <p:cNvSpPr txBox="1"/>
          <p:nvPr/>
        </p:nvSpPr>
        <p:spPr>
          <a:xfrm>
            <a:off x="8587100" y="6530950"/>
            <a:ext cx="4060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Courtesy: Showrav Ghosh (23-50660-1)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Try out this one (on paper)</a:t>
            </a:r>
            <a:endParaRPr/>
          </a:p>
        </p:txBody>
      </p:sp>
      <p:pic>
        <p:nvPicPr>
          <p:cNvPr id="1305" name="Google Shape;1305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90" y="2854701"/>
            <a:ext cx="11270923" cy="1297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728148">
            <a:off x="716671" y="1488697"/>
            <a:ext cx="5362575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2656827">
            <a:off x="6602345" y="1422512"/>
            <a:ext cx="5095875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7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317" name="Google Shape;1317;p7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2431</Words>
  <Application>Microsoft Office PowerPoint</Application>
  <PresentationFormat>Widescreen</PresentationFormat>
  <Paragraphs>950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Times New Roman</vt:lpstr>
      <vt:lpstr>Office Theme</vt:lpstr>
      <vt:lpstr>Dynamic Programming </vt:lpstr>
      <vt:lpstr>Matrix Chain Multiplication</vt:lpstr>
      <vt:lpstr>Matrix Chain Multiplication</vt:lpstr>
      <vt:lpstr>Multiplication Order</vt:lpstr>
      <vt:lpstr>Multiplication Order</vt:lpstr>
      <vt:lpstr>Lets check out the first ordering</vt:lpstr>
      <vt:lpstr>Lets check out the second ordering</vt:lpstr>
      <vt:lpstr>Another Question (similar to the earlier one)</vt:lpstr>
      <vt:lpstr>PowerPoint Presentation</vt:lpstr>
      <vt:lpstr>PowerPoint Presentation</vt:lpstr>
      <vt:lpstr>Now you try !</vt:lpstr>
      <vt:lpstr>We were learning Dynamic Programming Right?</vt:lpstr>
      <vt:lpstr>The Bottom Up Approach</vt:lpstr>
      <vt:lpstr>PowerPoint Presentation</vt:lpstr>
      <vt:lpstr>The Bottom Up Approach</vt:lpstr>
      <vt:lpstr>The Bottom Up Approach</vt:lpstr>
      <vt:lpstr>The Bottom Up Approach (as per Cormen’s book)</vt:lpstr>
      <vt:lpstr>Now let us simulate</vt:lpstr>
      <vt:lpstr>PowerPoint Presentation</vt:lpstr>
      <vt:lpstr>PowerPoint Presentation</vt:lpstr>
      <vt:lpstr>PowerPoint Presentation</vt:lpstr>
      <vt:lpstr>PowerPoint Presentation</vt:lpstr>
      <vt:lpstr>Keeping track of the splits (Lets denote it using k)</vt:lpstr>
      <vt:lpstr>PowerPoint Presentation</vt:lpstr>
      <vt:lpstr>PowerPoint Presentation</vt:lpstr>
      <vt:lpstr>PowerPoint Presentation</vt:lpstr>
      <vt:lpstr>PowerPoint Presentation</vt:lpstr>
      <vt:lpstr>Take away so far</vt:lpstr>
      <vt:lpstr>The final k table </vt:lpstr>
      <vt:lpstr>Printing the brackets</vt:lpstr>
      <vt:lpstr>PowerPoint Presentation</vt:lpstr>
      <vt:lpstr>Try out this one (on paper)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Nuzhat Tabassum</cp:lastModifiedBy>
  <cp:revision>1</cp:revision>
  <dcterms:created xsi:type="dcterms:W3CDTF">2022-09-16T13:10:20Z</dcterms:created>
  <dcterms:modified xsi:type="dcterms:W3CDTF">2024-12-26T04:57:46Z</dcterms:modified>
</cp:coreProperties>
</file>