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y="6858000" cx="9144000"/>
  <p:notesSz cx="6858000" cy="9144000"/>
  <p:embeddedFontLst>
    <p:embeddedFont>
      <p:font typeface="Corbel"/>
      <p:regular r:id="rId70"/>
      <p:bold r:id="rId71"/>
      <p:italic r:id="rId72"/>
      <p:boldItalic r:id="rId73"/>
    </p:embeddedFont>
    <p:embeddedFont>
      <p:font typeface="Tahoma"/>
      <p:regular r:id="rId74"/>
      <p:bold r:id="rId75"/>
    </p:embeddedFont>
    <p:embeddedFont>
      <p:font typeface="Noto Sans Symbols"/>
      <p:regular r:id="rId76"/>
      <p:bold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78" roundtripDataSignature="AMtx7mhIRZ6+ge9qBy4HgjdrIRbnu/K+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3070E6-82E4-43B3-9350-0D09B30A6E41}">
  <a:tblStyle styleId="{E83070E6-82E4-43B3-9350-0D09B30A6E41}"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lastCol>
    <a:firstCol>
      <a:tcTxStyle b="on" i="off"/>
    </a:firstCol>
    <a:lastRow>
      <a:tcTxStyle b="on" i="off"/>
      <a:tcStyle>
        <a:tcBdr>
          <a:top>
            <a:ln cap="flat" cmpd="sng" w="25400">
              <a:solidFill>
                <a:schemeClr val="dk1"/>
              </a:solidFill>
              <a:prstDash val="solid"/>
              <a:round/>
              <a:headEnd len="sm" w="sm" type="none"/>
              <a:tailEnd len="sm" w="sm" type="none"/>
            </a:ln>
          </a:top>
        </a:tcBdr>
        <a:fill>
          <a:solidFill>
            <a:srgbClr val="E6E6E6"/>
          </a:solidFill>
        </a:fill>
      </a:tcStyle>
    </a:lastRow>
    <a:seCell>
      <a:tcTxStyle/>
    </a:seCell>
    <a:swCell>
      <a:tcTxStyle/>
    </a:swCell>
    <a:firstRow>
      <a:tcTxStyle b="on" i="off"/>
      <a:tcStyle>
        <a:fill>
          <a:solidFill>
            <a:srgbClr val="E6E6E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Corbel-boldItalic.fntdata"/><Relationship Id="rId72" Type="http://schemas.openxmlformats.org/officeDocument/2006/relationships/font" Target="fonts/Corbel-italic.fntdata"/><Relationship Id="rId31" Type="http://schemas.openxmlformats.org/officeDocument/2006/relationships/slide" Target="slides/slide24.xml"/><Relationship Id="rId75" Type="http://schemas.openxmlformats.org/officeDocument/2006/relationships/font" Target="fonts/Tahoma-bold.fntdata"/><Relationship Id="rId30" Type="http://schemas.openxmlformats.org/officeDocument/2006/relationships/slide" Target="slides/slide23.xml"/><Relationship Id="rId74" Type="http://schemas.openxmlformats.org/officeDocument/2006/relationships/font" Target="fonts/Tahoma-regular.fntdata"/><Relationship Id="rId33" Type="http://schemas.openxmlformats.org/officeDocument/2006/relationships/slide" Target="slides/slide26.xml"/><Relationship Id="rId77" Type="http://schemas.openxmlformats.org/officeDocument/2006/relationships/font" Target="fonts/NotoSansSymbols-bold.fntdata"/><Relationship Id="rId32" Type="http://schemas.openxmlformats.org/officeDocument/2006/relationships/slide" Target="slides/slide25.xml"/><Relationship Id="rId76" Type="http://schemas.openxmlformats.org/officeDocument/2006/relationships/font" Target="fonts/NotoSansSymbols-regular.fntdata"/><Relationship Id="rId35" Type="http://schemas.openxmlformats.org/officeDocument/2006/relationships/slide" Target="slides/slide28.xml"/><Relationship Id="rId34" Type="http://schemas.openxmlformats.org/officeDocument/2006/relationships/slide" Target="slides/slide27.xml"/><Relationship Id="rId78" Type="http://customschemas.google.com/relationships/presentationmetadata" Target="metadata"/><Relationship Id="rId71" Type="http://schemas.openxmlformats.org/officeDocument/2006/relationships/font" Target="fonts/Corbel-bold.fntdata"/><Relationship Id="rId70" Type="http://schemas.openxmlformats.org/officeDocument/2006/relationships/font" Target="fonts/Corbel-regular.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1" name="Google Shape;311;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46" name="Google Shape;746;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7" name="Google Shape;74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54" name="Google Shape;754;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5" name="Google Shape;7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15" name="Google Shape;815;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6" name="Google Shape;81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22" name="Google Shape;822;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3" name="Google Shape;8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30" name="Google Shape;830;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1" name="Google Shape;83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38" name="Google Shape;838;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45" name="Google Shape;845;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6" name="Google Shape;84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52" name="Google Shape;852;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3" name="Google Shape;85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60" name="Google Shape;860;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1" name="Google Shape;86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67" name="Google Shape;867;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8" name="Google Shape;8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28" name="Google Shape;928;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9" name="Google Shape;92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35" name="Google Shape;935;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6" name="Google Shape;93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42" name="Google Shape;942;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3" name="Google Shape;94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50" name="Google Shape;950;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1" name="Google Shape;95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57" name="Google Shape;957;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8" name="Google Shape;95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2f8122dc4e2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2f8122dc4e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5" name="Google Shape;965;g2f8122dc4e2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2f8122dc4e2_0_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2f8122dc4e2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1" name="Google Shape;971;g2f8122dc4e2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6" name="Google Shape;976;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1" name="Google Shape;981;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7" name="Google Shape;987;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3" name="Google Shape;993;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2" name="Google Shape;1032;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 name="Google Shape;1046;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2" name="Google Shape;1052;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9" name="Google Shape;1059;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 name="Google Shape;1065;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1" name="Google Shape;1121;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7" name="Google Shape;1127;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5" name="Google Shape;1135;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2" name="Google Shape;1142;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4" name="Google Shape;1154;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0" name="Google Shape;1160;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6" name="Google Shape;1166;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2" name="Google Shape;1172;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8" name="Google Shape;1178;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0" name="Google Shape;1190;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6" name="Google Shape;1196;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6" name="Google Shape;1236;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0" name="Google Shape;1280;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9" name="Google Shape;1329;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9" name="Google Shape;1379;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9" name="Google Shape;1429;p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0" name="Google Shape;1480;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2" name="Google Shape;1532;p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5" name="Google Shape;1585;p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7" name="Shape 1637"/>
        <p:cNvGrpSpPr/>
        <p:nvPr/>
      </p:nvGrpSpPr>
      <p:grpSpPr>
        <a:xfrm>
          <a:off x="0" y="0"/>
          <a:ext cx="0" cy="0"/>
          <a:chOff x="0" y="0"/>
          <a:chExt cx="0" cy="0"/>
        </a:xfrm>
      </p:grpSpPr>
      <p:sp>
        <p:nvSpPr>
          <p:cNvPr id="1638" name="Google Shape;1638;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9" name="Google Shape;1639;p5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4" name="Google Shape;1694;p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8" name="Shape 1748"/>
        <p:cNvGrpSpPr/>
        <p:nvPr/>
      </p:nvGrpSpPr>
      <p:grpSpPr>
        <a:xfrm>
          <a:off x="0" y="0"/>
          <a:ext cx="0" cy="0"/>
          <a:chOff x="0" y="0"/>
          <a:chExt cx="0" cy="0"/>
        </a:xfrm>
      </p:grpSpPr>
      <p:sp>
        <p:nvSpPr>
          <p:cNvPr id="1749" name="Google Shape;1749;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0" name="Google Shape;1750;p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7" name="Google Shape;1807;p5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8" name="Shape 1868"/>
        <p:cNvGrpSpPr/>
        <p:nvPr/>
      </p:nvGrpSpPr>
      <p:grpSpPr>
        <a:xfrm>
          <a:off x="0" y="0"/>
          <a:ext cx="0" cy="0"/>
          <a:chOff x="0" y="0"/>
          <a:chExt cx="0" cy="0"/>
        </a:xfrm>
      </p:grpSpPr>
      <p:sp>
        <p:nvSpPr>
          <p:cNvPr id="1869" name="Google Shape;1869;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0" name="Google Shape;1870;p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0" name="Shape 1930"/>
        <p:cNvGrpSpPr/>
        <p:nvPr/>
      </p:nvGrpSpPr>
      <p:grpSpPr>
        <a:xfrm>
          <a:off x="0" y="0"/>
          <a:ext cx="0" cy="0"/>
          <a:chOff x="0" y="0"/>
          <a:chExt cx="0" cy="0"/>
        </a:xfrm>
      </p:grpSpPr>
      <p:sp>
        <p:nvSpPr>
          <p:cNvPr id="1931" name="Google Shape;1931;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2" name="Google Shape;1932;p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3" name="Shape 1993"/>
        <p:cNvGrpSpPr/>
        <p:nvPr/>
      </p:nvGrpSpPr>
      <p:grpSpPr>
        <a:xfrm>
          <a:off x="0" y="0"/>
          <a:ext cx="0" cy="0"/>
          <a:chOff x="0" y="0"/>
          <a:chExt cx="0" cy="0"/>
        </a:xfrm>
      </p:grpSpPr>
      <p:sp>
        <p:nvSpPr>
          <p:cNvPr id="1994" name="Google Shape;1994;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5" name="Google Shape;1995;p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3" name="Shape 2063"/>
        <p:cNvGrpSpPr/>
        <p:nvPr/>
      </p:nvGrpSpPr>
      <p:grpSpPr>
        <a:xfrm>
          <a:off x="0" y="0"/>
          <a:ext cx="0" cy="0"/>
          <a:chOff x="0" y="0"/>
          <a:chExt cx="0" cy="0"/>
        </a:xfrm>
      </p:grpSpPr>
      <p:sp>
        <p:nvSpPr>
          <p:cNvPr id="2064" name="Google Shape;2064;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5" name="Google Shape;2065;p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1" name="Shape 2131"/>
        <p:cNvGrpSpPr/>
        <p:nvPr/>
      </p:nvGrpSpPr>
      <p:grpSpPr>
        <a:xfrm>
          <a:off x="0" y="0"/>
          <a:ext cx="0" cy="0"/>
          <a:chOff x="0" y="0"/>
          <a:chExt cx="0" cy="0"/>
        </a:xfrm>
      </p:grpSpPr>
      <p:sp>
        <p:nvSpPr>
          <p:cNvPr id="2132" name="Google Shape;2132;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3" name="Google Shape;2133;p5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7" name="Shape 2137"/>
        <p:cNvGrpSpPr/>
        <p:nvPr/>
      </p:nvGrpSpPr>
      <p:grpSpPr>
        <a:xfrm>
          <a:off x="0" y="0"/>
          <a:ext cx="0" cy="0"/>
          <a:chOff x="0" y="0"/>
          <a:chExt cx="0" cy="0"/>
        </a:xfrm>
      </p:grpSpPr>
      <p:sp>
        <p:nvSpPr>
          <p:cNvPr id="2138" name="Google Shape;2138;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9" name="Google Shape;2139;p5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3" name="Shape 2143"/>
        <p:cNvGrpSpPr/>
        <p:nvPr/>
      </p:nvGrpSpPr>
      <p:grpSpPr>
        <a:xfrm>
          <a:off x="0" y="0"/>
          <a:ext cx="0" cy="0"/>
          <a:chOff x="0" y="0"/>
          <a:chExt cx="0" cy="0"/>
        </a:xfrm>
      </p:grpSpPr>
      <p:sp>
        <p:nvSpPr>
          <p:cNvPr id="2144" name="Google Shape;2144;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5" name="Google Shape;2145;p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2"/>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62"/>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6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62"/>
          <p:cNvSpPr/>
          <p:nvPr/>
        </p:nvSpPr>
        <p:spPr>
          <a:xfrm>
            <a:off x="284163" y="444728"/>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20" name="Google Shape;20;p62"/>
          <p:cNvGrpSpPr/>
          <p:nvPr/>
        </p:nvGrpSpPr>
        <p:grpSpPr>
          <a:xfrm>
            <a:off x="284163" y="1906542"/>
            <a:ext cx="8576373" cy="137411"/>
            <a:chOff x="284163" y="1759424"/>
            <a:chExt cx="8576373" cy="137411"/>
          </a:xfrm>
        </p:grpSpPr>
        <p:sp>
          <p:nvSpPr>
            <p:cNvPr id="21" name="Google Shape;21;p62"/>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 name="Google Shape;22;p62"/>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 name="Google Shape;23;p62"/>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24" name="Google Shape;24;p62"/>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lvl1pPr lvl="0" algn="l">
              <a:lnSpc>
                <a:spcPct val="109523"/>
              </a:lnSpc>
              <a:spcBef>
                <a:spcPts val="0"/>
              </a:spcBef>
              <a:spcAft>
                <a:spcPts val="0"/>
              </a:spcAft>
              <a:buClr>
                <a:schemeClr val="lt1"/>
              </a:buClr>
              <a:buSzPts val="4200"/>
              <a:buFont typeface="Corbel"/>
              <a:buNone/>
              <a:defRPr sz="42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2"/>
          <p:cNvSpPr txBox="1"/>
          <p:nvPr>
            <p:ph idx="1" type="subTitle"/>
          </p:nvPr>
        </p:nvSpPr>
        <p:spPr>
          <a:xfrm>
            <a:off x="476205" y="1532427"/>
            <a:ext cx="7754112" cy="48463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A5A5A5"/>
              </a:buClr>
              <a:buSzPts val="1620"/>
              <a:buFont typeface="Noto Sans Symbols"/>
              <a:buNone/>
              <a:defRPr sz="1800">
                <a:solidFill>
                  <a:schemeClr val="lt1"/>
                </a:solidFill>
                <a:latin typeface="Calibri"/>
                <a:ea typeface="Calibri"/>
                <a:cs typeface="Calibri"/>
                <a:sym typeface="Calibri"/>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p:txBody>
      </p:sp>
      <p:sp>
        <p:nvSpPr>
          <p:cNvPr id="26" name="Google Shape;26;p62"/>
          <p:cNvSpPr/>
          <p:nvPr/>
        </p:nvSpPr>
        <p:spPr>
          <a:xfrm>
            <a:off x="284163" y="6227064"/>
            <a:ext cx="8574087" cy="173736"/>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 result for AIUB logo" id="27" name="Google Shape;27;p62"/>
          <p:cNvPicPr preferRelativeResize="0"/>
          <p:nvPr/>
        </p:nvPicPr>
        <p:blipFill rotWithShape="1">
          <a:blip r:embed="rId2">
            <a:alphaModFix/>
          </a:blip>
          <a:srcRect b="0" l="0" r="0" t="0"/>
          <a:stretch/>
        </p:blipFill>
        <p:spPr>
          <a:xfrm>
            <a:off x="7438596" y="459899"/>
            <a:ext cx="1419654" cy="142852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63"/>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63"/>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31" name="Google Shape;31;p63"/>
          <p:cNvGrpSpPr/>
          <p:nvPr/>
        </p:nvGrpSpPr>
        <p:grpSpPr>
          <a:xfrm>
            <a:off x="284164" y="452718"/>
            <a:ext cx="7365210" cy="137411"/>
            <a:chOff x="284163" y="1577847"/>
            <a:chExt cx="8576373" cy="137411"/>
          </a:xfrm>
        </p:grpSpPr>
        <p:sp>
          <p:nvSpPr>
            <p:cNvPr id="32" name="Google Shape;32;p63"/>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 name="Google Shape;33;p63"/>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 name="Google Shape;34;p63"/>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pic>
        <p:nvPicPr>
          <p:cNvPr descr="Image result for AIUB logo" id="35" name="Google Shape;35;p63"/>
          <p:cNvPicPr preferRelativeResize="0"/>
          <p:nvPr/>
        </p:nvPicPr>
        <p:blipFill rotWithShape="1">
          <a:blip r:embed="rId2">
            <a:alphaModFix/>
          </a:blip>
          <a:srcRect b="0" l="0" r="0" t="0"/>
          <a:stretch/>
        </p:blipFill>
        <p:spPr>
          <a:xfrm>
            <a:off x="7649374" y="55844"/>
            <a:ext cx="1279161" cy="128715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66"/>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8" name="Google Shape;38;p66"/>
          <p:cNvGrpSpPr/>
          <p:nvPr/>
        </p:nvGrpSpPr>
        <p:grpSpPr>
          <a:xfrm>
            <a:off x="284163" y="1577847"/>
            <a:ext cx="8576373" cy="137411"/>
            <a:chOff x="284163" y="1577847"/>
            <a:chExt cx="8576373" cy="137411"/>
          </a:xfrm>
        </p:grpSpPr>
        <p:sp>
          <p:nvSpPr>
            <p:cNvPr id="39" name="Google Shape;39;p66"/>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 name="Google Shape;40;p66"/>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 name="Google Shape;41;p66"/>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2" name="Google Shape;42;p66"/>
          <p:cNvSpPr txBox="1"/>
          <p:nvPr>
            <p:ph type="title"/>
          </p:nvPr>
        </p:nvSpPr>
        <p:spPr>
          <a:xfrm>
            <a:off x="284163" y="630382"/>
            <a:ext cx="8574087" cy="96784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200"/>
              <a:buFont typeface="Corbel"/>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6"/>
          <p:cNvSpPr txBox="1"/>
          <p:nvPr>
            <p:ph idx="1" type="body"/>
          </p:nvPr>
        </p:nvSpPr>
        <p:spPr>
          <a:xfrm>
            <a:off x="284163" y="2133600"/>
            <a:ext cx="8574087" cy="3992563"/>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44" name="Google Shape;44;p66"/>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6"/>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p:cSld name="Title Slide with Picture">
    <p:spTree>
      <p:nvGrpSpPr>
        <p:cNvPr id="47" name="Shape 47"/>
        <p:cNvGrpSpPr/>
        <p:nvPr/>
      </p:nvGrpSpPr>
      <p:grpSpPr>
        <a:xfrm>
          <a:off x="0" y="0"/>
          <a:ext cx="0" cy="0"/>
          <a:chOff x="0" y="0"/>
          <a:chExt cx="0" cy="0"/>
        </a:xfrm>
      </p:grpSpPr>
      <p:sp>
        <p:nvSpPr>
          <p:cNvPr id="48" name="Google Shape;48;p67"/>
          <p:cNvSpPr/>
          <p:nvPr/>
        </p:nvSpPr>
        <p:spPr>
          <a:xfrm>
            <a:off x="284163" y="444728"/>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sp>
        <p:nvSpPr>
          <p:cNvPr id="49" name="Google Shape;49;p67"/>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7"/>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7"/>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67"/>
          <p:cNvSpPr/>
          <p:nvPr>
            <p:ph idx="2" type="pic"/>
          </p:nvPr>
        </p:nvSpPr>
        <p:spPr>
          <a:xfrm>
            <a:off x="284162" y="2017058"/>
            <a:ext cx="8574087" cy="4377391"/>
          </a:xfrm>
          <a:prstGeom prst="rect">
            <a:avLst/>
          </a:prstGeom>
          <a:noFill/>
          <a:ln>
            <a:noFill/>
          </a:ln>
        </p:spPr>
      </p:sp>
      <p:sp>
        <p:nvSpPr>
          <p:cNvPr id="53" name="Google Shape;53;p67"/>
          <p:cNvSpPr txBox="1"/>
          <p:nvPr>
            <p:ph idx="1" type="subTitle"/>
          </p:nvPr>
        </p:nvSpPr>
        <p:spPr>
          <a:xfrm>
            <a:off x="472420" y="1532965"/>
            <a:ext cx="7754284" cy="484094"/>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SzPts val="1620"/>
              <a:buNone/>
              <a:defRPr sz="1800">
                <a:solidFill>
                  <a:schemeClr val="lt1"/>
                </a:solidFill>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p:txBody>
      </p:sp>
      <p:grpSp>
        <p:nvGrpSpPr>
          <p:cNvPr id="54" name="Google Shape;54;p67"/>
          <p:cNvGrpSpPr/>
          <p:nvPr/>
        </p:nvGrpSpPr>
        <p:grpSpPr>
          <a:xfrm>
            <a:off x="284163" y="1906542"/>
            <a:ext cx="8576373" cy="137411"/>
            <a:chOff x="284163" y="1759424"/>
            <a:chExt cx="8576373" cy="137411"/>
          </a:xfrm>
        </p:grpSpPr>
        <p:sp>
          <p:nvSpPr>
            <p:cNvPr id="55" name="Google Shape;55;p67"/>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 name="Google Shape;56;p67"/>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 name="Google Shape;57;p67"/>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8" name="Google Shape;58;p67"/>
          <p:cNvSpPr txBox="1"/>
          <p:nvPr/>
        </p:nvSpPr>
        <p:spPr>
          <a:xfrm>
            <a:off x="8230889" y="444728"/>
            <a:ext cx="5870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59" name="Google Shape;59;p67"/>
          <p:cNvSpPr txBox="1"/>
          <p:nvPr>
            <p:ph type="ctrTitle"/>
          </p:nvPr>
        </p:nvSpPr>
        <p:spPr>
          <a:xfrm>
            <a:off x="418633" y="444728"/>
            <a:ext cx="7810967" cy="1088237"/>
          </a:xfrm>
          <a:prstGeom prst="rect">
            <a:avLst/>
          </a:prstGeom>
          <a:noFill/>
          <a:ln>
            <a:noFill/>
          </a:ln>
        </p:spPr>
        <p:txBody>
          <a:bodyPr anchorCtr="0" anchor="b" bIns="45700" lIns="91425" spcFirstLastPara="1" rIns="91425" wrap="square" tIns="45700">
            <a:normAutofit/>
          </a:bodyPr>
          <a:lstStyle>
            <a:lvl1pPr lvl="0" algn="l">
              <a:lnSpc>
                <a:spcPct val="109523"/>
              </a:lnSpc>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68"/>
          <p:cNvSpPr/>
          <p:nvPr/>
        </p:nvSpPr>
        <p:spPr>
          <a:xfrm>
            <a:off x="284163" y="4801575"/>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62" name="Google Shape;62;p68"/>
          <p:cNvGrpSpPr/>
          <p:nvPr/>
        </p:nvGrpSpPr>
        <p:grpSpPr>
          <a:xfrm>
            <a:off x="284163" y="6263389"/>
            <a:ext cx="8576373" cy="137411"/>
            <a:chOff x="284163" y="1759424"/>
            <a:chExt cx="8576373" cy="137411"/>
          </a:xfrm>
        </p:grpSpPr>
        <p:sp>
          <p:nvSpPr>
            <p:cNvPr id="63" name="Google Shape;63;p68"/>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 name="Google Shape;64;p68"/>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 name="Google Shape;65;p68"/>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66" name="Google Shape;66;p68"/>
          <p:cNvSpPr txBox="1"/>
          <p:nvPr/>
        </p:nvSpPr>
        <p:spPr>
          <a:xfrm>
            <a:off x="8230889" y="4801575"/>
            <a:ext cx="5870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67" name="Google Shape;67;p68"/>
          <p:cNvSpPr txBox="1"/>
          <p:nvPr>
            <p:ph type="title"/>
          </p:nvPr>
        </p:nvSpPr>
        <p:spPr>
          <a:xfrm>
            <a:off x="429768" y="4814125"/>
            <a:ext cx="777240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200"/>
              <a:buFont typeface="Corbel"/>
              <a:buNone/>
              <a:defRPr b="0" i="0" sz="420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68"/>
          <p:cNvSpPr txBox="1"/>
          <p:nvPr>
            <p:ph idx="1" type="body"/>
          </p:nvPr>
        </p:nvSpPr>
        <p:spPr>
          <a:xfrm>
            <a:off x="475488" y="5861304"/>
            <a:ext cx="7735824" cy="402336"/>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620"/>
              <a:buNone/>
              <a:defRPr sz="1800">
                <a:solidFill>
                  <a:schemeClr val="lt1"/>
                </a:solidFill>
                <a:latin typeface="Calibri"/>
                <a:ea typeface="Calibri"/>
                <a:cs typeface="Calibri"/>
                <a:sym typeface="Calibri"/>
              </a:defRPr>
            </a:lvl1pPr>
            <a:lvl2pPr indent="-228600" lvl="1" marL="914400" algn="l">
              <a:spcBef>
                <a:spcPts val="600"/>
              </a:spcBef>
              <a:spcAft>
                <a:spcPts val="0"/>
              </a:spcAft>
              <a:buSzPts val="1620"/>
              <a:buNone/>
              <a:defRPr sz="1800">
                <a:solidFill>
                  <a:srgbClr val="888888"/>
                </a:solidFill>
              </a:defRPr>
            </a:lvl2pPr>
            <a:lvl3pPr indent="-228600" lvl="2" marL="1371600" algn="l">
              <a:spcBef>
                <a:spcPts val="600"/>
              </a:spcBef>
              <a:spcAft>
                <a:spcPts val="0"/>
              </a:spcAft>
              <a:buSzPts val="1440"/>
              <a:buNone/>
              <a:defRPr sz="1600">
                <a:solidFill>
                  <a:srgbClr val="888888"/>
                </a:solidFill>
              </a:defRPr>
            </a:lvl3pPr>
            <a:lvl4pPr indent="-228600" lvl="3" marL="1828800" algn="l">
              <a:spcBef>
                <a:spcPts val="600"/>
              </a:spcBef>
              <a:spcAft>
                <a:spcPts val="0"/>
              </a:spcAft>
              <a:buSzPts val="1260"/>
              <a:buNone/>
              <a:defRPr sz="1400">
                <a:solidFill>
                  <a:srgbClr val="888888"/>
                </a:solidFill>
              </a:defRPr>
            </a:lvl4pPr>
            <a:lvl5pPr indent="-228600" lvl="4" marL="2286000" algn="l">
              <a:spcBef>
                <a:spcPts val="600"/>
              </a:spcBef>
              <a:spcAft>
                <a:spcPts val="0"/>
              </a:spcAft>
              <a:buSzPts val="1260"/>
              <a:buNone/>
              <a:defRPr sz="1400">
                <a:solidFill>
                  <a:srgbClr val="888888"/>
                </a:solidFill>
              </a:defRPr>
            </a:lvl5pPr>
            <a:lvl6pPr indent="-228600" lvl="5" marL="2743200" algn="l">
              <a:spcBef>
                <a:spcPts val="600"/>
              </a:spcBef>
              <a:spcAft>
                <a:spcPts val="0"/>
              </a:spcAft>
              <a:buSzPts val="1260"/>
              <a:buNone/>
              <a:defRPr sz="1400">
                <a:solidFill>
                  <a:srgbClr val="888888"/>
                </a:solidFill>
              </a:defRPr>
            </a:lvl6pPr>
            <a:lvl7pPr indent="-228600" lvl="6" marL="3200400" algn="l">
              <a:spcBef>
                <a:spcPts val="600"/>
              </a:spcBef>
              <a:spcAft>
                <a:spcPts val="0"/>
              </a:spcAft>
              <a:buSzPts val="1260"/>
              <a:buNone/>
              <a:defRPr sz="1400">
                <a:solidFill>
                  <a:srgbClr val="888888"/>
                </a:solidFill>
              </a:defRPr>
            </a:lvl7pPr>
            <a:lvl8pPr indent="-228600" lvl="7" marL="3657600" algn="l">
              <a:spcBef>
                <a:spcPts val="600"/>
              </a:spcBef>
              <a:spcAft>
                <a:spcPts val="0"/>
              </a:spcAft>
              <a:buSzPts val="1260"/>
              <a:buNone/>
              <a:defRPr sz="1400">
                <a:solidFill>
                  <a:srgbClr val="888888"/>
                </a:solidFill>
              </a:defRPr>
            </a:lvl8pPr>
            <a:lvl9pPr indent="-228600" lvl="8" marL="4114800" algn="l">
              <a:spcBef>
                <a:spcPts val="600"/>
              </a:spcBef>
              <a:spcAft>
                <a:spcPts val="0"/>
              </a:spcAft>
              <a:buSzPts val="1260"/>
              <a:buNone/>
              <a:defRPr sz="1400">
                <a:solidFill>
                  <a:srgbClr val="888888"/>
                </a:solidFill>
              </a:defRPr>
            </a:lvl9pPr>
          </a:lstStyle>
          <a:p/>
        </p:txBody>
      </p:sp>
      <p:sp>
        <p:nvSpPr>
          <p:cNvPr id="69" name="Google Shape;69;p68"/>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8"/>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Picture">
  <p:cSld name="Section with Picture">
    <p:spTree>
      <p:nvGrpSpPr>
        <p:cNvPr id="72" name="Shape 72"/>
        <p:cNvGrpSpPr/>
        <p:nvPr/>
      </p:nvGrpSpPr>
      <p:grpSpPr>
        <a:xfrm>
          <a:off x="0" y="0"/>
          <a:ext cx="0" cy="0"/>
          <a:chOff x="0" y="0"/>
          <a:chExt cx="0" cy="0"/>
        </a:xfrm>
      </p:grpSpPr>
      <p:sp>
        <p:nvSpPr>
          <p:cNvPr id="73" name="Google Shape;73;p69"/>
          <p:cNvSpPr/>
          <p:nvPr>
            <p:ph idx="2" type="pic"/>
          </p:nvPr>
        </p:nvSpPr>
        <p:spPr>
          <a:xfrm>
            <a:off x="284162" y="443754"/>
            <a:ext cx="8574087" cy="4370293"/>
          </a:xfrm>
          <a:prstGeom prst="rect">
            <a:avLst/>
          </a:prstGeom>
          <a:noFill/>
          <a:ln>
            <a:noFill/>
          </a:ln>
        </p:spPr>
      </p:sp>
      <p:sp>
        <p:nvSpPr>
          <p:cNvPr id="74" name="Google Shape;74;p69"/>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9"/>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9"/>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7" name="Google Shape;77;p69"/>
          <p:cNvSpPr/>
          <p:nvPr/>
        </p:nvSpPr>
        <p:spPr>
          <a:xfrm>
            <a:off x="284163" y="4801575"/>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78" name="Google Shape;78;p69"/>
          <p:cNvGrpSpPr/>
          <p:nvPr/>
        </p:nvGrpSpPr>
        <p:grpSpPr>
          <a:xfrm>
            <a:off x="284163" y="6263389"/>
            <a:ext cx="8576373" cy="137411"/>
            <a:chOff x="284163" y="1759424"/>
            <a:chExt cx="8576373" cy="137411"/>
          </a:xfrm>
        </p:grpSpPr>
        <p:sp>
          <p:nvSpPr>
            <p:cNvPr id="79" name="Google Shape;79;p69"/>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 name="Google Shape;80;p69"/>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69"/>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82" name="Google Shape;82;p69"/>
          <p:cNvSpPr txBox="1"/>
          <p:nvPr/>
        </p:nvSpPr>
        <p:spPr>
          <a:xfrm>
            <a:off x="8230889" y="4801575"/>
            <a:ext cx="5870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83" name="Google Shape;83;p69"/>
          <p:cNvSpPr txBox="1"/>
          <p:nvPr>
            <p:ph type="title"/>
          </p:nvPr>
        </p:nvSpPr>
        <p:spPr>
          <a:xfrm>
            <a:off x="430306" y="4814047"/>
            <a:ext cx="7772400" cy="104887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200"/>
              <a:buFont typeface="Corbel"/>
              <a:buNone/>
              <a:defRPr b="0" i="0" sz="4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69"/>
          <p:cNvSpPr txBox="1"/>
          <p:nvPr>
            <p:ph idx="1" type="body"/>
          </p:nvPr>
        </p:nvSpPr>
        <p:spPr>
          <a:xfrm>
            <a:off x="470647" y="5862918"/>
            <a:ext cx="7732059" cy="40341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620"/>
              <a:buNone/>
              <a:defRPr sz="1800">
                <a:solidFill>
                  <a:schemeClr val="lt1"/>
                </a:solidFill>
              </a:defRPr>
            </a:lvl1pPr>
            <a:lvl2pPr indent="-228600" lvl="1" marL="914400" algn="l">
              <a:spcBef>
                <a:spcPts val="600"/>
              </a:spcBef>
              <a:spcAft>
                <a:spcPts val="0"/>
              </a:spcAft>
              <a:buSzPts val="1620"/>
              <a:buNone/>
              <a:defRPr sz="1800">
                <a:solidFill>
                  <a:srgbClr val="888888"/>
                </a:solidFill>
              </a:defRPr>
            </a:lvl2pPr>
            <a:lvl3pPr indent="-228600" lvl="2" marL="1371600" algn="l">
              <a:spcBef>
                <a:spcPts val="600"/>
              </a:spcBef>
              <a:spcAft>
                <a:spcPts val="0"/>
              </a:spcAft>
              <a:buSzPts val="1440"/>
              <a:buNone/>
              <a:defRPr sz="1600">
                <a:solidFill>
                  <a:srgbClr val="888888"/>
                </a:solidFill>
              </a:defRPr>
            </a:lvl3pPr>
            <a:lvl4pPr indent="-228600" lvl="3" marL="1828800" algn="l">
              <a:spcBef>
                <a:spcPts val="600"/>
              </a:spcBef>
              <a:spcAft>
                <a:spcPts val="0"/>
              </a:spcAft>
              <a:buSzPts val="1260"/>
              <a:buNone/>
              <a:defRPr sz="1400">
                <a:solidFill>
                  <a:srgbClr val="888888"/>
                </a:solidFill>
              </a:defRPr>
            </a:lvl4pPr>
            <a:lvl5pPr indent="-228600" lvl="4" marL="2286000" algn="l">
              <a:spcBef>
                <a:spcPts val="600"/>
              </a:spcBef>
              <a:spcAft>
                <a:spcPts val="0"/>
              </a:spcAft>
              <a:buSzPts val="1260"/>
              <a:buNone/>
              <a:defRPr sz="1400">
                <a:solidFill>
                  <a:srgbClr val="888888"/>
                </a:solidFill>
              </a:defRPr>
            </a:lvl5pPr>
            <a:lvl6pPr indent="-228600" lvl="5" marL="2743200" algn="l">
              <a:spcBef>
                <a:spcPts val="600"/>
              </a:spcBef>
              <a:spcAft>
                <a:spcPts val="0"/>
              </a:spcAft>
              <a:buSzPts val="1260"/>
              <a:buNone/>
              <a:defRPr sz="1400">
                <a:solidFill>
                  <a:srgbClr val="888888"/>
                </a:solidFill>
              </a:defRPr>
            </a:lvl6pPr>
            <a:lvl7pPr indent="-228600" lvl="6" marL="3200400" algn="l">
              <a:spcBef>
                <a:spcPts val="600"/>
              </a:spcBef>
              <a:spcAft>
                <a:spcPts val="0"/>
              </a:spcAft>
              <a:buSzPts val="1260"/>
              <a:buNone/>
              <a:defRPr sz="1400">
                <a:solidFill>
                  <a:srgbClr val="888888"/>
                </a:solidFill>
              </a:defRPr>
            </a:lvl7pPr>
            <a:lvl8pPr indent="-228600" lvl="7" marL="3657600" algn="l">
              <a:spcBef>
                <a:spcPts val="600"/>
              </a:spcBef>
              <a:spcAft>
                <a:spcPts val="0"/>
              </a:spcAft>
              <a:buSzPts val="1260"/>
              <a:buNone/>
              <a:defRPr sz="1400">
                <a:solidFill>
                  <a:srgbClr val="888888"/>
                </a:solidFill>
              </a:defRPr>
            </a:lvl8pPr>
            <a:lvl9pPr indent="-228600" lvl="8" marL="4114800" algn="l">
              <a:spcBef>
                <a:spcPts val="600"/>
              </a:spcBef>
              <a:spcAft>
                <a:spcPts val="0"/>
              </a:spcAft>
              <a:buSzPts val="1260"/>
              <a:buNone/>
              <a:defRPr sz="1400">
                <a:solidFill>
                  <a:srgbClr val="888888"/>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5" name="Shape 85"/>
        <p:cNvGrpSpPr/>
        <p:nvPr/>
      </p:nvGrpSpPr>
      <p:grpSpPr>
        <a:xfrm>
          <a:off x="0" y="0"/>
          <a:ext cx="0" cy="0"/>
          <a:chOff x="0" y="0"/>
          <a:chExt cx="0" cy="0"/>
        </a:xfrm>
      </p:grpSpPr>
      <p:sp>
        <p:nvSpPr>
          <p:cNvPr id="86" name="Google Shape;86;p70"/>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87" name="Google Shape;87;p70"/>
          <p:cNvGrpSpPr/>
          <p:nvPr/>
        </p:nvGrpSpPr>
        <p:grpSpPr>
          <a:xfrm>
            <a:off x="284163" y="1577847"/>
            <a:ext cx="8576373" cy="137411"/>
            <a:chOff x="284163" y="1577847"/>
            <a:chExt cx="8576373" cy="137411"/>
          </a:xfrm>
        </p:grpSpPr>
        <p:sp>
          <p:nvSpPr>
            <p:cNvPr id="88" name="Google Shape;88;p70"/>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 name="Google Shape;89;p70"/>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 name="Google Shape;90;p70"/>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91" name="Google Shape;91;p70"/>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70"/>
          <p:cNvSpPr txBox="1"/>
          <p:nvPr>
            <p:ph idx="1" type="body"/>
          </p:nvPr>
        </p:nvSpPr>
        <p:spPr>
          <a:xfrm>
            <a:off x="403412" y="2151063"/>
            <a:ext cx="3931920" cy="3975100"/>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93" name="Google Shape;93;p70"/>
          <p:cNvSpPr txBox="1"/>
          <p:nvPr>
            <p:ph idx="2" type="body"/>
          </p:nvPr>
        </p:nvSpPr>
        <p:spPr>
          <a:xfrm>
            <a:off x="4778188" y="2151063"/>
            <a:ext cx="3931920" cy="3975100"/>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94" name="Google Shape;94;p70"/>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70"/>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70"/>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7" name="Shape 97"/>
        <p:cNvGrpSpPr/>
        <p:nvPr/>
      </p:nvGrpSpPr>
      <p:grpSpPr>
        <a:xfrm>
          <a:off x="0" y="0"/>
          <a:ext cx="0" cy="0"/>
          <a:chOff x="0" y="0"/>
          <a:chExt cx="0" cy="0"/>
        </a:xfrm>
      </p:grpSpPr>
      <p:sp>
        <p:nvSpPr>
          <p:cNvPr id="98" name="Google Shape;98;p71"/>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9" name="Google Shape;99;p71"/>
          <p:cNvGrpSpPr/>
          <p:nvPr/>
        </p:nvGrpSpPr>
        <p:grpSpPr>
          <a:xfrm>
            <a:off x="284163" y="1577847"/>
            <a:ext cx="8576373" cy="137411"/>
            <a:chOff x="284163" y="1577847"/>
            <a:chExt cx="8576373" cy="137411"/>
          </a:xfrm>
        </p:grpSpPr>
        <p:sp>
          <p:nvSpPr>
            <p:cNvPr id="100" name="Google Shape;100;p71"/>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71"/>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 name="Google Shape;102;p71"/>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03" name="Google Shape;103;p71"/>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71"/>
          <p:cNvSpPr txBox="1"/>
          <p:nvPr>
            <p:ph idx="1" type="body"/>
          </p:nvPr>
        </p:nvSpPr>
        <p:spPr>
          <a:xfrm>
            <a:off x="403412" y="1735138"/>
            <a:ext cx="3931920" cy="83325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600"/>
              </a:spcBef>
              <a:spcAft>
                <a:spcPts val="0"/>
              </a:spcAft>
              <a:buSzPts val="2340"/>
              <a:buNone/>
              <a:defRPr b="0" sz="2600">
                <a:solidFill>
                  <a:schemeClr val="accent1"/>
                </a:solidFill>
              </a:defRPr>
            </a:lvl1pPr>
            <a:lvl2pPr indent="-228600" lvl="1" marL="914400" algn="l">
              <a:spcBef>
                <a:spcPts val="600"/>
              </a:spcBef>
              <a:spcAft>
                <a:spcPts val="0"/>
              </a:spcAft>
              <a:buSzPts val="1800"/>
              <a:buNone/>
              <a:defRPr b="1" sz="2000"/>
            </a:lvl2pPr>
            <a:lvl3pPr indent="-228600" lvl="2" marL="1371600" algn="l">
              <a:spcBef>
                <a:spcPts val="600"/>
              </a:spcBef>
              <a:spcAft>
                <a:spcPts val="0"/>
              </a:spcAft>
              <a:buSzPts val="1620"/>
              <a:buNone/>
              <a:defRPr b="1" sz="1800"/>
            </a:lvl3pPr>
            <a:lvl4pPr indent="-228600" lvl="3" marL="1828800" algn="l">
              <a:spcBef>
                <a:spcPts val="600"/>
              </a:spcBef>
              <a:spcAft>
                <a:spcPts val="0"/>
              </a:spcAft>
              <a:buSzPts val="1440"/>
              <a:buNone/>
              <a:defRPr b="1" sz="1600"/>
            </a:lvl4pPr>
            <a:lvl5pPr indent="-228600" lvl="4" marL="2286000" algn="l">
              <a:spcBef>
                <a:spcPts val="600"/>
              </a:spcBef>
              <a:spcAft>
                <a:spcPts val="0"/>
              </a:spcAft>
              <a:buSzPts val="1440"/>
              <a:buNone/>
              <a:defRPr b="1" sz="1600"/>
            </a:lvl5pPr>
            <a:lvl6pPr indent="-228600" lvl="5" marL="2743200" algn="l">
              <a:spcBef>
                <a:spcPts val="600"/>
              </a:spcBef>
              <a:spcAft>
                <a:spcPts val="0"/>
              </a:spcAft>
              <a:buSzPts val="1440"/>
              <a:buNone/>
              <a:defRPr b="1" sz="1600"/>
            </a:lvl6pPr>
            <a:lvl7pPr indent="-228600" lvl="6" marL="3200400" algn="l">
              <a:spcBef>
                <a:spcPts val="600"/>
              </a:spcBef>
              <a:spcAft>
                <a:spcPts val="0"/>
              </a:spcAft>
              <a:buSzPts val="1440"/>
              <a:buNone/>
              <a:defRPr b="1" sz="1600"/>
            </a:lvl7pPr>
            <a:lvl8pPr indent="-228600" lvl="7" marL="3657600" algn="l">
              <a:spcBef>
                <a:spcPts val="600"/>
              </a:spcBef>
              <a:spcAft>
                <a:spcPts val="0"/>
              </a:spcAft>
              <a:buSzPts val="1440"/>
              <a:buNone/>
              <a:defRPr b="1" sz="1600"/>
            </a:lvl8pPr>
            <a:lvl9pPr indent="-228600" lvl="8" marL="4114800" algn="l">
              <a:spcBef>
                <a:spcPts val="600"/>
              </a:spcBef>
              <a:spcAft>
                <a:spcPts val="0"/>
              </a:spcAft>
              <a:buSzPts val="1440"/>
              <a:buNone/>
              <a:defRPr b="1" sz="1600"/>
            </a:lvl9pPr>
          </a:lstStyle>
          <a:p/>
        </p:txBody>
      </p:sp>
      <p:sp>
        <p:nvSpPr>
          <p:cNvPr id="105" name="Google Shape;105;p71"/>
          <p:cNvSpPr txBox="1"/>
          <p:nvPr>
            <p:ph idx="2" type="body"/>
          </p:nvPr>
        </p:nvSpPr>
        <p:spPr>
          <a:xfrm>
            <a:off x="403412" y="2590800"/>
            <a:ext cx="3931920" cy="3535362"/>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20039" lvl="5" marL="2743200" algn="l">
              <a:spcBef>
                <a:spcPts val="600"/>
              </a:spcBef>
              <a:spcAft>
                <a:spcPts val="0"/>
              </a:spcAft>
              <a:buSzPts val="1440"/>
              <a:buChar char="🡽"/>
              <a:defRPr sz="1600"/>
            </a:lvl6pPr>
            <a:lvl7pPr indent="-320039" lvl="6" marL="3200400" algn="l">
              <a:spcBef>
                <a:spcPts val="600"/>
              </a:spcBef>
              <a:spcAft>
                <a:spcPts val="0"/>
              </a:spcAft>
              <a:buSzPts val="1440"/>
              <a:buChar char="🡽"/>
              <a:defRPr sz="1600"/>
            </a:lvl7pPr>
            <a:lvl8pPr indent="-320040" lvl="7" marL="3657600" algn="l">
              <a:spcBef>
                <a:spcPts val="600"/>
              </a:spcBef>
              <a:spcAft>
                <a:spcPts val="0"/>
              </a:spcAft>
              <a:buSzPts val="1440"/>
              <a:buChar char="🡽"/>
              <a:defRPr sz="1600"/>
            </a:lvl8pPr>
            <a:lvl9pPr indent="-320040" lvl="8" marL="4114800" algn="l">
              <a:spcBef>
                <a:spcPts val="600"/>
              </a:spcBef>
              <a:spcAft>
                <a:spcPts val="0"/>
              </a:spcAft>
              <a:buSzPts val="1440"/>
              <a:buChar char="🡽"/>
              <a:defRPr sz="1600"/>
            </a:lvl9pPr>
          </a:lstStyle>
          <a:p/>
        </p:txBody>
      </p:sp>
      <p:sp>
        <p:nvSpPr>
          <p:cNvPr id="106" name="Google Shape;106;p71"/>
          <p:cNvSpPr txBox="1"/>
          <p:nvPr>
            <p:ph idx="3" type="body"/>
          </p:nvPr>
        </p:nvSpPr>
        <p:spPr>
          <a:xfrm>
            <a:off x="4779495" y="1735138"/>
            <a:ext cx="3931920" cy="83325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600"/>
              </a:spcBef>
              <a:spcAft>
                <a:spcPts val="0"/>
              </a:spcAft>
              <a:buSzPts val="2340"/>
              <a:buNone/>
              <a:defRPr b="0" sz="2600">
                <a:solidFill>
                  <a:schemeClr val="accent2"/>
                </a:solidFill>
              </a:defRPr>
            </a:lvl1pPr>
            <a:lvl2pPr indent="-228600" lvl="1" marL="914400" algn="l">
              <a:spcBef>
                <a:spcPts val="600"/>
              </a:spcBef>
              <a:spcAft>
                <a:spcPts val="0"/>
              </a:spcAft>
              <a:buSzPts val="1800"/>
              <a:buNone/>
              <a:defRPr b="1" sz="2000"/>
            </a:lvl2pPr>
            <a:lvl3pPr indent="-228600" lvl="2" marL="1371600" algn="l">
              <a:spcBef>
                <a:spcPts val="600"/>
              </a:spcBef>
              <a:spcAft>
                <a:spcPts val="0"/>
              </a:spcAft>
              <a:buSzPts val="1620"/>
              <a:buNone/>
              <a:defRPr b="1" sz="1800"/>
            </a:lvl3pPr>
            <a:lvl4pPr indent="-228600" lvl="3" marL="1828800" algn="l">
              <a:spcBef>
                <a:spcPts val="600"/>
              </a:spcBef>
              <a:spcAft>
                <a:spcPts val="0"/>
              </a:spcAft>
              <a:buSzPts val="1440"/>
              <a:buNone/>
              <a:defRPr b="1" sz="1600"/>
            </a:lvl4pPr>
            <a:lvl5pPr indent="-228600" lvl="4" marL="2286000" algn="l">
              <a:spcBef>
                <a:spcPts val="600"/>
              </a:spcBef>
              <a:spcAft>
                <a:spcPts val="0"/>
              </a:spcAft>
              <a:buSzPts val="1440"/>
              <a:buNone/>
              <a:defRPr b="1" sz="1600"/>
            </a:lvl5pPr>
            <a:lvl6pPr indent="-228600" lvl="5" marL="2743200" algn="l">
              <a:spcBef>
                <a:spcPts val="600"/>
              </a:spcBef>
              <a:spcAft>
                <a:spcPts val="0"/>
              </a:spcAft>
              <a:buSzPts val="1440"/>
              <a:buNone/>
              <a:defRPr b="1" sz="1600"/>
            </a:lvl6pPr>
            <a:lvl7pPr indent="-228600" lvl="6" marL="3200400" algn="l">
              <a:spcBef>
                <a:spcPts val="600"/>
              </a:spcBef>
              <a:spcAft>
                <a:spcPts val="0"/>
              </a:spcAft>
              <a:buSzPts val="1440"/>
              <a:buNone/>
              <a:defRPr b="1" sz="1600"/>
            </a:lvl7pPr>
            <a:lvl8pPr indent="-228600" lvl="7" marL="3657600" algn="l">
              <a:spcBef>
                <a:spcPts val="600"/>
              </a:spcBef>
              <a:spcAft>
                <a:spcPts val="0"/>
              </a:spcAft>
              <a:buSzPts val="1440"/>
              <a:buNone/>
              <a:defRPr b="1" sz="1600"/>
            </a:lvl8pPr>
            <a:lvl9pPr indent="-228600" lvl="8" marL="4114800" algn="l">
              <a:spcBef>
                <a:spcPts val="600"/>
              </a:spcBef>
              <a:spcAft>
                <a:spcPts val="0"/>
              </a:spcAft>
              <a:buSzPts val="1440"/>
              <a:buNone/>
              <a:defRPr b="1" sz="1600"/>
            </a:lvl9pPr>
          </a:lstStyle>
          <a:p/>
        </p:txBody>
      </p:sp>
      <p:sp>
        <p:nvSpPr>
          <p:cNvPr id="107" name="Google Shape;107;p71"/>
          <p:cNvSpPr txBox="1"/>
          <p:nvPr>
            <p:ph idx="4" type="body"/>
          </p:nvPr>
        </p:nvSpPr>
        <p:spPr>
          <a:xfrm>
            <a:off x="4779495" y="2590800"/>
            <a:ext cx="3931920" cy="3535362"/>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20039" lvl="5" marL="2743200" algn="l">
              <a:spcBef>
                <a:spcPts val="600"/>
              </a:spcBef>
              <a:spcAft>
                <a:spcPts val="0"/>
              </a:spcAft>
              <a:buSzPts val="1440"/>
              <a:buChar char="🡽"/>
              <a:defRPr sz="1600"/>
            </a:lvl6pPr>
            <a:lvl7pPr indent="-320039" lvl="6" marL="3200400" algn="l">
              <a:spcBef>
                <a:spcPts val="600"/>
              </a:spcBef>
              <a:spcAft>
                <a:spcPts val="0"/>
              </a:spcAft>
              <a:buSzPts val="1440"/>
              <a:buChar char="🡽"/>
              <a:defRPr sz="1600"/>
            </a:lvl7pPr>
            <a:lvl8pPr indent="-320040" lvl="7" marL="3657600" algn="l">
              <a:spcBef>
                <a:spcPts val="600"/>
              </a:spcBef>
              <a:spcAft>
                <a:spcPts val="0"/>
              </a:spcAft>
              <a:buSzPts val="1440"/>
              <a:buChar char="🡽"/>
              <a:defRPr sz="1600"/>
            </a:lvl8pPr>
            <a:lvl9pPr indent="-320040" lvl="8" marL="4114800" algn="l">
              <a:spcBef>
                <a:spcPts val="600"/>
              </a:spcBef>
              <a:spcAft>
                <a:spcPts val="0"/>
              </a:spcAft>
              <a:buSzPts val="1440"/>
              <a:buChar char="🡽"/>
              <a:defRPr sz="1600"/>
            </a:lvl9pPr>
          </a:lstStyle>
          <a:p/>
        </p:txBody>
      </p:sp>
      <p:sp>
        <p:nvSpPr>
          <p:cNvPr id="108" name="Google Shape;108;p71"/>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71"/>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71"/>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1" name="Shape 111"/>
        <p:cNvGrpSpPr/>
        <p:nvPr/>
      </p:nvGrpSpPr>
      <p:grpSpPr>
        <a:xfrm>
          <a:off x="0" y="0"/>
          <a:ext cx="0" cy="0"/>
          <a:chOff x="0" y="0"/>
          <a:chExt cx="0" cy="0"/>
        </a:xfrm>
      </p:grpSpPr>
      <p:sp>
        <p:nvSpPr>
          <p:cNvPr id="112" name="Google Shape;112;p72"/>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3" name="Google Shape;113;p72"/>
          <p:cNvGrpSpPr/>
          <p:nvPr/>
        </p:nvGrpSpPr>
        <p:grpSpPr>
          <a:xfrm>
            <a:off x="284163" y="1577847"/>
            <a:ext cx="8576373" cy="137411"/>
            <a:chOff x="284163" y="1577847"/>
            <a:chExt cx="8576373" cy="137411"/>
          </a:xfrm>
        </p:grpSpPr>
        <p:sp>
          <p:nvSpPr>
            <p:cNvPr id="114" name="Google Shape;114;p72"/>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 name="Google Shape;115;p72"/>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 name="Google Shape;116;p72"/>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17" name="Google Shape;117;p72"/>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72"/>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72"/>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7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1" name="Shape 121"/>
        <p:cNvGrpSpPr/>
        <p:nvPr/>
      </p:nvGrpSpPr>
      <p:grpSpPr>
        <a:xfrm>
          <a:off x="0" y="0"/>
          <a:ext cx="0" cy="0"/>
          <a:chOff x="0" y="0"/>
          <a:chExt cx="0" cy="0"/>
        </a:xfrm>
      </p:grpSpPr>
      <p:sp>
        <p:nvSpPr>
          <p:cNvPr id="122" name="Google Shape;122;p73"/>
          <p:cNvSpPr txBox="1"/>
          <p:nvPr>
            <p:ph type="title"/>
          </p:nvPr>
        </p:nvSpPr>
        <p:spPr>
          <a:xfrm>
            <a:off x="268941" y="1298762"/>
            <a:ext cx="4069080" cy="11620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chemeClr val="accent2"/>
              </a:buClr>
              <a:buSzPts val="3200"/>
              <a:buFont typeface="Corbel"/>
              <a:buNone/>
              <a:defRPr b="1" sz="32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73"/>
          <p:cNvSpPr txBox="1"/>
          <p:nvPr>
            <p:ph idx="1" type="body"/>
          </p:nvPr>
        </p:nvSpPr>
        <p:spPr>
          <a:xfrm>
            <a:off x="4783567" y="914400"/>
            <a:ext cx="4069080" cy="5211763"/>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124" name="Google Shape;124;p73"/>
          <p:cNvSpPr txBox="1"/>
          <p:nvPr>
            <p:ph idx="2" type="body"/>
          </p:nvPr>
        </p:nvSpPr>
        <p:spPr>
          <a:xfrm>
            <a:off x="268941" y="2456329"/>
            <a:ext cx="4069080" cy="3182472"/>
          </a:xfrm>
          <a:prstGeom prst="rect">
            <a:avLst/>
          </a:prstGeom>
          <a:noFill/>
          <a:ln>
            <a:noFill/>
          </a:ln>
        </p:spPr>
        <p:txBody>
          <a:bodyPr anchorCtr="0" anchor="t" bIns="45700" lIns="91425" spcFirstLastPara="1" rIns="91425" wrap="square" tIns="45700">
            <a:normAutofit/>
          </a:bodyPr>
          <a:lstStyle>
            <a:lvl1pPr indent="-228600" lvl="0" marL="457200" algn="ctr">
              <a:spcBef>
                <a:spcPts val="600"/>
              </a:spcBef>
              <a:spcAft>
                <a:spcPts val="0"/>
              </a:spcAft>
              <a:buSzPts val="1620"/>
              <a:buNone/>
              <a:defRPr sz="1800"/>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25" name="Google Shape;125;p73"/>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73"/>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73"/>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28" name="Google Shape;128;p73"/>
          <p:cNvGrpSpPr/>
          <p:nvPr/>
        </p:nvGrpSpPr>
        <p:grpSpPr>
          <a:xfrm>
            <a:off x="284163" y="452718"/>
            <a:ext cx="8576373" cy="137411"/>
            <a:chOff x="284163" y="1577847"/>
            <a:chExt cx="8576373" cy="137411"/>
          </a:xfrm>
        </p:grpSpPr>
        <p:sp>
          <p:nvSpPr>
            <p:cNvPr id="129" name="Google Shape;129;p73"/>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73"/>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 name="Google Shape;131;p73"/>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74"/>
          <p:cNvSpPr/>
          <p:nvPr/>
        </p:nvSpPr>
        <p:spPr>
          <a:xfrm>
            <a:off x="284163" y="4801575"/>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134" name="Google Shape;134;p74"/>
          <p:cNvGrpSpPr/>
          <p:nvPr/>
        </p:nvGrpSpPr>
        <p:grpSpPr>
          <a:xfrm>
            <a:off x="284163" y="6263389"/>
            <a:ext cx="8576373" cy="137411"/>
            <a:chOff x="284163" y="1759424"/>
            <a:chExt cx="8576373" cy="137411"/>
          </a:xfrm>
        </p:grpSpPr>
        <p:sp>
          <p:nvSpPr>
            <p:cNvPr id="135" name="Google Shape;135;p74"/>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74"/>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74"/>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8" name="Google Shape;138;p74"/>
          <p:cNvSpPr txBox="1"/>
          <p:nvPr>
            <p:ph type="title"/>
          </p:nvPr>
        </p:nvSpPr>
        <p:spPr>
          <a:xfrm>
            <a:off x="363071" y="4800600"/>
            <a:ext cx="8360242"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800"/>
              <a:buFont typeface="Corbel"/>
              <a:buNone/>
              <a:defRPr b="0" i="0" sz="280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74"/>
          <p:cNvSpPr/>
          <p:nvPr>
            <p:ph idx="2" type="pic"/>
          </p:nvPr>
        </p:nvSpPr>
        <p:spPr>
          <a:xfrm>
            <a:off x="284163" y="457199"/>
            <a:ext cx="8577072" cy="4352544"/>
          </a:xfrm>
          <a:prstGeom prst="rect">
            <a:avLst/>
          </a:prstGeom>
          <a:noFill/>
          <a:ln>
            <a:noFill/>
          </a:ln>
        </p:spPr>
      </p:sp>
      <p:sp>
        <p:nvSpPr>
          <p:cNvPr id="140" name="Google Shape;140;p74"/>
          <p:cNvSpPr txBox="1"/>
          <p:nvPr>
            <p:ph idx="1" type="body"/>
          </p:nvPr>
        </p:nvSpPr>
        <p:spPr>
          <a:xfrm>
            <a:off x="419099" y="5367338"/>
            <a:ext cx="8304213"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chemeClr val="lt1"/>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41" name="Google Shape;141;p74"/>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74"/>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74"/>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Alt.">
  <p:cSld name="Picture with Caption, Alt.">
    <p:spTree>
      <p:nvGrpSpPr>
        <p:cNvPr id="144" name="Shape 144"/>
        <p:cNvGrpSpPr/>
        <p:nvPr/>
      </p:nvGrpSpPr>
      <p:grpSpPr>
        <a:xfrm>
          <a:off x="0" y="0"/>
          <a:ext cx="0" cy="0"/>
          <a:chOff x="0" y="0"/>
          <a:chExt cx="0" cy="0"/>
        </a:xfrm>
      </p:grpSpPr>
      <p:grpSp>
        <p:nvGrpSpPr>
          <p:cNvPr id="145" name="Google Shape;145;p75"/>
          <p:cNvGrpSpPr/>
          <p:nvPr/>
        </p:nvGrpSpPr>
        <p:grpSpPr>
          <a:xfrm>
            <a:off x="284163" y="4280647"/>
            <a:ext cx="8576373" cy="137411"/>
            <a:chOff x="284163" y="1759424"/>
            <a:chExt cx="8576373" cy="137411"/>
          </a:xfrm>
        </p:grpSpPr>
        <p:sp>
          <p:nvSpPr>
            <p:cNvPr id="146" name="Google Shape;146;p75"/>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75"/>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75"/>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49" name="Google Shape;149;p75"/>
          <p:cNvSpPr txBox="1"/>
          <p:nvPr>
            <p:ph type="title"/>
          </p:nvPr>
        </p:nvSpPr>
        <p:spPr>
          <a:xfrm>
            <a:off x="363071" y="4778189"/>
            <a:ext cx="8360242"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2"/>
              </a:buClr>
              <a:buSzPts val="2800"/>
              <a:buFont typeface="Corbel"/>
              <a:buNone/>
              <a:defRPr b="0" sz="2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75"/>
          <p:cNvSpPr/>
          <p:nvPr>
            <p:ph idx="2" type="pic"/>
          </p:nvPr>
        </p:nvSpPr>
        <p:spPr>
          <a:xfrm>
            <a:off x="284163" y="457200"/>
            <a:ext cx="8577072" cy="3822192"/>
          </a:xfrm>
          <a:prstGeom prst="rect">
            <a:avLst/>
          </a:prstGeom>
          <a:noFill/>
          <a:ln>
            <a:noFill/>
          </a:ln>
        </p:spPr>
      </p:sp>
      <p:sp>
        <p:nvSpPr>
          <p:cNvPr id="151" name="Google Shape;151;p75"/>
          <p:cNvSpPr txBox="1"/>
          <p:nvPr>
            <p:ph idx="1" type="body"/>
          </p:nvPr>
        </p:nvSpPr>
        <p:spPr>
          <a:xfrm>
            <a:off x="419099" y="5344927"/>
            <a:ext cx="8304213"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rgbClr val="262626"/>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52" name="Google Shape;152;p75"/>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75"/>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75"/>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icture, and Caption">
  <p:cSld name="Content, Picture, and Caption">
    <p:spTree>
      <p:nvGrpSpPr>
        <p:cNvPr id="155" name="Shape 155"/>
        <p:cNvGrpSpPr/>
        <p:nvPr/>
      </p:nvGrpSpPr>
      <p:grpSpPr>
        <a:xfrm>
          <a:off x="0" y="0"/>
          <a:ext cx="0" cy="0"/>
          <a:chOff x="0" y="0"/>
          <a:chExt cx="0" cy="0"/>
        </a:xfrm>
      </p:grpSpPr>
      <p:sp>
        <p:nvSpPr>
          <p:cNvPr id="156" name="Google Shape;156;p76"/>
          <p:cNvSpPr txBox="1"/>
          <p:nvPr>
            <p:ph idx="1" type="body"/>
          </p:nvPr>
        </p:nvSpPr>
        <p:spPr>
          <a:xfrm>
            <a:off x="3657600" y="914400"/>
            <a:ext cx="5195047" cy="5211763"/>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157" name="Google Shape;157;p76"/>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76"/>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7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0" name="Google Shape;160;p76"/>
          <p:cNvSpPr/>
          <p:nvPr/>
        </p:nvSpPr>
        <p:spPr>
          <a:xfrm>
            <a:off x="284163" y="4267200"/>
            <a:ext cx="2743200" cy="2120153"/>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sp>
        <p:nvSpPr>
          <p:cNvPr id="161" name="Google Shape;161;p76"/>
          <p:cNvSpPr txBox="1"/>
          <p:nvPr>
            <p:ph idx="2" type="body"/>
          </p:nvPr>
        </p:nvSpPr>
        <p:spPr>
          <a:xfrm>
            <a:off x="419101" y="4953001"/>
            <a:ext cx="2472017" cy="1246094"/>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chemeClr val="lt1"/>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62" name="Google Shape;162;p76"/>
          <p:cNvSpPr txBox="1"/>
          <p:nvPr>
            <p:ph type="title"/>
          </p:nvPr>
        </p:nvSpPr>
        <p:spPr>
          <a:xfrm>
            <a:off x="410764" y="4419600"/>
            <a:ext cx="2475395" cy="51098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000"/>
              <a:buFont typeface="Corbel"/>
              <a:buNone/>
              <a:defRPr b="1" sz="2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76"/>
          <p:cNvSpPr/>
          <p:nvPr>
            <p:ph idx="3" type="pic"/>
          </p:nvPr>
        </p:nvSpPr>
        <p:spPr>
          <a:xfrm>
            <a:off x="284164" y="594360"/>
            <a:ext cx="2743200" cy="3675888"/>
          </a:xfrm>
          <a:prstGeom prst="rect">
            <a:avLst/>
          </a:prstGeom>
          <a:noFill/>
          <a:ln>
            <a:noFill/>
          </a:ln>
        </p:spPr>
      </p:sp>
      <p:grpSp>
        <p:nvGrpSpPr>
          <p:cNvPr id="164" name="Google Shape;164;p76"/>
          <p:cNvGrpSpPr/>
          <p:nvPr/>
        </p:nvGrpSpPr>
        <p:grpSpPr>
          <a:xfrm>
            <a:off x="284163" y="461682"/>
            <a:ext cx="8576373" cy="137411"/>
            <a:chOff x="284163" y="1759424"/>
            <a:chExt cx="8576373" cy="137411"/>
          </a:xfrm>
        </p:grpSpPr>
        <p:sp>
          <p:nvSpPr>
            <p:cNvPr id="165" name="Google Shape;165;p76"/>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76"/>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76"/>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s with Caption">
  <p:cSld name="3 Pictures with Caption">
    <p:spTree>
      <p:nvGrpSpPr>
        <p:cNvPr id="168" name="Shape 168"/>
        <p:cNvGrpSpPr/>
        <p:nvPr/>
      </p:nvGrpSpPr>
      <p:grpSpPr>
        <a:xfrm>
          <a:off x="0" y="0"/>
          <a:ext cx="0" cy="0"/>
          <a:chOff x="0" y="0"/>
          <a:chExt cx="0" cy="0"/>
        </a:xfrm>
      </p:grpSpPr>
      <p:sp>
        <p:nvSpPr>
          <p:cNvPr id="169" name="Google Shape;169;p77"/>
          <p:cNvSpPr/>
          <p:nvPr/>
        </p:nvSpPr>
        <p:spPr>
          <a:xfrm>
            <a:off x="3021013" y="4801575"/>
            <a:ext cx="583723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170" name="Google Shape;170;p77"/>
          <p:cNvGrpSpPr/>
          <p:nvPr/>
        </p:nvGrpSpPr>
        <p:grpSpPr>
          <a:xfrm>
            <a:off x="284163" y="6263389"/>
            <a:ext cx="8576373" cy="137411"/>
            <a:chOff x="284163" y="1759424"/>
            <a:chExt cx="8576373" cy="137411"/>
          </a:xfrm>
        </p:grpSpPr>
        <p:sp>
          <p:nvSpPr>
            <p:cNvPr id="171" name="Google Shape;171;p77"/>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77"/>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77"/>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74" name="Google Shape;174;p77"/>
          <p:cNvSpPr txBox="1"/>
          <p:nvPr>
            <p:ph type="title"/>
          </p:nvPr>
        </p:nvSpPr>
        <p:spPr>
          <a:xfrm>
            <a:off x="3031661" y="4800600"/>
            <a:ext cx="5691651"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800"/>
              <a:buFont typeface="Corbel"/>
              <a:buNone/>
              <a:defRPr b="0" i="0" sz="280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77"/>
          <p:cNvSpPr/>
          <p:nvPr>
            <p:ph idx="2" type="pic"/>
          </p:nvPr>
        </p:nvSpPr>
        <p:spPr>
          <a:xfrm>
            <a:off x="3021014" y="457199"/>
            <a:ext cx="5833872" cy="4352544"/>
          </a:xfrm>
          <a:prstGeom prst="rect">
            <a:avLst/>
          </a:prstGeom>
          <a:noFill/>
          <a:ln>
            <a:noFill/>
          </a:ln>
        </p:spPr>
      </p:sp>
      <p:sp>
        <p:nvSpPr>
          <p:cNvPr id="176" name="Google Shape;176;p77"/>
          <p:cNvSpPr txBox="1"/>
          <p:nvPr>
            <p:ph idx="1" type="body"/>
          </p:nvPr>
        </p:nvSpPr>
        <p:spPr>
          <a:xfrm>
            <a:off x="3069805" y="5367338"/>
            <a:ext cx="5653507"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chemeClr val="lt1"/>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77" name="Google Shape;177;p77"/>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77"/>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77"/>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0" name="Google Shape;180;p77"/>
          <p:cNvSpPr/>
          <p:nvPr>
            <p:ph idx="3" type="pic"/>
          </p:nvPr>
        </p:nvSpPr>
        <p:spPr>
          <a:xfrm>
            <a:off x="284164" y="457200"/>
            <a:ext cx="2736850" cy="2907792"/>
          </a:xfrm>
          <a:prstGeom prst="rect">
            <a:avLst/>
          </a:prstGeom>
          <a:noFill/>
          <a:ln>
            <a:noFill/>
          </a:ln>
        </p:spPr>
      </p:sp>
      <p:sp>
        <p:nvSpPr>
          <p:cNvPr id="181" name="Google Shape;181;p77"/>
          <p:cNvSpPr/>
          <p:nvPr>
            <p:ph idx="4" type="pic"/>
          </p:nvPr>
        </p:nvSpPr>
        <p:spPr>
          <a:xfrm>
            <a:off x="284164" y="3364992"/>
            <a:ext cx="2736850" cy="2898648"/>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2" name="Shape 182"/>
        <p:cNvGrpSpPr/>
        <p:nvPr/>
      </p:nvGrpSpPr>
      <p:grpSpPr>
        <a:xfrm>
          <a:off x="0" y="0"/>
          <a:ext cx="0" cy="0"/>
          <a:chOff x="0" y="0"/>
          <a:chExt cx="0" cy="0"/>
        </a:xfrm>
      </p:grpSpPr>
      <p:sp>
        <p:nvSpPr>
          <p:cNvPr id="183" name="Google Shape;183;p78"/>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4" name="Google Shape;184;p78"/>
          <p:cNvGrpSpPr/>
          <p:nvPr/>
        </p:nvGrpSpPr>
        <p:grpSpPr>
          <a:xfrm>
            <a:off x="284163" y="1577847"/>
            <a:ext cx="8576373" cy="137411"/>
            <a:chOff x="284163" y="1577847"/>
            <a:chExt cx="8576373" cy="137411"/>
          </a:xfrm>
        </p:grpSpPr>
        <p:sp>
          <p:nvSpPr>
            <p:cNvPr id="185" name="Google Shape;185;p78"/>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78"/>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 name="Google Shape;187;p78"/>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88" name="Google Shape;188;p78"/>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78"/>
          <p:cNvSpPr txBox="1"/>
          <p:nvPr>
            <p:ph idx="1" type="body"/>
          </p:nvPr>
        </p:nvSpPr>
        <p:spPr>
          <a:xfrm rot="5400000">
            <a:off x="2564607" y="-146843"/>
            <a:ext cx="4013200" cy="8574087"/>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190" name="Google Shape;190;p78"/>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78"/>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7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3" name="Shape 193"/>
        <p:cNvGrpSpPr/>
        <p:nvPr/>
      </p:nvGrpSpPr>
      <p:grpSpPr>
        <a:xfrm>
          <a:off x="0" y="0"/>
          <a:ext cx="0" cy="0"/>
          <a:chOff x="0" y="0"/>
          <a:chExt cx="0" cy="0"/>
        </a:xfrm>
      </p:grpSpPr>
      <p:sp>
        <p:nvSpPr>
          <p:cNvPr id="194" name="Google Shape;194;p79"/>
          <p:cNvSpPr/>
          <p:nvPr/>
        </p:nvSpPr>
        <p:spPr>
          <a:xfrm rot="5400000">
            <a:off x="5313882" y="2857535"/>
            <a:ext cx="5934615"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79"/>
          <p:cNvSpPr txBox="1"/>
          <p:nvPr>
            <p:ph type="title"/>
          </p:nvPr>
        </p:nvSpPr>
        <p:spPr>
          <a:xfrm rot="5400000">
            <a:off x="5219069" y="2949131"/>
            <a:ext cx="5921375" cy="969264"/>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400"/>
              <a:buFont typeface="Corbel"/>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79"/>
          <p:cNvSpPr txBox="1"/>
          <p:nvPr>
            <p:ph idx="1" type="body"/>
          </p:nvPr>
        </p:nvSpPr>
        <p:spPr>
          <a:xfrm rot="5400000">
            <a:off x="564357" y="177007"/>
            <a:ext cx="5937250" cy="6497637"/>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197" name="Google Shape;197;p79"/>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79"/>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79"/>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200" name="Google Shape;200;p79"/>
          <p:cNvGrpSpPr/>
          <p:nvPr/>
        </p:nvGrpSpPr>
        <p:grpSpPr>
          <a:xfrm rot="5400000">
            <a:off x="4658724" y="3355723"/>
            <a:ext cx="5934456" cy="137411"/>
            <a:chOff x="284163" y="1577847"/>
            <a:chExt cx="8576373" cy="137411"/>
          </a:xfrm>
        </p:grpSpPr>
        <p:sp>
          <p:nvSpPr>
            <p:cNvPr id="201" name="Google Shape;201;p79"/>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79"/>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79"/>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04" name="Shape 204"/>
        <p:cNvGrpSpPr/>
        <p:nvPr/>
      </p:nvGrpSpPr>
      <p:grpSpPr>
        <a:xfrm>
          <a:off x="0" y="0"/>
          <a:ext cx="0" cy="0"/>
          <a:chOff x="0" y="0"/>
          <a:chExt cx="0" cy="0"/>
        </a:xfrm>
      </p:grpSpPr>
      <p:sp>
        <p:nvSpPr>
          <p:cNvPr id="205" name="Google Shape;205;p80"/>
          <p:cNvSpPr txBox="1"/>
          <p:nvPr>
            <p:ph type="title"/>
          </p:nvPr>
        </p:nvSpPr>
        <p:spPr>
          <a:xfrm>
            <a:off x="47625" y="60325"/>
            <a:ext cx="9048750" cy="83820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80"/>
          <p:cNvSpPr txBox="1"/>
          <p:nvPr>
            <p:ph idx="1" type="body"/>
          </p:nvPr>
        </p:nvSpPr>
        <p:spPr>
          <a:xfrm>
            <a:off x="28575" y="1019177"/>
            <a:ext cx="4465638" cy="5457825"/>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207" name="Google Shape;207;p80"/>
          <p:cNvSpPr txBox="1"/>
          <p:nvPr>
            <p:ph idx="2" type="body"/>
          </p:nvPr>
        </p:nvSpPr>
        <p:spPr>
          <a:xfrm>
            <a:off x="4646613" y="1019177"/>
            <a:ext cx="4465637" cy="5457825"/>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208" name="Google Shape;208;p80"/>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80"/>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80"/>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400">
                <a:solidFill>
                  <a:srgbClr val="262626"/>
                </a:solidFill>
                <a:latin typeface="Calibri"/>
                <a:ea typeface="Calibri"/>
                <a:cs typeface="Calibri"/>
                <a:sym typeface="Calibri"/>
              </a:defRPr>
            </a:lvl1pPr>
            <a:lvl2pPr indent="0" lvl="1" marL="0" algn="r">
              <a:spcBef>
                <a:spcPts val="0"/>
              </a:spcBef>
              <a:buNone/>
              <a:defRPr b="1" sz="1400">
                <a:solidFill>
                  <a:srgbClr val="262626"/>
                </a:solidFill>
                <a:latin typeface="Calibri"/>
                <a:ea typeface="Calibri"/>
                <a:cs typeface="Calibri"/>
                <a:sym typeface="Calibri"/>
              </a:defRPr>
            </a:lvl2pPr>
            <a:lvl3pPr indent="0" lvl="2" marL="0" algn="r">
              <a:spcBef>
                <a:spcPts val="0"/>
              </a:spcBef>
              <a:buNone/>
              <a:defRPr b="1" sz="1400">
                <a:solidFill>
                  <a:srgbClr val="262626"/>
                </a:solidFill>
                <a:latin typeface="Calibri"/>
                <a:ea typeface="Calibri"/>
                <a:cs typeface="Calibri"/>
                <a:sym typeface="Calibri"/>
              </a:defRPr>
            </a:lvl3pPr>
            <a:lvl4pPr indent="0" lvl="3" marL="0" algn="r">
              <a:spcBef>
                <a:spcPts val="0"/>
              </a:spcBef>
              <a:buNone/>
              <a:defRPr b="1" sz="1400">
                <a:solidFill>
                  <a:srgbClr val="262626"/>
                </a:solidFill>
                <a:latin typeface="Calibri"/>
                <a:ea typeface="Calibri"/>
                <a:cs typeface="Calibri"/>
                <a:sym typeface="Calibri"/>
              </a:defRPr>
            </a:lvl4pPr>
            <a:lvl5pPr indent="0" lvl="4" marL="0" algn="r">
              <a:spcBef>
                <a:spcPts val="0"/>
              </a:spcBef>
              <a:buNone/>
              <a:defRPr b="1" sz="1400">
                <a:solidFill>
                  <a:srgbClr val="262626"/>
                </a:solidFill>
                <a:latin typeface="Calibri"/>
                <a:ea typeface="Calibri"/>
                <a:cs typeface="Calibri"/>
                <a:sym typeface="Calibri"/>
              </a:defRPr>
            </a:lvl5pPr>
            <a:lvl6pPr indent="0" lvl="5" marL="0" algn="r">
              <a:spcBef>
                <a:spcPts val="0"/>
              </a:spcBef>
              <a:buNone/>
              <a:defRPr b="1" sz="1400">
                <a:solidFill>
                  <a:srgbClr val="262626"/>
                </a:solidFill>
                <a:latin typeface="Calibri"/>
                <a:ea typeface="Calibri"/>
                <a:cs typeface="Calibri"/>
                <a:sym typeface="Calibri"/>
              </a:defRPr>
            </a:lvl6pPr>
            <a:lvl7pPr indent="0" lvl="6" marL="0" algn="r">
              <a:spcBef>
                <a:spcPts val="0"/>
              </a:spcBef>
              <a:buNone/>
              <a:defRPr b="1" sz="1400">
                <a:solidFill>
                  <a:srgbClr val="262626"/>
                </a:solidFill>
                <a:latin typeface="Calibri"/>
                <a:ea typeface="Calibri"/>
                <a:cs typeface="Calibri"/>
                <a:sym typeface="Calibri"/>
              </a:defRPr>
            </a:lvl7pPr>
            <a:lvl8pPr indent="0" lvl="7" marL="0" algn="r">
              <a:spcBef>
                <a:spcPts val="0"/>
              </a:spcBef>
              <a:buNone/>
              <a:defRPr b="1" sz="1400">
                <a:solidFill>
                  <a:srgbClr val="262626"/>
                </a:solidFill>
                <a:latin typeface="Calibri"/>
                <a:ea typeface="Calibri"/>
                <a:cs typeface="Calibri"/>
                <a:sym typeface="Calibri"/>
              </a:defRPr>
            </a:lvl8pPr>
            <a:lvl9pPr indent="0" lvl="8" marL="0" algn="r">
              <a:spcBef>
                <a:spcPts val="0"/>
              </a:spcBef>
              <a:buNone/>
              <a:defRPr b="1" sz="1400">
                <a:solidFill>
                  <a:srgbClr val="262626"/>
                </a:solidFill>
                <a:latin typeface="Calibri"/>
                <a:ea typeface="Calibri"/>
                <a:cs typeface="Calibri"/>
                <a:sym typeface="Calibri"/>
              </a:defRPr>
            </a:lvl9pPr>
          </a:lstStyle>
          <a:p>
            <a:pPr indent="0" lvl="0" marL="0" rtl="0" algn="r">
              <a:spcBef>
                <a:spcPts val="0"/>
              </a:spcBef>
              <a:spcAft>
                <a:spcPts val="0"/>
              </a:spcAft>
              <a:buNone/>
            </a:pPr>
            <a:r>
              <a:rPr lang="en-US"/>
              <a:t>Dynamic Programming🡪</a:t>
            </a: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211" name="Shape 211"/>
        <p:cNvGrpSpPr/>
        <p:nvPr/>
      </p:nvGrpSpPr>
      <p:grpSpPr>
        <a:xfrm>
          <a:off x="0" y="0"/>
          <a:ext cx="0" cy="0"/>
          <a:chOff x="0" y="0"/>
          <a:chExt cx="0" cy="0"/>
        </a:xfrm>
      </p:grpSpPr>
      <p:sp>
        <p:nvSpPr>
          <p:cNvPr id="212" name="Google Shape;212;p81"/>
          <p:cNvSpPr txBox="1"/>
          <p:nvPr>
            <p:ph type="title"/>
          </p:nvPr>
        </p:nvSpPr>
        <p:spPr>
          <a:xfrm>
            <a:off x="47625" y="60325"/>
            <a:ext cx="9048750" cy="83820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81"/>
          <p:cNvSpPr txBox="1"/>
          <p:nvPr>
            <p:ph idx="1" type="body"/>
          </p:nvPr>
        </p:nvSpPr>
        <p:spPr>
          <a:xfrm>
            <a:off x="28575" y="1019177"/>
            <a:ext cx="4465638" cy="5457825"/>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214" name="Google Shape;214;p81"/>
          <p:cNvSpPr txBox="1"/>
          <p:nvPr>
            <p:ph idx="2" type="body"/>
          </p:nvPr>
        </p:nvSpPr>
        <p:spPr>
          <a:xfrm>
            <a:off x="4646613" y="1019177"/>
            <a:ext cx="4465637" cy="2652713"/>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215" name="Google Shape;215;p81"/>
          <p:cNvSpPr txBox="1"/>
          <p:nvPr>
            <p:ph idx="3" type="body"/>
          </p:nvPr>
        </p:nvSpPr>
        <p:spPr>
          <a:xfrm>
            <a:off x="4646613" y="3824288"/>
            <a:ext cx="4465637" cy="2652712"/>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216" name="Google Shape;216;p81"/>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81"/>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81"/>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400">
                <a:solidFill>
                  <a:srgbClr val="262626"/>
                </a:solidFill>
                <a:latin typeface="Calibri"/>
                <a:ea typeface="Calibri"/>
                <a:cs typeface="Calibri"/>
                <a:sym typeface="Calibri"/>
              </a:defRPr>
            </a:lvl1pPr>
            <a:lvl2pPr indent="0" lvl="1" marL="0" algn="r">
              <a:spcBef>
                <a:spcPts val="0"/>
              </a:spcBef>
              <a:buNone/>
              <a:defRPr b="1" sz="1400">
                <a:solidFill>
                  <a:srgbClr val="262626"/>
                </a:solidFill>
                <a:latin typeface="Calibri"/>
                <a:ea typeface="Calibri"/>
                <a:cs typeface="Calibri"/>
                <a:sym typeface="Calibri"/>
              </a:defRPr>
            </a:lvl2pPr>
            <a:lvl3pPr indent="0" lvl="2" marL="0" algn="r">
              <a:spcBef>
                <a:spcPts val="0"/>
              </a:spcBef>
              <a:buNone/>
              <a:defRPr b="1" sz="1400">
                <a:solidFill>
                  <a:srgbClr val="262626"/>
                </a:solidFill>
                <a:latin typeface="Calibri"/>
                <a:ea typeface="Calibri"/>
                <a:cs typeface="Calibri"/>
                <a:sym typeface="Calibri"/>
              </a:defRPr>
            </a:lvl3pPr>
            <a:lvl4pPr indent="0" lvl="3" marL="0" algn="r">
              <a:spcBef>
                <a:spcPts val="0"/>
              </a:spcBef>
              <a:buNone/>
              <a:defRPr b="1" sz="1400">
                <a:solidFill>
                  <a:srgbClr val="262626"/>
                </a:solidFill>
                <a:latin typeface="Calibri"/>
                <a:ea typeface="Calibri"/>
                <a:cs typeface="Calibri"/>
                <a:sym typeface="Calibri"/>
              </a:defRPr>
            </a:lvl4pPr>
            <a:lvl5pPr indent="0" lvl="4" marL="0" algn="r">
              <a:spcBef>
                <a:spcPts val="0"/>
              </a:spcBef>
              <a:buNone/>
              <a:defRPr b="1" sz="1400">
                <a:solidFill>
                  <a:srgbClr val="262626"/>
                </a:solidFill>
                <a:latin typeface="Calibri"/>
                <a:ea typeface="Calibri"/>
                <a:cs typeface="Calibri"/>
                <a:sym typeface="Calibri"/>
              </a:defRPr>
            </a:lvl5pPr>
            <a:lvl6pPr indent="0" lvl="5" marL="0" algn="r">
              <a:spcBef>
                <a:spcPts val="0"/>
              </a:spcBef>
              <a:buNone/>
              <a:defRPr b="1" sz="1400">
                <a:solidFill>
                  <a:srgbClr val="262626"/>
                </a:solidFill>
                <a:latin typeface="Calibri"/>
                <a:ea typeface="Calibri"/>
                <a:cs typeface="Calibri"/>
                <a:sym typeface="Calibri"/>
              </a:defRPr>
            </a:lvl6pPr>
            <a:lvl7pPr indent="0" lvl="6" marL="0" algn="r">
              <a:spcBef>
                <a:spcPts val="0"/>
              </a:spcBef>
              <a:buNone/>
              <a:defRPr b="1" sz="1400">
                <a:solidFill>
                  <a:srgbClr val="262626"/>
                </a:solidFill>
                <a:latin typeface="Calibri"/>
                <a:ea typeface="Calibri"/>
                <a:cs typeface="Calibri"/>
                <a:sym typeface="Calibri"/>
              </a:defRPr>
            </a:lvl7pPr>
            <a:lvl8pPr indent="0" lvl="7" marL="0" algn="r">
              <a:spcBef>
                <a:spcPts val="0"/>
              </a:spcBef>
              <a:buNone/>
              <a:defRPr b="1" sz="1400">
                <a:solidFill>
                  <a:srgbClr val="262626"/>
                </a:solidFill>
                <a:latin typeface="Calibri"/>
                <a:ea typeface="Calibri"/>
                <a:cs typeface="Calibri"/>
                <a:sym typeface="Calibri"/>
              </a:defRPr>
            </a:lvl8pPr>
            <a:lvl9pPr indent="0" lvl="8" marL="0" algn="r">
              <a:spcBef>
                <a:spcPts val="0"/>
              </a:spcBef>
              <a:buNone/>
              <a:defRPr b="1" sz="1400">
                <a:solidFill>
                  <a:srgbClr val="262626"/>
                </a:solidFill>
                <a:latin typeface="Calibri"/>
                <a:ea typeface="Calibri"/>
                <a:cs typeface="Calibri"/>
                <a:sym typeface="Calibri"/>
              </a:defRPr>
            </a:lvl9pPr>
          </a:lstStyle>
          <a:p>
            <a:pPr indent="0" lvl="0" marL="0" rtl="0" algn="r">
              <a:spcBef>
                <a:spcPts val="0"/>
              </a:spcBef>
              <a:spcAft>
                <a:spcPts val="0"/>
              </a:spcAft>
              <a:buNone/>
            </a:pPr>
            <a:r>
              <a:rPr lang="en-US"/>
              <a:t>Dynamic Programming🡪</a:t>
            </a: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5" name="Shape 225"/>
        <p:cNvGrpSpPr/>
        <p:nvPr/>
      </p:nvGrpSpPr>
      <p:grpSpPr>
        <a:xfrm>
          <a:off x="0" y="0"/>
          <a:ext cx="0" cy="0"/>
          <a:chOff x="0" y="0"/>
          <a:chExt cx="0" cy="0"/>
        </a:xfrm>
      </p:grpSpPr>
      <p:sp>
        <p:nvSpPr>
          <p:cNvPr id="226" name="Google Shape;226;p6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6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8" name="Google Shape;228;p6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6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6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1" name="Shape 231"/>
        <p:cNvGrpSpPr/>
        <p:nvPr/>
      </p:nvGrpSpPr>
      <p:grpSpPr>
        <a:xfrm>
          <a:off x="0" y="0"/>
          <a:ext cx="0" cy="0"/>
          <a:chOff x="0" y="0"/>
          <a:chExt cx="0" cy="0"/>
        </a:xfrm>
      </p:grpSpPr>
      <p:sp>
        <p:nvSpPr>
          <p:cNvPr id="232" name="Google Shape;232;p82"/>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 name="Google Shape;233;p82"/>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34" name="Google Shape;234;p8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5" name="Google Shape;235;p8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8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7" name="Shape 237"/>
        <p:cNvGrpSpPr/>
        <p:nvPr/>
      </p:nvGrpSpPr>
      <p:grpSpPr>
        <a:xfrm>
          <a:off x="0" y="0"/>
          <a:ext cx="0" cy="0"/>
          <a:chOff x="0" y="0"/>
          <a:chExt cx="0" cy="0"/>
        </a:xfrm>
      </p:grpSpPr>
      <p:sp>
        <p:nvSpPr>
          <p:cNvPr id="238" name="Google Shape;238;p83"/>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 name="Google Shape;239;p83"/>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240" name="Google Shape;240;p8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8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8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43" name="Shape 243"/>
        <p:cNvGrpSpPr/>
        <p:nvPr/>
      </p:nvGrpSpPr>
      <p:grpSpPr>
        <a:xfrm>
          <a:off x="0" y="0"/>
          <a:ext cx="0" cy="0"/>
          <a:chOff x="0" y="0"/>
          <a:chExt cx="0" cy="0"/>
        </a:xfrm>
      </p:grpSpPr>
      <p:sp>
        <p:nvSpPr>
          <p:cNvPr id="244" name="Google Shape;244;p8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5" name="Google Shape;245;p84"/>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6" name="Google Shape;246;p84"/>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7" name="Google Shape;247;p8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8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8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50" name="Shape 250"/>
        <p:cNvGrpSpPr/>
        <p:nvPr/>
      </p:nvGrpSpPr>
      <p:grpSpPr>
        <a:xfrm>
          <a:off x="0" y="0"/>
          <a:ext cx="0" cy="0"/>
          <a:chOff x="0" y="0"/>
          <a:chExt cx="0" cy="0"/>
        </a:xfrm>
      </p:grpSpPr>
      <p:sp>
        <p:nvSpPr>
          <p:cNvPr id="251" name="Google Shape;251;p85"/>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85"/>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53" name="Google Shape;253;p85"/>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4" name="Google Shape;254;p85"/>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55" name="Google Shape;255;p85"/>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6" name="Google Shape;256;p8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8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8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9" name="Shape 259"/>
        <p:cNvGrpSpPr/>
        <p:nvPr/>
      </p:nvGrpSpPr>
      <p:grpSpPr>
        <a:xfrm>
          <a:off x="0" y="0"/>
          <a:ext cx="0" cy="0"/>
          <a:chOff x="0" y="0"/>
          <a:chExt cx="0" cy="0"/>
        </a:xfrm>
      </p:grpSpPr>
      <p:sp>
        <p:nvSpPr>
          <p:cNvPr id="260" name="Google Shape;260;p8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8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2" name="Google Shape;262;p8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8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4" name="Shape 264"/>
        <p:cNvGrpSpPr/>
        <p:nvPr/>
      </p:nvGrpSpPr>
      <p:grpSpPr>
        <a:xfrm>
          <a:off x="0" y="0"/>
          <a:ext cx="0" cy="0"/>
          <a:chOff x="0" y="0"/>
          <a:chExt cx="0" cy="0"/>
        </a:xfrm>
      </p:grpSpPr>
      <p:sp>
        <p:nvSpPr>
          <p:cNvPr id="265" name="Google Shape;265;p8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6" name="Google Shape;266;p8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7" name="Google Shape;267;p8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68" name="Shape 268"/>
        <p:cNvGrpSpPr/>
        <p:nvPr/>
      </p:nvGrpSpPr>
      <p:grpSpPr>
        <a:xfrm>
          <a:off x="0" y="0"/>
          <a:ext cx="0" cy="0"/>
          <a:chOff x="0" y="0"/>
          <a:chExt cx="0" cy="0"/>
        </a:xfrm>
      </p:grpSpPr>
      <p:sp>
        <p:nvSpPr>
          <p:cNvPr id="269" name="Google Shape;269;p8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88"/>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271" name="Google Shape;271;p88"/>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72" name="Google Shape;272;p8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8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8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75" name="Shape 275"/>
        <p:cNvGrpSpPr/>
        <p:nvPr/>
      </p:nvGrpSpPr>
      <p:grpSpPr>
        <a:xfrm>
          <a:off x="0" y="0"/>
          <a:ext cx="0" cy="0"/>
          <a:chOff x="0" y="0"/>
          <a:chExt cx="0" cy="0"/>
        </a:xfrm>
      </p:grpSpPr>
      <p:sp>
        <p:nvSpPr>
          <p:cNvPr id="276" name="Google Shape;276;p8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7" name="Google Shape;277;p89"/>
          <p:cNvSpPr/>
          <p:nvPr>
            <p:ph idx="2" type="pic"/>
          </p:nvPr>
        </p:nvSpPr>
        <p:spPr>
          <a:xfrm>
            <a:off x="3887391" y="987426"/>
            <a:ext cx="4629150" cy="4873625"/>
          </a:xfrm>
          <a:prstGeom prst="rect">
            <a:avLst/>
          </a:prstGeom>
          <a:noFill/>
          <a:ln>
            <a:noFill/>
          </a:ln>
        </p:spPr>
      </p:sp>
      <p:sp>
        <p:nvSpPr>
          <p:cNvPr id="278" name="Google Shape;278;p89"/>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79" name="Google Shape;279;p8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0" name="Google Shape;280;p8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1" name="Google Shape;281;p8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82" name="Shape 282"/>
        <p:cNvGrpSpPr/>
        <p:nvPr/>
      </p:nvGrpSpPr>
      <p:grpSpPr>
        <a:xfrm>
          <a:off x="0" y="0"/>
          <a:ext cx="0" cy="0"/>
          <a:chOff x="0" y="0"/>
          <a:chExt cx="0" cy="0"/>
        </a:xfrm>
      </p:grpSpPr>
      <p:sp>
        <p:nvSpPr>
          <p:cNvPr id="283" name="Google Shape;283;p9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90"/>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85" name="Google Shape;285;p9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9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7" name="Google Shape;287;p9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88" name="Shape 288"/>
        <p:cNvGrpSpPr/>
        <p:nvPr/>
      </p:nvGrpSpPr>
      <p:grpSpPr>
        <a:xfrm>
          <a:off x="0" y="0"/>
          <a:ext cx="0" cy="0"/>
          <a:chOff x="0" y="0"/>
          <a:chExt cx="0" cy="0"/>
        </a:xfrm>
      </p:grpSpPr>
      <p:sp>
        <p:nvSpPr>
          <p:cNvPr id="289" name="Google Shape;289;p91"/>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0" name="Google Shape;290;p91"/>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91" name="Google Shape;291;p9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2" name="Google Shape;292;p9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3" name="Google Shape;293;p9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9.xml"/><Relationship Id="rId10" Type="http://schemas.openxmlformats.org/officeDocument/2006/relationships/slideLayout" Target="../slideLayouts/slideLayout28.xml"/><Relationship Id="rId12" Type="http://schemas.openxmlformats.org/officeDocument/2006/relationships/theme" Target="../theme/theme1.xml"/><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9" Type="http://schemas.openxmlformats.org/officeDocument/2006/relationships/slideLayout" Target="../slideLayouts/slideLayout27.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1"/>
          <p:cNvSpPr txBox="1"/>
          <p:nvPr>
            <p:ph idx="1" type="body"/>
          </p:nvPr>
        </p:nvSpPr>
        <p:spPr>
          <a:xfrm>
            <a:off x="1781503" y="2133600"/>
            <a:ext cx="7076747" cy="3992563"/>
          </a:xfrm>
          <a:prstGeom prst="rect">
            <a:avLst/>
          </a:prstGeom>
          <a:noFill/>
          <a:ln>
            <a:noFill/>
          </a:ln>
        </p:spPr>
        <p:txBody>
          <a:bodyPr anchorCtr="0" anchor="t" bIns="45700" lIns="91425" spcFirstLastPara="1" rIns="91425" wrap="square" tIns="45700">
            <a:normAutofit/>
          </a:bodyPr>
          <a:lstStyle>
            <a:lvl1pPr indent="-365760" lvl="0" marL="457200" marR="0" rtl="0" algn="l">
              <a:spcBef>
                <a:spcPts val="2000"/>
              </a:spcBef>
              <a:spcAft>
                <a:spcPts val="0"/>
              </a:spcAft>
              <a:buClr>
                <a:srgbClr val="A5A5A5"/>
              </a:buClr>
              <a:buSzPts val="2160"/>
              <a:buFont typeface="Noto Sans Symbols"/>
              <a:buChar char="🡽"/>
              <a:defRPr b="0" i="0" sz="2400" u="none" cap="none" strike="noStrike">
                <a:solidFill>
                  <a:srgbClr val="262626"/>
                </a:solidFill>
                <a:latin typeface="Calibri"/>
                <a:ea typeface="Calibri"/>
                <a:cs typeface="Calibri"/>
                <a:sym typeface="Calibri"/>
              </a:defRPr>
            </a:lvl1pPr>
            <a:lvl2pPr indent="-354330" lvl="1" marL="914400" marR="0" rtl="0" algn="l">
              <a:spcBef>
                <a:spcPts val="600"/>
              </a:spcBef>
              <a:spcAft>
                <a:spcPts val="0"/>
              </a:spcAft>
              <a:buClr>
                <a:srgbClr val="3F3F3F"/>
              </a:buClr>
              <a:buSzPts val="1980"/>
              <a:buFont typeface="Noto Sans Symbols"/>
              <a:buChar char="🡽"/>
              <a:defRPr b="0" i="0" sz="2200" u="none" cap="none" strike="noStrike">
                <a:solidFill>
                  <a:srgbClr val="262626"/>
                </a:solidFill>
                <a:latin typeface="Calibri"/>
                <a:ea typeface="Calibri"/>
                <a:cs typeface="Calibri"/>
                <a:sym typeface="Calibri"/>
              </a:defRPr>
            </a:lvl2pPr>
            <a:lvl3pPr indent="-342900" lvl="2" marL="1371600" marR="0" rtl="0" algn="l">
              <a:spcBef>
                <a:spcPts val="600"/>
              </a:spcBef>
              <a:spcAft>
                <a:spcPts val="0"/>
              </a:spcAft>
              <a:buClr>
                <a:srgbClr val="A5A5A5"/>
              </a:buClr>
              <a:buSzPts val="1800"/>
              <a:buFont typeface="Noto Sans Symbols"/>
              <a:buChar char="🡽"/>
              <a:defRPr b="0" i="0" sz="2000" u="none" cap="none" strike="noStrike">
                <a:solidFill>
                  <a:srgbClr val="262626"/>
                </a:solidFill>
                <a:latin typeface="Calibri"/>
                <a:ea typeface="Calibri"/>
                <a:cs typeface="Calibri"/>
                <a:sym typeface="Calibri"/>
              </a:defRPr>
            </a:lvl3pPr>
            <a:lvl4pPr indent="-331469" lvl="3" marL="1828800" marR="0" rtl="0" algn="l">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4pPr>
            <a:lvl5pPr indent="-331470" lvl="4" marL="2286000" marR="0" rtl="0" algn="l">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5pPr>
            <a:lvl6pPr indent="-331470" lvl="5" marL="2743200" marR="0" rtl="0" algn="l">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6pPr>
            <a:lvl7pPr indent="-331470" lvl="6" marL="3200400" marR="0" rtl="0" algn="l">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7pPr>
            <a:lvl8pPr indent="-331470" lvl="7" marL="3657600" marR="0" rtl="0" algn="l">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8pPr>
            <a:lvl9pPr indent="-331470" lvl="8" marL="4114800" marR="0" rtl="0" algn="l">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9pPr>
          </a:lstStyle>
          <a:p/>
        </p:txBody>
      </p:sp>
      <p:sp>
        <p:nvSpPr>
          <p:cNvPr id="11" name="Google Shape;11;p61"/>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1" i="0" sz="1100" u="none" cap="none" strike="noStrike">
                <a:solidFill>
                  <a:srgbClr val="A5A5A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61"/>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100" u="none" cap="none" strike="noStrike">
                <a:solidFill>
                  <a:srgbClr val="A5A5A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61"/>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400" u="none" cap="none" strike="noStrike">
                <a:solidFill>
                  <a:srgbClr val="262626"/>
                </a:solidFill>
                <a:latin typeface="Calibri"/>
                <a:ea typeface="Calibri"/>
                <a:cs typeface="Calibri"/>
                <a:sym typeface="Calibri"/>
              </a:defRPr>
            </a:lvl1pPr>
            <a:lvl2pPr indent="0" lvl="1" marL="0" marR="0" rtl="0" algn="r">
              <a:spcBef>
                <a:spcPts val="0"/>
              </a:spcBef>
              <a:buNone/>
              <a:defRPr b="1" i="0" sz="1400" u="none" cap="none" strike="noStrike">
                <a:solidFill>
                  <a:srgbClr val="262626"/>
                </a:solidFill>
                <a:latin typeface="Calibri"/>
                <a:ea typeface="Calibri"/>
                <a:cs typeface="Calibri"/>
                <a:sym typeface="Calibri"/>
              </a:defRPr>
            </a:lvl2pPr>
            <a:lvl3pPr indent="0" lvl="2" marL="0" marR="0" rtl="0" algn="r">
              <a:spcBef>
                <a:spcPts val="0"/>
              </a:spcBef>
              <a:buNone/>
              <a:defRPr b="1" i="0" sz="1400" u="none" cap="none" strike="noStrike">
                <a:solidFill>
                  <a:srgbClr val="262626"/>
                </a:solidFill>
                <a:latin typeface="Calibri"/>
                <a:ea typeface="Calibri"/>
                <a:cs typeface="Calibri"/>
                <a:sym typeface="Calibri"/>
              </a:defRPr>
            </a:lvl3pPr>
            <a:lvl4pPr indent="0" lvl="3" marL="0" marR="0" rtl="0" algn="r">
              <a:spcBef>
                <a:spcPts val="0"/>
              </a:spcBef>
              <a:buNone/>
              <a:defRPr b="1" i="0" sz="1400" u="none" cap="none" strike="noStrike">
                <a:solidFill>
                  <a:srgbClr val="262626"/>
                </a:solidFill>
                <a:latin typeface="Calibri"/>
                <a:ea typeface="Calibri"/>
                <a:cs typeface="Calibri"/>
                <a:sym typeface="Calibri"/>
              </a:defRPr>
            </a:lvl4pPr>
            <a:lvl5pPr indent="0" lvl="4" marL="0" marR="0" rtl="0" algn="r">
              <a:spcBef>
                <a:spcPts val="0"/>
              </a:spcBef>
              <a:buNone/>
              <a:defRPr b="1" i="0" sz="1400" u="none" cap="none" strike="noStrike">
                <a:solidFill>
                  <a:srgbClr val="262626"/>
                </a:solidFill>
                <a:latin typeface="Calibri"/>
                <a:ea typeface="Calibri"/>
                <a:cs typeface="Calibri"/>
                <a:sym typeface="Calibri"/>
              </a:defRPr>
            </a:lvl5pPr>
            <a:lvl6pPr indent="0" lvl="5" marL="0" marR="0" rtl="0" algn="r">
              <a:spcBef>
                <a:spcPts val="0"/>
              </a:spcBef>
              <a:buNone/>
              <a:defRPr b="1" i="0" sz="1400" u="none" cap="none" strike="noStrike">
                <a:solidFill>
                  <a:srgbClr val="262626"/>
                </a:solidFill>
                <a:latin typeface="Calibri"/>
                <a:ea typeface="Calibri"/>
                <a:cs typeface="Calibri"/>
                <a:sym typeface="Calibri"/>
              </a:defRPr>
            </a:lvl6pPr>
            <a:lvl7pPr indent="0" lvl="6" marL="0" marR="0" rtl="0" algn="r">
              <a:spcBef>
                <a:spcPts val="0"/>
              </a:spcBef>
              <a:buNone/>
              <a:defRPr b="1" i="0" sz="1400" u="none" cap="none" strike="noStrike">
                <a:solidFill>
                  <a:srgbClr val="262626"/>
                </a:solidFill>
                <a:latin typeface="Calibri"/>
                <a:ea typeface="Calibri"/>
                <a:cs typeface="Calibri"/>
                <a:sym typeface="Calibri"/>
              </a:defRPr>
            </a:lvl7pPr>
            <a:lvl8pPr indent="0" lvl="7" marL="0" marR="0" rtl="0" algn="r">
              <a:spcBef>
                <a:spcPts val="0"/>
              </a:spcBef>
              <a:buNone/>
              <a:defRPr b="1" i="0" sz="1400" u="none" cap="none" strike="noStrike">
                <a:solidFill>
                  <a:srgbClr val="262626"/>
                </a:solidFill>
                <a:latin typeface="Calibri"/>
                <a:ea typeface="Calibri"/>
                <a:cs typeface="Calibri"/>
                <a:sym typeface="Calibri"/>
              </a:defRPr>
            </a:lvl8pPr>
            <a:lvl9pPr indent="0" lvl="8" marL="0" marR="0" rtl="0" algn="r">
              <a:spcBef>
                <a:spcPts val="0"/>
              </a:spcBef>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61"/>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marR="0" rtl="0" algn="r">
              <a:spcBef>
                <a:spcPts val="0"/>
              </a:spcBef>
              <a:spcAft>
                <a:spcPts val="0"/>
              </a:spcAft>
              <a:buClr>
                <a:schemeClr val="lt1"/>
              </a:buClr>
              <a:buSzPts val="4200"/>
              <a:buFont typeface="Corbel"/>
              <a:buNone/>
              <a:defRPr b="0" i="0" sz="4200" u="none" cap="none" strike="noStrike">
                <a:solidFill>
                  <a:schemeClr val="l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 name="Shape 219"/>
        <p:cNvGrpSpPr/>
        <p:nvPr/>
      </p:nvGrpSpPr>
      <p:grpSpPr>
        <a:xfrm>
          <a:off x="0" y="0"/>
          <a:ext cx="0" cy="0"/>
          <a:chOff x="0" y="0"/>
          <a:chExt cx="0" cy="0"/>
        </a:xfrm>
      </p:grpSpPr>
      <p:sp>
        <p:nvSpPr>
          <p:cNvPr id="220" name="Google Shape;220;p6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1" name="Google Shape;221;p6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22" name="Google Shape;222;p6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3" name="Google Shape;223;p6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4" name="Google Shape;224;p6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900">
                <a:solidFill>
                  <a:srgbClr val="888888"/>
                </a:solidFill>
                <a:latin typeface="Calibri"/>
                <a:ea typeface="Calibri"/>
                <a:cs typeface="Calibri"/>
                <a:sym typeface="Calibri"/>
              </a:defRPr>
            </a:lvl1pPr>
            <a:lvl2pPr indent="0" lvl="1" marL="0" marR="0" rtl="0" algn="r">
              <a:spcBef>
                <a:spcPts val="0"/>
              </a:spcBef>
              <a:buNone/>
              <a:defRPr sz="900">
                <a:solidFill>
                  <a:srgbClr val="888888"/>
                </a:solidFill>
                <a:latin typeface="Calibri"/>
                <a:ea typeface="Calibri"/>
                <a:cs typeface="Calibri"/>
                <a:sym typeface="Calibri"/>
              </a:defRPr>
            </a:lvl2pPr>
            <a:lvl3pPr indent="0" lvl="2" marL="0" marR="0" rtl="0" algn="r">
              <a:spcBef>
                <a:spcPts val="0"/>
              </a:spcBef>
              <a:buNone/>
              <a:defRPr sz="900">
                <a:solidFill>
                  <a:srgbClr val="888888"/>
                </a:solidFill>
                <a:latin typeface="Calibri"/>
                <a:ea typeface="Calibri"/>
                <a:cs typeface="Calibri"/>
                <a:sym typeface="Calibri"/>
              </a:defRPr>
            </a:lvl3pPr>
            <a:lvl4pPr indent="0" lvl="3" marL="0" marR="0" rtl="0" algn="r">
              <a:spcBef>
                <a:spcPts val="0"/>
              </a:spcBef>
              <a:buNone/>
              <a:defRPr sz="900">
                <a:solidFill>
                  <a:srgbClr val="888888"/>
                </a:solidFill>
                <a:latin typeface="Calibri"/>
                <a:ea typeface="Calibri"/>
                <a:cs typeface="Calibri"/>
                <a:sym typeface="Calibri"/>
              </a:defRPr>
            </a:lvl4pPr>
            <a:lvl5pPr indent="0" lvl="4" marL="0" marR="0" rtl="0" algn="r">
              <a:spcBef>
                <a:spcPts val="0"/>
              </a:spcBef>
              <a:buNone/>
              <a:defRPr sz="900">
                <a:solidFill>
                  <a:srgbClr val="888888"/>
                </a:solidFill>
                <a:latin typeface="Calibri"/>
                <a:ea typeface="Calibri"/>
                <a:cs typeface="Calibri"/>
                <a:sym typeface="Calibri"/>
              </a:defRPr>
            </a:lvl5pPr>
            <a:lvl6pPr indent="0" lvl="5" marL="0" marR="0" rtl="0" algn="r">
              <a:spcBef>
                <a:spcPts val="0"/>
              </a:spcBef>
              <a:buNone/>
              <a:defRPr sz="900">
                <a:solidFill>
                  <a:srgbClr val="888888"/>
                </a:solidFill>
                <a:latin typeface="Calibri"/>
                <a:ea typeface="Calibri"/>
                <a:cs typeface="Calibri"/>
                <a:sym typeface="Calibri"/>
              </a:defRPr>
            </a:lvl6pPr>
            <a:lvl7pPr indent="0" lvl="6" marL="0" marR="0" rtl="0" algn="r">
              <a:spcBef>
                <a:spcPts val="0"/>
              </a:spcBef>
              <a:buNone/>
              <a:defRPr sz="900">
                <a:solidFill>
                  <a:srgbClr val="888888"/>
                </a:solidFill>
                <a:latin typeface="Calibri"/>
                <a:ea typeface="Calibri"/>
                <a:cs typeface="Calibri"/>
                <a:sym typeface="Calibri"/>
              </a:defRPr>
            </a:lvl7pPr>
            <a:lvl8pPr indent="0" lvl="7" marL="0" marR="0" rtl="0" algn="r">
              <a:spcBef>
                <a:spcPts val="0"/>
              </a:spcBef>
              <a:buNone/>
              <a:defRPr sz="900">
                <a:solidFill>
                  <a:srgbClr val="888888"/>
                </a:solidFill>
                <a:latin typeface="Calibri"/>
                <a:ea typeface="Calibri"/>
                <a:cs typeface="Calibri"/>
                <a:sym typeface="Calibri"/>
              </a:defRPr>
            </a:lvl8pPr>
            <a:lvl9pPr indent="0" lvl="8" marL="0" marR="0" rtl="0" algn="r">
              <a:spcBef>
                <a:spcPts val="0"/>
              </a:spcBef>
              <a:buNone/>
              <a:defRPr sz="9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3.xml"/><Relationship Id="rId3"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4.xml"/><Relationship Id="rId3" Type="http://schemas.openxmlformats.org/officeDocument/2006/relationships/image" Target="../media/image1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5.xml"/><Relationship Id="rId3"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6.xml"/><Relationship Id="rId3"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hyperlink" Target="https://algorithmist.com/wiki/Dynamic_programming" TargetMode="External"/><Relationship Id="rId4" Type="http://schemas.openxmlformats.org/officeDocument/2006/relationships/hyperlink" Target="https://www.topcoder.com/community/competitive-programming/tutorials/dynamic-programming-from-novice-to-advance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Dynamic Programming</a:t>
            </a:r>
            <a:endParaRPr/>
          </a:p>
        </p:txBody>
      </p:sp>
      <p:sp>
        <p:nvSpPr>
          <p:cNvPr id="299" name="Google Shape;299;p1"/>
          <p:cNvSpPr txBox="1"/>
          <p:nvPr>
            <p:ph idx="1" type="subTitle"/>
          </p:nvPr>
        </p:nvSpPr>
        <p:spPr>
          <a:xfrm>
            <a:off x="476205" y="1532427"/>
            <a:ext cx="2789509" cy="48463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A5A5A5"/>
              </a:buClr>
              <a:buSzPts val="1620"/>
              <a:buFont typeface="Noto Sans Symbols"/>
              <a:buNone/>
            </a:pPr>
            <a:r>
              <a:rPr lang="en-US"/>
              <a:t>Course Code: CSC 2211</a:t>
            </a:r>
            <a:endParaRPr/>
          </a:p>
        </p:txBody>
      </p:sp>
      <p:sp>
        <p:nvSpPr>
          <p:cNvPr id="300" name="Google Shape;300;p1"/>
          <p:cNvSpPr txBox="1"/>
          <p:nvPr/>
        </p:nvSpPr>
        <p:spPr>
          <a:xfrm>
            <a:off x="76971" y="2446757"/>
            <a:ext cx="902461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0070C0"/>
                </a:solidFill>
                <a:latin typeface="Arial"/>
                <a:ea typeface="Arial"/>
                <a:cs typeface="Arial"/>
                <a:sym typeface="Arial"/>
              </a:rPr>
              <a:t>Dept. of Computer Science</a:t>
            </a:r>
            <a:endParaRPr/>
          </a:p>
          <a:p>
            <a:pPr indent="0" lvl="0" marL="0" marR="0" rtl="0" algn="ctr">
              <a:spcBef>
                <a:spcPts val="0"/>
              </a:spcBef>
              <a:spcAft>
                <a:spcPts val="0"/>
              </a:spcAft>
              <a:buNone/>
            </a:pPr>
            <a:r>
              <a:rPr b="1" i="0" lang="en-US" sz="2000" u="none" cap="none" strike="noStrike">
                <a:solidFill>
                  <a:srgbClr val="0070C0"/>
                </a:solidFill>
                <a:latin typeface="Arial"/>
                <a:ea typeface="Arial"/>
                <a:cs typeface="Arial"/>
                <a:sym typeface="Arial"/>
              </a:rPr>
              <a:t>Faculty of Science and Technology</a:t>
            </a:r>
            <a:endParaRPr b="1" i="0" sz="2400" u="none" cap="none" strike="noStrike">
              <a:solidFill>
                <a:srgbClr val="0070C0"/>
              </a:solidFill>
              <a:latin typeface="Arial"/>
              <a:ea typeface="Arial"/>
              <a:cs typeface="Arial"/>
              <a:sym typeface="Arial"/>
            </a:endParaRPr>
          </a:p>
        </p:txBody>
      </p:sp>
      <p:graphicFrame>
        <p:nvGraphicFramePr>
          <p:cNvPr id="301" name="Google Shape;301;p1"/>
          <p:cNvGraphicFramePr/>
          <p:nvPr/>
        </p:nvGraphicFramePr>
        <p:xfrm>
          <a:off x="476205" y="5186042"/>
          <a:ext cx="3000000" cy="3000000"/>
        </p:xfrm>
        <a:graphic>
          <a:graphicData uri="http://schemas.openxmlformats.org/drawingml/2006/table">
            <a:tbl>
              <a:tblPr bandRow="1" firstRow="1">
                <a:noFill/>
                <a:tableStyleId>{E83070E6-82E4-43B3-9350-0D09B30A6E41}</a:tableStyleId>
              </a:tblPr>
              <a:tblGrid>
                <a:gridCol w="1483225"/>
                <a:gridCol w="1397725"/>
                <a:gridCol w="1227900"/>
                <a:gridCol w="588525"/>
                <a:gridCol w="1250475"/>
                <a:gridCol w="2387950"/>
              </a:tblGrid>
              <a:tr h="378725">
                <a:tc>
                  <a:txBody>
                    <a:bodyPr/>
                    <a:lstStyle/>
                    <a:p>
                      <a:pPr indent="0" lvl="0" marL="0" marR="0" rtl="0" algn="l">
                        <a:spcBef>
                          <a:spcPts val="0"/>
                        </a:spcBef>
                        <a:spcAft>
                          <a:spcPts val="0"/>
                        </a:spcAft>
                        <a:buNone/>
                      </a:pPr>
                      <a:r>
                        <a:rPr lang="en-US" sz="1800" u="none" cap="none" strike="noStrike"/>
                        <a:t>Lecturer No:</a:t>
                      </a:r>
                      <a:endParaRPr/>
                    </a:p>
                  </a:txBody>
                  <a:tcPr marT="45725" marB="45725" marR="91450" marL="91450"/>
                </a:tc>
                <a:tc>
                  <a:txBody>
                    <a:bodyPr/>
                    <a:lstStyle/>
                    <a:p>
                      <a:pPr indent="0" lvl="0" marL="0" marR="0" rtl="0" algn="l">
                        <a:spcBef>
                          <a:spcPts val="0"/>
                        </a:spcBef>
                        <a:spcAft>
                          <a:spcPts val="0"/>
                        </a:spcAft>
                        <a:buNone/>
                      </a:pPr>
                      <a:r>
                        <a:rPr lang="en-US" sz="1800"/>
                        <a:t>F01</a:t>
                      </a:r>
                      <a:endParaRPr sz="1800"/>
                    </a:p>
                  </a:txBody>
                  <a:tcPr marT="45725" marB="45725" marR="91450" marL="91450"/>
                </a:tc>
                <a:tc>
                  <a:txBody>
                    <a:bodyPr/>
                    <a:lstStyle/>
                    <a:p>
                      <a:pPr indent="0" lvl="0" marL="0" marR="0" rtl="0" algn="l">
                        <a:spcBef>
                          <a:spcPts val="0"/>
                        </a:spcBef>
                        <a:spcAft>
                          <a:spcPts val="0"/>
                        </a:spcAft>
                        <a:buNone/>
                      </a:pPr>
                      <a:r>
                        <a:rPr lang="en-US" sz="1800"/>
                        <a:t>Week No:</a:t>
                      </a:r>
                      <a:endParaRPr/>
                    </a:p>
                  </a:txBody>
                  <a:tcPr marT="45725" marB="45725" marR="91450" marL="91450"/>
                </a:tc>
                <a:tc>
                  <a:txBody>
                    <a:bodyPr/>
                    <a:lstStyle/>
                    <a:p>
                      <a:pPr indent="0" lvl="0" marL="0" marR="0" rtl="0" algn="l">
                        <a:spcBef>
                          <a:spcPts val="0"/>
                        </a:spcBef>
                        <a:spcAft>
                          <a:spcPts val="0"/>
                        </a:spcAft>
                        <a:buNone/>
                      </a:pPr>
                      <a:r>
                        <a:rPr lang="en-US" sz="1800"/>
                        <a:t>08</a:t>
                      </a:r>
                      <a:endParaRPr/>
                    </a:p>
                  </a:txBody>
                  <a:tcPr marT="45725" marB="45725" marR="91450" marL="91450"/>
                </a:tc>
                <a:tc>
                  <a:txBody>
                    <a:bodyPr/>
                    <a:lstStyle/>
                    <a:p>
                      <a:pPr indent="0" lvl="0" marL="0" marR="0" rtl="0" algn="l">
                        <a:spcBef>
                          <a:spcPts val="0"/>
                        </a:spcBef>
                        <a:spcAft>
                          <a:spcPts val="0"/>
                        </a:spcAft>
                        <a:buNone/>
                      </a:pPr>
                      <a:r>
                        <a:rPr lang="en-US" sz="1800"/>
                        <a:t>Semester:</a:t>
                      </a:r>
                      <a:endParaRPr/>
                    </a:p>
                  </a:txBody>
                  <a:tcPr marT="45725" marB="45725" marR="91450" marL="91450"/>
                </a:tc>
                <a:tc>
                  <a:txBody>
                    <a:bodyPr/>
                    <a:lstStyle/>
                    <a:p>
                      <a:pPr indent="0" lvl="0" marL="0" marR="0" rtl="0" algn="l">
                        <a:spcBef>
                          <a:spcPts val="0"/>
                        </a:spcBef>
                        <a:spcAft>
                          <a:spcPts val="0"/>
                        </a:spcAft>
                        <a:buNone/>
                      </a:pPr>
                      <a:r>
                        <a:rPr lang="en-US" sz="1800"/>
                        <a:t>Summer 2022-2023</a:t>
                      </a:r>
                      <a:endParaRPr/>
                    </a:p>
                  </a:txBody>
                  <a:tcPr marT="45725" marB="45725" marR="91450" marL="91450"/>
                </a:tc>
              </a:tr>
              <a:tr h="378725">
                <a:tc>
                  <a:txBody>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Lecturer:</a:t>
                      </a:r>
                      <a:endParaRPr/>
                    </a:p>
                  </a:txBody>
                  <a:tcPr marT="45725" marB="45725" marR="91450" marL="91450"/>
                </a:tc>
                <a:tc gridSpan="5">
                  <a:txBody>
                    <a:bodyPr/>
                    <a:lstStyle/>
                    <a:p>
                      <a:pPr indent="0" lvl="0" marL="0" marR="0" rtl="0" algn="l">
                        <a:spcBef>
                          <a:spcPts val="0"/>
                        </a:spcBef>
                        <a:spcAft>
                          <a:spcPts val="0"/>
                        </a:spcAft>
                        <a:buNone/>
                      </a:pPr>
                      <a:r>
                        <a:rPr i="1" lang="en-US" sz="1800"/>
                        <a:t>Pritam Khan Boni, Pritam.khan@aiub.edu</a:t>
                      </a:r>
                      <a:endParaRPr/>
                    </a:p>
                  </a:txBody>
                  <a:tcPr marT="45725" marB="45725" marR="91450" marL="91450"/>
                </a:tc>
                <a:tc hMerge="1"/>
                <a:tc hMerge="1"/>
                <a:tc hMerge="1"/>
                <a:tc hMerge="1"/>
              </a:tr>
            </a:tbl>
          </a:graphicData>
        </a:graphic>
      </p:graphicFrame>
      <p:sp>
        <p:nvSpPr>
          <p:cNvPr id="302" name="Google Shape;302;p1"/>
          <p:cNvSpPr txBox="1"/>
          <p:nvPr/>
        </p:nvSpPr>
        <p:spPr>
          <a:xfrm>
            <a:off x="3320578" y="1538380"/>
            <a:ext cx="4164439" cy="484632"/>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A5A5A5"/>
              </a:buClr>
              <a:buSzPts val="1620"/>
              <a:buFont typeface="Noto Sans Symbols"/>
              <a:buNone/>
            </a:pPr>
            <a:r>
              <a:rPr b="0" i="0" lang="en-US" sz="1800" u="none" cap="none" strike="noStrike">
                <a:solidFill>
                  <a:schemeClr val="lt1"/>
                </a:solidFill>
                <a:latin typeface="Calibri"/>
                <a:ea typeface="Calibri"/>
                <a:cs typeface="Calibri"/>
                <a:sym typeface="Calibri"/>
              </a:rPr>
              <a:t>Course Title: Algorithms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Lecture Outline</a:t>
            </a:r>
            <a:endParaRPr/>
          </a:p>
        </p:txBody>
      </p:sp>
      <p:sp>
        <p:nvSpPr>
          <p:cNvPr id="308" name="Google Shape;308;p2"/>
          <p:cNvSpPr txBox="1"/>
          <p:nvPr>
            <p:ph idx="1" type="subTitle"/>
          </p:nvPr>
        </p:nvSpPr>
        <p:spPr>
          <a:xfrm>
            <a:off x="486697" y="2363928"/>
            <a:ext cx="7754112" cy="300993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2160"/>
              <a:buAutoNum type="arabicPeriod"/>
            </a:pPr>
            <a:r>
              <a:rPr lang="en-US" sz="2400">
                <a:solidFill>
                  <a:schemeClr val="dk1"/>
                </a:solidFill>
              </a:rPr>
              <a:t>Introduction to Dynamic Programming</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Elements of Dynamic Programming</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Designing a Dynamic Programming Algorithm</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0/1 Knapsack Problem</a:t>
            </a:r>
            <a:endParaRPr/>
          </a:p>
          <a:p>
            <a:pPr indent="-205740" lvl="0" marL="342900" rtl="0" algn="l">
              <a:lnSpc>
                <a:spcPct val="100000"/>
              </a:lnSpc>
              <a:spcBef>
                <a:spcPts val="0"/>
              </a:spcBef>
              <a:spcAft>
                <a:spcPts val="0"/>
              </a:spcAft>
              <a:buSzPts val="2160"/>
              <a:buNone/>
            </a:pPr>
            <a:r>
              <a:t/>
            </a:r>
            <a:endParaRPr sz="2400">
              <a:solidFill>
                <a:schemeClr val="dk1"/>
              </a:solidFill>
            </a:endParaRPr>
          </a:p>
          <a:p>
            <a:pPr indent="-205740" lvl="0" marL="342900" rtl="0" algn="l">
              <a:lnSpc>
                <a:spcPct val="100000"/>
              </a:lnSpc>
              <a:spcBef>
                <a:spcPts val="0"/>
              </a:spcBef>
              <a:spcAft>
                <a:spcPts val="0"/>
              </a:spcAft>
              <a:buSzPts val="2160"/>
              <a:buNone/>
            </a:pPr>
            <a:r>
              <a:t/>
            </a:r>
            <a:endParaRPr sz="2400">
              <a:solidFill>
                <a:schemeClr val="dk1"/>
              </a:solidFill>
            </a:endParaRPr>
          </a:p>
          <a:p>
            <a:pPr indent="-205740" lvl="0" marL="342900" rtl="0" algn="l">
              <a:lnSpc>
                <a:spcPct val="100000"/>
              </a:lnSpc>
              <a:spcBef>
                <a:spcPts val="0"/>
              </a:spcBef>
              <a:spcAft>
                <a:spcPts val="0"/>
              </a:spcAft>
              <a:buSzPts val="2160"/>
              <a:buNone/>
            </a:pPr>
            <a:r>
              <a:t/>
            </a:r>
            <a:endParaRPr sz="2400">
              <a:solidFill>
                <a:schemeClr val="dk1"/>
              </a:solidFill>
            </a:endParaRPr>
          </a:p>
          <a:p>
            <a:pPr indent="-240030" lvl="0" marL="342900" rtl="0" algn="l">
              <a:lnSpc>
                <a:spcPct val="100000"/>
              </a:lnSpc>
              <a:spcBef>
                <a:spcPts val="0"/>
              </a:spcBef>
              <a:spcAft>
                <a:spcPts val="0"/>
              </a:spcAft>
              <a:buSzPts val="1620"/>
              <a:buNone/>
            </a:pPr>
            <a:r>
              <a:t/>
            </a:r>
            <a:endParaRPr>
              <a:solidFill>
                <a:schemeClr val="dk1"/>
              </a:solidFill>
            </a:endParaRPr>
          </a:p>
          <a:p>
            <a:pPr indent="-240030" lvl="0" marL="342900" rtl="0" algn="l">
              <a:lnSpc>
                <a:spcPct val="100000"/>
              </a:lnSpc>
              <a:spcBef>
                <a:spcPts val="0"/>
              </a:spcBef>
              <a:spcAft>
                <a:spcPts val="0"/>
              </a:spcAft>
              <a:buSzPts val="1620"/>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3" name="Shape 313"/>
        <p:cNvGrpSpPr/>
        <p:nvPr/>
      </p:nvGrpSpPr>
      <p:grpSpPr>
        <a:xfrm>
          <a:off x="0" y="0"/>
          <a:ext cx="0" cy="0"/>
          <a:chOff x="0" y="0"/>
          <a:chExt cx="0" cy="0"/>
        </a:xfrm>
      </p:grpSpPr>
      <p:sp>
        <p:nvSpPr>
          <p:cNvPr id="314" name="Google Shape;314;p3"/>
          <p:cNvSpPr txBox="1"/>
          <p:nvPr>
            <p:ph idx="4294967295" type="sldNum"/>
          </p:nvPr>
        </p:nvSpPr>
        <p:spPr>
          <a:xfrm>
            <a:off x="8756650" y="6584950"/>
            <a:ext cx="3351213"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400" u="none" cap="none" strike="noStrike">
                <a:solidFill>
                  <a:schemeClr val="dk1"/>
                </a:solidFill>
                <a:latin typeface="Arial"/>
                <a:ea typeface="Arial"/>
                <a:cs typeface="Arial"/>
                <a:sym typeface="Arial"/>
              </a:rPr>
              <a:t>Dynamic Programming🡪</a:t>
            </a: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315" name="Google Shape;315;p3"/>
          <p:cNvSpPr txBox="1"/>
          <p:nvPr>
            <p:ph idx="4294967295" type="title"/>
          </p:nvPr>
        </p:nvSpPr>
        <p:spPr>
          <a:xfrm>
            <a:off x="13101" y="588867"/>
            <a:ext cx="9048725" cy="628814"/>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Fibonacci Numbers</a:t>
            </a:r>
            <a:endParaRPr/>
          </a:p>
        </p:txBody>
      </p:sp>
      <p:sp>
        <p:nvSpPr>
          <p:cNvPr id="316" name="Google Shape;316;p3"/>
          <p:cNvSpPr txBox="1"/>
          <p:nvPr>
            <p:ph idx="4294967295" type="body"/>
          </p:nvPr>
        </p:nvSpPr>
        <p:spPr>
          <a:xfrm>
            <a:off x="1184386" y="1866053"/>
            <a:ext cx="6279801" cy="1649446"/>
          </a:xfrm>
          <a:prstGeom prst="rect">
            <a:avLst/>
          </a:prstGeom>
          <a:noFill/>
          <a:ln>
            <a:noFill/>
          </a:ln>
        </p:spPr>
        <p:txBody>
          <a:bodyPr anchorCtr="0" anchor="t" bIns="45700" lIns="91425" spcFirstLastPara="1" rIns="91425" wrap="square" tIns="45700">
            <a:normAutofit/>
          </a:bodyPr>
          <a:lstStyle/>
          <a:p>
            <a:pPr indent="-454025" lvl="0" marL="454025" rtl="0" algn="l">
              <a:lnSpc>
                <a:spcPct val="90000"/>
              </a:lnSpc>
              <a:spcBef>
                <a:spcPts val="0"/>
              </a:spcBef>
              <a:spcAft>
                <a:spcPts val="0"/>
              </a:spcAft>
              <a:buSzPts val="1891"/>
              <a:buChar char="🡽"/>
            </a:pPr>
            <a:r>
              <a:rPr i="1" lang="en-US" sz="2101"/>
              <a:t>Leonardo Fibonacci (1202)</a:t>
            </a:r>
            <a:r>
              <a:rPr lang="en-US" sz="2101"/>
              <a:t>: </a:t>
            </a:r>
            <a:endParaRPr/>
          </a:p>
          <a:p>
            <a:pPr indent="-457200" lvl="1" marL="914400" rtl="0" algn="l">
              <a:lnSpc>
                <a:spcPct val="90000"/>
              </a:lnSpc>
              <a:spcBef>
                <a:spcPts val="600"/>
              </a:spcBef>
              <a:spcAft>
                <a:spcPts val="0"/>
              </a:spcAft>
              <a:buSzPts val="1620"/>
              <a:buChar char="🡽"/>
            </a:pPr>
            <a:r>
              <a:rPr lang="en-US" sz="1800"/>
              <a:t>A rabbit starts producing offspring during the second year after its birth and produces one child each generation</a:t>
            </a:r>
            <a:endParaRPr/>
          </a:p>
          <a:p>
            <a:pPr indent="-457200" lvl="1" marL="914400" rtl="0" algn="l">
              <a:lnSpc>
                <a:spcPct val="90000"/>
              </a:lnSpc>
              <a:spcBef>
                <a:spcPts val="600"/>
              </a:spcBef>
              <a:spcAft>
                <a:spcPts val="0"/>
              </a:spcAft>
              <a:buSzPts val="1620"/>
              <a:buChar char="🡽"/>
            </a:pPr>
            <a:r>
              <a:rPr lang="en-US" sz="1800"/>
              <a:t>How many rabbits will there be after </a:t>
            </a:r>
            <a:r>
              <a:rPr i="1" lang="en-US" sz="1800"/>
              <a:t>n </a:t>
            </a:r>
            <a:r>
              <a:rPr lang="en-US" sz="1800"/>
              <a:t>generations? </a:t>
            </a:r>
            <a:endParaRPr/>
          </a:p>
          <a:p>
            <a:pPr indent="-454025" lvl="0" marL="454025" rtl="0" algn="l">
              <a:lnSpc>
                <a:spcPct val="90000"/>
              </a:lnSpc>
              <a:spcBef>
                <a:spcPts val="2000"/>
              </a:spcBef>
              <a:spcAft>
                <a:spcPts val="0"/>
              </a:spcAft>
              <a:buSzPts val="1891"/>
              <a:buFont typeface="Calibri"/>
              <a:buNone/>
            </a:pPr>
            <a:r>
              <a:t/>
            </a:r>
            <a:endParaRPr i="1" sz="2101"/>
          </a:p>
        </p:txBody>
      </p:sp>
      <p:cxnSp>
        <p:nvCxnSpPr>
          <p:cNvPr id="317" name="Google Shape;317;p3"/>
          <p:cNvCxnSpPr/>
          <p:nvPr/>
        </p:nvCxnSpPr>
        <p:spPr>
          <a:xfrm>
            <a:off x="1757821" y="3482592"/>
            <a:ext cx="0" cy="2000771"/>
          </a:xfrm>
          <a:prstGeom prst="straightConnector1">
            <a:avLst/>
          </a:prstGeom>
          <a:noFill/>
          <a:ln cap="flat" cmpd="sng" w="19050">
            <a:solidFill>
              <a:schemeClr val="dk1"/>
            </a:solidFill>
            <a:prstDash val="solid"/>
            <a:miter lim="800000"/>
            <a:headEnd len="med" w="med" type="none"/>
            <a:tailEnd len="med" w="med" type="none"/>
          </a:ln>
        </p:spPr>
      </p:cxnSp>
      <p:cxnSp>
        <p:nvCxnSpPr>
          <p:cNvPr id="318" name="Google Shape;318;p3"/>
          <p:cNvCxnSpPr/>
          <p:nvPr/>
        </p:nvCxnSpPr>
        <p:spPr>
          <a:xfrm>
            <a:off x="2329470" y="3482592"/>
            <a:ext cx="1191" cy="2000771"/>
          </a:xfrm>
          <a:prstGeom prst="straightConnector1">
            <a:avLst/>
          </a:prstGeom>
          <a:noFill/>
          <a:ln cap="flat" cmpd="sng" w="19050">
            <a:solidFill>
              <a:schemeClr val="dk1"/>
            </a:solidFill>
            <a:prstDash val="solid"/>
            <a:miter lim="800000"/>
            <a:headEnd len="med" w="med" type="none"/>
            <a:tailEnd len="med" w="med" type="none"/>
          </a:ln>
        </p:spPr>
      </p:cxnSp>
      <p:cxnSp>
        <p:nvCxnSpPr>
          <p:cNvPr id="319" name="Google Shape;319;p3"/>
          <p:cNvCxnSpPr/>
          <p:nvPr/>
        </p:nvCxnSpPr>
        <p:spPr>
          <a:xfrm>
            <a:off x="2926128" y="3482592"/>
            <a:ext cx="0" cy="2000771"/>
          </a:xfrm>
          <a:prstGeom prst="straightConnector1">
            <a:avLst/>
          </a:prstGeom>
          <a:noFill/>
          <a:ln cap="flat" cmpd="sng" w="19050">
            <a:solidFill>
              <a:schemeClr val="dk1"/>
            </a:solidFill>
            <a:prstDash val="solid"/>
            <a:miter lim="800000"/>
            <a:headEnd len="med" w="med" type="none"/>
            <a:tailEnd len="med" w="med" type="none"/>
          </a:ln>
        </p:spPr>
      </p:cxnSp>
      <p:cxnSp>
        <p:nvCxnSpPr>
          <p:cNvPr id="320" name="Google Shape;320;p3"/>
          <p:cNvCxnSpPr/>
          <p:nvPr/>
        </p:nvCxnSpPr>
        <p:spPr>
          <a:xfrm>
            <a:off x="4017025" y="3482592"/>
            <a:ext cx="0" cy="2000771"/>
          </a:xfrm>
          <a:prstGeom prst="straightConnector1">
            <a:avLst/>
          </a:prstGeom>
          <a:noFill/>
          <a:ln cap="flat" cmpd="sng" w="19050">
            <a:solidFill>
              <a:schemeClr val="dk1"/>
            </a:solidFill>
            <a:prstDash val="solid"/>
            <a:miter lim="800000"/>
            <a:headEnd len="med" w="med" type="none"/>
            <a:tailEnd len="med" w="med" type="none"/>
          </a:ln>
        </p:spPr>
      </p:cxnSp>
      <p:cxnSp>
        <p:nvCxnSpPr>
          <p:cNvPr id="321" name="Google Shape;321;p3"/>
          <p:cNvCxnSpPr/>
          <p:nvPr/>
        </p:nvCxnSpPr>
        <p:spPr>
          <a:xfrm>
            <a:off x="5791518" y="3482592"/>
            <a:ext cx="0" cy="2000771"/>
          </a:xfrm>
          <a:prstGeom prst="straightConnector1">
            <a:avLst/>
          </a:prstGeom>
          <a:noFill/>
          <a:ln cap="flat" cmpd="sng" w="19050">
            <a:solidFill>
              <a:schemeClr val="dk1"/>
            </a:solidFill>
            <a:prstDash val="solid"/>
            <a:miter lim="800000"/>
            <a:headEnd len="med" w="med" type="none"/>
            <a:tailEnd len="med" w="med" type="none"/>
          </a:ln>
        </p:spPr>
      </p:cxnSp>
      <p:cxnSp>
        <p:nvCxnSpPr>
          <p:cNvPr id="322" name="Google Shape;322;p3"/>
          <p:cNvCxnSpPr/>
          <p:nvPr/>
        </p:nvCxnSpPr>
        <p:spPr>
          <a:xfrm flipH="1" rot="10800000">
            <a:off x="1225473" y="3694579"/>
            <a:ext cx="6603735" cy="5954"/>
          </a:xfrm>
          <a:prstGeom prst="straightConnector1">
            <a:avLst/>
          </a:prstGeom>
          <a:noFill/>
          <a:ln cap="flat" cmpd="sng" w="19050">
            <a:solidFill>
              <a:schemeClr val="dk1"/>
            </a:solidFill>
            <a:prstDash val="solid"/>
            <a:miter lim="800000"/>
            <a:headEnd len="med" w="med" type="none"/>
            <a:tailEnd len="med" w="med" type="none"/>
          </a:ln>
        </p:spPr>
      </p:cxnSp>
      <p:sp>
        <p:nvSpPr>
          <p:cNvPr id="323" name="Google Shape;323;p3"/>
          <p:cNvSpPr txBox="1"/>
          <p:nvPr/>
        </p:nvSpPr>
        <p:spPr>
          <a:xfrm>
            <a:off x="1179027" y="3455201"/>
            <a:ext cx="6623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Tahoma"/>
                <a:ea typeface="Tahoma"/>
                <a:cs typeface="Tahoma"/>
                <a:sym typeface="Tahoma"/>
              </a:rPr>
              <a:t>F(1)=1</a:t>
            </a:r>
            <a:endParaRPr b="0" i="0" sz="1200" u="none" cap="none" strike="noStrike">
              <a:solidFill>
                <a:schemeClr val="dk1"/>
              </a:solidFill>
              <a:latin typeface="Tahoma"/>
              <a:ea typeface="Tahoma"/>
              <a:cs typeface="Tahoma"/>
              <a:sym typeface="Tahoma"/>
            </a:endParaRPr>
          </a:p>
        </p:txBody>
      </p:sp>
      <p:sp>
        <p:nvSpPr>
          <p:cNvPr id="324" name="Google Shape;324;p3"/>
          <p:cNvSpPr txBox="1"/>
          <p:nvPr/>
        </p:nvSpPr>
        <p:spPr>
          <a:xfrm>
            <a:off x="1743530" y="3455201"/>
            <a:ext cx="6623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Tahoma"/>
                <a:ea typeface="Tahoma"/>
                <a:cs typeface="Tahoma"/>
                <a:sym typeface="Tahoma"/>
              </a:rPr>
              <a:t>F(2)=1</a:t>
            </a:r>
            <a:endParaRPr b="0" i="0" sz="1200" u="none" cap="none" strike="noStrike">
              <a:solidFill>
                <a:schemeClr val="dk1"/>
              </a:solidFill>
              <a:latin typeface="Tahoma"/>
              <a:ea typeface="Tahoma"/>
              <a:cs typeface="Tahoma"/>
              <a:sym typeface="Tahoma"/>
            </a:endParaRPr>
          </a:p>
        </p:txBody>
      </p:sp>
      <p:cxnSp>
        <p:nvCxnSpPr>
          <p:cNvPr id="325" name="Google Shape;325;p3"/>
          <p:cNvCxnSpPr/>
          <p:nvPr/>
        </p:nvCxnSpPr>
        <p:spPr>
          <a:xfrm>
            <a:off x="2640304" y="4254319"/>
            <a:ext cx="0" cy="136957"/>
          </a:xfrm>
          <a:prstGeom prst="straightConnector1">
            <a:avLst/>
          </a:prstGeom>
          <a:noFill/>
          <a:ln cap="flat" cmpd="sng" w="12700">
            <a:solidFill>
              <a:schemeClr val="dk1"/>
            </a:solidFill>
            <a:prstDash val="solid"/>
            <a:miter lim="800000"/>
            <a:headEnd len="med" w="med" type="none"/>
            <a:tailEnd len="med" w="med" type="stealth"/>
          </a:ln>
        </p:spPr>
      </p:cxnSp>
      <p:sp>
        <p:nvSpPr>
          <p:cNvPr id="326" name="Google Shape;326;p3"/>
          <p:cNvSpPr txBox="1"/>
          <p:nvPr/>
        </p:nvSpPr>
        <p:spPr>
          <a:xfrm>
            <a:off x="2318752" y="3450437"/>
            <a:ext cx="6623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Tahoma"/>
                <a:ea typeface="Tahoma"/>
                <a:cs typeface="Tahoma"/>
                <a:sym typeface="Tahoma"/>
              </a:rPr>
              <a:t>F(3)=1</a:t>
            </a:r>
            <a:endParaRPr b="0" i="0" sz="1200" u="none" cap="none" strike="noStrike">
              <a:solidFill>
                <a:schemeClr val="dk1"/>
              </a:solidFill>
              <a:latin typeface="Tahoma"/>
              <a:ea typeface="Tahoma"/>
              <a:cs typeface="Tahoma"/>
              <a:sym typeface="Tahoma"/>
            </a:endParaRPr>
          </a:p>
        </p:txBody>
      </p:sp>
      <p:cxnSp>
        <p:nvCxnSpPr>
          <p:cNvPr id="327" name="Google Shape;327;p3"/>
          <p:cNvCxnSpPr/>
          <p:nvPr/>
        </p:nvCxnSpPr>
        <p:spPr>
          <a:xfrm>
            <a:off x="3328664" y="4212636"/>
            <a:ext cx="385863" cy="202459"/>
          </a:xfrm>
          <a:prstGeom prst="straightConnector1">
            <a:avLst/>
          </a:prstGeom>
          <a:noFill/>
          <a:ln cap="flat" cmpd="sng" w="12700">
            <a:solidFill>
              <a:schemeClr val="dk1"/>
            </a:solidFill>
            <a:prstDash val="solid"/>
            <a:miter lim="800000"/>
            <a:headEnd len="med" w="med" type="none"/>
            <a:tailEnd len="med" w="med" type="stealth"/>
          </a:ln>
        </p:spPr>
      </p:cxnSp>
      <p:sp>
        <p:nvSpPr>
          <p:cNvPr id="328" name="Google Shape;328;p3"/>
          <p:cNvSpPr txBox="1"/>
          <p:nvPr/>
        </p:nvSpPr>
        <p:spPr>
          <a:xfrm>
            <a:off x="3141688" y="3455201"/>
            <a:ext cx="6623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Tahoma"/>
                <a:ea typeface="Tahoma"/>
                <a:cs typeface="Tahoma"/>
                <a:sym typeface="Tahoma"/>
              </a:rPr>
              <a:t>F(4)=3</a:t>
            </a:r>
            <a:endParaRPr b="0" i="0" sz="1200" u="none" cap="none" strike="noStrike">
              <a:solidFill>
                <a:schemeClr val="dk1"/>
              </a:solidFill>
              <a:latin typeface="Tahoma"/>
              <a:ea typeface="Tahoma"/>
              <a:cs typeface="Tahoma"/>
              <a:sym typeface="Tahoma"/>
            </a:endParaRPr>
          </a:p>
        </p:txBody>
      </p:sp>
      <p:cxnSp>
        <p:nvCxnSpPr>
          <p:cNvPr id="329" name="Google Shape;329;p3"/>
          <p:cNvCxnSpPr/>
          <p:nvPr/>
        </p:nvCxnSpPr>
        <p:spPr>
          <a:xfrm>
            <a:off x="4387405" y="4880750"/>
            <a:ext cx="0" cy="136957"/>
          </a:xfrm>
          <a:prstGeom prst="straightConnector1">
            <a:avLst/>
          </a:prstGeom>
          <a:noFill/>
          <a:ln cap="flat" cmpd="sng" w="12700">
            <a:solidFill>
              <a:schemeClr val="dk1"/>
            </a:solidFill>
            <a:prstDash val="solid"/>
            <a:miter lim="800000"/>
            <a:headEnd len="med" w="med" type="none"/>
            <a:tailEnd len="med" w="med" type="stealth"/>
          </a:ln>
        </p:spPr>
      </p:cxnSp>
      <p:cxnSp>
        <p:nvCxnSpPr>
          <p:cNvPr id="330" name="Google Shape;330;p3"/>
          <p:cNvCxnSpPr/>
          <p:nvPr/>
        </p:nvCxnSpPr>
        <p:spPr>
          <a:xfrm>
            <a:off x="4514836" y="4203108"/>
            <a:ext cx="765771" cy="169113"/>
          </a:xfrm>
          <a:prstGeom prst="straightConnector1">
            <a:avLst/>
          </a:prstGeom>
          <a:noFill/>
          <a:ln cap="flat" cmpd="sng" w="12700">
            <a:solidFill>
              <a:schemeClr val="dk1"/>
            </a:solidFill>
            <a:prstDash val="solid"/>
            <a:miter lim="800000"/>
            <a:headEnd len="med" w="med" type="none"/>
            <a:tailEnd len="med" w="med" type="stealth"/>
          </a:ln>
        </p:spPr>
      </p:cxnSp>
      <p:sp>
        <p:nvSpPr>
          <p:cNvPr id="331" name="Google Shape;331;p3"/>
          <p:cNvSpPr txBox="1"/>
          <p:nvPr/>
        </p:nvSpPr>
        <p:spPr>
          <a:xfrm>
            <a:off x="4601774" y="3455201"/>
            <a:ext cx="6623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Tahoma"/>
                <a:ea typeface="Tahoma"/>
                <a:cs typeface="Tahoma"/>
                <a:sym typeface="Tahoma"/>
              </a:rPr>
              <a:t>F(5)=5</a:t>
            </a:r>
            <a:endParaRPr b="0" i="0" sz="1200" u="none" cap="none" strike="noStrike">
              <a:solidFill>
                <a:schemeClr val="dk1"/>
              </a:solidFill>
              <a:latin typeface="Tahoma"/>
              <a:ea typeface="Tahoma"/>
              <a:cs typeface="Tahoma"/>
              <a:sym typeface="Tahoma"/>
            </a:endParaRPr>
          </a:p>
        </p:txBody>
      </p:sp>
      <p:cxnSp>
        <p:nvCxnSpPr>
          <p:cNvPr id="332" name="Google Shape;332;p3"/>
          <p:cNvCxnSpPr/>
          <p:nvPr/>
        </p:nvCxnSpPr>
        <p:spPr>
          <a:xfrm>
            <a:off x="6353640" y="4167380"/>
            <a:ext cx="1275491" cy="182213"/>
          </a:xfrm>
          <a:prstGeom prst="straightConnector1">
            <a:avLst/>
          </a:prstGeom>
          <a:noFill/>
          <a:ln cap="flat" cmpd="sng" w="12700">
            <a:solidFill>
              <a:schemeClr val="dk1"/>
            </a:solidFill>
            <a:prstDash val="solid"/>
            <a:miter lim="800000"/>
            <a:headEnd len="med" w="med" type="none"/>
            <a:tailEnd len="med" w="med" type="stealth"/>
          </a:ln>
        </p:spPr>
      </p:cxnSp>
      <p:cxnSp>
        <p:nvCxnSpPr>
          <p:cNvPr id="333" name="Google Shape;333;p3"/>
          <p:cNvCxnSpPr/>
          <p:nvPr/>
        </p:nvCxnSpPr>
        <p:spPr>
          <a:xfrm>
            <a:off x="6259556" y="4817631"/>
            <a:ext cx="340607" cy="182213"/>
          </a:xfrm>
          <a:prstGeom prst="straightConnector1">
            <a:avLst/>
          </a:prstGeom>
          <a:noFill/>
          <a:ln cap="flat" cmpd="sng" w="12700">
            <a:solidFill>
              <a:schemeClr val="dk1"/>
            </a:solidFill>
            <a:prstDash val="solid"/>
            <a:miter lim="800000"/>
            <a:headEnd len="med" w="med" type="none"/>
            <a:tailEnd len="med" w="med" type="stealth"/>
          </a:ln>
        </p:spPr>
      </p:cxnSp>
      <p:cxnSp>
        <p:nvCxnSpPr>
          <p:cNvPr id="334" name="Google Shape;334;p3"/>
          <p:cNvCxnSpPr/>
          <p:nvPr/>
        </p:nvCxnSpPr>
        <p:spPr>
          <a:xfrm>
            <a:off x="6765704" y="4833113"/>
            <a:ext cx="340607" cy="182213"/>
          </a:xfrm>
          <a:prstGeom prst="straightConnector1">
            <a:avLst/>
          </a:prstGeom>
          <a:noFill/>
          <a:ln cap="flat" cmpd="sng" w="12700">
            <a:solidFill>
              <a:schemeClr val="dk1"/>
            </a:solidFill>
            <a:prstDash val="solid"/>
            <a:miter lim="800000"/>
            <a:headEnd len="med" w="med" type="none"/>
            <a:tailEnd len="med" w="med" type="stealth"/>
          </a:ln>
        </p:spPr>
      </p:cxnSp>
      <p:sp>
        <p:nvSpPr>
          <p:cNvPr id="335" name="Google Shape;335;p3"/>
          <p:cNvSpPr txBox="1"/>
          <p:nvPr/>
        </p:nvSpPr>
        <p:spPr>
          <a:xfrm>
            <a:off x="6432242" y="3455201"/>
            <a:ext cx="6623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Tahoma"/>
                <a:ea typeface="Tahoma"/>
                <a:cs typeface="Tahoma"/>
                <a:sym typeface="Tahoma"/>
              </a:rPr>
              <a:t>F(6)=8</a:t>
            </a:r>
            <a:endParaRPr b="0" i="0" sz="1200" u="none" cap="none" strike="noStrike">
              <a:solidFill>
                <a:schemeClr val="dk1"/>
              </a:solidFill>
              <a:latin typeface="Tahoma"/>
              <a:ea typeface="Tahoma"/>
              <a:cs typeface="Tahoma"/>
              <a:sym typeface="Tahoma"/>
            </a:endParaRPr>
          </a:p>
        </p:txBody>
      </p:sp>
      <p:grpSp>
        <p:nvGrpSpPr>
          <p:cNvPr id="336" name="Google Shape;336;p3"/>
          <p:cNvGrpSpPr/>
          <p:nvPr/>
        </p:nvGrpSpPr>
        <p:grpSpPr>
          <a:xfrm>
            <a:off x="1252864" y="3771990"/>
            <a:ext cx="410873" cy="459701"/>
            <a:chOff x="93" y="2448"/>
            <a:chExt cx="345" cy="386"/>
          </a:xfrm>
        </p:grpSpPr>
        <p:sp>
          <p:nvSpPr>
            <p:cNvPr id="337" name="Google Shape;337;p3"/>
            <p:cNvSpPr/>
            <p:nvPr/>
          </p:nvSpPr>
          <p:spPr>
            <a:xfrm>
              <a:off x="93" y="2448"/>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38" name="Google Shape;338;p3"/>
            <p:cNvSpPr/>
            <p:nvPr/>
          </p:nvSpPr>
          <p:spPr>
            <a:xfrm>
              <a:off x="94" y="2448"/>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39" name="Google Shape;339;p3"/>
            <p:cNvSpPr/>
            <p:nvPr/>
          </p:nvSpPr>
          <p:spPr>
            <a:xfrm>
              <a:off x="99" y="2451"/>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0" name="Google Shape;340;p3"/>
            <p:cNvSpPr/>
            <p:nvPr/>
          </p:nvSpPr>
          <p:spPr>
            <a:xfrm>
              <a:off x="112" y="2475"/>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1" name="Google Shape;341;p3"/>
            <p:cNvSpPr/>
            <p:nvPr/>
          </p:nvSpPr>
          <p:spPr>
            <a:xfrm>
              <a:off x="334" y="2485"/>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2" name="Google Shape;342;p3"/>
            <p:cNvSpPr/>
            <p:nvPr/>
          </p:nvSpPr>
          <p:spPr>
            <a:xfrm>
              <a:off x="231" y="2541"/>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3" name="Google Shape;343;p3"/>
            <p:cNvSpPr/>
            <p:nvPr/>
          </p:nvSpPr>
          <p:spPr>
            <a:xfrm>
              <a:off x="287" y="2545"/>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4" name="Google Shape;344;p3"/>
            <p:cNvSpPr/>
            <p:nvPr/>
          </p:nvSpPr>
          <p:spPr>
            <a:xfrm>
              <a:off x="236" y="2561"/>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5" name="Google Shape;345;p3"/>
            <p:cNvSpPr/>
            <p:nvPr/>
          </p:nvSpPr>
          <p:spPr>
            <a:xfrm>
              <a:off x="291" y="2562"/>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6" name="Google Shape;346;p3"/>
            <p:cNvSpPr/>
            <p:nvPr/>
          </p:nvSpPr>
          <p:spPr>
            <a:xfrm>
              <a:off x="297" y="2565"/>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7" name="Google Shape;347;p3"/>
            <p:cNvSpPr/>
            <p:nvPr/>
          </p:nvSpPr>
          <p:spPr>
            <a:xfrm>
              <a:off x="217" y="2588"/>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8" name="Google Shape;348;p3"/>
            <p:cNvSpPr/>
            <p:nvPr/>
          </p:nvSpPr>
          <p:spPr>
            <a:xfrm>
              <a:off x="263" y="2593"/>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9" name="Google Shape;349;p3"/>
            <p:cNvSpPr/>
            <p:nvPr/>
          </p:nvSpPr>
          <p:spPr>
            <a:xfrm>
              <a:off x="166" y="2622"/>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50" name="Google Shape;350;p3"/>
            <p:cNvSpPr/>
            <p:nvPr/>
          </p:nvSpPr>
          <p:spPr>
            <a:xfrm>
              <a:off x="258" y="2628"/>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51" name="Google Shape;351;p3"/>
            <p:cNvSpPr/>
            <p:nvPr/>
          </p:nvSpPr>
          <p:spPr>
            <a:xfrm>
              <a:off x="267" y="2629"/>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52" name="Google Shape;352;p3"/>
            <p:cNvSpPr/>
            <p:nvPr/>
          </p:nvSpPr>
          <p:spPr>
            <a:xfrm>
              <a:off x="228" y="2686"/>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53" name="Google Shape;353;p3"/>
            <p:cNvSpPr/>
            <p:nvPr/>
          </p:nvSpPr>
          <p:spPr>
            <a:xfrm>
              <a:off x="259" y="2693"/>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54" name="Google Shape;354;p3"/>
            <p:cNvSpPr/>
            <p:nvPr/>
          </p:nvSpPr>
          <p:spPr>
            <a:xfrm>
              <a:off x="140" y="2694"/>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55" name="Google Shape;355;p3"/>
            <p:cNvSpPr/>
            <p:nvPr/>
          </p:nvSpPr>
          <p:spPr>
            <a:xfrm>
              <a:off x="364" y="2754"/>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356" name="Google Shape;356;p3"/>
          <p:cNvGrpSpPr/>
          <p:nvPr/>
        </p:nvGrpSpPr>
        <p:grpSpPr>
          <a:xfrm>
            <a:off x="1825705" y="3771990"/>
            <a:ext cx="410872" cy="459701"/>
            <a:chOff x="574" y="2448"/>
            <a:chExt cx="345" cy="386"/>
          </a:xfrm>
        </p:grpSpPr>
        <p:sp>
          <p:nvSpPr>
            <p:cNvPr id="357" name="Google Shape;357;p3"/>
            <p:cNvSpPr/>
            <p:nvPr/>
          </p:nvSpPr>
          <p:spPr>
            <a:xfrm>
              <a:off x="574" y="2448"/>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58" name="Google Shape;358;p3"/>
            <p:cNvSpPr/>
            <p:nvPr/>
          </p:nvSpPr>
          <p:spPr>
            <a:xfrm>
              <a:off x="575" y="2448"/>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59" name="Google Shape;359;p3"/>
            <p:cNvSpPr/>
            <p:nvPr/>
          </p:nvSpPr>
          <p:spPr>
            <a:xfrm>
              <a:off x="580" y="2451"/>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60" name="Google Shape;360;p3"/>
            <p:cNvSpPr/>
            <p:nvPr/>
          </p:nvSpPr>
          <p:spPr>
            <a:xfrm>
              <a:off x="593" y="2475"/>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61" name="Google Shape;361;p3"/>
            <p:cNvSpPr/>
            <p:nvPr/>
          </p:nvSpPr>
          <p:spPr>
            <a:xfrm>
              <a:off x="815" y="2485"/>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62" name="Google Shape;362;p3"/>
            <p:cNvSpPr/>
            <p:nvPr/>
          </p:nvSpPr>
          <p:spPr>
            <a:xfrm>
              <a:off x="712" y="2541"/>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63" name="Google Shape;363;p3"/>
            <p:cNvSpPr/>
            <p:nvPr/>
          </p:nvSpPr>
          <p:spPr>
            <a:xfrm>
              <a:off x="768" y="2545"/>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64" name="Google Shape;364;p3"/>
            <p:cNvSpPr/>
            <p:nvPr/>
          </p:nvSpPr>
          <p:spPr>
            <a:xfrm>
              <a:off x="717" y="2561"/>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65" name="Google Shape;365;p3"/>
            <p:cNvSpPr/>
            <p:nvPr/>
          </p:nvSpPr>
          <p:spPr>
            <a:xfrm>
              <a:off x="772" y="2562"/>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66" name="Google Shape;366;p3"/>
            <p:cNvSpPr/>
            <p:nvPr/>
          </p:nvSpPr>
          <p:spPr>
            <a:xfrm>
              <a:off x="778" y="2565"/>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67" name="Google Shape;367;p3"/>
            <p:cNvSpPr/>
            <p:nvPr/>
          </p:nvSpPr>
          <p:spPr>
            <a:xfrm>
              <a:off x="698" y="2588"/>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68" name="Google Shape;368;p3"/>
            <p:cNvSpPr/>
            <p:nvPr/>
          </p:nvSpPr>
          <p:spPr>
            <a:xfrm>
              <a:off x="744" y="2593"/>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69" name="Google Shape;369;p3"/>
            <p:cNvSpPr/>
            <p:nvPr/>
          </p:nvSpPr>
          <p:spPr>
            <a:xfrm>
              <a:off x="647" y="2622"/>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70" name="Google Shape;370;p3"/>
            <p:cNvSpPr/>
            <p:nvPr/>
          </p:nvSpPr>
          <p:spPr>
            <a:xfrm>
              <a:off x="739" y="2628"/>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71" name="Google Shape;371;p3"/>
            <p:cNvSpPr/>
            <p:nvPr/>
          </p:nvSpPr>
          <p:spPr>
            <a:xfrm>
              <a:off x="748" y="2629"/>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72" name="Google Shape;372;p3"/>
            <p:cNvSpPr/>
            <p:nvPr/>
          </p:nvSpPr>
          <p:spPr>
            <a:xfrm>
              <a:off x="709" y="2686"/>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73" name="Google Shape;373;p3"/>
            <p:cNvSpPr/>
            <p:nvPr/>
          </p:nvSpPr>
          <p:spPr>
            <a:xfrm>
              <a:off x="740" y="2693"/>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74" name="Google Shape;374;p3"/>
            <p:cNvSpPr/>
            <p:nvPr/>
          </p:nvSpPr>
          <p:spPr>
            <a:xfrm>
              <a:off x="621" y="2694"/>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75" name="Google Shape;375;p3"/>
            <p:cNvSpPr/>
            <p:nvPr/>
          </p:nvSpPr>
          <p:spPr>
            <a:xfrm>
              <a:off x="845" y="2754"/>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376" name="Google Shape;376;p3"/>
          <p:cNvGrpSpPr/>
          <p:nvPr/>
        </p:nvGrpSpPr>
        <p:grpSpPr>
          <a:xfrm>
            <a:off x="2429508" y="4429386"/>
            <a:ext cx="410873" cy="459701"/>
            <a:chOff x="1081" y="3000"/>
            <a:chExt cx="345" cy="386"/>
          </a:xfrm>
        </p:grpSpPr>
        <p:sp>
          <p:nvSpPr>
            <p:cNvPr id="377" name="Google Shape;377;p3"/>
            <p:cNvSpPr/>
            <p:nvPr/>
          </p:nvSpPr>
          <p:spPr>
            <a:xfrm>
              <a:off x="1081" y="3000"/>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78" name="Google Shape;378;p3"/>
            <p:cNvSpPr/>
            <p:nvPr/>
          </p:nvSpPr>
          <p:spPr>
            <a:xfrm>
              <a:off x="1082" y="3000"/>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79" name="Google Shape;379;p3"/>
            <p:cNvSpPr/>
            <p:nvPr/>
          </p:nvSpPr>
          <p:spPr>
            <a:xfrm>
              <a:off x="1087" y="3003"/>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0" name="Google Shape;380;p3"/>
            <p:cNvSpPr/>
            <p:nvPr/>
          </p:nvSpPr>
          <p:spPr>
            <a:xfrm>
              <a:off x="1100" y="3027"/>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1" name="Google Shape;381;p3"/>
            <p:cNvSpPr/>
            <p:nvPr/>
          </p:nvSpPr>
          <p:spPr>
            <a:xfrm>
              <a:off x="1322" y="3037"/>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2" name="Google Shape;382;p3"/>
            <p:cNvSpPr/>
            <p:nvPr/>
          </p:nvSpPr>
          <p:spPr>
            <a:xfrm>
              <a:off x="1219" y="3093"/>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3" name="Google Shape;383;p3"/>
            <p:cNvSpPr/>
            <p:nvPr/>
          </p:nvSpPr>
          <p:spPr>
            <a:xfrm>
              <a:off x="1275" y="3097"/>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4" name="Google Shape;384;p3"/>
            <p:cNvSpPr/>
            <p:nvPr/>
          </p:nvSpPr>
          <p:spPr>
            <a:xfrm>
              <a:off x="1224" y="3113"/>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5" name="Google Shape;385;p3"/>
            <p:cNvSpPr/>
            <p:nvPr/>
          </p:nvSpPr>
          <p:spPr>
            <a:xfrm>
              <a:off x="1279" y="3114"/>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6" name="Google Shape;386;p3"/>
            <p:cNvSpPr/>
            <p:nvPr/>
          </p:nvSpPr>
          <p:spPr>
            <a:xfrm>
              <a:off x="1285" y="3117"/>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7" name="Google Shape;387;p3"/>
            <p:cNvSpPr/>
            <p:nvPr/>
          </p:nvSpPr>
          <p:spPr>
            <a:xfrm>
              <a:off x="1205" y="3140"/>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8" name="Google Shape;388;p3"/>
            <p:cNvSpPr/>
            <p:nvPr/>
          </p:nvSpPr>
          <p:spPr>
            <a:xfrm>
              <a:off x="1251" y="3145"/>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9" name="Google Shape;389;p3"/>
            <p:cNvSpPr/>
            <p:nvPr/>
          </p:nvSpPr>
          <p:spPr>
            <a:xfrm>
              <a:off x="1154" y="3174"/>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90" name="Google Shape;390;p3"/>
            <p:cNvSpPr/>
            <p:nvPr/>
          </p:nvSpPr>
          <p:spPr>
            <a:xfrm>
              <a:off x="1246" y="3180"/>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91" name="Google Shape;391;p3"/>
            <p:cNvSpPr/>
            <p:nvPr/>
          </p:nvSpPr>
          <p:spPr>
            <a:xfrm>
              <a:off x="1255" y="3181"/>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92" name="Google Shape;392;p3"/>
            <p:cNvSpPr/>
            <p:nvPr/>
          </p:nvSpPr>
          <p:spPr>
            <a:xfrm>
              <a:off x="1216" y="3238"/>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93" name="Google Shape;393;p3"/>
            <p:cNvSpPr/>
            <p:nvPr/>
          </p:nvSpPr>
          <p:spPr>
            <a:xfrm>
              <a:off x="1247" y="3245"/>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94" name="Google Shape;394;p3"/>
            <p:cNvSpPr/>
            <p:nvPr/>
          </p:nvSpPr>
          <p:spPr>
            <a:xfrm>
              <a:off x="1128" y="3246"/>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95" name="Google Shape;395;p3"/>
            <p:cNvSpPr/>
            <p:nvPr/>
          </p:nvSpPr>
          <p:spPr>
            <a:xfrm>
              <a:off x="1352" y="3306"/>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396" name="Google Shape;396;p3"/>
          <p:cNvGrpSpPr/>
          <p:nvPr/>
        </p:nvGrpSpPr>
        <p:grpSpPr>
          <a:xfrm>
            <a:off x="2422362" y="3771990"/>
            <a:ext cx="410873" cy="459701"/>
            <a:chOff x="1075" y="2448"/>
            <a:chExt cx="345" cy="386"/>
          </a:xfrm>
        </p:grpSpPr>
        <p:sp>
          <p:nvSpPr>
            <p:cNvPr id="397" name="Google Shape;397;p3"/>
            <p:cNvSpPr/>
            <p:nvPr/>
          </p:nvSpPr>
          <p:spPr>
            <a:xfrm>
              <a:off x="1075" y="2448"/>
              <a:ext cx="345" cy="3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98" name="Google Shape;398;p3"/>
            <p:cNvSpPr/>
            <p:nvPr/>
          </p:nvSpPr>
          <p:spPr>
            <a:xfrm>
              <a:off x="1076" y="2448"/>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99" name="Google Shape;399;p3"/>
            <p:cNvSpPr/>
            <p:nvPr/>
          </p:nvSpPr>
          <p:spPr>
            <a:xfrm>
              <a:off x="1081" y="2451"/>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00" name="Google Shape;400;p3"/>
            <p:cNvSpPr/>
            <p:nvPr/>
          </p:nvSpPr>
          <p:spPr>
            <a:xfrm>
              <a:off x="1094" y="2475"/>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01" name="Google Shape;401;p3"/>
            <p:cNvSpPr/>
            <p:nvPr/>
          </p:nvSpPr>
          <p:spPr>
            <a:xfrm>
              <a:off x="1316" y="2485"/>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02" name="Google Shape;402;p3"/>
            <p:cNvSpPr/>
            <p:nvPr/>
          </p:nvSpPr>
          <p:spPr>
            <a:xfrm>
              <a:off x="1213" y="2541"/>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03" name="Google Shape;403;p3"/>
            <p:cNvSpPr/>
            <p:nvPr/>
          </p:nvSpPr>
          <p:spPr>
            <a:xfrm>
              <a:off x="1269" y="2545"/>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04" name="Google Shape;404;p3"/>
            <p:cNvSpPr/>
            <p:nvPr/>
          </p:nvSpPr>
          <p:spPr>
            <a:xfrm>
              <a:off x="1218" y="2561"/>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05" name="Google Shape;405;p3"/>
            <p:cNvSpPr/>
            <p:nvPr/>
          </p:nvSpPr>
          <p:spPr>
            <a:xfrm>
              <a:off x="1273" y="2562"/>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06" name="Google Shape;406;p3"/>
            <p:cNvSpPr/>
            <p:nvPr/>
          </p:nvSpPr>
          <p:spPr>
            <a:xfrm>
              <a:off x="1279" y="2565"/>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07" name="Google Shape;407;p3"/>
            <p:cNvSpPr/>
            <p:nvPr/>
          </p:nvSpPr>
          <p:spPr>
            <a:xfrm>
              <a:off x="1199" y="2588"/>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08" name="Google Shape;408;p3"/>
            <p:cNvSpPr/>
            <p:nvPr/>
          </p:nvSpPr>
          <p:spPr>
            <a:xfrm>
              <a:off x="1245" y="2593"/>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09" name="Google Shape;409;p3"/>
            <p:cNvSpPr/>
            <p:nvPr/>
          </p:nvSpPr>
          <p:spPr>
            <a:xfrm>
              <a:off x="1148" y="2622"/>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10" name="Google Shape;410;p3"/>
            <p:cNvSpPr/>
            <p:nvPr/>
          </p:nvSpPr>
          <p:spPr>
            <a:xfrm>
              <a:off x="1240" y="2628"/>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11" name="Google Shape;411;p3"/>
            <p:cNvSpPr/>
            <p:nvPr/>
          </p:nvSpPr>
          <p:spPr>
            <a:xfrm>
              <a:off x="1249" y="2629"/>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12" name="Google Shape;412;p3"/>
            <p:cNvSpPr/>
            <p:nvPr/>
          </p:nvSpPr>
          <p:spPr>
            <a:xfrm>
              <a:off x="1210" y="2686"/>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13" name="Google Shape;413;p3"/>
            <p:cNvSpPr/>
            <p:nvPr/>
          </p:nvSpPr>
          <p:spPr>
            <a:xfrm>
              <a:off x="1241" y="2693"/>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14" name="Google Shape;414;p3"/>
            <p:cNvSpPr/>
            <p:nvPr/>
          </p:nvSpPr>
          <p:spPr>
            <a:xfrm>
              <a:off x="1122" y="2694"/>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15" name="Google Shape;415;p3"/>
            <p:cNvSpPr/>
            <p:nvPr/>
          </p:nvSpPr>
          <p:spPr>
            <a:xfrm>
              <a:off x="1346" y="2754"/>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416" name="Google Shape;416;p3"/>
          <p:cNvGrpSpPr/>
          <p:nvPr/>
        </p:nvGrpSpPr>
        <p:grpSpPr>
          <a:xfrm>
            <a:off x="3014258" y="4429386"/>
            <a:ext cx="410872" cy="459701"/>
            <a:chOff x="1572" y="3000"/>
            <a:chExt cx="345" cy="386"/>
          </a:xfrm>
        </p:grpSpPr>
        <p:sp>
          <p:nvSpPr>
            <p:cNvPr id="417" name="Google Shape;417;p3"/>
            <p:cNvSpPr/>
            <p:nvPr/>
          </p:nvSpPr>
          <p:spPr>
            <a:xfrm>
              <a:off x="1572" y="3000"/>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18" name="Google Shape;418;p3"/>
            <p:cNvSpPr/>
            <p:nvPr/>
          </p:nvSpPr>
          <p:spPr>
            <a:xfrm>
              <a:off x="1573" y="3000"/>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19" name="Google Shape;419;p3"/>
            <p:cNvSpPr/>
            <p:nvPr/>
          </p:nvSpPr>
          <p:spPr>
            <a:xfrm>
              <a:off x="1578" y="3003"/>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20" name="Google Shape;420;p3"/>
            <p:cNvSpPr/>
            <p:nvPr/>
          </p:nvSpPr>
          <p:spPr>
            <a:xfrm>
              <a:off x="1591" y="3027"/>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21" name="Google Shape;421;p3"/>
            <p:cNvSpPr/>
            <p:nvPr/>
          </p:nvSpPr>
          <p:spPr>
            <a:xfrm>
              <a:off x="1813" y="3037"/>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22" name="Google Shape;422;p3"/>
            <p:cNvSpPr/>
            <p:nvPr/>
          </p:nvSpPr>
          <p:spPr>
            <a:xfrm>
              <a:off x="1710" y="3093"/>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23" name="Google Shape;423;p3"/>
            <p:cNvSpPr/>
            <p:nvPr/>
          </p:nvSpPr>
          <p:spPr>
            <a:xfrm>
              <a:off x="1766" y="3097"/>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24" name="Google Shape;424;p3"/>
            <p:cNvSpPr/>
            <p:nvPr/>
          </p:nvSpPr>
          <p:spPr>
            <a:xfrm>
              <a:off x="1715" y="3113"/>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25" name="Google Shape;425;p3"/>
            <p:cNvSpPr/>
            <p:nvPr/>
          </p:nvSpPr>
          <p:spPr>
            <a:xfrm>
              <a:off x="1770" y="3114"/>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26" name="Google Shape;426;p3"/>
            <p:cNvSpPr/>
            <p:nvPr/>
          </p:nvSpPr>
          <p:spPr>
            <a:xfrm>
              <a:off x="1776" y="3117"/>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27" name="Google Shape;427;p3"/>
            <p:cNvSpPr/>
            <p:nvPr/>
          </p:nvSpPr>
          <p:spPr>
            <a:xfrm>
              <a:off x="1696" y="3140"/>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28" name="Google Shape;428;p3"/>
            <p:cNvSpPr/>
            <p:nvPr/>
          </p:nvSpPr>
          <p:spPr>
            <a:xfrm>
              <a:off x="1742" y="3145"/>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29" name="Google Shape;429;p3"/>
            <p:cNvSpPr/>
            <p:nvPr/>
          </p:nvSpPr>
          <p:spPr>
            <a:xfrm>
              <a:off x="1645" y="3174"/>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30" name="Google Shape;430;p3"/>
            <p:cNvSpPr/>
            <p:nvPr/>
          </p:nvSpPr>
          <p:spPr>
            <a:xfrm>
              <a:off x="1737" y="3180"/>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31" name="Google Shape;431;p3"/>
            <p:cNvSpPr/>
            <p:nvPr/>
          </p:nvSpPr>
          <p:spPr>
            <a:xfrm>
              <a:off x="1746" y="3181"/>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32" name="Google Shape;432;p3"/>
            <p:cNvSpPr/>
            <p:nvPr/>
          </p:nvSpPr>
          <p:spPr>
            <a:xfrm>
              <a:off x="1707" y="3238"/>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33" name="Google Shape;433;p3"/>
            <p:cNvSpPr/>
            <p:nvPr/>
          </p:nvSpPr>
          <p:spPr>
            <a:xfrm>
              <a:off x="1738" y="3245"/>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34" name="Google Shape;434;p3"/>
            <p:cNvSpPr/>
            <p:nvPr/>
          </p:nvSpPr>
          <p:spPr>
            <a:xfrm>
              <a:off x="1619" y="3246"/>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35" name="Google Shape;435;p3"/>
            <p:cNvSpPr/>
            <p:nvPr/>
          </p:nvSpPr>
          <p:spPr>
            <a:xfrm>
              <a:off x="1843" y="3306"/>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436" name="Google Shape;436;p3"/>
          <p:cNvGrpSpPr/>
          <p:nvPr/>
        </p:nvGrpSpPr>
        <p:grpSpPr>
          <a:xfrm>
            <a:off x="3541841" y="4429386"/>
            <a:ext cx="410873" cy="459701"/>
            <a:chOff x="2015" y="3000"/>
            <a:chExt cx="345" cy="386"/>
          </a:xfrm>
        </p:grpSpPr>
        <p:sp>
          <p:nvSpPr>
            <p:cNvPr id="437" name="Google Shape;437;p3"/>
            <p:cNvSpPr/>
            <p:nvPr/>
          </p:nvSpPr>
          <p:spPr>
            <a:xfrm>
              <a:off x="2015" y="3000"/>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38" name="Google Shape;438;p3"/>
            <p:cNvSpPr/>
            <p:nvPr/>
          </p:nvSpPr>
          <p:spPr>
            <a:xfrm>
              <a:off x="2016" y="3000"/>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39" name="Google Shape;439;p3"/>
            <p:cNvSpPr/>
            <p:nvPr/>
          </p:nvSpPr>
          <p:spPr>
            <a:xfrm>
              <a:off x="2021" y="3003"/>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40" name="Google Shape;440;p3"/>
            <p:cNvSpPr/>
            <p:nvPr/>
          </p:nvSpPr>
          <p:spPr>
            <a:xfrm>
              <a:off x="2034" y="3027"/>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41" name="Google Shape;441;p3"/>
            <p:cNvSpPr/>
            <p:nvPr/>
          </p:nvSpPr>
          <p:spPr>
            <a:xfrm>
              <a:off x="2256" y="3037"/>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42" name="Google Shape;442;p3"/>
            <p:cNvSpPr/>
            <p:nvPr/>
          </p:nvSpPr>
          <p:spPr>
            <a:xfrm>
              <a:off x="2153" y="3093"/>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43" name="Google Shape;443;p3"/>
            <p:cNvSpPr/>
            <p:nvPr/>
          </p:nvSpPr>
          <p:spPr>
            <a:xfrm>
              <a:off x="2209" y="3097"/>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44" name="Google Shape;444;p3"/>
            <p:cNvSpPr/>
            <p:nvPr/>
          </p:nvSpPr>
          <p:spPr>
            <a:xfrm>
              <a:off x="2158" y="3113"/>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45" name="Google Shape;445;p3"/>
            <p:cNvSpPr/>
            <p:nvPr/>
          </p:nvSpPr>
          <p:spPr>
            <a:xfrm>
              <a:off x="2213" y="3114"/>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46" name="Google Shape;446;p3"/>
            <p:cNvSpPr/>
            <p:nvPr/>
          </p:nvSpPr>
          <p:spPr>
            <a:xfrm>
              <a:off x="2219" y="3117"/>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47" name="Google Shape;447;p3"/>
            <p:cNvSpPr/>
            <p:nvPr/>
          </p:nvSpPr>
          <p:spPr>
            <a:xfrm>
              <a:off x="2139" y="3140"/>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48" name="Google Shape;448;p3"/>
            <p:cNvSpPr/>
            <p:nvPr/>
          </p:nvSpPr>
          <p:spPr>
            <a:xfrm>
              <a:off x="2185" y="3145"/>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49" name="Google Shape;449;p3"/>
            <p:cNvSpPr/>
            <p:nvPr/>
          </p:nvSpPr>
          <p:spPr>
            <a:xfrm>
              <a:off x="2088" y="3174"/>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50" name="Google Shape;450;p3"/>
            <p:cNvSpPr/>
            <p:nvPr/>
          </p:nvSpPr>
          <p:spPr>
            <a:xfrm>
              <a:off x="2180" y="3180"/>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51" name="Google Shape;451;p3"/>
            <p:cNvSpPr/>
            <p:nvPr/>
          </p:nvSpPr>
          <p:spPr>
            <a:xfrm>
              <a:off x="2189" y="3181"/>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52" name="Google Shape;452;p3"/>
            <p:cNvSpPr/>
            <p:nvPr/>
          </p:nvSpPr>
          <p:spPr>
            <a:xfrm>
              <a:off x="2150" y="3238"/>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53" name="Google Shape;453;p3"/>
            <p:cNvSpPr/>
            <p:nvPr/>
          </p:nvSpPr>
          <p:spPr>
            <a:xfrm>
              <a:off x="2181" y="3245"/>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54" name="Google Shape;454;p3"/>
            <p:cNvSpPr/>
            <p:nvPr/>
          </p:nvSpPr>
          <p:spPr>
            <a:xfrm>
              <a:off x="2062" y="3246"/>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55" name="Google Shape;455;p3"/>
            <p:cNvSpPr/>
            <p:nvPr/>
          </p:nvSpPr>
          <p:spPr>
            <a:xfrm>
              <a:off x="2286" y="3306"/>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456" name="Google Shape;456;p3"/>
          <p:cNvGrpSpPr/>
          <p:nvPr/>
        </p:nvGrpSpPr>
        <p:grpSpPr>
          <a:xfrm>
            <a:off x="3007112" y="3771990"/>
            <a:ext cx="410872" cy="459701"/>
            <a:chOff x="1566" y="2448"/>
            <a:chExt cx="345" cy="386"/>
          </a:xfrm>
        </p:grpSpPr>
        <p:sp>
          <p:nvSpPr>
            <p:cNvPr id="457" name="Google Shape;457;p3"/>
            <p:cNvSpPr/>
            <p:nvPr/>
          </p:nvSpPr>
          <p:spPr>
            <a:xfrm>
              <a:off x="1566" y="2448"/>
              <a:ext cx="345" cy="3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58" name="Google Shape;458;p3"/>
            <p:cNvSpPr/>
            <p:nvPr/>
          </p:nvSpPr>
          <p:spPr>
            <a:xfrm>
              <a:off x="1567" y="2448"/>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59" name="Google Shape;459;p3"/>
            <p:cNvSpPr/>
            <p:nvPr/>
          </p:nvSpPr>
          <p:spPr>
            <a:xfrm>
              <a:off x="1572" y="2451"/>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60" name="Google Shape;460;p3"/>
            <p:cNvSpPr/>
            <p:nvPr/>
          </p:nvSpPr>
          <p:spPr>
            <a:xfrm>
              <a:off x="1585" y="2475"/>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61" name="Google Shape;461;p3"/>
            <p:cNvSpPr/>
            <p:nvPr/>
          </p:nvSpPr>
          <p:spPr>
            <a:xfrm>
              <a:off x="1807" y="2485"/>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62" name="Google Shape;462;p3"/>
            <p:cNvSpPr/>
            <p:nvPr/>
          </p:nvSpPr>
          <p:spPr>
            <a:xfrm>
              <a:off x="1704" y="2541"/>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63" name="Google Shape;463;p3"/>
            <p:cNvSpPr/>
            <p:nvPr/>
          </p:nvSpPr>
          <p:spPr>
            <a:xfrm>
              <a:off x="1760" y="2545"/>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64" name="Google Shape;464;p3"/>
            <p:cNvSpPr/>
            <p:nvPr/>
          </p:nvSpPr>
          <p:spPr>
            <a:xfrm>
              <a:off x="1709" y="2561"/>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65" name="Google Shape;465;p3"/>
            <p:cNvSpPr/>
            <p:nvPr/>
          </p:nvSpPr>
          <p:spPr>
            <a:xfrm>
              <a:off x="1764" y="2562"/>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66" name="Google Shape;466;p3"/>
            <p:cNvSpPr/>
            <p:nvPr/>
          </p:nvSpPr>
          <p:spPr>
            <a:xfrm>
              <a:off x="1770" y="2565"/>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67" name="Google Shape;467;p3"/>
            <p:cNvSpPr/>
            <p:nvPr/>
          </p:nvSpPr>
          <p:spPr>
            <a:xfrm>
              <a:off x="1690" y="2588"/>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68" name="Google Shape;468;p3"/>
            <p:cNvSpPr/>
            <p:nvPr/>
          </p:nvSpPr>
          <p:spPr>
            <a:xfrm>
              <a:off x="1736" y="2593"/>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69" name="Google Shape;469;p3"/>
            <p:cNvSpPr/>
            <p:nvPr/>
          </p:nvSpPr>
          <p:spPr>
            <a:xfrm>
              <a:off x="1639" y="2622"/>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70" name="Google Shape;470;p3"/>
            <p:cNvSpPr/>
            <p:nvPr/>
          </p:nvSpPr>
          <p:spPr>
            <a:xfrm>
              <a:off x="1731" y="2628"/>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71" name="Google Shape;471;p3"/>
            <p:cNvSpPr/>
            <p:nvPr/>
          </p:nvSpPr>
          <p:spPr>
            <a:xfrm>
              <a:off x="1740" y="2629"/>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72" name="Google Shape;472;p3"/>
            <p:cNvSpPr/>
            <p:nvPr/>
          </p:nvSpPr>
          <p:spPr>
            <a:xfrm>
              <a:off x="1701" y="2686"/>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73" name="Google Shape;473;p3"/>
            <p:cNvSpPr/>
            <p:nvPr/>
          </p:nvSpPr>
          <p:spPr>
            <a:xfrm>
              <a:off x="1732" y="2693"/>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74" name="Google Shape;474;p3"/>
            <p:cNvSpPr/>
            <p:nvPr/>
          </p:nvSpPr>
          <p:spPr>
            <a:xfrm>
              <a:off x="1613" y="2694"/>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75" name="Google Shape;475;p3"/>
            <p:cNvSpPr/>
            <p:nvPr/>
          </p:nvSpPr>
          <p:spPr>
            <a:xfrm>
              <a:off x="1837" y="2754"/>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476" name="Google Shape;476;p3"/>
          <p:cNvGrpSpPr/>
          <p:nvPr/>
        </p:nvGrpSpPr>
        <p:grpSpPr>
          <a:xfrm>
            <a:off x="4105155" y="3771990"/>
            <a:ext cx="410872" cy="459701"/>
            <a:chOff x="2488" y="2448"/>
            <a:chExt cx="345" cy="386"/>
          </a:xfrm>
        </p:grpSpPr>
        <p:sp>
          <p:nvSpPr>
            <p:cNvPr id="477" name="Google Shape;477;p3"/>
            <p:cNvSpPr/>
            <p:nvPr/>
          </p:nvSpPr>
          <p:spPr>
            <a:xfrm>
              <a:off x="2488" y="2448"/>
              <a:ext cx="345" cy="3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78" name="Google Shape;478;p3"/>
            <p:cNvSpPr/>
            <p:nvPr/>
          </p:nvSpPr>
          <p:spPr>
            <a:xfrm>
              <a:off x="2489" y="2448"/>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79" name="Google Shape;479;p3"/>
            <p:cNvSpPr/>
            <p:nvPr/>
          </p:nvSpPr>
          <p:spPr>
            <a:xfrm>
              <a:off x="2494" y="2451"/>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0" name="Google Shape;480;p3"/>
            <p:cNvSpPr/>
            <p:nvPr/>
          </p:nvSpPr>
          <p:spPr>
            <a:xfrm>
              <a:off x="2507" y="2475"/>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1" name="Google Shape;481;p3"/>
            <p:cNvSpPr/>
            <p:nvPr/>
          </p:nvSpPr>
          <p:spPr>
            <a:xfrm>
              <a:off x="2729" y="2485"/>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2" name="Google Shape;482;p3"/>
            <p:cNvSpPr/>
            <p:nvPr/>
          </p:nvSpPr>
          <p:spPr>
            <a:xfrm>
              <a:off x="2626" y="2541"/>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3" name="Google Shape;483;p3"/>
            <p:cNvSpPr/>
            <p:nvPr/>
          </p:nvSpPr>
          <p:spPr>
            <a:xfrm>
              <a:off x="2682" y="2545"/>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4" name="Google Shape;484;p3"/>
            <p:cNvSpPr/>
            <p:nvPr/>
          </p:nvSpPr>
          <p:spPr>
            <a:xfrm>
              <a:off x="2631" y="2561"/>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5" name="Google Shape;485;p3"/>
            <p:cNvSpPr/>
            <p:nvPr/>
          </p:nvSpPr>
          <p:spPr>
            <a:xfrm>
              <a:off x="2686" y="2562"/>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6" name="Google Shape;486;p3"/>
            <p:cNvSpPr/>
            <p:nvPr/>
          </p:nvSpPr>
          <p:spPr>
            <a:xfrm>
              <a:off x="2692" y="2565"/>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7" name="Google Shape;487;p3"/>
            <p:cNvSpPr/>
            <p:nvPr/>
          </p:nvSpPr>
          <p:spPr>
            <a:xfrm>
              <a:off x="2612" y="2588"/>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8" name="Google Shape;488;p3"/>
            <p:cNvSpPr/>
            <p:nvPr/>
          </p:nvSpPr>
          <p:spPr>
            <a:xfrm>
              <a:off x="2658" y="2593"/>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9" name="Google Shape;489;p3"/>
            <p:cNvSpPr/>
            <p:nvPr/>
          </p:nvSpPr>
          <p:spPr>
            <a:xfrm>
              <a:off x="2561" y="2622"/>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90" name="Google Shape;490;p3"/>
            <p:cNvSpPr/>
            <p:nvPr/>
          </p:nvSpPr>
          <p:spPr>
            <a:xfrm>
              <a:off x="2653" y="2628"/>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91" name="Google Shape;491;p3"/>
            <p:cNvSpPr/>
            <p:nvPr/>
          </p:nvSpPr>
          <p:spPr>
            <a:xfrm>
              <a:off x="2662" y="2629"/>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92" name="Google Shape;492;p3"/>
            <p:cNvSpPr/>
            <p:nvPr/>
          </p:nvSpPr>
          <p:spPr>
            <a:xfrm>
              <a:off x="2623" y="2686"/>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93" name="Google Shape;493;p3"/>
            <p:cNvSpPr/>
            <p:nvPr/>
          </p:nvSpPr>
          <p:spPr>
            <a:xfrm>
              <a:off x="2654" y="2693"/>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94" name="Google Shape;494;p3"/>
            <p:cNvSpPr/>
            <p:nvPr/>
          </p:nvSpPr>
          <p:spPr>
            <a:xfrm>
              <a:off x="2535" y="2694"/>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95" name="Google Shape;495;p3"/>
            <p:cNvSpPr/>
            <p:nvPr/>
          </p:nvSpPr>
          <p:spPr>
            <a:xfrm>
              <a:off x="2759" y="2754"/>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496" name="Google Shape;496;p3"/>
          <p:cNvGrpSpPr/>
          <p:nvPr/>
        </p:nvGrpSpPr>
        <p:grpSpPr>
          <a:xfrm>
            <a:off x="4112300" y="4397231"/>
            <a:ext cx="410872" cy="459701"/>
            <a:chOff x="2494" y="2973"/>
            <a:chExt cx="345" cy="386"/>
          </a:xfrm>
        </p:grpSpPr>
        <p:sp>
          <p:nvSpPr>
            <p:cNvPr id="497" name="Google Shape;497;p3"/>
            <p:cNvSpPr/>
            <p:nvPr/>
          </p:nvSpPr>
          <p:spPr>
            <a:xfrm>
              <a:off x="2494" y="2973"/>
              <a:ext cx="345" cy="3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98" name="Google Shape;498;p3"/>
            <p:cNvSpPr/>
            <p:nvPr/>
          </p:nvSpPr>
          <p:spPr>
            <a:xfrm>
              <a:off x="2495" y="2973"/>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99" name="Google Shape;499;p3"/>
            <p:cNvSpPr/>
            <p:nvPr/>
          </p:nvSpPr>
          <p:spPr>
            <a:xfrm>
              <a:off x="2500" y="2976"/>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00" name="Google Shape;500;p3"/>
            <p:cNvSpPr/>
            <p:nvPr/>
          </p:nvSpPr>
          <p:spPr>
            <a:xfrm>
              <a:off x="2513" y="3000"/>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01" name="Google Shape;501;p3"/>
            <p:cNvSpPr/>
            <p:nvPr/>
          </p:nvSpPr>
          <p:spPr>
            <a:xfrm>
              <a:off x="2735" y="3010"/>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02" name="Google Shape;502;p3"/>
            <p:cNvSpPr/>
            <p:nvPr/>
          </p:nvSpPr>
          <p:spPr>
            <a:xfrm>
              <a:off x="2632" y="3066"/>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03" name="Google Shape;503;p3"/>
            <p:cNvSpPr/>
            <p:nvPr/>
          </p:nvSpPr>
          <p:spPr>
            <a:xfrm>
              <a:off x="2688" y="3070"/>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04" name="Google Shape;504;p3"/>
            <p:cNvSpPr/>
            <p:nvPr/>
          </p:nvSpPr>
          <p:spPr>
            <a:xfrm>
              <a:off x="2637" y="3086"/>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05" name="Google Shape;505;p3"/>
            <p:cNvSpPr/>
            <p:nvPr/>
          </p:nvSpPr>
          <p:spPr>
            <a:xfrm>
              <a:off x="2692" y="3087"/>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06" name="Google Shape;506;p3"/>
            <p:cNvSpPr/>
            <p:nvPr/>
          </p:nvSpPr>
          <p:spPr>
            <a:xfrm>
              <a:off x="2698" y="3090"/>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07" name="Google Shape;507;p3"/>
            <p:cNvSpPr/>
            <p:nvPr/>
          </p:nvSpPr>
          <p:spPr>
            <a:xfrm>
              <a:off x="2618" y="3113"/>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08" name="Google Shape;508;p3"/>
            <p:cNvSpPr/>
            <p:nvPr/>
          </p:nvSpPr>
          <p:spPr>
            <a:xfrm>
              <a:off x="2664" y="3118"/>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09" name="Google Shape;509;p3"/>
            <p:cNvSpPr/>
            <p:nvPr/>
          </p:nvSpPr>
          <p:spPr>
            <a:xfrm>
              <a:off x="2567" y="3147"/>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10" name="Google Shape;510;p3"/>
            <p:cNvSpPr/>
            <p:nvPr/>
          </p:nvSpPr>
          <p:spPr>
            <a:xfrm>
              <a:off x="2659" y="3153"/>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11" name="Google Shape;511;p3"/>
            <p:cNvSpPr/>
            <p:nvPr/>
          </p:nvSpPr>
          <p:spPr>
            <a:xfrm>
              <a:off x="2668" y="3154"/>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12" name="Google Shape;512;p3"/>
            <p:cNvSpPr/>
            <p:nvPr/>
          </p:nvSpPr>
          <p:spPr>
            <a:xfrm>
              <a:off x="2629" y="3211"/>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13" name="Google Shape;513;p3"/>
            <p:cNvSpPr/>
            <p:nvPr/>
          </p:nvSpPr>
          <p:spPr>
            <a:xfrm>
              <a:off x="2660" y="3218"/>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14" name="Google Shape;514;p3"/>
            <p:cNvSpPr/>
            <p:nvPr/>
          </p:nvSpPr>
          <p:spPr>
            <a:xfrm>
              <a:off x="2541" y="3219"/>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15" name="Google Shape;515;p3"/>
            <p:cNvSpPr/>
            <p:nvPr/>
          </p:nvSpPr>
          <p:spPr>
            <a:xfrm>
              <a:off x="2765" y="3279"/>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516" name="Google Shape;516;p3"/>
          <p:cNvGrpSpPr/>
          <p:nvPr/>
        </p:nvGrpSpPr>
        <p:grpSpPr>
          <a:xfrm>
            <a:off x="4158746" y="5036763"/>
            <a:ext cx="410873" cy="459701"/>
            <a:chOff x="2533" y="3510"/>
            <a:chExt cx="345" cy="386"/>
          </a:xfrm>
        </p:grpSpPr>
        <p:sp>
          <p:nvSpPr>
            <p:cNvPr id="517" name="Google Shape;517;p3"/>
            <p:cNvSpPr/>
            <p:nvPr/>
          </p:nvSpPr>
          <p:spPr>
            <a:xfrm>
              <a:off x="2533" y="3510"/>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18" name="Google Shape;518;p3"/>
            <p:cNvSpPr/>
            <p:nvPr/>
          </p:nvSpPr>
          <p:spPr>
            <a:xfrm>
              <a:off x="2534" y="3510"/>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19" name="Google Shape;519;p3"/>
            <p:cNvSpPr/>
            <p:nvPr/>
          </p:nvSpPr>
          <p:spPr>
            <a:xfrm>
              <a:off x="2539" y="3513"/>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20" name="Google Shape;520;p3"/>
            <p:cNvSpPr/>
            <p:nvPr/>
          </p:nvSpPr>
          <p:spPr>
            <a:xfrm>
              <a:off x="2552" y="3537"/>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21" name="Google Shape;521;p3"/>
            <p:cNvSpPr/>
            <p:nvPr/>
          </p:nvSpPr>
          <p:spPr>
            <a:xfrm>
              <a:off x="2774" y="3547"/>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22" name="Google Shape;522;p3"/>
            <p:cNvSpPr/>
            <p:nvPr/>
          </p:nvSpPr>
          <p:spPr>
            <a:xfrm>
              <a:off x="2671" y="3603"/>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23" name="Google Shape;523;p3"/>
            <p:cNvSpPr/>
            <p:nvPr/>
          </p:nvSpPr>
          <p:spPr>
            <a:xfrm>
              <a:off x="2727" y="3607"/>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24" name="Google Shape;524;p3"/>
            <p:cNvSpPr/>
            <p:nvPr/>
          </p:nvSpPr>
          <p:spPr>
            <a:xfrm>
              <a:off x="2676" y="3623"/>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25" name="Google Shape;525;p3"/>
            <p:cNvSpPr/>
            <p:nvPr/>
          </p:nvSpPr>
          <p:spPr>
            <a:xfrm>
              <a:off x="2731" y="3624"/>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26" name="Google Shape;526;p3"/>
            <p:cNvSpPr/>
            <p:nvPr/>
          </p:nvSpPr>
          <p:spPr>
            <a:xfrm>
              <a:off x="2737" y="3627"/>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27" name="Google Shape;527;p3"/>
            <p:cNvSpPr/>
            <p:nvPr/>
          </p:nvSpPr>
          <p:spPr>
            <a:xfrm>
              <a:off x="2657" y="3650"/>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28" name="Google Shape;528;p3"/>
            <p:cNvSpPr/>
            <p:nvPr/>
          </p:nvSpPr>
          <p:spPr>
            <a:xfrm>
              <a:off x="2703" y="3655"/>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29" name="Google Shape;529;p3"/>
            <p:cNvSpPr/>
            <p:nvPr/>
          </p:nvSpPr>
          <p:spPr>
            <a:xfrm>
              <a:off x="2606" y="3684"/>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30" name="Google Shape;530;p3"/>
            <p:cNvSpPr/>
            <p:nvPr/>
          </p:nvSpPr>
          <p:spPr>
            <a:xfrm>
              <a:off x="2698" y="3690"/>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31" name="Google Shape;531;p3"/>
            <p:cNvSpPr/>
            <p:nvPr/>
          </p:nvSpPr>
          <p:spPr>
            <a:xfrm>
              <a:off x="2707" y="3691"/>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32" name="Google Shape;532;p3"/>
            <p:cNvSpPr/>
            <p:nvPr/>
          </p:nvSpPr>
          <p:spPr>
            <a:xfrm>
              <a:off x="2668" y="3748"/>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33" name="Google Shape;533;p3"/>
            <p:cNvSpPr/>
            <p:nvPr/>
          </p:nvSpPr>
          <p:spPr>
            <a:xfrm>
              <a:off x="2699" y="3755"/>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34" name="Google Shape;534;p3"/>
            <p:cNvSpPr/>
            <p:nvPr/>
          </p:nvSpPr>
          <p:spPr>
            <a:xfrm>
              <a:off x="2580" y="3756"/>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35" name="Google Shape;535;p3"/>
            <p:cNvSpPr/>
            <p:nvPr/>
          </p:nvSpPr>
          <p:spPr>
            <a:xfrm>
              <a:off x="2804" y="3816"/>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536" name="Google Shape;536;p3"/>
          <p:cNvGrpSpPr/>
          <p:nvPr/>
        </p:nvGrpSpPr>
        <p:grpSpPr>
          <a:xfrm>
            <a:off x="4682757" y="4397231"/>
            <a:ext cx="410873" cy="459701"/>
            <a:chOff x="2973" y="2973"/>
            <a:chExt cx="345" cy="386"/>
          </a:xfrm>
        </p:grpSpPr>
        <p:sp>
          <p:nvSpPr>
            <p:cNvPr id="537" name="Google Shape;537;p3"/>
            <p:cNvSpPr/>
            <p:nvPr/>
          </p:nvSpPr>
          <p:spPr>
            <a:xfrm>
              <a:off x="2973" y="2973"/>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38" name="Google Shape;538;p3"/>
            <p:cNvSpPr/>
            <p:nvPr/>
          </p:nvSpPr>
          <p:spPr>
            <a:xfrm>
              <a:off x="2974" y="2973"/>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39" name="Google Shape;539;p3"/>
            <p:cNvSpPr/>
            <p:nvPr/>
          </p:nvSpPr>
          <p:spPr>
            <a:xfrm>
              <a:off x="2979" y="2976"/>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40" name="Google Shape;540;p3"/>
            <p:cNvSpPr/>
            <p:nvPr/>
          </p:nvSpPr>
          <p:spPr>
            <a:xfrm>
              <a:off x="2992" y="3000"/>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41" name="Google Shape;541;p3"/>
            <p:cNvSpPr/>
            <p:nvPr/>
          </p:nvSpPr>
          <p:spPr>
            <a:xfrm>
              <a:off x="3214" y="3010"/>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42" name="Google Shape;542;p3"/>
            <p:cNvSpPr/>
            <p:nvPr/>
          </p:nvSpPr>
          <p:spPr>
            <a:xfrm>
              <a:off x="3111" y="3066"/>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43" name="Google Shape;543;p3"/>
            <p:cNvSpPr/>
            <p:nvPr/>
          </p:nvSpPr>
          <p:spPr>
            <a:xfrm>
              <a:off x="3167" y="3070"/>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44" name="Google Shape;544;p3"/>
            <p:cNvSpPr/>
            <p:nvPr/>
          </p:nvSpPr>
          <p:spPr>
            <a:xfrm>
              <a:off x="3116" y="3086"/>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45" name="Google Shape;545;p3"/>
            <p:cNvSpPr/>
            <p:nvPr/>
          </p:nvSpPr>
          <p:spPr>
            <a:xfrm>
              <a:off x="3171" y="3087"/>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46" name="Google Shape;546;p3"/>
            <p:cNvSpPr/>
            <p:nvPr/>
          </p:nvSpPr>
          <p:spPr>
            <a:xfrm>
              <a:off x="3177" y="3090"/>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47" name="Google Shape;547;p3"/>
            <p:cNvSpPr/>
            <p:nvPr/>
          </p:nvSpPr>
          <p:spPr>
            <a:xfrm>
              <a:off x="3097" y="3113"/>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48" name="Google Shape;548;p3"/>
            <p:cNvSpPr/>
            <p:nvPr/>
          </p:nvSpPr>
          <p:spPr>
            <a:xfrm>
              <a:off x="3143" y="3118"/>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49" name="Google Shape;549;p3"/>
            <p:cNvSpPr/>
            <p:nvPr/>
          </p:nvSpPr>
          <p:spPr>
            <a:xfrm>
              <a:off x="3046" y="3147"/>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50" name="Google Shape;550;p3"/>
            <p:cNvSpPr/>
            <p:nvPr/>
          </p:nvSpPr>
          <p:spPr>
            <a:xfrm>
              <a:off x="3138" y="3153"/>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51" name="Google Shape;551;p3"/>
            <p:cNvSpPr/>
            <p:nvPr/>
          </p:nvSpPr>
          <p:spPr>
            <a:xfrm>
              <a:off x="3147" y="3154"/>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52" name="Google Shape;552;p3"/>
            <p:cNvSpPr/>
            <p:nvPr/>
          </p:nvSpPr>
          <p:spPr>
            <a:xfrm>
              <a:off x="3108" y="3211"/>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53" name="Google Shape;553;p3"/>
            <p:cNvSpPr/>
            <p:nvPr/>
          </p:nvSpPr>
          <p:spPr>
            <a:xfrm>
              <a:off x="3139" y="3218"/>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54" name="Google Shape;554;p3"/>
            <p:cNvSpPr/>
            <p:nvPr/>
          </p:nvSpPr>
          <p:spPr>
            <a:xfrm>
              <a:off x="3020" y="3219"/>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55" name="Google Shape;555;p3"/>
            <p:cNvSpPr/>
            <p:nvPr/>
          </p:nvSpPr>
          <p:spPr>
            <a:xfrm>
              <a:off x="3244" y="3279"/>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556" name="Google Shape;556;p3"/>
          <p:cNvGrpSpPr/>
          <p:nvPr/>
        </p:nvGrpSpPr>
        <p:grpSpPr>
          <a:xfrm>
            <a:off x="5223442" y="4397231"/>
            <a:ext cx="410873" cy="459701"/>
            <a:chOff x="3427" y="2973"/>
            <a:chExt cx="345" cy="386"/>
          </a:xfrm>
        </p:grpSpPr>
        <p:sp>
          <p:nvSpPr>
            <p:cNvPr id="557" name="Google Shape;557;p3"/>
            <p:cNvSpPr/>
            <p:nvPr/>
          </p:nvSpPr>
          <p:spPr>
            <a:xfrm>
              <a:off x="3427" y="2973"/>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58" name="Google Shape;558;p3"/>
            <p:cNvSpPr/>
            <p:nvPr/>
          </p:nvSpPr>
          <p:spPr>
            <a:xfrm>
              <a:off x="3428" y="2973"/>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59" name="Google Shape;559;p3"/>
            <p:cNvSpPr/>
            <p:nvPr/>
          </p:nvSpPr>
          <p:spPr>
            <a:xfrm>
              <a:off x="3433" y="2976"/>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60" name="Google Shape;560;p3"/>
            <p:cNvSpPr/>
            <p:nvPr/>
          </p:nvSpPr>
          <p:spPr>
            <a:xfrm>
              <a:off x="3446" y="3000"/>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61" name="Google Shape;561;p3"/>
            <p:cNvSpPr/>
            <p:nvPr/>
          </p:nvSpPr>
          <p:spPr>
            <a:xfrm>
              <a:off x="3668" y="3010"/>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62" name="Google Shape;562;p3"/>
            <p:cNvSpPr/>
            <p:nvPr/>
          </p:nvSpPr>
          <p:spPr>
            <a:xfrm>
              <a:off x="3565" y="3066"/>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63" name="Google Shape;563;p3"/>
            <p:cNvSpPr/>
            <p:nvPr/>
          </p:nvSpPr>
          <p:spPr>
            <a:xfrm>
              <a:off x="3621" y="3070"/>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64" name="Google Shape;564;p3"/>
            <p:cNvSpPr/>
            <p:nvPr/>
          </p:nvSpPr>
          <p:spPr>
            <a:xfrm>
              <a:off x="3570" y="3086"/>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65" name="Google Shape;565;p3"/>
            <p:cNvSpPr/>
            <p:nvPr/>
          </p:nvSpPr>
          <p:spPr>
            <a:xfrm>
              <a:off x="3625" y="3087"/>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66" name="Google Shape;566;p3"/>
            <p:cNvSpPr/>
            <p:nvPr/>
          </p:nvSpPr>
          <p:spPr>
            <a:xfrm>
              <a:off x="3631" y="3090"/>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67" name="Google Shape;567;p3"/>
            <p:cNvSpPr/>
            <p:nvPr/>
          </p:nvSpPr>
          <p:spPr>
            <a:xfrm>
              <a:off x="3551" y="3113"/>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68" name="Google Shape;568;p3"/>
            <p:cNvSpPr/>
            <p:nvPr/>
          </p:nvSpPr>
          <p:spPr>
            <a:xfrm>
              <a:off x="3597" y="3118"/>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69" name="Google Shape;569;p3"/>
            <p:cNvSpPr/>
            <p:nvPr/>
          </p:nvSpPr>
          <p:spPr>
            <a:xfrm>
              <a:off x="3500" y="3147"/>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70" name="Google Shape;570;p3"/>
            <p:cNvSpPr/>
            <p:nvPr/>
          </p:nvSpPr>
          <p:spPr>
            <a:xfrm>
              <a:off x="3592" y="3153"/>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71" name="Google Shape;571;p3"/>
            <p:cNvSpPr/>
            <p:nvPr/>
          </p:nvSpPr>
          <p:spPr>
            <a:xfrm>
              <a:off x="3601" y="3154"/>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72" name="Google Shape;572;p3"/>
            <p:cNvSpPr/>
            <p:nvPr/>
          </p:nvSpPr>
          <p:spPr>
            <a:xfrm>
              <a:off x="3562" y="3211"/>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73" name="Google Shape;573;p3"/>
            <p:cNvSpPr/>
            <p:nvPr/>
          </p:nvSpPr>
          <p:spPr>
            <a:xfrm>
              <a:off x="3593" y="3218"/>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74" name="Google Shape;574;p3"/>
            <p:cNvSpPr/>
            <p:nvPr/>
          </p:nvSpPr>
          <p:spPr>
            <a:xfrm>
              <a:off x="3474" y="3219"/>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75" name="Google Shape;575;p3"/>
            <p:cNvSpPr/>
            <p:nvPr/>
          </p:nvSpPr>
          <p:spPr>
            <a:xfrm>
              <a:off x="3698" y="3279"/>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576" name="Google Shape;576;p3"/>
          <p:cNvGrpSpPr/>
          <p:nvPr/>
        </p:nvGrpSpPr>
        <p:grpSpPr>
          <a:xfrm>
            <a:off x="5895129" y="3758890"/>
            <a:ext cx="410873" cy="459701"/>
            <a:chOff x="3991" y="2437"/>
            <a:chExt cx="345" cy="386"/>
          </a:xfrm>
        </p:grpSpPr>
        <p:sp>
          <p:nvSpPr>
            <p:cNvPr id="577" name="Google Shape;577;p3"/>
            <p:cNvSpPr/>
            <p:nvPr/>
          </p:nvSpPr>
          <p:spPr>
            <a:xfrm>
              <a:off x="3991" y="2437"/>
              <a:ext cx="345" cy="3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78" name="Google Shape;578;p3"/>
            <p:cNvSpPr/>
            <p:nvPr/>
          </p:nvSpPr>
          <p:spPr>
            <a:xfrm>
              <a:off x="3992" y="2437"/>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79" name="Google Shape;579;p3"/>
            <p:cNvSpPr/>
            <p:nvPr/>
          </p:nvSpPr>
          <p:spPr>
            <a:xfrm>
              <a:off x="3997" y="2440"/>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80" name="Google Shape;580;p3"/>
            <p:cNvSpPr/>
            <p:nvPr/>
          </p:nvSpPr>
          <p:spPr>
            <a:xfrm>
              <a:off x="4010" y="2464"/>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81" name="Google Shape;581;p3"/>
            <p:cNvSpPr/>
            <p:nvPr/>
          </p:nvSpPr>
          <p:spPr>
            <a:xfrm>
              <a:off x="4232" y="2474"/>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82" name="Google Shape;582;p3"/>
            <p:cNvSpPr/>
            <p:nvPr/>
          </p:nvSpPr>
          <p:spPr>
            <a:xfrm>
              <a:off x="4129" y="2530"/>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83" name="Google Shape;583;p3"/>
            <p:cNvSpPr/>
            <p:nvPr/>
          </p:nvSpPr>
          <p:spPr>
            <a:xfrm>
              <a:off x="4185" y="2534"/>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84" name="Google Shape;584;p3"/>
            <p:cNvSpPr/>
            <p:nvPr/>
          </p:nvSpPr>
          <p:spPr>
            <a:xfrm>
              <a:off x="4134" y="2550"/>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85" name="Google Shape;585;p3"/>
            <p:cNvSpPr/>
            <p:nvPr/>
          </p:nvSpPr>
          <p:spPr>
            <a:xfrm>
              <a:off x="4189" y="2551"/>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86" name="Google Shape;586;p3"/>
            <p:cNvSpPr/>
            <p:nvPr/>
          </p:nvSpPr>
          <p:spPr>
            <a:xfrm>
              <a:off x="4195" y="2554"/>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87" name="Google Shape;587;p3"/>
            <p:cNvSpPr/>
            <p:nvPr/>
          </p:nvSpPr>
          <p:spPr>
            <a:xfrm>
              <a:off x="4115" y="2577"/>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88" name="Google Shape;588;p3"/>
            <p:cNvSpPr/>
            <p:nvPr/>
          </p:nvSpPr>
          <p:spPr>
            <a:xfrm>
              <a:off x="4161" y="2582"/>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89" name="Google Shape;589;p3"/>
            <p:cNvSpPr/>
            <p:nvPr/>
          </p:nvSpPr>
          <p:spPr>
            <a:xfrm>
              <a:off x="4064" y="2611"/>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90" name="Google Shape;590;p3"/>
            <p:cNvSpPr/>
            <p:nvPr/>
          </p:nvSpPr>
          <p:spPr>
            <a:xfrm>
              <a:off x="4156" y="2617"/>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91" name="Google Shape;591;p3"/>
            <p:cNvSpPr/>
            <p:nvPr/>
          </p:nvSpPr>
          <p:spPr>
            <a:xfrm>
              <a:off x="4165" y="2618"/>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92" name="Google Shape;592;p3"/>
            <p:cNvSpPr/>
            <p:nvPr/>
          </p:nvSpPr>
          <p:spPr>
            <a:xfrm>
              <a:off x="4126" y="2675"/>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93" name="Google Shape;593;p3"/>
            <p:cNvSpPr/>
            <p:nvPr/>
          </p:nvSpPr>
          <p:spPr>
            <a:xfrm>
              <a:off x="4157" y="2682"/>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94" name="Google Shape;594;p3"/>
            <p:cNvSpPr/>
            <p:nvPr/>
          </p:nvSpPr>
          <p:spPr>
            <a:xfrm>
              <a:off x="4038" y="2683"/>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95" name="Google Shape;595;p3"/>
            <p:cNvSpPr/>
            <p:nvPr/>
          </p:nvSpPr>
          <p:spPr>
            <a:xfrm>
              <a:off x="4262" y="2743"/>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596" name="Google Shape;596;p3"/>
          <p:cNvGrpSpPr/>
          <p:nvPr/>
        </p:nvGrpSpPr>
        <p:grpSpPr>
          <a:xfrm>
            <a:off x="5902275" y="4384130"/>
            <a:ext cx="410873" cy="459701"/>
            <a:chOff x="3997" y="2962"/>
            <a:chExt cx="345" cy="386"/>
          </a:xfrm>
        </p:grpSpPr>
        <p:sp>
          <p:nvSpPr>
            <p:cNvPr id="597" name="Google Shape;597;p3"/>
            <p:cNvSpPr/>
            <p:nvPr/>
          </p:nvSpPr>
          <p:spPr>
            <a:xfrm>
              <a:off x="3997" y="2962"/>
              <a:ext cx="345" cy="3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98" name="Google Shape;598;p3"/>
            <p:cNvSpPr/>
            <p:nvPr/>
          </p:nvSpPr>
          <p:spPr>
            <a:xfrm>
              <a:off x="3998" y="2962"/>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599" name="Google Shape;599;p3"/>
            <p:cNvSpPr/>
            <p:nvPr/>
          </p:nvSpPr>
          <p:spPr>
            <a:xfrm>
              <a:off x="4003" y="2965"/>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00" name="Google Shape;600;p3"/>
            <p:cNvSpPr/>
            <p:nvPr/>
          </p:nvSpPr>
          <p:spPr>
            <a:xfrm>
              <a:off x="4016" y="2989"/>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01" name="Google Shape;601;p3"/>
            <p:cNvSpPr/>
            <p:nvPr/>
          </p:nvSpPr>
          <p:spPr>
            <a:xfrm>
              <a:off x="4238" y="2999"/>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02" name="Google Shape;602;p3"/>
            <p:cNvSpPr/>
            <p:nvPr/>
          </p:nvSpPr>
          <p:spPr>
            <a:xfrm>
              <a:off x="4135" y="3055"/>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03" name="Google Shape;603;p3"/>
            <p:cNvSpPr/>
            <p:nvPr/>
          </p:nvSpPr>
          <p:spPr>
            <a:xfrm>
              <a:off x="4191" y="3059"/>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04" name="Google Shape;604;p3"/>
            <p:cNvSpPr/>
            <p:nvPr/>
          </p:nvSpPr>
          <p:spPr>
            <a:xfrm>
              <a:off x="4140" y="3075"/>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05" name="Google Shape;605;p3"/>
            <p:cNvSpPr/>
            <p:nvPr/>
          </p:nvSpPr>
          <p:spPr>
            <a:xfrm>
              <a:off x="4195" y="3076"/>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06" name="Google Shape;606;p3"/>
            <p:cNvSpPr/>
            <p:nvPr/>
          </p:nvSpPr>
          <p:spPr>
            <a:xfrm>
              <a:off x="4201" y="3079"/>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07" name="Google Shape;607;p3"/>
            <p:cNvSpPr/>
            <p:nvPr/>
          </p:nvSpPr>
          <p:spPr>
            <a:xfrm>
              <a:off x="4121" y="3102"/>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08" name="Google Shape;608;p3"/>
            <p:cNvSpPr/>
            <p:nvPr/>
          </p:nvSpPr>
          <p:spPr>
            <a:xfrm>
              <a:off x="4167" y="3107"/>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09" name="Google Shape;609;p3"/>
            <p:cNvSpPr/>
            <p:nvPr/>
          </p:nvSpPr>
          <p:spPr>
            <a:xfrm>
              <a:off x="4070" y="3136"/>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10" name="Google Shape;610;p3"/>
            <p:cNvSpPr/>
            <p:nvPr/>
          </p:nvSpPr>
          <p:spPr>
            <a:xfrm>
              <a:off x="4162" y="3142"/>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11" name="Google Shape;611;p3"/>
            <p:cNvSpPr/>
            <p:nvPr/>
          </p:nvSpPr>
          <p:spPr>
            <a:xfrm>
              <a:off x="4171" y="3143"/>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12" name="Google Shape;612;p3"/>
            <p:cNvSpPr/>
            <p:nvPr/>
          </p:nvSpPr>
          <p:spPr>
            <a:xfrm>
              <a:off x="4132" y="3200"/>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13" name="Google Shape;613;p3"/>
            <p:cNvSpPr/>
            <p:nvPr/>
          </p:nvSpPr>
          <p:spPr>
            <a:xfrm>
              <a:off x="4163" y="3207"/>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14" name="Google Shape;614;p3"/>
            <p:cNvSpPr/>
            <p:nvPr/>
          </p:nvSpPr>
          <p:spPr>
            <a:xfrm>
              <a:off x="4044" y="3208"/>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15" name="Google Shape;615;p3"/>
            <p:cNvSpPr/>
            <p:nvPr/>
          </p:nvSpPr>
          <p:spPr>
            <a:xfrm>
              <a:off x="4268" y="3268"/>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616" name="Google Shape;616;p3"/>
          <p:cNvGrpSpPr/>
          <p:nvPr/>
        </p:nvGrpSpPr>
        <p:grpSpPr>
          <a:xfrm>
            <a:off x="6448915" y="4384130"/>
            <a:ext cx="410872" cy="459701"/>
            <a:chOff x="4456" y="2962"/>
            <a:chExt cx="345" cy="386"/>
          </a:xfrm>
        </p:grpSpPr>
        <p:sp>
          <p:nvSpPr>
            <p:cNvPr id="617" name="Google Shape;617;p3"/>
            <p:cNvSpPr/>
            <p:nvPr/>
          </p:nvSpPr>
          <p:spPr>
            <a:xfrm>
              <a:off x="4456" y="2962"/>
              <a:ext cx="345" cy="3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18" name="Google Shape;618;p3"/>
            <p:cNvSpPr/>
            <p:nvPr/>
          </p:nvSpPr>
          <p:spPr>
            <a:xfrm>
              <a:off x="4457" y="2962"/>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19" name="Google Shape;619;p3"/>
            <p:cNvSpPr/>
            <p:nvPr/>
          </p:nvSpPr>
          <p:spPr>
            <a:xfrm>
              <a:off x="4462" y="2965"/>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20" name="Google Shape;620;p3"/>
            <p:cNvSpPr/>
            <p:nvPr/>
          </p:nvSpPr>
          <p:spPr>
            <a:xfrm>
              <a:off x="4475" y="2989"/>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21" name="Google Shape;621;p3"/>
            <p:cNvSpPr/>
            <p:nvPr/>
          </p:nvSpPr>
          <p:spPr>
            <a:xfrm>
              <a:off x="4697" y="2999"/>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22" name="Google Shape;622;p3"/>
            <p:cNvSpPr/>
            <p:nvPr/>
          </p:nvSpPr>
          <p:spPr>
            <a:xfrm>
              <a:off x="4594" y="3055"/>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23" name="Google Shape;623;p3"/>
            <p:cNvSpPr/>
            <p:nvPr/>
          </p:nvSpPr>
          <p:spPr>
            <a:xfrm>
              <a:off x="4650" y="3059"/>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24" name="Google Shape;624;p3"/>
            <p:cNvSpPr/>
            <p:nvPr/>
          </p:nvSpPr>
          <p:spPr>
            <a:xfrm>
              <a:off x="4599" y="3075"/>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25" name="Google Shape;625;p3"/>
            <p:cNvSpPr/>
            <p:nvPr/>
          </p:nvSpPr>
          <p:spPr>
            <a:xfrm>
              <a:off x="4654" y="3076"/>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26" name="Google Shape;626;p3"/>
            <p:cNvSpPr/>
            <p:nvPr/>
          </p:nvSpPr>
          <p:spPr>
            <a:xfrm>
              <a:off x="4660" y="3079"/>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27" name="Google Shape;627;p3"/>
            <p:cNvSpPr/>
            <p:nvPr/>
          </p:nvSpPr>
          <p:spPr>
            <a:xfrm>
              <a:off x="4580" y="3102"/>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28" name="Google Shape;628;p3"/>
            <p:cNvSpPr/>
            <p:nvPr/>
          </p:nvSpPr>
          <p:spPr>
            <a:xfrm>
              <a:off x="4626" y="3107"/>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29" name="Google Shape;629;p3"/>
            <p:cNvSpPr/>
            <p:nvPr/>
          </p:nvSpPr>
          <p:spPr>
            <a:xfrm>
              <a:off x="4529" y="3136"/>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30" name="Google Shape;630;p3"/>
            <p:cNvSpPr/>
            <p:nvPr/>
          </p:nvSpPr>
          <p:spPr>
            <a:xfrm>
              <a:off x="4621" y="3142"/>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31" name="Google Shape;631;p3"/>
            <p:cNvSpPr/>
            <p:nvPr/>
          </p:nvSpPr>
          <p:spPr>
            <a:xfrm>
              <a:off x="4630" y="3143"/>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32" name="Google Shape;632;p3"/>
            <p:cNvSpPr/>
            <p:nvPr/>
          </p:nvSpPr>
          <p:spPr>
            <a:xfrm>
              <a:off x="4591" y="3200"/>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33" name="Google Shape;633;p3"/>
            <p:cNvSpPr/>
            <p:nvPr/>
          </p:nvSpPr>
          <p:spPr>
            <a:xfrm>
              <a:off x="4622" y="3207"/>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34" name="Google Shape;634;p3"/>
            <p:cNvSpPr/>
            <p:nvPr/>
          </p:nvSpPr>
          <p:spPr>
            <a:xfrm>
              <a:off x="4503" y="3208"/>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35" name="Google Shape;635;p3"/>
            <p:cNvSpPr/>
            <p:nvPr/>
          </p:nvSpPr>
          <p:spPr>
            <a:xfrm>
              <a:off x="4727" y="3268"/>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636" name="Google Shape;636;p3"/>
          <p:cNvGrpSpPr/>
          <p:nvPr/>
        </p:nvGrpSpPr>
        <p:grpSpPr>
          <a:xfrm>
            <a:off x="6995553" y="4378176"/>
            <a:ext cx="410873" cy="459701"/>
            <a:chOff x="4915" y="2957"/>
            <a:chExt cx="345" cy="386"/>
          </a:xfrm>
        </p:grpSpPr>
        <p:sp>
          <p:nvSpPr>
            <p:cNvPr id="637" name="Google Shape;637;p3"/>
            <p:cNvSpPr/>
            <p:nvPr/>
          </p:nvSpPr>
          <p:spPr>
            <a:xfrm>
              <a:off x="4915" y="2957"/>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38" name="Google Shape;638;p3"/>
            <p:cNvSpPr/>
            <p:nvPr/>
          </p:nvSpPr>
          <p:spPr>
            <a:xfrm>
              <a:off x="4916" y="2957"/>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39" name="Google Shape;639;p3"/>
            <p:cNvSpPr/>
            <p:nvPr/>
          </p:nvSpPr>
          <p:spPr>
            <a:xfrm>
              <a:off x="4921" y="2960"/>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40" name="Google Shape;640;p3"/>
            <p:cNvSpPr/>
            <p:nvPr/>
          </p:nvSpPr>
          <p:spPr>
            <a:xfrm>
              <a:off x="4934" y="2984"/>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41" name="Google Shape;641;p3"/>
            <p:cNvSpPr/>
            <p:nvPr/>
          </p:nvSpPr>
          <p:spPr>
            <a:xfrm>
              <a:off x="5156" y="2994"/>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42" name="Google Shape;642;p3"/>
            <p:cNvSpPr/>
            <p:nvPr/>
          </p:nvSpPr>
          <p:spPr>
            <a:xfrm>
              <a:off x="5053" y="3050"/>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43" name="Google Shape;643;p3"/>
            <p:cNvSpPr/>
            <p:nvPr/>
          </p:nvSpPr>
          <p:spPr>
            <a:xfrm>
              <a:off x="5109" y="3054"/>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44" name="Google Shape;644;p3"/>
            <p:cNvSpPr/>
            <p:nvPr/>
          </p:nvSpPr>
          <p:spPr>
            <a:xfrm>
              <a:off x="5058" y="3070"/>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45" name="Google Shape;645;p3"/>
            <p:cNvSpPr/>
            <p:nvPr/>
          </p:nvSpPr>
          <p:spPr>
            <a:xfrm>
              <a:off x="5113" y="3071"/>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46" name="Google Shape;646;p3"/>
            <p:cNvSpPr/>
            <p:nvPr/>
          </p:nvSpPr>
          <p:spPr>
            <a:xfrm>
              <a:off x="5119" y="3074"/>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47" name="Google Shape;647;p3"/>
            <p:cNvSpPr/>
            <p:nvPr/>
          </p:nvSpPr>
          <p:spPr>
            <a:xfrm>
              <a:off x="5039" y="3097"/>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48" name="Google Shape;648;p3"/>
            <p:cNvSpPr/>
            <p:nvPr/>
          </p:nvSpPr>
          <p:spPr>
            <a:xfrm>
              <a:off x="5085" y="3102"/>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49" name="Google Shape;649;p3"/>
            <p:cNvSpPr/>
            <p:nvPr/>
          </p:nvSpPr>
          <p:spPr>
            <a:xfrm>
              <a:off x="4988" y="3131"/>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50" name="Google Shape;650;p3"/>
            <p:cNvSpPr/>
            <p:nvPr/>
          </p:nvSpPr>
          <p:spPr>
            <a:xfrm>
              <a:off x="5080" y="3137"/>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51" name="Google Shape;651;p3"/>
            <p:cNvSpPr/>
            <p:nvPr/>
          </p:nvSpPr>
          <p:spPr>
            <a:xfrm>
              <a:off x="5089" y="3138"/>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52" name="Google Shape;652;p3"/>
            <p:cNvSpPr/>
            <p:nvPr/>
          </p:nvSpPr>
          <p:spPr>
            <a:xfrm>
              <a:off x="5050" y="3195"/>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53" name="Google Shape;653;p3"/>
            <p:cNvSpPr/>
            <p:nvPr/>
          </p:nvSpPr>
          <p:spPr>
            <a:xfrm>
              <a:off x="5081" y="3202"/>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54" name="Google Shape;654;p3"/>
            <p:cNvSpPr/>
            <p:nvPr/>
          </p:nvSpPr>
          <p:spPr>
            <a:xfrm>
              <a:off x="4962" y="3203"/>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55" name="Google Shape;655;p3"/>
            <p:cNvSpPr/>
            <p:nvPr/>
          </p:nvSpPr>
          <p:spPr>
            <a:xfrm>
              <a:off x="5186" y="3263"/>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656" name="Google Shape;656;p3"/>
          <p:cNvGrpSpPr/>
          <p:nvPr/>
        </p:nvGrpSpPr>
        <p:grpSpPr>
          <a:xfrm>
            <a:off x="7531474" y="4369839"/>
            <a:ext cx="410873" cy="459701"/>
            <a:chOff x="5365" y="2950"/>
            <a:chExt cx="345" cy="386"/>
          </a:xfrm>
        </p:grpSpPr>
        <p:sp>
          <p:nvSpPr>
            <p:cNvPr id="657" name="Google Shape;657;p3"/>
            <p:cNvSpPr/>
            <p:nvPr/>
          </p:nvSpPr>
          <p:spPr>
            <a:xfrm>
              <a:off x="5365" y="2950"/>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58" name="Google Shape;658;p3"/>
            <p:cNvSpPr/>
            <p:nvPr/>
          </p:nvSpPr>
          <p:spPr>
            <a:xfrm>
              <a:off x="5366" y="2950"/>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59" name="Google Shape;659;p3"/>
            <p:cNvSpPr/>
            <p:nvPr/>
          </p:nvSpPr>
          <p:spPr>
            <a:xfrm>
              <a:off x="5371" y="2953"/>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60" name="Google Shape;660;p3"/>
            <p:cNvSpPr/>
            <p:nvPr/>
          </p:nvSpPr>
          <p:spPr>
            <a:xfrm>
              <a:off x="5384" y="2977"/>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61" name="Google Shape;661;p3"/>
            <p:cNvSpPr/>
            <p:nvPr/>
          </p:nvSpPr>
          <p:spPr>
            <a:xfrm>
              <a:off x="5606" y="2987"/>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62" name="Google Shape;662;p3"/>
            <p:cNvSpPr/>
            <p:nvPr/>
          </p:nvSpPr>
          <p:spPr>
            <a:xfrm>
              <a:off x="5503" y="3043"/>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63" name="Google Shape;663;p3"/>
            <p:cNvSpPr/>
            <p:nvPr/>
          </p:nvSpPr>
          <p:spPr>
            <a:xfrm>
              <a:off x="5559" y="3047"/>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64" name="Google Shape;664;p3"/>
            <p:cNvSpPr/>
            <p:nvPr/>
          </p:nvSpPr>
          <p:spPr>
            <a:xfrm>
              <a:off x="5508" y="3063"/>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65" name="Google Shape;665;p3"/>
            <p:cNvSpPr/>
            <p:nvPr/>
          </p:nvSpPr>
          <p:spPr>
            <a:xfrm>
              <a:off x="5563" y="3064"/>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66" name="Google Shape;666;p3"/>
            <p:cNvSpPr/>
            <p:nvPr/>
          </p:nvSpPr>
          <p:spPr>
            <a:xfrm>
              <a:off x="5569" y="3067"/>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67" name="Google Shape;667;p3"/>
            <p:cNvSpPr/>
            <p:nvPr/>
          </p:nvSpPr>
          <p:spPr>
            <a:xfrm>
              <a:off x="5489" y="3090"/>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68" name="Google Shape;668;p3"/>
            <p:cNvSpPr/>
            <p:nvPr/>
          </p:nvSpPr>
          <p:spPr>
            <a:xfrm>
              <a:off x="5535" y="3095"/>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69" name="Google Shape;669;p3"/>
            <p:cNvSpPr/>
            <p:nvPr/>
          </p:nvSpPr>
          <p:spPr>
            <a:xfrm>
              <a:off x="5438" y="3124"/>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70" name="Google Shape;670;p3"/>
            <p:cNvSpPr/>
            <p:nvPr/>
          </p:nvSpPr>
          <p:spPr>
            <a:xfrm>
              <a:off x="5530" y="3130"/>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71" name="Google Shape;671;p3"/>
            <p:cNvSpPr/>
            <p:nvPr/>
          </p:nvSpPr>
          <p:spPr>
            <a:xfrm>
              <a:off x="5539" y="3131"/>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72" name="Google Shape;672;p3"/>
            <p:cNvSpPr/>
            <p:nvPr/>
          </p:nvSpPr>
          <p:spPr>
            <a:xfrm>
              <a:off x="5500" y="3188"/>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73" name="Google Shape;673;p3"/>
            <p:cNvSpPr/>
            <p:nvPr/>
          </p:nvSpPr>
          <p:spPr>
            <a:xfrm>
              <a:off x="5531" y="3195"/>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74" name="Google Shape;674;p3"/>
            <p:cNvSpPr/>
            <p:nvPr/>
          </p:nvSpPr>
          <p:spPr>
            <a:xfrm>
              <a:off x="5412" y="3196"/>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75" name="Google Shape;675;p3"/>
            <p:cNvSpPr/>
            <p:nvPr/>
          </p:nvSpPr>
          <p:spPr>
            <a:xfrm>
              <a:off x="5636" y="3256"/>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676" name="Google Shape;676;p3"/>
          <p:cNvGrpSpPr/>
          <p:nvPr/>
        </p:nvGrpSpPr>
        <p:grpSpPr>
          <a:xfrm>
            <a:off x="5948722" y="5023663"/>
            <a:ext cx="410872" cy="459701"/>
            <a:chOff x="4036" y="3499"/>
            <a:chExt cx="345" cy="386"/>
          </a:xfrm>
        </p:grpSpPr>
        <p:sp>
          <p:nvSpPr>
            <p:cNvPr id="677" name="Google Shape;677;p3"/>
            <p:cNvSpPr/>
            <p:nvPr/>
          </p:nvSpPr>
          <p:spPr>
            <a:xfrm>
              <a:off x="4036" y="3499"/>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78" name="Google Shape;678;p3"/>
            <p:cNvSpPr/>
            <p:nvPr/>
          </p:nvSpPr>
          <p:spPr>
            <a:xfrm>
              <a:off x="4037" y="3499"/>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79" name="Google Shape;679;p3"/>
            <p:cNvSpPr/>
            <p:nvPr/>
          </p:nvSpPr>
          <p:spPr>
            <a:xfrm>
              <a:off x="4042" y="3502"/>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80" name="Google Shape;680;p3"/>
            <p:cNvSpPr/>
            <p:nvPr/>
          </p:nvSpPr>
          <p:spPr>
            <a:xfrm>
              <a:off x="4055" y="3526"/>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81" name="Google Shape;681;p3"/>
            <p:cNvSpPr/>
            <p:nvPr/>
          </p:nvSpPr>
          <p:spPr>
            <a:xfrm>
              <a:off x="4277" y="3536"/>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82" name="Google Shape;682;p3"/>
            <p:cNvSpPr/>
            <p:nvPr/>
          </p:nvSpPr>
          <p:spPr>
            <a:xfrm>
              <a:off x="4174" y="3592"/>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83" name="Google Shape;683;p3"/>
            <p:cNvSpPr/>
            <p:nvPr/>
          </p:nvSpPr>
          <p:spPr>
            <a:xfrm>
              <a:off x="4230" y="3596"/>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84" name="Google Shape;684;p3"/>
            <p:cNvSpPr/>
            <p:nvPr/>
          </p:nvSpPr>
          <p:spPr>
            <a:xfrm>
              <a:off x="4179" y="3612"/>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85" name="Google Shape;685;p3"/>
            <p:cNvSpPr/>
            <p:nvPr/>
          </p:nvSpPr>
          <p:spPr>
            <a:xfrm>
              <a:off x="4234" y="3613"/>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86" name="Google Shape;686;p3"/>
            <p:cNvSpPr/>
            <p:nvPr/>
          </p:nvSpPr>
          <p:spPr>
            <a:xfrm>
              <a:off x="4240" y="3616"/>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87" name="Google Shape;687;p3"/>
            <p:cNvSpPr/>
            <p:nvPr/>
          </p:nvSpPr>
          <p:spPr>
            <a:xfrm>
              <a:off x="4160" y="3639"/>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88" name="Google Shape;688;p3"/>
            <p:cNvSpPr/>
            <p:nvPr/>
          </p:nvSpPr>
          <p:spPr>
            <a:xfrm>
              <a:off x="4206" y="3644"/>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89" name="Google Shape;689;p3"/>
            <p:cNvSpPr/>
            <p:nvPr/>
          </p:nvSpPr>
          <p:spPr>
            <a:xfrm>
              <a:off x="4109" y="3673"/>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90" name="Google Shape;690;p3"/>
            <p:cNvSpPr/>
            <p:nvPr/>
          </p:nvSpPr>
          <p:spPr>
            <a:xfrm>
              <a:off x="4201" y="3679"/>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91" name="Google Shape;691;p3"/>
            <p:cNvSpPr/>
            <p:nvPr/>
          </p:nvSpPr>
          <p:spPr>
            <a:xfrm>
              <a:off x="4210" y="3680"/>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92" name="Google Shape;692;p3"/>
            <p:cNvSpPr/>
            <p:nvPr/>
          </p:nvSpPr>
          <p:spPr>
            <a:xfrm>
              <a:off x="4171" y="3737"/>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93" name="Google Shape;693;p3"/>
            <p:cNvSpPr/>
            <p:nvPr/>
          </p:nvSpPr>
          <p:spPr>
            <a:xfrm>
              <a:off x="4202" y="3744"/>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94" name="Google Shape;694;p3"/>
            <p:cNvSpPr/>
            <p:nvPr/>
          </p:nvSpPr>
          <p:spPr>
            <a:xfrm>
              <a:off x="4083" y="3745"/>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95" name="Google Shape;695;p3"/>
            <p:cNvSpPr/>
            <p:nvPr/>
          </p:nvSpPr>
          <p:spPr>
            <a:xfrm>
              <a:off x="4307" y="3805"/>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696" name="Google Shape;696;p3"/>
          <p:cNvGrpSpPr/>
          <p:nvPr/>
        </p:nvGrpSpPr>
        <p:grpSpPr>
          <a:xfrm>
            <a:off x="6506080" y="5011754"/>
            <a:ext cx="410872" cy="459701"/>
            <a:chOff x="4504" y="3489"/>
            <a:chExt cx="345" cy="386"/>
          </a:xfrm>
        </p:grpSpPr>
        <p:sp>
          <p:nvSpPr>
            <p:cNvPr id="697" name="Google Shape;697;p3"/>
            <p:cNvSpPr/>
            <p:nvPr/>
          </p:nvSpPr>
          <p:spPr>
            <a:xfrm>
              <a:off x="4504" y="3489"/>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98" name="Google Shape;698;p3"/>
            <p:cNvSpPr/>
            <p:nvPr/>
          </p:nvSpPr>
          <p:spPr>
            <a:xfrm>
              <a:off x="4505" y="3489"/>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699" name="Google Shape;699;p3"/>
            <p:cNvSpPr/>
            <p:nvPr/>
          </p:nvSpPr>
          <p:spPr>
            <a:xfrm>
              <a:off x="4510" y="3492"/>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00" name="Google Shape;700;p3"/>
            <p:cNvSpPr/>
            <p:nvPr/>
          </p:nvSpPr>
          <p:spPr>
            <a:xfrm>
              <a:off x="4523" y="3516"/>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01" name="Google Shape;701;p3"/>
            <p:cNvSpPr/>
            <p:nvPr/>
          </p:nvSpPr>
          <p:spPr>
            <a:xfrm>
              <a:off x="4745" y="3526"/>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02" name="Google Shape;702;p3"/>
            <p:cNvSpPr/>
            <p:nvPr/>
          </p:nvSpPr>
          <p:spPr>
            <a:xfrm>
              <a:off x="4642" y="3582"/>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03" name="Google Shape;703;p3"/>
            <p:cNvSpPr/>
            <p:nvPr/>
          </p:nvSpPr>
          <p:spPr>
            <a:xfrm>
              <a:off x="4698" y="3586"/>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04" name="Google Shape;704;p3"/>
            <p:cNvSpPr/>
            <p:nvPr/>
          </p:nvSpPr>
          <p:spPr>
            <a:xfrm>
              <a:off x="4647" y="3602"/>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05" name="Google Shape;705;p3"/>
            <p:cNvSpPr/>
            <p:nvPr/>
          </p:nvSpPr>
          <p:spPr>
            <a:xfrm>
              <a:off x="4702" y="3603"/>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06" name="Google Shape;706;p3"/>
            <p:cNvSpPr/>
            <p:nvPr/>
          </p:nvSpPr>
          <p:spPr>
            <a:xfrm>
              <a:off x="4708" y="3606"/>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07" name="Google Shape;707;p3"/>
            <p:cNvSpPr/>
            <p:nvPr/>
          </p:nvSpPr>
          <p:spPr>
            <a:xfrm>
              <a:off x="4628" y="3629"/>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08" name="Google Shape;708;p3"/>
            <p:cNvSpPr/>
            <p:nvPr/>
          </p:nvSpPr>
          <p:spPr>
            <a:xfrm>
              <a:off x="4674" y="3634"/>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09" name="Google Shape;709;p3"/>
            <p:cNvSpPr/>
            <p:nvPr/>
          </p:nvSpPr>
          <p:spPr>
            <a:xfrm>
              <a:off x="4577" y="3663"/>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10" name="Google Shape;710;p3"/>
            <p:cNvSpPr/>
            <p:nvPr/>
          </p:nvSpPr>
          <p:spPr>
            <a:xfrm>
              <a:off x="4669" y="3669"/>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11" name="Google Shape;711;p3"/>
            <p:cNvSpPr/>
            <p:nvPr/>
          </p:nvSpPr>
          <p:spPr>
            <a:xfrm>
              <a:off x="4678" y="3670"/>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12" name="Google Shape;712;p3"/>
            <p:cNvSpPr/>
            <p:nvPr/>
          </p:nvSpPr>
          <p:spPr>
            <a:xfrm>
              <a:off x="4639" y="3727"/>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13" name="Google Shape;713;p3"/>
            <p:cNvSpPr/>
            <p:nvPr/>
          </p:nvSpPr>
          <p:spPr>
            <a:xfrm>
              <a:off x="4670" y="3734"/>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14" name="Google Shape;714;p3"/>
            <p:cNvSpPr/>
            <p:nvPr/>
          </p:nvSpPr>
          <p:spPr>
            <a:xfrm>
              <a:off x="4551" y="3735"/>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15" name="Google Shape;715;p3"/>
            <p:cNvSpPr/>
            <p:nvPr/>
          </p:nvSpPr>
          <p:spPr>
            <a:xfrm>
              <a:off x="4775" y="3795"/>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716" name="Google Shape;716;p3"/>
          <p:cNvGrpSpPr/>
          <p:nvPr/>
        </p:nvGrpSpPr>
        <p:grpSpPr>
          <a:xfrm>
            <a:off x="7025328" y="5011754"/>
            <a:ext cx="410872" cy="459701"/>
            <a:chOff x="4940" y="3489"/>
            <a:chExt cx="345" cy="386"/>
          </a:xfrm>
        </p:grpSpPr>
        <p:sp>
          <p:nvSpPr>
            <p:cNvPr id="717" name="Google Shape;717;p3"/>
            <p:cNvSpPr/>
            <p:nvPr/>
          </p:nvSpPr>
          <p:spPr>
            <a:xfrm>
              <a:off x="4940" y="3489"/>
              <a:ext cx="345" cy="386"/>
            </a:xfrm>
            <a:prstGeom prst="rect">
              <a:avLst/>
            </a:pr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18" name="Google Shape;718;p3"/>
            <p:cNvSpPr/>
            <p:nvPr/>
          </p:nvSpPr>
          <p:spPr>
            <a:xfrm>
              <a:off x="4941" y="3489"/>
              <a:ext cx="344" cy="385"/>
            </a:xfrm>
            <a:custGeom>
              <a:rect b="b" l="l" r="r" t="t"/>
              <a:pathLst>
                <a:path extrusionOk="0" h="3082" w="2752">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19" name="Google Shape;719;p3"/>
            <p:cNvSpPr/>
            <p:nvPr/>
          </p:nvSpPr>
          <p:spPr>
            <a:xfrm>
              <a:off x="4946" y="3492"/>
              <a:ext cx="330" cy="197"/>
            </a:xfrm>
            <a:custGeom>
              <a:rect b="b" l="l" r="r" t="t"/>
              <a:pathLst>
                <a:path extrusionOk="0" h="1573" w="2646">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20" name="Google Shape;720;p3"/>
            <p:cNvSpPr/>
            <p:nvPr/>
          </p:nvSpPr>
          <p:spPr>
            <a:xfrm>
              <a:off x="4959" y="3516"/>
              <a:ext cx="157" cy="102"/>
            </a:xfrm>
            <a:custGeom>
              <a:rect b="b" l="l" r="r" t="t"/>
              <a:pathLst>
                <a:path extrusionOk="0" h="813" w="1255">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21" name="Google Shape;721;p3"/>
            <p:cNvSpPr/>
            <p:nvPr/>
          </p:nvSpPr>
          <p:spPr>
            <a:xfrm>
              <a:off x="5181" y="3526"/>
              <a:ext cx="77" cy="30"/>
            </a:xfrm>
            <a:custGeom>
              <a:rect b="b" l="l" r="r" t="t"/>
              <a:pathLst>
                <a:path extrusionOk="0" h="233" w="612">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22" name="Google Shape;722;p3"/>
            <p:cNvSpPr/>
            <p:nvPr/>
          </p:nvSpPr>
          <p:spPr>
            <a:xfrm>
              <a:off x="5078" y="3582"/>
              <a:ext cx="54" cy="43"/>
            </a:xfrm>
            <a:custGeom>
              <a:rect b="b" l="l" r="r" t="t"/>
              <a:pathLst>
                <a:path extrusionOk="0" h="343" w="429">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23" name="Google Shape;723;p3"/>
            <p:cNvSpPr/>
            <p:nvPr/>
          </p:nvSpPr>
          <p:spPr>
            <a:xfrm>
              <a:off x="5134" y="3586"/>
              <a:ext cx="47" cy="44"/>
            </a:xfrm>
            <a:custGeom>
              <a:rect b="b" l="l" r="r" t="t"/>
              <a:pathLst>
                <a:path extrusionOk="0" h="349" w="371">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24" name="Google Shape;724;p3"/>
            <p:cNvSpPr/>
            <p:nvPr/>
          </p:nvSpPr>
          <p:spPr>
            <a:xfrm>
              <a:off x="5083" y="3602"/>
              <a:ext cx="37" cy="17"/>
            </a:xfrm>
            <a:custGeom>
              <a:rect b="b" l="l" r="r" t="t"/>
              <a:pathLst>
                <a:path extrusionOk="0" h="135" w="299">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25" name="Google Shape;725;p3"/>
            <p:cNvSpPr/>
            <p:nvPr/>
          </p:nvSpPr>
          <p:spPr>
            <a:xfrm>
              <a:off x="5138" y="3603"/>
              <a:ext cx="35" cy="23"/>
            </a:xfrm>
            <a:custGeom>
              <a:rect b="b" l="l" r="r" t="t"/>
              <a:pathLst>
                <a:path extrusionOk="0" h="182" w="288">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26" name="Google Shape;726;p3"/>
            <p:cNvSpPr/>
            <p:nvPr/>
          </p:nvSpPr>
          <p:spPr>
            <a:xfrm>
              <a:off x="5144" y="3606"/>
              <a:ext cx="16" cy="13"/>
            </a:xfrm>
            <a:custGeom>
              <a:rect b="b" l="l" r="r" t="t"/>
              <a:pathLst>
                <a:path extrusionOk="0" h="103" w="131">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27" name="Google Shape;727;p3"/>
            <p:cNvSpPr/>
            <p:nvPr/>
          </p:nvSpPr>
          <p:spPr>
            <a:xfrm>
              <a:off x="5064" y="3629"/>
              <a:ext cx="90" cy="56"/>
            </a:xfrm>
            <a:custGeom>
              <a:rect b="b" l="l" r="r" t="t"/>
              <a:pathLst>
                <a:path extrusionOk="0" h="449" w="719">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28" name="Google Shape;728;p3"/>
            <p:cNvSpPr/>
            <p:nvPr/>
          </p:nvSpPr>
          <p:spPr>
            <a:xfrm>
              <a:off x="5110" y="3634"/>
              <a:ext cx="14" cy="3"/>
            </a:xfrm>
            <a:custGeom>
              <a:rect b="b" l="l" r="r" t="t"/>
              <a:pathLst>
                <a:path extrusionOk="0" h="30" w="113">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29" name="Google Shape;729;p3"/>
            <p:cNvSpPr/>
            <p:nvPr/>
          </p:nvSpPr>
          <p:spPr>
            <a:xfrm>
              <a:off x="5013" y="3663"/>
              <a:ext cx="238" cy="206"/>
            </a:xfrm>
            <a:custGeom>
              <a:rect b="b" l="l" r="r" t="t"/>
              <a:pathLst>
                <a:path extrusionOk="0" h="1647" w="190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30" name="Google Shape;730;p3"/>
            <p:cNvSpPr/>
            <p:nvPr/>
          </p:nvSpPr>
          <p:spPr>
            <a:xfrm>
              <a:off x="5105" y="3669"/>
              <a:ext cx="7" cy="12"/>
            </a:xfrm>
            <a:custGeom>
              <a:rect b="b" l="l" r="r" t="t"/>
              <a:pathLst>
                <a:path extrusionOk="0" h="102" w="55">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31" name="Google Shape;731;p3"/>
            <p:cNvSpPr/>
            <p:nvPr/>
          </p:nvSpPr>
          <p:spPr>
            <a:xfrm>
              <a:off x="5114" y="3670"/>
              <a:ext cx="7" cy="13"/>
            </a:xfrm>
            <a:custGeom>
              <a:rect b="b" l="l" r="r" t="t"/>
              <a:pathLst>
                <a:path extrusionOk="0" h="102" w="53">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32" name="Google Shape;732;p3"/>
            <p:cNvSpPr/>
            <p:nvPr/>
          </p:nvSpPr>
          <p:spPr>
            <a:xfrm>
              <a:off x="5075" y="3727"/>
              <a:ext cx="28" cy="97"/>
            </a:xfrm>
            <a:custGeom>
              <a:rect b="b" l="l" r="r" t="t"/>
              <a:pathLst>
                <a:path extrusionOk="0" h="777" w="225">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33" name="Google Shape;733;p3"/>
            <p:cNvSpPr/>
            <p:nvPr/>
          </p:nvSpPr>
          <p:spPr>
            <a:xfrm>
              <a:off x="5106" y="3734"/>
              <a:ext cx="27" cy="94"/>
            </a:xfrm>
            <a:custGeom>
              <a:rect b="b" l="l" r="r" t="t"/>
              <a:pathLst>
                <a:path extrusionOk="0" h="750" w="209">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34" name="Google Shape;734;p3"/>
            <p:cNvSpPr/>
            <p:nvPr/>
          </p:nvSpPr>
          <p:spPr>
            <a:xfrm>
              <a:off x="4987" y="3735"/>
              <a:ext cx="112" cy="120"/>
            </a:xfrm>
            <a:custGeom>
              <a:rect b="b" l="l" r="r" t="t"/>
              <a:pathLst>
                <a:path extrusionOk="0" h="960" w="899">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35" name="Google Shape;735;p3"/>
            <p:cNvSpPr/>
            <p:nvPr/>
          </p:nvSpPr>
          <p:spPr>
            <a:xfrm>
              <a:off x="5211" y="3795"/>
              <a:ext cx="60" cy="40"/>
            </a:xfrm>
            <a:custGeom>
              <a:rect b="b" l="l" r="r" t="t"/>
              <a:pathLst>
                <a:path extrusionOk="0" h="321" w="475">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sp>
        <p:nvSpPr>
          <p:cNvPr id="736" name="Google Shape;736;p3"/>
          <p:cNvSpPr txBox="1"/>
          <p:nvPr/>
        </p:nvSpPr>
        <p:spPr>
          <a:xfrm>
            <a:off x="2695087" y="3452819"/>
            <a:ext cx="57164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Calibri"/>
                <a:ea typeface="Calibri"/>
                <a:cs typeface="Calibri"/>
                <a:sym typeface="Calibri"/>
              </a:rPr>
              <a:t>  </a:t>
            </a:r>
            <a:r>
              <a:rPr lang="en-US" sz="1200">
                <a:solidFill>
                  <a:schemeClr val="dk1"/>
                </a:solidFill>
                <a:latin typeface="Tahoma"/>
                <a:ea typeface="Tahoma"/>
                <a:cs typeface="Tahoma"/>
                <a:sym typeface="Tahoma"/>
              </a:rPr>
              <a:t>+1</a:t>
            </a:r>
            <a:endParaRPr/>
          </a:p>
        </p:txBody>
      </p:sp>
      <p:sp>
        <p:nvSpPr>
          <p:cNvPr id="737" name="Google Shape;737;p3"/>
          <p:cNvSpPr txBox="1"/>
          <p:nvPr/>
        </p:nvSpPr>
        <p:spPr>
          <a:xfrm>
            <a:off x="2321134" y="3450437"/>
            <a:ext cx="6623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Tahoma"/>
                <a:ea typeface="Tahoma"/>
                <a:cs typeface="Tahoma"/>
                <a:sym typeface="Tahoma"/>
              </a:rPr>
              <a:t>F(3)=2</a:t>
            </a:r>
            <a:endParaRPr sz="1200">
              <a:solidFill>
                <a:schemeClr val="dk1"/>
              </a:solidFill>
              <a:latin typeface="Tahoma"/>
              <a:ea typeface="Tahoma"/>
              <a:cs typeface="Tahoma"/>
              <a:sym typeface="Tahoma"/>
            </a:endParaRPr>
          </a:p>
        </p:txBody>
      </p:sp>
      <p:sp>
        <p:nvSpPr>
          <p:cNvPr id="738" name="Google Shape;738;p3"/>
          <p:cNvSpPr txBox="1"/>
          <p:nvPr/>
        </p:nvSpPr>
        <p:spPr>
          <a:xfrm>
            <a:off x="3142879" y="3452819"/>
            <a:ext cx="6623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Tahoma"/>
                <a:ea typeface="Tahoma"/>
                <a:cs typeface="Tahoma"/>
                <a:sym typeface="Tahoma"/>
              </a:rPr>
              <a:t>F(4)=2</a:t>
            </a:r>
            <a:endParaRPr sz="1200">
              <a:solidFill>
                <a:schemeClr val="dk1"/>
              </a:solidFill>
              <a:latin typeface="Tahoma"/>
              <a:ea typeface="Tahoma"/>
              <a:cs typeface="Tahoma"/>
              <a:sym typeface="Tahoma"/>
            </a:endParaRPr>
          </a:p>
        </p:txBody>
      </p:sp>
      <p:sp>
        <p:nvSpPr>
          <p:cNvPr id="739" name="Google Shape;739;p3"/>
          <p:cNvSpPr txBox="1"/>
          <p:nvPr/>
        </p:nvSpPr>
        <p:spPr>
          <a:xfrm>
            <a:off x="3619253" y="3455201"/>
            <a:ext cx="40015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Tahoma"/>
                <a:ea typeface="Tahoma"/>
                <a:cs typeface="Tahoma"/>
                <a:sym typeface="Tahoma"/>
              </a:rPr>
              <a:t>+1</a:t>
            </a:r>
            <a:endParaRPr/>
          </a:p>
        </p:txBody>
      </p:sp>
      <p:sp>
        <p:nvSpPr>
          <p:cNvPr id="740" name="Google Shape;740;p3"/>
          <p:cNvSpPr txBox="1"/>
          <p:nvPr/>
        </p:nvSpPr>
        <p:spPr>
          <a:xfrm>
            <a:off x="4600584" y="3452819"/>
            <a:ext cx="6623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Tahoma"/>
                <a:ea typeface="Tahoma"/>
                <a:cs typeface="Tahoma"/>
                <a:sym typeface="Tahoma"/>
              </a:rPr>
              <a:t>F(5)=3</a:t>
            </a:r>
            <a:endParaRPr sz="1200">
              <a:solidFill>
                <a:schemeClr val="dk1"/>
              </a:solidFill>
              <a:latin typeface="Tahoma"/>
              <a:ea typeface="Tahoma"/>
              <a:cs typeface="Tahoma"/>
              <a:sym typeface="Tahoma"/>
            </a:endParaRPr>
          </a:p>
        </p:txBody>
      </p:sp>
      <p:sp>
        <p:nvSpPr>
          <p:cNvPr id="741" name="Google Shape;741;p3"/>
          <p:cNvSpPr txBox="1"/>
          <p:nvPr/>
        </p:nvSpPr>
        <p:spPr>
          <a:xfrm>
            <a:off x="5072194" y="3452819"/>
            <a:ext cx="4573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Tahoma"/>
                <a:ea typeface="Tahoma"/>
                <a:cs typeface="Tahoma"/>
                <a:sym typeface="Tahoma"/>
              </a:rPr>
              <a:t>+2</a:t>
            </a:r>
            <a:endParaRPr/>
          </a:p>
        </p:txBody>
      </p:sp>
      <p:sp>
        <p:nvSpPr>
          <p:cNvPr id="742" name="Google Shape;742;p3"/>
          <p:cNvSpPr txBox="1"/>
          <p:nvPr/>
        </p:nvSpPr>
        <p:spPr>
          <a:xfrm>
            <a:off x="6429860" y="3452819"/>
            <a:ext cx="6623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Tahoma"/>
                <a:ea typeface="Tahoma"/>
                <a:cs typeface="Tahoma"/>
                <a:sym typeface="Tahoma"/>
              </a:rPr>
              <a:t>F(6)=5</a:t>
            </a:r>
            <a:endParaRPr sz="1200">
              <a:solidFill>
                <a:schemeClr val="dk1"/>
              </a:solidFill>
              <a:latin typeface="Tahoma"/>
              <a:ea typeface="Tahoma"/>
              <a:cs typeface="Tahoma"/>
              <a:sym typeface="Tahoma"/>
            </a:endParaRPr>
          </a:p>
        </p:txBody>
      </p:sp>
      <p:sp>
        <p:nvSpPr>
          <p:cNvPr id="743" name="Google Shape;743;p3"/>
          <p:cNvSpPr txBox="1"/>
          <p:nvPr/>
        </p:nvSpPr>
        <p:spPr>
          <a:xfrm>
            <a:off x="6915761" y="3452819"/>
            <a:ext cx="4573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Tahoma"/>
                <a:ea typeface="Tahoma"/>
                <a:cs typeface="Tahoma"/>
                <a:sym typeface="Tahoma"/>
              </a:rPr>
              <a:t>+3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par>
                                <p:cTn fill="hold" nodeType="withEffect" presetClass="entr" presetID="1" presetSubtype="0">
                                  <p:stCondLst>
                                    <p:cond delay="0"/>
                                  </p:stCondLst>
                                  <p:childTnLst>
                                    <p:set>
                                      <p:cBhvr>
                                        <p:cTn dur="1" fill="hold">
                                          <p:stCondLst>
                                            <p:cond delay="0"/>
                                          </p:stCondLst>
                                        </p:cTn>
                                        <p:tgtEl>
                                          <p:spTgt spid="7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36">
                                            <p:txEl>
                                              <p:pRg end="0" st="0"/>
                                            </p:txEl>
                                          </p:spTgt>
                                        </p:tgtEl>
                                      </p:cBhvr>
                                    </p:animEffect>
                                    <p:set>
                                      <p:cBhvr>
                                        <p:cTn dur="1" fill="hold">
                                          <p:stCondLst>
                                            <p:cond delay="500"/>
                                          </p:stCondLst>
                                        </p:cTn>
                                        <p:tgtEl>
                                          <p:spTgt spid="736">
                                            <p:txEl>
                                              <p:pRg end="0" st="0"/>
                                            </p:txEl>
                                          </p:spTgt>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26"/>
                                        </p:tgtEl>
                                      </p:cBhvr>
                                    </p:animEffect>
                                    <p:set>
                                      <p:cBhvr>
                                        <p:cTn dur="1" fill="hold">
                                          <p:stCondLst>
                                            <p:cond delay="500"/>
                                          </p:stCondLst>
                                        </p:cTn>
                                        <p:tgtEl>
                                          <p:spTgt spid="32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7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par>
                                <p:cTn fill="hold" nodeType="with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par>
                                <p:cTn fill="hold" nodeType="withEffect" presetClass="entr" presetID="1" presetSubtype="0">
                                  <p:stCondLst>
                                    <p:cond delay="0"/>
                                  </p:stCondLst>
                                  <p:childTnLst>
                                    <p:set>
                                      <p:cBhvr>
                                        <p:cTn dur="1" fill="hold">
                                          <p:stCondLst>
                                            <p:cond delay="0"/>
                                          </p:stCondLst>
                                        </p:cTn>
                                        <p:tgtEl>
                                          <p:spTgt spid="7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38"/>
                                        </p:tgtEl>
                                      </p:cBhvr>
                                    </p:animEffect>
                                    <p:set>
                                      <p:cBhvr>
                                        <p:cTn dur="1" fill="hold">
                                          <p:stCondLst>
                                            <p:cond delay="500"/>
                                          </p:stCondLst>
                                        </p:cTn>
                                        <p:tgtEl>
                                          <p:spTgt spid="73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39"/>
                                        </p:tgtEl>
                                      </p:cBhvr>
                                    </p:animEffect>
                                    <p:set>
                                      <p:cBhvr>
                                        <p:cTn dur="1" fill="hold">
                                          <p:stCondLst>
                                            <p:cond delay="500"/>
                                          </p:stCondLst>
                                        </p:cTn>
                                        <p:tgtEl>
                                          <p:spTgt spid="73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par>
                                <p:cTn fill="hold" nodeType="with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500"/>
                                        <p:tgtEl>
                                          <p:spTgt spid="556"/>
                                        </p:tgtEl>
                                      </p:cBhvr>
                                    </p:animEffect>
                                  </p:childTnLst>
                                </p:cTn>
                              </p:par>
                              <p:par>
                                <p:cTn fill="hold" nodeType="with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par>
                                <p:cTn fill="hold" nodeType="with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40"/>
                                        </p:tgtEl>
                                      </p:cBhvr>
                                    </p:animEffect>
                                    <p:set>
                                      <p:cBhvr>
                                        <p:cTn dur="1" fill="hold">
                                          <p:stCondLst>
                                            <p:cond delay="500"/>
                                          </p:stCondLst>
                                        </p:cTn>
                                        <p:tgtEl>
                                          <p:spTgt spid="74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41"/>
                                        </p:tgtEl>
                                      </p:cBhvr>
                                    </p:animEffect>
                                    <p:set>
                                      <p:cBhvr>
                                        <p:cTn dur="1" fill="hold">
                                          <p:stCondLst>
                                            <p:cond delay="500"/>
                                          </p:stCondLst>
                                        </p:cTn>
                                        <p:tgtEl>
                                          <p:spTgt spid="74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par>
                                <p:cTn fill="hold" nodeType="with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500"/>
                                        <p:tgtEl>
                                          <p:spTgt spid="656"/>
                                        </p:tgtEl>
                                      </p:cBhvr>
                                    </p:animEffect>
                                  </p:childTnLst>
                                </p:cTn>
                              </p:par>
                              <p:par>
                                <p:cTn fill="hold" nodeType="with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par>
                                <p:cTn fill="hold" nodeType="withEffect" presetClass="entr" presetID="10" presetSubtype="0">
                                  <p:stCondLst>
                                    <p:cond delay="0"/>
                                  </p:stCondLst>
                                  <p:childTnLst>
                                    <p:set>
                                      <p:cBhvr>
                                        <p:cTn dur="1" fill="hold">
                                          <p:stCondLst>
                                            <p:cond delay="0"/>
                                          </p:stCondLst>
                                        </p:cTn>
                                        <p:tgtEl>
                                          <p:spTgt spid="716"/>
                                        </p:tgtEl>
                                        <p:attrNameLst>
                                          <p:attrName>style.visibility</p:attrName>
                                        </p:attrNameLst>
                                      </p:cBhvr>
                                      <p:to>
                                        <p:strVal val="visible"/>
                                      </p:to>
                                    </p:set>
                                    <p:animEffect filter="fade" transition="in">
                                      <p:cBhvr>
                                        <p:cTn dur="500"/>
                                        <p:tgtEl>
                                          <p:spTgt spid="716"/>
                                        </p:tgtEl>
                                      </p:cBhvr>
                                    </p:animEffect>
                                  </p:childTnLst>
                                </p:cTn>
                              </p:par>
                              <p:par>
                                <p:cTn fill="hold" nodeType="withEffect" presetClass="entr" presetID="10" presetSubtype="0">
                                  <p:stCondLst>
                                    <p:cond delay="0"/>
                                  </p:stCondLst>
                                  <p:childTnLst>
                                    <p:set>
                                      <p:cBhvr>
                                        <p:cTn dur="1" fill="hold">
                                          <p:stCondLst>
                                            <p:cond delay="0"/>
                                          </p:stCondLst>
                                        </p:cTn>
                                        <p:tgtEl>
                                          <p:spTgt spid="696"/>
                                        </p:tgtEl>
                                        <p:attrNameLst>
                                          <p:attrName>style.visibility</p:attrName>
                                        </p:attrNameLst>
                                      </p:cBhvr>
                                      <p:to>
                                        <p:strVal val="visible"/>
                                      </p:to>
                                    </p:set>
                                    <p:animEffect filter="fade" transition="in">
                                      <p:cBhvr>
                                        <p:cTn dur="500"/>
                                        <p:tgtEl>
                                          <p:spTgt spid="696"/>
                                        </p:tgtEl>
                                      </p:cBhvr>
                                    </p:animEffect>
                                  </p:childTnLst>
                                </p:cTn>
                              </p:par>
                              <p:par>
                                <p:cTn fill="hold" nodeType="with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par>
                                <p:cTn fill="hold" nodeType="withEffect" presetClass="entr" presetID="1" presetSubtype="0">
                                  <p:stCondLst>
                                    <p:cond delay="0"/>
                                  </p:stCondLst>
                                  <p:childTnLst>
                                    <p:set>
                                      <p:cBhvr>
                                        <p:cTn dur="1" fill="hold">
                                          <p:stCondLst>
                                            <p:cond delay="0"/>
                                          </p:stCondLst>
                                        </p:cTn>
                                        <p:tgtEl>
                                          <p:spTgt spid="7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42"/>
                                        </p:tgtEl>
                                      </p:cBhvr>
                                    </p:animEffect>
                                    <p:set>
                                      <p:cBhvr>
                                        <p:cTn dur="1" fill="hold">
                                          <p:stCondLst>
                                            <p:cond delay="500"/>
                                          </p:stCondLst>
                                        </p:cTn>
                                        <p:tgtEl>
                                          <p:spTgt spid="74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43"/>
                                        </p:tgtEl>
                                      </p:cBhvr>
                                    </p:animEffect>
                                    <p:set>
                                      <p:cBhvr>
                                        <p:cTn dur="1" fill="hold">
                                          <p:stCondLst>
                                            <p:cond delay="500"/>
                                          </p:stCondLst>
                                        </p:cTn>
                                        <p:tgtEl>
                                          <p:spTgt spid="74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4"/>
          <p:cNvSpPr txBox="1"/>
          <p:nvPr>
            <p:ph idx="4294967295" type="title"/>
          </p:nvPr>
        </p:nvSpPr>
        <p:spPr>
          <a:xfrm>
            <a:off x="0" y="630238"/>
            <a:ext cx="8574088"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…Fibonacci Numbers</a:t>
            </a:r>
            <a:endParaRPr/>
          </a:p>
        </p:txBody>
      </p:sp>
      <p:sp>
        <p:nvSpPr>
          <p:cNvPr id="750" name="Google Shape;750;p4"/>
          <p:cNvSpPr txBox="1"/>
          <p:nvPr>
            <p:ph idx="4294967295" type="body"/>
          </p:nvPr>
        </p:nvSpPr>
        <p:spPr>
          <a:xfrm>
            <a:off x="1373981" y="2128838"/>
            <a:ext cx="6396037" cy="3586162"/>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i="1" lang="en-US"/>
              <a:t>F(n)= F(n-1)+ F(n-2)</a:t>
            </a:r>
            <a:endParaRPr baseline="-25000" i="1"/>
          </a:p>
          <a:p>
            <a:pPr indent="-454025" lvl="0" marL="454025" rtl="0" algn="l">
              <a:spcBef>
                <a:spcPts val="2000"/>
              </a:spcBef>
              <a:spcAft>
                <a:spcPts val="0"/>
              </a:spcAft>
              <a:buSzPts val="2160"/>
              <a:buChar char="🡽"/>
            </a:pPr>
            <a:r>
              <a:rPr i="1" lang="en-US"/>
              <a:t>F(0)</a:t>
            </a:r>
            <a:r>
              <a:rPr baseline="-25000" i="1" lang="en-US"/>
              <a:t> </a:t>
            </a:r>
            <a:r>
              <a:rPr i="1" lang="en-US"/>
              <a:t>=0, F(1)</a:t>
            </a:r>
            <a:r>
              <a:rPr baseline="-25000" i="1" lang="en-US"/>
              <a:t> </a:t>
            </a:r>
            <a:r>
              <a:rPr i="1" lang="en-US"/>
              <a:t>=1</a:t>
            </a:r>
            <a:endParaRPr/>
          </a:p>
          <a:p>
            <a:pPr indent="-457200" lvl="1" marL="914400" rtl="0" algn="l">
              <a:spcBef>
                <a:spcPts val="600"/>
              </a:spcBef>
              <a:spcAft>
                <a:spcPts val="0"/>
              </a:spcAft>
              <a:buSzPts val="1980"/>
              <a:buChar char="🡽"/>
            </a:pPr>
            <a:r>
              <a:rPr lang="en-US"/>
              <a:t>0, 1, 1, 2, 3, 5, 8, 13, 21, 34 … </a:t>
            </a:r>
            <a:endParaRPr/>
          </a:p>
          <a:p>
            <a:pPr indent="-331469" lvl="1" marL="914400" rtl="0" algn="l">
              <a:spcBef>
                <a:spcPts val="600"/>
              </a:spcBef>
              <a:spcAft>
                <a:spcPts val="0"/>
              </a:spcAft>
              <a:buSzPts val="1980"/>
              <a:buNone/>
            </a:pPr>
            <a:r>
              <a:t/>
            </a:r>
            <a:endParaRPr/>
          </a:p>
          <a:p>
            <a:pPr indent="-331469" lvl="1" marL="914400" rtl="0" algn="l">
              <a:spcBef>
                <a:spcPts val="600"/>
              </a:spcBef>
              <a:spcAft>
                <a:spcPts val="0"/>
              </a:spcAft>
              <a:buSzPts val="1980"/>
              <a:buNone/>
            </a:pPr>
            <a:r>
              <a:t/>
            </a:r>
            <a:endParaRPr/>
          </a:p>
          <a:p>
            <a:pPr indent="-331469" lvl="1" marL="914400" rtl="0" algn="l">
              <a:spcBef>
                <a:spcPts val="600"/>
              </a:spcBef>
              <a:spcAft>
                <a:spcPts val="0"/>
              </a:spcAft>
              <a:buSzPts val="1980"/>
              <a:buNone/>
            </a:pPr>
            <a:r>
              <a:t/>
            </a:r>
            <a:endParaRPr/>
          </a:p>
          <a:p>
            <a:pPr indent="-454025" lvl="0" marL="454025" rtl="0" algn="l">
              <a:spcBef>
                <a:spcPts val="2000"/>
              </a:spcBef>
              <a:spcAft>
                <a:spcPts val="0"/>
              </a:spcAft>
              <a:buSzPts val="2160"/>
              <a:buChar char="🡽"/>
            </a:pPr>
            <a:r>
              <a:rPr lang="en-US"/>
              <a:t>Straightforward recursive procedure is slow!</a:t>
            </a:r>
            <a:endParaRPr/>
          </a:p>
        </p:txBody>
      </p:sp>
      <p:sp>
        <p:nvSpPr>
          <p:cNvPr id="751" name="Google Shape;751;p4"/>
          <p:cNvSpPr txBox="1"/>
          <p:nvPr/>
        </p:nvSpPr>
        <p:spPr>
          <a:xfrm>
            <a:off x="2274687" y="3741210"/>
            <a:ext cx="5263933" cy="715581"/>
          </a:xfrm>
          <a:prstGeom prst="rect">
            <a:avLst/>
          </a:prstGeom>
          <a:solidFill>
            <a:schemeClr val="lt1"/>
          </a:solidFill>
          <a:ln cap="flat" cmpd="sng" w="12700">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lang="en-US" sz="1350">
                <a:solidFill>
                  <a:schemeClr val="dk1"/>
                </a:solidFill>
                <a:latin typeface="Courier New"/>
                <a:ea typeface="Courier New"/>
                <a:cs typeface="Courier New"/>
                <a:sym typeface="Courier New"/>
              </a:rPr>
              <a:t>FibonacciR</a:t>
            </a:r>
            <a:r>
              <a:rPr lang="en-US" sz="1350">
                <a:solidFill>
                  <a:schemeClr val="dk1"/>
                </a:solidFill>
                <a:latin typeface="Courier New"/>
                <a:ea typeface="Courier New"/>
                <a:cs typeface="Courier New"/>
                <a:sym typeface="Courier New"/>
              </a:rPr>
              <a:t>(n)</a:t>
            </a:r>
            <a:endParaRPr/>
          </a:p>
          <a:p>
            <a:pPr indent="0" lvl="0" marL="0" marR="0" rtl="0" algn="l">
              <a:spcBef>
                <a:spcPts val="0"/>
              </a:spcBef>
              <a:spcAft>
                <a:spcPts val="0"/>
              </a:spcAft>
              <a:buNone/>
            </a:pPr>
            <a:r>
              <a:rPr lang="en-US" sz="1350">
                <a:solidFill>
                  <a:schemeClr val="dk1"/>
                </a:solidFill>
                <a:latin typeface="Courier New"/>
                <a:ea typeface="Courier New"/>
                <a:cs typeface="Courier New"/>
                <a:sym typeface="Courier New"/>
              </a:rPr>
              <a:t>01 </a:t>
            </a:r>
            <a:r>
              <a:rPr b="1" lang="en-US" sz="1350">
                <a:solidFill>
                  <a:schemeClr val="dk1"/>
                </a:solidFill>
                <a:latin typeface="Courier New"/>
                <a:ea typeface="Courier New"/>
                <a:cs typeface="Courier New"/>
                <a:sym typeface="Courier New"/>
              </a:rPr>
              <a:t>if</a:t>
            </a:r>
            <a:r>
              <a:rPr lang="en-US" sz="1350">
                <a:solidFill>
                  <a:schemeClr val="dk1"/>
                </a:solidFill>
                <a:latin typeface="Courier New"/>
                <a:ea typeface="Courier New"/>
                <a:cs typeface="Courier New"/>
                <a:sym typeface="Courier New"/>
              </a:rPr>
              <a:t> n </a:t>
            </a:r>
            <a:r>
              <a:rPr lang="en-US" sz="1350">
                <a:solidFill>
                  <a:schemeClr val="dk1"/>
                </a:solidFill>
                <a:latin typeface="Noto Sans Symbols"/>
                <a:ea typeface="Noto Sans Symbols"/>
                <a:cs typeface="Noto Sans Symbols"/>
                <a:sym typeface="Noto Sans Symbols"/>
              </a:rPr>
              <a:t>≤</a:t>
            </a:r>
            <a:r>
              <a:rPr lang="en-US" sz="1350">
                <a:solidFill>
                  <a:schemeClr val="dk1"/>
                </a:solidFill>
                <a:latin typeface="Arial"/>
                <a:ea typeface="Arial"/>
                <a:cs typeface="Arial"/>
                <a:sym typeface="Arial"/>
              </a:rPr>
              <a:t> </a:t>
            </a:r>
            <a:r>
              <a:rPr lang="en-US" sz="1350">
                <a:solidFill>
                  <a:schemeClr val="dk1"/>
                </a:solidFill>
                <a:latin typeface="Courier New"/>
                <a:ea typeface="Courier New"/>
                <a:cs typeface="Courier New"/>
                <a:sym typeface="Courier New"/>
              </a:rPr>
              <a:t>1 </a:t>
            </a:r>
            <a:r>
              <a:rPr b="1" lang="en-US" sz="1350">
                <a:solidFill>
                  <a:schemeClr val="dk1"/>
                </a:solidFill>
                <a:latin typeface="Courier New"/>
                <a:ea typeface="Courier New"/>
                <a:cs typeface="Courier New"/>
                <a:sym typeface="Courier New"/>
              </a:rPr>
              <a:t>then return </a:t>
            </a:r>
            <a:r>
              <a:rPr lang="en-US" sz="1350">
                <a:solidFill>
                  <a:schemeClr val="dk1"/>
                </a:solidFill>
                <a:latin typeface="Courier New"/>
                <a:ea typeface="Courier New"/>
                <a:cs typeface="Courier New"/>
                <a:sym typeface="Courier New"/>
              </a:rPr>
              <a:t>n</a:t>
            </a:r>
            <a:endParaRPr/>
          </a:p>
          <a:p>
            <a:pPr indent="0" lvl="0" marL="0" marR="0" rtl="0" algn="l">
              <a:spcBef>
                <a:spcPts val="0"/>
              </a:spcBef>
              <a:spcAft>
                <a:spcPts val="0"/>
              </a:spcAft>
              <a:buNone/>
            </a:pPr>
            <a:r>
              <a:rPr lang="en-US" sz="1350">
                <a:solidFill>
                  <a:schemeClr val="dk1"/>
                </a:solidFill>
                <a:latin typeface="Courier New"/>
                <a:ea typeface="Courier New"/>
                <a:cs typeface="Courier New"/>
                <a:sym typeface="Courier New"/>
              </a:rPr>
              <a:t>02 </a:t>
            </a:r>
            <a:r>
              <a:rPr b="1" lang="en-US" sz="1350">
                <a:solidFill>
                  <a:schemeClr val="dk1"/>
                </a:solidFill>
                <a:latin typeface="Courier New"/>
                <a:ea typeface="Courier New"/>
                <a:cs typeface="Courier New"/>
                <a:sym typeface="Courier New"/>
              </a:rPr>
              <a:t>else return </a:t>
            </a:r>
            <a:r>
              <a:rPr b="1" i="1" lang="en-US" sz="1350">
                <a:solidFill>
                  <a:schemeClr val="dk1"/>
                </a:solidFill>
                <a:latin typeface="Courier New"/>
                <a:ea typeface="Courier New"/>
                <a:cs typeface="Courier New"/>
                <a:sym typeface="Courier New"/>
              </a:rPr>
              <a:t>FibonacciR</a:t>
            </a:r>
            <a:r>
              <a:rPr b="1" lang="en-US" sz="1350">
                <a:solidFill>
                  <a:schemeClr val="dk1"/>
                </a:solidFill>
                <a:latin typeface="Courier New"/>
                <a:ea typeface="Courier New"/>
                <a:cs typeface="Courier New"/>
                <a:sym typeface="Courier New"/>
              </a:rPr>
              <a:t>(</a:t>
            </a:r>
            <a:r>
              <a:rPr lang="en-US" sz="1350">
                <a:solidFill>
                  <a:schemeClr val="dk1"/>
                </a:solidFill>
                <a:latin typeface="Courier New"/>
                <a:ea typeface="Courier New"/>
                <a:cs typeface="Courier New"/>
                <a:sym typeface="Courier New"/>
              </a:rPr>
              <a:t>n-1</a:t>
            </a:r>
            <a:r>
              <a:rPr b="1" lang="en-US" sz="1350">
                <a:solidFill>
                  <a:schemeClr val="dk1"/>
                </a:solidFill>
                <a:latin typeface="Courier New"/>
                <a:ea typeface="Courier New"/>
                <a:cs typeface="Courier New"/>
                <a:sym typeface="Courier New"/>
              </a:rPr>
              <a:t>) </a:t>
            </a:r>
            <a:r>
              <a:rPr lang="en-US" sz="1350">
                <a:solidFill>
                  <a:schemeClr val="dk1"/>
                </a:solidFill>
                <a:latin typeface="Courier New"/>
                <a:ea typeface="Courier New"/>
                <a:cs typeface="Courier New"/>
                <a:sym typeface="Courier New"/>
              </a:rPr>
              <a:t>+ </a:t>
            </a:r>
            <a:r>
              <a:rPr b="1" i="1" lang="en-US" sz="1350">
                <a:solidFill>
                  <a:schemeClr val="dk1"/>
                </a:solidFill>
                <a:latin typeface="Courier New"/>
                <a:ea typeface="Courier New"/>
                <a:cs typeface="Courier New"/>
                <a:sym typeface="Courier New"/>
              </a:rPr>
              <a:t>FibonacciR</a:t>
            </a:r>
            <a:r>
              <a:rPr b="1" lang="en-US" sz="1350">
                <a:solidFill>
                  <a:schemeClr val="dk1"/>
                </a:solidFill>
                <a:latin typeface="Courier New"/>
                <a:ea typeface="Courier New"/>
                <a:cs typeface="Courier New"/>
                <a:sym typeface="Courier New"/>
              </a:rPr>
              <a:t>(</a:t>
            </a:r>
            <a:r>
              <a:rPr lang="en-US" sz="1350">
                <a:solidFill>
                  <a:schemeClr val="dk1"/>
                </a:solidFill>
                <a:latin typeface="Courier New"/>
                <a:ea typeface="Courier New"/>
                <a:cs typeface="Courier New"/>
                <a:sym typeface="Courier New"/>
              </a:rPr>
              <a:t>n-2</a:t>
            </a:r>
            <a:r>
              <a:rPr b="1" lang="en-US" sz="1350">
                <a:solidFill>
                  <a:schemeClr val="dk1"/>
                </a:solidFill>
                <a:latin typeface="Courier New"/>
                <a:ea typeface="Courier New"/>
                <a:cs typeface="Courier New"/>
                <a:sym typeface="Courier New"/>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5"/>
          <p:cNvSpPr txBox="1"/>
          <p:nvPr>
            <p:ph idx="4294967295" type="title"/>
          </p:nvPr>
        </p:nvSpPr>
        <p:spPr>
          <a:xfrm>
            <a:off x="0" y="630238"/>
            <a:ext cx="8574088"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…Fibonacci Numbers</a:t>
            </a:r>
            <a:endParaRPr/>
          </a:p>
        </p:txBody>
      </p:sp>
      <p:sp>
        <p:nvSpPr>
          <p:cNvPr id="758" name="Google Shape;758;p5"/>
          <p:cNvSpPr txBox="1"/>
          <p:nvPr>
            <p:ph idx="4294967295" type="body"/>
          </p:nvPr>
        </p:nvSpPr>
        <p:spPr>
          <a:xfrm>
            <a:off x="1788468" y="4982377"/>
            <a:ext cx="6608762" cy="741362"/>
          </a:xfrm>
          <a:prstGeom prst="rect">
            <a:avLst/>
          </a:prstGeom>
          <a:noFill/>
          <a:ln>
            <a:noFill/>
          </a:ln>
        </p:spPr>
        <p:txBody>
          <a:bodyPr anchorCtr="0" anchor="t" bIns="45700" lIns="91425" spcFirstLastPara="1" rIns="91425" wrap="square" tIns="45700">
            <a:normAutofit/>
          </a:bodyPr>
          <a:lstStyle/>
          <a:p>
            <a:pPr indent="-454025" lvl="0" marL="454025" rtl="0" algn="l">
              <a:lnSpc>
                <a:spcPct val="90000"/>
              </a:lnSpc>
              <a:spcBef>
                <a:spcPts val="0"/>
              </a:spcBef>
              <a:spcAft>
                <a:spcPts val="0"/>
              </a:spcAft>
              <a:buSzPts val="1620"/>
              <a:buChar char="🡽"/>
            </a:pPr>
            <a:r>
              <a:rPr lang="en-US" sz="1800"/>
              <a:t>We keep calculating the same value over and over!</a:t>
            </a:r>
            <a:endParaRPr/>
          </a:p>
          <a:p>
            <a:pPr indent="-457200" lvl="1" marL="914400" rtl="0" algn="l">
              <a:lnSpc>
                <a:spcPct val="90000"/>
              </a:lnSpc>
              <a:spcBef>
                <a:spcPts val="600"/>
              </a:spcBef>
              <a:spcAft>
                <a:spcPts val="0"/>
              </a:spcAft>
              <a:buSzPts val="1350"/>
              <a:buChar char="🡽"/>
            </a:pPr>
            <a:r>
              <a:rPr lang="en-US" sz="1500"/>
              <a:t>Subproblems are overlapping – they share sub-subproblems</a:t>
            </a:r>
            <a:endParaRPr/>
          </a:p>
        </p:txBody>
      </p:sp>
      <p:grpSp>
        <p:nvGrpSpPr>
          <p:cNvPr id="759" name="Google Shape;759;p5"/>
          <p:cNvGrpSpPr/>
          <p:nvPr/>
        </p:nvGrpSpPr>
        <p:grpSpPr>
          <a:xfrm>
            <a:off x="2697469" y="2577482"/>
            <a:ext cx="5167467" cy="1537497"/>
            <a:chOff x="1306" y="1402"/>
            <a:chExt cx="4339" cy="1291"/>
          </a:xfrm>
        </p:grpSpPr>
        <p:sp>
          <p:nvSpPr>
            <p:cNvPr id="760" name="Google Shape;760;p5"/>
            <p:cNvSpPr/>
            <p:nvPr/>
          </p:nvSpPr>
          <p:spPr>
            <a:xfrm>
              <a:off x="3515" y="1402"/>
              <a:ext cx="2130" cy="1291"/>
            </a:xfrm>
            <a:prstGeom prst="triangle">
              <a:avLst>
                <a:gd fmla="val 60046" name="adj"/>
              </a:avLst>
            </a:prstGeom>
            <a:solidFill>
              <a:schemeClr val="lt2">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61" name="Google Shape;761;p5"/>
            <p:cNvSpPr/>
            <p:nvPr/>
          </p:nvSpPr>
          <p:spPr>
            <a:xfrm>
              <a:off x="2355" y="1783"/>
              <a:ext cx="1068" cy="910"/>
            </a:xfrm>
            <a:prstGeom prst="triangle">
              <a:avLst>
                <a:gd fmla="val 56181" name="adj"/>
              </a:avLst>
            </a:prstGeom>
            <a:solidFill>
              <a:schemeClr val="lt2">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62" name="Google Shape;762;p5"/>
            <p:cNvSpPr/>
            <p:nvPr/>
          </p:nvSpPr>
          <p:spPr>
            <a:xfrm>
              <a:off x="1712" y="2148"/>
              <a:ext cx="605" cy="545"/>
            </a:xfrm>
            <a:prstGeom prst="triangle">
              <a:avLst>
                <a:gd fmla="val 59338" name="adj"/>
              </a:avLst>
            </a:prstGeom>
            <a:solidFill>
              <a:schemeClr val="lt2">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763" name="Google Shape;763;p5"/>
            <p:cNvSpPr/>
            <p:nvPr/>
          </p:nvSpPr>
          <p:spPr>
            <a:xfrm>
              <a:off x="1306" y="2481"/>
              <a:ext cx="388" cy="212"/>
            </a:xfrm>
            <a:prstGeom prst="triangle">
              <a:avLst>
                <a:gd fmla="val 50000" name="adj"/>
              </a:avLst>
            </a:prstGeom>
            <a:solidFill>
              <a:schemeClr val="lt2">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sp>
        <p:nvSpPr>
          <p:cNvPr id="764" name="Google Shape;764;p5"/>
          <p:cNvSpPr txBox="1"/>
          <p:nvPr/>
        </p:nvSpPr>
        <p:spPr>
          <a:xfrm>
            <a:off x="4392170" y="2015360"/>
            <a:ext cx="745717"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50">
                <a:solidFill>
                  <a:schemeClr val="dk1"/>
                </a:solidFill>
                <a:latin typeface="Tahoma"/>
                <a:ea typeface="Tahoma"/>
                <a:cs typeface="Tahoma"/>
                <a:sym typeface="Tahoma"/>
              </a:rPr>
              <a:t>F(6) = 8</a:t>
            </a:r>
            <a:endParaRPr/>
          </a:p>
        </p:txBody>
      </p:sp>
      <p:sp>
        <p:nvSpPr>
          <p:cNvPr id="765" name="Google Shape;765;p5"/>
          <p:cNvSpPr txBox="1"/>
          <p:nvPr/>
        </p:nvSpPr>
        <p:spPr>
          <a:xfrm>
            <a:off x="3453712" y="2469106"/>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F(5)</a:t>
            </a:r>
            <a:endParaRPr/>
          </a:p>
        </p:txBody>
      </p:sp>
      <p:sp>
        <p:nvSpPr>
          <p:cNvPr id="766" name="Google Shape;766;p5"/>
          <p:cNvSpPr txBox="1"/>
          <p:nvPr/>
        </p:nvSpPr>
        <p:spPr>
          <a:xfrm>
            <a:off x="3008303" y="2922853"/>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F(4)</a:t>
            </a:r>
            <a:endParaRPr/>
          </a:p>
        </p:txBody>
      </p:sp>
      <p:sp>
        <p:nvSpPr>
          <p:cNvPr id="767" name="Google Shape;767;p5"/>
          <p:cNvSpPr txBox="1"/>
          <p:nvPr/>
        </p:nvSpPr>
        <p:spPr>
          <a:xfrm>
            <a:off x="2564084" y="3376599"/>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F(3)</a:t>
            </a:r>
            <a:endParaRPr/>
          </a:p>
        </p:txBody>
      </p:sp>
      <p:sp>
        <p:nvSpPr>
          <p:cNvPr id="768" name="Google Shape;768;p5"/>
          <p:cNvSpPr txBox="1"/>
          <p:nvPr/>
        </p:nvSpPr>
        <p:spPr>
          <a:xfrm>
            <a:off x="1674455" y="4285283"/>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F(1)</a:t>
            </a:r>
            <a:endParaRPr/>
          </a:p>
        </p:txBody>
      </p:sp>
      <p:sp>
        <p:nvSpPr>
          <p:cNvPr id="769" name="Google Shape;769;p5"/>
          <p:cNvSpPr txBox="1"/>
          <p:nvPr/>
        </p:nvSpPr>
        <p:spPr>
          <a:xfrm>
            <a:off x="2118675" y="383034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F(2)</a:t>
            </a:r>
            <a:endParaRPr/>
          </a:p>
        </p:txBody>
      </p:sp>
      <p:cxnSp>
        <p:nvCxnSpPr>
          <p:cNvPr id="770" name="Google Shape;770;p5"/>
          <p:cNvCxnSpPr>
            <a:stCxn id="764" idx="2"/>
            <a:endCxn id="765" idx="0"/>
          </p:cNvCxnSpPr>
          <p:nvPr/>
        </p:nvCxnSpPr>
        <p:spPr>
          <a:xfrm flipH="1">
            <a:off x="3669429" y="2269276"/>
            <a:ext cx="10956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771" name="Google Shape;771;p5"/>
          <p:cNvCxnSpPr>
            <a:stCxn id="765" idx="2"/>
            <a:endCxn id="766" idx="0"/>
          </p:cNvCxnSpPr>
          <p:nvPr/>
        </p:nvCxnSpPr>
        <p:spPr>
          <a:xfrm flipH="1">
            <a:off x="3223976" y="2723022"/>
            <a:ext cx="4455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772" name="Google Shape;772;p5"/>
          <p:cNvCxnSpPr>
            <a:stCxn id="767" idx="0"/>
            <a:endCxn id="766" idx="2"/>
          </p:cNvCxnSpPr>
          <p:nvPr/>
        </p:nvCxnSpPr>
        <p:spPr>
          <a:xfrm flipH="1" rot="10800000">
            <a:off x="2779848" y="3176799"/>
            <a:ext cx="4443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773" name="Google Shape;773;p5"/>
          <p:cNvCxnSpPr>
            <a:stCxn id="767" idx="2"/>
            <a:endCxn id="769" idx="0"/>
          </p:cNvCxnSpPr>
          <p:nvPr/>
        </p:nvCxnSpPr>
        <p:spPr>
          <a:xfrm flipH="1">
            <a:off x="2334348" y="3630515"/>
            <a:ext cx="4455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774" name="Google Shape;774;p5"/>
          <p:cNvCxnSpPr>
            <a:stCxn id="769" idx="2"/>
            <a:endCxn id="768" idx="0"/>
          </p:cNvCxnSpPr>
          <p:nvPr/>
        </p:nvCxnSpPr>
        <p:spPr>
          <a:xfrm flipH="1">
            <a:off x="1890139" y="4084261"/>
            <a:ext cx="444300" cy="201000"/>
          </a:xfrm>
          <a:prstGeom prst="straightConnector1">
            <a:avLst/>
          </a:prstGeom>
          <a:noFill/>
          <a:ln cap="flat" cmpd="sng" w="9525">
            <a:solidFill>
              <a:schemeClr val="dk1"/>
            </a:solidFill>
            <a:prstDash val="solid"/>
            <a:miter lim="800000"/>
            <a:headEnd len="med" w="med" type="none"/>
            <a:tailEnd len="med" w="med" type="none"/>
          </a:ln>
        </p:spPr>
      </p:cxnSp>
      <p:sp>
        <p:nvSpPr>
          <p:cNvPr id="775" name="Google Shape;775;p5"/>
          <p:cNvSpPr txBox="1"/>
          <p:nvPr/>
        </p:nvSpPr>
        <p:spPr>
          <a:xfrm>
            <a:off x="2383062" y="4310292"/>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F(0)</a:t>
            </a:r>
            <a:endParaRPr/>
          </a:p>
        </p:txBody>
      </p:sp>
      <p:cxnSp>
        <p:nvCxnSpPr>
          <p:cNvPr id="776" name="Google Shape;776;p5"/>
          <p:cNvCxnSpPr>
            <a:stCxn id="769" idx="2"/>
            <a:endCxn id="775" idx="0"/>
          </p:cNvCxnSpPr>
          <p:nvPr/>
        </p:nvCxnSpPr>
        <p:spPr>
          <a:xfrm>
            <a:off x="2334439" y="4084261"/>
            <a:ext cx="264300" cy="225900"/>
          </a:xfrm>
          <a:prstGeom prst="straightConnector1">
            <a:avLst/>
          </a:prstGeom>
          <a:noFill/>
          <a:ln cap="flat" cmpd="sng" w="9525">
            <a:solidFill>
              <a:schemeClr val="dk1"/>
            </a:solidFill>
            <a:prstDash val="solid"/>
            <a:miter lim="800000"/>
            <a:headEnd len="med" w="med" type="none"/>
            <a:tailEnd len="med" w="med" type="none"/>
          </a:ln>
        </p:spPr>
      </p:cxnSp>
      <p:sp>
        <p:nvSpPr>
          <p:cNvPr id="777" name="Google Shape;777;p5"/>
          <p:cNvSpPr txBox="1"/>
          <p:nvPr/>
        </p:nvSpPr>
        <p:spPr>
          <a:xfrm>
            <a:off x="2747488" y="3849400"/>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778" name="Google Shape;778;p5"/>
          <p:cNvCxnSpPr>
            <a:stCxn id="767" idx="2"/>
            <a:endCxn id="777" idx="0"/>
          </p:cNvCxnSpPr>
          <p:nvPr/>
        </p:nvCxnSpPr>
        <p:spPr>
          <a:xfrm>
            <a:off x="2779848" y="3630515"/>
            <a:ext cx="183300" cy="219000"/>
          </a:xfrm>
          <a:prstGeom prst="straightConnector1">
            <a:avLst/>
          </a:prstGeom>
          <a:noFill/>
          <a:ln cap="flat" cmpd="sng" w="9525">
            <a:solidFill>
              <a:schemeClr val="dk1"/>
            </a:solidFill>
            <a:prstDash val="solid"/>
            <a:miter lim="800000"/>
            <a:headEnd len="med" w="med" type="none"/>
            <a:tailEnd len="med" w="med" type="none"/>
          </a:ln>
        </p:spPr>
      </p:cxnSp>
      <p:sp>
        <p:nvSpPr>
          <p:cNvPr id="779" name="Google Shape;779;p5"/>
          <p:cNvSpPr txBox="1"/>
          <p:nvPr/>
        </p:nvSpPr>
        <p:spPr>
          <a:xfrm>
            <a:off x="3139306" y="3852973"/>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780" name="Google Shape;780;p5"/>
          <p:cNvSpPr txBox="1"/>
          <p:nvPr/>
        </p:nvSpPr>
        <p:spPr>
          <a:xfrm>
            <a:off x="3404884" y="339803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781" name="Google Shape;781;p5"/>
          <p:cNvCxnSpPr>
            <a:stCxn id="780" idx="2"/>
            <a:endCxn id="779" idx="0"/>
          </p:cNvCxnSpPr>
          <p:nvPr/>
        </p:nvCxnSpPr>
        <p:spPr>
          <a:xfrm flipH="1">
            <a:off x="3355148" y="3651951"/>
            <a:ext cx="265500" cy="201000"/>
          </a:xfrm>
          <a:prstGeom prst="straightConnector1">
            <a:avLst/>
          </a:prstGeom>
          <a:noFill/>
          <a:ln cap="flat" cmpd="sng" w="9525">
            <a:solidFill>
              <a:schemeClr val="dk1"/>
            </a:solidFill>
            <a:prstDash val="solid"/>
            <a:miter lim="800000"/>
            <a:headEnd len="med" w="med" type="none"/>
            <a:tailEnd len="med" w="med" type="none"/>
          </a:ln>
        </p:spPr>
      </p:cxnSp>
      <p:sp>
        <p:nvSpPr>
          <p:cNvPr id="782" name="Google Shape;782;p5"/>
          <p:cNvSpPr txBox="1"/>
          <p:nvPr/>
        </p:nvSpPr>
        <p:spPr>
          <a:xfrm>
            <a:off x="3573196" y="3877983"/>
            <a:ext cx="431529" cy="2539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783" name="Google Shape;783;p5"/>
          <p:cNvCxnSpPr>
            <a:stCxn id="780" idx="2"/>
            <a:endCxn id="782" idx="0"/>
          </p:cNvCxnSpPr>
          <p:nvPr/>
        </p:nvCxnSpPr>
        <p:spPr>
          <a:xfrm>
            <a:off x="3620648" y="3651951"/>
            <a:ext cx="168300" cy="225900"/>
          </a:xfrm>
          <a:prstGeom prst="straightConnector1">
            <a:avLst/>
          </a:prstGeom>
          <a:noFill/>
          <a:ln cap="flat" cmpd="sng" w="9525">
            <a:solidFill>
              <a:schemeClr val="dk1"/>
            </a:solidFill>
            <a:prstDash val="solid"/>
            <a:miter lim="800000"/>
            <a:headEnd len="med" w="med" type="none"/>
            <a:tailEnd len="med" w="med" type="none"/>
          </a:ln>
        </p:spPr>
      </p:cxnSp>
      <p:cxnSp>
        <p:nvCxnSpPr>
          <p:cNvPr id="784" name="Google Shape;784;p5"/>
          <p:cNvCxnSpPr>
            <a:stCxn id="766" idx="2"/>
            <a:endCxn id="780" idx="0"/>
          </p:cNvCxnSpPr>
          <p:nvPr/>
        </p:nvCxnSpPr>
        <p:spPr>
          <a:xfrm>
            <a:off x="3224067" y="3176769"/>
            <a:ext cx="396600" cy="221400"/>
          </a:xfrm>
          <a:prstGeom prst="straightConnector1">
            <a:avLst/>
          </a:prstGeom>
          <a:noFill/>
          <a:ln cap="flat" cmpd="sng" w="9525">
            <a:solidFill>
              <a:schemeClr val="dk1"/>
            </a:solidFill>
            <a:prstDash val="solid"/>
            <a:miter lim="800000"/>
            <a:headEnd len="med" w="med" type="none"/>
            <a:tailEnd len="med" w="med" type="none"/>
          </a:ln>
        </p:spPr>
      </p:cxnSp>
      <p:sp>
        <p:nvSpPr>
          <p:cNvPr id="785" name="Google Shape;785;p5"/>
          <p:cNvSpPr txBox="1"/>
          <p:nvPr/>
        </p:nvSpPr>
        <p:spPr>
          <a:xfrm>
            <a:off x="4435043" y="2958581"/>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F(3)</a:t>
            </a:r>
            <a:endParaRPr/>
          </a:p>
        </p:txBody>
      </p:sp>
      <p:sp>
        <p:nvSpPr>
          <p:cNvPr id="786" name="Google Shape;786;p5"/>
          <p:cNvSpPr txBox="1"/>
          <p:nvPr/>
        </p:nvSpPr>
        <p:spPr>
          <a:xfrm>
            <a:off x="3952715" y="3874410"/>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787" name="Google Shape;787;p5"/>
          <p:cNvSpPr txBox="1"/>
          <p:nvPr/>
        </p:nvSpPr>
        <p:spPr>
          <a:xfrm>
            <a:off x="4225438" y="3419472"/>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788" name="Google Shape;788;p5"/>
          <p:cNvCxnSpPr>
            <a:stCxn id="785" idx="0"/>
            <a:endCxn id="765" idx="2"/>
          </p:cNvCxnSpPr>
          <p:nvPr/>
        </p:nvCxnSpPr>
        <p:spPr>
          <a:xfrm rot="10800000">
            <a:off x="3669507" y="2723081"/>
            <a:ext cx="981300" cy="235500"/>
          </a:xfrm>
          <a:prstGeom prst="straightConnector1">
            <a:avLst/>
          </a:prstGeom>
          <a:noFill/>
          <a:ln cap="flat" cmpd="sng" w="9525">
            <a:solidFill>
              <a:schemeClr val="dk1"/>
            </a:solidFill>
            <a:prstDash val="solid"/>
            <a:miter lim="800000"/>
            <a:headEnd len="med" w="med" type="none"/>
            <a:tailEnd len="med" w="med" type="none"/>
          </a:ln>
        </p:spPr>
      </p:cxnSp>
      <p:cxnSp>
        <p:nvCxnSpPr>
          <p:cNvPr id="789" name="Google Shape;789;p5"/>
          <p:cNvCxnSpPr>
            <a:stCxn id="785" idx="2"/>
            <a:endCxn id="787" idx="0"/>
          </p:cNvCxnSpPr>
          <p:nvPr/>
        </p:nvCxnSpPr>
        <p:spPr>
          <a:xfrm flipH="1">
            <a:off x="4441107" y="3212497"/>
            <a:ext cx="209700" cy="207000"/>
          </a:xfrm>
          <a:prstGeom prst="straightConnector1">
            <a:avLst/>
          </a:prstGeom>
          <a:noFill/>
          <a:ln cap="flat" cmpd="sng" w="9525">
            <a:solidFill>
              <a:schemeClr val="dk1"/>
            </a:solidFill>
            <a:prstDash val="solid"/>
            <a:miter lim="800000"/>
            <a:headEnd len="med" w="med" type="none"/>
            <a:tailEnd len="med" w="med" type="none"/>
          </a:ln>
        </p:spPr>
      </p:cxnSp>
      <p:cxnSp>
        <p:nvCxnSpPr>
          <p:cNvPr id="790" name="Google Shape;790;p5"/>
          <p:cNvCxnSpPr>
            <a:stCxn id="787" idx="2"/>
            <a:endCxn id="786" idx="0"/>
          </p:cNvCxnSpPr>
          <p:nvPr/>
        </p:nvCxnSpPr>
        <p:spPr>
          <a:xfrm flipH="1">
            <a:off x="4168502" y="3673388"/>
            <a:ext cx="272700" cy="201000"/>
          </a:xfrm>
          <a:prstGeom prst="straightConnector1">
            <a:avLst/>
          </a:prstGeom>
          <a:noFill/>
          <a:ln cap="flat" cmpd="sng" w="9525">
            <a:solidFill>
              <a:schemeClr val="dk1"/>
            </a:solidFill>
            <a:prstDash val="solid"/>
            <a:miter lim="800000"/>
            <a:headEnd len="med" w="med" type="none"/>
            <a:tailEnd len="med" w="med" type="none"/>
          </a:ln>
        </p:spPr>
      </p:cxnSp>
      <p:sp>
        <p:nvSpPr>
          <p:cNvPr id="791" name="Google Shape;791;p5"/>
          <p:cNvSpPr txBox="1"/>
          <p:nvPr/>
        </p:nvSpPr>
        <p:spPr>
          <a:xfrm>
            <a:off x="4418370" y="3892274"/>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792" name="Google Shape;792;p5"/>
          <p:cNvCxnSpPr>
            <a:stCxn id="787" idx="2"/>
            <a:endCxn id="791" idx="0"/>
          </p:cNvCxnSpPr>
          <p:nvPr/>
        </p:nvCxnSpPr>
        <p:spPr>
          <a:xfrm>
            <a:off x="4441202" y="3673388"/>
            <a:ext cx="192900" cy="219000"/>
          </a:xfrm>
          <a:prstGeom prst="straightConnector1">
            <a:avLst/>
          </a:prstGeom>
          <a:noFill/>
          <a:ln cap="flat" cmpd="sng" w="9525">
            <a:solidFill>
              <a:schemeClr val="dk1"/>
            </a:solidFill>
            <a:prstDash val="solid"/>
            <a:miter lim="800000"/>
            <a:headEnd len="med" w="med" type="none"/>
            <a:tailEnd len="med" w="med" type="none"/>
          </a:ln>
        </p:spPr>
      </p:cxnSp>
      <p:sp>
        <p:nvSpPr>
          <p:cNvPr id="793" name="Google Shape;793;p5"/>
          <p:cNvSpPr txBox="1"/>
          <p:nvPr/>
        </p:nvSpPr>
        <p:spPr>
          <a:xfrm>
            <a:off x="4661321" y="3431382"/>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794" name="Google Shape;794;p5"/>
          <p:cNvCxnSpPr>
            <a:stCxn id="785" idx="2"/>
            <a:endCxn id="793" idx="0"/>
          </p:cNvCxnSpPr>
          <p:nvPr/>
        </p:nvCxnSpPr>
        <p:spPr>
          <a:xfrm>
            <a:off x="4650807" y="3212497"/>
            <a:ext cx="226200" cy="219000"/>
          </a:xfrm>
          <a:prstGeom prst="straightConnector1">
            <a:avLst/>
          </a:prstGeom>
          <a:noFill/>
          <a:ln cap="flat" cmpd="sng" w="9525">
            <a:solidFill>
              <a:schemeClr val="dk1"/>
            </a:solidFill>
            <a:prstDash val="solid"/>
            <a:miter lim="800000"/>
            <a:headEnd len="med" w="med" type="none"/>
            <a:tailEnd len="med" w="med" type="none"/>
          </a:ln>
        </p:spPr>
      </p:cxnSp>
      <p:sp>
        <p:nvSpPr>
          <p:cNvPr id="795" name="Google Shape;795;p5"/>
          <p:cNvSpPr txBox="1"/>
          <p:nvPr/>
        </p:nvSpPr>
        <p:spPr>
          <a:xfrm>
            <a:off x="6639464" y="251912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F(4)</a:t>
            </a:r>
            <a:endParaRPr/>
          </a:p>
        </p:txBody>
      </p:sp>
      <p:sp>
        <p:nvSpPr>
          <p:cNvPr id="796" name="Google Shape;796;p5"/>
          <p:cNvSpPr txBox="1"/>
          <p:nvPr/>
        </p:nvSpPr>
        <p:spPr>
          <a:xfrm>
            <a:off x="6195245" y="2972872"/>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F(3)</a:t>
            </a:r>
            <a:endParaRPr/>
          </a:p>
        </p:txBody>
      </p:sp>
      <p:sp>
        <p:nvSpPr>
          <p:cNvPr id="797" name="Google Shape;797;p5"/>
          <p:cNvSpPr txBox="1"/>
          <p:nvPr/>
        </p:nvSpPr>
        <p:spPr>
          <a:xfrm>
            <a:off x="5305617" y="388155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798" name="Google Shape;798;p5"/>
          <p:cNvSpPr txBox="1"/>
          <p:nvPr/>
        </p:nvSpPr>
        <p:spPr>
          <a:xfrm>
            <a:off x="5749835" y="3426618"/>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799" name="Google Shape;799;p5"/>
          <p:cNvCxnSpPr>
            <a:stCxn id="764" idx="2"/>
            <a:endCxn id="795" idx="0"/>
          </p:cNvCxnSpPr>
          <p:nvPr/>
        </p:nvCxnSpPr>
        <p:spPr>
          <a:xfrm>
            <a:off x="4765029" y="2269276"/>
            <a:ext cx="2090100" cy="249900"/>
          </a:xfrm>
          <a:prstGeom prst="straightConnector1">
            <a:avLst/>
          </a:prstGeom>
          <a:noFill/>
          <a:ln cap="flat" cmpd="sng" w="9525">
            <a:solidFill>
              <a:schemeClr val="dk1"/>
            </a:solidFill>
            <a:prstDash val="solid"/>
            <a:miter lim="800000"/>
            <a:headEnd len="med" w="med" type="none"/>
            <a:tailEnd len="med" w="med" type="none"/>
          </a:ln>
        </p:spPr>
      </p:cxnSp>
      <p:cxnSp>
        <p:nvCxnSpPr>
          <p:cNvPr id="800" name="Google Shape;800;p5"/>
          <p:cNvCxnSpPr>
            <a:stCxn id="796" idx="0"/>
            <a:endCxn id="795" idx="2"/>
          </p:cNvCxnSpPr>
          <p:nvPr/>
        </p:nvCxnSpPr>
        <p:spPr>
          <a:xfrm flipH="1" rot="10800000">
            <a:off x="6411009" y="2773072"/>
            <a:ext cx="4443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801" name="Google Shape;801;p5"/>
          <p:cNvCxnSpPr>
            <a:stCxn id="796" idx="2"/>
            <a:endCxn id="798" idx="0"/>
          </p:cNvCxnSpPr>
          <p:nvPr/>
        </p:nvCxnSpPr>
        <p:spPr>
          <a:xfrm flipH="1">
            <a:off x="5965509" y="3226788"/>
            <a:ext cx="4455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802" name="Google Shape;802;p5"/>
          <p:cNvCxnSpPr>
            <a:stCxn id="798" idx="2"/>
            <a:endCxn id="797" idx="0"/>
          </p:cNvCxnSpPr>
          <p:nvPr/>
        </p:nvCxnSpPr>
        <p:spPr>
          <a:xfrm flipH="1">
            <a:off x="5521299" y="3680534"/>
            <a:ext cx="444300" cy="201000"/>
          </a:xfrm>
          <a:prstGeom prst="straightConnector1">
            <a:avLst/>
          </a:prstGeom>
          <a:noFill/>
          <a:ln cap="flat" cmpd="sng" w="9525">
            <a:solidFill>
              <a:schemeClr val="dk1"/>
            </a:solidFill>
            <a:prstDash val="solid"/>
            <a:miter lim="800000"/>
            <a:headEnd len="med" w="med" type="none"/>
            <a:tailEnd len="med" w="med" type="none"/>
          </a:ln>
        </p:spPr>
      </p:cxnSp>
      <p:sp>
        <p:nvSpPr>
          <p:cNvPr id="803" name="Google Shape;803;p5"/>
          <p:cNvSpPr txBox="1"/>
          <p:nvPr/>
        </p:nvSpPr>
        <p:spPr>
          <a:xfrm>
            <a:off x="6014223" y="390656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804" name="Google Shape;804;p5"/>
          <p:cNvCxnSpPr>
            <a:stCxn id="798" idx="2"/>
            <a:endCxn id="803" idx="0"/>
          </p:cNvCxnSpPr>
          <p:nvPr/>
        </p:nvCxnSpPr>
        <p:spPr>
          <a:xfrm>
            <a:off x="5965599" y="3680534"/>
            <a:ext cx="264300" cy="225900"/>
          </a:xfrm>
          <a:prstGeom prst="straightConnector1">
            <a:avLst/>
          </a:prstGeom>
          <a:noFill/>
          <a:ln cap="flat" cmpd="sng" w="9525">
            <a:solidFill>
              <a:schemeClr val="dk1"/>
            </a:solidFill>
            <a:prstDash val="solid"/>
            <a:miter lim="800000"/>
            <a:headEnd len="med" w="med" type="none"/>
            <a:tailEnd len="med" w="med" type="none"/>
          </a:ln>
        </p:spPr>
      </p:cxnSp>
      <p:sp>
        <p:nvSpPr>
          <p:cNvPr id="805" name="Google Shape;805;p5"/>
          <p:cNvSpPr txBox="1"/>
          <p:nvPr/>
        </p:nvSpPr>
        <p:spPr>
          <a:xfrm>
            <a:off x="6378649" y="3445673"/>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806" name="Google Shape;806;p5"/>
          <p:cNvCxnSpPr>
            <a:stCxn id="796" idx="2"/>
            <a:endCxn id="805" idx="0"/>
          </p:cNvCxnSpPr>
          <p:nvPr/>
        </p:nvCxnSpPr>
        <p:spPr>
          <a:xfrm>
            <a:off x="6411009" y="3226788"/>
            <a:ext cx="183300" cy="219000"/>
          </a:xfrm>
          <a:prstGeom prst="straightConnector1">
            <a:avLst/>
          </a:prstGeom>
          <a:noFill/>
          <a:ln cap="flat" cmpd="sng" w="9525">
            <a:solidFill>
              <a:schemeClr val="dk1"/>
            </a:solidFill>
            <a:prstDash val="solid"/>
            <a:miter lim="800000"/>
            <a:headEnd len="med" w="med" type="none"/>
            <a:tailEnd len="med" w="med" type="none"/>
          </a:ln>
        </p:spPr>
      </p:cxnSp>
      <p:sp>
        <p:nvSpPr>
          <p:cNvPr id="807" name="Google Shape;807;p5"/>
          <p:cNvSpPr txBox="1"/>
          <p:nvPr/>
        </p:nvSpPr>
        <p:spPr>
          <a:xfrm>
            <a:off x="6770467" y="3449246"/>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808" name="Google Shape;808;p5"/>
          <p:cNvSpPr txBox="1"/>
          <p:nvPr/>
        </p:nvSpPr>
        <p:spPr>
          <a:xfrm>
            <a:off x="6928861" y="2994309"/>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809" name="Google Shape;809;p5"/>
          <p:cNvCxnSpPr>
            <a:stCxn id="808" idx="2"/>
            <a:endCxn id="807" idx="0"/>
          </p:cNvCxnSpPr>
          <p:nvPr/>
        </p:nvCxnSpPr>
        <p:spPr>
          <a:xfrm flipH="1">
            <a:off x="6986225" y="3248225"/>
            <a:ext cx="158400" cy="201000"/>
          </a:xfrm>
          <a:prstGeom prst="straightConnector1">
            <a:avLst/>
          </a:prstGeom>
          <a:noFill/>
          <a:ln cap="flat" cmpd="sng" w="9525">
            <a:solidFill>
              <a:schemeClr val="dk1"/>
            </a:solidFill>
            <a:prstDash val="solid"/>
            <a:miter lim="800000"/>
            <a:headEnd len="med" w="med" type="none"/>
            <a:tailEnd len="med" w="med" type="none"/>
          </a:ln>
        </p:spPr>
      </p:cxnSp>
      <p:sp>
        <p:nvSpPr>
          <p:cNvPr id="810" name="Google Shape;810;p5"/>
          <p:cNvSpPr txBox="1"/>
          <p:nvPr/>
        </p:nvSpPr>
        <p:spPr>
          <a:xfrm>
            <a:off x="7228977" y="347425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811" name="Google Shape;811;p5"/>
          <p:cNvCxnSpPr>
            <a:stCxn id="808" idx="2"/>
            <a:endCxn id="810" idx="0"/>
          </p:cNvCxnSpPr>
          <p:nvPr/>
        </p:nvCxnSpPr>
        <p:spPr>
          <a:xfrm>
            <a:off x="7144625" y="3248225"/>
            <a:ext cx="300000" cy="225900"/>
          </a:xfrm>
          <a:prstGeom prst="straightConnector1">
            <a:avLst/>
          </a:prstGeom>
          <a:noFill/>
          <a:ln cap="flat" cmpd="sng" w="9525">
            <a:solidFill>
              <a:schemeClr val="dk1"/>
            </a:solidFill>
            <a:prstDash val="solid"/>
            <a:miter lim="800000"/>
            <a:headEnd len="med" w="med" type="none"/>
            <a:tailEnd len="med" w="med" type="none"/>
          </a:ln>
        </p:spPr>
      </p:cxnSp>
      <p:cxnSp>
        <p:nvCxnSpPr>
          <p:cNvPr id="812" name="Google Shape;812;p5"/>
          <p:cNvCxnSpPr>
            <a:stCxn id="795" idx="2"/>
            <a:endCxn id="808" idx="0"/>
          </p:cNvCxnSpPr>
          <p:nvPr/>
        </p:nvCxnSpPr>
        <p:spPr>
          <a:xfrm>
            <a:off x="6855228" y="2773041"/>
            <a:ext cx="289500" cy="221400"/>
          </a:xfrm>
          <a:prstGeom prst="straightConnector1">
            <a:avLst/>
          </a:prstGeom>
          <a:noFill/>
          <a:ln cap="flat" cmpd="sng" w="9525">
            <a:solidFill>
              <a:schemeClr val="dk1"/>
            </a:solidFill>
            <a:prstDash val="solid"/>
            <a:miter lim="800000"/>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6"/>
          <p:cNvSpPr txBox="1"/>
          <p:nvPr>
            <p:ph idx="4294967295" type="title"/>
          </p:nvPr>
        </p:nvSpPr>
        <p:spPr>
          <a:xfrm>
            <a:off x="0" y="630238"/>
            <a:ext cx="8574088"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…Fibonacci Numbers</a:t>
            </a:r>
            <a:endParaRPr/>
          </a:p>
        </p:txBody>
      </p:sp>
      <p:sp>
        <p:nvSpPr>
          <p:cNvPr id="819" name="Google Shape;819;p6"/>
          <p:cNvSpPr txBox="1"/>
          <p:nvPr>
            <p:ph idx="4294967295" type="body"/>
          </p:nvPr>
        </p:nvSpPr>
        <p:spPr>
          <a:xfrm>
            <a:off x="1486372" y="1791269"/>
            <a:ext cx="6804025" cy="4114800"/>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How many summations are there in F(</a:t>
            </a:r>
            <a:r>
              <a:rPr i="1" lang="en-US"/>
              <a:t>n</a:t>
            </a:r>
            <a:r>
              <a:rPr lang="en-US"/>
              <a:t>)?</a:t>
            </a:r>
            <a:endParaRPr/>
          </a:p>
          <a:p>
            <a:pPr indent="-457200" lvl="1" marL="914400" rtl="0" algn="l">
              <a:spcBef>
                <a:spcPts val="600"/>
              </a:spcBef>
              <a:spcAft>
                <a:spcPts val="0"/>
              </a:spcAft>
              <a:buSzPts val="1980"/>
              <a:buChar char="🡽"/>
            </a:pPr>
            <a:r>
              <a:rPr lang="en-US"/>
              <a:t>F(</a:t>
            </a:r>
            <a:r>
              <a:rPr i="1" lang="en-US"/>
              <a:t>n</a:t>
            </a:r>
            <a:r>
              <a:rPr lang="en-US"/>
              <a:t>) = F(</a:t>
            </a:r>
            <a:r>
              <a:rPr i="1" lang="en-US"/>
              <a:t>n </a:t>
            </a:r>
            <a:r>
              <a:rPr lang="en-US"/>
              <a:t>–</a:t>
            </a:r>
            <a:r>
              <a:rPr i="1" lang="en-US"/>
              <a:t> </a:t>
            </a:r>
            <a:r>
              <a:rPr lang="en-US"/>
              <a:t>1) + F(</a:t>
            </a:r>
            <a:r>
              <a:rPr i="1" lang="en-US"/>
              <a:t>n </a:t>
            </a:r>
            <a:r>
              <a:rPr lang="en-US"/>
              <a:t>– 2) + 1  </a:t>
            </a:r>
            <a:endParaRPr/>
          </a:p>
          <a:p>
            <a:pPr indent="-457200" lvl="1" marL="914400" rtl="0" algn="l">
              <a:spcBef>
                <a:spcPts val="600"/>
              </a:spcBef>
              <a:spcAft>
                <a:spcPts val="0"/>
              </a:spcAft>
              <a:buSzPts val="1980"/>
              <a:buChar char="🡽"/>
            </a:pPr>
            <a:r>
              <a:rPr lang="en-US"/>
              <a:t>F(</a:t>
            </a:r>
            <a:r>
              <a:rPr i="1" lang="en-US"/>
              <a:t>n</a:t>
            </a:r>
            <a:r>
              <a:rPr lang="en-US"/>
              <a:t>) </a:t>
            </a:r>
            <a:r>
              <a:rPr lang="en-US">
                <a:latin typeface="Noto Sans Symbols"/>
                <a:ea typeface="Noto Sans Symbols"/>
                <a:cs typeface="Noto Sans Symbols"/>
                <a:sym typeface="Noto Sans Symbols"/>
              </a:rPr>
              <a:t>≥  </a:t>
            </a:r>
            <a:r>
              <a:rPr lang="en-US"/>
              <a:t>2F(</a:t>
            </a:r>
            <a:r>
              <a:rPr i="1" lang="en-US"/>
              <a:t>n </a:t>
            </a:r>
            <a:r>
              <a:rPr lang="en-US"/>
              <a:t>– 2) +1  and  F(1) = F(0) = 0 </a:t>
            </a:r>
            <a:endParaRPr>
              <a:latin typeface="Arial"/>
              <a:ea typeface="Arial"/>
              <a:cs typeface="Arial"/>
              <a:sym typeface="Arial"/>
            </a:endParaRPr>
          </a:p>
          <a:p>
            <a:pPr indent="-457200" lvl="1" marL="914400" rtl="0" algn="l">
              <a:spcBef>
                <a:spcPts val="600"/>
              </a:spcBef>
              <a:spcAft>
                <a:spcPts val="0"/>
              </a:spcAft>
              <a:buSzPts val="1980"/>
              <a:buChar char="🡽"/>
            </a:pPr>
            <a:r>
              <a:rPr lang="en-US"/>
              <a:t>Solving the recurrence we get </a:t>
            </a:r>
            <a:endParaRPr/>
          </a:p>
          <a:p>
            <a:pPr indent="-457200" lvl="1" marL="914400" rtl="0" algn="l">
              <a:spcBef>
                <a:spcPts val="600"/>
              </a:spcBef>
              <a:spcAft>
                <a:spcPts val="0"/>
              </a:spcAft>
              <a:buSzPts val="1980"/>
              <a:buFont typeface="Calibri"/>
              <a:buNone/>
            </a:pPr>
            <a:r>
              <a:rPr lang="en-US"/>
              <a:t> 	F(n) </a:t>
            </a:r>
            <a:r>
              <a:rPr lang="en-US">
                <a:latin typeface="Noto Sans Symbols"/>
                <a:ea typeface="Noto Sans Symbols"/>
                <a:cs typeface="Noto Sans Symbols"/>
                <a:sym typeface="Noto Sans Symbols"/>
              </a:rPr>
              <a:t>≥  </a:t>
            </a:r>
            <a:r>
              <a:rPr lang="en-US"/>
              <a:t>2</a:t>
            </a:r>
            <a:r>
              <a:rPr baseline="30000" lang="en-US"/>
              <a:t>n/2</a:t>
            </a:r>
            <a:r>
              <a:rPr lang="en-US"/>
              <a:t> – 1 </a:t>
            </a:r>
            <a:r>
              <a:rPr lang="en-US">
                <a:latin typeface="Noto Sans Symbols"/>
                <a:ea typeface="Noto Sans Symbols"/>
                <a:cs typeface="Noto Sans Symbols"/>
                <a:sym typeface="Noto Sans Symbols"/>
              </a:rPr>
              <a:t>≈ </a:t>
            </a:r>
            <a:r>
              <a:rPr lang="en-US"/>
              <a:t>1.4</a:t>
            </a:r>
            <a:r>
              <a:rPr baseline="30000" lang="en-US"/>
              <a:t>n</a:t>
            </a:r>
            <a:r>
              <a:rPr lang="en-US"/>
              <a:t> </a:t>
            </a:r>
            <a:endParaRPr/>
          </a:p>
          <a:p>
            <a:pPr indent="-454025" lvl="0" marL="454025" rtl="0" algn="l">
              <a:spcBef>
                <a:spcPts val="2000"/>
              </a:spcBef>
              <a:spcAft>
                <a:spcPts val="0"/>
              </a:spcAft>
              <a:buSzPts val="2160"/>
              <a:buChar char="🡽"/>
            </a:pPr>
            <a:r>
              <a:rPr lang="en-US"/>
              <a:t>Running time is </a:t>
            </a:r>
            <a:r>
              <a:rPr i="1" lang="en-US">
                <a:solidFill>
                  <a:srgbClr val="FF3300"/>
                </a:solidFill>
              </a:rPr>
              <a:t>exponential</a:t>
            </a:r>
            <a:r>
              <a:rPr i="1" lang="en-US"/>
              <a:t>!</a:t>
            </a:r>
            <a:r>
              <a:rPr lang="en-US"/>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7"/>
          <p:cNvSpPr txBox="1"/>
          <p:nvPr>
            <p:ph idx="4294967295" type="title"/>
          </p:nvPr>
        </p:nvSpPr>
        <p:spPr>
          <a:xfrm>
            <a:off x="0" y="630238"/>
            <a:ext cx="8574088"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…Fibonacci Numbers</a:t>
            </a:r>
            <a:endParaRPr/>
          </a:p>
        </p:txBody>
      </p:sp>
      <p:sp>
        <p:nvSpPr>
          <p:cNvPr id="826" name="Google Shape;826;p7"/>
          <p:cNvSpPr txBox="1"/>
          <p:nvPr>
            <p:ph idx="4294967295" type="body"/>
          </p:nvPr>
        </p:nvSpPr>
        <p:spPr>
          <a:xfrm>
            <a:off x="511175" y="1530350"/>
            <a:ext cx="8632825" cy="2401888"/>
          </a:xfrm>
          <a:prstGeom prst="rect">
            <a:avLst/>
          </a:prstGeom>
          <a:noFill/>
          <a:ln>
            <a:noFill/>
          </a:ln>
        </p:spPr>
        <p:txBody>
          <a:bodyPr anchorCtr="0" anchor="t" bIns="45700" lIns="91425" spcFirstLastPara="1" rIns="91425" wrap="square" tIns="45700">
            <a:normAutofit/>
          </a:bodyPr>
          <a:lstStyle/>
          <a:p>
            <a:pPr indent="-454025" lvl="0" marL="454025" rtl="0" algn="just">
              <a:spcBef>
                <a:spcPts val="0"/>
              </a:spcBef>
              <a:spcAft>
                <a:spcPts val="0"/>
              </a:spcAft>
              <a:buSzPts val="2160"/>
              <a:buChar char="🡽"/>
            </a:pPr>
            <a:r>
              <a:rPr lang="en-US"/>
              <a:t>We can calculate </a:t>
            </a:r>
            <a:r>
              <a:rPr i="1" lang="en-US"/>
              <a:t>F</a:t>
            </a:r>
            <a:r>
              <a:rPr lang="en-US"/>
              <a:t>(</a:t>
            </a:r>
            <a:r>
              <a:rPr i="1" lang="en-US"/>
              <a:t>n</a:t>
            </a:r>
            <a:r>
              <a:rPr lang="en-US"/>
              <a:t>)</a:t>
            </a:r>
            <a:r>
              <a:rPr i="1" lang="en-US"/>
              <a:t> </a:t>
            </a:r>
            <a:r>
              <a:rPr baseline="-25000" i="1" lang="en-US"/>
              <a:t> </a:t>
            </a:r>
            <a:r>
              <a:rPr lang="en-US"/>
              <a:t>in </a:t>
            </a:r>
            <a:r>
              <a:rPr i="1" lang="en-US"/>
              <a:t>linear</a:t>
            </a:r>
            <a:r>
              <a:rPr lang="en-US"/>
              <a:t>  time by </a:t>
            </a:r>
            <a:r>
              <a:rPr lang="en-US" u="sng"/>
              <a:t>remembering solutions</a:t>
            </a:r>
            <a:r>
              <a:rPr lang="en-US"/>
              <a:t> to the solved sub-problems (= </a:t>
            </a:r>
            <a:r>
              <a:rPr i="1" lang="en-US">
                <a:solidFill>
                  <a:srgbClr val="FF3300"/>
                </a:solidFill>
              </a:rPr>
              <a:t>dynamic programming</a:t>
            </a:r>
            <a:r>
              <a:rPr i="1" lang="en-US"/>
              <a:t>).</a:t>
            </a:r>
            <a:endParaRPr/>
          </a:p>
          <a:p>
            <a:pPr indent="-454025" lvl="0" marL="454025" rtl="0" algn="l">
              <a:spcBef>
                <a:spcPts val="2000"/>
              </a:spcBef>
              <a:spcAft>
                <a:spcPts val="0"/>
              </a:spcAft>
              <a:buSzPts val="2160"/>
              <a:buChar char="🡽"/>
            </a:pPr>
            <a:r>
              <a:rPr lang="en-US"/>
              <a:t>Compute solution in a bottom-up fashion </a:t>
            </a:r>
            <a:endParaRPr/>
          </a:p>
          <a:p>
            <a:pPr indent="-454025" lvl="0" marL="454025" rtl="0" algn="l">
              <a:spcBef>
                <a:spcPts val="2000"/>
              </a:spcBef>
              <a:spcAft>
                <a:spcPts val="0"/>
              </a:spcAft>
              <a:buSzPts val="2160"/>
              <a:buChar char="🡽"/>
            </a:pPr>
            <a:r>
              <a:rPr lang="en-US"/>
              <a:t>Trade space for time! </a:t>
            </a:r>
            <a:endParaRPr/>
          </a:p>
        </p:txBody>
      </p:sp>
      <p:sp>
        <p:nvSpPr>
          <p:cNvPr id="827" name="Google Shape;827;p7"/>
          <p:cNvSpPr txBox="1"/>
          <p:nvPr/>
        </p:nvSpPr>
        <p:spPr>
          <a:xfrm>
            <a:off x="2285405" y="3657660"/>
            <a:ext cx="4458861" cy="2032095"/>
          </a:xfrm>
          <a:prstGeom prst="rect">
            <a:avLst/>
          </a:prstGeom>
          <a:solidFill>
            <a:schemeClr val="lt1"/>
          </a:solidFill>
          <a:ln cap="flat" cmpd="sng" w="12700">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342991" lvl="0" marL="342991" marR="0" rtl="0" algn="l">
              <a:spcBef>
                <a:spcPts val="0"/>
              </a:spcBef>
              <a:spcAft>
                <a:spcPts val="0"/>
              </a:spcAft>
              <a:buNone/>
            </a:pPr>
            <a:r>
              <a:rPr b="1" lang="en-US" sz="2101">
                <a:solidFill>
                  <a:schemeClr val="dk1"/>
                </a:solidFill>
                <a:latin typeface="Courier New"/>
                <a:ea typeface="Courier New"/>
                <a:cs typeface="Courier New"/>
                <a:sym typeface="Courier New"/>
              </a:rPr>
              <a:t>Fibonacci</a:t>
            </a:r>
            <a:r>
              <a:rPr lang="en-US" sz="2101">
                <a:solidFill>
                  <a:schemeClr val="dk1"/>
                </a:solidFill>
                <a:latin typeface="Courier New"/>
                <a:ea typeface="Courier New"/>
                <a:cs typeface="Courier New"/>
                <a:sym typeface="Courier New"/>
              </a:rPr>
              <a:t>(n)</a:t>
            </a:r>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01 F[0]</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0</a:t>
            </a:r>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02 F[1]</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1</a:t>
            </a:r>
            <a:endParaRPr sz="2101">
              <a:solidFill>
                <a:schemeClr val="dk1"/>
              </a:solidFill>
              <a:latin typeface="Courier New"/>
              <a:ea typeface="Courier New"/>
              <a:cs typeface="Courier New"/>
              <a:sym typeface="Courier New"/>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03</a:t>
            </a:r>
            <a:r>
              <a:rPr b="1" lang="en-US" sz="2101">
                <a:solidFill>
                  <a:schemeClr val="dk1"/>
                </a:solidFill>
                <a:latin typeface="Courier New"/>
                <a:ea typeface="Courier New"/>
                <a:cs typeface="Courier New"/>
                <a:sym typeface="Courier New"/>
              </a:rPr>
              <a:t> for </a:t>
            </a:r>
            <a:r>
              <a:rPr lang="en-US" sz="2101">
                <a:solidFill>
                  <a:schemeClr val="dk1"/>
                </a:solidFill>
                <a:latin typeface="Courier New"/>
                <a:ea typeface="Courier New"/>
                <a:cs typeface="Courier New"/>
                <a:sym typeface="Courier New"/>
              </a:rPr>
              <a:t>i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 2 </a:t>
            </a:r>
            <a:r>
              <a:rPr b="1" lang="en-US" sz="2101">
                <a:solidFill>
                  <a:schemeClr val="dk1"/>
                </a:solidFill>
                <a:latin typeface="Courier New"/>
                <a:ea typeface="Courier New"/>
                <a:cs typeface="Courier New"/>
                <a:sym typeface="Courier New"/>
              </a:rPr>
              <a:t>to</a:t>
            </a:r>
            <a:r>
              <a:rPr lang="en-US" sz="2101">
                <a:solidFill>
                  <a:schemeClr val="dk1"/>
                </a:solidFill>
                <a:latin typeface="Courier New"/>
                <a:ea typeface="Courier New"/>
                <a:cs typeface="Courier New"/>
                <a:sym typeface="Courier New"/>
              </a:rPr>
              <a:t> n </a:t>
            </a:r>
            <a:r>
              <a:rPr b="1" lang="en-US" sz="2101">
                <a:solidFill>
                  <a:schemeClr val="dk1"/>
                </a:solidFill>
                <a:latin typeface="Courier New"/>
                <a:ea typeface="Courier New"/>
                <a:cs typeface="Courier New"/>
                <a:sym typeface="Courier New"/>
              </a:rPr>
              <a:t>do</a:t>
            </a:r>
            <a:endParaRPr sz="2101">
              <a:solidFill>
                <a:schemeClr val="dk1"/>
              </a:solidFill>
              <a:latin typeface="Courier New"/>
              <a:ea typeface="Courier New"/>
              <a:cs typeface="Courier New"/>
              <a:sym typeface="Courier New"/>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04   F[i]</a:t>
            </a:r>
            <a:r>
              <a:rPr baseline="-25000" lang="en-US" sz="2101">
                <a:solidFill>
                  <a:schemeClr val="dk1"/>
                </a:solidFill>
                <a:latin typeface="Courier New"/>
                <a:ea typeface="Courier New"/>
                <a:cs typeface="Courier New"/>
                <a:sym typeface="Courier New"/>
              </a:rPr>
              <a:t> </a:t>
            </a:r>
            <a:r>
              <a:rPr lang="en-US" sz="2101">
                <a:solidFill>
                  <a:schemeClr val="dk1"/>
                </a:solidFill>
                <a:latin typeface="Noto Sans Symbols"/>
                <a:ea typeface="Noto Sans Symbols"/>
                <a:cs typeface="Noto Sans Symbols"/>
                <a:sym typeface="Noto Sans Symbols"/>
              </a:rPr>
              <a:t>←</a:t>
            </a:r>
            <a:r>
              <a:rPr baseline="-25000" lang="en-US" sz="2101">
                <a:solidFill>
                  <a:schemeClr val="dk1"/>
                </a:solidFill>
                <a:latin typeface="Courier New"/>
                <a:ea typeface="Courier New"/>
                <a:cs typeface="Courier New"/>
                <a:sym typeface="Courier New"/>
              </a:rPr>
              <a:t> </a:t>
            </a:r>
            <a:r>
              <a:rPr lang="en-US" sz="2101">
                <a:solidFill>
                  <a:schemeClr val="dk1"/>
                </a:solidFill>
                <a:latin typeface="Courier New"/>
                <a:ea typeface="Courier New"/>
                <a:cs typeface="Courier New"/>
                <a:sym typeface="Courier New"/>
              </a:rPr>
              <a:t>F[i-1]</a:t>
            </a:r>
            <a:r>
              <a:rPr baseline="-25000" lang="en-US" sz="2101">
                <a:solidFill>
                  <a:schemeClr val="dk1"/>
                </a:solidFill>
                <a:latin typeface="Courier New"/>
                <a:ea typeface="Courier New"/>
                <a:cs typeface="Courier New"/>
                <a:sym typeface="Courier New"/>
              </a:rPr>
              <a:t> </a:t>
            </a:r>
            <a:r>
              <a:rPr lang="en-US" sz="2101">
                <a:solidFill>
                  <a:schemeClr val="dk1"/>
                </a:solidFill>
                <a:latin typeface="Courier New"/>
                <a:ea typeface="Courier New"/>
                <a:cs typeface="Courier New"/>
                <a:sym typeface="Courier New"/>
              </a:rPr>
              <a:t>+ F[i-2]</a:t>
            </a:r>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05 </a:t>
            </a:r>
            <a:r>
              <a:rPr b="1" lang="en-US" sz="2101">
                <a:solidFill>
                  <a:schemeClr val="dk1"/>
                </a:solidFill>
                <a:latin typeface="Courier New"/>
                <a:ea typeface="Courier New"/>
                <a:cs typeface="Courier New"/>
                <a:sym typeface="Courier New"/>
              </a:rPr>
              <a:t>return</a:t>
            </a:r>
            <a:r>
              <a:rPr lang="en-US" sz="2101">
                <a:solidFill>
                  <a:schemeClr val="dk1"/>
                </a:solidFill>
                <a:latin typeface="Courier New"/>
                <a:ea typeface="Courier New"/>
                <a:cs typeface="Courier New"/>
                <a:sym typeface="Courier New"/>
              </a:rPr>
              <a:t> F[n]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8"/>
          <p:cNvSpPr txBox="1"/>
          <p:nvPr>
            <p:ph idx="4294967295" type="title"/>
          </p:nvPr>
        </p:nvSpPr>
        <p:spPr>
          <a:xfrm>
            <a:off x="0" y="630238"/>
            <a:ext cx="8574088"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…Fibonacci Numbers</a:t>
            </a:r>
            <a:endParaRPr b="1" sz="3200">
              <a:solidFill>
                <a:schemeClr val="dk1"/>
              </a:solidFill>
            </a:endParaRPr>
          </a:p>
        </p:txBody>
      </p:sp>
      <p:sp>
        <p:nvSpPr>
          <p:cNvPr id="834" name="Google Shape;834;p8"/>
          <p:cNvSpPr txBox="1"/>
          <p:nvPr>
            <p:ph idx="4294967295" type="body"/>
          </p:nvPr>
        </p:nvSpPr>
        <p:spPr>
          <a:xfrm>
            <a:off x="879475" y="1466815"/>
            <a:ext cx="6815138" cy="1200150"/>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In fact, only two values need to be remembered at any time!</a:t>
            </a:r>
            <a:endParaRPr/>
          </a:p>
          <a:p>
            <a:pPr indent="-316865" lvl="0" marL="454025" rtl="0" algn="l">
              <a:spcBef>
                <a:spcPts val="2000"/>
              </a:spcBef>
              <a:spcAft>
                <a:spcPts val="0"/>
              </a:spcAft>
              <a:buSzPts val="2160"/>
              <a:buNone/>
            </a:pPr>
            <a:r>
              <a:t/>
            </a:r>
            <a:endParaRPr/>
          </a:p>
        </p:txBody>
      </p:sp>
      <p:sp>
        <p:nvSpPr>
          <p:cNvPr id="835" name="Google Shape;835;p8"/>
          <p:cNvSpPr txBox="1"/>
          <p:nvPr/>
        </p:nvSpPr>
        <p:spPr>
          <a:xfrm>
            <a:off x="2399735" y="2514362"/>
            <a:ext cx="4287367" cy="3001976"/>
          </a:xfrm>
          <a:prstGeom prst="rect">
            <a:avLst/>
          </a:prstGeom>
          <a:solidFill>
            <a:schemeClr val="lt1"/>
          </a:solidFill>
          <a:ln cap="flat" cmpd="sng" w="12700">
            <a:solidFill>
              <a:schemeClr val="dk1"/>
            </a:solidFill>
            <a:prstDash val="solid"/>
            <a:miter lim="800000"/>
            <a:headEnd len="sm" w="sm" type="none"/>
            <a:tailEnd len="sm" w="sm" type="none"/>
          </a:ln>
          <a:effectLst>
            <a:outerShdw rotWithShape="0" algn="ctr" dir="2700000" dist="107763">
              <a:schemeClr val="lt2"/>
            </a:outerShdw>
          </a:effectLst>
        </p:spPr>
        <p:txBody>
          <a:bodyPr anchorCtr="0" anchor="t" bIns="45700" lIns="91425" spcFirstLastPara="1" rIns="91425" wrap="square" tIns="45700">
            <a:spAutoFit/>
          </a:bodyPr>
          <a:lstStyle/>
          <a:p>
            <a:pPr indent="-342991" lvl="0" marL="342991" marR="0" rtl="0" algn="l">
              <a:spcBef>
                <a:spcPts val="0"/>
              </a:spcBef>
              <a:spcAft>
                <a:spcPts val="0"/>
              </a:spcAft>
              <a:buNone/>
            </a:pPr>
            <a:r>
              <a:rPr b="1" lang="en-US" sz="2101">
                <a:solidFill>
                  <a:schemeClr val="dk1"/>
                </a:solidFill>
                <a:latin typeface="Courier New"/>
                <a:ea typeface="Courier New"/>
                <a:cs typeface="Courier New"/>
                <a:sym typeface="Courier New"/>
              </a:rPr>
              <a:t>FibonacciImproved</a:t>
            </a:r>
            <a:r>
              <a:rPr lang="en-US" sz="2101">
                <a:solidFill>
                  <a:schemeClr val="dk1"/>
                </a:solidFill>
                <a:latin typeface="Courier New"/>
                <a:ea typeface="Courier New"/>
                <a:cs typeface="Courier New"/>
                <a:sym typeface="Courier New"/>
              </a:rPr>
              <a:t>(n)</a:t>
            </a:r>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01 </a:t>
            </a:r>
            <a:r>
              <a:rPr b="1" lang="en-US" sz="2101">
                <a:solidFill>
                  <a:schemeClr val="dk1"/>
                </a:solidFill>
                <a:latin typeface="Courier New"/>
                <a:ea typeface="Courier New"/>
                <a:cs typeface="Courier New"/>
                <a:sym typeface="Courier New"/>
              </a:rPr>
              <a:t>if </a:t>
            </a:r>
            <a:r>
              <a:rPr lang="en-US" sz="2101">
                <a:solidFill>
                  <a:schemeClr val="dk1"/>
                </a:solidFill>
                <a:latin typeface="Courier New"/>
                <a:ea typeface="Courier New"/>
                <a:cs typeface="Courier New"/>
                <a:sym typeface="Courier New"/>
              </a:rPr>
              <a:t>n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Arial"/>
                <a:ea typeface="Arial"/>
                <a:cs typeface="Arial"/>
                <a:sym typeface="Arial"/>
              </a:rPr>
              <a:t> </a:t>
            </a:r>
            <a:r>
              <a:rPr lang="en-US" sz="2101">
                <a:solidFill>
                  <a:schemeClr val="dk1"/>
                </a:solidFill>
                <a:latin typeface="Courier New"/>
                <a:ea typeface="Courier New"/>
                <a:cs typeface="Courier New"/>
                <a:sym typeface="Courier New"/>
              </a:rPr>
              <a:t>1 </a:t>
            </a:r>
            <a:r>
              <a:rPr b="1" lang="en-US" sz="2101">
                <a:solidFill>
                  <a:schemeClr val="dk1"/>
                </a:solidFill>
                <a:latin typeface="Courier New"/>
                <a:ea typeface="Courier New"/>
                <a:cs typeface="Courier New"/>
                <a:sym typeface="Courier New"/>
              </a:rPr>
              <a:t>then return </a:t>
            </a:r>
            <a:r>
              <a:rPr lang="en-US" sz="2101">
                <a:solidFill>
                  <a:schemeClr val="dk1"/>
                </a:solidFill>
                <a:latin typeface="Courier New"/>
                <a:ea typeface="Courier New"/>
                <a:cs typeface="Courier New"/>
                <a:sym typeface="Courier New"/>
              </a:rPr>
              <a:t>n</a:t>
            </a:r>
            <a:endParaRPr b="1" sz="2101">
              <a:solidFill>
                <a:schemeClr val="dk1"/>
              </a:solidFill>
              <a:latin typeface="Courier New"/>
              <a:ea typeface="Courier New"/>
              <a:cs typeface="Courier New"/>
              <a:sym typeface="Courier New"/>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02 Fim2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0</a:t>
            </a:r>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03 Fim1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1</a:t>
            </a:r>
            <a:endParaRPr sz="2101">
              <a:solidFill>
                <a:schemeClr val="dk1"/>
              </a:solidFill>
              <a:latin typeface="Courier New"/>
              <a:ea typeface="Courier New"/>
              <a:cs typeface="Courier New"/>
              <a:sym typeface="Courier New"/>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04</a:t>
            </a:r>
            <a:r>
              <a:rPr b="1" lang="en-US" sz="2101">
                <a:solidFill>
                  <a:schemeClr val="dk1"/>
                </a:solidFill>
                <a:latin typeface="Courier New"/>
                <a:ea typeface="Courier New"/>
                <a:cs typeface="Courier New"/>
                <a:sym typeface="Courier New"/>
              </a:rPr>
              <a:t> for </a:t>
            </a:r>
            <a:r>
              <a:rPr lang="en-US" sz="2101">
                <a:solidFill>
                  <a:schemeClr val="dk1"/>
                </a:solidFill>
                <a:latin typeface="Courier New"/>
                <a:ea typeface="Courier New"/>
                <a:cs typeface="Courier New"/>
                <a:sym typeface="Courier New"/>
              </a:rPr>
              <a:t>i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 2 </a:t>
            </a:r>
            <a:r>
              <a:rPr b="1" lang="en-US" sz="2101">
                <a:solidFill>
                  <a:schemeClr val="dk1"/>
                </a:solidFill>
                <a:latin typeface="Courier New"/>
                <a:ea typeface="Courier New"/>
                <a:cs typeface="Courier New"/>
                <a:sym typeface="Courier New"/>
              </a:rPr>
              <a:t>to</a:t>
            </a:r>
            <a:r>
              <a:rPr lang="en-US" sz="2101">
                <a:solidFill>
                  <a:schemeClr val="dk1"/>
                </a:solidFill>
                <a:latin typeface="Courier New"/>
                <a:ea typeface="Courier New"/>
                <a:cs typeface="Courier New"/>
                <a:sym typeface="Courier New"/>
              </a:rPr>
              <a:t> n </a:t>
            </a:r>
            <a:r>
              <a:rPr b="1" lang="en-US" sz="2101">
                <a:solidFill>
                  <a:schemeClr val="dk1"/>
                </a:solidFill>
                <a:latin typeface="Courier New"/>
                <a:ea typeface="Courier New"/>
                <a:cs typeface="Courier New"/>
                <a:sym typeface="Courier New"/>
              </a:rPr>
              <a:t>do</a:t>
            </a:r>
            <a:endParaRPr sz="2101">
              <a:solidFill>
                <a:schemeClr val="dk1"/>
              </a:solidFill>
              <a:latin typeface="Courier New"/>
              <a:ea typeface="Courier New"/>
              <a:cs typeface="Courier New"/>
              <a:sym typeface="Courier New"/>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05   Fi</a:t>
            </a:r>
            <a:r>
              <a:rPr baseline="-25000" lang="en-US" sz="2101">
                <a:solidFill>
                  <a:schemeClr val="dk1"/>
                </a:solidFill>
                <a:latin typeface="Courier New"/>
                <a:ea typeface="Courier New"/>
                <a:cs typeface="Courier New"/>
                <a:sym typeface="Courier New"/>
              </a:rPr>
              <a:t> </a:t>
            </a:r>
            <a:r>
              <a:rPr lang="en-US" sz="2101">
                <a:solidFill>
                  <a:schemeClr val="dk1"/>
                </a:solidFill>
                <a:latin typeface="Noto Sans Symbols"/>
                <a:ea typeface="Noto Sans Symbols"/>
                <a:cs typeface="Noto Sans Symbols"/>
                <a:sym typeface="Noto Sans Symbols"/>
              </a:rPr>
              <a:t>←</a:t>
            </a:r>
            <a:r>
              <a:rPr baseline="-25000" lang="en-US" sz="2101">
                <a:solidFill>
                  <a:schemeClr val="dk1"/>
                </a:solidFill>
                <a:latin typeface="Courier New"/>
                <a:ea typeface="Courier New"/>
                <a:cs typeface="Courier New"/>
                <a:sym typeface="Courier New"/>
              </a:rPr>
              <a:t> </a:t>
            </a:r>
            <a:r>
              <a:rPr lang="en-US" sz="2101">
                <a:solidFill>
                  <a:schemeClr val="dk1"/>
                </a:solidFill>
                <a:latin typeface="Courier New"/>
                <a:ea typeface="Courier New"/>
                <a:cs typeface="Courier New"/>
                <a:sym typeface="Courier New"/>
              </a:rPr>
              <a:t>Fim1</a:t>
            </a:r>
            <a:r>
              <a:rPr baseline="-25000" lang="en-US" sz="2101">
                <a:solidFill>
                  <a:schemeClr val="dk1"/>
                </a:solidFill>
                <a:latin typeface="Courier New"/>
                <a:ea typeface="Courier New"/>
                <a:cs typeface="Courier New"/>
                <a:sym typeface="Courier New"/>
              </a:rPr>
              <a:t> </a:t>
            </a:r>
            <a:r>
              <a:rPr lang="en-US" sz="2101">
                <a:solidFill>
                  <a:schemeClr val="dk1"/>
                </a:solidFill>
                <a:latin typeface="Courier New"/>
                <a:ea typeface="Courier New"/>
                <a:cs typeface="Courier New"/>
                <a:sym typeface="Courier New"/>
              </a:rPr>
              <a:t>+ Fim2</a:t>
            </a:r>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06   Fim2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 Fim1</a:t>
            </a:r>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07   Fim1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 Fi</a:t>
            </a:r>
            <a:endParaRPr/>
          </a:p>
          <a:p>
            <a:pPr indent="-342991" lvl="0" marL="342991" marR="0" rtl="0" algn="l">
              <a:spcBef>
                <a:spcPts val="0"/>
              </a:spcBef>
              <a:spcAft>
                <a:spcPts val="0"/>
              </a:spcAft>
              <a:buNone/>
            </a:pPr>
            <a:r>
              <a:rPr lang="en-US" sz="2101">
                <a:solidFill>
                  <a:schemeClr val="dk1"/>
                </a:solidFill>
                <a:latin typeface="Courier New"/>
                <a:ea typeface="Courier New"/>
                <a:cs typeface="Courier New"/>
                <a:sym typeface="Courier New"/>
              </a:rPr>
              <a:t>05 </a:t>
            </a:r>
            <a:r>
              <a:rPr b="1" lang="en-US" sz="2101">
                <a:solidFill>
                  <a:schemeClr val="dk1"/>
                </a:solidFill>
                <a:latin typeface="Courier New"/>
                <a:ea typeface="Courier New"/>
                <a:cs typeface="Courier New"/>
                <a:sym typeface="Courier New"/>
              </a:rPr>
              <a:t>return</a:t>
            </a:r>
            <a:r>
              <a:rPr lang="en-US" sz="2101">
                <a:solidFill>
                  <a:schemeClr val="dk1"/>
                </a:solidFill>
                <a:latin typeface="Courier New"/>
                <a:ea typeface="Courier New"/>
                <a:cs typeface="Courier New"/>
                <a:sym typeface="Courier New"/>
              </a:rPr>
              <a:t> Fi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9"/>
          <p:cNvSpPr txBox="1"/>
          <p:nvPr>
            <p:ph idx="4294967295" type="title"/>
          </p:nvPr>
        </p:nvSpPr>
        <p:spPr>
          <a:xfrm>
            <a:off x="0" y="630238"/>
            <a:ext cx="8574088"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History</a:t>
            </a:r>
            <a:endParaRPr b="1" sz="3200">
              <a:solidFill>
                <a:schemeClr val="dk1"/>
              </a:solidFill>
            </a:endParaRPr>
          </a:p>
        </p:txBody>
      </p:sp>
      <p:sp>
        <p:nvSpPr>
          <p:cNvPr id="842" name="Google Shape;842;p9"/>
          <p:cNvSpPr txBox="1"/>
          <p:nvPr>
            <p:ph idx="4294967295" type="body"/>
          </p:nvPr>
        </p:nvSpPr>
        <p:spPr>
          <a:xfrm>
            <a:off x="382137" y="1788237"/>
            <a:ext cx="8761863" cy="3992563"/>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Dynamic programming</a:t>
            </a:r>
            <a:endParaRPr/>
          </a:p>
          <a:p>
            <a:pPr indent="-457200" lvl="1" marL="914400" rtl="0" algn="l">
              <a:spcBef>
                <a:spcPts val="600"/>
              </a:spcBef>
              <a:spcAft>
                <a:spcPts val="0"/>
              </a:spcAft>
              <a:buSzPts val="1980"/>
              <a:buChar char="🡽"/>
            </a:pPr>
            <a:r>
              <a:rPr lang="en-US"/>
              <a:t>Invented in the 1957 by </a:t>
            </a:r>
            <a:r>
              <a:rPr i="1" lang="en-US">
                <a:solidFill>
                  <a:srgbClr val="FF3300"/>
                </a:solidFill>
              </a:rPr>
              <a:t>Richard Bellman</a:t>
            </a:r>
            <a:r>
              <a:rPr lang="en-US"/>
              <a:t> as a general method for optimizing multistage decision processes</a:t>
            </a:r>
            <a:endParaRPr/>
          </a:p>
          <a:p>
            <a:pPr indent="-457200" lvl="1" marL="914400" rtl="0" algn="l">
              <a:spcBef>
                <a:spcPts val="600"/>
              </a:spcBef>
              <a:spcAft>
                <a:spcPts val="0"/>
              </a:spcAft>
              <a:buSzPts val="1980"/>
              <a:buChar char="🡽"/>
            </a:pPr>
            <a:r>
              <a:rPr lang="en-US"/>
              <a:t>The term “programming” refers to a </a:t>
            </a:r>
            <a:r>
              <a:rPr i="1" lang="en-US"/>
              <a:t>tabular method</a:t>
            </a:r>
            <a:r>
              <a:rPr lang="en-US"/>
              <a:t>.</a:t>
            </a:r>
            <a:endParaRPr/>
          </a:p>
          <a:p>
            <a:pPr indent="-457200" lvl="1" marL="914400" rtl="0" algn="l">
              <a:spcBef>
                <a:spcPts val="600"/>
              </a:spcBef>
              <a:spcAft>
                <a:spcPts val="0"/>
              </a:spcAft>
              <a:buSzPts val="1980"/>
              <a:buChar char="🡽"/>
            </a:pPr>
            <a:r>
              <a:rPr lang="en-US"/>
              <a:t>Often used for </a:t>
            </a:r>
            <a:r>
              <a:rPr i="1" lang="en-US"/>
              <a:t>optimization</a:t>
            </a:r>
            <a:r>
              <a:rPr lang="en-US"/>
              <a:t> problems.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0"/>
          <p:cNvSpPr txBox="1"/>
          <p:nvPr>
            <p:ph idx="4294967295" type="title"/>
          </p:nvPr>
        </p:nvSpPr>
        <p:spPr>
          <a:xfrm>
            <a:off x="0" y="640133"/>
            <a:ext cx="9144000" cy="476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b="1" lang="en-US" sz="3200">
                <a:solidFill>
                  <a:schemeClr val="dk1"/>
                </a:solidFill>
              </a:rPr>
              <a:t>Dynamic Programming</a:t>
            </a:r>
            <a:endParaRPr/>
          </a:p>
        </p:txBody>
      </p:sp>
      <p:sp>
        <p:nvSpPr>
          <p:cNvPr id="849" name="Google Shape;849;p10"/>
          <p:cNvSpPr txBox="1"/>
          <p:nvPr/>
        </p:nvSpPr>
        <p:spPr>
          <a:xfrm>
            <a:off x="289398" y="1705717"/>
            <a:ext cx="8684299" cy="3763355"/>
          </a:xfrm>
          <a:prstGeom prst="rect">
            <a:avLst/>
          </a:prstGeom>
          <a:noFill/>
          <a:ln>
            <a:noFill/>
          </a:ln>
        </p:spPr>
        <p:txBody>
          <a:bodyPr anchorCtr="0" anchor="t" bIns="45700" lIns="91425" spcFirstLastPara="1" rIns="91425" wrap="square" tIns="45700">
            <a:noAutofit/>
          </a:bodyPr>
          <a:lstStyle/>
          <a:p>
            <a:pPr indent="-454025" lvl="0" marL="454025" marR="0" rtl="0" algn="just">
              <a:spcBef>
                <a:spcPts val="0"/>
              </a:spcBef>
              <a:spcAft>
                <a:spcPts val="0"/>
              </a:spcAft>
              <a:buClr>
                <a:srgbClr val="A5A5A5"/>
              </a:buClr>
              <a:buSzPts val="1620"/>
              <a:buFont typeface="Noto Sans Symbols"/>
              <a:buChar char="🡽"/>
            </a:pPr>
            <a:r>
              <a:rPr lang="en-US" sz="1800">
                <a:solidFill>
                  <a:srgbClr val="262626"/>
                </a:solidFill>
                <a:latin typeface="Calibri"/>
                <a:ea typeface="Calibri"/>
                <a:cs typeface="Calibri"/>
                <a:sym typeface="Calibri"/>
              </a:rPr>
              <a:t>Solves problems by </a:t>
            </a:r>
            <a:r>
              <a:rPr b="1" lang="en-US" sz="1800">
                <a:solidFill>
                  <a:srgbClr val="262626"/>
                </a:solidFill>
                <a:latin typeface="Calibri"/>
                <a:ea typeface="Calibri"/>
                <a:cs typeface="Calibri"/>
                <a:sym typeface="Calibri"/>
              </a:rPr>
              <a:t>combining</a:t>
            </a:r>
            <a:r>
              <a:rPr lang="en-US" sz="1800">
                <a:solidFill>
                  <a:srgbClr val="262626"/>
                </a:solidFill>
                <a:latin typeface="Calibri"/>
                <a:ea typeface="Calibri"/>
                <a:cs typeface="Calibri"/>
                <a:sym typeface="Calibri"/>
              </a:rPr>
              <a:t> the solutions to sub problems that contain common sub-sub-problems.</a:t>
            </a:r>
            <a:endParaRPr/>
          </a:p>
          <a:p>
            <a:pPr indent="-454025" lvl="0" marL="454025" marR="0" rtl="0" algn="l">
              <a:spcBef>
                <a:spcPts val="1260"/>
              </a:spcBef>
              <a:spcAft>
                <a:spcPts val="0"/>
              </a:spcAft>
              <a:buClr>
                <a:srgbClr val="A5A5A5"/>
              </a:buClr>
              <a:buSzPts val="1620"/>
              <a:buFont typeface="Noto Sans Symbols"/>
              <a:buChar char="🡽"/>
            </a:pPr>
            <a:r>
              <a:rPr lang="en-US" sz="1800">
                <a:solidFill>
                  <a:srgbClr val="262626"/>
                </a:solidFill>
                <a:latin typeface="Calibri"/>
                <a:ea typeface="Calibri"/>
                <a:cs typeface="Calibri"/>
                <a:sym typeface="Calibri"/>
              </a:rPr>
              <a:t>Difference between DP and Divide-and-Conquer</a:t>
            </a:r>
            <a:endParaRPr/>
          </a:p>
          <a:p>
            <a:pPr indent="-457200" lvl="1" marL="914400" marR="0" rtl="0" algn="just">
              <a:spcBef>
                <a:spcPts val="1260"/>
              </a:spcBef>
              <a:spcAft>
                <a:spcPts val="0"/>
              </a:spcAft>
              <a:buClr>
                <a:srgbClr val="3F3F3F"/>
              </a:buClr>
              <a:buSzPts val="1620"/>
              <a:buFont typeface="Noto Sans Symbols"/>
              <a:buChar char="🡽"/>
            </a:pPr>
            <a:r>
              <a:rPr b="0" i="0" lang="en-US" sz="1800" u="none" cap="none" strike="noStrike">
                <a:solidFill>
                  <a:srgbClr val="262626"/>
                </a:solidFill>
                <a:latin typeface="Calibri"/>
                <a:ea typeface="Calibri"/>
                <a:cs typeface="Calibri"/>
                <a:sym typeface="Calibri"/>
              </a:rPr>
              <a:t>Using </a:t>
            </a:r>
            <a:r>
              <a:rPr b="1" i="1" lang="en-US" sz="1800" u="none" cap="none" strike="noStrike">
                <a:solidFill>
                  <a:srgbClr val="262626"/>
                </a:solidFill>
                <a:latin typeface="Calibri"/>
                <a:ea typeface="Calibri"/>
                <a:cs typeface="Calibri"/>
                <a:sym typeface="Calibri"/>
              </a:rPr>
              <a:t>Divide and Conquer</a:t>
            </a:r>
            <a:r>
              <a:rPr b="0" i="0" lang="en-US" sz="1800" u="none" cap="none" strike="noStrike">
                <a:solidFill>
                  <a:srgbClr val="262626"/>
                </a:solidFill>
                <a:latin typeface="Calibri"/>
                <a:ea typeface="Calibri"/>
                <a:cs typeface="Calibri"/>
                <a:sym typeface="Calibri"/>
              </a:rPr>
              <a:t> to solve these problems is </a:t>
            </a:r>
            <a:r>
              <a:rPr b="1" i="0" lang="en-US" sz="1800" u="none" cap="none" strike="noStrike">
                <a:solidFill>
                  <a:srgbClr val="262626"/>
                </a:solidFill>
                <a:latin typeface="Calibri"/>
                <a:ea typeface="Calibri"/>
                <a:cs typeface="Calibri"/>
                <a:sym typeface="Calibri"/>
              </a:rPr>
              <a:t>inefficient</a:t>
            </a:r>
            <a:r>
              <a:rPr b="0" i="0" lang="en-US" sz="1800" u="none" cap="none" strike="noStrike">
                <a:solidFill>
                  <a:srgbClr val="262626"/>
                </a:solidFill>
                <a:latin typeface="Calibri"/>
                <a:ea typeface="Calibri"/>
                <a:cs typeface="Calibri"/>
                <a:sym typeface="Calibri"/>
              </a:rPr>
              <a:t> as the same common sub-sub-problems must be solved </a:t>
            </a:r>
            <a:r>
              <a:rPr b="1" i="0" lang="en-US" sz="1800" u="none" cap="none" strike="noStrike">
                <a:solidFill>
                  <a:srgbClr val="262626"/>
                </a:solidFill>
                <a:latin typeface="Calibri"/>
                <a:ea typeface="Calibri"/>
                <a:cs typeface="Calibri"/>
                <a:sym typeface="Calibri"/>
              </a:rPr>
              <a:t>many times</a:t>
            </a:r>
            <a:r>
              <a:rPr b="0" i="0" lang="en-US" sz="1800" u="none" cap="none" strike="noStrike">
                <a:solidFill>
                  <a:srgbClr val="262626"/>
                </a:solidFill>
                <a:latin typeface="Calibri"/>
                <a:ea typeface="Calibri"/>
                <a:cs typeface="Calibri"/>
                <a:sym typeface="Calibri"/>
              </a:rPr>
              <a:t>.</a:t>
            </a:r>
            <a:endParaRPr/>
          </a:p>
          <a:p>
            <a:pPr indent="-457200" lvl="1" marL="914400" marR="0" rtl="0" algn="l">
              <a:spcBef>
                <a:spcPts val="1260"/>
              </a:spcBef>
              <a:spcAft>
                <a:spcPts val="0"/>
              </a:spcAft>
              <a:buClr>
                <a:srgbClr val="3F3F3F"/>
              </a:buClr>
              <a:buSzPts val="1620"/>
              <a:buFont typeface="Noto Sans Symbols"/>
              <a:buChar char="🡽"/>
            </a:pPr>
            <a:r>
              <a:rPr b="0" i="0" lang="en-US" sz="1800" u="none" cap="none" strike="noStrike">
                <a:solidFill>
                  <a:srgbClr val="262626"/>
                </a:solidFill>
                <a:latin typeface="Calibri"/>
                <a:ea typeface="Calibri"/>
                <a:cs typeface="Calibri"/>
                <a:sym typeface="Calibri"/>
              </a:rPr>
              <a:t>DP will solve each of them </a:t>
            </a:r>
            <a:r>
              <a:rPr b="1" i="0" lang="en-US" sz="1800" u="none" cap="none" strike="noStrike">
                <a:solidFill>
                  <a:srgbClr val="262626"/>
                </a:solidFill>
                <a:latin typeface="Calibri"/>
                <a:ea typeface="Calibri"/>
                <a:cs typeface="Calibri"/>
                <a:sym typeface="Calibri"/>
              </a:rPr>
              <a:t>once</a:t>
            </a:r>
            <a:r>
              <a:rPr b="0" i="0" lang="en-US" sz="1800" u="none" cap="none" strike="noStrike">
                <a:solidFill>
                  <a:srgbClr val="262626"/>
                </a:solidFill>
                <a:latin typeface="Calibri"/>
                <a:ea typeface="Calibri"/>
                <a:cs typeface="Calibri"/>
                <a:sym typeface="Calibri"/>
              </a:rPr>
              <a:t> and their </a:t>
            </a:r>
            <a:r>
              <a:rPr b="1" i="0" lang="en-US" sz="1800" u="none" cap="none" strike="noStrike">
                <a:solidFill>
                  <a:srgbClr val="262626"/>
                </a:solidFill>
                <a:latin typeface="Calibri"/>
                <a:ea typeface="Calibri"/>
                <a:cs typeface="Calibri"/>
                <a:sym typeface="Calibri"/>
              </a:rPr>
              <a:t>answers are stored in a table</a:t>
            </a:r>
            <a:r>
              <a:rPr b="0" i="0" lang="en-US" sz="1800" u="none" cap="none" strike="noStrike">
                <a:solidFill>
                  <a:srgbClr val="262626"/>
                </a:solidFill>
                <a:latin typeface="Calibri"/>
                <a:ea typeface="Calibri"/>
                <a:cs typeface="Calibri"/>
                <a:sym typeface="Calibri"/>
              </a:rPr>
              <a:t> for future reference.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1"/>
          <p:cNvSpPr txBox="1"/>
          <p:nvPr>
            <p:ph idx="4294967295" type="title"/>
          </p:nvPr>
        </p:nvSpPr>
        <p:spPr>
          <a:xfrm>
            <a:off x="95250" y="607325"/>
            <a:ext cx="9048750" cy="6286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Intuitive Explanation</a:t>
            </a:r>
            <a:endParaRPr/>
          </a:p>
        </p:txBody>
      </p:sp>
      <p:sp>
        <p:nvSpPr>
          <p:cNvPr id="856" name="Google Shape;856;p11"/>
          <p:cNvSpPr txBox="1"/>
          <p:nvPr>
            <p:ph idx="4294967295" type="body"/>
          </p:nvPr>
        </p:nvSpPr>
        <p:spPr>
          <a:xfrm>
            <a:off x="723213" y="1620838"/>
            <a:ext cx="3944321" cy="4629837"/>
          </a:xfrm>
          <a:prstGeom prst="rect">
            <a:avLst/>
          </a:prstGeom>
          <a:noFill/>
          <a:ln>
            <a:noFill/>
          </a:ln>
        </p:spPr>
        <p:txBody>
          <a:bodyPr anchorCtr="0" anchor="t" bIns="45700" lIns="91425" spcFirstLastPara="1" rIns="91425" wrap="square" tIns="45700">
            <a:normAutofit/>
          </a:bodyPr>
          <a:lstStyle/>
          <a:p>
            <a:pPr indent="-454025" lvl="0" marL="454025" rtl="0" algn="l">
              <a:lnSpc>
                <a:spcPct val="140000"/>
              </a:lnSpc>
              <a:spcBef>
                <a:spcPts val="0"/>
              </a:spcBef>
              <a:spcAft>
                <a:spcPts val="0"/>
              </a:spcAft>
              <a:buSzPts val="1891"/>
              <a:buChar char="🡽"/>
            </a:pPr>
            <a:r>
              <a:rPr lang="en-US" sz="2101"/>
              <a:t>Given a problem </a:t>
            </a:r>
            <a:r>
              <a:rPr b="1" lang="en-US" sz="2101"/>
              <a:t>P</a:t>
            </a:r>
            <a:r>
              <a:rPr lang="en-US" sz="2101"/>
              <a:t>, obtain a sequence of problems </a:t>
            </a:r>
            <a:r>
              <a:rPr b="1" lang="en-US" sz="2101"/>
              <a:t>Q</a:t>
            </a:r>
            <a:r>
              <a:rPr b="1" baseline="-25000" lang="en-US" sz="2101"/>
              <a:t>0</a:t>
            </a:r>
            <a:r>
              <a:rPr lang="en-US" sz="2101"/>
              <a:t>, </a:t>
            </a:r>
            <a:r>
              <a:rPr b="1" lang="en-US" sz="2101"/>
              <a:t>Q</a:t>
            </a:r>
            <a:r>
              <a:rPr b="1" baseline="-25000" lang="en-US" sz="2101"/>
              <a:t>1</a:t>
            </a:r>
            <a:r>
              <a:rPr lang="en-US" sz="2101"/>
              <a:t>, …., </a:t>
            </a:r>
            <a:r>
              <a:rPr b="1" lang="en-US" sz="2101"/>
              <a:t>Q</a:t>
            </a:r>
            <a:r>
              <a:rPr b="1" baseline="-25000" lang="en-US" sz="2101"/>
              <a:t>m</a:t>
            </a:r>
            <a:r>
              <a:rPr lang="en-US" sz="2101"/>
              <a:t>, where:</a:t>
            </a:r>
            <a:endParaRPr/>
          </a:p>
          <a:p>
            <a:pPr indent="-457200" lvl="1" marL="914400" rtl="0" algn="l">
              <a:lnSpc>
                <a:spcPct val="140000"/>
              </a:lnSpc>
              <a:spcBef>
                <a:spcPts val="600"/>
              </a:spcBef>
              <a:spcAft>
                <a:spcPts val="0"/>
              </a:spcAft>
              <a:buSzPts val="1620"/>
              <a:buChar char="🡽"/>
            </a:pPr>
            <a:r>
              <a:rPr lang="en-US" sz="1800"/>
              <a:t>You have a solution to </a:t>
            </a:r>
            <a:r>
              <a:rPr b="1" lang="en-US" sz="1800"/>
              <a:t>Q</a:t>
            </a:r>
            <a:r>
              <a:rPr b="1" baseline="-25000" lang="en-US" sz="1800"/>
              <a:t>0</a:t>
            </a:r>
            <a:endParaRPr/>
          </a:p>
          <a:p>
            <a:pPr indent="-457200" lvl="1" marL="914400" rtl="0" algn="l">
              <a:lnSpc>
                <a:spcPct val="140000"/>
              </a:lnSpc>
              <a:spcBef>
                <a:spcPts val="600"/>
              </a:spcBef>
              <a:spcAft>
                <a:spcPts val="0"/>
              </a:spcAft>
              <a:buSzPts val="1620"/>
              <a:buChar char="🡽"/>
            </a:pPr>
            <a:r>
              <a:rPr lang="en-US" sz="1800"/>
              <a:t>The solution to a problem </a:t>
            </a:r>
            <a:r>
              <a:rPr b="1" lang="en-US" sz="1800"/>
              <a:t>Q</a:t>
            </a:r>
            <a:r>
              <a:rPr b="1" baseline="-25000" lang="en-US" sz="1800"/>
              <a:t>j</a:t>
            </a:r>
            <a:r>
              <a:rPr lang="en-US" sz="1800"/>
              <a:t>,   </a:t>
            </a:r>
            <a:r>
              <a:rPr b="1" lang="en-US" sz="1800"/>
              <a:t>j &gt; 0</a:t>
            </a:r>
            <a:r>
              <a:rPr lang="en-US" sz="1800"/>
              <a:t>, can be obtained from solutions to problems </a:t>
            </a:r>
            <a:r>
              <a:rPr b="1" lang="en-US" sz="1800"/>
              <a:t>Q</a:t>
            </a:r>
            <a:r>
              <a:rPr b="1" baseline="-25000" lang="en-US" sz="1800"/>
              <a:t>0</a:t>
            </a:r>
            <a:r>
              <a:rPr lang="en-US" sz="1800"/>
              <a:t>...</a:t>
            </a:r>
            <a:r>
              <a:rPr b="1" lang="en-US" sz="1800"/>
              <a:t>Q</a:t>
            </a:r>
            <a:r>
              <a:rPr b="1" baseline="-25000" lang="en-US" sz="1800"/>
              <a:t>k</a:t>
            </a:r>
            <a:r>
              <a:rPr lang="en-US" sz="1800"/>
              <a:t>,  </a:t>
            </a:r>
            <a:r>
              <a:rPr b="1" lang="en-US" sz="1800"/>
              <a:t>k</a:t>
            </a:r>
            <a:r>
              <a:rPr lang="en-US" sz="1800"/>
              <a:t> </a:t>
            </a:r>
            <a:r>
              <a:rPr b="1" lang="en-US" sz="1800"/>
              <a:t>&lt; j</a:t>
            </a:r>
            <a:r>
              <a:rPr lang="en-US" sz="1800"/>
              <a:t>, that appear earlier in the “sequence”.</a:t>
            </a:r>
            <a:endParaRPr/>
          </a:p>
        </p:txBody>
      </p:sp>
      <p:pic>
        <p:nvPicPr>
          <p:cNvPr id="857" name="Google Shape;857;p11"/>
          <p:cNvPicPr preferRelativeResize="0"/>
          <p:nvPr>
            <p:ph idx="4294967295" type="body"/>
          </p:nvPr>
        </p:nvPicPr>
        <p:blipFill rotWithShape="1">
          <a:blip r:embed="rId3">
            <a:alphaModFix/>
          </a:blip>
          <a:srcRect b="0" l="0" r="0" t="0"/>
          <a:stretch/>
        </p:blipFill>
        <p:spPr>
          <a:xfrm>
            <a:off x="4823513" y="1620838"/>
            <a:ext cx="3665306" cy="43354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12"/>
          <p:cNvSpPr txBox="1"/>
          <p:nvPr>
            <p:ph idx="4294967295" type="title"/>
          </p:nvPr>
        </p:nvSpPr>
        <p:spPr>
          <a:xfrm>
            <a:off x="0" y="630238"/>
            <a:ext cx="9144000"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Elements of Dynamic Programming</a:t>
            </a:r>
            <a:endParaRPr/>
          </a:p>
        </p:txBody>
      </p:sp>
      <p:sp>
        <p:nvSpPr>
          <p:cNvPr id="864" name="Google Shape;864;p12"/>
          <p:cNvSpPr txBox="1"/>
          <p:nvPr>
            <p:ph idx="4294967295" type="body"/>
          </p:nvPr>
        </p:nvSpPr>
        <p:spPr>
          <a:xfrm>
            <a:off x="0" y="2133600"/>
            <a:ext cx="8574088" cy="3992563"/>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b="1" lang="en-US"/>
              <a:t>DP</a:t>
            </a:r>
            <a:r>
              <a:rPr lang="en-US"/>
              <a:t> is used to solve problems with the following characteristics:</a:t>
            </a:r>
            <a:endParaRPr/>
          </a:p>
          <a:p>
            <a:pPr indent="-457200" lvl="1" marL="914400" rtl="0" algn="l">
              <a:spcBef>
                <a:spcPts val="600"/>
              </a:spcBef>
              <a:spcAft>
                <a:spcPts val="0"/>
              </a:spcAft>
              <a:buSzPts val="1980"/>
              <a:buChar char="🡽"/>
            </a:pPr>
            <a:r>
              <a:rPr b="1" lang="en-US"/>
              <a:t>Optimal sub-structure</a:t>
            </a:r>
            <a:r>
              <a:rPr lang="en-US"/>
              <a:t> (</a:t>
            </a:r>
            <a:r>
              <a:rPr lang="en-US" sz="1500"/>
              <a:t>Principle of Optimality</a:t>
            </a:r>
            <a:r>
              <a:rPr lang="en-US"/>
              <a:t>) </a:t>
            </a:r>
            <a:endParaRPr/>
          </a:p>
          <a:p>
            <a:pPr indent="-346075" lvl="2" marL="1260475" rtl="0" algn="l">
              <a:spcBef>
                <a:spcPts val="600"/>
              </a:spcBef>
              <a:spcAft>
                <a:spcPts val="0"/>
              </a:spcAft>
              <a:buSzPts val="1800"/>
              <a:buChar char="🡽"/>
            </a:pPr>
            <a:r>
              <a:rPr lang="en-US"/>
              <a:t>an optimal solution to the problem contains within its optimal solutions to sub-problems.</a:t>
            </a:r>
            <a:endParaRPr/>
          </a:p>
          <a:p>
            <a:pPr indent="-457200" lvl="1" marL="914400" rtl="0" algn="l">
              <a:spcBef>
                <a:spcPts val="600"/>
              </a:spcBef>
              <a:spcAft>
                <a:spcPts val="0"/>
              </a:spcAft>
              <a:buSzPts val="1980"/>
              <a:buChar char="🡽"/>
            </a:pPr>
            <a:r>
              <a:rPr b="1" lang="en-US"/>
              <a:t>Overlapping sub problems</a:t>
            </a:r>
            <a:endParaRPr/>
          </a:p>
          <a:p>
            <a:pPr indent="-346075" lvl="2" marL="1260475" rtl="0" algn="l">
              <a:spcBef>
                <a:spcPts val="600"/>
              </a:spcBef>
              <a:spcAft>
                <a:spcPts val="0"/>
              </a:spcAft>
              <a:buSzPts val="1800"/>
              <a:buChar char="🡽"/>
            </a:pPr>
            <a:r>
              <a:rPr lang="en-US"/>
              <a:t>there exist some places where we solve the same sub problem more than once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3"/>
          <p:cNvSpPr txBox="1"/>
          <p:nvPr>
            <p:ph idx="4294967295" type="title"/>
          </p:nvPr>
        </p:nvSpPr>
        <p:spPr>
          <a:xfrm>
            <a:off x="0" y="630238"/>
            <a:ext cx="8574088"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Example: Fibonacci Numbers</a:t>
            </a:r>
            <a:endParaRPr/>
          </a:p>
        </p:txBody>
      </p:sp>
      <p:sp>
        <p:nvSpPr>
          <p:cNvPr id="871" name="Google Shape;871;p13"/>
          <p:cNvSpPr txBox="1"/>
          <p:nvPr>
            <p:ph idx="4294967295" type="body"/>
          </p:nvPr>
        </p:nvSpPr>
        <p:spPr>
          <a:xfrm>
            <a:off x="1136821" y="4936043"/>
            <a:ext cx="6608762" cy="741362"/>
          </a:xfrm>
          <a:prstGeom prst="rect">
            <a:avLst/>
          </a:prstGeom>
          <a:noFill/>
          <a:ln>
            <a:noFill/>
          </a:ln>
        </p:spPr>
        <p:txBody>
          <a:bodyPr anchorCtr="0" anchor="t" bIns="45700" lIns="91425" spcFirstLastPara="1" rIns="91425" wrap="square" tIns="45700">
            <a:normAutofit/>
          </a:bodyPr>
          <a:lstStyle/>
          <a:p>
            <a:pPr indent="-454025" lvl="0" marL="454025" rtl="0" algn="l">
              <a:lnSpc>
                <a:spcPct val="90000"/>
              </a:lnSpc>
              <a:spcBef>
                <a:spcPts val="0"/>
              </a:spcBef>
              <a:spcAft>
                <a:spcPts val="0"/>
              </a:spcAft>
              <a:buSzPts val="1620"/>
              <a:buChar char="🡽"/>
            </a:pPr>
            <a:r>
              <a:rPr lang="en-US" sz="1800"/>
              <a:t>We keep calculating the same value over and over!</a:t>
            </a:r>
            <a:endParaRPr/>
          </a:p>
          <a:p>
            <a:pPr indent="-457200" lvl="1" marL="914400" rtl="0" algn="l">
              <a:lnSpc>
                <a:spcPct val="90000"/>
              </a:lnSpc>
              <a:spcBef>
                <a:spcPts val="600"/>
              </a:spcBef>
              <a:spcAft>
                <a:spcPts val="0"/>
              </a:spcAft>
              <a:buSzPts val="1350"/>
              <a:buChar char="🡽"/>
            </a:pPr>
            <a:r>
              <a:rPr lang="en-US" sz="1500"/>
              <a:t>Subproblems are overlapping – they share sub-subproblems</a:t>
            </a:r>
            <a:endParaRPr/>
          </a:p>
        </p:txBody>
      </p:sp>
      <p:grpSp>
        <p:nvGrpSpPr>
          <p:cNvPr id="872" name="Google Shape;872;p13"/>
          <p:cNvGrpSpPr/>
          <p:nvPr/>
        </p:nvGrpSpPr>
        <p:grpSpPr>
          <a:xfrm>
            <a:off x="2697469" y="2526271"/>
            <a:ext cx="5167467" cy="1537498"/>
            <a:chOff x="1306" y="1402"/>
            <a:chExt cx="4339" cy="1291"/>
          </a:xfrm>
        </p:grpSpPr>
        <p:sp>
          <p:nvSpPr>
            <p:cNvPr id="873" name="Google Shape;873;p13"/>
            <p:cNvSpPr/>
            <p:nvPr/>
          </p:nvSpPr>
          <p:spPr>
            <a:xfrm>
              <a:off x="3515" y="1402"/>
              <a:ext cx="2130" cy="1291"/>
            </a:xfrm>
            <a:prstGeom prst="triangle">
              <a:avLst>
                <a:gd fmla="val 60046" name="adj"/>
              </a:avLst>
            </a:prstGeom>
            <a:solidFill>
              <a:schemeClr val="lt2">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874" name="Google Shape;874;p13"/>
            <p:cNvSpPr/>
            <p:nvPr/>
          </p:nvSpPr>
          <p:spPr>
            <a:xfrm>
              <a:off x="2355" y="1783"/>
              <a:ext cx="1068" cy="910"/>
            </a:xfrm>
            <a:prstGeom prst="triangle">
              <a:avLst>
                <a:gd fmla="val 56181" name="adj"/>
              </a:avLst>
            </a:prstGeom>
            <a:solidFill>
              <a:schemeClr val="lt2">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875" name="Google Shape;875;p13"/>
            <p:cNvSpPr/>
            <p:nvPr/>
          </p:nvSpPr>
          <p:spPr>
            <a:xfrm>
              <a:off x="1712" y="2148"/>
              <a:ext cx="605" cy="545"/>
            </a:xfrm>
            <a:prstGeom prst="triangle">
              <a:avLst>
                <a:gd fmla="val 59338" name="adj"/>
              </a:avLst>
            </a:prstGeom>
            <a:solidFill>
              <a:schemeClr val="lt2">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876" name="Google Shape;876;p13"/>
            <p:cNvSpPr/>
            <p:nvPr/>
          </p:nvSpPr>
          <p:spPr>
            <a:xfrm>
              <a:off x="1306" y="2481"/>
              <a:ext cx="388" cy="212"/>
            </a:xfrm>
            <a:prstGeom prst="triangle">
              <a:avLst>
                <a:gd fmla="val 50000" name="adj"/>
              </a:avLst>
            </a:prstGeom>
            <a:solidFill>
              <a:schemeClr val="lt2">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sp>
        <p:nvSpPr>
          <p:cNvPr id="877" name="Google Shape;877;p13"/>
          <p:cNvSpPr txBox="1"/>
          <p:nvPr/>
        </p:nvSpPr>
        <p:spPr>
          <a:xfrm>
            <a:off x="4392170" y="2015360"/>
            <a:ext cx="745717"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50">
                <a:solidFill>
                  <a:schemeClr val="dk1"/>
                </a:solidFill>
                <a:latin typeface="Tahoma"/>
                <a:ea typeface="Tahoma"/>
                <a:cs typeface="Tahoma"/>
                <a:sym typeface="Tahoma"/>
              </a:rPr>
              <a:t>F(6) = 8</a:t>
            </a:r>
            <a:endParaRPr/>
          </a:p>
        </p:txBody>
      </p:sp>
      <p:sp>
        <p:nvSpPr>
          <p:cNvPr id="878" name="Google Shape;878;p13"/>
          <p:cNvSpPr txBox="1"/>
          <p:nvPr/>
        </p:nvSpPr>
        <p:spPr>
          <a:xfrm>
            <a:off x="3453712" y="2469106"/>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F(5)</a:t>
            </a:r>
            <a:endParaRPr/>
          </a:p>
        </p:txBody>
      </p:sp>
      <p:sp>
        <p:nvSpPr>
          <p:cNvPr id="879" name="Google Shape;879;p13"/>
          <p:cNvSpPr txBox="1"/>
          <p:nvPr/>
        </p:nvSpPr>
        <p:spPr>
          <a:xfrm>
            <a:off x="3008303" y="2922853"/>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F(4)</a:t>
            </a:r>
            <a:endParaRPr/>
          </a:p>
        </p:txBody>
      </p:sp>
      <p:sp>
        <p:nvSpPr>
          <p:cNvPr id="880" name="Google Shape;880;p13"/>
          <p:cNvSpPr txBox="1"/>
          <p:nvPr/>
        </p:nvSpPr>
        <p:spPr>
          <a:xfrm>
            <a:off x="2564084" y="3376599"/>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F(3)</a:t>
            </a:r>
            <a:endParaRPr/>
          </a:p>
        </p:txBody>
      </p:sp>
      <p:sp>
        <p:nvSpPr>
          <p:cNvPr id="881" name="Google Shape;881;p13"/>
          <p:cNvSpPr txBox="1"/>
          <p:nvPr/>
        </p:nvSpPr>
        <p:spPr>
          <a:xfrm>
            <a:off x="1674455" y="4285283"/>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F(1)</a:t>
            </a:r>
            <a:endParaRPr/>
          </a:p>
        </p:txBody>
      </p:sp>
      <p:sp>
        <p:nvSpPr>
          <p:cNvPr id="882" name="Google Shape;882;p13"/>
          <p:cNvSpPr txBox="1"/>
          <p:nvPr/>
        </p:nvSpPr>
        <p:spPr>
          <a:xfrm>
            <a:off x="2118675" y="383034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F(2)</a:t>
            </a:r>
            <a:endParaRPr/>
          </a:p>
        </p:txBody>
      </p:sp>
      <p:cxnSp>
        <p:nvCxnSpPr>
          <p:cNvPr id="883" name="Google Shape;883;p13"/>
          <p:cNvCxnSpPr>
            <a:stCxn id="877" idx="2"/>
            <a:endCxn id="878" idx="0"/>
          </p:cNvCxnSpPr>
          <p:nvPr/>
        </p:nvCxnSpPr>
        <p:spPr>
          <a:xfrm flipH="1">
            <a:off x="3669429" y="2269276"/>
            <a:ext cx="10956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884" name="Google Shape;884;p13"/>
          <p:cNvCxnSpPr>
            <a:stCxn id="878" idx="2"/>
            <a:endCxn id="879" idx="0"/>
          </p:cNvCxnSpPr>
          <p:nvPr/>
        </p:nvCxnSpPr>
        <p:spPr>
          <a:xfrm flipH="1">
            <a:off x="3223976" y="2723022"/>
            <a:ext cx="4455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885" name="Google Shape;885;p13"/>
          <p:cNvCxnSpPr>
            <a:stCxn id="880" idx="0"/>
            <a:endCxn id="879" idx="2"/>
          </p:cNvCxnSpPr>
          <p:nvPr/>
        </p:nvCxnSpPr>
        <p:spPr>
          <a:xfrm flipH="1" rot="10800000">
            <a:off x="2779848" y="3176799"/>
            <a:ext cx="4443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886" name="Google Shape;886;p13"/>
          <p:cNvCxnSpPr>
            <a:stCxn id="880" idx="2"/>
            <a:endCxn id="882" idx="0"/>
          </p:cNvCxnSpPr>
          <p:nvPr/>
        </p:nvCxnSpPr>
        <p:spPr>
          <a:xfrm flipH="1">
            <a:off x="2334348" y="3630515"/>
            <a:ext cx="4455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887" name="Google Shape;887;p13"/>
          <p:cNvCxnSpPr>
            <a:stCxn id="882" idx="2"/>
            <a:endCxn id="881" idx="0"/>
          </p:cNvCxnSpPr>
          <p:nvPr/>
        </p:nvCxnSpPr>
        <p:spPr>
          <a:xfrm flipH="1">
            <a:off x="1890139" y="4084261"/>
            <a:ext cx="444300" cy="201000"/>
          </a:xfrm>
          <a:prstGeom prst="straightConnector1">
            <a:avLst/>
          </a:prstGeom>
          <a:noFill/>
          <a:ln cap="flat" cmpd="sng" w="9525">
            <a:solidFill>
              <a:schemeClr val="dk1"/>
            </a:solidFill>
            <a:prstDash val="solid"/>
            <a:miter lim="800000"/>
            <a:headEnd len="med" w="med" type="none"/>
            <a:tailEnd len="med" w="med" type="none"/>
          </a:ln>
        </p:spPr>
      </p:cxnSp>
      <p:sp>
        <p:nvSpPr>
          <p:cNvPr id="888" name="Google Shape;888;p13"/>
          <p:cNvSpPr txBox="1"/>
          <p:nvPr/>
        </p:nvSpPr>
        <p:spPr>
          <a:xfrm>
            <a:off x="2383062" y="4310292"/>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Tahoma"/>
                <a:ea typeface="Tahoma"/>
                <a:cs typeface="Tahoma"/>
                <a:sym typeface="Tahoma"/>
              </a:rPr>
              <a:t>F(0)</a:t>
            </a:r>
            <a:endParaRPr/>
          </a:p>
        </p:txBody>
      </p:sp>
      <p:cxnSp>
        <p:nvCxnSpPr>
          <p:cNvPr id="889" name="Google Shape;889;p13"/>
          <p:cNvCxnSpPr>
            <a:stCxn id="882" idx="2"/>
            <a:endCxn id="888" idx="0"/>
          </p:cNvCxnSpPr>
          <p:nvPr/>
        </p:nvCxnSpPr>
        <p:spPr>
          <a:xfrm>
            <a:off x="2334439" y="4084261"/>
            <a:ext cx="264300" cy="225900"/>
          </a:xfrm>
          <a:prstGeom prst="straightConnector1">
            <a:avLst/>
          </a:prstGeom>
          <a:noFill/>
          <a:ln cap="flat" cmpd="sng" w="9525">
            <a:solidFill>
              <a:schemeClr val="dk1"/>
            </a:solidFill>
            <a:prstDash val="solid"/>
            <a:miter lim="800000"/>
            <a:headEnd len="med" w="med" type="none"/>
            <a:tailEnd len="med" w="med" type="none"/>
          </a:ln>
        </p:spPr>
      </p:cxnSp>
      <p:sp>
        <p:nvSpPr>
          <p:cNvPr id="890" name="Google Shape;890;p13"/>
          <p:cNvSpPr txBox="1"/>
          <p:nvPr/>
        </p:nvSpPr>
        <p:spPr>
          <a:xfrm>
            <a:off x="2747488" y="3849400"/>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891" name="Google Shape;891;p13"/>
          <p:cNvCxnSpPr>
            <a:stCxn id="880" idx="2"/>
            <a:endCxn id="890" idx="0"/>
          </p:cNvCxnSpPr>
          <p:nvPr/>
        </p:nvCxnSpPr>
        <p:spPr>
          <a:xfrm>
            <a:off x="2779848" y="3630515"/>
            <a:ext cx="183300" cy="219000"/>
          </a:xfrm>
          <a:prstGeom prst="straightConnector1">
            <a:avLst/>
          </a:prstGeom>
          <a:noFill/>
          <a:ln cap="flat" cmpd="sng" w="9525">
            <a:solidFill>
              <a:schemeClr val="dk1"/>
            </a:solidFill>
            <a:prstDash val="solid"/>
            <a:miter lim="800000"/>
            <a:headEnd len="med" w="med" type="none"/>
            <a:tailEnd len="med" w="med" type="none"/>
          </a:ln>
        </p:spPr>
      </p:cxnSp>
      <p:sp>
        <p:nvSpPr>
          <p:cNvPr id="892" name="Google Shape;892;p13"/>
          <p:cNvSpPr txBox="1"/>
          <p:nvPr/>
        </p:nvSpPr>
        <p:spPr>
          <a:xfrm>
            <a:off x="3139306" y="3852973"/>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893" name="Google Shape;893;p13"/>
          <p:cNvSpPr txBox="1"/>
          <p:nvPr/>
        </p:nvSpPr>
        <p:spPr>
          <a:xfrm>
            <a:off x="3404884" y="339803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894" name="Google Shape;894;p13"/>
          <p:cNvCxnSpPr>
            <a:stCxn id="893" idx="2"/>
            <a:endCxn id="892" idx="0"/>
          </p:cNvCxnSpPr>
          <p:nvPr/>
        </p:nvCxnSpPr>
        <p:spPr>
          <a:xfrm flipH="1">
            <a:off x="3355148" y="3651951"/>
            <a:ext cx="265500" cy="201000"/>
          </a:xfrm>
          <a:prstGeom prst="straightConnector1">
            <a:avLst/>
          </a:prstGeom>
          <a:noFill/>
          <a:ln cap="flat" cmpd="sng" w="9525">
            <a:solidFill>
              <a:schemeClr val="dk1"/>
            </a:solidFill>
            <a:prstDash val="solid"/>
            <a:miter lim="800000"/>
            <a:headEnd len="med" w="med" type="none"/>
            <a:tailEnd len="med" w="med" type="none"/>
          </a:ln>
        </p:spPr>
      </p:cxnSp>
      <p:sp>
        <p:nvSpPr>
          <p:cNvPr id="895" name="Google Shape;895;p13"/>
          <p:cNvSpPr txBox="1"/>
          <p:nvPr/>
        </p:nvSpPr>
        <p:spPr>
          <a:xfrm>
            <a:off x="3573196" y="3877983"/>
            <a:ext cx="431529" cy="2539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896" name="Google Shape;896;p13"/>
          <p:cNvCxnSpPr>
            <a:stCxn id="893" idx="2"/>
            <a:endCxn id="895" idx="0"/>
          </p:cNvCxnSpPr>
          <p:nvPr/>
        </p:nvCxnSpPr>
        <p:spPr>
          <a:xfrm>
            <a:off x="3620648" y="3651951"/>
            <a:ext cx="168300" cy="225900"/>
          </a:xfrm>
          <a:prstGeom prst="straightConnector1">
            <a:avLst/>
          </a:prstGeom>
          <a:noFill/>
          <a:ln cap="flat" cmpd="sng" w="9525">
            <a:solidFill>
              <a:schemeClr val="dk1"/>
            </a:solidFill>
            <a:prstDash val="solid"/>
            <a:miter lim="800000"/>
            <a:headEnd len="med" w="med" type="none"/>
            <a:tailEnd len="med" w="med" type="none"/>
          </a:ln>
        </p:spPr>
      </p:cxnSp>
      <p:cxnSp>
        <p:nvCxnSpPr>
          <p:cNvPr id="897" name="Google Shape;897;p13"/>
          <p:cNvCxnSpPr>
            <a:stCxn id="879" idx="2"/>
            <a:endCxn id="893" idx="0"/>
          </p:cNvCxnSpPr>
          <p:nvPr/>
        </p:nvCxnSpPr>
        <p:spPr>
          <a:xfrm>
            <a:off x="3224067" y="3176769"/>
            <a:ext cx="396600" cy="221400"/>
          </a:xfrm>
          <a:prstGeom prst="straightConnector1">
            <a:avLst/>
          </a:prstGeom>
          <a:noFill/>
          <a:ln cap="flat" cmpd="sng" w="9525">
            <a:solidFill>
              <a:schemeClr val="dk1"/>
            </a:solidFill>
            <a:prstDash val="solid"/>
            <a:miter lim="800000"/>
            <a:headEnd len="med" w="med" type="none"/>
            <a:tailEnd len="med" w="med" type="none"/>
          </a:ln>
        </p:spPr>
      </p:cxnSp>
      <p:sp>
        <p:nvSpPr>
          <p:cNvPr id="898" name="Google Shape;898;p13"/>
          <p:cNvSpPr txBox="1"/>
          <p:nvPr/>
        </p:nvSpPr>
        <p:spPr>
          <a:xfrm>
            <a:off x="4435043" y="2958581"/>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F(3)</a:t>
            </a:r>
            <a:endParaRPr/>
          </a:p>
        </p:txBody>
      </p:sp>
      <p:sp>
        <p:nvSpPr>
          <p:cNvPr id="899" name="Google Shape;899;p13"/>
          <p:cNvSpPr txBox="1"/>
          <p:nvPr/>
        </p:nvSpPr>
        <p:spPr>
          <a:xfrm>
            <a:off x="3952715" y="3874410"/>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900" name="Google Shape;900;p13"/>
          <p:cNvSpPr txBox="1"/>
          <p:nvPr/>
        </p:nvSpPr>
        <p:spPr>
          <a:xfrm>
            <a:off x="4225438" y="3419472"/>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901" name="Google Shape;901;p13"/>
          <p:cNvCxnSpPr>
            <a:stCxn id="898" idx="0"/>
            <a:endCxn id="878" idx="2"/>
          </p:cNvCxnSpPr>
          <p:nvPr/>
        </p:nvCxnSpPr>
        <p:spPr>
          <a:xfrm rot="10800000">
            <a:off x="3669507" y="2723081"/>
            <a:ext cx="981300" cy="235500"/>
          </a:xfrm>
          <a:prstGeom prst="straightConnector1">
            <a:avLst/>
          </a:prstGeom>
          <a:noFill/>
          <a:ln cap="flat" cmpd="sng" w="9525">
            <a:solidFill>
              <a:schemeClr val="dk1"/>
            </a:solidFill>
            <a:prstDash val="solid"/>
            <a:miter lim="800000"/>
            <a:headEnd len="med" w="med" type="none"/>
            <a:tailEnd len="med" w="med" type="none"/>
          </a:ln>
        </p:spPr>
      </p:cxnSp>
      <p:cxnSp>
        <p:nvCxnSpPr>
          <p:cNvPr id="902" name="Google Shape;902;p13"/>
          <p:cNvCxnSpPr>
            <a:stCxn id="898" idx="2"/>
            <a:endCxn id="900" idx="0"/>
          </p:cNvCxnSpPr>
          <p:nvPr/>
        </p:nvCxnSpPr>
        <p:spPr>
          <a:xfrm flipH="1">
            <a:off x="4441107" y="3212497"/>
            <a:ext cx="209700" cy="207000"/>
          </a:xfrm>
          <a:prstGeom prst="straightConnector1">
            <a:avLst/>
          </a:prstGeom>
          <a:noFill/>
          <a:ln cap="flat" cmpd="sng" w="9525">
            <a:solidFill>
              <a:schemeClr val="dk1"/>
            </a:solidFill>
            <a:prstDash val="solid"/>
            <a:miter lim="800000"/>
            <a:headEnd len="med" w="med" type="none"/>
            <a:tailEnd len="med" w="med" type="none"/>
          </a:ln>
        </p:spPr>
      </p:cxnSp>
      <p:cxnSp>
        <p:nvCxnSpPr>
          <p:cNvPr id="903" name="Google Shape;903;p13"/>
          <p:cNvCxnSpPr>
            <a:stCxn id="900" idx="2"/>
            <a:endCxn id="899" idx="0"/>
          </p:cNvCxnSpPr>
          <p:nvPr/>
        </p:nvCxnSpPr>
        <p:spPr>
          <a:xfrm flipH="1">
            <a:off x="4168502" y="3673388"/>
            <a:ext cx="272700" cy="201000"/>
          </a:xfrm>
          <a:prstGeom prst="straightConnector1">
            <a:avLst/>
          </a:prstGeom>
          <a:noFill/>
          <a:ln cap="flat" cmpd="sng" w="9525">
            <a:solidFill>
              <a:schemeClr val="dk1"/>
            </a:solidFill>
            <a:prstDash val="solid"/>
            <a:miter lim="800000"/>
            <a:headEnd len="med" w="med" type="none"/>
            <a:tailEnd len="med" w="med" type="none"/>
          </a:ln>
        </p:spPr>
      </p:cxnSp>
      <p:sp>
        <p:nvSpPr>
          <p:cNvPr id="904" name="Google Shape;904;p13"/>
          <p:cNvSpPr txBox="1"/>
          <p:nvPr/>
        </p:nvSpPr>
        <p:spPr>
          <a:xfrm>
            <a:off x="4418370" y="3892274"/>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905" name="Google Shape;905;p13"/>
          <p:cNvCxnSpPr>
            <a:stCxn id="900" idx="2"/>
            <a:endCxn id="904" idx="0"/>
          </p:cNvCxnSpPr>
          <p:nvPr/>
        </p:nvCxnSpPr>
        <p:spPr>
          <a:xfrm>
            <a:off x="4441202" y="3673388"/>
            <a:ext cx="192900" cy="219000"/>
          </a:xfrm>
          <a:prstGeom prst="straightConnector1">
            <a:avLst/>
          </a:prstGeom>
          <a:noFill/>
          <a:ln cap="flat" cmpd="sng" w="9525">
            <a:solidFill>
              <a:schemeClr val="dk1"/>
            </a:solidFill>
            <a:prstDash val="solid"/>
            <a:miter lim="800000"/>
            <a:headEnd len="med" w="med" type="none"/>
            <a:tailEnd len="med" w="med" type="none"/>
          </a:ln>
        </p:spPr>
      </p:cxnSp>
      <p:sp>
        <p:nvSpPr>
          <p:cNvPr id="906" name="Google Shape;906;p13"/>
          <p:cNvSpPr txBox="1"/>
          <p:nvPr/>
        </p:nvSpPr>
        <p:spPr>
          <a:xfrm>
            <a:off x="4661321" y="3431382"/>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907" name="Google Shape;907;p13"/>
          <p:cNvCxnSpPr>
            <a:stCxn id="898" idx="2"/>
            <a:endCxn id="906" idx="0"/>
          </p:cNvCxnSpPr>
          <p:nvPr/>
        </p:nvCxnSpPr>
        <p:spPr>
          <a:xfrm>
            <a:off x="4650807" y="3212497"/>
            <a:ext cx="226200" cy="219000"/>
          </a:xfrm>
          <a:prstGeom prst="straightConnector1">
            <a:avLst/>
          </a:prstGeom>
          <a:noFill/>
          <a:ln cap="flat" cmpd="sng" w="9525">
            <a:solidFill>
              <a:schemeClr val="dk1"/>
            </a:solidFill>
            <a:prstDash val="solid"/>
            <a:miter lim="800000"/>
            <a:headEnd len="med" w="med" type="none"/>
            <a:tailEnd len="med" w="med" type="none"/>
          </a:ln>
        </p:spPr>
      </p:cxnSp>
      <p:sp>
        <p:nvSpPr>
          <p:cNvPr id="908" name="Google Shape;908;p13"/>
          <p:cNvSpPr txBox="1"/>
          <p:nvPr/>
        </p:nvSpPr>
        <p:spPr>
          <a:xfrm>
            <a:off x="6639464" y="251912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F(4)</a:t>
            </a:r>
            <a:endParaRPr/>
          </a:p>
        </p:txBody>
      </p:sp>
      <p:sp>
        <p:nvSpPr>
          <p:cNvPr id="909" name="Google Shape;909;p13"/>
          <p:cNvSpPr txBox="1"/>
          <p:nvPr/>
        </p:nvSpPr>
        <p:spPr>
          <a:xfrm>
            <a:off x="6195245" y="2972872"/>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F(3)</a:t>
            </a:r>
            <a:endParaRPr/>
          </a:p>
        </p:txBody>
      </p:sp>
      <p:sp>
        <p:nvSpPr>
          <p:cNvPr id="910" name="Google Shape;910;p13"/>
          <p:cNvSpPr txBox="1"/>
          <p:nvPr/>
        </p:nvSpPr>
        <p:spPr>
          <a:xfrm>
            <a:off x="5305617" y="388155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911" name="Google Shape;911;p13"/>
          <p:cNvSpPr txBox="1"/>
          <p:nvPr/>
        </p:nvSpPr>
        <p:spPr>
          <a:xfrm>
            <a:off x="5749835" y="3426618"/>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912" name="Google Shape;912;p13"/>
          <p:cNvCxnSpPr>
            <a:stCxn id="877" idx="2"/>
            <a:endCxn id="908" idx="0"/>
          </p:cNvCxnSpPr>
          <p:nvPr/>
        </p:nvCxnSpPr>
        <p:spPr>
          <a:xfrm>
            <a:off x="4765029" y="2269276"/>
            <a:ext cx="2090100" cy="249900"/>
          </a:xfrm>
          <a:prstGeom prst="straightConnector1">
            <a:avLst/>
          </a:prstGeom>
          <a:noFill/>
          <a:ln cap="flat" cmpd="sng" w="9525">
            <a:solidFill>
              <a:schemeClr val="dk1"/>
            </a:solidFill>
            <a:prstDash val="solid"/>
            <a:miter lim="800000"/>
            <a:headEnd len="med" w="med" type="none"/>
            <a:tailEnd len="med" w="med" type="none"/>
          </a:ln>
        </p:spPr>
      </p:cxnSp>
      <p:cxnSp>
        <p:nvCxnSpPr>
          <p:cNvPr id="913" name="Google Shape;913;p13"/>
          <p:cNvCxnSpPr>
            <a:stCxn id="909" idx="0"/>
            <a:endCxn id="908" idx="2"/>
          </p:cNvCxnSpPr>
          <p:nvPr/>
        </p:nvCxnSpPr>
        <p:spPr>
          <a:xfrm flipH="1" rot="10800000">
            <a:off x="6411009" y="2773072"/>
            <a:ext cx="4443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914" name="Google Shape;914;p13"/>
          <p:cNvCxnSpPr>
            <a:stCxn id="909" idx="2"/>
            <a:endCxn id="911" idx="0"/>
          </p:cNvCxnSpPr>
          <p:nvPr/>
        </p:nvCxnSpPr>
        <p:spPr>
          <a:xfrm flipH="1">
            <a:off x="5965509" y="3226788"/>
            <a:ext cx="445500" cy="199800"/>
          </a:xfrm>
          <a:prstGeom prst="straightConnector1">
            <a:avLst/>
          </a:prstGeom>
          <a:noFill/>
          <a:ln cap="flat" cmpd="sng" w="9525">
            <a:solidFill>
              <a:schemeClr val="dk1"/>
            </a:solidFill>
            <a:prstDash val="solid"/>
            <a:miter lim="800000"/>
            <a:headEnd len="med" w="med" type="none"/>
            <a:tailEnd len="med" w="med" type="none"/>
          </a:ln>
        </p:spPr>
      </p:cxnSp>
      <p:cxnSp>
        <p:nvCxnSpPr>
          <p:cNvPr id="915" name="Google Shape;915;p13"/>
          <p:cNvCxnSpPr>
            <a:stCxn id="911" idx="2"/>
            <a:endCxn id="910" idx="0"/>
          </p:cNvCxnSpPr>
          <p:nvPr/>
        </p:nvCxnSpPr>
        <p:spPr>
          <a:xfrm flipH="1">
            <a:off x="5521299" y="3680534"/>
            <a:ext cx="444300" cy="201000"/>
          </a:xfrm>
          <a:prstGeom prst="straightConnector1">
            <a:avLst/>
          </a:prstGeom>
          <a:noFill/>
          <a:ln cap="flat" cmpd="sng" w="9525">
            <a:solidFill>
              <a:schemeClr val="dk1"/>
            </a:solidFill>
            <a:prstDash val="solid"/>
            <a:miter lim="800000"/>
            <a:headEnd len="med" w="med" type="none"/>
            <a:tailEnd len="med" w="med" type="none"/>
          </a:ln>
        </p:spPr>
      </p:cxnSp>
      <p:sp>
        <p:nvSpPr>
          <p:cNvPr id="916" name="Google Shape;916;p13"/>
          <p:cNvSpPr txBox="1"/>
          <p:nvPr/>
        </p:nvSpPr>
        <p:spPr>
          <a:xfrm>
            <a:off x="6014223" y="390656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917" name="Google Shape;917;p13"/>
          <p:cNvCxnSpPr>
            <a:stCxn id="911" idx="2"/>
            <a:endCxn id="916" idx="0"/>
          </p:cNvCxnSpPr>
          <p:nvPr/>
        </p:nvCxnSpPr>
        <p:spPr>
          <a:xfrm>
            <a:off x="5965599" y="3680534"/>
            <a:ext cx="264300" cy="225900"/>
          </a:xfrm>
          <a:prstGeom prst="straightConnector1">
            <a:avLst/>
          </a:prstGeom>
          <a:noFill/>
          <a:ln cap="flat" cmpd="sng" w="9525">
            <a:solidFill>
              <a:schemeClr val="dk1"/>
            </a:solidFill>
            <a:prstDash val="solid"/>
            <a:miter lim="800000"/>
            <a:headEnd len="med" w="med" type="none"/>
            <a:tailEnd len="med" w="med" type="none"/>
          </a:ln>
        </p:spPr>
      </p:cxnSp>
      <p:sp>
        <p:nvSpPr>
          <p:cNvPr id="918" name="Google Shape;918;p13"/>
          <p:cNvSpPr txBox="1"/>
          <p:nvPr/>
        </p:nvSpPr>
        <p:spPr>
          <a:xfrm>
            <a:off x="6378649" y="3445673"/>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919" name="Google Shape;919;p13"/>
          <p:cNvCxnSpPr>
            <a:stCxn id="909" idx="2"/>
            <a:endCxn id="918" idx="0"/>
          </p:cNvCxnSpPr>
          <p:nvPr/>
        </p:nvCxnSpPr>
        <p:spPr>
          <a:xfrm>
            <a:off x="6411009" y="3226788"/>
            <a:ext cx="183300" cy="219000"/>
          </a:xfrm>
          <a:prstGeom prst="straightConnector1">
            <a:avLst/>
          </a:prstGeom>
          <a:noFill/>
          <a:ln cap="flat" cmpd="sng" w="9525">
            <a:solidFill>
              <a:schemeClr val="dk1"/>
            </a:solidFill>
            <a:prstDash val="solid"/>
            <a:miter lim="800000"/>
            <a:headEnd len="med" w="med" type="none"/>
            <a:tailEnd len="med" w="med" type="none"/>
          </a:ln>
        </p:spPr>
      </p:cxnSp>
      <p:sp>
        <p:nvSpPr>
          <p:cNvPr id="920" name="Google Shape;920;p13"/>
          <p:cNvSpPr txBox="1"/>
          <p:nvPr/>
        </p:nvSpPr>
        <p:spPr>
          <a:xfrm>
            <a:off x="6770467" y="3449246"/>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921" name="Google Shape;921;p13"/>
          <p:cNvSpPr txBox="1"/>
          <p:nvPr/>
        </p:nvSpPr>
        <p:spPr>
          <a:xfrm>
            <a:off x="6928861" y="2994309"/>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922" name="Google Shape;922;p13"/>
          <p:cNvCxnSpPr>
            <a:stCxn id="921" idx="2"/>
            <a:endCxn id="920" idx="0"/>
          </p:cNvCxnSpPr>
          <p:nvPr/>
        </p:nvCxnSpPr>
        <p:spPr>
          <a:xfrm flipH="1">
            <a:off x="6986225" y="3248225"/>
            <a:ext cx="158400" cy="201000"/>
          </a:xfrm>
          <a:prstGeom prst="straightConnector1">
            <a:avLst/>
          </a:prstGeom>
          <a:noFill/>
          <a:ln cap="flat" cmpd="sng" w="9525">
            <a:solidFill>
              <a:schemeClr val="dk1"/>
            </a:solidFill>
            <a:prstDash val="solid"/>
            <a:miter lim="800000"/>
            <a:headEnd len="med" w="med" type="none"/>
            <a:tailEnd len="med" w="med" type="none"/>
          </a:ln>
        </p:spPr>
      </p:cxnSp>
      <p:sp>
        <p:nvSpPr>
          <p:cNvPr id="923" name="Google Shape;923;p13"/>
          <p:cNvSpPr txBox="1"/>
          <p:nvPr/>
        </p:nvSpPr>
        <p:spPr>
          <a:xfrm>
            <a:off x="7228977" y="3474255"/>
            <a:ext cx="431528"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924" name="Google Shape;924;p13"/>
          <p:cNvCxnSpPr>
            <a:stCxn id="921" idx="2"/>
            <a:endCxn id="923" idx="0"/>
          </p:cNvCxnSpPr>
          <p:nvPr/>
        </p:nvCxnSpPr>
        <p:spPr>
          <a:xfrm>
            <a:off x="7144625" y="3248225"/>
            <a:ext cx="300000" cy="225900"/>
          </a:xfrm>
          <a:prstGeom prst="straightConnector1">
            <a:avLst/>
          </a:prstGeom>
          <a:noFill/>
          <a:ln cap="flat" cmpd="sng" w="9525">
            <a:solidFill>
              <a:schemeClr val="dk1"/>
            </a:solidFill>
            <a:prstDash val="solid"/>
            <a:miter lim="800000"/>
            <a:headEnd len="med" w="med" type="none"/>
            <a:tailEnd len="med" w="med" type="none"/>
          </a:ln>
        </p:spPr>
      </p:cxnSp>
      <p:cxnSp>
        <p:nvCxnSpPr>
          <p:cNvPr id="925" name="Google Shape;925;p13"/>
          <p:cNvCxnSpPr>
            <a:stCxn id="908" idx="2"/>
            <a:endCxn id="921" idx="0"/>
          </p:cNvCxnSpPr>
          <p:nvPr/>
        </p:nvCxnSpPr>
        <p:spPr>
          <a:xfrm>
            <a:off x="6855228" y="2773041"/>
            <a:ext cx="289500" cy="221400"/>
          </a:xfrm>
          <a:prstGeom prst="straightConnector1">
            <a:avLst/>
          </a:prstGeom>
          <a:noFill/>
          <a:ln cap="flat" cmpd="sng" w="9525">
            <a:solidFill>
              <a:schemeClr val="dk1"/>
            </a:solidFill>
            <a:prstDash val="solid"/>
            <a:miter lim="800000"/>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14"/>
          <p:cNvSpPr txBox="1"/>
          <p:nvPr>
            <p:ph idx="4294967295" type="title"/>
          </p:nvPr>
        </p:nvSpPr>
        <p:spPr>
          <a:xfrm>
            <a:off x="85060" y="663437"/>
            <a:ext cx="9058940" cy="857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b="1" lang="en-US" sz="3200">
                <a:solidFill>
                  <a:schemeClr val="dk1"/>
                </a:solidFill>
              </a:rPr>
              <a:t>Steps to Designing a</a:t>
            </a:r>
            <a:br>
              <a:rPr b="1" lang="en-US" sz="3200">
                <a:solidFill>
                  <a:schemeClr val="dk1"/>
                </a:solidFill>
              </a:rPr>
            </a:br>
            <a:r>
              <a:rPr b="1" lang="en-US" sz="3200">
                <a:solidFill>
                  <a:schemeClr val="dk1"/>
                </a:solidFill>
              </a:rPr>
              <a:t>Dynamic Programming Algorithm</a:t>
            </a:r>
            <a:endParaRPr/>
          </a:p>
        </p:txBody>
      </p:sp>
      <p:sp>
        <p:nvSpPr>
          <p:cNvPr id="932" name="Google Shape;932;p14"/>
          <p:cNvSpPr txBox="1"/>
          <p:nvPr>
            <p:ph idx="4294967295" type="body"/>
          </p:nvPr>
        </p:nvSpPr>
        <p:spPr>
          <a:xfrm>
            <a:off x="515938" y="2286000"/>
            <a:ext cx="8628062" cy="3028950"/>
          </a:xfrm>
          <a:prstGeom prst="rect">
            <a:avLst/>
          </a:prstGeom>
          <a:noFill/>
          <a:ln>
            <a:noFill/>
          </a:ln>
        </p:spPr>
        <p:txBody>
          <a:bodyPr anchorCtr="0" anchor="t" bIns="45700" lIns="91425" spcFirstLastPara="1" rIns="91425" wrap="square" tIns="45700">
            <a:normAutofit/>
          </a:bodyPr>
          <a:lstStyle/>
          <a:p>
            <a:pPr indent="-457322" lvl="0" marL="457322" rtl="0" algn="l">
              <a:spcBef>
                <a:spcPts val="0"/>
              </a:spcBef>
              <a:spcAft>
                <a:spcPts val="0"/>
              </a:spcAft>
              <a:buSzPts val="2160"/>
              <a:buFont typeface="Noto Sans Symbols"/>
              <a:buAutoNum type="arabicPeriod"/>
            </a:pPr>
            <a:r>
              <a:rPr lang="en-US"/>
              <a:t>Characterize </a:t>
            </a:r>
            <a:r>
              <a:rPr b="1" i="1" lang="en-US"/>
              <a:t>optimal sub-structure</a:t>
            </a:r>
            <a:endParaRPr/>
          </a:p>
          <a:p>
            <a:pPr indent="-457322" lvl="0" marL="457322" rtl="0" algn="l">
              <a:spcBef>
                <a:spcPts val="2000"/>
              </a:spcBef>
              <a:spcAft>
                <a:spcPts val="0"/>
              </a:spcAft>
              <a:buSzPts val="2160"/>
              <a:buFont typeface="Noto Sans Symbols"/>
              <a:buAutoNum type="arabicPeriod"/>
            </a:pPr>
            <a:r>
              <a:rPr lang="en-US"/>
              <a:t> </a:t>
            </a:r>
            <a:r>
              <a:rPr b="1" i="1" lang="en-US"/>
              <a:t>Recursively</a:t>
            </a:r>
            <a:r>
              <a:rPr lang="en-US"/>
              <a:t> define the value of an optimal solution</a:t>
            </a:r>
            <a:endParaRPr/>
          </a:p>
          <a:p>
            <a:pPr indent="-457322" lvl="0" marL="457322" rtl="0" algn="l">
              <a:spcBef>
                <a:spcPts val="2000"/>
              </a:spcBef>
              <a:spcAft>
                <a:spcPts val="0"/>
              </a:spcAft>
              <a:buSzPts val="2160"/>
              <a:buFont typeface="Noto Sans Symbols"/>
              <a:buAutoNum type="arabicPeriod"/>
            </a:pPr>
            <a:r>
              <a:rPr lang="en-US"/>
              <a:t>Compute the value </a:t>
            </a:r>
            <a:r>
              <a:rPr b="1" i="1" lang="en-US"/>
              <a:t>bottom up</a:t>
            </a:r>
            <a:endParaRPr/>
          </a:p>
          <a:p>
            <a:pPr indent="-457322" lvl="0" marL="457322" rtl="0" algn="l">
              <a:spcBef>
                <a:spcPts val="2000"/>
              </a:spcBef>
              <a:spcAft>
                <a:spcPts val="0"/>
              </a:spcAft>
              <a:buSzPts val="2160"/>
              <a:buFont typeface="Noto Sans Symbols"/>
              <a:buAutoNum type="arabicPeriod"/>
            </a:pPr>
            <a:r>
              <a:rPr lang="en-US"/>
              <a:t>(if needed) </a:t>
            </a:r>
            <a:r>
              <a:rPr b="1" i="1" lang="en-US"/>
              <a:t>Construct</a:t>
            </a:r>
            <a:r>
              <a:rPr lang="en-US"/>
              <a:t> an optimal solution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5"/>
          <p:cNvSpPr txBox="1"/>
          <p:nvPr>
            <p:ph idx="4294967295" type="title"/>
          </p:nvPr>
        </p:nvSpPr>
        <p:spPr>
          <a:xfrm>
            <a:off x="0" y="677862"/>
            <a:ext cx="9144000" cy="39211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b="1" lang="en-US" sz="3200">
                <a:solidFill>
                  <a:schemeClr val="dk1"/>
                </a:solidFill>
              </a:rPr>
              <a:t>1.Optimal Sub-Structure</a:t>
            </a:r>
            <a:endParaRPr/>
          </a:p>
        </p:txBody>
      </p:sp>
      <p:sp>
        <p:nvSpPr>
          <p:cNvPr id="939" name="Google Shape;939;p15"/>
          <p:cNvSpPr txBox="1"/>
          <p:nvPr>
            <p:ph idx="4294967295" type="body"/>
          </p:nvPr>
        </p:nvSpPr>
        <p:spPr>
          <a:xfrm>
            <a:off x="0" y="1509713"/>
            <a:ext cx="8804275" cy="4278312"/>
          </a:xfrm>
          <a:prstGeom prst="rect">
            <a:avLst/>
          </a:prstGeom>
          <a:noFill/>
          <a:ln>
            <a:noFill/>
          </a:ln>
        </p:spPr>
        <p:txBody>
          <a:bodyPr anchorCtr="0" anchor="t" bIns="45700" lIns="91425" spcFirstLastPara="1" rIns="91425" wrap="square" tIns="45700">
            <a:normAutofit/>
          </a:bodyPr>
          <a:lstStyle/>
          <a:p>
            <a:pPr indent="-454025" lvl="0" marL="454025" rtl="0" algn="l">
              <a:lnSpc>
                <a:spcPct val="150000"/>
              </a:lnSpc>
              <a:spcBef>
                <a:spcPts val="0"/>
              </a:spcBef>
              <a:spcAft>
                <a:spcPts val="0"/>
              </a:spcAft>
              <a:buSzPts val="1891"/>
              <a:buChar char="🡽"/>
            </a:pPr>
            <a:r>
              <a:rPr lang="en-US" sz="2101"/>
              <a:t>An optimal solution to the problem contains optimal solutions to sub-problems</a:t>
            </a:r>
            <a:endParaRPr/>
          </a:p>
          <a:p>
            <a:pPr indent="-457200" lvl="1" marL="914400" rtl="0" algn="l">
              <a:lnSpc>
                <a:spcPct val="150000"/>
              </a:lnSpc>
              <a:spcBef>
                <a:spcPts val="600"/>
              </a:spcBef>
              <a:spcAft>
                <a:spcPts val="0"/>
              </a:spcAft>
              <a:buSzPts val="1620"/>
              <a:buChar char="🡽"/>
            </a:pPr>
            <a:r>
              <a:rPr lang="en-US" sz="1800"/>
              <a:t>Solution to a problem: </a:t>
            </a:r>
            <a:endParaRPr/>
          </a:p>
          <a:p>
            <a:pPr indent="-346075" lvl="2" marL="1260475" rtl="0" algn="l">
              <a:lnSpc>
                <a:spcPct val="150000"/>
              </a:lnSpc>
              <a:spcBef>
                <a:spcPts val="600"/>
              </a:spcBef>
              <a:spcAft>
                <a:spcPts val="0"/>
              </a:spcAft>
              <a:buSzPts val="1350"/>
              <a:buChar char="🡽"/>
            </a:pPr>
            <a:r>
              <a:rPr lang="en-US" sz="1500"/>
              <a:t>Making a </a:t>
            </a:r>
            <a:r>
              <a:rPr b="1" lang="en-US" sz="1500"/>
              <a:t>choice</a:t>
            </a:r>
            <a:r>
              <a:rPr lang="en-US" sz="1500"/>
              <a:t> out of a number of </a:t>
            </a:r>
            <a:r>
              <a:rPr b="1" lang="en-US" sz="1500"/>
              <a:t>possibilities</a:t>
            </a:r>
            <a:r>
              <a:rPr lang="en-US" sz="1500"/>
              <a:t> (look what possible choices there can be)</a:t>
            </a:r>
            <a:endParaRPr/>
          </a:p>
          <a:p>
            <a:pPr indent="-346075" lvl="2" marL="1260475" rtl="0" algn="l">
              <a:lnSpc>
                <a:spcPct val="150000"/>
              </a:lnSpc>
              <a:spcBef>
                <a:spcPts val="600"/>
              </a:spcBef>
              <a:spcAft>
                <a:spcPts val="0"/>
              </a:spcAft>
              <a:buSzPts val="1350"/>
              <a:buChar char="🡽"/>
            </a:pPr>
            <a:r>
              <a:rPr b="1" lang="en-US" sz="1500"/>
              <a:t>Solving</a:t>
            </a:r>
            <a:r>
              <a:rPr lang="en-US" sz="1500"/>
              <a:t> one or more </a:t>
            </a:r>
            <a:r>
              <a:rPr b="1" lang="en-US" sz="1500"/>
              <a:t>sub-problems</a:t>
            </a:r>
            <a:r>
              <a:rPr lang="en-US" sz="1500"/>
              <a:t> that are the </a:t>
            </a:r>
            <a:r>
              <a:rPr b="1" lang="en-US" sz="1500"/>
              <a:t>result of a choice</a:t>
            </a:r>
            <a:r>
              <a:rPr lang="en-US" sz="1500"/>
              <a:t> (characterize the space of sub-problems)</a:t>
            </a:r>
            <a:endParaRPr/>
          </a:p>
          <a:p>
            <a:pPr indent="-457200" lvl="1" marL="914400" rtl="0" algn="l">
              <a:lnSpc>
                <a:spcPct val="150000"/>
              </a:lnSpc>
              <a:spcBef>
                <a:spcPts val="600"/>
              </a:spcBef>
              <a:spcAft>
                <a:spcPts val="0"/>
              </a:spcAft>
              <a:buSzPts val="1620"/>
              <a:buChar char="🡽"/>
            </a:pPr>
            <a:r>
              <a:rPr lang="en-US" sz="1800"/>
              <a:t>Show that solutions to sub-problems must themselves be optimal for the whole solution to be optimal.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6"/>
          <p:cNvSpPr txBox="1"/>
          <p:nvPr>
            <p:ph idx="4294967295" type="title"/>
          </p:nvPr>
        </p:nvSpPr>
        <p:spPr>
          <a:xfrm>
            <a:off x="0" y="367507"/>
            <a:ext cx="9144000"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2. Recursive Solution</a:t>
            </a:r>
            <a:endParaRPr/>
          </a:p>
        </p:txBody>
      </p:sp>
      <p:sp>
        <p:nvSpPr>
          <p:cNvPr id="946" name="Google Shape;946;p16"/>
          <p:cNvSpPr txBox="1"/>
          <p:nvPr>
            <p:ph idx="4294967295" type="body"/>
          </p:nvPr>
        </p:nvSpPr>
        <p:spPr>
          <a:xfrm>
            <a:off x="0" y="1866900"/>
            <a:ext cx="8804275" cy="3790950"/>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Write a recursive solution for the value of an optimal solution.</a:t>
            </a:r>
            <a:endParaRPr/>
          </a:p>
          <a:p>
            <a:pPr indent="-316865" lvl="0" marL="454025" rtl="0" algn="l">
              <a:spcBef>
                <a:spcPts val="1560"/>
              </a:spcBef>
              <a:spcAft>
                <a:spcPts val="0"/>
              </a:spcAft>
              <a:buSzPts val="2160"/>
              <a:buNone/>
            </a:pPr>
            <a:r>
              <a:t/>
            </a:r>
            <a:endParaRPr/>
          </a:p>
          <a:p>
            <a:pPr indent="-316865" lvl="0" marL="454025" rtl="0" algn="l">
              <a:spcBef>
                <a:spcPts val="1560"/>
              </a:spcBef>
              <a:spcAft>
                <a:spcPts val="0"/>
              </a:spcAft>
              <a:buSzPts val="2160"/>
              <a:buNone/>
            </a:pPr>
            <a:r>
              <a:t/>
            </a:r>
            <a:endParaRPr/>
          </a:p>
          <a:p>
            <a:pPr indent="-454025" lvl="0" marL="454025" rtl="0" algn="l">
              <a:spcBef>
                <a:spcPts val="1560"/>
              </a:spcBef>
              <a:spcAft>
                <a:spcPts val="0"/>
              </a:spcAft>
              <a:buSzPts val="2160"/>
              <a:buChar char="🡽"/>
            </a:pPr>
            <a:r>
              <a:rPr lang="en-US"/>
              <a:t>Show that the number of different instances of sub-problems is bounded by a polynomial.</a:t>
            </a:r>
            <a:endParaRPr/>
          </a:p>
        </p:txBody>
      </p:sp>
      <p:pic>
        <p:nvPicPr>
          <p:cNvPr id="947" name="Google Shape;947;p16"/>
          <p:cNvPicPr preferRelativeResize="0"/>
          <p:nvPr/>
        </p:nvPicPr>
        <p:blipFill rotWithShape="1">
          <a:blip r:embed="rId3">
            <a:alphaModFix/>
          </a:blip>
          <a:srcRect b="0" l="0" r="0" t="0"/>
          <a:stretch/>
        </p:blipFill>
        <p:spPr>
          <a:xfrm>
            <a:off x="1450560" y="2806141"/>
            <a:ext cx="6242882" cy="5716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17"/>
          <p:cNvSpPr txBox="1"/>
          <p:nvPr>
            <p:ph idx="4294967295" type="title"/>
          </p:nvPr>
        </p:nvSpPr>
        <p:spPr>
          <a:xfrm>
            <a:off x="69111" y="369957"/>
            <a:ext cx="9005777"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3. Bottom Up</a:t>
            </a:r>
            <a:endParaRPr/>
          </a:p>
        </p:txBody>
      </p:sp>
      <p:sp>
        <p:nvSpPr>
          <p:cNvPr id="954" name="Google Shape;954;p17"/>
          <p:cNvSpPr txBox="1"/>
          <p:nvPr>
            <p:ph idx="4294967295" type="body"/>
          </p:nvPr>
        </p:nvSpPr>
        <p:spPr>
          <a:xfrm>
            <a:off x="0" y="1530350"/>
            <a:ext cx="8918575" cy="4002088"/>
          </a:xfrm>
          <a:prstGeom prst="rect">
            <a:avLst/>
          </a:prstGeom>
          <a:noFill/>
          <a:ln>
            <a:noFill/>
          </a:ln>
        </p:spPr>
        <p:txBody>
          <a:bodyPr anchorCtr="0" anchor="t" bIns="45700" lIns="91425" spcFirstLastPara="1" rIns="91425" wrap="square" tIns="45700">
            <a:normAutofit/>
          </a:bodyPr>
          <a:lstStyle/>
          <a:p>
            <a:pPr indent="-454025" lvl="0" marL="454025" rtl="0" algn="just">
              <a:lnSpc>
                <a:spcPct val="140000"/>
              </a:lnSpc>
              <a:spcBef>
                <a:spcPts val="0"/>
              </a:spcBef>
              <a:spcAft>
                <a:spcPts val="0"/>
              </a:spcAft>
              <a:buSzPts val="2160"/>
              <a:buChar char="🡽"/>
            </a:pPr>
            <a:r>
              <a:rPr b="1" lang="en-US"/>
              <a:t>Compute</a:t>
            </a:r>
            <a:r>
              <a:rPr lang="en-US"/>
              <a:t> the value of an optimal solution in a bottom-up fashion, so that you always have the necessary </a:t>
            </a:r>
            <a:r>
              <a:rPr b="1" lang="en-US"/>
              <a:t>sub-results pre-computed</a:t>
            </a:r>
            <a:r>
              <a:rPr lang="en-US"/>
              <a:t> (or use memoization) </a:t>
            </a:r>
            <a:endParaRPr/>
          </a:p>
          <a:p>
            <a:pPr indent="-454025" lvl="0" marL="454025" rtl="0" algn="just">
              <a:lnSpc>
                <a:spcPct val="140000"/>
              </a:lnSpc>
              <a:spcBef>
                <a:spcPts val="1200"/>
              </a:spcBef>
              <a:spcAft>
                <a:spcPts val="0"/>
              </a:spcAft>
              <a:buSzPts val="2160"/>
              <a:buChar char="🡽"/>
            </a:pPr>
            <a:r>
              <a:rPr lang="en-US"/>
              <a:t>Check if it is possible to </a:t>
            </a:r>
            <a:r>
              <a:rPr b="1" lang="en-US"/>
              <a:t>reduce</a:t>
            </a:r>
            <a:r>
              <a:rPr lang="en-US"/>
              <a:t> the </a:t>
            </a:r>
            <a:r>
              <a:rPr b="1" lang="en-US"/>
              <a:t>space</a:t>
            </a:r>
            <a:r>
              <a:rPr lang="en-US"/>
              <a:t> requirements, by “</a:t>
            </a:r>
            <a:r>
              <a:rPr b="1" lang="en-US"/>
              <a:t>forgetting</a:t>
            </a:r>
            <a:r>
              <a:rPr lang="en-US"/>
              <a:t>” solutions to sub-problems that will not be used any more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8"/>
          <p:cNvSpPr txBox="1"/>
          <p:nvPr>
            <p:ph idx="4294967295" type="title"/>
          </p:nvPr>
        </p:nvSpPr>
        <p:spPr>
          <a:xfrm>
            <a:off x="0" y="404952"/>
            <a:ext cx="9083675"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4. Construct Optimal Solution</a:t>
            </a:r>
            <a:endParaRPr/>
          </a:p>
        </p:txBody>
      </p:sp>
      <p:sp>
        <p:nvSpPr>
          <p:cNvPr id="961" name="Google Shape;961;p18"/>
          <p:cNvSpPr txBox="1"/>
          <p:nvPr>
            <p:ph idx="4294967295" type="body"/>
          </p:nvPr>
        </p:nvSpPr>
        <p:spPr>
          <a:xfrm>
            <a:off x="0" y="2420938"/>
            <a:ext cx="9083675" cy="1865312"/>
          </a:xfrm>
          <a:prstGeom prst="rect">
            <a:avLst/>
          </a:prstGeom>
          <a:noFill/>
          <a:ln>
            <a:noFill/>
          </a:ln>
        </p:spPr>
        <p:txBody>
          <a:bodyPr anchorCtr="0" anchor="t" bIns="45700" lIns="91425" spcFirstLastPara="1" rIns="91425" wrap="square" tIns="45700">
            <a:normAutofit/>
          </a:bodyPr>
          <a:lstStyle/>
          <a:p>
            <a:pPr indent="-454025" lvl="0" marL="454025" rtl="0" algn="just">
              <a:spcBef>
                <a:spcPts val="0"/>
              </a:spcBef>
              <a:spcAft>
                <a:spcPts val="0"/>
              </a:spcAft>
              <a:buSzPts val="2701"/>
              <a:buChar char="🡽"/>
            </a:pPr>
            <a:r>
              <a:rPr lang="en-US" sz="3001"/>
              <a:t>Construct an optimal solution from </a:t>
            </a:r>
            <a:r>
              <a:rPr b="1" lang="en-US" sz="3001"/>
              <a:t>computed information</a:t>
            </a:r>
            <a:r>
              <a:rPr lang="en-US" sz="3001"/>
              <a:t> (which records a sequence of choices made that lead to an optimal solution)</a:t>
            </a:r>
            <a:r>
              <a:rPr lang="en-US"/>
              <a:t> </a:t>
            </a:r>
            <a:endParaRPr/>
          </a:p>
          <a:p>
            <a:pPr indent="-454025" lvl="0" marL="454025" rtl="0" algn="l">
              <a:spcBef>
                <a:spcPts val="2000"/>
              </a:spcBef>
              <a:spcAft>
                <a:spcPts val="0"/>
              </a:spcAft>
              <a:buSzPts val="2160"/>
              <a:buFont typeface="Calibri"/>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pic>
        <p:nvPicPr>
          <p:cNvPr id="967" name="Google Shape;967;g2f8122dc4e2_0_0"/>
          <p:cNvPicPr preferRelativeResize="0"/>
          <p:nvPr/>
        </p:nvPicPr>
        <p:blipFill>
          <a:blip r:embed="rId3">
            <a:alphaModFix/>
          </a:blip>
          <a:stretch>
            <a:fillRect/>
          </a:stretch>
        </p:blipFill>
        <p:spPr>
          <a:xfrm>
            <a:off x="556251" y="728325"/>
            <a:ext cx="7359325" cy="59772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2" name="Shape 972"/>
        <p:cNvGrpSpPr/>
        <p:nvPr/>
      </p:nvGrpSpPr>
      <p:grpSpPr>
        <a:xfrm>
          <a:off x="0" y="0"/>
          <a:ext cx="0" cy="0"/>
          <a:chOff x="0" y="0"/>
          <a:chExt cx="0" cy="0"/>
        </a:xfrm>
      </p:grpSpPr>
      <p:sp>
        <p:nvSpPr>
          <p:cNvPr id="973" name="Google Shape;973;g2f8122dc4e2_0_5"/>
          <p:cNvSpPr txBox="1"/>
          <p:nvPr/>
        </p:nvSpPr>
        <p:spPr>
          <a:xfrm>
            <a:off x="356100" y="2604825"/>
            <a:ext cx="843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https://testbook.com/key-differences/difference-between-divide-and-conquer-and-dynamic-programming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9"/>
          <p:cNvSpPr txBox="1"/>
          <p:nvPr>
            <p:ph idx="4294967295" type="ctrTitle"/>
          </p:nvPr>
        </p:nvSpPr>
        <p:spPr>
          <a:xfrm>
            <a:off x="667543" y="2980428"/>
            <a:ext cx="7808913" cy="1087437"/>
          </a:xfrm>
          <a:prstGeom prst="rect">
            <a:avLst/>
          </a:prstGeom>
          <a:solidFill>
            <a:srgbClr val="262626">
              <a:alpha val="69803"/>
            </a:srgbClr>
          </a:solid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lt1"/>
              </a:buClr>
              <a:buSzPts val="4200"/>
              <a:buFont typeface="Corbel"/>
              <a:buNone/>
            </a:pPr>
            <a:r>
              <a:rPr b="0" i="0" lang="en-US" sz="4200" u="none" cap="none" strike="noStrike">
                <a:solidFill>
                  <a:schemeClr val="lt1"/>
                </a:solidFill>
                <a:latin typeface="Corbel"/>
                <a:ea typeface="Corbel"/>
                <a:cs typeface="Corbel"/>
                <a:sym typeface="Corbel"/>
              </a:rPr>
              <a:t>Knapsack Problem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20"/>
          <p:cNvSpPr txBox="1"/>
          <p:nvPr>
            <p:ph idx="4294967295" type="title"/>
          </p:nvPr>
        </p:nvSpPr>
        <p:spPr>
          <a:xfrm>
            <a:off x="132521" y="113403"/>
            <a:ext cx="8878957" cy="96837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rbel"/>
              <a:buNone/>
            </a:pPr>
            <a:r>
              <a:rPr b="1" lang="en-US" sz="3200">
                <a:solidFill>
                  <a:schemeClr val="dk1"/>
                </a:solidFill>
              </a:rPr>
              <a:t> </a:t>
            </a:r>
            <a:br>
              <a:rPr b="1" lang="en-US" sz="3200">
                <a:solidFill>
                  <a:schemeClr val="dk1"/>
                </a:solidFill>
              </a:rPr>
            </a:br>
            <a:r>
              <a:rPr b="1" lang="en-US" sz="3200">
                <a:solidFill>
                  <a:schemeClr val="dk1"/>
                </a:solidFill>
              </a:rPr>
              <a:t>The Knapsack Problem</a:t>
            </a:r>
            <a:endParaRPr/>
          </a:p>
        </p:txBody>
      </p:sp>
      <p:sp>
        <p:nvSpPr>
          <p:cNvPr id="984" name="Google Shape;984;p20"/>
          <p:cNvSpPr txBox="1"/>
          <p:nvPr>
            <p:ph idx="4294967295" type="body"/>
          </p:nvPr>
        </p:nvSpPr>
        <p:spPr>
          <a:xfrm>
            <a:off x="238539" y="1752600"/>
            <a:ext cx="8458200" cy="5105400"/>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The famous </a:t>
            </a:r>
            <a:r>
              <a:rPr i="1" lang="en-US">
                <a:solidFill>
                  <a:schemeClr val="dk2"/>
                </a:solidFill>
              </a:rPr>
              <a:t>knapsack problem</a:t>
            </a:r>
            <a:r>
              <a:rPr lang="en-US"/>
              <a:t>:</a:t>
            </a:r>
            <a:endParaRPr/>
          </a:p>
          <a:p>
            <a:pPr indent="-457200" lvl="1" marL="914400" rtl="0" algn="l">
              <a:spcBef>
                <a:spcPts val="600"/>
              </a:spcBef>
              <a:spcAft>
                <a:spcPts val="0"/>
              </a:spcAft>
              <a:buSzPts val="1980"/>
              <a:buChar char="🡽"/>
            </a:pPr>
            <a:r>
              <a:rPr lang="en-US"/>
              <a:t>A thief breaks into a museum.  Fabulous paintings, sculptures, and jewels are everywhere.  The thief has a good eye for the value of these objects, and knows that each will fetch hundreds or thousands of dollars on the clandestine art collector’s market.  But, the thief has only brought a single knapsack to the scene of the robbery, and can take away only what he can carry.  What items should the thief take to maximize the haul?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21"/>
          <p:cNvSpPr txBox="1"/>
          <p:nvPr>
            <p:ph idx="4294967295" type="title"/>
          </p:nvPr>
        </p:nvSpPr>
        <p:spPr>
          <a:xfrm>
            <a:off x="0" y="308112"/>
            <a:ext cx="91440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0-1 Knapsack problem</a:t>
            </a:r>
            <a:endParaRPr/>
          </a:p>
        </p:txBody>
      </p:sp>
      <p:sp>
        <p:nvSpPr>
          <p:cNvPr id="990" name="Google Shape;990;p21"/>
          <p:cNvSpPr txBox="1"/>
          <p:nvPr>
            <p:ph idx="4294967295" type="body"/>
          </p:nvPr>
        </p:nvSpPr>
        <p:spPr>
          <a:xfrm>
            <a:off x="291548" y="2133600"/>
            <a:ext cx="8282540" cy="3992563"/>
          </a:xfrm>
          <a:prstGeom prst="rect">
            <a:avLst/>
          </a:prstGeom>
          <a:noFill/>
          <a:ln>
            <a:noFill/>
          </a:ln>
        </p:spPr>
        <p:txBody>
          <a:bodyPr anchorCtr="0" anchor="t" bIns="45700" lIns="91425" spcFirstLastPara="1" rIns="91425" wrap="square" tIns="45700">
            <a:normAutofit/>
          </a:bodyPr>
          <a:lstStyle/>
          <a:p>
            <a:pPr indent="-454025" lvl="0" marL="454025" rtl="0" algn="l">
              <a:lnSpc>
                <a:spcPct val="110000"/>
              </a:lnSpc>
              <a:spcBef>
                <a:spcPts val="0"/>
              </a:spcBef>
              <a:spcAft>
                <a:spcPts val="0"/>
              </a:spcAft>
              <a:buSzPts val="2160"/>
              <a:buChar char="🡽"/>
            </a:pPr>
            <a:r>
              <a:rPr lang="en-US"/>
              <a:t>Given a knapsack with maximum capacity </a:t>
            </a:r>
            <a:r>
              <a:rPr i="1" lang="en-US"/>
              <a:t>W</a:t>
            </a:r>
            <a:r>
              <a:rPr lang="en-US"/>
              <a:t>, and a set </a:t>
            </a:r>
            <a:r>
              <a:rPr i="1" lang="en-US"/>
              <a:t>S</a:t>
            </a:r>
            <a:r>
              <a:rPr lang="en-US"/>
              <a:t> consisting of </a:t>
            </a:r>
            <a:r>
              <a:rPr i="1" lang="en-US"/>
              <a:t>n</a:t>
            </a:r>
            <a:r>
              <a:rPr lang="en-US"/>
              <a:t> items</a:t>
            </a:r>
            <a:endParaRPr/>
          </a:p>
          <a:p>
            <a:pPr indent="-454025" lvl="0" marL="454025" rtl="0" algn="l">
              <a:lnSpc>
                <a:spcPct val="110000"/>
              </a:lnSpc>
              <a:spcBef>
                <a:spcPts val="2000"/>
              </a:spcBef>
              <a:spcAft>
                <a:spcPts val="0"/>
              </a:spcAft>
              <a:buSzPts val="2160"/>
              <a:buChar char="🡽"/>
            </a:pPr>
            <a:r>
              <a:rPr lang="en-US"/>
              <a:t>Each item </a:t>
            </a:r>
            <a:r>
              <a:rPr i="1" lang="en-US"/>
              <a:t>i</a:t>
            </a:r>
            <a:r>
              <a:rPr lang="en-US"/>
              <a:t> has some weight </a:t>
            </a:r>
            <a:r>
              <a:rPr i="1" lang="en-US"/>
              <a:t>w</a:t>
            </a:r>
            <a:r>
              <a:rPr baseline="-25000" i="1" lang="en-US"/>
              <a:t>i</a:t>
            </a:r>
            <a:r>
              <a:rPr lang="en-US"/>
              <a:t> and benefit value </a:t>
            </a:r>
            <a:r>
              <a:rPr i="1" lang="en-US"/>
              <a:t>b</a:t>
            </a:r>
            <a:r>
              <a:rPr baseline="-25000" i="1" lang="en-US"/>
              <a:t>i</a:t>
            </a:r>
            <a:r>
              <a:rPr baseline="-25000" lang="en-US"/>
              <a:t>  </a:t>
            </a:r>
            <a:r>
              <a:rPr lang="en-US"/>
              <a:t>(all </a:t>
            </a:r>
            <a:r>
              <a:rPr i="1" lang="en-US"/>
              <a:t>w</a:t>
            </a:r>
            <a:r>
              <a:rPr baseline="-25000" i="1" lang="en-US"/>
              <a:t>i</a:t>
            </a:r>
            <a:r>
              <a:rPr i="1" lang="en-US"/>
              <a:t> , b</a:t>
            </a:r>
            <a:r>
              <a:rPr baseline="-25000" i="1" lang="en-US"/>
              <a:t>i</a:t>
            </a:r>
            <a:r>
              <a:rPr baseline="-25000" lang="en-US"/>
              <a:t> </a:t>
            </a:r>
            <a:r>
              <a:rPr lang="en-US"/>
              <a:t>and </a:t>
            </a:r>
            <a:r>
              <a:rPr i="1" lang="en-US"/>
              <a:t>W</a:t>
            </a:r>
            <a:r>
              <a:rPr lang="en-US"/>
              <a:t> are integer values)</a:t>
            </a:r>
            <a:endParaRPr/>
          </a:p>
          <a:p>
            <a:pPr indent="-454025" lvl="0" marL="454025" rtl="0" algn="l">
              <a:lnSpc>
                <a:spcPct val="110000"/>
              </a:lnSpc>
              <a:spcBef>
                <a:spcPts val="2000"/>
              </a:spcBef>
              <a:spcAft>
                <a:spcPts val="0"/>
              </a:spcAft>
              <a:buSzPts val="2160"/>
              <a:buChar char="🡽"/>
            </a:pPr>
            <a:r>
              <a:rPr lang="en-US" u="sng"/>
              <a:t>Problem</a:t>
            </a:r>
            <a:r>
              <a:rPr lang="en-US"/>
              <a:t>: How to pack the knapsack to achieve maximum total value of packed items?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pic>
        <p:nvPicPr>
          <p:cNvPr id="995" name="Google Shape;995;p22"/>
          <p:cNvPicPr preferRelativeResize="0"/>
          <p:nvPr>
            <p:ph idx="4294967295" type="body"/>
          </p:nvPr>
        </p:nvPicPr>
        <p:blipFill rotWithShape="1">
          <a:blip r:embed="rId3">
            <a:alphaModFix/>
          </a:blip>
          <a:srcRect b="0" l="0" r="0" t="0"/>
          <a:stretch/>
        </p:blipFill>
        <p:spPr>
          <a:xfrm>
            <a:off x="397605" y="1663282"/>
            <a:ext cx="8539163" cy="1600200"/>
          </a:xfrm>
          <a:prstGeom prst="rect">
            <a:avLst/>
          </a:prstGeom>
          <a:noFill/>
          <a:ln>
            <a:noFill/>
          </a:ln>
        </p:spPr>
      </p:pic>
      <p:sp>
        <p:nvSpPr>
          <p:cNvPr id="996" name="Google Shape;996;p22"/>
          <p:cNvSpPr txBox="1"/>
          <p:nvPr/>
        </p:nvSpPr>
        <p:spPr>
          <a:xfrm>
            <a:off x="2372139" y="3332627"/>
            <a:ext cx="4114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none">
                <a:solidFill>
                  <a:schemeClr val="dk1"/>
                </a:solidFill>
                <a:latin typeface="Calibri"/>
                <a:ea typeface="Calibri"/>
                <a:cs typeface="Calibri"/>
                <a:sym typeface="Calibri"/>
              </a:rPr>
              <a:t>Knapsack Size = 25</a:t>
            </a:r>
            <a:endParaRPr/>
          </a:p>
        </p:txBody>
      </p:sp>
      <p:pic>
        <p:nvPicPr>
          <p:cNvPr id="997" name="Google Shape;997;p22"/>
          <p:cNvPicPr preferRelativeResize="0"/>
          <p:nvPr/>
        </p:nvPicPr>
        <p:blipFill rotWithShape="1">
          <a:blip r:embed="rId4">
            <a:alphaModFix/>
          </a:blip>
          <a:srcRect b="0" l="0" r="0" t="0"/>
          <a:stretch/>
        </p:blipFill>
        <p:spPr>
          <a:xfrm>
            <a:off x="397605" y="3962324"/>
            <a:ext cx="8539123" cy="2259102"/>
          </a:xfrm>
          <a:prstGeom prst="rect">
            <a:avLst/>
          </a:prstGeom>
          <a:noFill/>
          <a:ln>
            <a:noFill/>
          </a:ln>
        </p:spPr>
      </p:pic>
      <p:sp>
        <p:nvSpPr>
          <p:cNvPr id="998" name="Google Shape;998;p22"/>
          <p:cNvSpPr txBox="1"/>
          <p:nvPr/>
        </p:nvSpPr>
        <p:spPr>
          <a:xfrm>
            <a:off x="2372139" y="6221426"/>
            <a:ext cx="5334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none">
                <a:solidFill>
                  <a:schemeClr val="dk1"/>
                </a:solidFill>
                <a:latin typeface="Calibri"/>
                <a:ea typeface="Calibri"/>
                <a:cs typeface="Calibri"/>
                <a:sym typeface="Calibri"/>
              </a:rPr>
              <a:t>Knapsack size = 60</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23"/>
          <p:cNvSpPr txBox="1"/>
          <p:nvPr>
            <p:ph idx="4294967295" type="title"/>
          </p:nvPr>
        </p:nvSpPr>
        <p:spPr>
          <a:xfrm>
            <a:off x="123825" y="341106"/>
            <a:ext cx="9020175"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0-1 Knapsack problem: a picture</a:t>
            </a:r>
            <a:endParaRPr/>
          </a:p>
        </p:txBody>
      </p:sp>
      <p:grpSp>
        <p:nvGrpSpPr>
          <p:cNvPr id="1004" name="Google Shape;1004;p23"/>
          <p:cNvGrpSpPr/>
          <p:nvPr/>
        </p:nvGrpSpPr>
        <p:grpSpPr>
          <a:xfrm>
            <a:off x="1676400" y="4114800"/>
            <a:ext cx="1371600" cy="2133600"/>
            <a:chOff x="1008" y="1824"/>
            <a:chExt cx="864" cy="1344"/>
          </a:xfrm>
        </p:grpSpPr>
        <p:cxnSp>
          <p:nvCxnSpPr>
            <p:cNvPr id="1005" name="Google Shape;1005;p23"/>
            <p:cNvCxnSpPr/>
            <p:nvPr/>
          </p:nvCxnSpPr>
          <p:spPr>
            <a:xfrm>
              <a:off x="1008" y="1824"/>
              <a:ext cx="0" cy="1344"/>
            </a:xfrm>
            <a:prstGeom prst="straightConnector1">
              <a:avLst/>
            </a:prstGeom>
            <a:noFill/>
            <a:ln cap="flat" cmpd="sng" w="9525">
              <a:solidFill>
                <a:schemeClr val="dk1"/>
              </a:solidFill>
              <a:prstDash val="solid"/>
              <a:round/>
              <a:headEnd len="med" w="med" type="none"/>
              <a:tailEnd len="med" w="med" type="none"/>
            </a:ln>
          </p:spPr>
        </p:cxnSp>
        <p:cxnSp>
          <p:nvCxnSpPr>
            <p:cNvPr id="1006" name="Google Shape;1006;p23"/>
            <p:cNvCxnSpPr/>
            <p:nvPr/>
          </p:nvCxnSpPr>
          <p:spPr>
            <a:xfrm>
              <a:off x="1008" y="3168"/>
              <a:ext cx="864" cy="0"/>
            </a:xfrm>
            <a:prstGeom prst="straightConnector1">
              <a:avLst/>
            </a:prstGeom>
            <a:noFill/>
            <a:ln cap="flat" cmpd="sng" w="9525">
              <a:solidFill>
                <a:schemeClr val="dk1"/>
              </a:solidFill>
              <a:prstDash val="solid"/>
              <a:round/>
              <a:headEnd len="med" w="med" type="none"/>
              <a:tailEnd len="med" w="med" type="none"/>
            </a:ln>
          </p:spPr>
        </p:cxnSp>
        <p:cxnSp>
          <p:nvCxnSpPr>
            <p:cNvPr id="1007" name="Google Shape;1007;p23"/>
            <p:cNvCxnSpPr/>
            <p:nvPr/>
          </p:nvCxnSpPr>
          <p:spPr>
            <a:xfrm rot="10800000">
              <a:off x="1872" y="1824"/>
              <a:ext cx="0" cy="1344"/>
            </a:xfrm>
            <a:prstGeom prst="straightConnector1">
              <a:avLst/>
            </a:prstGeom>
            <a:noFill/>
            <a:ln cap="flat" cmpd="sng" w="9525">
              <a:solidFill>
                <a:schemeClr val="dk1"/>
              </a:solidFill>
              <a:prstDash val="solid"/>
              <a:round/>
              <a:headEnd len="med" w="med" type="none"/>
              <a:tailEnd len="med" w="med" type="none"/>
            </a:ln>
          </p:spPr>
        </p:cxnSp>
        <p:sp>
          <p:nvSpPr>
            <p:cNvPr id="1008" name="Google Shape;1008;p23"/>
            <p:cNvSpPr txBox="1"/>
            <p:nvPr/>
          </p:nvSpPr>
          <p:spPr>
            <a:xfrm>
              <a:off x="1046" y="2106"/>
              <a:ext cx="789"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W = 20</a:t>
              </a:r>
              <a:endParaRPr sz="1800">
                <a:solidFill>
                  <a:schemeClr val="dk1"/>
                </a:solidFill>
                <a:latin typeface="Calibri"/>
                <a:ea typeface="Calibri"/>
                <a:cs typeface="Calibri"/>
                <a:sym typeface="Calibri"/>
              </a:endParaRPr>
            </a:p>
          </p:txBody>
        </p:sp>
      </p:grpSp>
      <p:sp>
        <p:nvSpPr>
          <p:cNvPr id="1009" name="Google Shape;1009;p23"/>
          <p:cNvSpPr/>
          <p:nvPr/>
        </p:nvSpPr>
        <p:spPr>
          <a:xfrm>
            <a:off x="4267200" y="5029200"/>
            <a:ext cx="838200" cy="12192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0" name="Google Shape;1010;p23"/>
          <p:cNvSpPr/>
          <p:nvPr/>
        </p:nvSpPr>
        <p:spPr>
          <a:xfrm>
            <a:off x="4267200" y="4191000"/>
            <a:ext cx="838200" cy="6858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1" name="Google Shape;1011;p23"/>
          <p:cNvSpPr/>
          <p:nvPr/>
        </p:nvSpPr>
        <p:spPr>
          <a:xfrm>
            <a:off x="4267200" y="3657600"/>
            <a:ext cx="8382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2" name="Google Shape;1012;p23"/>
          <p:cNvSpPr/>
          <p:nvPr/>
        </p:nvSpPr>
        <p:spPr>
          <a:xfrm>
            <a:off x="4267200" y="2743200"/>
            <a:ext cx="838200" cy="228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3" name="Google Shape;1013;p23"/>
          <p:cNvSpPr txBox="1"/>
          <p:nvPr/>
        </p:nvSpPr>
        <p:spPr>
          <a:xfrm>
            <a:off x="5715000" y="1752600"/>
            <a:ext cx="55245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w</a:t>
            </a:r>
            <a:r>
              <a:rPr baseline="-25000" lang="en-US" sz="3200">
                <a:solidFill>
                  <a:schemeClr val="dk1"/>
                </a:solidFill>
                <a:latin typeface="Calibri"/>
                <a:ea typeface="Calibri"/>
                <a:cs typeface="Calibri"/>
                <a:sym typeface="Calibri"/>
              </a:rPr>
              <a:t>i</a:t>
            </a:r>
            <a:endParaRPr sz="1800">
              <a:solidFill>
                <a:schemeClr val="dk1"/>
              </a:solidFill>
              <a:latin typeface="Calibri"/>
              <a:ea typeface="Calibri"/>
              <a:cs typeface="Calibri"/>
              <a:sym typeface="Calibri"/>
            </a:endParaRPr>
          </a:p>
        </p:txBody>
      </p:sp>
      <p:sp>
        <p:nvSpPr>
          <p:cNvPr id="1014" name="Google Shape;1014;p23"/>
          <p:cNvSpPr txBox="1"/>
          <p:nvPr/>
        </p:nvSpPr>
        <p:spPr>
          <a:xfrm>
            <a:off x="7315200" y="1727200"/>
            <a:ext cx="55245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b</a:t>
            </a:r>
            <a:r>
              <a:rPr baseline="-25000" lang="en-US" sz="3200">
                <a:solidFill>
                  <a:schemeClr val="dk1"/>
                </a:solidFill>
                <a:latin typeface="Calibri"/>
                <a:ea typeface="Calibri"/>
                <a:cs typeface="Calibri"/>
                <a:sym typeface="Calibri"/>
              </a:rPr>
              <a:t>i</a:t>
            </a:r>
            <a:endParaRPr sz="1800">
              <a:solidFill>
                <a:schemeClr val="dk1"/>
              </a:solidFill>
              <a:latin typeface="Calibri"/>
              <a:ea typeface="Calibri"/>
              <a:cs typeface="Calibri"/>
              <a:sym typeface="Calibri"/>
            </a:endParaRPr>
          </a:p>
        </p:txBody>
      </p:sp>
      <p:sp>
        <p:nvSpPr>
          <p:cNvPr id="1015" name="Google Shape;1015;p23"/>
          <p:cNvSpPr/>
          <p:nvPr/>
        </p:nvSpPr>
        <p:spPr>
          <a:xfrm>
            <a:off x="4267200" y="3124200"/>
            <a:ext cx="8382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6" name="Google Shape;1016;p23"/>
          <p:cNvSpPr txBox="1"/>
          <p:nvPr/>
        </p:nvSpPr>
        <p:spPr>
          <a:xfrm>
            <a:off x="7299325" y="5527675"/>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10</a:t>
            </a:r>
            <a:endParaRPr/>
          </a:p>
        </p:txBody>
      </p:sp>
      <p:sp>
        <p:nvSpPr>
          <p:cNvPr id="1017" name="Google Shape;1017;p23"/>
          <p:cNvSpPr txBox="1"/>
          <p:nvPr/>
        </p:nvSpPr>
        <p:spPr>
          <a:xfrm>
            <a:off x="5867400" y="55626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9</a:t>
            </a:r>
            <a:endParaRPr/>
          </a:p>
        </p:txBody>
      </p:sp>
      <p:sp>
        <p:nvSpPr>
          <p:cNvPr id="1018" name="Google Shape;1018;p23"/>
          <p:cNvSpPr txBox="1"/>
          <p:nvPr/>
        </p:nvSpPr>
        <p:spPr>
          <a:xfrm>
            <a:off x="7315200" y="42672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8</a:t>
            </a:r>
            <a:endParaRPr/>
          </a:p>
        </p:txBody>
      </p:sp>
      <p:sp>
        <p:nvSpPr>
          <p:cNvPr id="1019" name="Google Shape;1019;p23"/>
          <p:cNvSpPr txBox="1"/>
          <p:nvPr/>
        </p:nvSpPr>
        <p:spPr>
          <a:xfrm>
            <a:off x="5867400" y="43434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5</a:t>
            </a:r>
            <a:endParaRPr/>
          </a:p>
        </p:txBody>
      </p:sp>
      <p:sp>
        <p:nvSpPr>
          <p:cNvPr id="1020" name="Google Shape;1020;p23"/>
          <p:cNvSpPr txBox="1"/>
          <p:nvPr/>
        </p:nvSpPr>
        <p:spPr>
          <a:xfrm>
            <a:off x="7315200" y="35814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5</a:t>
            </a:r>
            <a:endParaRPr/>
          </a:p>
        </p:txBody>
      </p:sp>
      <p:sp>
        <p:nvSpPr>
          <p:cNvPr id="1021" name="Google Shape;1021;p23"/>
          <p:cNvSpPr txBox="1"/>
          <p:nvPr/>
        </p:nvSpPr>
        <p:spPr>
          <a:xfrm>
            <a:off x="5867400" y="36576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a:t>
            </a:r>
            <a:endParaRPr/>
          </a:p>
        </p:txBody>
      </p:sp>
      <p:sp>
        <p:nvSpPr>
          <p:cNvPr id="1022" name="Google Shape;1022;p23"/>
          <p:cNvSpPr txBox="1"/>
          <p:nvPr/>
        </p:nvSpPr>
        <p:spPr>
          <a:xfrm>
            <a:off x="7315200" y="30480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a:t>
            </a:r>
            <a:endParaRPr/>
          </a:p>
        </p:txBody>
      </p:sp>
      <p:sp>
        <p:nvSpPr>
          <p:cNvPr id="1023" name="Google Shape;1023;p23"/>
          <p:cNvSpPr txBox="1"/>
          <p:nvPr/>
        </p:nvSpPr>
        <p:spPr>
          <a:xfrm>
            <a:off x="5867400" y="31242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a:t>
            </a:r>
            <a:endParaRPr/>
          </a:p>
        </p:txBody>
      </p:sp>
      <p:sp>
        <p:nvSpPr>
          <p:cNvPr id="1024" name="Google Shape;1024;p23"/>
          <p:cNvSpPr txBox="1"/>
          <p:nvPr/>
        </p:nvSpPr>
        <p:spPr>
          <a:xfrm>
            <a:off x="7315200" y="25146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a:t>
            </a:r>
            <a:endParaRPr/>
          </a:p>
        </p:txBody>
      </p:sp>
      <p:sp>
        <p:nvSpPr>
          <p:cNvPr id="1025" name="Google Shape;1025;p23"/>
          <p:cNvSpPr txBox="1"/>
          <p:nvPr/>
        </p:nvSpPr>
        <p:spPr>
          <a:xfrm>
            <a:off x="5867400" y="26670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a:t>
            </a:r>
            <a:endParaRPr/>
          </a:p>
        </p:txBody>
      </p:sp>
      <p:sp>
        <p:nvSpPr>
          <p:cNvPr id="1026" name="Google Shape;1026;p23"/>
          <p:cNvSpPr txBox="1"/>
          <p:nvPr/>
        </p:nvSpPr>
        <p:spPr>
          <a:xfrm>
            <a:off x="5257800" y="1295400"/>
            <a:ext cx="1228725"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Weight</a:t>
            </a:r>
            <a:endParaRPr sz="1800">
              <a:solidFill>
                <a:schemeClr val="dk1"/>
              </a:solidFill>
              <a:latin typeface="Calibri"/>
              <a:ea typeface="Calibri"/>
              <a:cs typeface="Calibri"/>
              <a:sym typeface="Calibri"/>
            </a:endParaRPr>
          </a:p>
        </p:txBody>
      </p:sp>
      <p:sp>
        <p:nvSpPr>
          <p:cNvPr id="1027" name="Google Shape;1027;p23"/>
          <p:cNvSpPr txBox="1"/>
          <p:nvPr/>
        </p:nvSpPr>
        <p:spPr>
          <a:xfrm>
            <a:off x="6934200" y="1295400"/>
            <a:ext cx="2085975"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Benefit value</a:t>
            </a:r>
            <a:endParaRPr sz="1800">
              <a:solidFill>
                <a:schemeClr val="dk1"/>
              </a:solidFill>
              <a:latin typeface="Calibri"/>
              <a:ea typeface="Calibri"/>
              <a:cs typeface="Calibri"/>
              <a:sym typeface="Calibri"/>
            </a:endParaRPr>
          </a:p>
        </p:txBody>
      </p:sp>
      <p:sp>
        <p:nvSpPr>
          <p:cNvPr id="1028" name="Google Shape;1028;p23"/>
          <p:cNvSpPr txBox="1"/>
          <p:nvPr/>
        </p:nvSpPr>
        <p:spPr>
          <a:xfrm>
            <a:off x="914400" y="3048000"/>
            <a:ext cx="3146425" cy="9461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This is a knapsack</a:t>
            </a:r>
            <a:endParaRPr/>
          </a:p>
          <a:p>
            <a:pPr indent="0" lvl="0" marL="0" marR="0" rtl="0" algn="l">
              <a:spcBef>
                <a:spcPts val="0"/>
              </a:spcBef>
              <a:spcAft>
                <a:spcPts val="0"/>
              </a:spcAft>
              <a:buNone/>
            </a:pPr>
            <a:r>
              <a:rPr lang="en-US" sz="2800">
                <a:solidFill>
                  <a:schemeClr val="dk1"/>
                </a:solidFill>
                <a:latin typeface="Calibri"/>
                <a:ea typeface="Calibri"/>
                <a:cs typeface="Calibri"/>
                <a:sym typeface="Calibri"/>
              </a:rPr>
              <a:t>Max weight: W = 20</a:t>
            </a:r>
            <a:endParaRPr sz="1800">
              <a:solidFill>
                <a:schemeClr val="dk1"/>
              </a:solidFill>
              <a:latin typeface="Calibri"/>
              <a:ea typeface="Calibri"/>
              <a:cs typeface="Calibri"/>
              <a:sym typeface="Calibri"/>
            </a:endParaRPr>
          </a:p>
        </p:txBody>
      </p:sp>
      <p:sp>
        <p:nvSpPr>
          <p:cNvPr id="1029" name="Google Shape;1029;p23"/>
          <p:cNvSpPr txBox="1"/>
          <p:nvPr/>
        </p:nvSpPr>
        <p:spPr>
          <a:xfrm>
            <a:off x="4191000" y="1981200"/>
            <a:ext cx="973138" cy="519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Items</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24"/>
          <p:cNvSpPr txBox="1"/>
          <p:nvPr>
            <p:ph idx="4294967295" type="title"/>
          </p:nvPr>
        </p:nvSpPr>
        <p:spPr>
          <a:xfrm>
            <a:off x="99391" y="365195"/>
            <a:ext cx="8945217"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The Knapsack Problem</a:t>
            </a:r>
            <a:endParaRPr/>
          </a:p>
        </p:txBody>
      </p:sp>
      <p:sp>
        <p:nvSpPr>
          <p:cNvPr id="1035" name="Google Shape;1035;p24"/>
          <p:cNvSpPr txBox="1"/>
          <p:nvPr>
            <p:ph idx="4294967295" type="body"/>
          </p:nvPr>
        </p:nvSpPr>
        <p:spPr>
          <a:xfrm>
            <a:off x="0" y="2133600"/>
            <a:ext cx="8574088" cy="3992563"/>
          </a:xfrm>
          <a:prstGeom prst="rect">
            <a:avLst/>
          </a:prstGeom>
          <a:noFill/>
          <a:ln>
            <a:noFill/>
          </a:ln>
        </p:spPr>
        <p:txBody>
          <a:bodyPr anchorCtr="0" anchor="t" bIns="45700" lIns="91425" spcFirstLastPara="1" rIns="91425" wrap="square" tIns="45700">
            <a:normAutofit lnSpcReduction="10000"/>
          </a:bodyPr>
          <a:lstStyle/>
          <a:p>
            <a:pPr indent="-454025" lvl="0" marL="454025" rtl="0" algn="l">
              <a:spcBef>
                <a:spcPts val="0"/>
              </a:spcBef>
              <a:spcAft>
                <a:spcPts val="0"/>
              </a:spcAft>
              <a:buSzPts val="2160"/>
              <a:buChar char="🡽"/>
            </a:pPr>
            <a:r>
              <a:rPr lang="en-US"/>
              <a:t>More formally, the </a:t>
            </a:r>
            <a:r>
              <a:rPr i="1" lang="en-US">
                <a:solidFill>
                  <a:schemeClr val="dk2"/>
                </a:solidFill>
              </a:rPr>
              <a:t>0-1 knapsack problem</a:t>
            </a:r>
            <a:r>
              <a:rPr lang="en-US"/>
              <a:t>:</a:t>
            </a:r>
            <a:endParaRPr/>
          </a:p>
          <a:p>
            <a:pPr indent="-457200" lvl="1" marL="914400" rtl="0" algn="l">
              <a:spcBef>
                <a:spcPts val="600"/>
              </a:spcBef>
              <a:spcAft>
                <a:spcPts val="0"/>
              </a:spcAft>
              <a:buSzPts val="1980"/>
              <a:buChar char="🡽"/>
            </a:pPr>
            <a:r>
              <a:rPr lang="en-US"/>
              <a:t>The thief must choose among </a:t>
            </a:r>
            <a:r>
              <a:rPr i="1" lang="en-US"/>
              <a:t>n</a:t>
            </a:r>
            <a:r>
              <a:rPr lang="en-US"/>
              <a:t> items, where the </a:t>
            </a:r>
            <a:r>
              <a:rPr i="1" lang="en-US"/>
              <a:t>i</a:t>
            </a:r>
            <a:r>
              <a:rPr lang="en-US"/>
              <a:t>th item worth </a:t>
            </a:r>
            <a:r>
              <a:rPr i="1" lang="en-US"/>
              <a:t>v</a:t>
            </a:r>
            <a:r>
              <a:rPr baseline="-25000" i="1" lang="en-US"/>
              <a:t>i</a:t>
            </a:r>
            <a:r>
              <a:rPr i="1" lang="en-US"/>
              <a:t> </a:t>
            </a:r>
            <a:r>
              <a:rPr lang="en-US"/>
              <a:t>dollars and weighs </a:t>
            </a:r>
            <a:r>
              <a:rPr i="1" lang="en-US"/>
              <a:t>w</a:t>
            </a:r>
            <a:r>
              <a:rPr baseline="-25000" i="1" lang="en-US"/>
              <a:t>i</a:t>
            </a:r>
            <a:r>
              <a:rPr lang="en-US"/>
              <a:t> pounds</a:t>
            </a:r>
            <a:endParaRPr/>
          </a:p>
          <a:p>
            <a:pPr indent="-457200" lvl="1" marL="914400" rtl="0" algn="l">
              <a:spcBef>
                <a:spcPts val="600"/>
              </a:spcBef>
              <a:spcAft>
                <a:spcPts val="0"/>
              </a:spcAft>
              <a:buSzPts val="1980"/>
              <a:buChar char="🡽"/>
            </a:pPr>
            <a:r>
              <a:rPr lang="en-US"/>
              <a:t>Carrying at most </a:t>
            </a:r>
            <a:r>
              <a:rPr i="1" lang="en-US"/>
              <a:t>W</a:t>
            </a:r>
            <a:r>
              <a:rPr lang="en-US"/>
              <a:t> pounds, maximize value</a:t>
            </a:r>
            <a:endParaRPr/>
          </a:p>
          <a:p>
            <a:pPr indent="-346075" lvl="2" marL="1260475" rtl="0" algn="l">
              <a:spcBef>
                <a:spcPts val="600"/>
              </a:spcBef>
              <a:spcAft>
                <a:spcPts val="0"/>
              </a:spcAft>
              <a:buSzPts val="1800"/>
              <a:buChar char="🡽"/>
            </a:pPr>
            <a:r>
              <a:rPr lang="en-US"/>
              <a:t>Note: assume </a:t>
            </a:r>
            <a:r>
              <a:rPr i="1" lang="en-US"/>
              <a:t>v</a:t>
            </a:r>
            <a:r>
              <a:rPr baseline="-25000" i="1" lang="en-US"/>
              <a:t>i</a:t>
            </a:r>
            <a:r>
              <a:rPr i="1" lang="en-US"/>
              <a:t>, w</a:t>
            </a:r>
            <a:r>
              <a:rPr baseline="-25000" i="1" lang="en-US"/>
              <a:t>i</a:t>
            </a:r>
            <a:r>
              <a:rPr i="1" lang="en-US"/>
              <a:t>, </a:t>
            </a:r>
            <a:r>
              <a:rPr lang="en-US"/>
              <a:t>and </a:t>
            </a:r>
            <a:r>
              <a:rPr i="1" lang="en-US"/>
              <a:t>W </a:t>
            </a:r>
            <a:r>
              <a:rPr lang="en-US"/>
              <a:t>are all integers</a:t>
            </a:r>
            <a:endParaRPr/>
          </a:p>
          <a:p>
            <a:pPr indent="-346075" lvl="2" marL="1260475" rtl="0" algn="l">
              <a:spcBef>
                <a:spcPts val="600"/>
              </a:spcBef>
              <a:spcAft>
                <a:spcPts val="0"/>
              </a:spcAft>
              <a:buSzPts val="1800"/>
              <a:buChar char="🡽"/>
            </a:pPr>
            <a:r>
              <a:rPr lang="en-US"/>
              <a:t>“0-1” b/c each item must be taken or left in entirety</a:t>
            </a:r>
            <a:endParaRPr/>
          </a:p>
          <a:p>
            <a:pPr indent="-454025" lvl="0" marL="454025" rtl="0" algn="l">
              <a:spcBef>
                <a:spcPts val="2000"/>
              </a:spcBef>
              <a:spcAft>
                <a:spcPts val="0"/>
              </a:spcAft>
              <a:buSzPts val="2160"/>
              <a:buChar char="🡽"/>
            </a:pPr>
            <a:r>
              <a:rPr lang="en-US"/>
              <a:t>A variation, the </a:t>
            </a:r>
            <a:r>
              <a:rPr i="1" lang="en-US">
                <a:solidFill>
                  <a:schemeClr val="dk2"/>
                </a:solidFill>
              </a:rPr>
              <a:t>fractional knapsack problem</a:t>
            </a:r>
            <a:r>
              <a:rPr lang="en-US"/>
              <a:t>:</a:t>
            </a:r>
            <a:endParaRPr/>
          </a:p>
          <a:p>
            <a:pPr indent="-457200" lvl="1" marL="914400" rtl="0" algn="l">
              <a:spcBef>
                <a:spcPts val="600"/>
              </a:spcBef>
              <a:spcAft>
                <a:spcPts val="0"/>
              </a:spcAft>
              <a:buSzPts val="1980"/>
              <a:buChar char="🡽"/>
            </a:pPr>
            <a:r>
              <a:rPr lang="en-US"/>
              <a:t>Thief can take fractions of items</a:t>
            </a:r>
            <a:endParaRPr/>
          </a:p>
          <a:p>
            <a:pPr indent="-457200" lvl="1" marL="914400" rtl="0" algn="l">
              <a:spcBef>
                <a:spcPts val="600"/>
              </a:spcBef>
              <a:spcAft>
                <a:spcPts val="0"/>
              </a:spcAft>
              <a:buSzPts val="1980"/>
              <a:buChar char="🡽"/>
            </a:pPr>
            <a:r>
              <a:rPr lang="en-US"/>
              <a:t>Think of items in 0-1 problem as gold ingots, in fractional problem as buckets of gold dust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25"/>
          <p:cNvSpPr txBox="1"/>
          <p:nvPr>
            <p:ph idx="4294967295" type="title"/>
          </p:nvPr>
        </p:nvSpPr>
        <p:spPr>
          <a:xfrm>
            <a:off x="198783" y="285957"/>
            <a:ext cx="8640417"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0-1 Knapsack problem</a:t>
            </a:r>
            <a:endParaRPr/>
          </a:p>
        </p:txBody>
      </p:sp>
      <p:sp>
        <p:nvSpPr>
          <p:cNvPr id="1041" name="Google Shape;1041;p25"/>
          <p:cNvSpPr txBox="1"/>
          <p:nvPr>
            <p:ph idx="4294967295" type="body"/>
          </p:nvPr>
        </p:nvSpPr>
        <p:spPr>
          <a:xfrm>
            <a:off x="1477963" y="1371600"/>
            <a:ext cx="7666037" cy="685800"/>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Problem, in other words, is to find</a:t>
            </a:r>
            <a:endParaRPr/>
          </a:p>
        </p:txBody>
      </p:sp>
      <p:pic>
        <p:nvPicPr>
          <p:cNvPr id="1042" name="Google Shape;1042;p25"/>
          <p:cNvPicPr preferRelativeResize="0"/>
          <p:nvPr/>
        </p:nvPicPr>
        <p:blipFill rotWithShape="1">
          <a:blip r:embed="rId3">
            <a:alphaModFix/>
          </a:blip>
          <a:srcRect b="0" l="0" r="0" t="0"/>
          <a:stretch/>
        </p:blipFill>
        <p:spPr>
          <a:xfrm>
            <a:off x="1268413" y="1981200"/>
            <a:ext cx="6226175" cy="1128713"/>
          </a:xfrm>
          <a:prstGeom prst="rect">
            <a:avLst/>
          </a:prstGeom>
          <a:noFill/>
          <a:ln>
            <a:noFill/>
          </a:ln>
        </p:spPr>
      </p:pic>
      <p:sp>
        <p:nvSpPr>
          <p:cNvPr id="1043" name="Google Shape;1043;p25"/>
          <p:cNvSpPr/>
          <p:nvPr/>
        </p:nvSpPr>
        <p:spPr>
          <a:xfrm>
            <a:off x="1173163" y="3200400"/>
            <a:ext cx="7666037" cy="2971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accent1"/>
              </a:buClr>
              <a:buSzPts val="2240"/>
              <a:buFont typeface="Arial"/>
              <a:buChar char="●"/>
            </a:pPr>
            <a:r>
              <a:rPr lang="en-US" sz="3200">
                <a:solidFill>
                  <a:schemeClr val="dk1"/>
                </a:solidFill>
                <a:latin typeface="Calibri"/>
                <a:ea typeface="Calibri"/>
                <a:cs typeface="Calibri"/>
                <a:sym typeface="Calibri"/>
              </a:rPr>
              <a:t>The problem is called a </a:t>
            </a:r>
            <a:r>
              <a:rPr i="1" lang="en-US" sz="3200">
                <a:solidFill>
                  <a:schemeClr val="dk1"/>
                </a:solidFill>
                <a:latin typeface="Calibri"/>
                <a:ea typeface="Calibri"/>
                <a:cs typeface="Calibri"/>
                <a:sym typeface="Calibri"/>
              </a:rPr>
              <a:t>“0-1”</a:t>
            </a:r>
            <a:r>
              <a:rPr lang="en-US" sz="3200">
                <a:solidFill>
                  <a:schemeClr val="dk1"/>
                </a:solidFill>
                <a:latin typeface="Calibri"/>
                <a:ea typeface="Calibri"/>
                <a:cs typeface="Calibri"/>
                <a:sym typeface="Calibri"/>
              </a:rPr>
              <a:t> problem, because each item must be entirely accepted or rejected.</a:t>
            </a:r>
            <a:endParaRPr/>
          </a:p>
          <a:p>
            <a:pPr indent="-342900" lvl="0" marL="342900" marR="0" rtl="0" algn="l">
              <a:spcBef>
                <a:spcPts val="640"/>
              </a:spcBef>
              <a:spcAft>
                <a:spcPts val="0"/>
              </a:spcAft>
              <a:buClr>
                <a:schemeClr val="accent1"/>
              </a:buClr>
              <a:buSzPts val="2240"/>
              <a:buFont typeface="Arial"/>
              <a:buChar char="●"/>
            </a:pPr>
            <a:r>
              <a:rPr lang="en-US" sz="3200">
                <a:solidFill>
                  <a:schemeClr val="dk1"/>
                </a:solidFill>
                <a:latin typeface="Calibri"/>
                <a:ea typeface="Calibri"/>
                <a:cs typeface="Calibri"/>
                <a:sym typeface="Calibri"/>
              </a:rPr>
              <a:t>Just another version of this problem is the “</a:t>
            </a:r>
            <a:r>
              <a:rPr i="1" lang="en-US" sz="3200">
                <a:solidFill>
                  <a:schemeClr val="dk1"/>
                </a:solidFill>
                <a:latin typeface="Calibri"/>
                <a:ea typeface="Calibri"/>
                <a:cs typeface="Calibri"/>
                <a:sym typeface="Calibri"/>
              </a:rPr>
              <a:t>Fractional Knapsack Problem</a:t>
            </a:r>
            <a:r>
              <a:rPr lang="en-US" sz="3200">
                <a:solidFill>
                  <a:schemeClr val="dk1"/>
                </a:solidFill>
                <a:latin typeface="Calibri"/>
                <a:ea typeface="Calibri"/>
                <a:cs typeface="Calibri"/>
                <a:sym typeface="Calibri"/>
              </a:rPr>
              <a:t>”, where we can take fractions of items. </a:t>
            </a:r>
            <a:endParaRPr sz="40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26"/>
          <p:cNvSpPr txBox="1"/>
          <p:nvPr>
            <p:ph idx="4294967295" type="title"/>
          </p:nvPr>
        </p:nvSpPr>
        <p:spPr>
          <a:xfrm>
            <a:off x="0" y="228600"/>
            <a:ext cx="9144000" cy="1295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orbel"/>
              <a:buNone/>
            </a:pPr>
            <a:r>
              <a:rPr b="1" lang="en-US" sz="2400">
                <a:solidFill>
                  <a:schemeClr val="dk1"/>
                </a:solidFill>
              </a:rPr>
              <a:t>0-1 Knapsack problem: brute-force approach</a:t>
            </a:r>
            <a:endParaRPr/>
          </a:p>
        </p:txBody>
      </p:sp>
      <p:sp>
        <p:nvSpPr>
          <p:cNvPr id="1049" name="Google Shape;1049;p26"/>
          <p:cNvSpPr txBox="1"/>
          <p:nvPr>
            <p:ph idx="4294967295" type="body"/>
          </p:nvPr>
        </p:nvSpPr>
        <p:spPr>
          <a:xfrm>
            <a:off x="1371600" y="1752600"/>
            <a:ext cx="7772400" cy="4343400"/>
          </a:xfrm>
          <a:prstGeom prst="rect">
            <a:avLst/>
          </a:prstGeom>
          <a:noFill/>
          <a:ln>
            <a:noFill/>
          </a:ln>
        </p:spPr>
        <p:txBody>
          <a:bodyPr anchorCtr="0" anchor="t" bIns="45700" lIns="91425" spcFirstLastPara="1" rIns="91425" wrap="square" tIns="45700">
            <a:normAutofit/>
          </a:bodyPr>
          <a:lstStyle/>
          <a:p>
            <a:pPr indent="-454025" lvl="0" marL="454025" rtl="0" algn="ctr">
              <a:spcBef>
                <a:spcPts val="0"/>
              </a:spcBef>
              <a:spcAft>
                <a:spcPts val="0"/>
              </a:spcAft>
              <a:buSzPts val="2160"/>
              <a:buFont typeface="Arial"/>
              <a:buNone/>
            </a:pPr>
            <a:r>
              <a:rPr lang="en-US"/>
              <a:t>Let’s first solve this problem with a straightforward algorithm</a:t>
            </a:r>
            <a:endParaRPr/>
          </a:p>
          <a:p>
            <a:pPr indent="-454025" lvl="0" marL="454025" rtl="0" algn="l">
              <a:spcBef>
                <a:spcPts val="2000"/>
              </a:spcBef>
              <a:spcAft>
                <a:spcPts val="0"/>
              </a:spcAft>
              <a:buSzPts val="2160"/>
              <a:buChar char="🡽"/>
            </a:pPr>
            <a:r>
              <a:rPr lang="en-US"/>
              <a:t>Since there are </a:t>
            </a:r>
            <a:r>
              <a:rPr i="1" lang="en-US"/>
              <a:t>n</a:t>
            </a:r>
            <a:r>
              <a:rPr lang="en-US"/>
              <a:t> items, there are </a:t>
            </a:r>
            <a:r>
              <a:rPr i="1" lang="en-US"/>
              <a:t>2</a:t>
            </a:r>
            <a:r>
              <a:rPr baseline="30000" i="1" lang="en-US"/>
              <a:t>n</a:t>
            </a:r>
            <a:r>
              <a:rPr lang="en-US"/>
              <a:t> possible combinations of items.</a:t>
            </a:r>
            <a:endParaRPr/>
          </a:p>
          <a:p>
            <a:pPr indent="-454025" lvl="0" marL="454025" rtl="0" algn="l">
              <a:spcBef>
                <a:spcPts val="2000"/>
              </a:spcBef>
              <a:spcAft>
                <a:spcPts val="0"/>
              </a:spcAft>
              <a:buSzPts val="2160"/>
              <a:buChar char="🡽"/>
            </a:pPr>
            <a:r>
              <a:rPr lang="en-US"/>
              <a:t>We go through all combinations and find the one with the most total value and with total weight less or equal to </a:t>
            </a:r>
            <a:r>
              <a:rPr i="1" lang="en-US"/>
              <a:t>W</a:t>
            </a:r>
            <a:endParaRPr/>
          </a:p>
          <a:p>
            <a:pPr indent="-454025" lvl="0" marL="454025" rtl="0" algn="l">
              <a:spcBef>
                <a:spcPts val="2000"/>
              </a:spcBef>
              <a:spcAft>
                <a:spcPts val="0"/>
              </a:spcAft>
              <a:buSzPts val="2160"/>
              <a:buChar char="🡽"/>
            </a:pPr>
            <a:r>
              <a:rPr lang="en-US"/>
              <a:t>Running time will be </a:t>
            </a:r>
            <a:r>
              <a:rPr i="1" lang="en-US"/>
              <a:t>O(2</a:t>
            </a:r>
            <a:r>
              <a:rPr baseline="30000" i="1" lang="en-US"/>
              <a:t>n</a:t>
            </a:r>
            <a:r>
              <a:rPr i="1" lang="en-US"/>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27"/>
          <p:cNvSpPr txBox="1"/>
          <p:nvPr>
            <p:ph idx="4294967295" type="title"/>
          </p:nvPr>
        </p:nvSpPr>
        <p:spPr>
          <a:xfrm>
            <a:off x="0" y="152400"/>
            <a:ext cx="9144000" cy="1295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orbel"/>
              <a:buNone/>
            </a:pPr>
            <a:r>
              <a:rPr b="1" lang="en-US" sz="2400">
                <a:solidFill>
                  <a:schemeClr val="dk1"/>
                </a:solidFill>
              </a:rPr>
              <a:t>0-1 Knapsack problem: brute-force approach</a:t>
            </a:r>
            <a:endParaRPr/>
          </a:p>
        </p:txBody>
      </p:sp>
      <p:sp>
        <p:nvSpPr>
          <p:cNvPr id="1055" name="Google Shape;1055;p27"/>
          <p:cNvSpPr txBox="1"/>
          <p:nvPr>
            <p:ph idx="4294967295" type="body"/>
          </p:nvPr>
        </p:nvSpPr>
        <p:spPr>
          <a:xfrm>
            <a:off x="1371600" y="1447800"/>
            <a:ext cx="7772400" cy="2743200"/>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Can we do better? </a:t>
            </a:r>
            <a:endParaRPr/>
          </a:p>
          <a:p>
            <a:pPr indent="-454025" lvl="0" marL="454025" rtl="0" algn="l">
              <a:spcBef>
                <a:spcPts val="2000"/>
              </a:spcBef>
              <a:spcAft>
                <a:spcPts val="0"/>
              </a:spcAft>
              <a:buSzPts val="2160"/>
              <a:buChar char="🡽"/>
            </a:pPr>
            <a:r>
              <a:rPr lang="en-US"/>
              <a:t>Yes, with an algorithm based on dynamic programming</a:t>
            </a:r>
            <a:endParaRPr/>
          </a:p>
          <a:p>
            <a:pPr indent="-454025" lvl="0" marL="454025" rtl="0" algn="l">
              <a:spcBef>
                <a:spcPts val="2000"/>
              </a:spcBef>
              <a:spcAft>
                <a:spcPts val="0"/>
              </a:spcAft>
              <a:buSzPts val="2160"/>
              <a:buChar char="🡽"/>
            </a:pPr>
            <a:r>
              <a:rPr lang="en-US"/>
              <a:t>We need to carefully identify the subproblems</a:t>
            </a:r>
            <a:endParaRPr/>
          </a:p>
        </p:txBody>
      </p:sp>
      <p:sp>
        <p:nvSpPr>
          <p:cNvPr id="1056" name="Google Shape;1056;p27"/>
          <p:cNvSpPr txBox="1"/>
          <p:nvPr/>
        </p:nvSpPr>
        <p:spPr>
          <a:xfrm>
            <a:off x="1066800" y="4267200"/>
            <a:ext cx="7331075" cy="20415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Let’s try this:</a:t>
            </a:r>
            <a:endParaRPr/>
          </a:p>
          <a:p>
            <a:pPr indent="0" lvl="0" marL="0" marR="0" rtl="0" algn="l">
              <a:spcBef>
                <a:spcPts val="0"/>
              </a:spcBef>
              <a:spcAft>
                <a:spcPts val="0"/>
              </a:spcAft>
              <a:buNone/>
            </a:pPr>
            <a:r>
              <a:rPr lang="en-US" sz="3200">
                <a:solidFill>
                  <a:schemeClr val="accent1"/>
                </a:solidFill>
                <a:latin typeface="Calibri"/>
                <a:ea typeface="Calibri"/>
                <a:cs typeface="Calibri"/>
                <a:sym typeface="Calibri"/>
              </a:rPr>
              <a:t>If items are labeled </a:t>
            </a:r>
            <a:r>
              <a:rPr i="1" lang="en-US" sz="3200">
                <a:solidFill>
                  <a:schemeClr val="accent1"/>
                </a:solidFill>
                <a:latin typeface="Calibri"/>
                <a:ea typeface="Calibri"/>
                <a:cs typeface="Calibri"/>
                <a:sym typeface="Calibri"/>
              </a:rPr>
              <a:t>1..n</a:t>
            </a:r>
            <a:r>
              <a:rPr lang="en-US" sz="3200">
                <a:solidFill>
                  <a:schemeClr val="accent1"/>
                </a:solidFill>
                <a:latin typeface="Calibri"/>
                <a:ea typeface="Calibri"/>
                <a:cs typeface="Calibri"/>
                <a:sym typeface="Calibri"/>
              </a:rPr>
              <a:t>, then a subproblem </a:t>
            </a:r>
            <a:endParaRPr/>
          </a:p>
          <a:p>
            <a:pPr indent="0" lvl="0" marL="0" marR="0" rtl="0" algn="l">
              <a:spcBef>
                <a:spcPts val="0"/>
              </a:spcBef>
              <a:spcAft>
                <a:spcPts val="0"/>
              </a:spcAft>
              <a:buNone/>
            </a:pPr>
            <a:r>
              <a:rPr lang="en-US" sz="3200">
                <a:solidFill>
                  <a:schemeClr val="accent1"/>
                </a:solidFill>
                <a:latin typeface="Calibri"/>
                <a:ea typeface="Calibri"/>
                <a:cs typeface="Calibri"/>
                <a:sym typeface="Calibri"/>
              </a:rPr>
              <a:t>would be to find an optimal solution for </a:t>
            </a:r>
            <a:endParaRPr/>
          </a:p>
          <a:p>
            <a:pPr indent="0" lvl="0" marL="0" marR="0" rtl="0" algn="l">
              <a:spcBef>
                <a:spcPts val="0"/>
              </a:spcBef>
              <a:spcAft>
                <a:spcPts val="0"/>
              </a:spcAft>
              <a:buNone/>
            </a:pPr>
            <a:r>
              <a:rPr i="1" lang="en-US" sz="3200">
                <a:solidFill>
                  <a:schemeClr val="accent1"/>
                </a:solidFill>
                <a:latin typeface="Calibri"/>
                <a:ea typeface="Calibri"/>
                <a:cs typeface="Calibri"/>
                <a:sym typeface="Calibri"/>
              </a:rPr>
              <a:t>S</a:t>
            </a:r>
            <a:r>
              <a:rPr baseline="-25000" i="1" lang="en-US" sz="3200">
                <a:solidFill>
                  <a:schemeClr val="accent1"/>
                </a:solidFill>
                <a:latin typeface="Calibri"/>
                <a:ea typeface="Calibri"/>
                <a:cs typeface="Calibri"/>
                <a:sym typeface="Calibri"/>
              </a:rPr>
              <a:t>k</a:t>
            </a:r>
            <a:r>
              <a:rPr i="1" lang="en-US" sz="3200">
                <a:solidFill>
                  <a:schemeClr val="accent1"/>
                </a:solidFill>
                <a:latin typeface="Calibri"/>
                <a:ea typeface="Calibri"/>
                <a:cs typeface="Calibri"/>
                <a:sym typeface="Calibri"/>
              </a:rPr>
              <a:t> = {items labeled 1, 2, .. k}</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28"/>
          <p:cNvSpPr txBox="1"/>
          <p:nvPr>
            <p:ph idx="4294967295" type="title"/>
          </p:nvPr>
        </p:nvSpPr>
        <p:spPr>
          <a:xfrm>
            <a:off x="198782" y="460514"/>
            <a:ext cx="8521148"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Defining a Subproblem </a:t>
            </a:r>
            <a:endParaRPr/>
          </a:p>
        </p:txBody>
      </p:sp>
      <p:sp>
        <p:nvSpPr>
          <p:cNvPr id="1062" name="Google Shape;1062;p28"/>
          <p:cNvSpPr txBox="1"/>
          <p:nvPr>
            <p:ph idx="4294967295" type="body"/>
          </p:nvPr>
        </p:nvSpPr>
        <p:spPr>
          <a:xfrm>
            <a:off x="424070" y="1626704"/>
            <a:ext cx="8428382" cy="4876800"/>
          </a:xfrm>
          <a:prstGeom prst="rect">
            <a:avLst/>
          </a:prstGeom>
          <a:noFill/>
          <a:ln>
            <a:noFill/>
          </a:ln>
        </p:spPr>
        <p:txBody>
          <a:bodyPr anchorCtr="0" anchor="t" bIns="45700" lIns="91425" spcFirstLastPara="1" rIns="91425" wrap="square" tIns="45700">
            <a:normAutofit/>
          </a:bodyPr>
          <a:lstStyle/>
          <a:p>
            <a:pPr indent="-454025" lvl="0" marL="454025" rtl="0" algn="ctr">
              <a:spcBef>
                <a:spcPts val="0"/>
              </a:spcBef>
              <a:spcAft>
                <a:spcPts val="0"/>
              </a:spcAft>
              <a:buSzPts val="2160"/>
              <a:buFont typeface="Arial"/>
              <a:buNone/>
            </a:pPr>
            <a:r>
              <a:rPr lang="en-US">
                <a:solidFill>
                  <a:schemeClr val="accent1"/>
                </a:solidFill>
              </a:rPr>
              <a:t>If items are labeled </a:t>
            </a:r>
            <a:r>
              <a:rPr i="1" lang="en-US">
                <a:solidFill>
                  <a:schemeClr val="accent1"/>
                </a:solidFill>
              </a:rPr>
              <a:t>1..n</a:t>
            </a:r>
            <a:r>
              <a:rPr lang="en-US">
                <a:solidFill>
                  <a:schemeClr val="accent1"/>
                </a:solidFill>
              </a:rPr>
              <a:t>, then a subproblem would be to find an optimal solution for </a:t>
            </a:r>
            <a:r>
              <a:rPr i="1" lang="en-US">
                <a:solidFill>
                  <a:schemeClr val="accent1"/>
                </a:solidFill>
              </a:rPr>
              <a:t>S</a:t>
            </a:r>
            <a:r>
              <a:rPr baseline="-25000" i="1" lang="en-US">
                <a:solidFill>
                  <a:schemeClr val="accent1"/>
                </a:solidFill>
              </a:rPr>
              <a:t>k</a:t>
            </a:r>
            <a:r>
              <a:rPr i="1" lang="en-US">
                <a:solidFill>
                  <a:schemeClr val="accent1"/>
                </a:solidFill>
              </a:rPr>
              <a:t> = {items labeled 1, 2, .. k}</a:t>
            </a:r>
            <a:endParaRPr/>
          </a:p>
          <a:p>
            <a:pPr indent="-454025" lvl="0" marL="454025" rtl="0" algn="l">
              <a:spcBef>
                <a:spcPts val="2000"/>
              </a:spcBef>
              <a:spcAft>
                <a:spcPts val="0"/>
              </a:spcAft>
              <a:buSzPts val="2160"/>
              <a:buChar char="🡽"/>
            </a:pPr>
            <a:r>
              <a:rPr lang="en-US"/>
              <a:t>This is a valid subproblem definition.</a:t>
            </a:r>
            <a:endParaRPr/>
          </a:p>
          <a:p>
            <a:pPr indent="-454025" lvl="0" marL="454025" rtl="0" algn="l">
              <a:lnSpc>
                <a:spcPct val="110000"/>
              </a:lnSpc>
              <a:spcBef>
                <a:spcPts val="2000"/>
              </a:spcBef>
              <a:spcAft>
                <a:spcPts val="0"/>
              </a:spcAft>
              <a:buSzPts val="2160"/>
              <a:buChar char="🡽"/>
            </a:pPr>
            <a:r>
              <a:rPr lang="en-US"/>
              <a:t>The question is: can we describe the final solution (</a:t>
            </a:r>
            <a:r>
              <a:rPr i="1" lang="en-US">
                <a:solidFill>
                  <a:schemeClr val="accent1"/>
                </a:solidFill>
              </a:rPr>
              <a:t>S</a:t>
            </a:r>
            <a:r>
              <a:rPr baseline="-25000" i="1" lang="en-US">
                <a:solidFill>
                  <a:schemeClr val="accent1"/>
                </a:solidFill>
              </a:rPr>
              <a:t>n</a:t>
            </a:r>
            <a:r>
              <a:rPr i="1" lang="en-US">
                <a:solidFill>
                  <a:schemeClr val="accent1"/>
                </a:solidFill>
              </a:rPr>
              <a:t> </a:t>
            </a:r>
            <a:r>
              <a:rPr lang="en-US"/>
              <a:t>) in terms of subproblems (</a:t>
            </a:r>
            <a:r>
              <a:rPr i="1" lang="en-US">
                <a:solidFill>
                  <a:schemeClr val="accent1"/>
                </a:solidFill>
              </a:rPr>
              <a:t>S</a:t>
            </a:r>
            <a:r>
              <a:rPr baseline="-25000" i="1" lang="en-US">
                <a:solidFill>
                  <a:schemeClr val="accent1"/>
                </a:solidFill>
              </a:rPr>
              <a:t>k</a:t>
            </a:r>
            <a:r>
              <a:rPr lang="en-US"/>
              <a:t>)? </a:t>
            </a:r>
            <a:endParaRPr/>
          </a:p>
          <a:p>
            <a:pPr indent="-454025" lvl="0" marL="454025" rtl="0" algn="l">
              <a:lnSpc>
                <a:spcPct val="110000"/>
              </a:lnSpc>
              <a:spcBef>
                <a:spcPts val="2000"/>
              </a:spcBef>
              <a:spcAft>
                <a:spcPts val="0"/>
              </a:spcAft>
              <a:buSzPts val="2160"/>
              <a:buChar char="🡽"/>
            </a:pPr>
            <a:r>
              <a:rPr lang="en-US"/>
              <a:t>Unfortunately, we </a:t>
            </a:r>
            <a:r>
              <a:rPr lang="en-US" u="sng"/>
              <a:t>can’t</a:t>
            </a:r>
            <a:r>
              <a:rPr lang="en-US"/>
              <a:t> do that. Explanation follows….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29"/>
          <p:cNvSpPr txBox="1"/>
          <p:nvPr>
            <p:ph idx="4294967295" type="title"/>
          </p:nvPr>
        </p:nvSpPr>
        <p:spPr>
          <a:xfrm>
            <a:off x="36305" y="350838"/>
            <a:ext cx="895847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orbel"/>
              <a:buNone/>
            </a:pPr>
            <a:r>
              <a:rPr b="1" lang="en-US" sz="2800">
                <a:solidFill>
                  <a:schemeClr val="dk1"/>
                </a:solidFill>
              </a:rPr>
              <a:t>Defining a Subproblem</a:t>
            </a:r>
            <a:endParaRPr/>
          </a:p>
        </p:txBody>
      </p:sp>
      <p:sp>
        <p:nvSpPr>
          <p:cNvPr id="1068" name="Google Shape;1068;p29"/>
          <p:cNvSpPr txBox="1"/>
          <p:nvPr/>
        </p:nvSpPr>
        <p:spPr>
          <a:xfrm>
            <a:off x="1371600" y="2286000"/>
            <a:ext cx="2724150" cy="15525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Max weight: W = 20</a:t>
            </a:r>
            <a:endParaRPr b="1" sz="1800">
              <a:solidFill>
                <a:schemeClr val="accent2"/>
              </a:solidFill>
              <a:latin typeface="Calibri"/>
              <a:ea typeface="Calibri"/>
              <a:cs typeface="Calibri"/>
              <a:sym typeface="Calibri"/>
            </a:endParaRPr>
          </a:p>
          <a:p>
            <a:pPr indent="0" lvl="0" marL="0" marR="0" rtl="0" algn="l">
              <a:spcBef>
                <a:spcPts val="0"/>
              </a:spcBef>
              <a:spcAft>
                <a:spcPts val="0"/>
              </a:spcAft>
              <a:buNone/>
            </a:pPr>
            <a:r>
              <a:rPr b="1" lang="en-US" sz="1800">
                <a:solidFill>
                  <a:schemeClr val="accent2"/>
                </a:solidFill>
                <a:latin typeface="Calibri"/>
                <a:ea typeface="Calibri"/>
                <a:cs typeface="Calibri"/>
                <a:sym typeface="Calibri"/>
              </a:rPr>
              <a:t>For S</a:t>
            </a:r>
            <a:r>
              <a:rPr b="1" baseline="-25000" lang="en-US" sz="1800">
                <a:solidFill>
                  <a:schemeClr val="accent2"/>
                </a:solidFill>
                <a:latin typeface="Calibri"/>
                <a:ea typeface="Calibri"/>
                <a:cs typeface="Calibri"/>
                <a:sym typeface="Calibri"/>
              </a:rPr>
              <a:t>4</a:t>
            </a:r>
            <a:r>
              <a:rPr b="1" lang="en-US" sz="1800">
                <a:solidFill>
                  <a:schemeClr val="accent2"/>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Total weight: 14;</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total benefit: 20</a:t>
            </a:r>
            <a:endParaRPr/>
          </a:p>
        </p:txBody>
      </p:sp>
      <p:grpSp>
        <p:nvGrpSpPr>
          <p:cNvPr id="1069" name="Google Shape;1069;p29"/>
          <p:cNvGrpSpPr/>
          <p:nvPr/>
        </p:nvGrpSpPr>
        <p:grpSpPr>
          <a:xfrm>
            <a:off x="990600" y="1066800"/>
            <a:ext cx="4343400" cy="1066800"/>
            <a:chOff x="624" y="672"/>
            <a:chExt cx="2736" cy="672"/>
          </a:xfrm>
        </p:grpSpPr>
        <p:sp>
          <p:nvSpPr>
            <p:cNvPr id="1070" name="Google Shape;1070;p29"/>
            <p:cNvSpPr/>
            <p:nvPr/>
          </p:nvSpPr>
          <p:spPr>
            <a:xfrm>
              <a:off x="672" y="672"/>
              <a:ext cx="2688" cy="67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1" name="Google Shape;1071;p29"/>
            <p:cNvSpPr/>
            <p:nvPr/>
          </p:nvSpPr>
          <p:spPr>
            <a:xfrm>
              <a:off x="672" y="672"/>
              <a:ext cx="384" cy="67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2" name="Google Shape;1072;p29"/>
            <p:cNvSpPr/>
            <p:nvPr/>
          </p:nvSpPr>
          <p:spPr>
            <a:xfrm>
              <a:off x="1056" y="672"/>
              <a:ext cx="576" cy="67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3" name="Google Shape;1073;p29"/>
            <p:cNvSpPr/>
            <p:nvPr/>
          </p:nvSpPr>
          <p:spPr>
            <a:xfrm>
              <a:off x="1632" y="672"/>
              <a:ext cx="576" cy="67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4" name="Google Shape;1074;p29"/>
            <p:cNvSpPr/>
            <p:nvPr/>
          </p:nvSpPr>
          <p:spPr>
            <a:xfrm>
              <a:off x="2208" y="672"/>
              <a:ext cx="480" cy="67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5" name="Google Shape;1075;p29"/>
            <p:cNvSpPr txBox="1"/>
            <p:nvPr/>
          </p:nvSpPr>
          <p:spPr>
            <a:xfrm>
              <a:off x="624" y="720"/>
              <a:ext cx="538" cy="48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w</a:t>
              </a:r>
              <a:r>
                <a:rPr baseline="-25000" lang="en-US" sz="2000">
                  <a:solidFill>
                    <a:schemeClr val="dk1"/>
                  </a:solidFill>
                  <a:latin typeface="Calibri"/>
                  <a:ea typeface="Calibri"/>
                  <a:cs typeface="Calibri"/>
                  <a:sym typeface="Calibri"/>
                </a:rPr>
                <a:t>1 </a:t>
              </a:r>
              <a:r>
                <a:rPr lang="en-US" sz="2000">
                  <a:solidFill>
                    <a:schemeClr val="dk1"/>
                  </a:solidFill>
                  <a:latin typeface="Calibri"/>
                  <a:ea typeface="Calibri"/>
                  <a:cs typeface="Calibri"/>
                  <a:sym typeface="Calibri"/>
                </a:rPr>
                <a:t>=2</a:t>
              </a:r>
              <a:endParaRPr/>
            </a:p>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b</a:t>
              </a:r>
              <a:r>
                <a:rPr baseline="-25000" lang="en-US" sz="2000">
                  <a:solidFill>
                    <a:schemeClr val="dk1"/>
                  </a:solidFill>
                  <a:latin typeface="Calibri"/>
                  <a:ea typeface="Calibri"/>
                  <a:cs typeface="Calibri"/>
                  <a:sym typeface="Calibri"/>
                </a:rPr>
                <a:t>1 </a:t>
              </a:r>
              <a:r>
                <a:rPr lang="en-US" sz="20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1076" name="Google Shape;1076;p29"/>
            <p:cNvSpPr txBox="1"/>
            <p:nvPr/>
          </p:nvSpPr>
          <p:spPr>
            <a:xfrm>
              <a:off x="1104" y="720"/>
              <a:ext cx="528" cy="48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w</a:t>
              </a:r>
              <a:r>
                <a:rPr baseline="-25000" lang="en-US" sz="2000">
                  <a:solidFill>
                    <a:schemeClr val="dk1"/>
                  </a:solidFill>
                  <a:latin typeface="Calibri"/>
                  <a:ea typeface="Calibri"/>
                  <a:cs typeface="Calibri"/>
                  <a:sym typeface="Calibri"/>
                </a:rPr>
                <a:t>2 </a:t>
              </a:r>
              <a:r>
                <a:rPr lang="en-US" sz="2000">
                  <a:solidFill>
                    <a:schemeClr val="dk1"/>
                  </a:solidFill>
                  <a:latin typeface="Calibri"/>
                  <a:ea typeface="Calibri"/>
                  <a:cs typeface="Calibri"/>
                  <a:sym typeface="Calibri"/>
                </a:rPr>
                <a:t>=3</a:t>
              </a:r>
              <a:endParaRPr/>
            </a:p>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b</a:t>
              </a:r>
              <a:r>
                <a:rPr baseline="-25000" lang="en-US" sz="2000">
                  <a:solidFill>
                    <a:schemeClr val="dk1"/>
                  </a:solidFill>
                  <a:latin typeface="Calibri"/>
                  <a:ea typeface="Calibri"/>
                  <a:cs typeface="Calibri"/>
                  <a:sym typeface="Calibri"/>
                </a:rPr>
                <a:t>2 </a:t>
              </a:r>
              <a:r>
                <a:rPr lang="en-US" sz="2000">
                  <a:solidFill>
                    <a:schemeClr val="dk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1077" name="Google Shape;1077;p29"/>
            <p:cNvSpPr txBox="1"/>
            <p:nvPr/>
          </p:nvSpPr>
          <p:spPr>
            <a:xfrm>
              <a:off x="1680" y="720"/>
              <a:ext cx="528" cy="48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w</a:t>
              </a:r>
              <a:r>
                <a:rPr baseline="-25000" lang="en-US" sz="2000">
                  <a:solidFill>
                    <a:schemeClr val="dk1"/>
                  </a:solidFill>
                  <a:latin typeface="Calibri"/>
                  <a:ea typeface="Calibri"/>
                  <a:cs typeface="Calibri"/>
                  <a:sym typeface="Calibri"/>
                </a:rPr>
                <a:t>3 </a:t>
              </a:r>
              <a:r>
                <a:rPr lang="en-US" sz="2000">
                  <a:solidFill>
                    <a:schemeClr val="dk1"/>
                  </a:solidFill>
                  <a:latin typeface="Calibri"/>
                  <a:ea typeface="Calibri"/>
                  <a:cs typeface="Calibri"/>
                  <a:sym typeface="Calibri"/>
                </a:rPr>
                <a:t>=4</a:t>
              </a:r>
              <a:endParaRPr/>
            </a:p>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b</a:t>
              </a:r>
              <a:r>
                <a:rPr baseline="-25000" lang="en-US" sz="2000">
                  <a:solidFill>
                    <a:schemeClr val="dk1"/>
                  </a:solidFill>
                  <a:latin typeface="Calibri"/>
                  <a:ea typeface="Calibri"/>
                  <a:cs typeface="Calibri"/>
                  <a:sym typeface="Calibri"/>
                </a:rPr>
                <a:t>3 </a:t>
              </a:r>
              <a:r>
                <a:rPr lang="en-US" sz="20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1078" name="Google Shape;1078;p29"/>
            <p:cNvSpPr txBox="1"/>
            <p:nvPr/>
          </p:nvSpPr>
          <p:spPr>
            <a:xfrm>
              <a:off x="2256" y="720"/>
              <a:ext cx="576" cy="48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w</a:t>
              </a:r>
              <a:r>
                <a:rPr baseline="-25000" lang="en-US" sz="2000">
                  <a:solidFill>
                    <a:schemeClr val="dk1"/>
                  </a:solidFill>
                  <a:latin typeface="Calibri"/>
                  <a:ea typeface="Calibri"/>
                  <a:cs typeface="Calibri"/>
                  <a:sym typeface="Calibri"/>
                </a:rPr>
                <a:t>4 </a:t>
              </a:r>
              <a:r>
                <a:rPr lang="en-US" sz="2000">
                  <a:solidFill>
                    <a:schemeClr val="dk1"/>
                  </a:solidFill>
                  <a:latin typeface="Calibri"/>
                  <a:ea typeface="Calibri"/>
                  <a:cs typeface="Calibri"/>
                  <a:sym typeface="Calibri"/>
                </a:rPr>
                <a:t>=5</a:t>
              </a:r>
              <a:endParaRPr/>
            </a:p>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b</a:t>
              </a:r>
              <a:r>
                <a:rPr baseline="-25000" lang="en-US" sz="2000">
                  <a:solidFill>
                    <a:schemeClr val="dk1"/>
                  </a:solidFill>
                  <a:latin typeface="Calibri"/>
                  <a:ea typeface="Calibri"/>
                  <a:cs typeface="Calibri"/>
                  <a:sym typeface="Calibri"/>
                </a:rPr>
                <a:t>4 </a:t>
              </a:r>
              <a:r>
                <a:rPr lang="en-US" sz="2000">
                  <a:solidFill>
                    <a:schemeClr val="dk1"/>
                  </a:solidFill>
                  <a:latin typeface="Calibri"/>
                  <a:ea typeface="Calibri"/>
                  <a:cs typeface="Calibri"/>
                  <a:sym typeface="Calibri"/>
                </a:rPr>
                <a:t>=8</a:t>
              </a:r>
              <a:endParaRPr sz="1800">
                <a:solidFill>
                  <a:schemeClr val="dk1"/>
                </a:solidFill>
                <a:latin typeface="Calibri"/>
                <a:ea typeface="Calibri"/>
                <a:cs typeface="Calibri"/>
                <a:sym typeface="Calibri"/>
              </a:endParaRPr>
            </a:p>
          </p:txBody>
        </p:sp>
      </p:grpSp>
      <p:sp>
        <p:nvSpPr>
          <p:cNvPr id="1079" name="Google Shape;1079;p29"/>
          <p:cNvSpPr txBox="1"/>
          <p:nvPr/>
        </p:nvSpPr>
        <p:spPr>
          <a:xfrm>
            <a:off x="7162800" y="1295400"/>
            <a:ext cx="55245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w</a:t>
            </a:r>
            <a:r>
              <a:rPr baseline="-25000" lang="en-US" sz="3200">
                <a:solidFill>
                  <a:schemeClr val="dk1"/>
                </a:solidFill>
                <a:latin typeface="Calibri"/>
                <a:ea typeface="Calibri"/>
                <a:cs typeface="Calibri"/>
                <a:sym typeface="Calibri"/>
              </a:rPr>
              <a:t>i</a:t>
            </a:r>
            <a:endParaRPr sz="1800">
              <a:solidFill>
                <a:schemeClr val="dk1"/>
              </a:solidFill>
              <a:latin typeface="Calibri"/>
              <a:ea typeface="Calibri"/>
              <a:cs typeface="Calibri"/>
              <a:sym typeface="Calibri"/>
            </a:endParaRPr>
          </a:p>
        </p:txBody>
      </p:sp>
      <p:sp>
        <p:nvSpPr>
          <p:cNvPr id="1080" name="Google Shape;1080;p29"/>
          <p:cNvSpPr txBox="1"/>
          <p:nvPr/>
        </p:nvSpPr>
        <p:spPr>
          <a:xfrm>
            <a:off x="8305800" y="1295400"/>
            <a:ext cx="55245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b</a:t>
            </a:r>
            <a:r>
              <a:rPr baseline="-25000" lang="en-US" sz="3200">
                <a:solidFill>
                  <a:schemeClr val="dk1"/>
                </a:solidFill>
                <a:latin typeface="Calibri"/>
                <a:ea typeface="Calibri"/>
                <a:cs typeface="Calibri"/>
                <a:sym typeface="Calibri"/>
              </a:rPr>
              <a:t>i</a:t>
            </a:r>
            <a:endParaRPr sz="1800">
              <a:solidFill>
                <a:schemeClr val="dk1"/>
              </a:solidFill>
              <a:latin typeface="Calibri"/>
              <a:ea typeface="Calibri"/>
              <a:cs typeface="Calibri"/>
              <a:sym typeface="Calibri"/>
            </a:endParaRPr>
          </a:p>
        </p:txBody>
      </p:sp>
      <p:sp>
        <p:nvSpPr>
          <p:cNvPr id="1081" name="Google Shape;1081;p29"/>
          <p:cNvSpPr txBox="1"/>
          <p:nvPr/>
        </p:nvSpPr>
        <p:spPr>
          <a:xfrm>
            <a:off x="8229600" y="4114800"/>
            <a:ext cx="4889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10</a:t>
            </a:r>
            <a:endParaRPr/>
          </a:p>
        </p:txBody>
      </p:sp>
      <p:sp>
        <p:nvSpPr>
          <p:cNvPr id="1082" name="Google Shape;1082;p29"/>
          <p:cNvSpPr txBox="1"/>
          <p:nvPr/>
        </p:nvSpPr>
        <p:spPr>
          <a:xfrm>
            <a:off x="8382000" y="35814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8</a:t>
            </a:r>
            <a:endParaRPr/>
          </a:p>
        </p:txBody>
      </p:sp>
      <p:sp>
        <p:nvSpPr>
          <p:cNvPr id="1083" name="Google Shape;1083;p29"/>
          <p:cNvSpPr txBox="1"/>
          <p:nvPr/>
        </p:nvSpPr>
        <p:spPr>
          <a:xfrm>
            <a:off x="7315200" y="35814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5</a:t>
            </a:r>
            <a:endParaRPr/>
          </a:p>
        </p:txBody>
      </p:sp>
      <p:sp>
        <p:nvSpPr>
          <p:cNvPr id="1084" name="Google Shape;1084;p29"/>
          <p:cNvSpPr txBox="1"/>
          <p:nvPr/>
        </p:nvSpPr>
        <p:spPr>
          <a:xfrm>
            <a:off x="8382000" y="30480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5</a:t>
            </a:r>
            <a:endParaRPr/>
          </a:p>
        </p:txBody>
      </p:sp>
      <p:sp>
        <p:nvSpPr>
          <p:cNvPr id="1085" name="Google Shape;1085;p29"/>
          <p:cNvSpPr txBox="1"/>
          <p:nvPr/>
        </p:nvSpPr>
        <p:spPr>
          <a:xfrm>
            <a:off x="7315200" y="30480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a:t>
            </a:r>
            <a:endParaRPr/>
          </a:p>
        </p:txBody>
      </p:sp>
      <p:sp>
        <p:nvSpPr>
          <p:cNvPr id="1086" name="Google Shape;1086;p29"/>
          <p:cNvSpPr txBox="1"/>
          <p:nvPr/>
        </p:nvSpPr>
        <p:spPr>
          <a:xfrm>
            <a:off x="8382000" y="25146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a:t>
            </a:r>
            <a:endParaRPr/>
          </a:p>
        </p:txBody>
      </p:sp>
      <p:sp>
        <p:nvSpPr>
          <p:cNvPr id="1087" name="Google Shape;1087;p29"/>
          <p:cNvSpPr txBox="1"/>
          <p:nvPr/>
        </p:nvSpPr>
        <p:spPr>
          <a:xfrm>
            <a:off x="7315200" y="25146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a:t>
            </a:r>
            <a:endParaRPr/>
          </a:p>
        </p:txBody>
      </p:sp>
      <p:sp>
        <p:nvSpPr>
          <p:cNvPr id="1088" name="Google Shape;1088;p29"/>
          <p:cNvSpPr txBox="1"/>
          <p:nvPr/>
        </p:nvSpPr>
        <p:spPr>
          <a:xfrm>
            <a:off x="8382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a:t>
            </a:r>
            <a:endParaRPr/>
          </a:p>
        </p:txBody>
      </p:sp>
      <p:sp>
        <p:nvSpPr>
          <p:cNvPr id="1089" name="Google Shape;1089;p29"/>
          <p:cNvSpPr txBox="1"/>
          <p:nvPr/>
        </p:nvSpPr>
        <p:spPr>
          <a:xfrm>
            <a:off x="7315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a:t>
            </a:r>
            <a:endParaRPr/>
          </a:p>
        </p:txBody>
      </p:sp>
      <p:sp>
        <p:nvSpPr>
          <p:cNvPr id="1090" name="Google Shape;1090;p29"/>
          <p:cNvSpPr txBox="1"/>
          <p:nvPr/>
        </p:nvSpPr>
        <p:spPr>
          <a:xfrm>
            <a:off x="6781800" y="1041400"/>
            <a:ext cx="10795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Weight</a:t>
            </a:r>
            <a:endParaRPr/>
          </a:p>
        </p:txBody>
      </p:sp>
      <p:sp>
        <p:nvSpPr>
          <p:cNvPr id="1091" name="Google Shape;1091;p29"/>
          <p:cNvSpPr txBox="1"/>
          <p:nvPr/>
        </p:nvSpPr>
        <p:spPr>
          <a:xfrm>
            <a:off x="7915275" y="1041400"/>
            <a:ext cx="10795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Benefit</a:t>
            </a:r>
            <a:endParaRPr/>
          </a:p>
        </p:txBody>
      </p:sp>
      <p:sp>
        <p:nvSpPr>
          <p:cNvPr id="1092" name="Google Shape;1092;p29"/>
          <p:cNvSpPr txBox="1"/>
          <p:nvPr/>
        </p:nvSpPr>
        <p:spPr>
          <a:xfrm>
            <a:off x="7315200" y="41148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9</a:t>
            </a:r>
            <a:endParaRPr/>
          </a:p>
        </p:txBody>
      </p:sp>
      <p:cxnSp>
        <p:nvCxnSpPr>
          <p:cNvPr id="1093" name="Google Shape;1093;p29"/>
          <p:cNvCxnSpPr/>
          <p:nvPr/>
        </p:nvCxnSpPr>
        <p:spPr>
          <a:xfrm>
            <a:off x="6324600" y="914400"/>
            <a:ext cx="2819400" cy="0"/>
          </a:xfrm>
          <a:prstGeom prst="straightConnector1">
            <a:avLst/>
          </a:prstGeom>
          <a:noFill/>
          <a:ln cap="flat" cmpd="sng" w="9525">
            <a:solidFill>
              <a:schemeClr val="dk1"/>
            </a:solidFill>
            <a:prstDash val="solid"/>
            <a:round/>
            <a:headEnd len="med" w="med" type="none"/>
            <a:tailEnd len="med" w="med" type="none"/>
          </a:ln>
        </p:spPr>
      </p:cxnSp>
      <p:cxnSp>
        <p:nvCxnSpPr>
          <p:cNvPr id="1094" name="Google Shape;1094;p29"/>
          <p:cNvCxnSpPr/>
          <p:nvPr/>
        </p:nvCxnSpPr>
        <p:spPr>
          <a:xfrm>
            <a:off x="6324600" y="914400"/>
            <a:ext cx="0" cy="3810000"/>
          </a:xfrm>
          <a:prstGeom prst="straightConnector1">
            <a:avLst/>
          </a:prstGeom>
          <a:noFill/>
          <a:ln cap="flat" cmpd="sng" w="9525">
            <a:solidFill>
              <a:schemeClr val="dk1"/>
            </a:solidFill>
            <a:prstDash val="solid"/>
            <a:round/>
            <a:headEnd len="med" w="med" type="none"/>
            <a:tailEnd len="med" w="med" type="none"/>
          </a:ln>
        </p:spPr>
      </p:cxnSp>
      <p:sp>
        <p:nvSpPr>
          <p:cNvPr id="1095" name="Google Shape;1095;p29"/>
          <p:cNvSpPr txBox="1"/>
          <p:nvPr/>
        </p:nvSpPr>
        <p:spPr>
          <a:xfrm>
            <a:off x="7299325" y="1336675"/>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6" name="Google Shape;1096;p29"/>
          <p:cNvSpPr txBox="1"/>
          <p:nvPr/>
        </p:nvSpPr>
        <p:spPr>
          <a:xfrm>
            <a:off x="6324600" y="1420813"/>
            <a:ext cx="647700" cy="76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Item</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1097" name="Google Shape;1097;p29"/>
          <p:cNvSpPr txBox="1"/>
          <p:nvPr/>
        </p:nvSpPr>
        <p:spPr>
          <a:xfrm>
            <a:off x="6477000" y="35814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1"/>
                </a:solidFill>
                <a:latin typeface="Calibri"/>
                <a:ea typeface="Calibri"/>
                <a:cs typeface="Calibri"/>
                <a:sym typeface="Calibri"/>
              </a:rPr>
              <a:t>4</a:t>
            </a:r>
            <a:endParaRPr/>
          </a:p>
        </p:txBody>
      </p:sp>
      <p:sp>
        <p:nvSpPr>
          <p:cNvPr id="1098" name="Google Shape;1098;p29"/>
          <p:cNvSpPr txBox="1"/>
          <p:nvPr/>
        </p:nvSpPr>
        <p:spPr>
          <a:xfrm>
            <a:off x="6477000" y="30480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1"/>
                </a:solidFill>
                <a:latin typeface="Calibri"/>
                <a:ea typeface="Calibri"/>
                <a:cs typeface="Calibri"/>
                <a:sym typeface="Calibri"/>
              </a:rPr>
              <a:t>3</a:t>
            </a:r>
            <a:endParaRPr/>
          </a:p>
        </p:txBody>
      </p:sp>
      <p:sp>
        <p:nvSpPr>
          <p:cNvPr id="1099" name="Google Shape;1099;p29"/>
          <p:cNvSpPr txBox="1"/>
          <p:nvPr/>
        </p:nvSpPr>
        <p:spPr>
          <a:xfrm>
            <a:off x="6477000" y="25146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1"/>
                </a:solidFill>
                <a:latin typeface="Calibri"/>
                <a:ea typeface="Calibri"/>
                <a:cs typeface="Calibri"/>
                <a:sym typeface="Calibri"/>
              </a:rPr>
              <a:t>2</a:t>
            </a:r>
            <a:endParaRPr/>
          </a:p>
        </p:txBody>
      </p:sp>
      <p:sp>
        <p:nvSpPr>
          <p:cNvPr id="1100" name="Google Shape;1100;p29"/>
          <p:cNvSpPr txBox="1"/>
          <p:nvPr/>
        </p:nvSpPr>
        <p:spPr>
          <a:xfrm>
            <a:off x="6477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1"/>
                </a:solidFill>
                <a:latin typeface="Calibri"/>
                <a:ea typeface="Calibri"/>
                <a:cs typeface="Calibri"/>
                <a:sym typeface="Calibri"/>
              </a:rPr>
              <a:t>1</a:t>
            </a:r>
            <a:endParaRPr/>
          </a:p>
        </p:txBody>
      </p:sp>
      <p:sp>
        <p:nvSpPr>
          <p:cNvPr id="1101" name="Google Shape;1101;p29"/>
          <p:cNvSpPr txBox="1"/>
          <p:nvPr/>
        </p:nvSpPr>
        <p:spPr>
          <a:xfrm>
            <a:off x="6477000" y="4114800"/>
            <a:ext cx="3365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1"/>
                </a:solidFill>
                <a:latin typeface="Calibri"/>
                <a:ea typeface="Calibri"/>
                <a:cs typeface="Calibri"/>
                <a:sym typeface="Calibri"/>
              </a:rPr>
              <a:t>5</a:t>
            </a:r>
            <a:endParaRPr/>
          </a:p>
        </p:txBody>
      </p:sp>
      <p:sp>
        <p:nvSpPr>
          <p:cNvPr id="1102" name="Google Shape;1102;p29"/>
          <p:cNvSpPr/>
          <p:nvPr/>
        </p:nvSpPr>
        <p:spPr>
          <a:xfrm>
            <a:off x="6032500" y="2044700"/>
            <a:ext cx="520700" cy="2197100"/>
          </a:xfrm>
          <a:custGeom>
            <a:rect b="b" l="l" r="r" t="t"/>
            <a:pathLst>
              <a:path extrusionOk="0" h="1384" w="328">
                <a:moveTo>
                  <a:pt x="280" y="8"/>
                </a:moveTo>
                <a:cubicBezTo>
                  <a:pt x="204" y="4"/>
                  <a:pt x="128" y="0"/>
                  <a:pt x="88" y="200"/>
                </a:cubicBezTo>
                <a:cubicBezTo>
                  <a:pt x="48" y="400"/>
                  <a:pt x="0" y="1032"/>
                  <a:pt x="40" y="1208"/>
                </a:cubicBezTo>
                <a:cubicBezTo>
                  <a:pt x="80" y="1384"/>
                  <a:pt x="264" y="1288"/>
                  <a:pt x="328" y="1256"/>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3" name="Google Shape;1103;p29"/>
          <p:cNvSpPr txBox="1"/>
          <p:nvPr/>
        </p:nvSpPr>
        <p:spPr>
          <a:xfrm>
            <a:off x="5715000" y="2438400"/>
            <a:ext cx="4556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t>
            </a:r>
            <a:r>
              <a:rPr baseline="-25000" lang="en-US" sz="1800">
                <a:solidFill>
                  <a:schemeClr val="dk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1104" name="Google Shape;1104;p29"/>
          <p:cNvSpPr/>
          <p:nvPr/>
        </p:nvSpPr>
        <p:spPr>
          <a:xfrm>
            <a:off x="5562600" y="2057400"/>
            <a:ext cx="1066800" cy="2641600"/>
          </a:xfrm>
          <a:custGeom>
            <a:rect b="b" l="l" r="r" t="t"/>
            <a:pathLst>
              <a:path extrusionOk="0" h="1664" w="672">
                <a:moveTo>
                  <a:pt x="480" y="0"/>
                </a:moveTo>
                <a:cubicBezTo>
                  <a:pt x="320" y="0"/>
                  <a:pt x="160" y="0"/>
                  <a:pt x="96" y="240"/>
                </a:cubicBezTo>
                <a:cubicBezTo>
                  <a:pt x="32" y="480"/>
                  <a:pt x="0" y="1216"/>
                  <a:pt x="96" y="1440"/>
                </a:cubicBezTo>
                <a:cubicBezTo>
                  <a:pt x="192" y="1664"/>
                  <a:pt x="592" y="1592"/>
                  <a:pt x="672" y="1584"/>
                </a:cubicBezTo>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5" name="Google Shape;1105;p29"/>
          <p:cNvSpPr txBox="1"/>
          <p:nvPr/>
        </p:nvSpPr>
        <p:spPr>
          <a:xfrm>
            <a:off x="5181600" y="2895600"/>
            <a:ext cx="4556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a:t>
            </a:r>
            <a:r>
              <a:rPr baseline="-25000" lang="en-US" sz="18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grpSp>
        <p:nvGrpSpPr>
          <p:cNvPr id="1106" name="Google Shape;1106;p29"/>
          <p:cNvGrpSpPr/>
          <p:nvPr/>
        </p:nvGrpSpPr>
        <p:grpSpPr>
          <a:xfrm>
            <a:off x="1066800" y="4267200"/>
            <a:ext cx="4343400" cy="1066800"/>
            <a:chOff x="672" y="2688"/>
            <a:chExt cx="2736" cy="672"/>
          </a:xfrm>
        </p:grpSpPr>
        <p:sp>
          <p:nvSpPr>
            <p:cNvPr id="1107" name="Google Shape;1107;p29"/>
            <p:cNvSpPr/>
            <p:nvPr/>
          </p:nvSpPr>
          <p:spPr>
            <a:xfrm>
              <a:off x="720" y="2688"/>
              <a:ext cx="2688" cy="67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8" name="Google Shape;1108;p29"/>
            <p:cNvSpPr/>
            <p:nvPr/>
          </p:nvSpPr>
          <p:spPr>
            <a:xfrm>
              <a:off x="720" y="2688"/>
              <a:ext cx="384" cy="67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9" name="Google Shape;1109;p29"/>
            <p:cNvSpPr/>
            <p:nvPr/>
          </p:nvSpPr>
          <p:spPr>
            <a:xfrm>
              <a:off x="1104" y="2688"/>
              <a:ext cx="576" cy="67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0" name="Google Shape;1110;p29"/>
            <p:cNvSpPr/>
            <p:nvPr/>
          </p:nvSpPr>
          <p:spPr>
            <a:xfrm>
              <a:off x="1680" y="2688"/>
              <a:ext cx="576" cy="67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1" name="Google Shape;1111;p29"/>
            <p:cNvSpPr txBox="1"/>
            <p:nvPr/>
          </p:nvSpPr>
          <p:spPr>
            <a:xfrm>
              <a:off x="672" y="2736"/>
              <a:ext cx="538" cy="48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w</a:t>
              </a:r>
              <a:r>
                <a:rPr baseline="-25000" lang="en-US" sz="2000">
                  <a:solidFill>
                    <a:schemeClr val="dk1"/>
                  </a:solidFill>
                  <a:latin typeface="Calibri"/>
                  <a:ea typeface="Calibri"/>
                  <a:cs typeface="Calibri"/>
                  <a:sym typeface="Calibri"/>
                </a:rPr>
                <a:t>1 </a:t>
              </a:r>
              <a:r>
                <a:rPr lang="en-US" sz="2000">
                  <a:solidFill>
                    <a:schemeClr val="dk1"/>
                  </a:solidFill>
                  <a:latin typeface="Calibri"/>
                  <a:ea typeface="Calibri"/>
                  <a:cs typeface="Calibri"/>
                  <a:sym typeface="Calibri"/>
                </a:rPr>
                <a:t>=2</a:t>
              </a:r>
              <a:endParaRPr/>
            </a:p>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b</a:t>
              </a:r>
              <a:r>
                <a:rPr baseline="-25000" lang="en-US" sz="2000">
                  <a:solidFill>
                    <a:schemeClr val="dk1"/>
                  </a:solidFill>
                  <a:latin typeface="Calibri"/>
                  <a:ea typeface="Calibri"/>
                  <a:cs typeface="Calibri"/>
                  <a:sym typeface="Calibri"/>
                </a:rPr>
                <a:t>1 </a:t>
              </a:r>
              <a:r>
                <a:rPr lang="en-US" sz="20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1112" name="Google Shape;1112;p29"/>
            <p:cNvSpPr txBox="1"/>
            <p:nvPr/>
          </p:nvSpPr>
          <p:spPr>
            <a:xfrm>
              <a:off x="1152" y="2736"/>
              <a:ext cx="528" cy="48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w</a:t>
              </a:r>
              <a:r>
                <a:rPr baseline="-25000" lang="en-US" sz="2000">
                  <a:solidFill>
                    <a:schemeClr val="dk1"/>
                  </a:solidFill>
                  <a:latin typeface="Calibri"/>
                  <a:ea typeface="Calibri"/>
                  <a:cs typeface="Calibri"/>
                  <a:sym typeface="Calibri"/>
                </a:rPr>
                <a:t>3 </a:t>
              </a:r>
              <a:r>
                <a:rPr lang="en-US" sz="2000">
                  <a:solidFill>
                    <a:schemeClr val="dk1"/>
                  </a:solidFill>
                  <a:latin typeface="Calibri"/>
                  <a:ea typeface="Calibri"/>
                  <a:cs typeface="Calibri"/>
                  <a:sym typeface="Calibri"/>
                </a:rPr>
                <a:t>=4</a:t>
              </a:r>
              <a:endParaRPr/>
            </a:p>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b</a:t>
              </a:r>
              <a:r>
                <a:rPr baseline="-25000" lang="en-US" sz="2000">
                  <a:solidFill>
                    <a:schemeClr val="dk1"/>
                  </a:solidFill>
                  <a:latin typeface="Calibri"/>
                  <a:ea typeface="Calibri"/>
                  <a:cs typeface="Calibri"/>
                  <a:sym typeface="Calibri"/>
                </a:rPr>
                <a:t>3</a:t>
              </a:r>
              <a:r>
                <a:rPr lang="en-US" sz="20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1113" name="Google Shape;1113;p29"/>
            <p:cNvSpPr txBox="1"/>
            <p:nvPr/>
          </p:nvSpPr>
          <p:spPr>
            <a:xfrm>
              <a:off x="1728" y="2736"/>
              <a:ext cx="528" cy="48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w</a:t>
              </a:r>
              <a:r>
                <a:rPr baseline="-25000" lang="en-US" sz="2000">
                  <a:solidFill>
                    <a:schemeClr val="dk1"/>
                  </a:solidFill>
                  <a:latin typeface="Calibri"/>
                  <a:ea typeface="Calibri"/>
                  <a:cs typeface="Calibri"/>
                  <a:sym typeface="Calibri"/>
                </a:rPr>
                <a:t>4 </a:t>
              </a:r>
              <a:r>
                <a:rPr lang="en-US" sz="2000">
                  <a:solidFill>
                    <a:schemeClr val="dk1"/>
                  </a:solidFill>
                  <a:latin typeface="Calibri"/>
                  <a:ea typeface="Calibri"/>
                  <a:cs typeface="Calibri"/>
                  <a:sym typeface="Calibri"/>
                </a:rPr>
                <a:t>=5</a:t>
              </a:r>
              <a:endParaRPr/>
            </a:p>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b</a:t>
              </a:r>
              <a:r>
                <a:rPr baseline="-25000" lang="en-US" sz="2000">
                  <a:solidFill>
                    <a:schemeClr val="dk1"/>
                  </a:solidFill>
                  <a:latin typeface="Calibri"/>
                  <a:ea typeface="Calibri"/>
                  <a:cs typeface="Calibri"/>
                  <a:sym typeface="Calibri"/>
                </a:rPr>
                <a:t>4 </a:t>
              </a:r>
              <a:r>
                <a:rPr lang="en-US" sz="2000">
                  <a:solidFill>
                    <a:schemeClr val="dk1"/>
                  </a:solidFill>
                  <a:latin typeface="Calibri"/>
                  <a:ea typeface="Calibri"/>
                  <a:cs typeface="Calibri"/>
                  <a:sym typeface="Calibri"/>
                </a:rPr>
                <a:t>=8</a:t>
              </a:r>
              <a:endParaRPr sz="1800">
                <a:solidFill>
                  <a:schemeClr val="dk1"/>
                </a:solidFill>
                <a:latin typeface="Calibri"/>
                <a:ea typeface="Calibri"/>
                <a:cs typeface="Calibri"/>
                <a:sym typeface="Calibri"/>
              </a:endParaRPr>
            </a:p>
          </p:txBody>
        </p:sp>
        <p:sp>
          <p:nvSpPr>
            <p:cNvPr id="1114" name="Google Shape;1114;p29"/>
            <p:cNvSpPr txBox="1"/>
            <p:nvPr/>
          </p:nvSpPr>
          <p:spPr>
            <a:xfrm>
              <a:off x="2304" y="2736"/>
              <a:ext cx="576" cy="48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w</a:t>
              </a:r>
              <a:r>
                <a:rPr baseline="-25000" lang="en-US" sz="2000">
                  <a:solidFill>
                    <a:schemeClr val="dk1"/>
                  </a:solidFill>
                  <a:latin typeface="Calibri"/>
                  <a:ea typeface="Calibri"/>
                  <a:cs typeface="Calibri"/>
                  <a:sym typeface="Calibri"/>
                </a:rPr>
                <a:t>5 </a:t>
              </a:r>
              <a:r>
                <a:rPr lang="en-US" sz="2000">
                  <a:solidFill>
                    <a:schemeClr val="dk1"/>
                  </a:solidFill>
                  <a:latin typeface="Calibri"/>
                  <a:ea typeface="Calibri"/>
                  <a:cs typeface="Calibri"/>
                  <a:sym typeface="Calibri"/>
                </a:rPr>
                <a:t>=9</a:t>
              </a:r>
              <a:endParaRPr/>
            </a:p>
            <a:p>
              <a:pPr indent="0" lvl="0" marL="0" marR="0" rtl="0" algn="l">
                <a:lnSpc>
                  <a:spcPct val="110000"/>
                </a:lnSpc>
                <a:spcBef>
                  <a:spcPts val="0"/>
                </a:spcBef>
                <a:spcAft>
                  <a:spcPts val="0"/>
                </a:spcAft>
                <a:buNone/>
              </a:pPr>
              <a:r>
                <a:rPr lang="en-US" sz="2000">
                  <a:solidFill>
                    <a:schemeClr val="dk1"/>
                  </a:solidFill>
                  <a:latin typeface="Calibri"/>
                  <a:ea typeface="Calibri"/>
                  <a:cs typeface="Calibri"/>
                  <a:sym typeface="Calibri"/>
                </a:rPr>
                <a:t>b</a:t>
              </a:r>
              <a:r>
                <a:rPr baseline="-25000" lang="en-US" sz="2000">
                  <a:solidFill>
                    <a:schemeClr val="dk1"/>
                  </a:solidFill>
                  <a:latin typeface="Calibri"/>
                  <a:ea typeface="Calibri"/>
                  <a:cs typeface="Calibri"/>
                  <a:sym typeface="Calibri"/>
                </a:rPr>
                <a:t>5 </a:t>
              </a:r>
              <a:r>
                <a:rPr lang="en-US" sz="20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grpSp>
      <p:cxnSp>
        <p:nvCxnSpPr>
          <p:cNvPr id="1115" name="Google Shape;1115;p29"/>
          <p:cNvCxnSpPr/>
          <p:nvPr/>
        </p:nvCxnSpPr>
        <p:spPr>
          <a:xfrm flipH="1" rot="10800000">
            <a:off x="6324600" y="4675188"/>
            <a:ext cx="2670175" cy="49212"/>
          </a:xfrm>
          <a:prstGeom prst="straightConnector1">
            <a:avLst/>
          </a:prstGeom>
          <a:noFill/>
          <a:ln cap="flat" cmpd="sng" w="9525">
            <a:solidFill>
              <a:schemeClr val="dk1"/>
            </a:solidFill>
            <a:prstDash val="solid"/>
            <a:round/>
            <a:headEnd len="med" w="med" type="none"/>
            <a:tailEnd len="med" w="med" type="none"/>
          </a:ln>
        </p:spPr>
      </p:cxnSp>
      <p:sp>
        <p:nvSpPr>
          <p:cNvPr id="1116" name="Google Shape;1116;p29"/>
          <p:cNvSpPr txBox="1"/>
          <p:nvPr/>
        </p:nvSpPr>
        <p:spPr>
          <a:xfrm>
            <a:off x="2362200" y="5305425"/>
            <a:ext cx="2195513" cy="11874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Calibri"/>
                <a:ea typeface="Calibri"/>
                <a:cs typeface="Calibri"/>
                <a:sym typeface="Calibri"/>
              </a:rPr>
              <a:t>For S</a:t>
            </a:r>
            <a:r>
              <a:rPr b="1" baseline="-25000" lang="en-US" sz="1800">
                <a:solidFill>
                  <a:schemeClr val="accent2"/>
                </a:solidFill>
                <a:latin typeface="Calibri"/>
                <a:ea typeface="Calibri"/>
                <a:cs typeface="Calibri"/>
                <a:sym typeface="Calibri"/>
              </a:rPr>
              <a:t>5</a:t>
            </a:r>
            <a:r>
              <a:rPr b="1" lang="en-US" sz="1800">
                <a:solidFill>
                  <a:schemeClr val="accent2"/>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Total weight: 20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total benefit: 26</a:t>
            </a:r>
            <a:endParaRPr/>
          </a:p>
        </p:txBody>
      </p:sp>
      <p:sp>
        <p:nvSpPr>
          <p:cNvPr id="1117" name="Google Shape;1117;p29"/>
          <p:cNvSpPr txBox="1"/>
          <p:nvPr/>
        </p:nvSpPr>
        <p:spPr>
          <a:xfrm>
            <a:off x="5638800" y="5029200"/>
            <a:ext cx="3124200" cy="15541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FF0000"/>
                </a:solidFill>
                <a:latin typeface="Calibri"/>
                <a:ea typeface="Calibri"/>
                <a:cs typeface="Calibri"/>
                <a:sym typeface="Calibri"/>
              </a:rPr>
              <a:t>Solution for S</a:t>
            </a:r>
            <a:r>
              <a:rPr baseline="-25000" lang="en-US" sz="3200">
                <a:solidFill>
                  <a:srgbClr val="FF0000"/>
                </a:solidFill>
                <a:latin typeface="Calibri"/>
                <a:ea typeface="Calibri"/>
                <a:cs typeface="Calibri"/>
                <a:sym typeface="Calibri"/>
              </a:rPr>
              <a:t>4</a:t>
            </a:r>
            <a:r>
              <a:rPr lang="en-US" sz="3200">
                <a:solidFill>
                  <a:srgbClr val="FF0000"/>
                </a:solidFill>
                <a:latin typeface="Calibri"/>
                <a:ea typeface="Calibri"/>
                <a:cs typeface="Calibri"/>
                <a:sym typeface="Calibri"/>
              </a:rPr>
              <a:t> is not part of the solution for S</a:t>
            </a:r>
            <a:r>
              <a:rPr baseline="-25000" lang="en-US" sz="3200">
                <a:solidFill>
                  <a:srgbClr val="FF0000"/>
                </a:solidFill>
                <a:latin typeface="Calibri"/>
                <a:ea typeface="Calibri"/>
                <a:cs typeface="Calibri"/>
                <a:sym typeface="Calibri"/>
              </a:rPr>
              <a:t>5</a:t>
            </a:r>
            <a:r>
              <a:rPr lang="en-US" sz="3200">
                <a:solidFill>
                  <a:srgbClr val="FF0000"/>
                </a:solidFill>
                <a:latin typeface="Calibri"/>
                <a:ea typeface="Calibri"/>
                <a:cs typeface="Calibri"/>
                <a:sym typeface="Calibri"/>
              </a:rPr>
              <a:t>!!!</a:t>
            </a:r>
            <a:endParaRPr sz="1800">
              <a:solidFill>
                <a:srgbClr val="FF0000"/>
              </a:solidFill>
              <a:latin typeface="Calibri"/>
              <a:ea typeface="Calibri"/>
              <a:cs typeface="Calibri"/>
              <a:sym typeface="Calibri"/>
            </a:endParaRPr>
          </a:p>
        </p:txBody>
      </p:sp>
      <p:sp>
        <p:nvSpPr>
          <p:cNvPr id="1118" name="Google Shape;1118;p29"/>
          <p:cNvSpPr txBox="1"/>
          <p:nvPr/>
        </p:nvSpPr>
        <p:spPr>
          <a:xfrm>
            <a:off x="3733800" y="1676400"/>
            <a:ext cx="557213" cy="8239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rgbClr val="FF0000"/>
                </a:solidFill>
                <a:latin typeface="Arial"/>
                <a:ea typeface="Arial"/>
                <a:cs typeface="Arial"/>
                <a:sym typeface="Arial"/>
              </a:rPr>
              <a:t>?</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30"/>
          <p:cNvSpPr txBox="1"/>
          <p:nvPr>
            <p:ph idx="4294967295" type="title"/>
          </p:nvPr>
        </p:nvSpPr>
        <p:spPr>
          <a:xfrm>
            <a:off x="490331" y="172278"/>
            <a:ext cx="8067088" cy="1371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Defining a Subproblem (continued)</a:t>
            </a:r>
            <a:endParaRPr/>
          </a:p>
        </p:txBody>
      </p:sp>
      <p:sp>
        <p:nvSpPr>
          <p:cNvPr id="1124" name="Google Shape;1124;p30"/>
          <p:cNvSpPr txBox="1"/>
          <p:nvPr>
            <p:ph idx="4294967295" type="body"/>
          </p:nvPr>
        </p:nvSpPr>
        <p:spPr>
          <a:xfrm>
            <a:off x="738981" y="1782418"/>
            <a:ext cx="7666037" cy="4648200"/>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As we have seen, the solution for </a:t>
            </a:r>
            <a:r>
              <a:rPr i="1" lang="en-US"/>
              <a:t>S</a:t>
            </a:r>
            <a:r>
              <a:rPr baseline="-25000" i="1" lang="en-US"/>
              <a:t>4</a:t>
            </a:r>
            <a:r>
              <a:rPr lang="en-US"/>
              <a:t> is not part of the solution for </a:t>
            </a:r>
            <a:r>
              <a:rPr i="1" lang="en-US"/>
              <a:t>S</a:t>
            </a:r>
            <a:r>
              <a:rPr baseline="-25000" i="1" lang="en-US"/>
              <a:t>5</a:t>
            </a:r>
            <a:endParaRPr/>
          </a:p>
          <a:p>
            <a:pPr indent="-454025" lvl="0" marL="454025" rtl="0" algn="l">
              <a:spcBef>
                <a:spcPts val="2000"/>
              </a:spcBef>
              <a:spcAft>
                <a:spcPts val="0"/>
              </a:spcAft>
              <a:buSzPts val="2160"/>
              <a:buChar char="🡽"/>
            </a:pPr>
            <a:r>
              <a:rPr lang="en-US"/>
              <a:t>So, our definition of a subproblem is flawed and we need another one!</a:t>
            </a:r>
            <a:endParaRPr/>
          </a:p>
          <a:p>
            <a:pPr indent="-454025" lvl="0" marL="454025" rtl="0" algn="l">
              <a:spcBef>
                <a:spcPts val="2000"/>
              </a:spcBef>
              <a:spcAft>
                <a:spcPts val="0"/>
              </a:spcAft>
              <a:buSzPts val="2160"/>
              <a:buChar char="🡽"/>
            </a:pPr>
            <a:r>
              <a:rPr lang="en-US"/>
              <a:t>Let’s add another parameter: </a:t>
            </a:r>
            <a:r>
              <a:rPr i="1" lang="en-US"/>
              <a:t>w</a:t>
            </a:r>
            <a:r>
              <a:rPr lang="en-US"/>
              <a:t>, which will represent the </a:t>
            </a:r>
            <a:r>
              <a:rPr lang="en-US" u="sng"/>
              <a:t>exact</a:t>
            </a:r>
            <a:r>
              <a:rPr lang="en-US"/>
              <a:t> weight for each subset of items</a:t>
            </a:r>
            <a:endParaRPr/>
          </a:p>
          <a:p>
            <a:pPr indent="-454025" lvl="0" marL="454025" rtl="0" algn="l">
              <a:spcBef>
                <a:spcPts val="2000"/>
              </a:spcBef>
              <a:spcAft>
                <a:spcPts val="0"/>
              </a:spcAft>
              <a:buSzPts val="2160"/>
              <a:buChar char="🡽"/>
            </a:pPr>
            <a:r>
              <a:rPr lang="en-US">
                <a:solidFill>
                  <a:schemeClr val="accent2"/>
                </a:solidFill>
              </a:rPr>
              <a:t>The subproblem then will be to compute </a:t>
            </a:r>
            <a:r>
              <a:rPr i="1" lang="en-US">
                <a:solidFill>
                  <a:schemeClr val="accent2"/>
                </a:solidFill>
              </a:rPr>
              <a:t>B[k,w]</a:t>
            </a:r>
            <a:endParaRPr baseline="-25000" sz="400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31"/>
          <p:cNvSpPr txBox="1"/>
          <p:nvPr>
            <p:ph idx="4294967295" type="title"/>
          </p:nvPr>
        </p:nvSpPr>
        <p:spPr>
          <a:xfrm>
            <a:off x="-152745" y="228600"/>
            <a:ext cx="9037983"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Recursive Formula for subproblems</a:t>
            </a:r>
            <a:endParaRPr/>
          </a:p>
        </p:txBody>
      </p:sp>
      <p:sp>
        <p:nvSpPr>
          <p:cNvPr id="1130" name="Google Shape;1130;p31"/>
          <p:cNvSpPr txBox="1"/>
          <p:nvPr>
            <p:ph idx="4294967295" type="body"/>
          </p:nvPr>
        </p:nvSpPr>
        <p:spPr>
          <a:xfrm>
            <a:off x="723900" y="3124200"/>
            <a:ext cx="7696200" cy="3200400"/>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It means, that the best subset of </a:t>
            </a:r>
            <a:r>
              <a:rPr i="1" lang="en-US"/>
              <a:t>S</a:t>
            </a:r>
            <a:r>
              <a:rPr baseline="-25000" i="1" lang="en-US"/>
              <a:t>k</a:t>
            </a:r>
            <a:r>
              <a:rPr lang="en-US"/>
              <a:t> that has total weight </a:t>
            </a:r>
            <a:r>
              <a:rPr i="1" lang="en-US"/>
              <a:t>w</a:t>
            </a:r>
            <a:r>
              <a:rPr lang="en-US"/>
              <a:t> is one of the two:</a:t>
            </a:r>
            <a:endParaRPr/>
          </a:p>
          <a:p>
            <a:pPr indent="-454025" lvl="0" marL="454025" rtl="0" algn="l">
              <a:spcBef>
                <a:spcPts val="2000"/>
              </a:spcBef>
              <a:spcAft>
                <a:spcPts val="0"/>
              </a:spcAft>
              <a:buSzPts val="2160"/>
              <a:buFont typeface="Arial"/>
              <a:buNone/>
            </a:pPr>
            <a:r>
              <a:rPr lang="en-US"/>
              <a:t>1) the best subset of </a:t>
            </a:r>
            <a:r>
              <a:rPr i="1" lang="en-US"/>
              <a:t>S</a:t>
            </a:r>
            <a:r>
              <a:rPr baseline="-25000" i="1" lang="en-US"/>
              <a:t>k-1</a:t>
            </a:r>
            <a:r>
              <a:rPr lang="en-US"/>
              <a:t> that has total weight </a:t>
            </a:r>
            <a:r>
              <a:rPr i="1" lang="en-US"/>
              <a:t>w</a:t>
            </a:r>
            <a:r>
              <a:rPr lang="en-US"/>
              <a:t>,    </a:t>
            </a:r>
            <a:r>
              <a:rPr b="1" lang="en-US"/>
              <a:t>or</a:t>
            </a:r>
            <a:endParaRPr/>
          </a:p>
          <a:p>
            <a:pPr indent="-454025" lvl="0" marL="454025" rtl="0" algn="l">
              <a:spcBef>
                <a:spcPts val="2000"/>
              </a:spcBef>
              <a:spcAft>
                <a:spcPts val="0"/>
              </a:spcAft>
              <a:buSzPts val="2160"/>
              <a:buFont typeface="Arial"/>
              <a:buNone/>
            </a:pPr>
            <a:r>
              <a:rPr lang="en-US"/>
              <a:t>2) the best subset of </a:t>
            </a:r>
            <a:r>
              <a:rPr i="1" lang="en-US"/>
              <a:t>S</a:t>
            </a:r>
            <a:r>
              <a:rPr baseline="-25000" i="1" lang="en-US"/>
              <a:t>k-1</a:t>
            </a:r>
            <a:r>
              <a:rPr lang="en-US"/>
              <a:t> that has total weight </a:t>
            </a:r>
            <a:r>
              <a:rPr i="1" lang="en-US"/>
              <a:t>w-w</a:t>
            </a:r>
            <a:r>
              <a:rPr baseline="-25000" i="1" lang="en-US"/>
              <a:t>k</a:t>
            </a:r>
            <a:r>
              <a:rPr lang="en-US"/>
              <a:t> plus the item </a:t>
            </a:r>
            <a:r>
              <a:rPr i="1" lang="en-US"/>
              <a:t>k</a:t>
            </a:r>
            <a:endParaRPr/>
          </a:p>
        </p:txBody>
      </p:sp>
      <p:pic>
        <p:nvPicPr>
          <p:cNvPr id="1131" name="Google Shape;1131;p31"/>
          <p:cNvPicPr preferRelativeResize="0"/>
          <p:nvPr/>
        </p:nvPicPr>
        <p:blipFill rotWithShape="1">
          <a:blip r:embed="rId3">
            <a:alphaModFix/>
          </a:blip>
          <a:srcRect b="0" l="0" r="0" t="0"/>
          <a:stretch/>
        </p:blipFill>
        <p:spPr>
          <a:xfrm>
            <a:off x="803413" y="1995487"/>
            <a:ext cx="7924800" cy="1114425"/>
          </a:xfrm>
          <a:prstGeom prst="rect">
            <a:avLst/>
          </a:prstGeom>
          <a:noFill/>
          <a:ln>
            <a:noFill/>
          </a:ln>
        </p:spPr>
      </p:pic>
      <p:sp>
        <p:nvSpPr>
          <p:cNvPr id="1132" name="Google Shape;1132;p31"/>
          <p:cNvSpPr/>
          <p:nvPr/>
        </p:nvSpPr>
        <p:spPr>
          <a:xfrm>
            <a:off x="843170" y="1385888"/>
            <a:ext cx="7666038" cy="609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accent1"/>
              </a:buClr>
              <a:buSzPts val="1960"/>
              <a:buFont typeface="Arial"/>
              <a:buChar char="●"/>
            </a:pPr>
            <a:r>
              <a:rPr lang="en-US" sz="2800">
                <a:solidFill>
                  <a:schemeClr val="dk1"/>
                </a:solidFill>
                <a:latin typeface="Calibri"/>
                <a:ea typeface="Calibri"/>
                <a:cs typeface="Calibri"/>
                <a:sym typeface="Calibri"/>
              </a:rPr>
              <a:t>Recursive formula for subproblems:</a:t>
            </a:r>
            <a:endParaRPr sz="3600">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32"/>
          <p:cNvSpPr txBox="1"/>
          <p:nvPr>
            <p:ph idx="4294967295" type="title"/>
          </p:nvPr>
        </p:nvSpPr>
        <p:spPr>
          <a:xfrm>
            <a:off x="212033" y="522218"/>
            <a:ext cx="871993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Recursive Formula</a:t>
            </a:r>
            <a:endParaRPr/>
          </a:p>
        </p:txBody>
      </p:sp>
      <p:sp>
        <p:nvSpPr>
          <p:cNvPr id="1138" name="Google Shape;1138;p32"/>
          <p:cNvSpPr txBox="1"/>
          <p:nvPr>
            <p:ph idx="4294967295" type="body"/>
          </p:nvPr>
        </p:nvSpPr>
        <p:spPr>
          <a:xfrm>
            <a:off x="475507" y="3220278"/>
            <a:ext cx="8192983" cy="4191000"/>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The best subset of </a:t>
            </a:r>
            <a:r>
              <a:rPr i="1" lang="en-US"/>
              <a:t>S</a:t>
            </a:r>
            <a:r>
              <a:rPr baseline="-25000" i="1" lang="en-US"/>
              <a:t>k</a:t>
            </a:r>
            <a:r>
              <a:rPr lang="en-US"/>
              <a:t> that has the total weight </a:t>
            </a:r>
            <a:r>
              <a:rPr i="1" lang="en-US"/>
              <a:t>w,</a:t>
            </a:r>
            <a:r>
              <a:rPr lang="en-US"/>
              <a:t> either contains item </a:t>
            </a:r>
            <a:r>
              <a:rPr i="1" lang="en-US"/>
              <a:t>k</a:t>
            </a:r>
            <a:r>
              <a:rPr lang="en-US"/>
              <a:t> or not.</a:t>
            </a:r>
            <a:endParaRPr/>
          </a:p>
          <a:p>
            <a:pPr indent="-454025" lvl="0" marL="454025" rtl="0" algn="l">
              <a:spcBef>
                <a:spcPts val="2000"/>
              </a:spcBef>
              <a:spcAft>
                <a:spcPts val="0"/>
              </a:spcAft>
              <a:buSzPts val="2160"/>
              <a:buChar char="🡽"/>
            </a:pPr>
            <a:r>
              <a:rPr lang="en-US"/>
              <a:t>First case: </a:t>
            </a:r>
            <a:r>
              <a:rPr i="1" lang="en-US"/>
              <a:t>w</a:t>
            </a:r>
            <a:r>
              <a:rPr baseline="-25000" i="1" lang="en-US"/>
              <a:t>k</a:t>
            </a:r>
            <a:r>
              <a:rPr i="1" lang="en-US"/>
              <a:t>&gt;w</a:t>
            </a:r>
            <a:r>
              <a:rPr lang="en-US"/>
              <a:t>. Item </a:t>
            </a:r>
            <a:r>
              <a:rPr i="1" lang="en-US"/>
              <a:t>k</a:t>
            </a:r>
            <a:r>
              <a:rPr lang="en-US"/>
              <a:t> can’t be part of the solution, since if it was, the total weight would be </a:t>
            </a:r>
            <a:r>
              <a:rPr i="1" lang="en-US"/>
              <a:t>&gt; w</a:t>
            </a:r>
            <a:r>
              <a:rPr lang="en-US"/>
              <a:t>, which is unacceptable</a:t>
            </a:r>
            <a:endParaRPr/>
          </a:p>
          <a:p>
            <a:pPr indent="-454025" lvl="0" marL="454025" rtl="0" algn="l">
              <a:spcBef>
                <a:spcPts val="2000"/>
              </a:spcBef>
              <a:spcAft>
                <a:spcPts val="0"/>
              </a:spcAft>
              <a:buSzPts val="2160"/>
              <a:buChar char="🡽"/>
            </a:pPr>
            <a:r>
              <a:rPr lang="en-US"/>
              <a:t>Second case: </a:t>
            </a:r>
            <a:r>
              <a:rPr i="1" lang="en-US"/>
              <a:t>w</a:t>
            </a:r>
            <a:r>
              <a:rPr baseline="-25000" i="1" lang="en-US"/>
              <a:t>k</a:t>
            </a:r>
            <a:r>
              <a:rPr i="1" lang="en-US"/>
              <a:t> &lt;=w</a:t>
            </a:r>
            <a:r>
              <a:rPr lang="en-US"/>
              <a:t>. Then the item </a:t>
            </a:r>
            <a:r>
              <a:rPr i="1" lang="en-US"/>
              <a:t>k</a:t>
            </a:r>
            <a:r>
              <a:rPr lang="en-US"/>
              <a:t> </a:t>
            </a:r>
            <a:r>
              <a:rPr lang="en-US" u="sng"/>
              <a:t>can</a:t>
            </a:r>
            <a:r>
              <a:rPr lang="en-US"/>
              <a:t> be in the solution, and we choose the case with greater value</a:t>
            </a:r>
            <a:endParaRPr/>
          </a:p>
        </p:txBody>
      </p:sp>
      <p:pic>
        <p:nvPicPr>
          <p:cNvPr id="1139" name="Google Shape;1139;p32"/>
          <p:cNvPicPr preferRelativeResize="0"/>
          <p:nvPr/>
        </p:nvPicPr>
        <p:blipFill rotWithShape="1">
          <a:blip r:embed="rId3">
            <a:alphaModFix/>
          </a:blip>
          <a:srcRect b="0" l="0" r="0" t="0"/>
          <a:stretch/>
        </p:blipFill>
        <p:spPr>
          <a:xfrm>
            <a:off x="609599" y="1983891"/>
            <a:ext cx="7924800" cy="1114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8">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33"/>
          <p:cNvSpPr txBox="1"/>
          <p:nvPr>
            <p:ph idx="4294967295" type="title"/>
          </p:nvPr>
        </p:nvSpPr>
        <p:spPr>
          <a:xfrm>
            <a:off x="-197126" y="597108"/>
            <a:ext cx="9144000"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orbel"/>
              <a:buNone/>
            </a:pPr>
            <a:r>
              <a:rPr b="1" lang="en-US" sz="2400">
                <a:solidFill>
                  <a:schemeClr val="dk1"/>
                </a:solidFill>
              </a:rPr>
              <a:t>The Knapsack Problem And Optimal Substructure</a:t>
            </a:r>
            <a:endParaRPr/>
          </a:p>
        </p:txBody>
      </p:sp>
      <p:sp>
        <p:nvSpPr>
          <p:cNvPr id="1145" name="Google Shape;1145;p33"/>
          <p:cNvSpPr txBox="1"/>
          <p:nvPr>
            <p:ph idx="4294967295" type="body"/>
          </p:nvPr>
        </p:nvSpPr>
        <p:spPr>
          <a:xfrm>
            <a:off x="488674" y="1987066"/>
            <a:ext cx="8458200" cy="3412435"/>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Both variations exhibit optimal substructure</a:t>
            </a:r>
            <a:endParaRPr/>
          </a:p>
          <a:p>
            <a:pPr indent="-454025" lvl="0" marL="454025" rtl="0" algn="l">
              <a:spcBef>
                <a:spcPts val="2000"/>
              </a:spcBef>
              <a:spcAft>
                <a:spcPts val="0"/>
              </a:spcAft>
              <a:buSzPts val="2160"/>
              <a:buChar char="🡽"/>
            </a:pPr>
            <a:r>
              <a:rPr lang="en-US"/>
              <a:t>To show this for the 0-1 problem, consider the most valuable load weighing at most </a:t>
            </a:r>
            <a:r>
              <a:rPr i="1" lang="en-US"/>
              <a:t>W</a:t>
            </a:r>
            <a:r>
              <a:rPr lang="en-US"/>
              <a:t> pounds</a:t>
            </a:r>
            <a:endParaRPr/>
          </a:p>
          <a:p>
            <a:pPr indent="-457200" lvl="1" marL="914400" rtl="0" algn="l">
              <a:spcBef>
                <a:spcPts val="600"/>
              </a:spcBef>
              <a:spcAft>
                <a:spcPts val="0"/>
              </a:spcAft>
              <a:buSzPts val="1980"/>
              <a:buChar char="🡽"/>
            </a:pPr>
            <a:r>
              <a:rPr i="1" lang="en-US">
                <a:solidFill>
                  <a:schemeClr val="accent1"/>
                </a:solidFill>
              </a:rPr>
              <a:t>If we remove item j from the load, what do we know about the remaining load?</a:t>
            </a:r>
            <a:endParaRPr/>
          </a:p>
          <a:p>
            <a:pPr indent="-457200" lvl="1" marL="914400" rtl="0" algn="l">
              <a:spcBef>
                <a:spcPts val="600"/>
              </a:spcBef>
              <a:spcAft>
                <a:spcPts val="0"/>
              </a:spcAft>
              <a:buSzPts val="1980"/>
              <a:buChar char="🡽"/>
            </a:pPr>
            <a:r>
              <a:rPr lang="en-US"/>
              <a:t>A: remainder must be the most valuable load weighing at most </a:t>
            </a:r>
            <a:r>
              <a:rPr i="1" lang="en-US"/>
              <a:t>W</a:t>
            </a:r>
            <a:r>
              <a:rPr lang="en-US"/>
              <a:t> - </a:t>
            </a:r>
            <a:r>
              <a:rPr i="1" lang="en-US"/>
              <a:t>w</a:t>
            </a:r>
            <a:r>
              <a:rPr baseline="-25000" i="1" lang="en-US"/>
              <a:t>j</a:t>
            </a:r>
            <a:r>
              <a:rPr i="1" lang="en-US"/>
              <a:t> </a:t>
            </a:r>
            <a:r>
              <a:rPr lang="en-US"/>
              <a:t>that thief could take from museum, excluding item j </a:t>
            </a:r>
            <a:endParaRPr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34"/>
          <p:cNvSpPr txBox="1"/>
          <p:nvPr>
            <p:ph idx="4294967295" type="title"/>
          </p:nvPr>
        </p:nvSpPr>
        <p:spPr>
          <a:xfrm>
            <a:off x="0" y="406675"/>
            <a:ext cx="9011478"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Solving The Knapsack Problem</a:t>
            </a:r>
            <a:endParaRPr/>
          </a:p>
        </p:txBody>
      </p:sp>
      <p:sp>
        <p:nvSpPr>
          <p:cNvPr id="1151" name="Google Shape;1151;p34"/>
          <p:cNvSpPr txBox="1"/>
          <p:nvPr>
            <p:ph idx="4294967295" type="body"/>
          </p:nvPr>
        </p:nvSpPr>
        <p:spPr>
          <a:xfrm>
            <a:off x="284956" y="1974574"/>
            <a:ext cx="8574088" cy="3992563"/>
          </a:xfrm>
          <a:prstGeom prst="rect">
            <a:avLst/>
          </a:prstGeom>
          <a:noFill/>
          <a:ln>
            <a:noFill/>
          </a:ln>
        </p:spPr>
        <p:txBody>
          <a:bodyPr anchorCtr="0" anchor="t" bIns="45700" lIns="91425" spcFirstLastPara="1" rIns="91425" wrap="square" tIns="45700">
            <a:normAutofit lnSpcReduction="10000"/>
          </a:bodyPr>
          <a:lstStyle/>
          <a:p>
            <a:pPr indent="-454025" lvl="0" marL="454025" rtl="0" algn="l">
              <a:spcBef>
                <a:spcPts val="0"/>
              </a:spcBef>
              <a:spcAft>
                <a:spcPts val="0"/>
              </a:spcAft>
              <a:buSzPts val="2160"/>
              <a:buChar char="🡽"/>
            </a:pPr>
            <a:r>
              <a:rPr lang="en-US"/>
              <a:t>The optimal solution to the fractional knapsack problem can be found with a greedy algorithm</a:t>
            </a:r>
            <a:endParaRPr/>
          </a:p>
          <a:p>
            <a:pPr indent="-457200" lvl="1" marL="914400" rtl="0" algn="l">
              <a:spcBef>
                <a:spcPts val="600"/>
              </a:spcBef>
              <a:spcAft>
                <a:spcPts val="0"/>
              </a:spcAft>
              <a:buSzPts val="1980"/>
              <a:buChar char="🡽"/>
            </a:pPr>
            <a:r>
              <a:rPr i="1" lang="en-US">
                <a:solidFill>
                  <a:schemeClr val="accent1"/>
                </a:solidFill>
              </a:rPr>
              <a:t>How?</a:t>
            </a:r>
            <a:endParaRPr>
              <a:solidFill>
                <a:schemeClr val="accent1"/>
              </a:solidFill>
            </a:endParaRPr>
          </a:p>
          <a:p>
            <a:pPr indent="-454025" lvl="0" marL="454025" rtl="0" algn="l">
              <a:spcBef>
                <a:spcPts val="2000"/>
              </a:spcBef>
              <a:spcAft>
                <a:spcPts val="0"/>
              </a:spcAft>
              <a:buSzPts val="2160"/>
              <a:buChar char="🡽"/>
            </a:pPr>
            <a:r>
              <a:rPr lang="en-US"/>
              <a:t>The optimal solution to the 0-1 problem cannot be found with the same greedy strategy</a:t>
            </a:r>
            <a:endParaRPr/>
          </a:p>
          <a:p>
            <a:pPr indent="-457200" lvl="1" marL="914400" rtl="0" algn="l">
              <a:spcBef>
                <a:spcPts val="600"/>
              </a:spcBef>
              <a:spcAft>
                <a:spcPts val="0"/>
              </a:spcAft>
              <a:buSzPts val="1980"/>
              <a:buChar char="🡽"/>
            </a:pPr>
            <a:r>
              <a:rPr lang="en-US"/>
              <a:t>Greedy strategy: take in order of dollars/pound</a:t>
            </a:r>
            <a:endParaRPr/>
          </a:p>
          <a:p>
            <a:pPr indent="-457200" lvl="1" marL="914400" rtl="0" algn="l">
              <a:spcBef>
                <a:spcPts val="600"/>
              </a:spcBef>
              <a:spcAft>
                <a:spcPts val="0"/>
              </a:spcAft>
              <a:buSzPts val="1980"/>
              <a:buChar char="🡽"/>
            </a:pPr>
            <a:r>
              <a:rPr lang="en-US"/>
              <a:t>Example: 3 items weighing 10, 20, and 30 pounds, knapsack can hold 50 pounds</a:t>
            </a:r>
            <a:endParaRPr/>
          </a:p>
          <a:p>
            <a:pPr indent="-346075" lvl="2" marL="1260475" rtl="0" algn="l">
              <a:spcBef>
                <a:spcPts val="600"/>
              </a:spcBef>
              <a:spcAft>
                <a:spcPts val="0"/>
              </a:spcAft>
              <a:buSzPts val="1800"/>
              <a:buChar char="🡽"/>
            </a:pPr>
            <a:r>
              <a:rPr i="1" lang="en-US">
                <a:solidFill>
                  <a:schemeClr val="accent1"/>
                </a:solidFill>
              </a:rPr>
              <a:t>Suppose item 2 is worth $100.  Assign values to the other items so that the greedy strategy will fail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35"/>
          <p:cNvSpPr txBox="1"/>
          <p:nvPr/>
        </p:nvSpPr>
        <p:spPr>
          <a:xfrm>
            <a:off x="371061" y="6255026"/>
            <a:ext cx="9144000" cy="776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900">
                <a:solidFill>
                  <a:schemeClr val="dk1"/>
                </a:solidFill>
                <a:latin typeface="Arial"/>
                <a:ea typeface="Arial"/>
                <a:cs typeface="Arial"/>
                <a:sym typeface="Arial"/>
              </a:rPr>
              <a:t>Copyright © The McGraw-Hill Companies, Inc. Permission required for reproduction or display.</a:t>
            </a:r>
            <a:endParaRPr b="1" sz="900">
              <a:solidFill>
                <a:schemeClr val="dk1"/>
              </a:solidFill>
              <a:latin typeface="Arial"/>
              <a:ea typeface="Arial"/>
              <a:cs typeface="Arial"/>
              <a:sym typeface="Arial"/>
            </a:endParaRPr>
          </a:p>
          <a:p>
            <a:pPr indent="0" lvl="0" marL="0" marR="0" rtl="0" algn="l">
              <a:spcBef>
                <a:spcPts val="900"/>
              </a:spcBef>
              <a:spcAft>
                <a:spcPts val="0"/>
              </a:spcAft>
              <a:buNone/>
            </a:pPr>
            <a:r>
              <a:t/>
            </a:r>
            <a:endParaRPr sz="1800">
              <a:solidFill>
                <a:schemeClr val="dk1"/>
              </a:solidFill>
              <a:latin typeface="Calibri"/>
              <a:ea typeface="Calibri"/>
              <a:cs typeface="Calibri"/>
              <a:sym typeface="Calibri"/>
            </a:endParaRPr>
          </a:p>
        </p:txBody>
      </p:sp>
      <p:pic>
        <p:nvPicPr>
          <p:cNvPr descr="D:\McGraw-Hill Projects\Cormen\images\fig16-2.gif" id="1157" name="Google Shape;1157;p35"/>
          <p:cNvPicPr preferRelativeResize="0"/>
          <p:nvPr/>
        </p:nvPicPr>
        <p:blipFill rotWithShape="1">
          <a:blip r:embed="rId3">
            <a:alphaModFix/>
          </a:blip>
          <a:srcRect b="0" l="0" r="0" t="0"/>
          <a:stretch/>
        </p:blipFill>
        <p:spPr>
          <a:xfrm>
            <a:off x="0" y="1434617"/>
            <a:ext cx="9144000" cy="46513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36"/>
          <p:cNvSpPr txBox="1"/>
          <p:nvPr>
            <p:ph idx="4294967295" type="title"/>
          </p:nvPr>
        </p:nvSpPr>
        <p:spPr>
          <a:xfrm>
            <a:off x="0" y="381000"/>
            <a:ext cx="9142412" cy="914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orbel"/>
              <a:buNone/>
            </a:pPr>
            <a:r>
              <a:rPr b="1" lang="en-US" sz="2400">
                <a:solidFill>
                  <a:schemeClr val="dk1"/>
                </a:solidFill>
              </a:rPr>
              <a:t>The Knapsack Problem: Greedy Vs. Dynamic</a:t>
            </a:r>
            <a:endParaRPr/>
          </a:p>
        </p:txBody>
      </p:sp>
      <p:sp>
        <p:nvSpPr>
          <p:cNvPr id="1163" name="Google Shape;1163;p36"/>
          <p:cNvSpPr txBox="1"/>
          <p:nvPr>
            <p:ph idx="4294967295" type="body"/>
          </p:nvPr>
        </p:nvSpPr>
        <p:spPr>
          <a:xfrm>
            <a:off x="447261" y="1709530"/>
            <a:ext cx="8458200" cy="4505739"/>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The fractional problem can be solved greedily</a:t>
            </a:r>
            <a:endParaRPr/>
          </a:p>
          <a:p>
            <a:pPr indent="-454025" lvl="0" marL="454025" rtl="0" algn="l">
              <a:spcBef>
                <a:spcPts val="2000"/>
              </a:spcBef>
              <a:spcAft>
                <a:spcPts val="0"/>
              </a:spcAft>
              <a:buSzPts val="2160"/>
              <a:buChar char="🡽"/>
            </a:pPr>
            <a:r>
              <a:rPr lang="en-US"/>
              <a:t>The 0-1 problem cannot be solved with a greedy approach</a:t>
            </a:r>
            <a:endParaRPr/>
          </a:p>
          <a:p>
            <a:pPr indent="-457200" lvl="1" marL="914400" rtl="0" algn="l">
              <a:spcBef>
                <a:spcPts val="600"/>
              </a:spcBef>
              <a:spcAft>
                <a:spcPts val="0"/>
              </a:spcAft>
              <a:buSzPts val="1980"/>
              <a:buChar char="🡽"/>
            </a:pPr>
            <a:r>
              <a:rPr lang="en-US"/>
              <a:t>As you have seen, however, it can be solved with dynamic programming</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37"/>
          <p:cNvSpPr txBox="1"/>
          <p:nvPr>
            <p:ph idx="4294967295" type="title"/>
          </p:nvPr>
        </p:nvSpPr>
        <p:spPr>
          <a:xfrm>
            <a:off x="0" y="418204"/>
            <a:ext cx="9144000" cy="9683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Fractional-knapsack</a:t>
            </a:r>
            <a:endParaRPr/>
          </a:p>
        </p:txBody>
      </p:sp>
      <p:sp>
        <p:nvSpPr>
          <p:cNvPr id="1169" name="Google Shape;1169;p37"/>
          <p:cNvSpPr txBox="1"/>
          <p:nvPr>
            <p:ph idx="4294967295" type="body"/>
          </p:nvPr>
        </p:nvSpPr>
        <p:spPr>
          <a:xfrm>
            <a:off x="768626" y="2133600"/>
            <a:ext cx="7805462" cy="3992563"/>
          </a:xfrm>
          <a:prstGeom prst="rect">
            <a:avLst/>
          </a:prstGeom>
          <a:noFill/>
          <a:ln>
            <a:noFill/>
          </a:ln>
        </p:spPr>
        <p:txBody>
          <a:bodyPr anchorCtr="0" anchor="t" bIns="45700" lIns="91425" spcFirstLastPara="1" rIns="91425" wrap="square" tIns="45700">
            <a:normAutofit fontScale="92500" lnSpcReduction="20000"/>
          </a:bodyPr>
          <a:lstStyle/>
          <a:p>
            <a:pPr indent="-454025" lvl="0" marL="454025" rtl="0" algn="l">
              <a:spcBef>
                <a:spcPts val="0"/>
              </a:spcBef>
              <a:spcAft>
                <a:spcPts val="0"/>
              </a:spcAft>
              <a:buSzPct val="90000"/>
              <a:buChar char="🡽"/>
            </a:pPr>
            <a:r>
              <a:rPr b="1" lang="en-US"/>
              <a:t>Greedy-fractional-knapsack (</a:t>
            </a:r>
            <a:r>
              <a:rPr b="1" i="1" lang="en-US"/>
              <a:t>w, v, W</a:t>
            </a:r>
            <a:r>
              <a:rPr b="1" lang="en-US"/>
              <a:t>)</a:t>
            </a:r>
            <a:endParaRPr/>
          </a:p>
          <a:p>
            <a:pPr indent="-454025" lvl="0" marL="454025" rtl="0" algn="l">
              <a:spcBef>
                <a:spcPts val="2000"/>
              </a:spcBef>
              <a:spcAft>
                <a:spcPts val="0"/>
              </a:spcAft>
              <a:buSzPct val="90000"/>
              <a:buChar char="🡽"/>
            </a:pPr>
            <a:r>
              <a:rPr lang="en-US"/>
              <a:t>FOR</a:t>
            </a:r>
            <a:r>
              <a:rPr i="1" lang="en-US"/>
              <a:t> i </a:t>
            </a:r>
            <a:r>
              <a:rPr lang="en-US"/>
              <a:t>=1 to </a:t>
            </a:r>
            <a:r>
              <a:rPr i="1" lang="en-US"/>
              <a:t>n</a:t>
            </a:r>
            <a:br>
              <a:rPr lang="en-US"/>
            </a:br>
            <a:r>
              <a:rPr lang="en-US"/>
              <a:t>    do </a:t>
            </a:r>
            <a:r>
              <a:rPr i="1" lang="en-US"/>
              <a:t>x</a:t>
            </a:r>
            <a:r>
              <a:rPr lang="en-US"/>
              <a:t>[</a:t>
            </a:r>
            <a:r>
              <a:rPr i="1" lang="en-US"/>
              <a:t>i</a:t>
            </a:r>
            <a:r>
              <a:rPr lang="en-US"/>
              <a:t>] =0</a:t>
            </a:r>
            <a:br>
              <a:rPr lang="en-US"/>
            </a:br>
            <a:r>
              <a:rPr lang="en-US"/>
              <a:t>weight = 0</a:t>
            </a:r>
            <a:br>
              <a:rPr lang="en-US"/>
            </a:br>
            <a:r>
              <a:rPr lang="en-US"/>
              <a:t>while weight &lt; </a:t>
            </a:r>
            <a:r>
              <a:rPr i="1" lang="en-US"/>
              <a:t>W</a:t>
            </a:r>
            <a:br>
              <a:rPr lang="en-US"/>
            </a:br>
            <a:r>
              <a:rPr lang="en-US"/>
              <a:t>    do</a:t>
            </a:r>
            <a:r>
              <a:rPr i="1" lang="en-US"/>
              <a:t> i</a:t>
            </a:r>
            <a:r>
              <a:rPr lang="en-US"/>
              <a:t> = best remaining item</a:t>
            </a:r>
            <a:br>
              <a:rPr lang="en-US"/>
            </a:br>
            <a:r>
              <a:rPr lang="en-US"/>
              <a:t>        IF weight + </a:t>
            </a:r>
            <a:r>
              <a:rPr i="1" lang="en-US"/>
              <a:t>w</a:t>
            </a:r>
            <a:r>
              <a:rPr lang="en-US"/>
              <a:t>[</a:t>
            </a:r>
            <a:r>
              <a:rPr i="1" lang="en-US"/>
              <a:t>i</a:t>
            </a:r>
            <a:r>
              <a:rPr lang="en-US"/>
              <a:t>] ≤ </a:t>
            </a:r>
            <a:r>
              <a:rPr i="1" lang="en-US"/>
              <a:t>W</a:t>
            </a:r>
            <a:br>
              <a:rPr lang="en-US"/>
            </a:br>
            <a:r>
              <a:rPr lang="en-US"/>
              <a:t>            then </a:t>
            </a:r>
            <a:r>
              <a:rPr i="1" lang="en-US"/>
              <a:t>x</a:t>
            </a:r>
            <a:r>
              <a:rPr lang="en-US"/>
              <a:t>[</a:t>
            </a:r>
            <a:r>
              <a:rPr i="1" lang="en-US"/>
              <a:t>i</a:t>
            </a:r>
            <a:r>
              <a:rPr lang="en-US"/>
              <a:t>] = 1</a:t>
            </a:r>
            <a:br>
              <a:rPr lang="en-US"/>
            </a:br>
            <a:r>
              <a:rPr lang="en-US"/>
              <a:t>                weight = weight + </a:t>
            </a:r>
            <a:r>
              <a:rPr i="1" lang="en-US"/>
              <a:t>w</a:t>
            </a:r>
            <a:r>
              <a:rPr lang="en-US"/>
              <a:t>[</a:t>
            </a:r>
            <a:r>
              <a:rPr i="1" lang="en-US"/>
              <a:t>i</a:t>
            </a:r>
            <a:r>
              <a:rPr lang="en-US"/>
              <a:t>]</a:t>
            </a:r>
            <a:br>
              <a:rPr lang="en-US"/>
            </a:br>
            <a:r>
              <a:rPr lang="en-US"/>
              <a:t>            else</a:t>
            </a:r>
            <a:br>
              <a:rPr lang="en-US"/>
            </a:br>
            <a:r>
              <a:rPr i="1" lang="en-US"/>
              <a:t>                x</a:t>
            </a:r>
            <a:r>
              <a:rPr lang="en-US"/>
              <a:t>[</a:t>
            </a:r>
            <a:r>
              <a:rPr i="1" lang="en-US"/>
              <a:t>i</a:t>
            </a:r>
            <a:r>
              <a:rPr lang="en-US"/>
              <a:t>] = (</a:t>
            </a:r>
            <a:r>
              <a:rPr i="1" lang="en-US"/>
              <a:t>w</a:t>
            </a:r>
            <a:r>
              <a:rPr lang="en-US"/>
              <a:t> - weight) /</a:t>
            </a:r>
            <a:r>
              <a:rPr i="1" lang="en-US"/>
              <a:t> w</a:t>
            </a:r>
            <a:r>
              <a:rPr lang="en-US"/>
              <a:t>[</a:t>
            </a:r>
            <a:r>
              <a:rPr i="1" lang="en-US"/>
              <a:t>i</a:t>
            </a:r>
            <a:r>
              <a:rPr lang="en-US"/>
              <a:t>]</a:t>
            </a:r>
            <a:br>
              <a:rPr lang="en-US"/>
            </a:br>
            <a:r>
              <a:rPr lang="en-US"/>
              <a:t>                weight = </a:t>
            </a:r>
            <a:r>
              <a:rPr i="1" lang="en-US"/>
              <a:t>W</a:t>
            </a:r>
            <a:br>
              <a:rPr lang="en-US"/>
            </a:br>
            <a:r>
              <a:rPr lang="en-US"/>
              <a:t>return </a:t>
            </a:r>
            <a:r>
              <a:rPr i="1" lang="en-US"/>
              <a:t>x</a:t>
            </a:r>
            <a:endParaRPr/>
          </a:p>
          <a:p>
            <a:pPr indent="-327151" lvl="0" marL="454025" rtl="0" algn="l">
              <a:spcBef>
                <a:spcPts val="2000"/>
              </a:spcBef>
              <a:spcAft>
                <a:spcPts val="0"/>
              </a:spcAft>
              <a:buSzPct val="900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38"/>
          <p:cNvSpPr txBox="1"/>
          <p:nvPr>
            <p:ph idx="4294967295" type="title"/>
          </p:nvPr>
        </p:nvSpPr>
        <p:spPr>
          <a:xfrm>
            <a:off x="738981" y="546652"/>
            <a:ext cx="7772400" cy="76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0-1 Knapsack Algorithm</a:t>
            </a:r>
            <a:endParaRPr/>
          </a:p>
        </p:txBody>
      </p:sp>
      <p:sp>
        <p:nvSpPr>
          <p:cNvPr id="1175" name="Google Shape;1175;p38"/>
          <p:cNvSpPr txBox="1"/>
          <p:nvPr>
            <p:ph idx="4294967295" type="body"/>
          </p:nvPr>
        </p:nvSpPr>
        <p:spPr>
          <a:xfrm>
            <a:off x="632619" y="1461052"/>
            <a:ext cx="7878762" cy="4184374"/>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Font typeface="Arial"/>
              <a:buNone/>
            </a:pPr>
            <a:r>
              <a:rPr lang="en-US">
                <a:solidFill>
                  <a:srgbClr val="008000"/>
                </a:solidFill>
              </a:rPr>
              <a:t>for w = 0 to W</a:t>
            </a:r>
            <a:endParaRPr/>
          </a:p>
          <a:p>
            <a:pPr indent="-454025" lvl="0" marL="454025" rtl="0" algn="l">
              <a:spcBef>
                <a:spcPts val="0"/>
              </a:spcBef>
              <a:spcAft>
                <a:spcPts val="0"/>
              </a:spcAft>
              <a:buSzPts val="2160"/>
              <a:buFont typeface="Arial"/>
              <a:buNone/>
            </a:pPr>
            <a:r>
              <a:rPr lang="en-US">
                <a:solidFill>
                  <a:srgbClr val="008000"/>
                </a:solidFill>
              </a:rPr>
              <a:t>	B[0,w] = 0</a:t>
            </a:r>
            <a:endParaRPr/>
          </a:p>
          <a:p>
            <a:pPr indent="-454025" lvl="0" marL="454025" rtl="0" algn="l">
              <a:spcBef>
                <a:spcPts val="0"/>
              </a:spcBef>
              <a:spcAft>
                <a:spcPts val="0"/>
              </a:spcAft>
              <a:buSzPts val="2160"/>
              <a:buFont typeface="Arial"/>
              <a:buNone/>
            </a:pPr>
            <a:r>
              <a:rPr lang="en-US">
                <a:solidFill>
                  <a:srgbClr val="008000"/>
                </a:solidFill>
              </a:rPr>
              <a:t>for i = 0 to n</a:t>
            </a:r>
            <a:endParaRPr/>
          </a:p>
          <a:p>
            <a:pPr indent="-454025" lvl="0" marL="454025" rtl="0" algn="l">
              <a:spcBef>
                <a:spcPts val="0"/>
              </a:spcBef>
              <a:spcAft>
                <a:spcPts val="0"/>
              </a:spcAft>
              <a:buSzPts val="2160"/>
              <a:buFont typeface="Arial"/>
              <a:buNone/>
            </a:pPr>
            <a:r>
              <a:rPr lang="en-US">
                <a:solidFill>
                  <a:srgbClr val="008000"/>
                </a:solidFill>
              </a:rPr>
              <a:t>	B[i,0] = 0</a:t>
            </a:r>
            <a:endParaRPr/>
          </a:p>
          <a:p>
            <a:pPr indent="-454025" lvl="0" marL="454025" rtl="0" algn="l">
              <a:spcBef>
                <a:spcPts val="0"/>
              </a:spcBef>
              <a:spcAft>
                <a:spcPts val="0"/>
              </a:spcAft>
              <a:buSzPts val="2160"/>
              <a:buFont typeface="Arial"/>
              <a:buNone/>
            </a:pPr>
            <a:r>
              <a:rPr lang="en-US">
                <a:solidFill>
                  <a:srgbClr val="008000"/>
                </a:solidFill>
              </a:rPr>
              <a:t>	for w = 0 to W</a:t>
            </a:r>
            <a:endParaRPr/>
          </a:p>
          <a:p>
            <a:pPr indent="-454025" lvl="0" marL="454025" rtl="0" algn="l">
              <a:spcBef>
                <a:spcPts val="0"/>
              </a:spcBef>
              <a:spcAft>
                <a:spcPts val="0"/>
              </a:spcAft>
              <a:buSzPts val="2160"/>
              <a:buFont typeface="Arial"/>
              <a:buNone/>
            </a:pPr>
            <a:r>
              <a:rPr lang="en-US">
                <a:solidFill>
                  <a:srgbClr val="008000"/>
                </a:solidFill>
              </a:rPr>
              <a:t>		if wi &lt;= w // item i can be part of the solution</a:t>
            </a:r>
            <a:endParaRPr/>
          </a:p>
          <a:p>
            <a:pPr indent="-454025" lvl="0" marL="454025" rtl="0" algn="l">
              <a:spcBef>
                <a:spcPts val="0"/>
              </a:spcBef>
              <a:spcAft>
                <a:spcPts val="0"/>
              </a:spcAft>
              <a:buSzPts val="2160"/>
              <a:buFont typeface="Arial"/>
              <a:buNone/>
            </a:pPr>
            <a:r>
              <a:rPr lang="en-US">
                <a:solidFill>
                  <a:srgbClr val="008000"/>
                </a:solidFill>
              </a:rPr>
              <a:t>			if bi + B[i-1,w-wi] &gt; B[i-1,w]</a:t>
            </a:r>
            <a:endParaRPr/>
          </a:p>
          <a:p>
            <a:pPr indent="-454025" lvl="0" marL="454025" rtl="0" algn="l">
              <a:spcBef>
                <a:spcPts val="0"/>
              </a:spcBef>
              <a:spcAft>
                <a:spcPts val="0"/>
              </a:spcAft>
              <a:buSzPts val="2160"/>
              <a:buFont typeface="Arial"/>
              <a:buNone/>
            </a:pPr>
            <a:r>
              <a:rPr lang="en-US">
                <a:solidFill>
                  <a:srgbClr val="008000"/>
                </a:solidFill>
              </a:rPr>
              <a:t>				B[i,w] = bi + B[i-1,w- wi]</a:t>
            </a:r>
            <a:endParaRPr/>
          </a:p>
          <a:p>
            <a:pPr indent="-454025" lvl="0" marL="454025" rtl="0" algn="l">
              <a:spcBef>
                <a:spcPts val="0"/>
              </a:spcBef>
              <a:spcAft>
                <a:spcPts val="0"/>
              </a:spcAft>
              <a:buSzPts val="2160"/>
              <a:buFont typeface="Arial"/>
              <a:buNone/>
            </a:pPr>
            <a:r>
              <a:rPr lang="en-US">
                <a:solidFill>
                  <a:srgbClr val="008000"/>
                </a:solidFill>
              </a:rPr>
              <a:t>			else</a:t>
            </a:r>
            <a:endParaRPr/>
          </a:p>
          <a:p>
            <a:pPr indent="-454025" lvl="0" marL="454025" rtl="0" algn="l">
              <a:spcBef>
                <a:spcPts val="0"/>
              </a:spcBef>
              <a:spcAft>
                <a:spcPts val="0"/>
              </a:spcAft>
              <a:buSzPts val="2160"/>
              <a:buFont typeface="Arial"/>
              <a:buNone/>
            </a:pPr>
            <a:r>
              <a:rPr lang="en-US">
                <a:solidFill>
                  <a:srgbClr val="008000"/>
                </a:solidFill>
              </a:rPr>
              <a:t>				B[i,w] = B[i-1,w]</a:t>
            </a:r>
            <a:endParaRPr/>
          </a:p>
          <a:p>
            <a:pPr indent="-454025" lvl="0" marL="454025" rtl="0" algn="l">
              <a:spcBef>
                <a:spcPts val="0"/>
              </a:spcBef>
              <a:spcAft>
                <a:spcPts val="0"/>
              </a:spcAft>
              <a:buSzPts val="2160"/>
              <a:buFont typeface="Arial"/>
              <a:buNone/>
            </a:pPr>
            <a:r>
              <a:rPr lang="en-US">
                <a:solidFill>
                  <a:srgbClr val="008000"/>
                </a:solidFill>
              </a:rPr>
              <a:t>		else B[i,w] = B[i-1,w]  // wi &gt; w </a:t>
            </a:r>
            <a:endParaRPr/>
          </a:p>
          <a:p>
            <a:pPr indent="-454025" lvl="0" marL="454025" rtl="0" algn="l">
              <a:spcBef>
                <a:spcPts val="2000"/>
              </a:spcBef>
              <a:spcAft>
                <a:spcPts val="0"/>
              </a:spcAft>
              <a:buSzPts val="2160"/>
              <a:buFont typeface="Arial"/>
              <a:buNone/>
            </a:pPr>
            <a:r>
              <a:t/>
            </a:r>
            <a:endParaRPr>
              <a:solidFill>
                <a:srgbClr val="008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39"/>
          <p:cNvSpPr txBox="1"/>
          <p:nvPr>
            <p:ph idx="4294967295" type="title"/>
          </p:nvPr>
        </p:nvSpPr>
        <p:spPr>
          <a:xfrm>
            <a:off x="301487" y="389994"/>
            <a:ext cx="8541026"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Running time</a:t>
            </a:r>
            <a:endParaRPr/>
          </a:p>
        </p:txBody>
      </p:sp>
      <p:sp>
        <p:nvSpPr>
          <p:cNvPr id="1181" name="Google Shape;1181;p39"/>
          <p:cNvSpPr txBox="1"/>
          <p:nvPr>
            <p:ph idx="4294967295" type="body"/>
          </p:nvPr>
        </p:nvSpPr>
        <p:spPr>
          <a:xfrm>
            <a:off x="758687" y="1709116"/>
            <a:ext cx="7772400" cy="3124200"/>
          </a:xfrm>
          <a:prstGeom prst="rect">
            <a:avLst/>
          </a:prstGeom>
          <a:noFill/>
          <a:ln>
            <a:noFill/>
          </a:ln>
        </p:spPr>
        <p:txBody>
          <a:bodyPr anchorCtr="0" anchor="t" bIns="45700" lIns="91425" spcFirstLastPara="1" rIns="91425" wrap="square" tIns="45700">
            <a:normAutofit fontScale="92500" lnSpcReduction="20000"/>
          </a:bodyPr>
          <a:lstStyle/>
          <a:p>
            <a:pPr indent="-454025" lvl="0" marL="454025" rtl="0" algn="l">
              <a:spcBef>
                <a:spcPts val="0"/>
              </a:spcBef>
              <a:spcAft>
                <a:spcPts val="0"/>
              </a:spcAft>
              <a:buSzPct val="90000"/>
              <a:buFont typeface="Arial"/>
              <a:buNone/>
            </a:pPr>
            <a:r>
              <a:rPr lang="en-US"/>
              <a:t>for w = 0 to W</a:t>
            </a:r>
            <a:endParaRPr/>
          </a:p>
          <a:p>
            <a:pPr indent="-454025" lvl="0" marL="454025" rtl="0" algn="l">
              <a:spcBef>
                <a:spcPts val="2000"/>
              </a:spcBef>
              <a:spcAft>
                <a:spcPts val="0"/>
              </a:spcAft>
              <a:buSzPct val="90000"/>
              <a:buFont typeface="Arial"/>
              <a:buNone/>
            </a:pPr>
            <a:r>
              <a:rPr lang="en-US"/>
              <a:t>	B[0,w] = 0</a:t>
            </a:r>
            <a:endParaRPr/>
          </a:p>
          <a:p>
            <a:pPr indent="-454025" lvl="0" marL="454025" rtl="0" algn="l">
              <a:spcBef>
                <a:spcPts val="2000"/>
              </a:spcBef>
              <a:spcAft>
                <a:spcPts val="0"/>
              </a:spcAft>
              <a:buSzPct val="90000"/>
              <a:buFont typeface="Arial"/>
              <a:buNone/>
            </a:pPr>
            <a:r>
              <a:rPr lang="en-US"/>
              <a:t>for i = 0 to n</a:t>
            </a:r>
            <a:endParaRPr/>
          </a:p>
          <a:p>
            <a:pPr indent="-454025" lvl="0" marL="454025" rtl="0" algn="l">
              <a:spcBef>
                <a:spcPts val="2000"/>
              </a:spcBef>
              <a:spcAft>
                <a:spcPts val="0"/>
              </a:spcAft>
              <a:buSzPct val="90000"/>
              <a:buFont typeface="Arial"/>
              <a:buNone/>
            </a:pPr>
            <a:r>
              <a:rPr lang="en-US"/>
              <a:t>	B[i,0] = 0</a:t>
            </a:r>
            <a:endParaRPr/>
          </a:p>
          <a:p>
            <a:pPr indent="-454025" lvl="0" marL="454025" rtl="0" algn="l">
              <a:spcBef>
                <a:spcPts val="2000"/>
              </a:spcBef>
              <a:spcAft>
                <a:spcPts val="0"/>
              </a:spcAft>
              <a:buSzPct val="90000"/>
              <a:buFont typeface="Arial"/>
              <a:buNone/>
            </a:pPr>
            <a:r>
              <a:rPr lang="en-US"/>
              <a:t>	for w = 0 to W</a:t>
            </a:r>
            <a:endParaRPr/>
          </a:p>
          <a:p>
            <a:pPr indent="-454025" lvl="0" marL="454025" rtl="0" algn="l">
              <a:spcBef>
                <a:spcPts val="2000"/>
              </a:spcBef>
              <a:spcAft>
                <a:spcPts val="0"/>
              </a:spcAft>
              <a:buSzPct val="90000"/>
              <a:buFont typeface="Arial"/>
              <a:buNone/>
            </a:pPr>
            <a:r>
              <a:rPr lang="en-US"/>
              <a:t>		&lt; the rest of the code &gt;</a:t>
            </a:r>
            <a:endParaRPr/>
          </a:p>
        </p:txBody>
      </p:sp>
      <p:sp>
        <p:nvSpPr>
          <p:cNvPr id="1182" name="Google Shape;1182;p39"/>
          <p:cNvSpPr txBox="1"/>
          <p:nvPr/>
        </p:nvSpPr>
        <p:spPr>
          <a:xfrm>
            <a:off x="1192212" y="4792662"/>
            <a:ext cx="7216775"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accent2"/>
                </a:solidFill>
                <a:latin typeface="Calibri"/>
                <a:ea typeface="Calibri"/>
                <a:cs typeface="Calibri"/>
                <a:sym typeface="Calibri"/>
              </a:rPr>
              <a:t>What is the running time of this algorithm?</a:t>
            </a:r>
            <a:endParaRPr sz="1800">
              <a:solidFill>
                <a:schemeClr val="dk1"/>
              </a:solidFill>
              <a:latin typeface="Calibri"/>
              <a:ea typeface="Calibri"/>
              <a:cs typeface="Calibri"/>
              <a:sym typeface="Calibri"/>
            </a:endParaRPr>
          </a:p>
        </p:txBody>
      </p:sp>
      <p:sp>
        <p:nvSpPr>
          <p:cNvPr id="1183" name="Google Shape;1183;p39"/>
          <p:cNvSpPr txBox="1"/>
          <p:nvPr/>
        </p:nvSpPr>
        <p:spPr>
          <a:xfrm>
            <a:off x="4572000" y="1679586"/>
            <a:ext cx="108585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chemeClr val="accent2"/>
                </a:solidFill>
                <a:latin typeface="Calibri"/>
                <a:ea typeface="Calibri"/>
                <a:cs typeface="Calibri"/>
                <a:sym typeface="Calibri"/>
              </a:rPr>
              <a:t>O(W)</a:t>
            </a:r>
            <a:endParaRPr sz="3200">
              <a:solidFill>
                <a:schemeClr val="accent2"/>
              </a:solidFill>
              <a:latin typeface="Calibri"/>
              <a:ea typeface="Calibri"/>
              <a:cs typeface="Calibri"/>
              <a:sym typeface="Calibri"/>
            </a:endParaRPr>
          </a:p>
        </p:txBody>
      </p:sp>
      <p:sp>
        <p:nvSpPr>
          <p:cNvPr id="1184" name="Google Shape;1184;p39"/>
          <p:cNvSpPr txBox="1"/>
          <p:nvPr/>
        </p:nvSpPr>
        <p:spPr>
          <a:xfrm>
            <a:off x="4986130" y="3934560"/>
            <a:ext cx="108585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chemeClr val="accent2"/>
                </a:solidFill>
                <a:latin typeface="Calibri"/>
                <a:ea typeface="Calibri"/>
                <a:cs typeface="Calibri"/>
                <a:sym typeface="Calibri"/>
              </a:rPr>
              <a:t>O(W)</a:t>
            </a:r>
            <a:endParaRPr sz="3200">
              <a:solidFill>
                <a:schemeClr val="accent2"/>
              </a:solidFill>
              <a:latin typeface="Calibri"/>
              <a:ea typeface="Calibri"/>
              <a:cs typeface="Calibri"/>
              <a:sym typeface="Calibri"/>
            </a:endParaRPr>
          </a:p>
        </p:txBody>
      </p:sp>
      <p:sp>
        <p:nvSpPr>
          <p:cNvPr id="1185" name="Google Shape;1185;p39"/>
          <p:cNvSpPr txBox="1"/>
          <p:nvPr/>
        </p:nvSpPr>
        <p:spPr>
          <a:xfrm>
            <a:off x="4494971" y="2859443"/>
            <a:ext cx="2601913"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accent2"/>
                </a:solidFill>
                <a:latin typeface="Calibri"/>
                <a:ea typeface="Calibri"/>
                <a:cs typeface="Calibri"/>
                <a:sym typeface="Calibri"/>
              </a:rPr>
              <a:t>Repeat </a:t>
            </a:r>
            <a:r>
              <a:rPr i="1" lang="en-US" sz="3200">
                <a:solidFill>
                  <a:schemeClr val="accent2"/>
                </a:solidFill>
                <a:latin typeface="Calibri"/>
                <a:ea typeface="Calibri"/>
                <a:cs typeface="Calibri"/>
                <a:sym typeface="Calibri"/>
              </a:rPr>
              <a:t>n</a:t>
            </a:r>
            <a:r>
              <a:rPr lang="en-US" sz="3200">
                <a:solidFill>
                  <a:schemeClr val="accent2"/>
                </a:solidFill>
                <a:latin typeface="Calibri"/>
                <a:ea typeface="Calibri"/>
                <a:cs typeface="Calibri"/>
                <a:sym typeface="Calibri"/>
              </a:rPr>
              <a:t> times</a:t>
            </a:r>
            <a:endParaRPr/>
          </a:p>
        </p:txBody>
      </p:sp>
      <p:sp>
        <p:nvSpPr>
          <p:cNvPr id="1186" name="Google Shape;1186;p39"/>
          <p:cNvSpPr txBox="1"/>
          <p:nvPr/>
        </p:nvSpPr>
        <p:spPr>
          <a:xfrm>
            <a:off x="1951383" y="5372100"/>
            <a:ext cx="1538288"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accent2"/>
                </a:solidFill>
                <a:latin typeface="Calibri"/>
                <a:ea typeface="Calibri"/>
                <a:cs typeface="Calibri"/>
                <a:sym typeface="Calibri"/>
              </a:rPr>
              <a:t>O(n*W)</a:t>
            </a:r>
            <a:endParaRPr/>
          </a:p>
        </p:txBody>
      </p:sp>
      <p:sp>
        <p:nvSpPr>
          <p:cNvPr id="1187" name="Google Shape;1187;p39"/>
          <p:cNvSpPr txBox="1"/>
          <p:nvPr/>
        </p:nvSpPr>
        <p:spPr>
          <a:xfrm>
            <a:off x="145774" y="5970083"/>
            <a:ext cx="8998226"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Remember that the brute-force algorithm takes O(2</a:t>
            </a:r>
            <a:r>
              <a:rPr baseline="30000" lang="en-US" sz="2400">
                <a:solidFill>
                  <a:schemeClr val="dk1"/>
                </a:solidFill>
                <a:latin typeface="Calibri"/>
                <a:ea typeface="Calibri"/>
                <a:cs typeface="Calibri"/>
                <a:sym typeface="Calibri"/>
              </a:rPr>
              <a:t>n</a:t>
            </a:r>
            <a:r>
              <a:rPr lang="en-US" sz="2400">
                <a:solidFill>
                  <a:schemeClr val="dk1"/>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40"/>
          <p:cNvSpPr txBox="1"/>
          <p:nvPr>
            <p:ph idx="4294967295" type="title"/>
          </p:nvPr>
        </p:nvSpPr>
        <p:spPr>
          <a:xfrm>
            <a:off x="685800" y="631963"/>
            <a:ext cx="7772400" cy="609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Example</a:t>
            </a:r>
            <a:endParaRPr/>
          </a:p>
        </p:txBody>
      </p:sp>
      <p:sp>
        <p:nvSpPr>
          <p:cNvPr id="1193" name="Google Shape;1193;p40"/>
          <p:cNvSpPr txBox="1"/>
          <p:nvPr/>
        </p:nvSpPr>
        <p:spPr>
          <a:xfrm>
            <a:off x="1033668" y="1809888"/>
            <a:ext cx="7540487" cy="393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accent2"/>
                </a:solidFill>
                <a:latin typeface="Calibri"/>
                <a:ea typeface="Calibri"/>
                <a:cs typeface="Calibri"/>
                <a:sym typeface="Calibri"/>
              </a:rPr>
              <a:t>Let’s run our algorithm on the </a:t>
            </a:r>
            <a:endParaRPr/>
          </a:p>
          <a:p>
            <a:pPr indent="0" lvl="0" marL="0" marR="0" rtl="0" algn="l">
              <a:spcBef>
                <a:spcPts val="0"/>
              </a:spcBef>
              <a:spcAft>
                <a:spcPts val="0"/>
              </a:spcAft>
              <a:buNone/>
            </a:pPr>
            <a:r>
              <a:rPr lang="en-US" sz="3600">
                <a:solidFill>
                  <a:schemeClr val="accent2"/>
                </a:solidFill>
                <a:latin typeface="Calibri"/>
                <a:ea typeface="Calibri"/>
                <a:cs typeface="Calibri"/>
                <a:sym typeface="Calibri"/>
              </a:rPr>
              <a:t>following data:</a:t>
            </a:r>
            <a:endParaRPr/>
          </a:p>
          <a:p>
            <a:pPr indent="0" lvl="0" marL="0" marR="0" rtl="0" algn="l">
              <a:spcBef>
                <a:spcPts val="0"/>
              </a:spcBef>
              <a:spcAft>
                <a:spcPts val="0"/>
              </a:spcAft>
              <a:buNone/>
            </a:pPr>
            <a:r>
              <a:t/>
            </a:r>
            <a:endParaRPr sz="3600">
              <a:solidFill>
                <a:schemeClr val="dk1"/>
              </a:solidFill>
              <a:latin typeface="Calibri"/>
              <a:ea typeface="Calibri"/>
              <a:cs typeface="Calibri"/>
              <a:sym typeface="Calibri"/>
            </a:endParaRPr>
          </a:p>
          <a:p>
            <a:pPr indent="0" lvl="0" marL="0" marR="0" rtl="0" algn="l">
              <a:spcBef>
                <a:spcPts val="0"/>
              </a:spcBef>
              <a:spcAft>
                <a:spcPts val="0"/>
              </a:spcAft>
              <a:buNone/>
            </a:pPr>
            <a:r>
              <a:rPr lang="en-US" sz="3600">
                <a:solidFill>
                  <a:schemeClr val="dk1"/>
                </a:solidFill>
                <a:latin typeface="Calibri"/>
                <a:ea typeface="Calibri"/>
                <a:cs typeface="Calibri"/>
                <a:sym typeface="Calibri"/>
              </a:rPr>
              <a:t>n = 4 (# of elements)</a:t>
            </a:r>
            <a:endParaRPr/>
          </a:p>
          <a:p>
            <a:pPr indent="0" lvl="0" marL="0" marR="0" rtl="0" algn="l">
              <a:spcBef>
                <a:spcPts val="0"/>
              </a:spcBef>
              <a:spcAft>
                <a:spcPts val="0"/>
              </a:spcAft>
              <a:buNone/>
            </a:pPr>
            <a:r>
              <a:rPr lang="en-US" sz="3600">
                <a:solidFill>
                  <a:schemeClr val="dk1"/>
                </a:solidFill>
                <a:latin typeface="Calibri"/>
                <a:ea typeface="Calibri"/>
                <a:cs typeface="Calibri"/>
                <a:sym typeface="Calibri"/>
              </a:rPr>
              <a:t>W = 5 (max weight)</a:t>
            </a:r>
            <a:endParaRPr/>
          </a:p>
          <a:p>
            <a:pPr indent="0" lvl="0" marL="0" marR="0" rtl="0" algn="l">
              <a:spcBef>
                <a:spcPts val="0"/>
              </a:spcBef>
              <a:spcAft>
                <a:spcPts val="0"/>
              </a:spcAft>
              <a:buNone/>
            </a:pPr>
            <a:r>
              <a:rPr lang="en-US" sz="3600">
                <a:solidFill>
                  <a:schemeClr val="dk1"/>
                </a:solidFill>
                <a:latin typeface="Calibri"/>
                <a:ea typeface="Calibri"/>
                <a:cs typeface="Calibri"/>
                <a:sym typeface="Calibri"/>
              </a:rPr>
              <a:t>Elements (weight, benefit):</a:t>
            </a:r>
            <a:endParaRPr/>
          </a:p>
          <a:p>
            <a:pPr indent="0" lvl="0" marL="0" marR="0" rtl="0" algn="l">
              <a:spcBef>
                <a:spcPts val="0"/>
              </a:spcBef>
              <a:spcAft>
                <a:spcPts val="0"/>
              </a:spcAft>
              <a:buNone/>
            </a:pPr>
            <a:r>
              <a:rPr lang="en-US" sz="3600">
                <a:solidFill>
                  <a:schemeClr val="dk1"/>
                </a:solidFill>
                <a:latin typeface="Calibri"/>
                <a:ea typeface="Calibri"/>
                <a:cs typeface="Calibri"/>
                <a:sym typeface="Calibri"/>
              </a:rPr>
              <a:t>(2,3), (3,4), (4,5), (5,6)</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41"/>
          <p:cNvSpPr txBox="1"/>
          <p:nvPr>
            <p:ph type="title"/>
          </p:nvPr>
        </p:nvSpPr>
        <p:spPr>
          <a:xfrm>
            <a:off x="159026" y="304800"/>
            <a:ext cx="8756374"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(2)</a:t>
            </a:r>
            <a:endParaRPr/>
          </a:p>
        </p:txBody>
      </p:sp>
      <p:cxnSp>
        <p:nvCxnSpPr>
          <p:cNvPr id="1199" name="Google Shape;1199;p41"/>
          <p:cNvCxnSpPr/>
          <p:nvPr/>
        </p:nvCxnSpPr>
        <p:spPr>
          <a:xfrm>
            <a:off x="4648200" y="1524000"/>
            <a:ext cx="0" cy="3657600"/>
          </a:xfrm>
          <a:prstGeom prst="straightConnector1">
            <a:avLst/>
          </a:prstGeom>
          <a:noFill/>
          <a:ln>
            <a:noFill/>
          </a:ln>
        </p:spPr>
      </p:cxnSp>
      <p:sp>
        <p:nvSpPr>
          <p:cNvPr id="1200" name="Google Shape;1200;p41"/>
          <p:cNvSpPr txBox="1"/>
          <p:nvPr/>
        </p:nvSpPr>
        <p:spPr>
          <a:xfrm>
            <a:off x="1752600" y="4724400"/>
            <a:ext cx="3429000" cy="946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for w = 0 to W</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B[0,w] = 0</a:t>
            </a:r>
            <a:endParaRPr/>
          </a:p>
        </p:txBody>
      </p:sp>
      <p:cxnSp>
        <p:nvCxnSpPr>
          <p:cNvPr id="1201" name="Google Shape;1201;p41"/>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02" name="Google Shape;1202;p41"/>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03" name="Google Shape;1203;p41"/>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04" name="Google Shape;1204;p41"/>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05" name="Google Shape;1205;p41"/>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06" name="Google Shape;1206;p41"/>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07" name="Google Shape;1207;p41"/>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08" name="Google Shape;1208;p41"/>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09" name="Google Shape;1209;p41"/>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10" name="Google Shape;1210;p41"/>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11" name="Google Shape;1211;p41"/>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12" name="Google Shape;1212;p41"/>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13" name="Google Shape;1213;p41"/>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214" name="Google Shape;1214;p41"/>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15" name="Google Shape;1215;p41"/>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16" name="Google Shape;1216;p41"/>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17" name="Google Shape;1217;p41"/>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18" name="Google Shape;1218;p41"/>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19" name="Google Shape;1219;p41"/>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20" name="Google Shape;1220;p41"/>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221" name="Google Shape;1221;p41"/>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22" name="Google Shape;1222;p41"/>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223" name="Google Shape;1223;p41"/>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224" name="Google Shape;1224;p41"/>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225" name="Google Shape;1225;p41"/>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226" name="Google Shape;1226;p41"/>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227" name="Google Shape;1227;p41"/>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228" name="Google Shape;1228;p41"/>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29" name="Google Shape;1229;p41"/>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230" name="Google Shape;1230;p41"/>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231" name="Google Shape;1231;p41"/>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232" name="Google Shape;1232;p41"/>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pic>
        <p:nvPicPr>
          <p:cNvPr id="1233" name="Google Shape;1233;p41"/>
          <p:cNvPicPr preferRelativeResize="0"/>
          <p:nvPr/>
        </p:nvPicPr>
        <p:blipFill rotWithShape="1">
          <a:blip r:embed="rId3">
            <a:alphaModFix/>
          </a:blip>
          <a:srcRect b="0" l="0" r="0" t="0"/>
          <a:stretch/>
        </p:blipFill>
        <p:spPr>
          <a:xfrm>
            <a:off x="957093" y="6019800"/>
            <a:ext cx="3908764" cy="5496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42"/>
          <p:cNvSpPr txBox="1"/>
          <p:nvPr>
            <p:ph type="title"/>
          </p:nvPr>
        </p:nvSpPr>
        <p:spPr>
          <a:xfrm>
            <a:off x="0" y="304800"/>
            <a:ext cx="89154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(3)</a:t>
            </a:r>
            <a:endParaRPr/>
          </a:p>
        </p:txBody>
      </p:sp>
      <p:cxnSp>
        <p:nvCxnSpPr>
          <p:cNvPr id="1239" name="Google Shape;1239;p42"/>
          <p:cNvCxnSpPr/>
          <p:nvPr/>
        </p:nvCxnSpPr>
        <p:spPr>
          <a:xfrm>
            <a:off x="4648200" y="1524000"/>
            <a:ext cx="0" cy="3657600"/>
          </a:xfrm>
          <a:prstGeom prst="straightConnector1">
            <a:avLst/>
          </a:prstGeom>
          <a:noFill/>
          <a:ln>
            <a:noFill/>
          </a:ln>
        </p:spPr>
      </p:cxnSp>
      <p:sp>
        <p:nvSpPr>
          <p:cNvPr id="1240" name="Google Shape;1240;p42"/>
          <p:cNvSpPr txBox="1"/>
          <p:nvPr/>
        </p:nvSpPr>
        <p:spPr>
          <a:xfrm>
            <a:off x="1752600" y="4724400"/>
            <a:ext cx="3429000" cy="946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for i = 0 to n</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B[i,0] = 0</a:t>
            </a:r>
            <a:endParaRPr/>
          </a:p>
        </p:txBody>
      </p:sp>
      <p:cxnSp>
        <p:nvCxnSpPr>
          <p:cNvPr id="1241" name="Google Shape;1241;p42"/>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42" name="Google Shape;1242;p42"/>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43" name="Google Shape;1243;p42"/>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44" name="Google Shape;1244;p42"/>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45" name="Google Shape;1245;p42"/>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46" name="Google Shape;1246;p42"/>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47" name="Google Shape;1247;p42"/>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48" name="Google Shape;1248;p42"/>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49" name="Google Shape;1249;p42"/>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50" name="Google Shape;1250;p42"/>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51" name="Google Shape;1251;p42"/>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52" name="Google Shape;1252;p42"/>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53" name="Google Shape;1253;p42"/>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254" name="Google Shape;1254;p42"/>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55" name="Google Shape;1255;p42"/>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56" name="Google Shape;1256;p42"/>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57" name="Google Shape;1257;p42"/>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58" name="Google Shape;1258;p42"/>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59" name="Google Shape;1259;p42"/>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60" name="Google Shape;1260;p42"/>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261" name="Google Shape;1261;p42"/>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62" name="Google Shape;1262;p42"/>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263" name="Google Shape;1263;p42"/>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264" name="Google Shape;1264;p42"/>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265" name="Google Shape;1265;p42"/>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266" name="Google Shape;1266;p42"/>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267" name="Google Shape;1267;p42"/>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268" name="Google Shape;1268;p42"/>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69" name="Google Shape;1269;p42"/>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270" name="Google Shape;1270;p42"/>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271" name="Google Shape;1271;p42"/>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272" name="Google Shape;1272;p42"/>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73" name="Google Shape;1273;p42"/>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74" name="Google Shape;1274;p42"/>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75" name="Google Shape;1275;p42"/>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76" name="Google Shape;1276;p42"/>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pic>
        <p:nvPicPr>
          <p:cNvPr id="1277" name="Google Shape;1277;p42"/>
          <p:cNvPicPr preferRelativeResize="0"/>
          <p:nvPr/>
        </p:nvPicPr>
        <p:blipFill rotWithShape="1">
          <a:blip r:embed="rId3">
            <a:alphaModFix/>
          </a:blip>
          <a:srcRect b="0" l="0" r="0" t="0"/>
          <a:stretch/>
        </p:blipFill>
        <p:spPr>
          <a:xfrm>
            <a:off x="957093" y="6019800"/>
            <a:ext cx="3908764" cy="5496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43"/>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(4)</a:t>
            </a:r>
            <a:endParaRPr/>
          </a:p>
        </p:txBody>
      </p:sp>
      <p:cxnSp>
        <p:nvCxnSpPr>
          <p:cNvPr id="1283" name="Google Shape;1283;p43"/>
          <p:cNvCxnSpPr/>
          <p:nvPr/>
        </p:nvCxnSpPr>
        <p:spPr>
          <a:xfrm>
            <a:off x="4648200" y="1524000"/>
            <a:ext cx="0" cy="3657600"/>
          </a:xfrm>
          <a:prstGeom prst="straightConnector1">
            <a:avLst/>
          </a:prstGeom>
          <a:noFill/>
          <a:ln>
            <a:noFill/>
          </a:ln>
        </p:spPr>
      </p:cxnSp>
      <p:sp>
        <p:nvSpPr>
          <p:cNvPr id="1284" name="Google Shape;1284;p43"/>
          <p:cNvSpPr txBox="1"/>
          <p:nvPr/>
        </p:nvSpPr>
        <p:spPr>
          <a:xfrm>
            <a:off x="1716088" y="4392612"/>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&lt;= w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&gt;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FF0000"/>
                </a:solidFill>
                <a:latin typeface="Calibri"/>
                <a:ea typeface="Calibri"/>
                <a:cs typeface="Calibri"/>
                <a:sym typeface="Calibri"/>
              </a:rPr>
              <a:t>else </a:t>
            </a:r>
            <a:r>
              <a:rPr b="1" i="0" lang="en-US" sz="2000" u="none" cap="none" strike="noStrike">
                <a:solidFill>
                  <a:srgbClr val="000000"/>
                </a:solidFill>
                <a:latin typeface="Calibri"/>
                <a:ea typeface="Calibri"/>
                <a:cs typeface="Calibri"/>
                <a:sym typeface="Calibri"/>
              </a:rPr>
              <a:t>B[i,w] = B[i-1,w]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285" name="Google Shape;1285;p43"/>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86" name="Google Shape;1286;p43"/>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87" name="Google Shape;1287;p43"/>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88" name="Google Shape;1288;p43"/>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89" name="Google Shape;1289;p43"/>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90" name="Google Shape;1290;p43"/>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91" name="Google Shape;1291;p43"/>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92" name="Google Shape;1292;p43"/>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293" name="Google Shape;1293;p43"/>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94" name="Google Shape;1294;p43"/>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95" name="Google Shape;1295;p43"/>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96" name="Google Shape;1296;p43"/>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297" name="Google Shape;1297;p43"/>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298" name="Google Shape;1298;p43"/>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299" name="Google Shape;1299;p43"/>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00" name="Google Shape;1300;p43"/>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01" name="Google Shape;1301;p43"/>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02" name="Google Shape;1302;p43"/>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03" name="Google Shape;1303;p43"/>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04" name="Google Shape;1304;p43"/>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305" name="Google Shape;1305;p43"/>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06" name="Google Shape;1306;p43"/>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307" name="Google Shape;1307;p43"/>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308" name="Google Shape;1308;p43"/>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309" name="Google Shape;1309;p43"/>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310" name="Google Shape;1310;p43"/>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311" name="Google Shape;1311;p43"/>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312" name="Google Shape;1312;p43"/>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13" name="Google Shape;1313;p43"/>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314" name="Google Shape;1314;p43"/>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315" name="Google Shape;1315;p43"/>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316" name="Google Shape;1316;p43"/>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17" name="Google Shape;1317;p43"/>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18" name="Google Shape;1318;p43"/>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19" name="Google Shape;1319;p43"/>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20" name="Google Shape;1320;p43"/>
          <p:cNvSpPr txBox="1"/>
          <p:nvPr/>
        </p:nvSpPr>
        <p:spPr>
          <a:xfrm>
            <a:off x="6172200" y="1752600"/>
            <a:ext cx="1470025"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i=1</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=2</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1</a:t>
            </a:r>
            <a:endParaRPr b="0" i="0" sz="2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 =-1</a:t>
            </a:r>
            <a:endParaRPr/>
          </a:p>
        </p:txBody>
      </p:sp>
      <p:sp>
        <p:nvSpPr>
          <p:cNvPr id="1321" name="Google Shape;1321;p43"/>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322" name="Google Shape;1322;p43"/>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323" name="Google Shape;1323;p43"/>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0" i="0" lang="en-US" sz="1800" u="none" cap="none" strike="noStrike">
                <a:solidFill>
                  <a:srgbClr val="FF0000"/>
                </a:solidFill>
                <a:latin typeface="Calibri"/>
                <a:ea typeface="Calibri"/>
                <a:cs typeface="Calibri"/>
                <a:sym typeface="Calibri"/>
              </a:rPr>
              <a:t>0</a:t>
            </a:r>
            <a:endParaRPr/>
          </a:p>
        </p:txBody>
      </p:sp>
      <p:sp>
        <p:nvSpPr>
          <p:cNvPr id="1324" name="Google Shape;1324;p43"/>
          <p:cNvSpPr/>
          <p:nvPr/>
        </p:nvSpPr>
        <p:spPr>
          <a:xfrm>
            <a:off x="7239000" y="685800"/>
            <a:ext cx="1676400" cy="4572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325" name="Google Shape;1325;p43"/>
          <p:cNvCxnSpPr/>
          <p:nvPr/>
        </p:nvCxnSpPr>
        <p:spPr>
          <a:xfrm>
            <a:off x="2362200" y="2209800"/>
            <a:ext cx="304800" cy="0"/>
          </a:xfrm>
          <a:prstGeom prst="straightConnector1">
            <a:avLst/>
          </a:prstGeom>
          <a:noFill/>
          <a:ln cap="flat" cmpd="sng" w="38100">
            <a:solidFill>
              <a:schemeClr val="dk1"/>
            </a:solidFill>
            <a:prstDash val="solid"/>
            <a:round/>
            <a:headEnd len="med" w="med" type="none"/>
            <a:tailEnd len="med" w="med" type="triangle"/>
          </a:ln>
        </p:spPr>
      </p:cxnSp>
      <p:pic>
        <p:nvPicPr>
          <p:cNvPr id="1326" name="Google Shape;1326;p43"/>
          <p:cNvPicPr preferRelativeResize="0"/>
          <p:nvPr/>
        </p:nvPicPr>
        <p:blipFill rotWithShape="1">
          <a:blip r:embed="rId3">
            <a:alphaModFix/>
          </a:blip>
          <a:srcRect b="0" l="0" r="0" t="0"/>
          <a:stretch/>
        </p:blipFill>
        <p:spPr>
          <a:xfrm>
            <a:off x="2056348" y="6340475"/>
            <a:ext cx="3908764" cy="5496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44"/>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(5)</a:t>
            </a:r>
            <a:endParaRPr/>
          </a:p>
        </p:txBody>
      </p:sp>
      <p:cxnSp>
        <p:nvCxnSpPr>
          <p:cNvPr id="1332" name="Google Shape;1332;p44"/>
          <p:cNvCxnSpPr/>
          <p:nvPr/>
        </p:nvCxnSpPr>
        <p:spPr>
          <a:xfrm>
            <a:off x="4648200" y="1524000"/>
            <a:ext cx="0" cy="3657600"/>
          </a:xfrm>
          <a:prstGeom prst="straightConnector1">
            <a:avLst/>
          </a:prstGeom>
          <a:noFill/>
          <a:ln>
            <a:noFill/>
          </a:ln>
        </p:spPr>
      </p:cxnSp>
      <p:sp>
        <p:nvSpPr>
          <p:cNvPr id="1333" name="Google Shape;1333;p44"/>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&lt;= 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item i can be part of the solution</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b</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 B[i-1,w-w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&gt; B[i-1,w]</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 + B[i-1,w- w</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b="0" i="0" sz="2000" u="none" cap="none" strike="noStrike">
              <a:solidFill>
                <a:srgbClr val="FF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 B[i,w] = B[i-1,w]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334" name="Google Shape;1334;p44"/>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335" name="Google Shape;1335;p44"/>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36" name="Google Shape;1336;p44"/>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37" name="Google Shape;1337;p44"/>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38" name="Google Shape;1338;p44"/>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39" name="Google Shape;1339;p44"/>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40" name="Google Shape;1340;p44"/>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41" name="Google Shape;1341;p44"/>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42" name="Google Shape;1342;p44"/>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343" name="Google Shape;1343;p44"/>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344" name="Google Shape;1344;p44"/>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345" name="Google Shape;1345;p44"/>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346" name="Google Shape;1346;p44"/>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347" name="Google Shape;1347;p44"/>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48" name="Google Shape;1348;p44"/>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49" name="Google Shape;1349;p44"/>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50" name="Google Shape;1350;p44"/>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51" name="Google Shape;1351;p44"/>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52" name="Google Shape;1352;p44"/>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53" name="Google Shape;1353;p44"/>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354" name="Google Shape;1354;p44"/>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55" name="Google Shape;1355;p44"/>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356" name="Google Shape;1356;p44"/>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357" name="Google Shape;1357;p44"/>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358" name="Google Shape;1358;p44"/>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359" name="Google Shape;1359;p44"/>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360" name="Google Shape;1360;p44"/>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361" name="Google Shape;1361;p44"/>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62" name="Google Shape;1362;p44"/>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363" name="Google Shape;1363;p44"/>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364" name="Google Shape;1364;p44"/>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365" name="Google Shape;1365;p44"/>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66" name="Google Shape;1366;p44"/>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67" name="Google Shape;1367;p44"/>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68" name="Google Shape;1368;p44"/>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69" name="Google Shape;1369;p44"/>
          <p:cNvSpPr txBox="1"/>
          <p:nvPr/>
        </p:nvSpPr>
        <p:spPr>
          <a:xfrm>
            <a:off x="6172200" y="1752600"/>
            <a:ext cx="1350963"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i=1</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=2</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2</a:t>
            </a:r>
            <a:endParaRPr b="0" i="0" sz="2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 =0</a:t>
            </a:r>
            <a:endParaRPr/>
          </a:p>
        </p:txBody>
      </p:sp>
      <p:sp>
        <p:nvSpPr>
          <p:cNvPr id="1370" name="Google Shape;1370;p44"/>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371" name="Google Shape;1371;p44"/>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372" name="Google Shape;1372;p44"/>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73" name="Google Shape;1373;p44"/>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3</a:t>
            </a:r>
            <a:endParaRPr b="0" i="0" sz="1800" u="none" cap="none" strike="noStrike">
              <a:solidFill>
                <a:srgbClr val="000000"/>
              </a:solidFill>
              <a:latin typeface="Calibri"/>
              <a:ea typeface="Calibri"/>
              <a:cs typeface="Calibri"/>
              <a:sym typeface="Calibri"/>
            </a:endParaRPr>
          </a:p>
        </p:txBody>
      </p:sp>
      <p:cxnSp>
        <p:nvCxnSpPr>
          <p:cNvPr id="1374" name="Google Shape;1374;p44"/>
          <p:cNvCxnSpPr/>
          <p:nvPr/>
        </p:nvCxnSpPr>
        <p:spPr>
          <a:xfrm>
            <a:off x="2362200" y="1828800"/>
            <a:ext cx="381000" cy="762000"/>
          </a:xfrm>
          <a:prstGeom prst="straightConnector1">
            <a:avLst/>
          </a:prstGeom>
          <a:noFill/>
          <a:ln cap="flat" cmpd="sng" w="38100">
            <a:solidFill>
              <a:schemeClr val="dk1"/>
            </a:solidFill>
            <a:prstDash val="solid"/>
            <a:round/>
            <a:headEnd len="med" w="med" type="none"/>
            <a:tailEnd len="med" w="med" type="triangle"/>
          </a:ln>
        </p:spPr>
      </p:cxnSp>
      <p:sp>
        <p:nvSpPr>
          <p:cNvPr id="1375" name="Google Shape;1375;p44"/>
          <p:cNvSpPr/>
          <p:nvPr/>
        </p:nvSpPr>
        <p:spPr>
          <a:xfrm>
            <a:off x="7239000" y="685800"/>
            <a:ext cx="1676400" cy="4572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1376" name="Google Shape;1376;p44"/>
          <p:cNvPicPr preferRelativeResize="0"/>
          <p:nvPr/>
        </p:nvPicPr>
        <p:blipFill rotWithShape="1">
          <a:blip r:embed="rId3">
            <a:alphaModFix/>
          </a:blip>
          <a:srcRect b="0" l="0" r="0" t="0"/>
          <a:stretch/>
        </p:blipFill>
        <p:spPr>
          <a:xfrm>
            <a:off x="2056348" y="6340475"/>
            <a:ext cx="3908764" cy="5496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45"/>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(6)</a:t>
            </a:r>
            <a:endParaRPr/>
          </a:p>
        </p:txBody>
      </p:sp>
      <p:cxnSp>
        <p:nvCxnSpPr>
          <p:cNvPr id="1382" name="Google Shape;1382;p45"/>
          <p:cNvCxnSpPr/>
          <p:nvPr/>
        </p:nvCxnSpPr>
        <p:spPr>
          <a:xfrm>
            <a:off x="4648200" y="1524000"/>
            <a:ext cx="0" cy="3657600"/>
          </a:xfrm>
          <a:prstGeom prst="straightConnector1">
            <a:avLst/>
          </a:prstGeom>
          <a:noFill/>
          <a:ln>
            <a:noFill/>
          </a:ln>
        </p:spPr>
      </p:cxnSp>
      <p:sp>
        <p:nvSpPr>
          <p:cNvPr id="1383" name="Google Shape;1383;p45"/>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&lt;= 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b</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 B[i-1,w-w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&gt; B[i-1,w]</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 + B[i-1,w- w</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 B[i,w] = B[i-1,w]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384" name="Google Shape;1384;p45"/>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385" name="Google Shape;1385;p45"/>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86" name="Google Shape;1386;p45"/>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87" name="Google Shape;1387;p45"/>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88" name="Google Shape;1388;p45"/>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89" name="Google Shape;1389;p45"/>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90" name="Google Shape;1390;p45"/>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91" name="Google Shape;1391;p45"/>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392" name="Google Shape;1392;p45"/>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393" name="Google Shape;1393;p45"/>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394" name="Google Shape;1394;p45"/>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395" name="Google Shape;1395;p45"/>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396" name="Google Shape;1396;p45"/>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397" name="Google Shape;1397;p45"/>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98" name="Google Shape;1398;p45"/>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399" name="Google Shape;1399;p45"/>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00" name="Google Shape;1400;p45"/>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01" name="Google Shape;1401;p45"/>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02" name="Google Shape;1402;p45"/>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03" name="Google Shape;1403;p45"/>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404" name="Google Shape;1404;p45"/>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05" name="Google Shape;1405;p45"/>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406" name="Google Shape;1406;p45"/>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407" name="Google Shape;1407;p45"/>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408" name="Google Shape;1408;p45"/>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409" name="Google Shape;1409;p45"/>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410" name="Google Shape;1410;p45"/>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411" name="Google Shape;1411;p45"/>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12" name="Google Shape;1412;p45"/>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413" name="Google Shape;1413;p45"/>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414" name="Google Shape;1414;p45"/>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415" name="Google Shape;1415;p45"/>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16" name="Google Shape;1416;p45"/>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17" name="Google Shape;1417;p45"/>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18" name="Google Shape;1418;p45"/>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19" name="Google Shape;1419;p45"/>
          <p:cNvSpPr txBox="1"/>
          <p:nvPr/>
        </p:nvSpPr>
        <p:spPr>
          <a:xfrm>
            <a:off x="6172200" y="1752600"/>
            <a:ext cx="1262063"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i=1</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=2</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3</a:t>
            </a:r>
            <a:endParaRPr b="0" i="0" sz="2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=1</a:t>
            </a:r>
            <a:endParaRPr/>
          </a:p>
        </p:txBody>
      </p:sp>
      <p:sp>
        <p:nvSpPr>
          <p:cNvPr id="1420" name="Google Shape;1420;p45"/>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421" name="Google Shape;1421;p45"/>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422" name="Google Shape;1422;p45"/>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23" name="Google Shape;1423;p45"/>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424" name="Google Shape;1424;p45"/>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3</a:t>
            </a:r>
            <a:endParaRPr b="0" i="0" sz="1800" u="none" cap="none" strike="noStrike">
              <a:solidFill>
                <a:srgbClr val="000000"/>
              </a:solidFill>
              <a:latin typeface="Calibri"/>
              <a:ea typeface="Calibri"/>
              <a:cs typeface="Calibri"/>
              <a:sym typeface="Calibri"/>
            </a:endParaRPr>
          </a:p>
        </p:txBody>
      </p:sp>
      <p:cxnSp>
        <p:nvCxnSpPr>
          <p:cNvPr id="1425" name="Google Shape;1425;p45"/>
          <p:cNvCxnSpPr/>
          <p:nvPr/>
        </p:nvCxnSpPr>
        <p:spPr>
          <a:xfrm>
            <a:off x="2286000" y="2286000"/>
            <a:ext cx="457200" cy="762000"/>
          </a:xfrm>
          <a:prstGeom prst="straightConnector1">
            <a:avLst/>
          </a:prstGeom>
          <a:noFill/>
          <a:ln cap="flat" cmpd="sng" w="38100">
            <a:solidFill>
              <a:schemeClr val="dk1"/>
            </a:solidFill>
            <a:prstDash val="solid"/>
            <a:round/>
            <a:headEnd len="med" w="med" type="none"/>
            <a:tailEnd len="med" w="med" type="triangle"/>
          </a:ln>
        </p:spPr>
      </p:cxnSp>
      <p:sp>
        <p:nvSpPr>
          <p:cNvPr id="1426" name="Google Shape;1426;p45"/>
          <p:cNvSpPr/>
          <p:nvPr/>
        </p:nvSpPr>
        <p:spPr>
          <a:xfrm>
            <a:off x="7239000" y="685800"/>
            <a:ext cx="1676400" cy="4572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0" name="Shape 1430"/>
        <p:cNvGrpSpPr/>
        <p:nvPr/>
      </p:nvGrpSpPr>
      <p:grpSpPr>
        <a:xfrm>
          <a:off x="0" y="0"/>
          <a:ext cx="0" cy="0"/>
          <a:chOff x="0" y="0"/>
          <a:chExt cx="0" cy="0"/>
        </a:xfrm>
      </p:grpSpPr>
      <p:sp>
        <p:nvSpPr>
          <p:cNvPr id="1431" name="Google Shape;1431;p46"/>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(7)</a:t>
            </a:r>
            <a:endParaRPr/>
          </a:p>
        </p:txBody>
      </p:sp>
      <p:cxnSp>
        <p:nvCxnSpPr>
          <p:cNvPr id="1432" name="Google Shape;1432;p46"/>
          <p:cNvCxnSpPr/>
          <p:nvPr/>
        </p:nvCxnSpPr>
        <p:spPr>
          <a:xfrm>
            <a:off x="4648200" y="1524000"/>
            <a:ext cx="0" cy="3657600"/>
          </a:xfrm>
          <a:prstGeom prst="straightConnector1">
            <a:avLst/>
          </a:prstGeom>
          <a:noFill/>
          <a:ln>
            <a:noFill/>
          </a:ln>
        </p:spPr>
      </p:cxnSp>
      <p:sp>
        <p:nvSpPr>
          <p:cNvPr id="1433" name="Google Shape;1433;p46"/>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&lt;= 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b</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 B[i-1,w-w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&gt; B[i-1,w]</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 + B[i-1,w- w</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 B[i,w] = B[i-1,w]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434" name="Google Shape;1434;p46"/>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435" name="Google Shape;1435;p46"/>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36" name="Google Shape;1436;p46"/>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37" name="Google Shape;1437;p46"/>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38" name="Google Shape;1438;p46"/>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39" name="Google Shape;1439;p46"/>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40" name="Google Shape;1440;p46"/>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41" name="Google Shape;1441;p46"/>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42" name="Google Shape;1442;p46"/>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443" name="Google Shape;1443;p46"/>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444" name="Google Shape;1444;p46"/>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445" name="Google Shape;1445;p46"/>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446" name="Google Shape;1446;p46"/>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447" name="Google Shape;1447;p46"/>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48" name="Google Shape;1448;p46"/>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49" name="Google Shape;1449;p46"/>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50" name="Google Shape;1450;p46"/>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51" name="Google Shape;1451;p46"/>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52" name="Google Shape;1452;p46"/>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53" name="Google Shape;1453;p46"/>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454" name="Google Shape;1454;p46"/>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55" name="Google Shape;1455;p46"/>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456" name="Google Shape;1456;p46"/>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457" name="Google Shape;1457;p46"/>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458" name="Google Shape;1458;p46"/>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459" name="Google Shape;1459;p46"/>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460" name="Google Shape;1460;p46"/>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461" name="Google Shape;1461;p46"/>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62" name="Google Shape;1462;p46"/>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463" name="Google Shape;1463;p46"/>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464" name="Google Shape;1464;p46"/>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465" name="Google Shape;1465;p46"/>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66" name="Google Shape;1466;p46"/>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67" name="Google Shape;1467;p46"/>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68" name="Google Shape;1468;p46"/>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69" name="Google Shape;1469;p46"/>
          <p:cNvSpPr txBox="1"/>
          <p:nvPr/>
        </p:nvSpPr>
        <p:spPr>
          <a:xfrm>
            <a:off x="6172200" y="1752600"/>
            <a:ext cx="1262063"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i=1</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=2</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4</a:t>
            </a:r>
            <a:endParaRPr b="0" i="0" sz="2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=2</a:t>
            </a:r>
            <a:endParaRPr/>
          </a:p>
        </p:txBody>
      </p:sp>
      <p:sp>
        <p:nvSpPr>
          <p:cNvPr id="1470" name="Google Shape;1470;p46"/>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471" name="Google Shape;1471;p46"/>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472" name="Google Shape;1472;p46"/>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73" name="Google Shape;1473;p46"/>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474" name="Google Shape;1474;p46"/>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cxnSp>
        <p:nvCxnSpPr>
          <p:cNvPr id="1475" name="Google Shape;1475;p46"/>
          <p:cNvCxnSpPr/>
          <p:nvPr/>
        </p:nvCxnSpPr>
        <p:spPr>
          <a:xfrm>
            <a:off x="2362200" y="2667000"/>
            <a:ext cx="304800" cy="838200"/>
          </a:xfrm>
          <a:prstGeom prst="straightConnector1">
            <a:avLst/>
          </a:prstGeom>
          <a:noFill/>
          <a:ln cap="flat" cmpd="sng" w="38100">
            <a:solidFill>
              <a:schemeClr val="dk1"/>
            </a:solidFill>
            <a:prstDash val="solid"/>
            <a:round/>
            <a:headEnd len="med" w="med" type="none"/>
            <a:tailEnd len="med" w="med" type="triangle"/>
          </a:ln>
        </p:spPr>
      </p:cxnSp>
      <p:sp>
        <p:nvSpPr>
          <p:cNvPr id="1476" name="Google Shape;1476;p46"/>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3</a:t>
            </a:r>
            <a:endParaRPr b="0" i="0" sz="1800" u="none" cap="none" strike="noStrike">
              <a:solidFill>
                <a:srgbClr val="000000"/>
              </a:solidFill>
              <a:latin typeface="Calibri"/>
              <a:ea typeface="Calibri"/>
              <a:cs typeface="Calibri"/>
              <a:sym typeface="Calibri"/>
            </a:endParaRPr>
          </a:p>
        </p:txBody>
      </p:sp>
      <p:sp>
        <p:nvSpPr>
          <p:cNvPr id="1477" name="Google Shape;1477;p46"/>
          <p:cNvSpPr/>
          <p:nvPr/>
        </p:nvSpPr>
        <p:spPr>
          <a:xfrm>
            <a:off x="7239000" y="685800"/>
            <a:ext cx="1676400" cy="4572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47"/>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(8)</a:t>
            </a:r>
            <a:endParaRPr/>
          </a:p>
        </p:txBody>
      </p:sp>
      <p:cxnSp>
        <p:nvCxnSpPr>
          <p:cNvPr id="1483" name="Google Shape;1483;p47"/>
          <p:cNvCxnSpPr/>
          <p:nvPr/>
        </p:nvCxnSpPr>
        <p:spPr>
          <a:xfrm>
            <a:off x="4648200" y="1524000"/>
            <a:ext cx="0" cy="3657600"/>
          </a:xfrm>
          <a:prstGeom prst="straightConnector1">
            <a:avLst/>
          </a:prstGeom>
          <a:noFill/>
          <a:ln>
            <a:noFill/>
          </a:ln>
        </p:spPr>
      </p:cxnSp>
      <p:sp>
        <p:nvSpPr>
          <p:cNvPr id="1484" name="Google Shape;1484;p47"/>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&lt;= 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b</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 B[i-1,w-w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&gt; B[i-1,w]</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 + B[i-1,w- w</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 B[i,w] = B[i-1,w]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485" name="Google Shape;1485;p47"/>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486" name="Google Shape;1486;p47"/>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87" name="Google Shape;1487;p47"/>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88" name="Google Shape;1488;p47"/>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89" name="Google Shape;1489;p47"/>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90" name="Google Shape;1490;p47"/>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91" name="Google Shape;1491;p47"/>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92" name="Google Shape;1492;p47"/>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493" name="Google Shape;1493;p47"/>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494" name="Google Shape;1494;p47"/>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495" name="Google Shape;1495;p47"/>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496" name="Google Shape;1496;p47"/>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497" name="Google Shape;1497;p47"/>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498" name="Google Shape;1498;p47"/>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499" name="Google Shape;1499;p47"/>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00" name="Google Shape;1500;p47"/>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01" name="Google Shape;1501;p47"/>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02" name="Google Shape;1502;p47"/>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03" name="Google Shape;1503;p47"/>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04" name="Google Shape;1504;p47"/>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505" name="Google Shape;1505;p47"/>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06" name="Google Shape;1506;p47"/>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507" name="Google Shape;1507;p47"/>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508" name="Google Shape;1508;p47"/>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509" name="Google Shape;1509;p47"/>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510" name="Google Shape;1510;p47"/>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511" name="Google Shape;1511;p47"/>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512" name="Google Shape;1512;p47"/>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13" name="Google Shape;1513;p47"/>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514" name="Google Shape;1514;p47"/>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515" name="Google Shape;1515;p47"/>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516" name="Google Shape;1516;p47"/>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17" name="Google Shape;1517;p47"/>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18" name="Google Shape;1518;p47"/>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19" name="Google Shape;1519;p47"/>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20" name="Google Shape;1520;p47"/>
          <p:cNvSpPr txBox="1"/>
          <p:nvPr/>
        </p:nvSpPr>
        <p:spPr>
          <a:xfrm>
            <a:off x="6172200" y="1752600"/>
            <a:ext cx="1262063"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i=1</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=2</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5</a:t>
            </a:r>
            <a:endParaRPr b="0" i="0" sz="2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=2</a:t>
            </a:r>
            <a:endParaRPr/>
          </a:p>
        </p:txBody>
      </p:sp>
      <p:sp>
        <p:nvSpPr>
          <p:cNvPr id="1521" name="Google Shape;1521;p47"/>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522" name="Google Shape;1522;p47"/>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523" name="Google Shape;1523;p47"/>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24" name="Google Shape;1524;p47"/>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525" name="Google Shape;1525;p47"/>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cxnSp>
        <p:nvCxnSpPr>
          <p:cNvPr id="1526" name="Google Shape;1526;p47"/>
          <p:cNvCxnSpPr/>
          <p:nvPr/>
        </p:nvCxnSpPr>
        <p:spPr>
          <a:xfrm>
            <a:off x="2362200" y="3124200"/>
            <a:ext cx="304800" cy="838200"/>
          </a:xfrm>
          <a:prstGeom prst="straightConnector1">
            <a:avLst/>
          </a:prstGeom>
          <a:noFill/>
          <a:ln cap="flat" cmpd="sng" w="38100">
            <a:solidFill>
              <a:schemeClr val="dk1"/>
            </a:solidFill>
            <a:prstDash val="solid"/>
            <a:round/>
            <a:headEnd len="med" w="med" type="none"/>
            <a:tailEnd len="med" w="med" type="triangle"/>
          </a:ln>
        </p:spPr>
      </p:cxnSp>
      <p:sp>
        <p:nvSpPr>
          <p:cNvPr id="1527" name="Google Shape;1527;p47"/>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528" name="Google Shape;1528;p47"/>
          <p:cNvSpPr/>
          <p:nvPr/>
        </p:nvSpPr>
        <p:spPr>
          <a:xfrm>
            <a:off x="7239000" y="685800"/>
            <a:ext cx="1676400" cy="4572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29" name="Google Shape;1529;p47"/>
          <p:cNvSpPr txBox="1"/>
          <p:nvPr/>
        </p:nvSpPr>
        <p:spPr>
          <a:xfrm>
            <a:off x="2743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3</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48"/>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(9)</a:t>
            </a:r>
            <a:endParaRPr/>
          </a:p>
        </p:txBody>
      </p:sp>
      <p:cxnSp>
        <p:nvCxnSpPr>
          <p:cNvPr id="1535" name="Google Shape;1535;p48"/>
          <p:cNvCxnSpPr/>
          <p:nvPr/>
        </p:nvCxnSpPr>
        <p:spPr>
          <a:xfrm>
            <a:off x="4648200" y="1524000"/>
            <a:ext cx="0" cy="3657600"/>
          </a:xfrm>
          <a:prstGeom prst="straightConnector1">
            <a:avLst/>
          </a:prstGeom>
          <a:noFill/>
          <a:ln>
            <a:noFill/>
          </a:ln>
        </p:spPr>
      </p:cxnSp>
      <p:sp>
        <p:nvSpPr>
          <p:cNvPr id="1536" name="Google Shape;1536;p48"/>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&lt;= w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&gt;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FF0000"/>
                </a:solidFill>
                <a:latin typeface="Calibri"/>
                <a:ea typeface="Calibri"/>
                <a:cs typeface="Calibri"/>
                <a:sym typeface="Calibri"/>
              </a:rPr>
              <a:t>else</a:t>
            </a: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B[i-1,w]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537" name="Google Shape;1537;p48"/>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538" name="Google Shape;1538;p48"/>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39" name="Google Shape;1539;p48"/>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40" name="Google Shape;1540;p48"/>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41" name="Google Shape;1541;p48"/>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42" name="Google Shape;1542;p48"/>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43" name="Google Shape;1543;p48"/>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44" name="Google Shape;1544;p48"/>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45" name="Google Shape;1545;p48"/>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546" name="Google Shape;1546;p48"/>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547" name="Google Shape;1547;p48"/>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548" name="Google Shape;1548;p48"/>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549" name="Google Shape;1549;p48"/>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550" name="Google Shape;1550;p48"/>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51" name="Google Shape;1551;p48"/>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52" name="Google Shape;1552;p48"/>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53" name="Google Shape;1553;p48"/>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54" name="Google Shape;1554;p48"/>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55" name="Google Shape;1555;p48"/>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56" name="Google Shape;1556;p48"/>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557" name="Google Shape;1557;p48"/>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58" name="Google Shape;1558;p48"/>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559" name="Google Shape;1559;p48"/>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560" name="Google Shape;1560;p48"/>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561" name="Google Shape;1561;p48"/>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562" name="Google Shape;1562;p48"/>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563" name="Google Shape;1563;p48"/>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564" name="Google Shape;1564;p48"/>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65" name="Google Shape;1565;p48"/>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566" name="Google Shape;1566;p48"/>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567" name="Google Shape;1567;p48"/>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568" name="Google Shape;1568;p48"/>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69" name="Google Shape;1569;p48"/>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70" name="Google Shape;1570;p48"/>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71" name="Google Shape;1571;p48"/>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72" name="Google Shape;1572;p48"/>
          <p:cNvSpPr txBox="1"/>
          <p:nvPr/>
        </p:nvSpPr>
        <p:spPr>
          <a:xfrm>
            <a:off x="6172200" y="1752600"/>
            <a:ext cx="1447800"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FF0000"/>
              </a:buClr>
              <a:buSzPts val="2800"/>
              <a:buFont typeface="Calibri"/>
              <a:buNone/>
            </a:pPr>
            <a:r>
              <a:rPr b="0" i="0" lang="en-US" sz="2800" u="none" cap="none" strike="noStrike">
                <a:solidFill>
                  <a:srgbClr val="FF0000"/>
                </a:solidFill>
                <a:latin typeface="Calibri"/>
                <a:ea typeface="Calibri"/>
                <a:cs typeface="Calibri"/>
                <a:sym typeface="Calibri"/>
              </a:rPr>
              <a:t>i=2</a:t>
            </a:r>
            <a:endParaRPr b="0" i="0" sz="2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=4</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1</a:t>
            </a:r>
            <a:endParaRPr b="0" i="0" sz="2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=-2</a:t>
            </a:r>
            <a:endParaRPr/>
          </a:p>
        </p:txBody>
      </p:sp>
      <p:sp>
        <p:nvSpPr>
          <p:cNvPr id="1573" name="Google Shape;1573;p48"/>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574" name="Google Shape;1574;p48"/>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575" name="Google Shape;1575;p48"/>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576" name="Google Shape;1576;p48"/>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577" name="Google Shape;1577;p48"/>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578" name="Google Shape;1578;p48"/>
          <p:cNvSpPr/>
          <p:nvPr/>
        </p:nvSpPr>
        <p:spPr>
          <a:xfrm>
            <a:off x="7239000" y="685800"/>
            <a:ext cx="1676400" cy="914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79" name="Google Shape;1579;p48"/>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580" name="Google Shape;1580;p48"/>
          <p:cNvSpPr txBox="1"/>
          <p:nvPr/>
        </p:nvSpPr>
        <p:spPr>
          <a:xfrm>
            <a:off x="2743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cxnSp>
        <p:nvCxnSpPr>
          <p:cNvPr id="1581" name="Google Shape;1581;p48"/>
          <p:cNvCxnSpPr/>
          <p:nvPr/>
        </p:nvCxnSpPr>
        <p:spPr>
          <a:xfrm>
            <a:off x="3200400" y="2209800"/>
            <a:ext cx="381000" cy="0"/>
          </a:xfrm>
          <a:prstGeom prst="straightConnector1">
            <a:avLst/>
          </a:prstGeom>
          <a:noFill/>
          <a:ln cap="flat" cmpd="sng" w="38100">
            <a:solidFill>
              <a:schemeClr val="dk1"/>
            </a:solidFill>
            <a:prstDash val="solid"/>
            <a:round/>
            <a:headEnd len="med" w="med" type="none"/>
            <a:tailEnd len="med" w="med" type="triangle"/>
          </a:ln>
        </p:spPr>
      </p:cxnSp>
      <p:sp>
        <p:nvSpPr>
          <p:cNvPr id="1582" name="Google Shape;1582;p48"/>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0</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p49"/>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(10)</a:t>
            </a:r>
            <a:endParaRPr/>
          </a:p>
        </p:txBody>
      </p:sp>
      <p:cxnSp>
        <p:nvCxnSpPr>
          <p:cNvPr id="1588" name="Google Shape;1588;p49"/>
          <p:cNvCxnSpPr/>
          <p:nvPr/>
        </p:nvCxnSpPr>
        <p:spPr>
          <a:xfrm>
            <a:off x="4648200" y="1524000"/>
            <a:ext cx="0" cy="3657600"/>
          </a:xfrm>
          <a:prstGeom prst="straightConnector1">
            <a:avLst/>
          </a:prstGeom>
          <a:noFill/>
          <a:ln>
            <a:noFill/>
          </a:ln>
        </p:spPr>
      </p:cxnSp>
      <p:sp>
        <p:nvSpPr>
          <p:cNvPr id="1589" name="Google Shape;1589;p49"/>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&lt;= w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&gt;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FF0000"/>
                </a:solidFill>
                <a:latin typeface="Calibri"/>
                <a:ea typeface="Calibri"/>
                <a:cs typeface="Calibri"/>
                <a:sym typeface="Calibri"/>
              </a:rPr>
              <a:t>else</a:t>
            </a: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B[i-1,w]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590" name="Google Shape;1590;p49"/>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591" name="Google Shape;1591;p49"/>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92" name="Google Shape;1592;p49"/>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93" name="Google Shape;1593;p49"/>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94" name="Google Shape;1594;p49"/>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95" name="Google Shape;1595;p49"/>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96" name="Google Shape;1596;p49"/>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97" name="Google Shape;1597;p49"/>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598" name="Google Shape;1598;p49"/>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599" name="Google Shape;1599;p49"/>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600" name="Google Shape;1600;p49"/>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601" name="Google Shape;1601;p49"/>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602" name="Google Shape;1602;p49"/>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603" name="Google Shape;1603;p49"/>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04" name="Google Shape;1604;p49"/>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05" name="Google Shape;1605;p49"/>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06" name="Google Shape;1606;p49"/>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07" name="Google Shape;1607;p49"/>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08" name="Google Shape;1608;p49"/>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09" name="Google Shape;1609;p49"/>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610" name="Google Shape;1610;p49"/>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11" name="Google Shape;1611;p49"/>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612" name="Google Shape;1612;p49"/>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613" name="Google Shape;1613;p49"/>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14" name="Google Shape;1614;p49"/>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615" name="Google Shape;1615;p49"/>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616" name="Google Shape;1616;p49"/>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617" name="Google Shape;1617;p49"/>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18" name="Google Shape;1618;p49"/>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619" name="Google Shape;1619;p49"/>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620" name="Google Shape;1620;p49"/>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21" name="Google Shape;1621;p49"/>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22" name="Google Shape;1622;p49"/>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23" name="Google Shape;1623;p49"/>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24" name="Google Shape;1624;p49"/>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25" name="Google Shape;1625;p49"/>
          <p:cNvSpPr txBox="1"/>
          <p:nvPr/>
        </p:nvSpPr>
        <p:spPr>
          <a:xfrm>
            <a:off x="6172200" y="1752600"/>
            <a:ext cx="1447800"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i=2</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=4</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2</a:t>
            </a:r>
            <a:endParaRPr b="0" i="0" sz="2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=-1</a:t>
            </a:r>
            <a:endParaRPr/>
          </a:p>
        </p:txBody>
      </p:sp>
      <p:sp>
        <p:nvSpPr>
          <p:cNvPr id="1626" name="Google Shape;1626;p49"/>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627" name="Google Shape;1627;p49"/>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628" name="Google Shape;1628;p49"/>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29" name="Google Shape;1629;p49"/>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30" name="Google Shape;1630;p49"/>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31" name="Google Shape;1631;p49"/>
          <p:cNvSpPr/>
          <p:nvPr/>
        </p:nvSpPr>
        <p:spPr>
          <a:xfrm>
            <a:off x="7239000" y="685800"/>
            <a:ext cx="1676400" cy="914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32" name="Google Shape;1632;p49"/>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33" name="Google Shape;1633;p49"/>
          <p:cNvSpPr txBox="1"/>
          <p:nvPr/>
        </p:nvSpPr>
        <p:spPr>
          <a:xfrm>
            <a:off x="2743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34" name="Google Shape;1634;p49"/>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cxnSp>
        <p:nvCxnSpPr>
          <p:cNvPr id="1635" name="Google Shape;1635;p49"/>
          <p:cNvCxnSpPr/>
          <p:nvPr/>
        </p:nvCxnSpPr>
        <p:spPr>
          <a:xfrm>
            <a:off x="3124200" y="2667000"/>
            <a:ext cx="457200" cy="0"/>
          </a:xfrm>
          <a:prstGeom prst="straightConnector1">
            <a:avLst/>
          </a:prstGeom>
          <a:noFill/>
          <a:ln cap="flat" cmpd="sng" w="38100">
            <a:solidFill>
              <a:schemeClr val="dk1"/>
            </a:solidFill>
            <a:prstDash val="solid"/>
            <a:round/>
            <a:headEnd len="med" w="med" type="none"/>
            <a:tailEnd len="med" w="med" type="triangle"/>
          </a:ln>
        </p:spPr>
      </p:cxnSp>
      <p:sp>
        <p:nvSpPr>
          <p:cNvPr id="1636" name="Google Shape;1636;p49"/>
          <p:cNvSpPr txBox="1"/>
          <p:nvPr/>
        </p:nvSpPr>
        <p:spPr>
          <a:xfrm>
            <a:off x="35814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3</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0" name="Shape 1640"/>
        <p:cNvGrpSpPr/>
        <p:nvPr/>
      </p:nvGrpSpPr>
      <p:grpSpPr>
        <a:xfrm>
          <a:off x="0" y="0"/>
          <a:ext cx="0" cy="0"/>
          <a:chOff x="0" y="0"/>
          <a:chExt cx="0" cy="0"/>
        </a:xfrm>
      </p:grpSpPr>
      <p:sp>
        <p:nvSpPr>
          <p:cNvPr id="1641" name="Google Shape;1641;p50"/>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(11)</a:t>
            </a:r>
            <a:endParaRPr/>
          </a:p>
        </p:txBody>
      </p:sp>
      <p:cxnSp>
        <p:nvCxnSpPr>
          <p:cNvPr id="1642" name="Google Shape;1642;p50"/>
          <p:cNvCxnSpPr/>
          <p:nvPr/>
        </p:nvCxnSpPr>
        <p:spPr>
          <a:xfrm>
            <a:off x="4648200" y="1524000"/>
            <a:ext cx="0" cy="3657600"/>
          </a:xfrm>
          <a:prstGeom prst="straightConnector1">
            <a:avLst/>
          </a:prstGeom>
          <a:noFill/>
          <a:ln>
            <a:noFill/>
          </a:ln>
        </p:spPr>
      </p:cxnSp>
      <p:sp>
        <p:nvSpPr>
          <p:cNvPr id="1643" name="Google Shape;1643;p50"/>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&lt;= 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b</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 B[i-1,w-w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&gt; B[i-1,w]</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 + B[i-1,w- w</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 B[i,w] = B[i-1,w]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644" name="Google Shape;1644;p50"/>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645" name="Google Shape;1645;p50"/>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646" name="Google Shape;1646;p50"/>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647" name="Google Shape;1647;p50"/>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648" name="Google Shape;1648;p50"/>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649" name="Google Shape;1649;p50"/>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650" name="Google Shape;1650;p50"/>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651" name="Google Shape;1651;p50"/>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652" name="Google Shape;1652;p50"/>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653" name="Google Shape;1653;p50"/>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654" name="Google Shape;1654;p50"/>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655" name="Google Shape;1655;p50"/>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656" name="Google Shape;1656;p50"/>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657" name="Google Shape;1657;p50"/>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58" name="Google Shape;1658;p50"/>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59" name="Google Shape;1659;p50"/>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60" name="Google Shape;1660;p50"/>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61" name="Google Shape;1661;p50"/>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62" name="Google Shape;1662;p50"/>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63" name="Google Shape;1663;p50"/>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664" name="Google Shape;1664;p50"/>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65" name="Google Shape;1665;p50"/>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666" name="Google Shape;1666;p50"/>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667" name="Google Shape;1667;p50"/>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68" name="Google Shape;1668;p50"/>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669" name="Google Shape;1669;p50"/>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670" name="Google Shape;1670;p50"/>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671" name="Google Shape;1671;p50"/>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72" name="Google Shape;1672;p50"/>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673" name="Google Shape;1673;p50"/>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674" name="Google Shape;1674;p50"/>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75" name="Google Shape;1675;p50"/>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76" name="Google Shape;1676;p50"/>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77" name="Google Shape;1677;p50"/>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78" name="Google Shape;1678;p50"/>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79" name="Google Shape;1679;p50"/>
          <p:cNvSpPr txBox="1"/>
          <p:nvPr/>
        </p:nvSpPr>
        <p:spPr>
          <a:xfrm>
            <a:off x="6172200" y="1752600"/>
            <a:ext cx="1447800"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i=2</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=4</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3</a:t>
            </a:r>
            <a:endParaRPr b="0" i="0" sz="2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=0</a:t>
            </a:r>
            <a:endParaRPr/>
          </a:p>
        </p:txBody>
      </p:sp>
      <p:sp>
        <p:nvSpPr>
          <p:cNvPr id="1680" name="Google Shape;1680;p50"/>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681" name="Google Shape;1681;p50"/>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682" name="Google Shape;1682;p50"/>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83" name="Google Shape;1683;p50"/>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84" name="Google Shape;1684;p50"/>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85" name="Google Shape;1685;p50"/>
          <p:cNvSpPr/>
          <p:nvPr/>
        </p:nvSpPr>
        <p:spPr>
          <a:xfrm>
            <a:off x="7239000" y="685800"/>
            <a:ext cx="1676400" cy="914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86" name="Google Shape;1686;p50"/>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87" name="Google Shape;1687;p50"/>
          <p:cNvSpPr txBox="1"/>
          <p:nvPr/>
        </p:nvSpPr>
        <p:spPr>
          <a:xfrm>
            <a:off x="2743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88" name="Google Shape;1688;p50"/>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689" name="Google Shape;1689;p50"/>
          <p:cNvSpPr txBox="1"/>
          <p:nvPr/>
        </p:nvSpPr>
        <p:spPr>
          <a:xfrm>
            <a:off x="35814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690" name="Google Shape;1690;p50"/>
          <p:cNvSpPr txBox="1"/>
          <p:nvPr/>
        </p:nvSpPr>
        <p:spPr>
          <a:xfrm>
            <a:off x="35814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4</a:t>
            </a:r>
            <a:endParaRPr b="0" i="0" sz="1800" u="none" cap="none" strike="noStrike">
              <a:solidFill>
                <a:srgbClr val="000000"/>
              </a:solidFill>
              <a:latin typeface="Calibri"/>
              <a:ea typeface="Calibri"/>
              <a:cs typeface="Calibri"/>
              <a:sym typeface="Calibri"/>
            </a:endParaRPr>
          </a:p>
        </p:txBody>
      </p:sp>
      <p:cxnSp>
        <p:nvCxnSpPr>
          <p:cNvPr id="1691" name="Google Shape;1691;p50"/>
          <p:cNvCxnSpPr/>
          <p:nvPr/>
        </p:nvCxnSpPr>
        <p:spPr>
          <a:xfrm>
            <a:off x="3048000" y="1905000"/>
            <a:ext cx="533400" cy="114300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51"/>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(12)</a:t>
            </a:r>
            <a:endParaRPr/>
          </a:p>
        </p:txBody>
      </p:sp>
      <p:cxnSp>
        <p:nvCxnSpPr>
          <p:cNvPr id="1697" name="Google Shape;1697;p51"/>
          <p:cNvCxnSpPr/>
          <p:nvPr/>
        </p:nvCxnSpPr>
        <p:spPr>
          <a:xfrm>
            <a:off x="4648200" y="1524000"/>
            <a:ext cx="0" cy="3657600"/>
          </a:xfrm>
          <a:prstGeom prst="straightConnector1">
            <a:avLst/>
          </a:prstGeom>
          <a:noFill/>
          <a:ln>
            <a:noFill/>
          </a:ln>
        </p:spPr>
      </p:cxnSp>
      <p:sp>
        <p:nvSpPr>
          <p:cNvPr id="1698" name="Google Shape;1698;p51"/>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&lt;= 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b</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 B[i-1,w-w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&gt; B[i-1,w]</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 + B[i-1,w- w</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 B[i,w] = B[i-1,w]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699" name="Google Shape;1699;p51"/>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700" name="Google Shape;1700;p51"/>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01" name="Google Shape;1701;p51"/>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02" name="Google Shape;1702;p51"/>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03" name="Google Shape;1703;p51"/>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04" name="Google Shape;1704;p51"/>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05" name="Google Shape;1705;p51"/>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06" name="Google Shape;1706;p51"/>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07" name="Google Shape;1707;p51"/>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708" name="Google Shape;1708;p51"/>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709" name="Google Shape;1709;p51"/>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710" name="Google Shape;1710;p51"/>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711" name="Google Shape;1711;p51"/>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712" name="Google Shape;1712;p51"/>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13" name="Google Shape;1713;p51"/>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14" name="Google Shape;1714;p51"/>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15" name="Google Shape;1715;p51"/>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16" name="Google Shape;1716;p51"/>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17" name="Google Shape;1717;p51"/>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18" name="Google Shape;1718;p51"/>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719" name="Google Shape;1719;p51"/>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20" name="Google Shape;1720;p51"/>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721" name="Google Shape;1721;p51"/>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722" name="Google Shape;1722;p51"/>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23" name="Google Shape;1723;p51"/>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724" name="Google Shape;1724;p51"/>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725" name="Google Shape;1725;p51"/>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726" name="Google Shape;1726;p51"/>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27" name="Google Shape;1727;p51"/>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728" name="Google Shape;1728;p51"/>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729" name="Google Shape;1729;p51"/>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30" name="Google Shape;1730;p51"/>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31" name="Google Shape;1731;p51"/>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32" name="Google Shape;1732;p51"/>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33" name="Google Shape;1733;p51"/>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34" name="Google Shape;1734;p51"/>
          <p:cNvSpPr txBox="1"/>
          <p:nvPr/>
        </p:nvSpPr>
        <p:spPr>
          <a:xfrm>
            <a:off x="6172200" y="1752600"/>
            <a:ext cx="1447800"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i=2</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=4</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4</a:t>
            </a:r>
            <a:endParaRPr b="0" i="0" sz="2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=1</a:t>
            </a:r>
            <a:endParaRPr/>
          </a:p>
        </p:txBody>
      </p:sp>
      <p:sp>
        <p:nvSpPr>
          <p:cNvPr id="1735" name="Google Shape;1735;p51"/>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736" name="Google Shape;1736;p51"/>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737" name="Google Shape;1737;p51"/>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38" name="Google Shape;1738;p51"/>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39" name="Google Shape;1739;p51"/>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40" name="Google Shape;1740;p51"/>
          <p:cNvSpPr/>
          <p:nvPr/>
        </p:nvSpPr>
        <p:spPr>
          <a:xfrm>
            <a:off x="7239000" y="685800"/>
            <a:ext cx="1676400" cy="914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41" name="Google Shape;1741;p51"/>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42" name="Google Shape;1742;p51"/>
          <p:cNvSpPr txBox="1"/>
          <p:nvPr/>
        </p:nvSpPr>
        <p:spPr>
          <a:xfrm>
            <a:off x="2743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43" name="Google Shape;1743;p51"/>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44" name="Google Shape;1744;p51"/>
          <p:cNvSpPr txBox="1"/>
          <p:nvPr/>
        </p:nvSpPr>
        <p:spPr>
          <a:xfrm>
            <a:off x="35814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45" name="Google Shape;1745;p51"/>
          <p:cNvSpPr txBox="1"/>
          <p:nvPr/>
        </p:nvSpPr>
        <p:spPr>
          <a:xfrm>
            <a:off x="35814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746" name="Google Shape;1746;p51"/>
          <p:cNvSpPr txBox="1"/>
          <p:nvPr/>
        </p:nvSpPr>
        <p:spPr>
          <a:xfrm>
            <a:off x="35814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4</a:t>
            </a:r>
            <a:endParaRPr b="0" i="0" sz="1800" u="none" cap="none" strike="noStrike">
              <a:solidFill>
                <a:srgbClr val="000000"/>
              </a:solidFill>
              <a:latin typeface="Calibri"/>
              <a:ea typeface="Calibri"/>
              <a:cs typeface="Calibri"/>
              <a:sym typeface="Calibri"/>
            </a:endParaRPr>
          </a:p>
        </p:txBody>
      </p:sp>
      <p:cxnSp>
        <p:nvCxnSpPr>
          <p:cNvPr id="1747" name="Google Shape;1747;p51"/>
          <p:cNvCxnSpPr/>
          <p:nvPr/>
        </p:nvCxnSpPr>
        <p:spPr>
          <a:xfrm>
            <a:off x="3048000" y="2362200"/>
            <a:ext cx="533400" cy="114300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1" name="Shape 1751"/>
        <p:cNvGrpSpPr/>
        <p:nvPr/>
      </p:nvGrpSpPr>
      <p:grpSpPr>
        <a:xfrm>
          <a:off x="0" y="0"/>
          <a:ext cx="0" cy="0"/>
          <a:chOff x="0" y="0"/>
          <a:chExt cx="0" cy="0"/>
        </a:xfrm>
      </p:grpSpPr>
      <p:sp>
        <p:nvSpPr>
          <p:cNvPr id="1752" name="Google Shape;1752;p52"/>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(13)</a:t>
            </a:r>
            <a:endParaRPr/>
          </a:p>
        </p:txBody>
      </p:sp>
      <p:cxnSp>
        <p:nvCxnSpPr>
          <p:cNvPr id="1753" name="Google Shape;1753;p52"/>
          <p:cNvCxnSpPr/>
          <p:nvPr/>
        </p:nvCxnSpPr>
        <p:spPr>
          <a:xfrm>
            <a:off x="4648200" y="1524000"/>
            <a:ext cx="0" cy="3657600"/>
          </a:xfrm>
          <a:prstGeom prst="straightConnector1">
            <a:avLst/>
          </a:prstGeom>
          <a:noFill/>
          <a:ln>
            <a:noFill/>
          </a:ln>
        </p:spPr>
      </p:cxnSp>
      <p:sp>
        <p:nvSpPr>
          <p:cNvPr id="1754" name="Google Shape;1754;p52"/>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&lt;= 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b</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 B[i-1,w-w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&gt;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 + B[i-1,w- w</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 B[i,w] = B[i-1,w]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755" name="Google Shape;1755;p52"/>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756" name="Google Shape;1756;p52"/>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57" name="Google Shape;1757;p52"/>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58" name="Google Shape;1758;p52"/>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59" name="Google Shape;1759;p52"/>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60" name="Google Shape;1760;p52"/>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61" name="Google Shape;1761;p52"/>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62" name="Google Shape;1762;p52"/>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763" name="Google Shape;1763;p52"/>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764" name="Google Shape;1764;p52"/>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765" name="Google Shape;1765;p52"/>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766" name="Google Shape;1766;p52"/>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767" name="Google Shape;1767;p52"/>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768" name="Google Shape;1768;p52"/>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69" name="Google Shape;1769;p52"/>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70" name="Google Shape;1770;p52"/>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71" name="Google Shape;1771;p52"/>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72" name="Google Shape;1772;p52"/>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73" name="Google Shape;1773;p52"/>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74" name="Google Shape;1774;p52"/>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775" name="Google Shape;1775;p52"/>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76" name="Google Shape;1776;p52"/>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777" name="Google Shape;1777;p52"/>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778" name="Google Shape;1778;p52"/>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79" name="Google Shape;1779;p52"/>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780" name="Google Shape;1780;p52"/>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781" name="Google Shape;1781;p52"/>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782" name="Google Shape;1782;p52"/>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83" name="Google Shape;1783;p52"/>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784" name="Google Shape;1784;p52"/>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785" name="Google Shape;1785;p52"/>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86" name="Google Shape;1786;p52"/>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87" name="Google Shape;1787;p52"/>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88" name="Google Shape;1788;p52"/>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89" name="Google Shape;1789;p52"/>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90" name="Google Shape;1790;p52"/>
          <p:cNvSpPr txBox="1"/>
          <p:nvPr/>
        </p:nvSpPr>
        <p:spPr>
          <a:xfrm>
            <a:off x="6172200" y="1752600"/>
            <a:ext cx="1447800"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i=2</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=4</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5</a:t>
            </a:r>
            <a:endParaRPr b="0" i="0" sz="2800" u="none" cap="none" strike="noStrike">
              <a:solidFill>
                <a:srgbClr val="000000"/>
              </a:solidFill>
              <a:latin typeface="Calibri"/>
              <a:ea typeface="Calibri"/>
              <a:cs typeface="Calibri"/>
              <a:sym typeface="Calibri"/>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=2</a:t>
            </a:r>
            <a:endParaRPr/>
          </a:p>
        </p:txBody>
      </p:sp>
      <p:sp>
        <p:nvSpPr>
          <p:cNvPr id="1791" name="Google Shape;1791;p52"/>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792" name="Google Shape;1792;p52"/>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793" name="Google Shape;1793;p52"/>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794" name="Google Shape;1794;p52"/>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95" name="Google Shape;1795;p52"/>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96" name="Google Shape;1796;p52"/>
          <p:cNvSpPr/>
          <p:nvPr/>
        </p:nvSpPr>
        <p:spPr>
          <a:xfrm>
            <a:off x="7239000" y="685800"/>
            <a:ext cx="1676400" cy="914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97" name="Google Shape;1797;p52"/>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98" name="Google Shape;1798;p52"/>
          <p:cNvSpPr txBox="1"/>
          <p:nvPr/>
        </p:nvSpPr>
        <p:spPr>
          <a:xfrm>
            <a:off x="2743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799" name="Google Shape;1799;p52"/>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00" name="Google Shape;1800;p52"/>
          <p:cNvSpPr txBox="1"/>
          <p:nvPr/>
        </p:nvSpPr>
        <p:spPr>
          <a:xfrm>
            <a:off x="35814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801" name="Google Shape;1801;p52"/>
          <p:cNvSpPr txBox="1"/>
          <p:nvPr/>
        </p:nvSpPr>
        <p:spPr>
          <a:xfrm>
            <a:off x="35814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802" name="Google Shape;1802;p52"/>
          <p:cNvSpPr txBox="1"/>
          <p:nvPr/>
        </p:nvSpPr>
        <p:spPr>
          <a:xfrm>
            <a:off x="35814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803" name="Google Shape;1803;p52"/>
          <p:cNvSpPr txBox="1"/>
          <p:nvPr/>
        </p:nvSpPr>
        <p:spPr>
          <a:xfrm>
            <a:off x="35814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7</a:t>
            </a:r>
            <a:endParaRPr b="0" i="0" sz="1800" u="none" cap="none" strike="noStrike">
              <a:solidFill>
                <a:srgbClr val="000000"/>
              </a:solidFill>
              <a:latin typeface="Calibri"/>
              <a:ea typeface="Calibri"/>
              <a:cs typeface="Calibri"/>
              <a:sym typeface="Calibri"/>
            </a:endParaRPr>
          </a:p>
        </p:txBody>
      </p:sp>
      <p:cxnSp>
        <p:nvCxnSpPr>
          <p:cNvPr id="1804" name="Google Shape;1804;p52"/>
          <p:cNvCxnSpPr/>
          <p:nvPr/>
        </p:nvCxnSpPr>
        <p:spPr>
          <a:xfrm>
            <a:off x="3048000" y="2819400"/>
            <a:ext cx="533400" cy="114300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sp>
        <p:nvSpPr>
          <p:cNvPr id="1809" name="Google Shape;1809;p53"/>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(14)</a:t>
            </a:r>
            <a:endParaRPr/>
          </a:p>
        </p:txBody>
      </p:sp>
      <p:cxnSp>
        <p:nvCxnSpPr>
          <p:cNvPr id="1810" name="Google Shape;1810;p53"/>
          <p:cNvCxnSpPr/>
          <p:nvPr/>
        </p:nvCxnSpPr>
        <p:spPr>
          <a:xfrm>
            <a:off x="4648200" y="1524000"/>
            <a:ext cx="0" cy="3657600"/>
          </a:xfrm>
          <a:prstGeom prst="straightConnector1">
            <a:avLst/>
          </a:prstGeom>
          <a:noFill/>
          <a:ln>
            <a:noFill/>
          </a:ln>
        </p:spPr>
      </p:cxnSp>
      <p:sp>
        <p:nvSpPr>
          <p:cNvPr id="1811" name="Google Shape;1811;p53"/>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&lt;= w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&gt;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FF0000"/>
                </a:solidFill>
                <a:latin typeface="Calibri"/>
                <a:ea typeface="Calibri"/>
                <a:cs typeface="Calibri"/>
                <a:sym typeface="Calibri"/>
              </a:rPr>
              <a:t>else</a:t>
            </a: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B[i-1,w]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812" name="Google Shape;1812;p53"/>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813" name="Google Shape;1813;p53"/>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14" name="Google Shape;1814;p53"/>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15" name="Google Shape;1815;p53"/>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16" name="Google Shape;1816;p53"/>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17" name="Google Shape;1817;p53"/>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18" name="Google Shape;1818;p53"/>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19" name="Google Shape;1819;p53"/>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20" name="Google Shape;1820;p53"/>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821" name="Google Shape;1821;p53"/>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822" name="Google Shape;1822;p53"/>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823" name="Google Shape;1823;p53"/>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824" name="Google Shape;1824;p53"/>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825" name="Google Shape;1825;p53"/>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26" name="Google Shape;1826;p53"/>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27" name="Google Shape;1827;p53"/>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28" name="Google Shape;1828;p53"/>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29" name="Google Shape;1829;p53"/>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30" name="Google Shape;1830;p53"/>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31" name="Google Shape;1831;p53"/>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832" name="Google Shape;1832;p53"/>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33" name="Google Shape;1833;p53"/>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834" name="Google Shape;1834;p53"/>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835" name="Google Shape;1835;p53"/>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836" name="Google Shape;1836;p53"/>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837" name="Google Shape;1837;p53"/>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838" name="Google Shape;1838;p53"/>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839" name="Google Shape;1839;p53"/>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40" name="Google Shape;1840;p53"/>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841" name="Google Shape;1841;p53"/>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842" name="Google Shape;1842;p53"/>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843" name="Google Shape;1843;p53"/>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44" name="Google Shape;1844;p53"/>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45" name="Google Shape;1845;p53"/>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46" name="Google Shape;1846;p53"/>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47" name="Google Shape;1847;p53"/>
          <p:cNvSpPr txBox="1"/>
          <p:nvPr/>
        </p:nvSpPr>
        <p:spPr>
          <a:xfrm>
            <a:off x="6172200" y="1752600"/>
            <a:ext cx="1447800" cy="19716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=5</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=4</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1..3</a:t>
            </a:r>
            <a:endParaRPr b="0" i="0" sz="2800" u="none" cap="none" strike="noStrike">
              <a:solidFill>
                <a:srgbClr val="000000"/>
              </a:solidFill>
              <a:latin typeface="Calibri"/>
              <a:ea typeface="Calibri"/>
              <a:cs typeface="Calibri"/>
              <a:sym typeface="Calibri"/>
            </a:endParaRPr>
          </a:p>
        </p:txBody>
      </p:sp>
      <p:sp>
        <p:nvSpPr>
          <p:cNvPr id="1848" name="Google Shape;1848;p53"/>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849" name="Google Shape;1849;p53"/>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850" name="Google Shape;1850;p53"/>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51" name="Google Shape;1851;p53"/>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852" name="Google Shape;1852;p53"/>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853" name="Google Shape;1853;p53"/>
          <p:cNvSpPr/>
          <p:nvPr/>
        </p:nvSpPr>
        <p:spPr>
          <a:xfrm>
            <a:off x="7239000" y="685800"/>
            <a:ext cx="1676400" cy="1295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54" name="Google Shape;1854;p53"/>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855" name="Google Shape;1855;p53"/>
          <p:cNvSpPr txBox="1"/>
          <p:nvPr/>
        </p:nvSpPr>
        <p:spPr>
          <a:xfrm>
            <a:off x="2743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856" name="Google Shape;1856;p53"/>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57" name="Google Shape;1857;p53"/>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58" name="Google Shape;1858;p53"/>
          <p:cNvSpPr txBox="1"/>
          <p:nvPr/>
        </p:nvSpPr>
        <p:spPr>
          <a:xfrm>
            <a:off x="35814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859" name="Google Shape;1859;p53"/>
          <p:cNvSpPr txBox="1"/>
          <p:nvPr/>
        </p:nvSpPr>
        <p:spPr>
          <a:xfrm>
            <a:off x="35814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860" name="Google Shape;1860;p53"/>
          <p:cNvSpPr txBox="1"/>
          <p:nvPr/>
        </p:nvSpPr>
        <p:spPr>
          <a:xfrm>
            <a:off x="35814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861" name="Google Shape;1861;p53"/>
          <p:cNvSpPr txBox="1"/>
          <p:nvPr/>
        </p:nvSpPr>
        <p:spPr>
          <a:xfrm>
            <a:off x="35814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7</a:t>
            </a:r>
            <a:endParaRPr/>
          </a:p>
        </p:txBody>
      </p:sp>
      <p:sp>
        <p:nvSpPr>
          <p:cNvPr id="1862" name="Google Shape;1862;p53"/>
          <p:cNvSpPr txBox="1"/>
          <p:nvPr/>
        </p:nvSpPr>
        <p:spPr>
          <a:xfrm>
            <a:off x="44196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0</a:t>
            </a:r>
            <a:endParaRPr/>
          </a:p>
        </p:txBody>
      </p:sp>
      <p:sp>
        <p:nvSpPr>
          <p:cNvPr id="1863" name="Google Shape;1863;p53"/>
          <p:cNvSpPr txBox="1"/>
          <p:nvPr/>
        </p:nvSpPr>
        <p:spPr>
          <a:xfrm>
            <a:off x="44196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3</a:t>
            </a:r>
            <a:endParaRPr/>
          </a:p>
        </p:txBody>
      </p:sp>
      <p:sp>
        <p:nvSpPr>
          <p:cNvPr id="1864" name="Google Shape;1864;p53"/>
          <p:cNvSpPr txBox="1"/>
          <p:nvPr/>
        </p:nvSpPr>
        <p:spPr>
          <a:xfrm>
            <a:off x="44196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4</a:t>
            </a:r>
            <a:endParaRPr/>
          </a:p>
        </p:txBody>
      </p:sp>
      <p:cxnSp>
        <p:nvCxnSpPr>
          <p:cNvPr id="1865" name="Google Shape;1865;p53"/>
          <p:cNvCxnSpPr/>
          <p:nvPr/>
        </p:nvCxnSpPr>
        <p:spPr>
          <a:xfrm>
            <a:off x="3962400" y="2209800"/>
            <a:ext cx="457200" cy="0"/>
          </a:xfrm>
          <a:prstGeom prst="straightConnector1">
            <a:avLst/>
          </a:prstGeom>
          <a:noFill/>
          <a:ln cap="flat" cmpd="sng" w="38100">
            <a:solidFill>
              <a:schemeClr val="dk1"/>
            </a:solidFill>
            <a:prstDash val="solid"/>
            <a:round/>
            <a:headEnd len="med" w="med" type="none"/>
            <a:tailEnd len="med" w="med" type="triangle"/>
          </a:ln>
        </p:spPr>
      </p:cxnSp>
      <p:cxnSp>
        <p:nvCxnSpPr>
          <p:cNvPr id="1866" name="Google Shape;1866;p53"/>
          <p:cNvCxnSpPr/>
          <p:nvPr/>
        </p:nvCxnSpPr>
        <p:spPr>
          <a:xfrm>
            <a:off x="3962400" y="2667000"/>
            <a:ext cx="457200" cy="0"/>
          </a:xfrm>
          <a:prstGeom prst="straightConnector1">
            <a:avLst/>
          </a:prstGeom>
          <a:noFill/>
          <a:ln cap="flat" cmpd="sng" w="38100">
            <a:solidFill>
              <a:schemeClr val="dk1"/>
            </a:solidFill>
            <a:prstDash val="solid"/>
            <a:round/>
            <a:headEnd len="med" w="med" type="none"/>
            <a:tailEnd len="med" w="med" type="triangle"/>
          </a:ln>
        </p:spPr>
      </p:cxnSp>
      <p:cxnSp>
        <p:nvCxnSpPr>
          <p:cNvPr id="1867" name="Google Shape;1867;p53"/>
          <p:cNvCxnSpPr/>
          <p:nvPr/>
        </p:nvCxnSpPr>
        <p:spPr>
          <a:xfrm>
            <a:off x="3962400" y="3124200"/>
            <a:ext cx="457200" cy="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1" name="Shape 1871"/>
        <p:cNvGrpSpPr/>
        <p:nvPr/>
      </p:nvGrpSpPr>
      <p:grpSpPr>
        <a:xfrm>
          <a:off x="0" y="0"/>
          <a:ext cx="0" cy="0"/>
          <a:chOff x="0" y="0"/>
          <a:chExt cx="0" cy="0"/>
        </a:xfrm>
      </p:grpSpPr>
      <p:sp>
        <p:nvSpPr>
          <p:cNvPr id="1872" name="Google Shape;1872;p54"/>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(15)</a:t>
            </a:r>
            <a:endParaRPr/>
          </a:p>
        </p:txBody>
      </p:sp>
      <p:cxnSp>
        <p:nvCxnSpPr>
          <p:cNvPr id="1873" name="Google Shape;1873;p54"/>
          <p:cNvCxnSpPr/>
          <p:nvPr/>
        </p:nvCxnSpPr>
        <p:spPr>
          <a:xfrm>
            <a:off x="4648200" y="1524000"/>
            <a:ext cx="0" cy="3657600"/>
          </a:xfrm>
          <a:prstGeom prst="straightConnector1">
            <a:avLst/>
          </a:prstGeom>
          <a:noFill/>
          <a:ln>
            <a:noFill/>
          </a:ln>
        </p:spPr>
      </p:cxnSp>
      <p:sp>
        <p:nvSpPr>
          <p:cNvPr id="1874" name="Google Shape;1874;p54"/>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&lt;= 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b</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 B[i-1,w-w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&gt; B[i-1,w]</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 + B[i-1,w- w</a:t>
            </a:r>
            <a:r>
              <a:rPr b="1" baseline="-25000" i="0" lang="en-US" sz="2000" u="none" cap="none" strike="noStrike">
                <a:solidFill>
                  <a:srgbClr val="000000"/>
                </a:solidFill>
                <a:latin typeface="Calibri"/>
                <a:ea typeface="Calibri"/>
                <a:cs typeface="Calibri"/>
                <a:sym typeface="Calibri"/>
              </a:rPr>
              <a:t>i</a:t>
            </a:r>
            <a:r>
              <a:rPr b="1" i="0" lang="en-U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 B[i,w] = B[i-1,w]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875" name="Google Shape;1875;p54"/>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876" name="Google Shape;1876;p54"/>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77" name="Google Shape;1877;p54"/>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78" name="Google Shape;1878;p54"/>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79" name="Google Shape;1879;p54"/>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80" name="Google Shape;1880;p54"/>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81" name="Google Shape;1881;p54"/>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82" name="Google Shape;1882;p54"/>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883" name="Google Shape;1883;p54"/>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884" name="Google Shape;1884;p54"/>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885" name="Google Shape;1885;p54"/>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886" name="Google Shape;1886;p54"/>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887" name="Google Shape;1887;p54"/>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888" name="Google Shape;1888;p54"/>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89" name="Google Shape;1889;p54"/>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90" name="Google Shape;1890;p54"/>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91" name="Google Shape;1891;p54"/>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92" name="Google Shape;1892;p54"/>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93" name="Google Shape;1893;p54"/>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94" name="Google Shape;1894;p54"/>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895" name="Google Shape;1895;p54"/>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896" name="Google Shape;1896;p54"/>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897" name="Google Shape;1897;p54"/>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898" name="Google Shape;1898;p54"/>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899" name="Google Shape;1899;p54"/>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900" name="Google Shape;1900;p54"/>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901" name="Google Shape;1901;p54"/>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902" name="Google Shape;1902;p54"/>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03" name="Google Shape;1903;p54"/>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904" name="Google Shape;1904;p54"/>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905" name="Google Shape;1905;p54"/>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06" name="Google Shape;1906;p54"/>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07" name="Google Shape;1907;p54"/>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08" name="Google Shape;1908;p54"/>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09" name="Google Shape;1909;p54"/>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10" name="Google Shape;1910;p54"/>
          <p:cNvSpPr txBox="1"/>
          <p:nvPr/>
        </p:nvSpPr>
        <p:spPr>
          <a:xfrm>
            <a:off x="6172200" y="1752600"/>
            <a:ext cx="1447800"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=5</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=4</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4</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 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=0</a:t>
            </a:r>
            <a:endParaRPr/>
          </a:p>
        </p:txBody>
      </p:sp>
      <p:sp>
        <p:nvSpPr>
          <p:cNvPr id="1911" name="Google Shape;1911;p54"/>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912" name="Google Shape;1912;p54"/>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913" name="Google Shape;1913;p54"/>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14" name="Google Shape;1914;p54"/>
          <p:cNvSpPr/>
          <p:nvPr/>
        </p:nvSpPr>
        <p:spPr>
          <a:xfrm>
            <a:off x="7239000" y="685800"/>
            <a:ext cx="1676400" cy="1295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15" name="Google Shape;1915;p54"/>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16" name="Google Shape;1916;p54"/>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17" name="Google Shape;1917;p54"/>
          <p:cNvSpPr txBox="1"/>
          <p:nvPr/>
        </p:nvSpPr>
        <p:spPr>
          <a:xfrm>
            <a:off x="35814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18" name="Google Shape;1918;p54"/>
          <p:cNvSpPr txBox="1"/>
          <p:nvPr/>
        </p:nvSpPr>
        <p:spPr>
          <a:xfrm>
            <a:off x="35814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919" name="Google Shape;1919;p54"/>
          <p:cNvSpPr txBox="1"/>
          <p:nvPr/>
        </p:nvSpPr>
        <p:spPr>
          <a:xfrm>
            <a:off x="35814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920" name="Google Shape;1920;p54"/>
          <p:cNvSpPr txBox="1"/>
          <p:nvPr/>
        </p:nvSpPr>
        <p:spPr>
          <a:xfrm>
            <a:off x="35814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7</a:t>
            </a:r>
            <a:endParaRPr/>
          </a:p>
        </p:txBody>
      </p:sp>
      <p:sp>
        <p:nvSpPr>
          <p:cNvPr id="1921" name="Google Shape;1921;p54"/>
          <p:cNvSpPr txBox="1"/>
          <p:nvPr/>
        </p:nvSpPr>
        <p:spPr>
          <a:xfrm>
            <a:off x="44196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22" name="Google Shape;1922;p54"/>
          <p:cNvSpPr txBox="1"/>
          <p:nvPr/>
        </p:nvSpPr>
        <p:spPr>
          <a:xfrm>
            <a:off x="44196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23" name="Google Shape;1923;p54"/>
          <p:cNvSpPr txBox="1"/>
          <p:nvPr/>
        </p:nvSpPr>
        <p:spPr>
          <a:xfrm>
            <a:off x="44196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cxnSp>
        <p:nvCxnSpPr>
          <p:cNvPr id="1924" name="Google Shape;1924;p54"/>
          <p:cNvCxnSpPr/>
          <p:nvPr/>
        </p:nvCxnSpPr>
        <p:spPr>
          <a:xfrm>
            <a:off x="3886200" y="1905000"/>
            <a:ext cx="533400" cy="1600200"/>
          </a:xfrm>
          <a:prstGeom prst="straightConnector1">
            <a:avLst/>
          </a:prstGeom>
          <a:noFill/>
          <a:ln cap="flat" cmpd="sng" w="38100">
            <a:solidFill>
              <a:schemeClr val="dk1"/>
            </a:solidFill>
            <a:prstDash val="solid"/>
            <a:round/>
            <a:headEnd len="med" w="med" type="none"/>
            <a:tailEnd len="med" w="med" type="triangle"/>
          </a:ln>
        </p:spPr>
      </p:cxnSp>
      <p:sp>
        <p:nvSpPr>
          <p:cNvPr id="1925" name="Google Shape;1925;p54"/>
          <p:cNvSpPr txBox="1"/>
          <p:nvPr/>
        </p:nvSpPr>
        <p:spPr>
          <a:xfrm>
            <a:off x="44196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5</a:t>
            </a:r>
            <a:endParaRPr b="0" i="0" sz="1800" u="none" cap="none" strike="noStrike">
              <a:solidFill>
                <a:srgbClr val="000000"/>
              </a:solidFill>
              <a:latin typeface="Calibri"/>
              <a:ea typeface="Calibri"/>
              <a:cs typeface="Calibri"/>
              <a:sym typeface="Calibri"/>
            </a:endParaRPr>
          </a:p>
        </p:txBody>
      </p:sp>
      <p:sp>
        <p:nvSpPr>
          <p:cNvPr id="1926" name="Google Shape;1926;p54"/>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27" name="Google Shape;1927;p54"/>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28" name="Google Shape;1928;p54"/>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29" name="Google Shape;1929;p54"/>
          <p:cNvSpPr txBox="1"/>
          <p:nvPr/>
        </p:nvSpPr>
        <p:spPr>
          <a:xfrm>
            <a:off x="2743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3" name="Shape 1933"/>
        <p:cNvGrpSpPr/>
        <p:nvPr/>
      </p:nvGrpSpPr>
      <p:grpSpPr>
        <a:xfrm>
          <a:off x="0" y="0"/>
          <a:ext cx="0" cy="0"/>
          <a:chOff x="0" y="0"/>
          <a:chExt cx="0" cy="0"/>
        </a:xfrm>
      </p:grpSpPr>
      <p:sp>
        <p:nvSpPr>
          <p:cNvPr id="1934" name="Google Shape;1934;p55"/>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(15)</a:t>
            </a:r>
            <a:endParaRPr/>
          </a:p>
        </p:txBody>
      </p:sp>
      <p:cxnSp>
        <p:nvCxnSpPr>
          <p:cNvPr id="1935" name="Google Shape;1935;p55"/>
          <p:cNvCxnSpPr/>
          <p:nvPr/>
        </p:nvCxnSpPr>
        <p:spPr>
          <a:xfrm>
            <a:off x="4648200" y="1524000"/>
            <a:ext cx="0" cy="3657600"/>
          </a:xfrm>
          <a:prstGeom prst="straightConnector1">
            <a:avLst/>
          </a:prstGeom>
          <a:noFill/>
          <a:ln>
            <a:noFill/>
          </a:ln>
        </p:spPr>
      </p:cxnSp>
      <p:sp>
        <p:nvSpPr>
          <p:cNvPr id="1936" name="Google Shape;1936;p55"/>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&lt;= 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&gt;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FF0000"/>
                </a:solidFill>
                <a:latin typeface="Calibri"/>
                <a:ea typeface="Calibri"/>
                <a:cs typeface="Calibri"/>
                <a:sym typeface="Calibri"/>
              </a:rPr>
              <a:t>else</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000000"/>
                </a:solidFill>
                <a:latin typeface="Calibri"/>
                <a:ea typeface="Calibri"/>
                <a:cs typeface="Calibri"/>
                <a:sym typeface="Calibri"/>
              </a:rPr>
              <a:t>B[i,w] = B[i-1,w]</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 B[i,w] = B[i-1,w]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1937" name="Google Shape;1937;p55"/>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938" name="Google Shape;1938;p55"/>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939" name="Google Shape;1939;p55"/>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940" name="Google Shape;1940;p55"/>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941" name="Google Shape;1941;p55"/>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942" name="Google Shape;1942;p55"/>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943" name="Google Shape;1943;p55"/>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944" name="Google Shape;1944;p55"/>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1945" name="Google Shape;1945;p55"/>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946" name="Google Shape;1946;p55"/>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947" name="Google Shape;1947;p55"/>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948" name="Google Shape;1948;p55"/>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1949" name="Google Shape;1949;p55"/>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1950" name="Google Shape;1950;p55"/>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51" name="Google Shape;1951;p55"/>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52" name="Google Shape;1952;p55"/>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53" name="Google Shape;1953;p55"/>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54" name="Google Shape;1954;p55"/>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55" name="Google Shape;1955;p55"/>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56" name="Google Shape;1956;p55"/>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1957" name="Google Shape;1957;p55"/>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58" name="Google Shape;1958;p55"/>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959" name="Google Shape;1959;p55"/>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960" name="Google Shape;1960;p55"/>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61" name="Google Shape;1961;p55"/>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962" name="Google Shape;1962;p55"/>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963" name="Google Shape;1963;p55"/>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1964" name="Google Shape;1964;p55"/>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65" name="Google Shape;1965;p55"/>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1966" name="Google Shape;1966;p55"/>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1967" name="Google Shape;1967;p55"/>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68" name="Google Shape;1968;p55"/>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69" name="Google Shape;1969;p55"/>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70" name="Google Shape;1970;p55"/>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71" name="Google Shape;1971;p55"/>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72" name="Google Shape;1972;p55"/>
          <p:cNvSpPr txBox="1"/>
          <p:nvPr/>
        </p:nvSpPr>
        <p:spPr>
          <a:xfrm>
            <a:off x="6172200" y="1752600"/>
            <a:ext cx="1447800"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=5</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=4</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5</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 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=1</a:t>
            </a:r>
            <a:endParaRPr/>
          </a:p>
        </p:txBody>
      </p:sp>
      <p:sp>
        <p:nvSpPr>
          <p:cNvPr id="1973" name="Google Shape;1973;p55"/>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1974" name="Google Shape;1974;p55"/>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975" name="Google Shape;1975;p55"/>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76" name="Google Shape;1976;p55"/>
          <p:cNvSpPr/>
          <p:nvPr/>
        </p:nvSpPr>
        <p:spPr>
          <a:xfrm>
            <a:off x="7239000" y="685800"/>
            <a:ext cx="1676400" cy="1295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77" name="Google Shape;1977;p55"/>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78" name="Google Shape;1978;p55"/>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79" name="Google Shape;1979;p55"/>
          <p:cNvSpPr txBox="1"/>
          <p:nvPr/>
        </p:nvSpPr>
        <p:spPr>
          <a:xfrm>
            <a:off x="35814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80" name="Google Shape;1980;p55"/>
          <p:cNvSpPr txBox="1"/>
          <p:nvPr/>
        </p:nvSpPr>
        <p:spPr>
          <a:xfrm>
            <a:off x="35814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981" name="Google Shape;1981;p55"/>
          <p:cNvSpPr txBox="1"/>
          <p:nvPr/>
        </p:nvSpPr>
        <p:spPr>
          <a:xfrm>
            <a:off x="35814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1982" name="Google Shape;1982;p55"/>
          <p:cNvSpPr txBox="1"/>
          <p:nvPr/>
        </p:nvSpPr>
        <p:spPr>
          <a:xfrm>
            <a:off x="35814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7</a:t>
            </a:r>
            <a:endParaRPr/>
          </a:p>
        </p:txBody>
      </p:sp>
      <p:sp>
        <p:nvSpPr>
          <p:cNvPr id="1983" name="Google Shape;1983;p55"/>
          <p:cNvSpPr txBox="1"/>
          <p:nvPr/>
        </p:nvSpPr>
        <p:spPr>
          <a:xfrm>
            <a:off x="44196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1984" name="Google Shape;1984;p55"/>
          <p:cNvSpPr txBox="1"/>
          <p:nvPr/>
        </p:nvSpPr>
        <p:spPr>
          <a:xfrm>
            <a:off x="44196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85" name="Google Shape;1985;p55"/>
          <p:cNvSpPr txBox="1"/>
          <p:nvPr/>
        </p:nvSpPr>
        <p:spPr>
          <a:xfrm>
            <a:off x="44196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cxnSp>
        <p:nvCxnSpPr>
          <p:cNvPr id="1986" name="Google Shape;1986;p55"/>
          <p:cNvCxnSpPr/>
          <p:nvPr/>
        </p:nvCxnSpPr>
        <p:spPr>
          <a:xfrm>
            <a:off x="4038600" y="4038600"/>
            <a:ext cx="381000" cy="0"/>
          </a:xfrm>
          <a:prstGeom prst="straightConnector1">
            <a:avLst/>
          </a:prstGeom>
          <a:noFill/>
          <a:ln cap="flat" cmpd="sng" w="38100">
            <a:solidFill>
              <a:schemeClr val="dk1"/>
            </a:solidFill>
            <a:prstDash val="solid"/>
            <a:round/>
            <a:headEnd len="med" w="med" type="none"/>
            <a:tailEnd len="med" w="med" type="triangle"/>
          </a:ln>
        </p:spPr>
      </p:cxnSp>
      <p:sp>
        <p:nvSpPr>
          <p:cNvPr id="1987" name="Google Shape;1987;p55"/>
          <p:cNvSpPr txBox="1"/>
          <p:nvPr/>
        </p:nvSpPr>
        <p:spPr>
          <a:xfrm>
            <a:off x="44196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1988" name="Google Shape;1988;p55"/>
          <p:cNvSpPr txBox="1"/>
          <p:nvPr/>
        </p:nvSpPr>
        <p:spPr>
          <a:xfrm>
            <a:off x="44196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7</a:t>
            </a:r>
            <a:endParaRPr b="0" i="0" sz="1800" u="none" cap="none" strike="noStrike">
              <a:solidFill>
                <a:srgbClr val="000000"/>
              </a:solidFill>
              <a:latin typeface="Calibri"/>
              <a:ea typeface="Calibri"/>
              <a:cs typeface="Calibri"/>
              <a:sym typeface="Calibri"/>
            </a:endParaRPr>
          </a:p>
        </p:txBody>
      </p:sp>
      <p:sp>
        <p:nvSpPr>
          <p:cNvPr id="1989" name="Google Shape;1989;p55"/>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90" name="Google Shape;1990;p55"/>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91" name="Google Shape;1991;p55"/>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1992" name="Google Shape;1992;p55"/>
          <p:cNvSpPr txBox="1"/>
          <p:nvPr/>
        </p:nvSpPr>
        <p:spPr>
          <a:xfrm>
            <a:off x="2743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6" name="Shape 1996"/>
        <p:cNvGrpSpPr/>
        <p:nvPr/>
      </p:nvGrpSpPr>
      <p:grpSpPr>
        <a:xfrm>
          <a:off x="0" y="0"/>
          <a:ext cx="0" cy="0"/>
          <a:chOff x="0" y="0"/>
          <a:chExt cx="0" cy="0"/>
        </a:xfrm>
      </p:grpSpPr>
      <p:sp>
        <p:nvSpPr>
          <p:cNvPr id="1997" name="Google Shape;1997;p56"/>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(16)</a:t>
            </a:r>
            <a:endParaRPr/>
          </a:p>
        </p:txBody>
      </p:sp>
      <p:cxnSp>
        <p:nvCxnSpPr>
          <p:cNvPr id="1998" name="Google Shape;1998;p56"/>
          <p:cNvCxnSpPr/>
          <p:nvPr/>
        </p:nvCxnSpPr>
        <p:spPr>
          <a:xfrm>
            <a:off x="4648200" y="1524000"/>
            <a:ext cx="0" cy="3657600"/>
          </a:xfrm>
          <a:prstGeom prst="straightConnector1">
            <a:avLst/>
          </a:prstGeom>
          <a:noFill/>
          <a:ln>
            <a:noFill/>
          </a:ln>
        </p:spPr>
      </p:cxnSp>
      <p:sp>
        <p:nvSpPr>
          <p:cNvPr id="1999" name="Google Shape;1999;p56"/>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&lt;= w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&gt;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FF0000"/>
                </a:solidFill>
                <a:latin typeface="Calibri"/>
                <a:ea typeface="Calibri"/>
                <a:cs typeface="Calibri"/>
                <a:sym typeface="Calibri"/>
              </a:rPr>
              <a:t>else </a:t>
            </a:r>
            <a:r>
              <a:rPr b="1" i="0" lang="en-US" sz="2000" u="none" cap="none" strike="noStrike">
                <a:solidFill>
                  <a:srgbClr val="000000"/>
                </a:solidFill>
                <a:latin typeface="Calibri"/>
                <a:ea typeface="Calibri"/>
                <a:cs typeface="Calibri"/>
                <a:sym typeface="Calibri"/>
              </a:rPr>
              <a:t>B[i,w] = B[i-1,w]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2000" name="Google Shape;2000;p56"/>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2001" name="Google Shape;2001;p56"/>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02" name="Google Shape;2002;p56"/>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03" name="Google Shape;2003;p56"/>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04" name="Google Shape;2004;p56"/>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05" name="Google Shape;2005;p56"/>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06" name="Google Shape;2006;p56"/>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07" name="Google Shape;2007;p56"/>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08" name="Google Shape;2008;p56"/>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2009" name="Google Shape;2009;p56"/>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2010" name="Google Shape;2010;p56"/>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2011" name="Google Shape;2011;p56"/>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2012" name="Google Shape;2012;p56"/>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2013" name="Google Shape;2013;p56"/>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14" name="Google Shape;2014;p56"/>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15" name="Google Shape;2015;p56"/>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16" name="Google Shape;2016;p56"/>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17" name="Google Shape;2017;p56"/>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18" name="Google Shape;2018;p56"/>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19" name="Google Shape;2019;p56"/>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2020" name="Google Shape;2020;p56"/>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21" name="Google Shape;2021;p56"/>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2022" name="Google Shape;2022;p56"/>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2023" name="Google Shape;2023;p56"/>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024" name="Google Shape;2024;p56"/>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2025" name="Google Shape;2025;p56"/>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2026" name="Google Shape;2026;p56"/>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2027" name="Google Shape;2027;p56"/>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28" name="Google Shape;2028;p56"/>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2029" name="Google Shape;2029;p56"/>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2030" name="Google Shape;2030;p56"/>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031" name="Google Shape;2031;p56"/>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32" name="Google Shape;2032;p56"/>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33" name="Google Shape;2033;p56"/>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34" name="Google Shape;2034;p56"/>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35" name="Google Shape;2035;p56"/>
          <p:cNvSpPr txBox="1"/>
          <p:nvPr/>
        </p:nvSpPr>
        <p:spPr>
          <a:xfrm>
            <a:off x="6172200" y="1752600"/>
            <a:ext cx="1447800" cy="19716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=5</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=4</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1..4</a:t>
            </a:r>
            <a:endParaRPr/>
          </a:p>
        </p:txBody>
      </p:sp>
      <p:sp>
        <p:nvSpPr>
          <p:cNvPr id="2036" name="Google Shape;2036;p56"/>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2037" name="Google Shape;2037;p56"/>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2038" name="Google Shape;2038;p56"/>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39" name="Google Shape;2039;p56"/>
          <p:cNvSpPr/>
          <p:nvPr/>
        </p:nvSpPr>
        <p:spPr>
          <a:xfrm>
            <a:off x="7239000" y="685800"/>
            <a:ext cx="1676400" cy="1752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0" name="Google Shape;2040;p56"/>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41" name="Google Shape;2041;p56"/>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42" name="Google Shape;2042;p56"/>
          <p:cNvSpPr txBox="1"/>
          <p:nvPr/>
        </p:nvSpPr>
        <p:spPr>
          <a:xfrm>
            <a:off x="35814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043" name="Google Shape;2043;p56"/>
          <p:cNvSpPr txBox="1"/>
          <p:nvPr/>
        </p:nvSpPr>
        <p:spPr>
          <a:xfrm>
            <a:off x="35814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2044" name="Google Shape;2044;p56"/>
          <p:cNvSpPr txBox="1"/>
          <p:nvPr/>
        </p:nvSpPr>
        <p:spPr>
          <a:xfrm>
            <a:off x="35814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2045" name="Google Shape;2045;p56"/>
          <p:cNvSpPr txBox="1"/>
          <p:nvPr/>
        </p:nvSpPr>
        <p:spPr>
          <a:xfrm>
            <a:off x="35814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7</a:t>
            </a:r>
            <a:endParaRPr/>
          </a:p>
        </p:txBody>
      </p:sp>
      <p:sp>
        <p:nvSpPr>
          <p:cNvPr id="2046" name="Google Shape;2046;p56"/>
          <p:cNvSpPr txBox="1"/>
          <p:nvPr/>
        </p:nvSpPr>
        <p:spPr>
          <a:xfrm>
            <a:off x="44196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47" name="Google Shape;2047;p56"/>
          <p:cNvSpPr txBox="1"/>
          <p:nvPr/>
        </p:nvSpPr>
        <p:spPr>
          <a:xfrm>
            <a:off x="44196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048" name="Google Shape;2048;p56"/>
          <p:cNvSpPr txBox="1"/>
          <p:nvPr/>
        </p:nvSpPr>
        <p:spPr>
          <a:xfrm>
            <a:off x="44196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2049" name="Google Shape;2049;p56"/>
          <p:cNvSpPr txBox="1"/>
          <p:nvPr/>
        </p:nvSpPr>
        <p:spPr>
          <a:xfrm>
            <a:off x="44196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2050" name="Google Shape;2050;p56"/>
          <p:cNvSpPr txBox="1"/>
          <p:nvPr/>
        </p:nvSpPr>
        <p:spPr>
          <a:xfrm>
            <a:off x="44196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7</a:t>
            </a:r>
            <a:endParaRPr/>
          </a:p>
        </p:txBody>
      </p:sp>
      <p:sp>
        <p:nvSpPr>
          <p:cNvPr id="2051" name="Google Shape;2051;p56"/>
          <p:cNvSpPr txBox="1"/>
          <p:nvPr/>
        </p:nvSpPr>
        <p:spPr>
          <a:xfrm>
            <a:off x="5334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0</a:t>
            </a:r>
            <a:endParaRPr/>
          </a:p>
        </p:txBody>
      </p:sp>
      <p:sp>
        <p:nvSpPr>
          <p:cNvPr id="2052" name="Google Shape;2052;p56"/>
          <p:cNvSpPr txBox="1"/>
          <p:nvPr/>
        </p:nvSpPr>
        <p:spPr>
          <a:xfrm>
            <a:off x="5334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3</a:t>
            </a:r>
            <a:endParaRPr/>
          </a:p>
        </p:txBody>
      </p:sp>
      <p:sp>
        <p:nvSpPr>
          <p:cNvPr id="2053" name="Google Shape;2053;p56"/>
          <p:cNvSpPr txBox="1"/>
          <p:nvPr/>
        </p:nvSpPr>
        <p:spPr>
          <a:xfrm>
            <a:off x="5334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4</a:t>
            </a:r>
            <a:endParaRPr/>
          </a:p>
        </p:txBody>
      </p:sp>
      <p:sp>
        <p:nvSpPr>
          <p:cNvPr id="2054" name="Google Shape;2054;p56"/>
          <p:cNvSpPr txBox="1"/>
          <p:nvPr/>
        </p:nvSpPr>
        <p:spPr>
          <a:xfrm>
            <a:off x="5334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5</a:t>
            </a:r>
            <a:endParaRPr/>
          </a:p>
        </p:txBody>
      </p:sp>
      <p:cxnSp>
        <p:nvCxnSpPr>
          <p:cNvPr id="2055" name="Google Shape;2055;p56"/>
          <p:cNvCxnSpPr/>
          <p:nvPr/>
        </p:nvCxnSpPr>
        <p:spPr>
          <a:xfrm>
            <a:off x="4800600" y="2209800"/>
            <a:ext cx="457200" cy="0"/>
          </a:xfrm>
          <a:prstGeom prst="straightConnector1">
            <a:avLst/>
          </a:prstGeom>
          <a:noFill/>
          <a:ln cap="flat" cmpd="sng" w="38100">
            <a:solidFill>
              <a:schemeClr val="dk1"/>
            </a:solidFill>
            <a:prstDash val="solid"/>
            <a:round/>
            <a:headEnd len="med" w="med" type="none"/>
            <a:tailEnd len="med" w="med" type="triangle"/>
          </a:ln>
        </p:spPr>
      </p:cxnSp>
      <p:cxnSp>
        <p:nvCxnSpPr>
          <p:cNvPr id="2056" name="Google Shape;2056;p56"/>
          <p:cNvCxnSpPr/>
          <p:nvPr/>
        </p:nvCxnSpPr>
        <p:spPr>
          <a:xfrm>
            <a:off x="4800600" y="2667000"/>
            <a:ext cx="457200" cy="0"/>
          </a:xfrm>
          <a:prstGeom prst="straightConnector1">
            <a:avLst/>
          </a:prstGeom>
          <a:noFill/>
          <a:ln cap="flat" cmpd="sng" w="38100">
            <a:solidFill>
              <a:schemeClr val="dk1"/>
            </a:solidFill>
            <a:prstDash val="solid"/>
            <a:round/>
            <a:headEnd len="med" w="med" type="none"/>
            <a:tailEnd len="med" w="med" type="triangle"/>
          </a:ln>
        </p:spPr>
      </p:cxnSp>
      <p:cxnSp>
        <p:nvCxnSpPr>
          <p:cNvPr id="2057" name="Google Shape;2057;p56"/>
          <p:cNvCxnSpPr/>
          <p:nvPr/>
        </p:nvCxnSpPr>
        <p:spPr>
          <a:xfrm>
            <a:off x="4800600" y="3124200"/>
            <a:ext cx="457200" cy="0"/>
          </a:xfrm>
          <a:prstGeom prst="straightConnector1">
            <a:avLst/>
          </a:prstGeom>
          <a:noFill/>
          <a:ln cap="flat" cmpd="sng" w="38100">
            <a:solidFill>
              <a:schemeClr val="dk1"/>
            </a:solidFill>
            <a:prstDash val="solid"/>
            <a:round/>
            <a:headEnd len="med" w="med" type="none"/>
            <a:tailEnd len="med" w="med" type="triangle"/>
          </a:ln>
        </p:spPr>
      </p:cxnSp>
      <p:cxnSp>
        <p:nvCxnSpPr>
          <p:cNvPr id="2058" name="Google Shape;2058;p56"/>
          <p:cNvCxnSpPr/>
          <p:nvPr/>
        </p:nvCxnSpPr>
        <p:spPr>
          <a:xfrm>
            <a:off x="4800600" y="3581400"/>
            <a:ext cx="457200" cy="0"/>
          </a:xfrm>
          <a:prstGeom prst="straightConnector1">
            <a:avLst/>
          </a:prstGeom>
          <a:noFill/>
          <a:ln cap="flat" cmpd="sng" w="38100">
            <a:solidFill>
              <a:schemeClr val="dk1"/>
            </a:solidFill>
            <a:prstDash val="solid"/>
            <a:round/>
            <a:headEnd len="med" w="med" type="none"/>
            <a:tailEnd len="med" w="med" type="triangle"/>
          </a:ln>
        </p:spPr>
      </p:cxnSp>
      <p:sp>
        <p:nvSpPr>
          <p:cNvPr id="2059" name="Google Shape;2059;p56"/>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060" name="Google Shape;2060;p56"/>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061" name="Google Shape;2061;p56"/>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062" name="Google Shape;2062;p56"/>
          <p:cNvSpPr txBox="1"/>
          <p:nvPr/>
        </p:nvSpPr>
        <p:spPr>
          <a:xfrm>
            <a:off x="2743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6" name="Shape 2066"/>
        <p:cNvGrpSpPr/>
        <p:nvPr/>
      </p:nvGrpSpPr>
      <p:grpSpPr>
        <a:xfrm>
          <a:off x="0" y="0"/>
          <a:ext cx="0" cy="0"/>
          <a:chOff x="0" y="0"/>
          <a:chExt cx="0" cy="0"/>
        </a:xfrm>
      </p:grpSpPr>
      <p:sp>
        <p:nvSpPr>
          <p:cNvPr id="2067" name="Google Shape;2067;p57"/>
          <p:cNvSpPr txBox="1"/>
          <p:nvPr>
            <p:ph type="title"/>
          </p:nvPr>
        </p:nvSpPr>
        <p:spPr>
          <a:xfrm>
            <a:off x="2133600" y="304800"/>
            <a:ext cx="4953000" cy="609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t>Example (17)</a:t>
            </a:r>
            <a:endParaRPr/>
          </a:p>
        </p:txBody>
      </p:sp>
      <p:cxnSp>
        <p:nvCxnSpPr>
          <p:cNvPr id="2068" name="Google Shape;2068;p57"/>
          <p:cNvCxnSpPr/>
          <p:nvPr/>
        </p:nvCxnSpPr>
        <p:spPr>
          <a:xfrm>
            <a:off x="4648200" y="1524000"/>
            <a:ext cx="0" cy="3657600"/>
          </a:xfrm>
          <a:prstGeom prst="straightConnector1">
            <a:avLst/>
          </a:prstGeom>
          <a:noFill/>
          <a:ln>
            <a:noFill/>
          </a:ln>
        </p:spPr>
      </p:cxnSp>
      <p:sp>
        <p:nvSpPr>
          <p:cNvPr id="2069" name="Google Shape;2069;p57"/>
          <p:cNvSpPr txBox="1"/>
          <p:nvPr/>
        </p:nvSpPr>
        <p:spPr>
          <a:xfrm>
            <a:off x="1752600" y="4419600"/>
            <a:ext cx="6934200" cy="1920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a:t>
            </a:r>
            <a:r>
              <a:rPr b="0" i="0" lang="en-US" sz="2000" u="none" cap="none" strike="noStrike">
                <a:solidFill>
                  <a:srgbClr val="FF0000"/>
                </a:solidFill>
                <a:latin typeface="Calibri"/>
                <a:ea typeface="Calibri"/>
                <a:cs typeface="Calibri"/>
                <a:sym typeface="Calibri"/>
              </a:rPr>
              <a:t>w</a:t>
            </a:r>
            <a:r>
              <a:rPr b="0" baseline="-25000" i="0" lang="en-US" sz="2000" u="none" cap="none" strike="noStrike">
                <a:solidFill>
                  <a:srgbClr val="FF0000"/>
                </a:solidFill>
                <a:latin typeface="Calibri"/>
                <a:ea typeface="Calibri"/>
                <a:cs typeface="Calibri"/>
                <a:sym typeface="Calibri"/>
              </a:rPr>
              <a:t>i</a:t>
            </a:r>
            <a:r>
              <a:rPr b="0" i="0" lang="en-US" sz="2000" u="none" cap="none" strike="noStrike">
                <a:solidFill>
                  <a:srgbClr val="FF0000"/>
                </a:solidFill>
                <a:latin typeface="Calibri"/>
                <a:ea typeface="Calibri"/>
                <a:cs typeface="Calibri"/>
                <a:sym typeface="Calibri"/>
              </a:rPr>
              <a:t> &lt;= w</a:t>
            </a: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008000"/>
                </a:solidFill>
                <a:latin typeface="Calibri"/>
                <a:ea typeface="Calibri"/>
                <a:cs typeface="Calibri"/>
                <a:sym typeface="Calibri"/>
              </a:rPr>
              <a:t>// item i can be part of the solution</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if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&gt; B[i-1,w]</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B[i,w] = b</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 + B[i-1,w- w</a:t>
            </a:r>
            <a:r>
              <a:rPr b="0" baseline="-25000" i="0" lang="en-US" sz="2000" u="none" cap="none" strike="noStrike">
                <a:solidFill>
                  <a:srgbClr val="000000"/>
                </a:solidFill>
                <a:latin typeface="Calibri"/>
                <a:ea typeface="Calibri"/>
                <a:cs typeface="Calibri"/>
                <a:sym typeface="Calibri"/>
              </a:rPr>
              <a:t>i</a:t>
            </a:r>
            <a:r>
              <a:rPr b="0" i="0" lang="en-US" sz="20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0" i="0" lang="en-US" sz="2000" u="none" cap="none" strike="noStrike">
                <a:solidFill>
                  <a:srgbClr val="FF0000"/>
                </a:solidFill>
                <a:latin typeface="Calibri"/>
                <a:ea typeface="Calibri"/>
                <a:cs typeface="Calibri"/>
                <a:sym typeface="Calibri"/>
              </a:rPr>
              <a:t>else</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r>
              <a:rPr b="1" i="0" lang="en-US" sz="2000" u="none" cap="none" strike="noStrike">
                <a:solidFill>
                  <a:srgbClr val="FF0000"/>
                </a:solidFill>
                <a:latin typeface="Calibri"/>
                <a:ea typeface="Calibri"/>
                <a:cs typeface="Calibri"/>
                <a:sym typeface="Calibri"/>
              </a:rPr>
              <a:t>B[i,w] = B[i-1,w]</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else B[i,w] = B[i-1,w]  </a:t>
            </a:r>
            <a:r>
              <a:rPr b="0" i="0" lang="en-US" sz="2000" u="none" cap="none" strike="noStrike">
                <a:solidFill>
                  <a:srgbClr val="008000"/>
                </a:solidFill>
                <a:latin typeface="Calibri"/>
                <a:ea typeface="Calibri"/>
                <a:cs typeface="Calibri"/>
                <a:sym typeface="Calibri"/>
              </a:rPr>
              <a:t>// w</a:t>
            </a:r>
            <a:r>
              <a:rPr b="0" baseline="-25000" i="0" lang="en-US" sz="2000" u="none" cap="none" strike="noStrike">
                <a:solidFill>
                  <a:srgbClr val="008000"/>
                </a:solidFill>
                <a:latin typeface="Calibri"/>
                <a:ea typeface="Calibri"/>
                <a:cs typeface="Calibri"/>
                <a:sym typeface="Calibri"/>
              </a:rPr>
              <a:t>i</a:t>
            </a:r>
            <a:r>
              <a:rPr b="0" i="0" lang="en-US" sz="2000" u="none" cap="none" strike="noStrike">
                <a:solidFill>
                  <a:srgbClr val="008000"/>
                </a:solidFill>
                <a:latin typeface="Calibri"/>
                <a:ea typeface="Calibri"/>
                <a:cs typeface="Calibri"/>
                <a:sym typeface="Calibri"/>
              </a:rPr>
              <a:t> &gt; w </a:t>
            </a:r>
            <a:endParaRPr b="0" i="0" sz="2800" u="none" cap="none" strike="noStrike">
              <a:solidFill>
                <a:srgbClr val="000000"/>
              </a:solidFill>
              <a:latin typeface="Calibri"/>
              <a:ea typeface="Calibri"/>
              <a:cs typeface="Calibri"/>
              <a:sym typeface="Calibri"/>
            </a:endParaRPr>
          </a:p>
        </p:txBody>
      </p:sp>
      <p:cxnSp>
        <p:nvCxnSpPr>
          <p:cNvPr id="2070" name="Google Shape;2070;p57"/>
          <p:cNvCxnSpPr/>
          <p:nvPr/>
        </p:nvCxnSpPr>
        <p:spPr>
          <a:xfrm>
            <a:off x="1752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2071" name="Google Shape;2071;p57"/>
          <p:cNvCxnSpPr/>
          <p:nvPr/>
        </p:nvCxnSpPr>
        <p:spPr>
          <a:xfrm>
            <a:off x="1752600" y="1524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72" name="Google Shape;2072;p57"/>
          <p:cNvCxnSpPr/>
          <p:nvPr/>
        </p:nvCxnSpPr>
        <p:spPr>
          <a:xfrm>
            <a:off x="1752600" y="1981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73" name="Google Shape;2073;p57"/>
          <p:cNvCxnSpPr/>
          <p:nvPr/>
        </p:nvCxnSpPr>
        <p:spPr>
          <a:xfrm>
            <a:off x="1752600" y="28956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74" name="Google Shape;2074;p57"/>
          <p:cNvCxnSpPr/>
          <p:nvPr/>
        </p:nvCxnSpPr>
        <p:spPr>
          <a:xfrm>
            <a:off x="1752600" y="24384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75" name="Google Shape;2075;p57"/>
          <p:cNvCxnSpPr/>
          <p:nvPr/>
        </p:nvCxnSpPr>
        <p:spPr>
          <a:xfrm>
            <a:off x="1752600" y="33528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76" name="Google Shape;2076;p57"/>
          <p:cNvCxnSpPr/>
          <p:nvPr/>
        </p:nvCxnSpPr>
        <p:spPr>
          <a:xfrm>
            <a:off x="1752600" y="38100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77" name="Google Shape;2077;p57"/>
          <p:cNvCxnSpPr/>
          <p:nvPr/>
        </p:nvCxnSpPr>
        <p:spPr>
          <a:xfrm>
            <a:off x="1752600" y="4267200"/>
            <a:ext cx="4191000" cy="0"/>
          </a:xfrm>
          <a:prstGeom prst="straightConnector1">
            <a:avLst/>
          </a:prstGeom>
          <a:noFill/>
          <a:ln cap="flat" cmpd="sng" w="9525">
            <a:solidFill>
              <a:schemeClr val="dk1"/>
            </a:solidFill>
            <a:prstDash val="solid"/>
            <a:round/>
            <a:headEnd len="med" w="med" type="none"/>
            <a:tailEnd len="med" w="med" type="none"/>
          </a:ln>
        </p:spPr>
      </p:cxnSp>
      <p:cxnSp>
        <p:nvCxnSpPr>
          <p:cNvPr id="2078" name="Google Shape;2078;p57"/>
          <p:cNvCxnSpPr/>
          <p:nvPr/>
        </p:nvCxnSpPr>
        <p:spPr>
          <a:xfrm>
            <a:off x="25146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2079" name="Google Shape;2079;p57"/>
          <p:cNvCxnSpPr/>
          <p:nvPr/>
        </p:nvCxnSpPr>
        <p:spPr>
          <a:xfrm>
            <a:off x="33528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2080" name="Google Shape;2080;p57"/>
          <p:cNvCxnSpPr/>
          <p:nvPr/>
        </p:nvCxnSpPr>
        <p:spPr>
          <a:xfrm>
            <a:off x="41910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2081" name="Google Shape;2081;p57"/>
          <p:cNvCxnSpPr/>
          <p:nvPr/>
        </p:nvCxnSpPr>
        <p:spPr>
          <a:xfrm>
            <a:off x="5029200" y="1524000"/>
            <a:ext cx="0" cy="2743200"/>
          </a:xfrm>
          <a:prstGeom prst="straightConnector1">
            <a:avLst/>
          </a:prstGeom>
          <a:noFill/>
          <a:ln cap="flat" cmpd="sng" w="9525">
            <a:solidFill>
              <a:schemeClr val="dk1"/>
            </a:solidFill>
            <a:prstDash val="solid"/>
            <a:round/>
            <a:headEnd len="med" w="med" type="none"/>
            <a:tailEnd len="med" w="med" type="none"/>
          </a:ln>
        </p:spPr>
      </p:cxnSp>
      <p:cxnSp>
        <p:nvCxnSpPr>
          <p:cNvPr id="2082" name="Google Shape;2082;p57"/>
          <p:cNvCxnSpPr/>
          <p:nvPr/>
        </p:nvCxnSpPr>
        <p:spPr>
          <a:xfrm>
            <a:off x="5943600" y="1524000"/>
            <a:ext cx="0" cy="2743200"/>
          </a:xfrm>
          <a:prstGeom prst="straightConnector1">
            <a:avLst/>
          </a:prstGeom>
          <a:noFill/>
          <a:ln cap="flat" cmpd="sng" w="9525">
            <a:solidFill>
              <a:schemeClr val="dk1"/>
            </a:solidFill>
            <a:prstDash val="solid"/>
            <a:round/>
            <a:headEnd len="med" w="med" type="none"/>
            <a:tailEnd len="med" w="med" type="none"/>
          </a:ln>
        </p:spPr>
      </p:cxnSp>
      <p:sp>
        <p:nvSpPr>
          <p:cNvPr id="2083" name="Google Shape;2083;p57"/>
          <p:cNvSpPr txBox="1"/>
          <p:nvPr/>
        </p:nvSpPr>
        <p:spPr>
          <a:xfrm>
            <a:off x="1981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84" name="Google Shape;2084;p57"/>
          <p:cNvSpPr txBox="1"/>
          <p:nvPr/>
        </p:nvSpPr>
        <p:spPr>
          <a:xfrm>
            <a:off x="1981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85" name="Google Shape;2085;p57"/>
          <p:cNvSpPr txBox="1"/>
          <p:nvPr/>
        </p:nvSpPr>
        <p:spPr>
          <a:xfrm>
            <a:off x="1981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86" name="Google Shape;2086;p57"/>
          <p:cNvSpPr txBox="1"/>
          <p:nvPr/>
        </p:nvSpPr>
        <p:spPr>
          <a:xfrm>
            <a:off x="1981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87" name="Google Shape;2087;p57"/>
          <p:cNvSpPr txBox="1"/>
          <p:nvPr/>
        </p:nvSpPr>
        <p:spPr>
          <a:xfrm>
            <a:off x="1981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88" name="Google Shape;2088;p57"/>
          <p:cNvSpPr txBox="1"/>
          <p:nvPr/>
        </p:nvSpPr>
        <p:spPr>
          <a:xfrm>
            <a:off x="1981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89" name="Google Shape;2089;p57"/>
          <p:cNvSpPr txBox="1"/>
          <p:nvPr/>
        </p:nvSpPr>
        <p:spPr>
          <a:xfrm>
            <a:off x="838200" y="1143000"/>
            <a:ext cx="4714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endParaRPr/>
          </a:p>
        </p:txBody>
      </p:sp>
      <p:sp>
        <p:nvSpPr>
          <p:cNvPr id="2090" name="Google Shape;2090;p57"/>
          <p:cNvSpPr txBox="1"/>
          <p:nvPr/>
        </p:nvSpPr>
        <p:spPr>
          <a:xfrm>
            <a:off x="1143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91" name="Google Shape;2091;p57"/>
          <p:cNvSpPr txBox="1"/>
          <p:nvPr/>
        </p:nvSpPr>
        <p:spPr>
          <a:xfrm>
            <a:off x="1143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2092" name="Google Shape;2092;p57"/>
          <p:cNvSpPr txBox="1"/>
          <p:nvPr/>
        </p:nvSpPr>
        <p:spPr>
          <a:xfrm>
            <a:off x="1143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2093" name="Google Shape;2093;p57"/>
          <p:cNvSpPr txBox="1"/>
          <p:nvPr/>
        </p:nvSpPr>
        <p:spPr>
          <a:xfrm>
            <a:off x="1143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094" name="Google Shape;2094;p57"/>
          <p:cNvSpPr txBox="1"/>
          <p:nvPr/>
        </p:nvSpPr>
        <p:spPr>
          <a:xfrm>
            <a:off x="53340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2095" name="Google Shape;2095;p57"/>
          <p:cNvSpPr txBox="1"/>
          <p:nvPr/>
        </p:nvSpPr>
        <p:spPr>
          <a:xfrm>
            <a:off x="1143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2096" name="Google Shape;2096;p57"/>
          <p:cNvSpPr txBox="1"/>
          <p:nvPr/>
        </p:nvSpPr>
        <p:spPr>
          <a:xfrm>
            <a:off x="1447800" y="838200"/>
            <a:ext cx="2682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a:t>
            </a:r>
            <a:endParaRPr/>
          </a:p>
        </p:txBody>
      </p:sp>
      <p:sp>
        <p:nvSpPr>
          <p:cNvPr id="2097" name="Google Shape;2097;p57"/>
          <p:cNvSpPr txBox="1"/>
          <p:nvPr/>
        </p:nvSpPr>
        <p:spPr>
          <a:xfrm>
            <a:off x="1981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098" name="Google Shape;2098;p57"/>
          <p:cNvSpPr txBox="1"/>
          <p:nvPr/>
        </p:nvSpPr>
        <p:spPr>
          <a:xfrm>
            <a:off x="27432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2099" name="Google Shape;2099;p57"/>
          <p:cNvSpPr txBox="1"/>
          <p:nvPr/>
        </p:nvSpPr>
        <p:spPr>
          <a:xfrm>
            <a:off x="35814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2100" name="Google Shape;2100;p57"/>
          <p:cNvSpPr txBox="1"/>
          <p:nvPr/>
        </p:nvSpPr>
        <p:spPr>
          <a:xfrm>
            <a:off x="4419600" y="914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101" name="Google Shape;2101;p57"/>
          <p:cNvSpPr txBox="1"/>
          <p:nvPr/>
        </p:nvSpPr>
        <p:spPr>
          <a:xfrm>
            <a:off x="27432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102" name="Google Shape;2102;p57"/>
          <p:cNvSpPr txBox="1"/>
          <p:nvPr/>
        </p:nvSpPr>
        <p:spPr>
          <a:xfrm>
            <a:off x="35814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103" name="Google Shape;2103;p57"/>
          <p:cNvSpPr txBox="1"/>
          <p:nvPr/>
        </p:nvSpPr>
        <p:spPr>
          <a:xfrm>
            <a:off x="44196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104" name="Google Shape;2104;p57"/>
          <p:cNvSpPr txBox="1"/>
          <p:nvPr/>
        </p:nvSpPr>
        <p:spPr>
          <a:xfrm>
            <a:off x="5334000" y="1524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105" name="Google Shape;2105;p57"/>
          <p:cNvSpPr txBox="1"/>
          <p:nvPr/>
        </p:nvSpPr>
        <p:spPr>
          <a:xfrm>
            <a:off x="6172200" y="1752600"/>
            <a:ext cx="1447800" cy="244157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i=3</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=5</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baseline="-25000" i="0" lang="en-US" sz="2800" u="none" cap="none" strike="noStrike">
                <a:solidFill>
                  <a:srgbClr val="000000"/>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=4</a:t>
            </a:r>
            <a:endParaRPr/>
          </a:p>
          <a:p>
            <a:pPr indent="0" lvl="0" marL="0" marR="0" rtl="0" algn="l">
              <a:lnSpc>
                <a:spcPct val="11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w=</a:t>
            </a:r>
            <a:r>
              <a:rPr b="0" i="0" lang="en-US" sz="2800" u="none" cap="none" strike="noStrike">
                <a:solidFill>
                  <a:srgbClr val="FF0000"/>
                </a:solidFill>
                <a:latin typeface="Calibri"/>
                <a:ea typeface="Calibri"/>
                <a:cs typeface="Calibri"/>
                <a:sym typeface="Calibri"/>
              </a:rPr>
              <a:t>5</a:t>
            </a:r>
            <a:endParaRPr/>
          </a:p>
          <a:p>
            <a:pPr indent="0" lvl="0" marL="0" marR="0" rtl="0" algn="l">
              <a:lnSpc>
                <a:spcPct val="110000"/>
              </a:lnSpc>
              <a:spcBef>
                <a:spcPts val="0"/>
              </a:spcBef>
              <a:spcAft>
                <a:spcPts val="0"/>
              </a:spcAft>
              <a:buClr>
                <a:schemeClr val="dk1"/>
              </a:buClr>
              <a:buSzPts val="2800"/>
              <a:buFont typeface="Calibri"/>
              <a:buNone/>
            </a:pPr>
            <a:r>
              <a:t/>
            </a:r>
            <a:endParaRPr b="0" i="0" sz="2800" u="none" cap="none" strike="noStrike">
              <a:solidFill>
                <a:srgbClr val="FF0000"/>
              </a:solidFill>
              <a:latin typeface="Calibri"/>
              <a:ea typeface="Calibri"/>
              <a:cs typeface="Calibri"/>
              <a:sym typeface="Calibri"/>
            </a:endParaRPr>
          </a:p>
        </p:txBody>
      </p:sp>
      <p:sp>
        <p:nvSpPr>
          <p:cNvPr id="2106" name="Google Shape;2106;p57"/>
          <p:cNvSpPr txBox="1"/>
          <p:nvPr/>
        </p:nvSpPr>
        <p:spPr>
          <a:xfrm>
            <a:off x="7543800" y="228600"/>
            <a:ext cx="1320800" cy="2227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Items:</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1: (2,3)</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2: (3,4)</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3: (4,5) </a:t>
            </a:r>
            <a:endParaRPr/>
          </a:p>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4: (5,6)</a:t>
            </a:r>
            <a:endParaRPr b="0" i="0" sz="1800" u="none" cap="none" strike="noStrike">
              <a:solidFill>
                <a:srgbClr val="000000"/>
              </a:solidFill>
              <a:latin typeface="Calibri"/>
              <a:ea typeface="Calibri"/>
              <a:cs typeface="Calibri"/>
              <a:sym typeface="Calibri"/>
            </a:endParaRPr>
          </a:p>
        </p:txBody>
      </p:sp>
      <p:sp>
        <p:nvSpPr>
          <p:cNvPr id="2107" name="Google Shape;2107;p57"/>
          <p:cNvSpPr txBox="1"/>
          <p:nvPr/>
        </p:nvSpPr>
        <p:spPr>
          <a:xfrm>
            <a:off x="1143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2108" name="Google Shape;2108;p57"/>
          <p:cNvSpPr txBox="1"/>
          <p:nvPr/>
        </p:nvSpPr>
        <p:spPr>
          <a:xfrm>
            <a:off x="27432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109" name="Google Shape;2109;p57"/>
          <p:cNvSpPr/>
          <p:nvPr/>
        </p:nvSpPr>
        <p:spPr>
          <a:xfrm>
            <a:off x="7239000" y="685800"/>
            <a:ext cx="1676400" cy="1752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110" name="Google Shape;2110;p57"/>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111" name="Google Shape;2111;p57"/>
          <p:cNvSpPr txBox="1"/>
          <p:nvPr/>
        </p:nvSpPr>
        <p:spPr>
          <a:xfrm>
            <a:off x="35814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112" name="Google Shape;2112;p57"/>
          <p:cNvSpPr txBox="1"/>
          <p:nvPr/>
        </p:nvSpPr>
        <p:spPr>
          <a:xfrm>
            <a:off x="35814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113" name="Google Shape;2113;p57"/>
          <p:cNvSpPr txBox="1"/>
          <p:nvPr/>
        </p:nvSpPr>
        <p:spPr>
          <a:xfrm>
            <a:off x="35814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2114" name="Google Shape;2114;p57"/>
          <p:cNvSpPr txBox="1"/>
          <p:nvPr/>
        </p:nvSpPr>
        <p:spPr>
          <a:xfrm>
            <a:off x="35814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2115" name="Google Shape;2115;p57"/>
          <p:cNvSpPr txBox="1"/>
          <p:nvPr/>
        </p:nvSpPr>
        <p:spPr>
          <a:xfrm>
            <a:off x="35814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7</a:t>
            </a:r>
            <a:endParaRPr/>
          </a:p>
        </p:txBody>
      </p:sp>
      <p:sp>
        <p:nvSpPr>
          <p:cNvPr id="2116" name="Google Shape;2116;p57"/>
          <p:cNvSpPr txBox="1"/>
          <p:nvPr/>
        </p:nvSpPr>
        <p:spPr>
          <a:xfrm>
            <a:off x="44196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117" name="Google Shape;2117;p57"/>
          <p:cNvSpPr txBox="1"/>
          <p:nvPr/>
        </p:nvSpPr>
        <p:spPr>
          <a:xfrm>
            <a:off x="44196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118" name="Google Shape;2118;p57"/>
          <p:cNvSpPr txBox="1"/>
          <p:nvPr/>
        </p:nvSpPr>
        <p:spPr>
          <a:xfrm>
            <a:off x="44196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2119" name="Google Shape;2119;p57"/>
          <p:cNvSpPr txBox="1"/>
          <p:nvPr/>
        </p:nvSpPr>
        <p:spPr>
          <a:xfrm>
            <a:off x="44196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sp>
        <p:nvSpPr>
          <p:cNvPr id="2120" name="Google Shape;2120;p57"/>
          <p:cNvSpPr txBox="1"/>
          <p:nvPr/>
        </p:nvSpPr>
        <p:spPr>
          <a:xfrm>
            <a:off x="44196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7</a:t>
            </a:r>
            <a:endParaRPr/>
          </a:p>
        </p:txBody>
      </p:sp>
      <p:sp>
        <p:nvSpPr>
          <p:cNvPr id="2121" name="Google Shape;2121;p57"/>
          <p:cNvSpPr txBox="1"/>
          <p:nvPr/>
        </p:nvSpPr>
        <p:spPr>
          <a:xfrm>
            <a:off x="5334000" y="19812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a:t>
            </a:r>
            <a:endParaRPr/>
          </a:p>
        </p:txBody>
      </p:sp>
      <p:sp>
        <p:nvSpPr>
          <p:cNvPr id="2122" name="Google Shape;2122;p57"/>
          <p:cNvSpPr txBox="1"/>
          <p:nvPr/>
        </p:nvSpPr>
        <p:spPr>
          <a:xfrm>
            <a:off x="53340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123" name="Google Shape;2123;p57"/>
          <p:cNvSpPr txBox="1"/>
          <p:nvPr/>
        </p:nvSpPr>
        <p:spPr>
          <a:xfrm>
            <a:off x="53340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sp>
        <p:nvSpPr>
          <p:cNvPr id="2124" name="Google Shape;2124;p57"/>
          <p:cNvSpPr txBox="1"/>
          <p:nvPr/>
        </p:nvSpPr>
        <p:spPr>
          <a:xfrm>
            <a:off x="53340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5</a:t>
            </a:r>
            <a:endParaRPr/>
          </a:p>
        </p:txBody>
      </p:sp>
      <p:cxnSp>
        <p:nvCxnSpPr>
          <p:cNvPr id="2125" name="Google Shape;2125;p57"/>
          <p:cNvCxnSpPr/>
          <p:nvPr/>
        </p:nvCxnSpPr>
        <p:spPr>
          <a:xfrm>
            <a:off x="4800600" y="4038600"/>
            <a:ext cx="457200" cy="0"/>
          </a:xfrm>
          <a:prstGeom prst="straightConnector1">
            <a:avLst/>
          </a:prstGeom>
          <a:noFill/>
          <a:ln cap="flat" cmpd="sng" w="38100">
            <a:solidFill>
              <a:schemeClr val="dk1"/>
            </a:solidFill>
            <a:prstDash val="solid"/>
            <a:round/>
            <a:headEnd len="med" w="med" type="none"/>
            <a:tailEnd len="med" w="med" type="triangle"/>
          </a:ln>
        </p:spPr>
      </p:cxnSp>
      <p:sp>
        <p:nvSpPr>
          <p:cNvPr id="2126" name="Google Shape;2126;p57"/>
          <p:cNvSpPr txBox="1"/>
          <p:nvPr/>
        </p:nvSpPr>
        <p:spPr>
          <a:xfrm>
            <a:off x="53340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Calibri"/>
              <a:buNone/>
            </a:pPr>
            <a:r>
              <a:rPr b="1" i="0" lang="en-US" sz="1800" u="none" cap="none" strike="noStrike">
                <a:solidFill>
                  <a:srgbClr val="FF0000"/>
                </a:solidFill>
                <a:latin typeface="Calibri"/>
                <a:ea typeface="Calibri"/>
                <a:cs typeface="Calibri"/>
                <a:sym typeface="Calibri"/>
              </a:rPr>
              <a:t>7</a:t>
            </a:r>
            <a:endParaRPr/>
          </a:p>
        </p:txBody>
      </p:sp>
      <p:sp>
        <p:nvSpPr>
          <p:cNvPr id="2127" name="Google Shape;2127;p57"/>
          <p:cNvSpPr txBox="1"/>
          <p:nvPr/>
        </p:nvSpPr>
        <p:spPr>
          <a:xfrm>
            <a:off x="2743200" y="24384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128" name="Google Shape;2128;p57"/>
          <p:cNvSpPr txBox="1"/>
          <p:nvPr/>
        </p:nvSpPr>
        <p:spPr>
          <a:xfrm>
            <a:off x="2743200" y="28956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129" name="Google Shape;2129;p57"/>
          <p:cNvSpPr txBox="1"/>
          <p:nvPr/>
        </p:nvSpPr>
        <p:spPr>
          <a:xfrm>
            <a:off x="2743200" y="33528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2130" name="Google Shape;2130;p57"/>
          <p:cNvSpPr txBox="1"/>
          <p:nvPr/>
        </p:nvSpPr>
        <p:spPr>
          <a:xfrm>
            <a:off x="2743200" y="3810000"/>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4" name="Shape 2134"/>
        <p:cNvGrpSpPr/>
        <p:nvPr/>
      </p:nvGrpSpPr>
      <p:grpSpPr>
        <a:xfrm>
          <a:off x="0" y="0"/>
          <a:ext cx="0" cy="0"/>
          <a:chOff x="0" y="0"/>
          <a:chExt cx="0" cy="0"/>
        </a:xfrm>
      </p:grpSpPr>
      <p:sp>
        <p:nvSpPr>
          <p:cNvPr id="2135" name="Google Shape;2135;p58"/>
          <p:cNvSpPr txBox="1"/>
          <p:nvPr>
            <p:ph idx="4294967295" type="title"/>
          </p:nvPr>
        </p:nvSpPr>
        <p:spPr>
          <a:xfrm>
            <a:off x="685800" y="457200"/>
            <a:ext cx="7772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orbel"/>
              <a:buNone/>
            </a:pPr>
            <a:r>
              <a:rPr b="1" lang="en-US" sz="3200">
                <a:solidFill>
                  <a:schemeClr val="dk1"/>
                </a:solidFill>
              </a:rPr>
              <a:t>Comments</a:t>
            </a:r>
            <a:endParaRPr/>
          </a:p>
        </p:txBody>
      </p:sp>
      <p:sp>
        <p:nvSpPr>
          <p:cNvPr id="2136" name="Google Shape;2136;p58"/>
          <p:cNvSpPr txBox="1"/>
          <p:nvPr>
            <p:ph idx="4294967295" type="body"/>
          </p:nvPr>
        </p:nvSpPr>
        <p:spPr>
          <a:xfrm>
            <a:off x="685800" y="2133600"/>
            <a:ext cx="7772400" cy="4495800"/>
          </a:xfrm>
          <a:prstGeom prst="rect">
            <a:avLst/>
          </a:prstGeom>
          <a:noFill/>
          <a:ln>
            <a:noFill/>
          </a:ln>
        </p:spPr>
        <p:txBody>
          <a:bodyPr anchorCtr="0" anchor="t" bIns="45700" lIns="91425" spcFirstLastPara="1" rIns="91425" wrap="square" tIns="45700">
            <a:normAutofit/>
          </a:bodyPr>
          <a:lstStyle/>
          <a:p>
            <a:pPr indent="-454025" lvl="0" marL="454025" rtl="0" algn="l">
              <a:spcBef>
                <a:spcPts val="0"/>
              </a:spcBef>
              <a:spcAft>
                <a:spcPts val="0"/>
              </a:spcAft>
              <a:buSzPts val="2160"/>
              <a:buChar char="🡽"/>
            </a:pPr>
            <a:r>
              <a:rPr lang="en-US"/>
              <a:t>This algorithm only finds the max possible value that can be carried in the knapsack</a:t>
            </a:r>
            <a:endParaRPr/>
          </a:p>
          <a:p>
            <a:pPr indent="-454025" lvl="0" marL="454025" rtl="0" algn="l">
              <a:spcBef>
                <a:spcPts val="2000"/>
              </a:spcBef>
              <a:spcAft>
                <a:spcPts val="0"/>
              </a:spcAft>
              <a:buSzPts val="2160"/>
              <a:buChar char="🡽"/>
            </a:pPr>
            <a:r>
              <a:rPr lang="en-US"/>
              <a:t>To know the items that make this maximum value, an addition to this algorithm is necessary</a:t>
            </a:r>
            <a:endParaRPr/>
          </a:p>
          <a:p>
            <a:pPr indent="-454025" lvl="0" marL="454025" rtl="0" algn="l">
              <a:spcBef>
                <a:spcPts val="2000"/>
              </a:spcBef>
              <a:spcAft>
                <a:spcPts val="0"/>
              </a:spcAft>
              <a:buSzPts val="2160"/>
              <a:buChar char="🡽"/>
            </a:pPr>
            <a:r>
              <a:rPr lang="en-US"/>
              <a:t>Please see LCS algorithm lecture for the example how to extract this data from the table we built</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0" name="Shape 2140"/>
        <p:cNvGrpSpPr/>
        <p:nvPr/>
      </p:nvGrpSpPr>
      <p:grpSpPr>
        <a:xfrm>
          <a:off x="0" y="0"/>
          <a:ext cx="0" cy="0"/>
          <a:chOff x="0" y="0"/>
          <a:chExt cx="0" cy="0"/>
        </a:xfrm>
      </p:grpSpPr>
      <p:sp>
        <p:nvSpPr>
          <p:cNvPr id="2141" name="Google Shape;2141;p59"/>
          <p:cNvSpPr txBox="1"/>
          <p:nvPr/>
        </p:nvSpPr>
        <p:spPr>
          <a:xfrm>
            <a:off x="335494" y="595100"/>
            <a:ext cx="7456784" cy="493414"/>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Books</a:t>
            </a:r>
            <a:endParaRPr/>
          </a:p>
        </p:txBody>
      </p:sp>
      <p:sp>
        <p:nvSpPr>
          <p:cNvPr id="2142" name="Google Shape;2142;p59"/>
          <p:cNvSpPr txBox="1"/>
          <p:nvPr/>
        </p:nvSpPr>
        <p:spPr>
          <a:xfrm>
            <a:off x="335494" y="2091341"/>
            <a:ext cx="8424193" cy="147732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orbel"/>
              <a:buAutoNum type="arabicPeriod"/>
            </a:pPr>
            <a:r>
              <a:rPr b="1" i="1" lang="en-US" sz="1800">
                <a:solidFill>
                  <a:schemeClr val="dk1"/>
                </a:solidFill>
                <a:latin typeface="Calibri"/>
                <a:ea typeface="Calibri"/>
                <a:cs typeface="Calibri"/>
                <a:sym typeface="Calibri"/>
              </a:rPr>
              <a:t>Introduction to Algorithms, Third Edition, Thomas H. Cormen, Charle E. Leiserson, Ronald L. Rivest, Clifford Stein (CLRS).</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orbel"/>
              <a:buAutoNum type="arabicPeriod"/>
            </a:pPr>
            <a:r>
              <a:rPr i="1" lang="en-US" sz="1800">
                <a:solidFill>
                  <a:schemeClr val="dk1"/>
                </a:solidFill>
                <a:latin typeface="Calibri"/>
                <a:ea typeface="Calibri"/>
                <a:cs typeface="Calibri"/>
                <a:sym typeface="Calibri"/>
              </a:rPr>
              <a:t>Fundamental of Computer Algorithms, Ellis Horowitz, Sartaj Sahni, Sanguthevar Rajasekaran (HSR)</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6" name="Shape 2146"/>
        <p:cNvGrpSpPr/>
        <p:nvPr/>
      </p:nvGrpSpPr>
      <p:grpSpPr>
        <a:xfrm>
          <a:off x="0" y="0"/>
          <a:ext cx="0" cy="0"/>
          <a:chOff x="0" y="0"/>
          <a:chExt cx="0" cy="0"/>
        </a:xfrm>
      </p:grpSpPr>
      <p:sp>
        <p:nvSpPr>
          <p:cNvPr id="2147" name="Google Shape;2147;p60"/>
          <p:cNvSpPr txBox="1"/>
          <p:nvPr/>
        </p:nvSpPr>
        <p:spPr>
          <a:xfrm>
            <a:off x="335494" y="595100"/>
            <a:ext cx="8530210" cy="493414"/>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References</a:t>
            </a:r>
            <a:endParaRPr/>
          </a:p>
        </p:txBody>
      </p:sp>
      <p:sp>
        <p:nvSpPr>
          <p:cNvPr id="2148" name="Google Shape;2148;p60"/>
          <p:cNvSpPr txBox="1"/>
          <p:nvPr/>
        </p:nvSpPr>
        <p:spPr>
          <a:xfrm>
            <a:off x="335494" y="1656726"/>
            <a:ext cx="8530210" cy="4606174"/>
          </a:xfrm>
          <a:prstGeom prst="rect">
            <a:avLst/>
          </a:prstGeom>
          <a:noFill/>
          <a:ln>
            <a:noFill/>
          </a:ln>
        </p:spPr>
        <p:txBody>
          <a:bodyPr anchorCtr="0" anchor="t" bIns="45700" lIns="91425" spcFirstLastPara="1" rIns="91425" wrap="square" tIns="45700">
            <a:noAutofit/>
          </a:bodyPr>
          <a:lstStyle/>
          <a:p>
            <a:pPr indent="-454025" lvl="0" marL="454025" marR="0" rtl="0" algn="l">
              <a:spcBef>
                <a:spcPts val="0"/>
              </a:spcBef>
              <a:spcAft>
                <a:spcPts val="0"/>
              </a:spcAft>
              <a:buClr>
                <a:srgbClr val="A5A5A5"/>
              </a:buClr>
              <a:buSzPts val="1620"/>
              <a:buFont typeface="Noto Sans Symbols"/>
              <a:buChar char="🡽"/>
            </a:pPr>
            <a:r>
              <a:rPr lang="en-US" sz="1800" u="sng">
                <a:solidFill>
                  <a:srgbClr val="262626"/>
                </a:solidFill>
                <a:latin typeface="Calibri"/>
                <a:ea typeface="Calibri"/>
                <a:cs typeface="Calibri"/>
                <a:sym typeface="Calibri"/>
                <a:hlinkClick r:id="rId3">
                  <a:extLst>
                    <a:ext uri="{A12FA001-AC4F-418D-AE19-62706E023703}">
                      <ahyp:hlinkClr val="tx"/>
                    </a:ext>
                  </a:extLst>
                </a:hlinkClick>
              </a:rPr>
              <a:t>https://algorithmist.com/wiki/Dynamic_programming</a:t>
            </a:r>
            <a:endParaRPr sz="1800">
              <a:solidFill>
                <a:srgbClr val="262626"/>
              </a:solidFill>
              <a:latin typeface="Calibri"/>
              <a:ea typeface="Calibri"/>
              <a:cs typeface="Calibri"/>
              <a:sym typeface="Calibri"/>
            </a:endParaRPr>
          </a:p>
          <a:p>
            <a:pPr indent="-454025" lvl="0" marL="454025" marR="0" rtl="0" algn="l">
              <a:spcBef>
                <a:spcPts val="2000"/>
              </a:spcBef>
              <a:spcAft>
                <a:spcPts val="0"/>
              </a:spcAft>
              <a:buClr>
                <a:srgbClr val="A5A5A5"/>
              </a:buClr>
              <a:buSzPts val="1620"/>
              <a:buFont typeface="Noto Sans Symbols"/>
              <a:buChar char="🡽"/>
            </a:pPr>
            <a:r>
              <a:rPr lang="en-US" sz="1800" u="sng">
                <a:solidFill>
                  <a:srgbClr val="262626"/>
                </a:solidFill>
                <a:latin typeface="Calibri"/>
                <a:ea typeface="Calibri"/>
                <a:cs typeface="Calibri"/>
                <a:sym typeface="Calibri"/>
                <a:hlinkClick r:id="rId4">
                  <a:extLst>
                    <a:ext uri="{A12FA001-AC4F-418D-AE19-62706E023703}">
                      <ahyp:hlinkClr val="tx"/>
                    </a:ext>
                  </a:extLst>
                </a:hlinkClick>
              </a:rPr>
              <a:t>https://www.topcoder.com/community/competitive-programming/tutorials/dynamic-programming-from-novice-to-advanced/</a:t>
            </a:r>
            <a:endParaRPr sz="1800">
              <a:solidFill>
                <a:srgbClr val="262626"/>
              </a:solidFill>
              <a:latin typeface="Calibri"/>
              <a:ea typeface="Calibri"/>
              <a:cs typeface="Calibri"/>
              <a:sym typeface="Calibri"/>
            </a:endParaRPr>
          </a:p>
          <a:p>
            <a:pPr indent="-454025" lvl="0" marL="454025" marR="0" rtl="0" algn="l">
              <a:spcBef>
                <a:spcPts val="2000"/>
              </a:spcBef>
              <a:spcAft>
                <a:spcPts val="0"/>
              </a:spcAft>
              <a:buClr>
                <a:srgbClr val="A5A5A5"/>
              </a:buClr>
              <a:buSzPts val="1620"/>
              <a:buFont typeface="Noto Sans Symbols"/>
              <a:buChar char="🡽"/>
            </a:pPr>
            <a:r>
              <a:rPr lang="en-US" sz="1800">
                <a:solidFill>
                  <a:srgbClr val="262626"/>
                </a:solidFill>
                <a:latin typeface="Calibri"/>
                <a:ea typeface="Calibri"/>
                <a:cs typeface="Calibri"/>
                <a:sym typeface="Calibri"/>
              </a:rPr>
              <a:t>CLRS: 15.3</a:t>
            </a:r>
            <a:endParaRPr/>
          </a:p>
          <a:p>
            <a:pPr indent="-454025" lvl="0" marL="454025" marR="0" rtl="0" algn="l">
              <a:spcBef>
                <a:spcPts val="2000"/>
              </a:spcBef>
              <a:spcAft>
                <a:spcPts val="0"/>
              </a:spcAft>
              <a:buClr>
                <a:srgbClr val="A5A5A5"/>
              </a:buClr>
              <a:buSzPts val="1620"/>
              <a:buFont typeface="Noto Sans Symbols"/>
              <a:buChar char="🡽"/>
            </a:pPr>
            <a:r>
              <a:rPr lang="en-US" sz="1800">
                <a:solidFill>
                  <a:srgbClr val="262626"/>
                </a:solidFill>
                <a:latin typeface="Calibri"/>
                <a:ea typeface="Calibri"/>
                <a:cs typeface="Calibri"/>
                <a:sym typeface="Calibri"/>
              </a:rPr>
              <a:t>HSR: 5.1, 5.5</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2018-12-10T17:20:29Z</dcterms:created>
  <dc:creator>Mahbubul Syeed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0x010100558BB3E2F9841A40A8A4E66ACF86437D</vt:lpwstr>
  </property>
</Properties>
</file>