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53" r:id="rId2"/>
    <p:sldId id="354" r:id="rId3"/>
    <p:sldId id="355" r:id="rId4"/>
    <p:sldId id="356" r:id="rId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598926" y="167132"/>
            <a:ext cx="1946147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8318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D4D4D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8318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D4D4D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8318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702307"/>
            <a:ext cx="9144000" cy="12700"/>
          </a:xfrm>
          <a:custGeom>
            <a:avLst/>
            <a:gdLst/>
            <a:ahLst/>
            <a:cxnLst/>
            <a:rect l="l" t="t" r="r" b="b"/>
            <a:pathLst>
              <a:path w="9144000" h="12700">
                <a:moveTo>
                  <a:pt x="0" y="12192"/>
                </a:moveTo>
                <a:lnTo>
                  <a:pt x="9144000" y="12192"/>
                </a:lnTo>
                <a:lnTo>
                  <a:pt x="9144000" y="0"/>
                </a:lnTo>
                <a:lnTo>
                  <a:pt x="0" y="0"/>
                </a:lnTo>
                <a:lnTo>
                  <a:pt x="0" y="1219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4D4D4D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8318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8318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90825" y="167132"/>
            <a:ext cx="3562349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4D4D4D"/>
                </a:solidFill>
                <a:latin typeface="Comic Sans MS"/>
                <a:cs typeface="Comic Sans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41779" y="3124200"/>
            <a:ext cx="4511675" cy="274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4026" y="6654742"/>
            <a:ext cx="247650" cy="168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Comic Sans MS"/>
                <a:cs typeface="Comic Sans MS"/>
              </a:defRPr>
            </a:lvl1pPr>
          </a:lstStyle>
          <a:p>
            <a:pPr marL="83185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11" Type="http://schemas.openxmlformats.org/officeDocument/2006/relationships/image" Target="../media/image20.jpg"/><Relationship Id="rId5" Type="http://schemas.openxmlformats.org/officeDocument/2006/relationships/image" Target="../media/image14.jpg"/><Relationship Id="rId10" Type="http://schemas.openxmlformats.org/officeDocument/2006/relationships/image" Target="../media/image19.jpg"/><Relationship Id="rId4" Type="http://schemas.openxmlformats.org/officeDocument/2006/relationships/image" Target="../media/image13.jpg"/><Relationship Id="rId9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57421" y="167132"/>
            <a:ext cx="16294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Coin</a:t>
            </a:r>
            <a:r>
              <a:rPr spc="-75" dirty="0"/>
              <a:t> </a:t>
            </a:r>
            <a:r>
              <a:rPr spc="-5" dirty="0"/>
              <a:t>Changing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49" y="913002"/>
            <a:ext cx="7488555" cy="1345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  <a:tabLst>
                <a:tab pos="661670" algn="l"/>
              </a:tabLst>
            </a:pPr>
            <a:r>
              <a:rPr sz="1800" dirty="0">
                <a:solidFill>
                  <a:srgbClr val="003399"/>
                </a:solidFill>
                <a:latin typeface="Comic Sans MS"/>
                <a:cs typeface="Comic Sans MS"/>
              </a:rPr>
              <a:t>Goal.	</a:t>
            </a:r>
            <a:r>
              <a:rPr sz="1800" dirty="0">
                <a:latin typeface="Comic Sans MS"/>
                <a:cs typeface="Comic Sans MS"/>
              </a:rPr>
              <a:t>Given </a:t>
            </a:r>
            <a:r>
              <a:rPr sz="1800" spc="-5" dirty="0">
                <a:latin typeface="Comic Sans MS"/>
                <a:cs typeface="Comic Sans MS"/>
              </a:rPr>
              <a:t>currency denominations: </a:t>
            </a:r>
            <a:r>
              <a:rPr sz="1800" dirty="0">
                <a:latin typeface="Comic Sans MS"/>
                <a:cs typeface="Comic Sans MS"/>
              </a:rPr>
              <a:t>1, </a:t>
            </a:r>
            <a:r>
              <a:rPr sz="1800" spc="-5" dirty="0">
                <a:latin typeface="Comic Sans MS"/>
                <a:cs typeface="Comic Sans MS"/>
              </a:rPr>
              <a:t>5, </a:t>
            </a:r>
            <a:r>
              <a:rPr sz="1800" dirty="0">
                <a:latin typeface="Comic Sans MS"/>
                <a:cs typeface="Comic Sans MS"/>
              </a:rPr>
              <a:t>10, 25, 100, </a:t>
            </a:r>
            <a:r>
              <a:rPr sz="1800" spc="-5" dirty="0">
                <a:latin typeface="Comic Sans MS"/>
                <a:cs typeface="Comic Sans MS"/>
              </a:rPr>
              <a:t>devise </a:t>
            </a:r>
            <a:r>
              <a:rPr sz="1800" dirty="0">
                <a:latin typeface="Comic Sans MS"/>
                <a:cs typeface="Comic Sans MS"/>
              </a:rPr>
              <a:t>a method </a:t>
            </a:r>
            <a:r>
              <a:rPr sz="1800" spc="-52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to</a:t>
            </a:r>
            <a:r>
              <a:rPr sz="1800" dirty="0">
                <a:latin typeface="Comic Sans MS"/>
                <a:cs typeface="Comic Sans MS"/>
              </a:rPr>
              <a:t> pay amount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to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customer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using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fewest </a:t>
            </a:r>
            <a:r>
              <a:rPr sz="1800" dirty="0">
                <a:latin typeface="Comic Sans MS"/>
                <a:cs typeface="Comic Sans MS"/>
              </a:rPr>
              <a:t>number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of coins.</a:t>
            </a:r>
            <a:endParaRPr sz="18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tabLst>
                <a:tab pos="495934" algn="l"/>
              </a:tabLst>
            </a:pPr>
            <a:r>
              <a:rPr sz="1800" dirty="0">
                <a:solidFill>
                  <a:srgbClr val="003399"/>
                </a:solidFill>
                <a:latin typeface="Comic Sans MS"/>
                <a:cs typeface="Comic Sans MS"/>
              </a:rPr>
              <a:t>Ex:	</a:t>
            </a:r>
            <a:r>
              <a:rPr sz="1800" spc="-5" dirty="0">
                <a:latin typeface="Comic Sans MS"/>
                <a:cs typeface="Comic Sans MS"/>
              </a:rPr>
              <a:t>34¢.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949" y="3553205"/>
            <a:ext cx="7305040" cy="1346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600"/>
              </a:lnSpc>
              <a:spcBef>
                <a:spcPts val="100"/>
              </a:spcBef>
              <a:tabLst>
                <a:tab pos="2283460" algn="l"/>
              </a:tabLst>
            </a:pPr>
            <a:r>
              <a:rPr sz="1800" dirty="0">
                <a:solidFill>
                  <a:srgbClr val="003399"/>
                </a:solidFill>
                <a:latin typeface="Comic Sans MS"/>
                <a:cs typeface="Comic Sans MS"/>
              </a:rPr>
              <a:t>Cashier's algorithm.	</a:t>
            </a:r>
            <a:r>
              <a:rPr sz="1800" spc="-5" dirty="0">
                <a:latin typeface="Comic Sans MS"/>
                <a:cs typeface="Comic Sans MS"/>
              </a:rPr>
              <a:t>At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each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iteration,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add coin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of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the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largest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value </a:t>
            </a:r>
            <a:r>
              <a:rPr sz="1800" spc="-5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that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does</a:t>
            </a:r>
            <a:r>
              <a:rPr sz="1800" spc="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not </a:t>
            </a:r>
            <a:r>
              <a:rPr sz="1800" spc="-5" dirty="0">
                <a:latin typeface="Comic Sans MS"/>
                <a:cs typeface="Comic Sans MS"/>
              </a:rPr>
              <a:t>take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us</a:t>
            </a:r>
            <a:r>
              <a:rPr sz="1800" dirty="0">
                <a:latin typeface="Comic Sans MS"/>
                <a:cs typeface="Comic Sans MS"/>
              </a:rPr>
              <a:t> past the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amount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to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be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paid.</a:t>
            </a:r>
            <a:endParaRPr sz="18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1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tabLst>
                <a:tab pos="495934" algn="l"/>
              </a:tabLst>
            </a:pPr>
            <a:r>
              <a:rPr sz="1800" dirty="0">
                <a:solidFill>
                  <a:srgbClr val="003399"/>
                </a:solidFill>
                <a:latin typeface="Comic Sans MS"/>
                <a:cs typeface="Comic Sans MS"/>
              </a:rPr>
              <a:t>Ex:	</a:t>
            </a:r>
            <a:r>
              <a:rPr sz="1800" dirty="0">
                <a:latin typeface="Comic Sans MS"/>
                <a:cs typeface="Comic Sans MS"/>
              </a:rPr>
              <a:t>$2.89.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9905" y="2036064"/>
            <a:ext cx="584602" cy="58521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2117" y="2005973"/>
            <a:ext cx="669340" cy="66889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4194688" y="2036064"/>
            <a:ext cx="2359025" cy="562610"/>
            <a:chOff x="4194688" y="2036064"/>
            <a:chExt cx="2359025" cy="56261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99725" y="2036064"/>
              <a:ext cx="554086" cy="55408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94688" y="2036064"/>
              <a:ext cx="561715" cy="56235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386456" y="2036064"/>
              <a:ext cx="561715" cy="56235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91484" y="2036064"/>
              <a:ext cx="561715" cy="562355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53916" y="4856028"/>
            <a:ext cx="801473" cy="80202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80382" y="5120640"/>
            <a:ext cx="523693" cy="51456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97244" y="4847844"/>
            <a:ext cx="548079" cy="548079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6997258" y="5501640"/>
            <a:ext cx="1156335" cy="556260"/>
            <a:chOff x="6997258" y="5501640"/>
            <a:chExt cx="1156335" cy="556260"/>
          </a:xfrm>
        </p:grpSpPr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97692" y="5501640"/>
              <a:ext cx="555707" cy="55626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97258" y="5501640"/>
              <a:ext cx="557209" cy="556260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27324" y="4856028"/>
            <a:ext cx="801473" cy="80202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97692" y="4847844"/>
            <a:ext cx="555707" cy="556260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4305046" y="4762677"/>
            <a:ext cx="1644014" cy="1333500"/>
            <a:chOff x="4305046" y="4762677"/>
            <a:chExt cx="1644014" cy="133350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05046" y="4762677"/>
              <a:ext cx="662482" cy="66315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6502" y="4762677"/>
              <a:ext cx="662482" cy="66315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54880" y="5393435"/>
              <a:ext cx="736091" cy="702563"/>
            </a:xfrm>
            <a:prstGeom prst="rect">
              <a:avLst/>
            </a:prstGeom>
          </p:spPr>
        </p:pic>
      </p:grp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9845" y="167132"/>
            <a:ext cx="40011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3885" algn="l"/>
              </a:tabLst>
            </a:pPr>
            <a:r>
              <a:rPr spc="-5" dirty="0"/>
              <a:t>Coin-Changing:	Greedy</a:t>
            </a:r>
            <a:r>
              <a:rPr spc="-40" dirty="0"/>
              <a:t> </a:t>
            </a:r>
            <a:r>
              <a:rPr spc="-5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8949" y="913002"/>
            <a:ext cx="7305040" cy="683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  <a:tabLst>
                <a:tab pos="2283460" algn="l"/>
              </a:tabLst>
            </a:pPr>
            <a:r>
              <a:rPr sz="1800" dirty="0">
                <a:solidFill>
                  <a:srgbClr val="003399"/>
                </a:solidFill>
                <a:latin typeface="Comic Sans MS"/>
                <a:cs typeface="Comic Sans MS"/>
              </a:rPr>
              <a:t>Cashier's algorithm.	</a:t>
            </a:r>
            <a:r>
              <a:rPr sz="1800" spc="-5" dirty="0">
                <a:latin typeface="Comic Sans MS"/>
                <a:cs typeface="Comic Sans MS"/>
              </a:rPr>
              <a:t>At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each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iteration,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add coin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of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the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largest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value </a:t>
            </a:r>
            <a:r>
              <a:rPr sz="1800" spc="-5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that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does</a:t>
            </a:r>
            <a:r>
              <a:rPr sz="1800" spc="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not </a:t>
            </a:r>
            <a:r>
              <a:rPr sz="1800" spc="-5" dirty="0">
                <a:latin typeface="Comic Sans MS"/>
                <a:cs typeface="Comic Sans MS"/>
              </a:rPr>
              <a:t>take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us</a:t>
            </a:r>
            <a:r>
              <a:rPr sz="1800" dirty="0">
                <a:latin typeface="Comic Sans MS"/>
                <a:cs typeface="Comic Sans MS"/>
              </a:rPr>
              <a:t> past the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amount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to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be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paid.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949" y="5921755"/>
            <a:ext cx="37395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5765" algn="l"/>
              </a:tabLst>
            </a:pPr>
            <a:r>
              <a:rPr sz="1800" spc="-5" dirty="0">
                <a:solidFill>
                  <a:srgbClr val="003399"/>
                </a:solidFill>
                <a:latin typeface="Comic Sans MS"/>
                <a:cs typeface="Comic Sans MS"/>
              </a:rPr>
              <a:t>Q.	</a:t>
            </a:r>
            <a:r>
              <a:rPr sz="1800" spc="-5" dirty="0">
                <a:latin typeface="Comic Sans MS"/>
                <a:cs typeface="Comic Sans MS"/>
              </a:rPr>
              <a:t>Is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cashier's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algorithm</a:t>
            </a:r>
            <a:r>
              <a:rPr sz="1800" spc="-5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optimal?</a:t>
            </a:r>
            <a:endParaRPr sz="1800">
              <a:latin typeface="Comic Sans MS"/>
              <a:cs typeface="Comic Sans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43000" y="2133600"/>
            <a:ext cx="6705600" cy="3118485"/>
          </a:xfrm>
          <a:custGeom>
            <a:avLst/>
            <a:gdLst/>
            <a:ahLst/>
            <a:cxnLst/>
            <a:rect l="l" t="t" r="r" b="b"/>
            <a:pathLst>
              <a:path w="6705600" h="3118485">
                <a:moveTo>
                  <a:pt x="6705600" y="0"/>
                </a:moveTo>
                <a:lnTo>
                  <a:pt x="0" y="0"/>
                </a:lnTo>
                <a:lnTo>
                  <a:pt x="0" y="3118104"/>
                </a:lnTo>
                <a:lnTo>
                  <a:pt x="6705600" y="3118104"/>
                </a:lnTo>
                <a:lnTo>
                  <a:pt x="6705600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143000" y="2133600"/>
            <a:ext cx="6705600" cy="3118485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82880">
              <a:lnSpc>
                <a:spcPct val="100000"/>
              </a:lnSpc>
              <a:spcBef>
                <a:spcPts val="540"/>
              </a:spcBef>
            </a:pPr>
            <a:r>
              <a:rPr sz="1600" b="1" spc="-5" dirty="0">
                <a:solidFill>
                  <a:srgbClr val="003399"/>
                </a:solidFill>
                <a:latin typeface="Courier New"/>
                <a:cs typeface="Courier New"/>
              </a:rPr>
              <a:t>Sort</a:t>
            </a:r>
            <a:r>
              <a:rPr sz="1600" b="1" dirty="0">
                <a:solidFill>
                  <a:srgbClr val="003399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coins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denominations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by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value: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25" dirty="0">
                <a:latin typeface="Courier New"/>
                <a:cs typeface="Courier New"/>
              </a:rPr>
              <a:t>c</a:t>
            </a:r>
            <a:r>
              <a:rPr sz="1575" b="1" spc="37" baseline="-21164" dirty="0">
                <a:latin typeface="Courier New"/>
                <a:cs typeface="Courier New"/>
              </a:rPr>
              <a:t>1</a:t>
            </a:r>
            <a:r>
              <a:rPr sz="1575" b="1" spc="502" baseline="-21164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&lt;</a:t>
            </a:r>
            <a:r>
              <a:rPr sz="1600" b="1" dirty="0">
                <a:latin typeface="Courier New"/>
                <a:cs typeface="Courier New"/>
              </a:rPr>
              <a:t> c</a:t>
            </a:r>
            <a:r>
              <a:rPr sz="1575" b="1" baseline="-21164" dirty="0">
                <a:latin typeface="Courier New"/>
                <a:cs typeface="Courier New"/>
              </a:rPr>
              <a:t>2</a:t>
            </a:r>
            <a:r>
              <a:rPr sz="1575" b="1" spc="480" baseline="-21164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&lt;</a:t>
            </a:r>
            <a:r>
              <a:rPr sz="1600" b="1" spc="1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…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&lt;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5" dirty="0">
                <a:latin typeface="Courier New"/>
                <a:cs typeface="Courier New"/>
              </a:rPr>
              <a:t>c</a:t>
            </a:r>
            <a:r>
              <a:rPr sz="1575" b="1" spc="7" baseline="-21164" dirty="0">
                <a:latin typeface="Courier New"/>
                <a:cs typeface="Courier New"/>
              </a:rPr>
              <a:t>n</a:t>
            </a:r>
            <a:r>
              <a:rPr sz="1600" b="1" spc="5" dirty="0">
                <a:latin typeface="Courier New"/>
                <a:cs typeface="Courier New"/>
              </a:rPr>
              <a:t>.</a:t>
            </a:r>
            <a:endParaRPr sz="1600">
              <a:latin typeface="Courier New"/>
              <a:cs typeface="Courier New"/>
            </a:endParaRPr>
          </a:p>
          <a:p>
            <a:pPr marL="471805">
              <a:lnSpc>
                <a:spcPct val="100000"/>
              </a:lnSpc>
              <a:spcBef>
                <a:spcPts val="1685"/>
              </a:spcBef>
            </a:pPr>
            <a:r>
              <a:rPr sz="1200" spc="-5" dirty="0">
                <a:latin typeface="Comic Sans MS"/>
                <a:cs typeface="Comic Sans MS"/>
              </a:rPr>
              <a:t>coins</a:t>
            </a:r>
            <a:r>
              <a:rPr sz="1200" spc="-40" dirty="0">
                <a:latin typeface="Comic Sans MS"/>
                <a:cs typeface="Comic Sans MS"/>
              </a:rPr>
              <a:t> </a:t>
            </a:r>
            <a:r>
              <a:rPr sz="1200" spc="-5" dirty="0">
                <a:latin typeface="Comic Sans MS"/>
                <a:cs typeface="Comic Sans MS"/>
              </a:rPr>
              <a:t>selected</a:t>
            </a:r>
            <a:endParaRPr sz="1200">
              <a:latin typeface="Comic Sans MS"/>
              <a:cs typeface="Comic Sans MS"/>
            </a:endParaRPr>
          </a:p>
          <a:p>
            <a:pPr marL="182880">
              <a:lnSpc>
                <a:spcPct val="100000"/>
              </a:lnSpc>
              <a:spcBef>
                <a:spcPts val="750"/>
              </a:spcBef>
            </a:pPr>
            <a:r>
              <a:rPr sz="1600" b="1" spc="-5" dirty="0">
                <a:latin typeface="Courier New"/>
                <a:cs typeface="Courier New"/>
              </a:rPr>
              <a:t>S</a:t>
            </a:r>
            <a:r>
              <a:rPr sz="1600" b="1" spc="-4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Symbol"/>
                <a:cs typeface="Symbol"/>
              </a:rPr>
              <a:t>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Symbol"/>
                <a:cs typeface="Symbol"/>
              </a:rPr>
              <a:t></a:t>
            </a:r>
            <a:endParaRPr sz="1600">
              <a:latin typeface="Symbol"/>
              <a:cs typeface="Symbol"/>
            </a:endParaRPr>
          </a:p>
          <a:p>
            <a:pPr marL="182880">
              <a:lnSpc>
                <a:spcPct val="100000"/>
              </a:lnSpc>
            </a:pPr>
            <a:r>
              <a:rPr sz="1600" b="1" spc="-5" dirty="0">
                <a:solidFill>
                  <a:srgbClr val="003399"/>
                </a:solidFill>
                <a:latin typeface="Courier New"/>
                <a:cs typeface="Courier New"/>
              </a:rPr>
              <a:t>while</a:t>
            </a:r>
            <a:r>
              <a:rPr sz="1600" b="1" spc="-10" dirty="0">
                <a:solidFill>
                  <a:srgbClr val="003399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(x </a:t>
            </a:r>
            <a:r>
              <a:rPr sz="1600" spc="-5" dirty="0">
                <a:latin typeface="Symbol"/>
                <a:cs typeface="Symbol"/>
              </a:rPr>
              <a:t>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0)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548640" marR="1188085" indent="1270">
              <a:lnSpc>
                <a:spcPts val="1889"/>
              </a:lnSpc>
              <a:spcBef>
                <a:spcPts val="90"/>
              </a:spcBef>
            </a:pPr>
            <a:r>
              <a:rPr sz="1600" b="1" spc="-5" dirty="0">
                <a:latin typeface="Courier New"/>
                <a:cs typeface="Courier New"/>
              </a:rPr>
              <a:t>let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k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be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largest</a:t>
            </a:r>
            <a:r>
              <a:rPr sz="1600" b="1" spc="2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integer</a:t>
            </a:r>
            <a:r>
              <a:rPr sz="1600" b="1" spc="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such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that</a:t>
            </a:r>
            <a:r>
              <a:rPr sz="1600" b="1" dirty="0">
                <a:latin typeface="Courier New"/>
                <a:cs typeface="Courier New"/>
              </a:rPr>
              <a:t> </a:t>
            </a:r>
            <a:r>
              <a:rPr sz="1600" b="1" spc="20" dirty="0">
                <a:latin typeface="Courier New"/>
                <a:cs typeface="Courier New"/>
              </a:rPr>
              <a:t>c</a:t>
            </a:r>
            <a:r>
              <a:rPr sz="1575" b="1" spc="30" baseline="-21164" dirty="0">
                <a:latin typeface="Courier New"/>
                <a:cs typeface="Courier New"/>
              </a:rPr>
              <a:t>k</a:t>
            </a:r>
            <a:r>
              <a:rPr sz="1575" b="1" spc="472" baseline="-21164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Symbol"/>
                <a:cs typeface="Symbol"/>
              </a:rPr>
              <a:t>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x </a:t>
            </a:r>
            <a:r>
              <a:rPr sz="1600" b="1" spc="-950" dirty="0"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003399"/>
                </a:solidFill>
                <a:latin typeface="Courier New"/>
                <a:cs typeface="Courier New"/>
              </a:rPr>
              <a:t>if </a:t>
            </a:r>
            <a:r>
              <a:rPr sz="1600" b="1" dirty="0">
                <a:latin typeface="Courier New"/>
                <a:cs typeface="Courier New"/>
              </a:rPr>
              <a:t>(k </a:t>
            </a:r>
            <a:r>
              <a:rPr sz="1600" b="1" spc="-5" dirty="0">
                <a:latin typeface="Courier New"/>
                <a:cs typeface="Courier New"/>
              </a:rPr>
              <a:t>= </a:t>
            </a:r>
            <a:r>
              <a:rPr sz="1600" b="1" dirty="0">
                <a:latin typeface="Courier New"/>
                <a:cs typeface="Courier New"/>
              </a:rPr>
              <a:t>0)</a:t>
            </a:r>
            <a:endParaRPr sz="1600">
              <a:latin typeface="Courier New"/>
              <a:cs typeface="Courier New"/>
            </a:endParaRPr>
          </a:p>
          <a:p>
            <a:pPr marL="914400">
              <a:lnSpc>
                <a:spcPts val="1860"/>
              </a:lnSpc>
            </a:pPr>
            <a:r>
              <a:rPr sz="1600" b="1" spc="-5" dirty="0">
                <a:solidFill>
                  <a:srgbClr val="003399"/>
                </a:solidFill>
                <a:latin typeface="Courier New"/>
                <a:cs typeface="Courier New"/>
              </a:rPr>
              <a:t>return</a:t>
            </a:r>
            <a:r>
              <a:rPr sz="1600" b="1" spc="5" dirty="0">
                <a:solidFill>
                  <a:srgbClr val="003399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"no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solution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found"</a:t>
            </a:r>
            <a:endParaRPr sz="1600">
              <a:latin typeface="Courier New"/>
              <a:cs typeface="Courier New"/>
            </a:endParaRPr>
          </a:p>
          <a:p>
            <a:pPr marL="549910" marR="4693285">
              <a:lnSpc>
                <a:spcPct val="100000"/>
              </a:lnSpc>
              <a:spcBef>
                <a:spcPts val="35"/>
              </a:spcBef>
            </a:pPr>
            <a:r>
              <a:rPr sz="1600" b="1" spc="-5" dirty="0">
                <a:latin typeface="Courier New"/>
                <a:cs typeface="Courier New"/>
              </a:rPr>
              <a:t>x</a:t>
            </a:r>
            <a:r>
              <a:rPr sz="1600" b="1" spc="15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Symbol"/>
                <a:cs typeface="Symbol"/>
              </a:rPr>
              <a:t></a:t>
            </a:r>
            <a:r>
              <a:rPr sz="1600" spc="71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x</a:t>
            </a:r>
            <a:r>
              <a:rPr sz="1600" b="1" spc="165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-</a:t>
            </a:r>
            <a:r>
              <a:rPr sz="1600" b="1" spc="160" dirty="0">
                <a:latin typeface="Courier New"/>
                <a:cs typeface="Courier New"/>
              </a:rPr>
              <a:t> </a:t>
            </a:r>
            <a:r>
              <a:rPr sz="1600" b="1" dirty="0">
                <a:latin typeface="Courier New"/>
                <a:cs typeface="Courier New"/>
              </a:rPr>
              <a:t>c</a:t>
            </a:r>
            <a:r>
              <a:rPr sz="1575" b="1" baseline="-21164" dirty="0">
                <a:latin typeface="Courier New"/>
                <a:cs typeface="Courier New"/>
              </a:rPr>
              <a:t>k </a:t>
            </a:r>
            <a:r>
              <a:rPr sz="1575" b="1" spc="7" baseline="-21164" dirty="0"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</a:t>
            </a:r>
            <a:r>
              <a:rPr sz="1600" b="1" spc="-25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Symbol"/>
                <a:cs typeface="Symbol"/>
              </a:rPr>
              <a:t>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</a:t>
            </a:r>
            <a:r>
              <a:rPr sz="1600" b="1" spc="-10" dirty="0">
                <a:latin typeface="Courier New"/>
                <a:cs typeface="Courier New"/>
              </a:rPr>
              <a:t> </a:t>
            </a:r>
            <a:r>
              <a:rPr sz="1600" spc="-5" dirty="0">
                <a:latin typeface="Symbol"/>
                <a:cs typeface="Symbol"/>
              </a:rPr>
              <a:t>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{k}</a:t>
            </a:r>
            <a:endParaRPr sz="1600">
              <a:latin typeface="Courier New"/>
              <a:cs typeface="Courier New"/>
            </a:endParaRPr>
          </a:p>
          <a:p>
            <a:pPr marL="182880">
              <a:lnSpc>
                <a:spcPts val="1885"/>
              </a:lnSpc>
            </a:pPr>
            <a:r>
              <a:rPr sz="1600" b="1" spc="-5" dirty="0"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182880">
              <a:lnSpc>
                <a:spcPct val="100000"/>
              </a:lnSpc>
            </a:pPr>
            <a:r>
              <a:rPr sz="1600" b="1" spc="-5" dirty="0">
                <a:solidFill>
                  <a:srgbClr val="003399"/>
                </a:solidFill>
                <a:latin typeface="Courier New"/>
                <a:cs typeface="Courier New"/>
              </a:rPr>
              <a:t>return</a:t>
            </a:r>
            <a:r>
              <a:rPr sz="1600" b="1" spc="-45" dirty="0">
                <a:solidFill>
                  <a:srgbClr val="003399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latin typeface="Courier New"/>
                <a:cs typeface="Courier New"/>
              </a:rPr>
              <a:t>S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8655" y="2814701"/>
            <a:ext cx="118744" cy="147954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/>
              <a:t>2</a:t>
            </a:fld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948" y="167132"/>
            <a:ext cx="53860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3250" algn="l"/>
              </a:tabLst>
            </a:pPr>
            <a:r>
              <a:rPr spc="-5" dirty="0"/>
              <a:t>Coin-Changing:	Analysis </a:t>
            </a:r>
            <a:r>
              <a:rPr dirty="0"/>
              <a:t>of</a:t>
            </a:r>
            <a:r>
              <a:rPr spc="-15" dirty="0"/>
              <a:t> </a:t>
            </a:r>
            <a:r>
              <a:rPr spc="-5" dirty="0"/>
              <a:t>Greedy</a:t>
            </a:r>
            <a:r>
              <a:rPr spc="5" dirty="0"/>
              <a:t> </a:t>
            </a:r>
            <a:r>
              <a:rPr spc="-5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254" y="1782191"/>
            <a:ext cx="103631" cy="10820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6254" y="2112848"/>
            <a:ext cx="103631" cy="10850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254" y="3103752"/>
            <a:ext cx="103631" cy="10820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63549" y="913002"/>
            <a:ext cx="7860665" cy="2665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0000"/>
              </a:lnSpc>
              <a:spcBef>
                <a:spcPts val="100"/>
              </a:spcBef>
              <a:tabLst>
                <a:tab pos="1177925" algn="l"/>
                <a:tab pos="6090285" algn="l"/>
              </a:tabLst>
            </a:pPr>
            <a:r>
              <a:rPr sz="1800" dirty="0">
                <a:solidFill>
                  <a:srgbClr val="003399"/>
                </a:solidFill>
                <a:latin typeface="Comic Sans MS"/>
                <a:cs typeface="Comic Sans MS"/>
              </a:rPr>
              <a:t>Theorem.	</a:t>
            </a:r>
            <a:r>
              <a:rPr sz="1800" spc="-5" dirty="0">
                <a:latin typeface="Comic Sans MS"/>
                <a:cs typeface="Comic Sans MS"/>
              </a:rPr>
              <a:t>Greedy</a:t>
            </a:r>
            <a:r>
              <a:rPr sz="1800" spc="2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algorithm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is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optimal </a:t>
            </a:r>
            <a:r>
              <a:rPr sz="1800" spc="-5" dirty="0">
                <a:latin typeface="Comic Sans MS"/>
                <a:cs typeface="Comic Sans MS"/>
              </a:rPr>
              <a:t>for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U.S. coinage:	1,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5,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10,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25,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100. </a:t>
            </a:r>
            <a:r>
              <a:rPr sz="1800" spc="-520" dirty="0"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003399"/>
                </a:solidFill>
                <a:latin typeface="Comic Sans MS"/>
                <a:cs typeface="Comic Sans MS"/>
              </a:rPr>
              <a:t>Pf.</a:t>
            </a:r>
            <a:r>
              <a:rPr sz="1800" spc="-15" dirty="0">
                <a:solidFill>
                  <a:srgbClr val="003399"/>
                </a:solidFill>
                <a:latin typeface="Comic Sans MS"/>
                <a:cs typeface="Comic Sans MS"/>
              </a:rPr>
              <a:t> </a:t>
            </a:r>
            <a:r>
              <a:rPr sz="1800" spc="-5" dirty="0">
                <a:solidFill>
                  <a:srgbClr val="4D4D4D"/>
                </a:solidFill>
                <a:latin typeface="Comic Sans MS"/>
                <a:cs typeface="Comic Sans MS"/>
              </a:rPr>
              <a:t>(by induction</a:t>
            </a:r>
            <a:r>
              <a:rPr sz="1800" spc="-15" dirty="0">
                <a:solidFill>
                  <a:srgbClr val="4D4D4D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4D4D4D"/>
                </a:solidFill>
                <a:latin typeface="Comic Sans MS"/>
                <a:cs typeface="Comic Sans MS"/>
              </a:rPr>
              <a:t>on</a:t>
            </a:r>
            <a:r>
              <a:rPr sz="1800" spc="-5" dirty="0">
                <a:solidFill>
                  <a:srgbClr val="4D4D4D"/>
                </a:solidFill>
                <a:latin typeface="Comic Sans MS"/>
                <a:cs typeface="Comic Sans MS"/>
              </a:rPr>
              <a:t> </a:t>
            </a:r>
            <a:r>
              <a:rPr sz="1800" dirty="0">
                <a:solidFill>
                  <a:srgbClr val="4D4D4D"/>
                </a:solidFill>
                <a:latin typeface="Comic Sans MS"/>
                <a:cs typeface="Comic Sans MS"/>
              </a:rPr>
              <a:t>x)</a:t>
            </a:r>
            <a:endParaRPr sz="1800">
              <a:latin typeface="Comic Sans MS"/>
              <a:cs typeface="Comic Sans MS"/>
            </a:endParaRPr>
          </a:p>
          <a:p>
            <a:pPr marL="384175">
              <a:lnSpc>
                <a:spcPct val="100000"/>
              </a:lnSpc>
              <a:spcBef>
                <a:spcPts val="445"/>
              </a:spcBef>
              <a:tabLst>
                <a:tab pos="5186680" algn="l"/>
              </a:tabLst>
            </a:pPr>
            <a:r>
              <a:rPr sz="1800" dirty="0">
                <a:latin typeface="Comic Sans MS"/>
                <a:cs typeface="Comic Sans MS"/>
              </a:rPr>
              <a:t>Consider optimal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way </a:t>
            </a:r>
            <a:r>
              <a:rPr sz="1800" spc="-5" dirty="0">
                <a:latin typeface="Comic Sans MS"/>
                <a:cs typeface="Comic Sans MS"/>
              </a:rPr>
              <a:t>to</a:t>
            </a:r>
            <a:r>
              <a:rPr sz="1800" spc="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change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</a:t>
            </a:r>
            <a:r>
              <a:rPr sz="1800" spc="-7" baseline="-20833" dirty="0">
                <a:latin typeface="Comic Sans MS"/>
                <a:cs typeface="Comic Sans MS"/>
              </a:rPr>
              <a:t>k</a:t>
            </a:r>
            <a:r>
              <a:rPr sz="1800" baseline="-20833" dirty="0">
                <a:latin typeface="Comic Sans MS"/>
                <a:cs typeface="Comic Sans MS"/>
              </a:rPr>
              <a:t> </a:t>
            </a:r>
            <a:r>
              <a:rPr sz="1800" dirty="0">
                <a:latin typeface="Symbol"/>
                <a:cs typeface="Symbol"/>
              </a:rPr>
              <a:t></a:t>
            </a:r>
            <a:r>
              <a:rPr sz="1800" spc="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omic Sans MS"/>
                <a:cs typeface="Comic Sans MS"/>
              </a:rPr>
              <a:t>x</a:t>
            </a:r>
            <a:r>
              <a:rPr sz="1800" spc="-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&lt; c</a:t>
            </a:r>
            <a:r>
              <a:rPr sz="1800" baseline="-20833" dirty="0">
                <a:latin typeface="Comic Sans MS"/>
                <a:cs typeface="Comic Sans MS"/>
              </a:rPr>
              <a:t>k+1</a:t>
            </a:r>
            <a:r>
              <a:rPr sz="1800" spc="270" baseline="-20833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:	</a:t>
            </a:r>
            <a:r>
              <a:rPr sz="1800" spc="-5" dirty="0">
                <a:latin typeface="Comic Sans MS"/>
                <a:cs typeface="Comic Sans MS"/>
              </a:rPr>
              <a:t>greedy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takes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coin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k.</a:t>
            </a:r>
            <a:endParaRPr sz="1800">
              <a:latin typeface="Comic Sans MS"/>
              <a:cs typeface="Comic Sans MS"/>
            </a:endParaRPr>
          </a:p>
          <a:p>
            <a:pPr marL="384175">
              <a:lnSpc>
                <a:spcPct val="100000"/>
              </a:lnSpc>
              <a:spcBef>
                <a:spcPts val="440"/>
              </a:spcBef>
            </a:pPr>
            <a:r>
              <a:rPr sz="1800" dirty="0">
                <a:latin typeface="Comic Sans MS"/>
                <a:cs typeface="Comic Sans MS"/>
              </a:rPr>
              <a:t>We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claim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that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any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optimal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solution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must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also</a:t>
            </a:r>
            <a:r>
              <a:rPr sz="1800" spc="-5" dirty="0">
                <a:latin typeface="Comic Sans MS"/>
                <a:cs typeface="Comic Sans MS"/>
              </a:rPr>
              <a:t> take </a:t>
            </a:r>
            <a:r>
              <a:rPr sz="1800" dirty="0">
                <a:latin typeface="Comic Sans MS"/>
                <a:cs typeface="Comic Sans MS"/>
              </a:rPr>
              <a:t>coin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k.</a:t>
            </a:r>
            <a:endParaRPr sz="1800">
              <a:latin typeface="Comic Sans MS"/>
              <a:cs typeface="Comic Sans MS"/>
            </a:endParaRPr>
          </a:p>
          <a:p>
            <a:pPr marL="666115" indent="-168275">
              <a:lnSpc>
                <a:spcPct val="100000"/>
              </a:lnSpc>
              <a:spcBef>
                <a:spcPts val="434"/>
              </a:spcBef>
              <a:buSzPct val="80555"/>
              <a:buChar char="–"/>
              <a:tabLst>
                <a:tab pos="666750" algn="l"/>
              </a:tabLst>
            </a:pPr>
            <a:r>
              <a:rPr sz="1800" spc="-5" dirty="0">
                <a:latin typeface="Comic Sans MS"/>
                <a:cs typeface="Comic Sans MS"/>
              </a:rPr>
              <a:t>if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not,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it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needs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enough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coins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of</a:t>
            </a:r>
            <a:r>
              <a:rPr sz="1800" spc="-5" dirty="0">
                <a:latin typeface="Comic Sans MS"/>
                <a:cs typeface="Comic Sans MS"/>
              </a:rPr>
              <a:t> type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</a:t>
            </a:r>
            <a:r>
              <a:rPr sz="1800" baseline="-20833" dirty="0">
                <a:latin typeface="Comic Sans MS"/>
                <a:cs typeface="Comic Sans MS"/>
              </a:rPr>
              <a:t>1</a:t>
            </a:r>
            <a:r>
              <a:rPr sz="1800" dirty="0">
                <a:latin typeface="Comic Sans MS"/>
                <a:cs typeface="Comic Sans MS"/>
              </a:rPr>
              <a:t>,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…,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</a:t>
            </a:r>
            <a:r>
              <a:rPr sz="1800" baseline="-20833" dirty="0">
                <a:latin typeface="Comic Sans MS"/>
                <a:cs typeface="Comic Sans MS"/>
              </a:rPr>
              <a:t>k-1</a:t>
            </a:r>
            <a:r>
              <a:rPr sz="1800" spc="127" baseline="-20833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to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add</a:t>
            </a:r>
            <a:r>
              <a:rPr sz="1800" spc="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up</a:t>
            </a:r>
            <a:r>
              <a:rPr sz="180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to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x</a:t>
            </a:r>
            <a:endParaRPr sz="1800">
              <a:latin typeface="Comic Sans MS"/>
              <a:cs typeface="Comic Sans MS"/>
            </a:endParaRPr>
          </a:p>
          <a:p>
            <a:pPr marL="666115" indent="-168275">
              <a:lnSpc>
                <a:spcPct val="100000"/>
              </a:lnSpc>
              <a:spcBef>
                <a:spcPts val="445"/>
              </a:spcBef>
              <a:buSzPct val="80555"/>
              <a:buChar char="–"/>
              <a:tabLst>
                <a:tab pos="666750" algn="l"/>
              </a:tabLst>
            </a:pPr>
            <a:r>
              <a:rPr sz="1800" spc="-5" dirty="0">
                <a:latin typeface="Comic Sans MS"/>
                <a:cs typeface="Comic Sans MS"/>
              </a:rPr>
              <a:t>table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below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indicates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no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optimal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solution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can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do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this</a:t>
            </a:r>
            <a:endParaRPr sz="1800">
              <a:latin typeface="Comic Sans MS"/>
              <a:cs typeface="Comic Sans MS"/>
            </a:endParaRPr>
          </a:p>
          <a:p>
            <a:pPr marL="384175" marR="173990">
              <a:lnSpc>
                <a:spcPct val="120000"/>
              </a:lnSpc>
              <a:spcBef>
                <a:spcPts val="10"/>
              </a:spcBef>
              <a:tabLst>
                <a:tab pos="4469130" algn="l"/>
              </a:tabLst>
            </a:pPr>
            <a:r>
              <a:rPr sz="1800" dirty="0">
                <a:latin typeface="Comic Sans MS"/>
                <a:cs typeface="Comic Sans MS"/>
              </a:rPr>
              <a:t>Problem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reduces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to</a:t>
            </a:r>
            <a:r>
              <a:rPr sz="1800" dirty="0">
                <a:latin typeface="Comic Sans MS"/>
                <a:cs typeface="Comic Sans MS"/>
              </a:rPr>
              <a:t> coin-changing</a:t>
            </a:r>
            <a:r>
              <a:rPr sz="1800" spc="-5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x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-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c</a:t>
            </a:r>
            <a:r>
              <a:rPr sz="1800" spc="-7" baseline="-20833" dirty="0">
                <a:latin typeface="Comic Sans MS"/>
                <a:cs typeface="Comic Sans MS"/>
              </a:rPr>
              <a:t>k</a:t>
            </a:r>
            <a:r>
              <a:rPr sz="1800" spc="262" baseline="-20833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cents,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which,</a:t>
            </a:r>
            <a:r>
              <a:rPr sz="1800" spc="-1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by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induction,</a:t>
            </a:r>
            <a:r>
              <a:rPr sz="1800" spc="-2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is </a:t>
            </a:r>
            <a:r>
              <a:rPr sz="1800" spc="-5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optimally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solved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by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greedy</a:t>
            </a:r>
            <a:r>
              <a:rPr sz="1800" spc="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algorithm.	</a:t>
            </a:r>
            <a:r>
              <a:rPr sz="1800" dirty="0">
                <a:solidFill>
                  <a:srgbClr val="4D4D4D"/>
                </a:solidFill>
                <a:latin typeface="Segoe UI"/>
                <a:cs typeface="Segoe UI"/>
              </a:rPr>
              <a:t>▪</a:t>
            </a:r>
            <a:endParaRPr sz="1800">
              <a:latin typeface="Segoe UI"/>
              <a:cs typeface="Segoe U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600200" y="3962400"/>
          <a:ext cx="5944233" cy="25145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24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9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sz="160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k</a:t>
                      </a:r>
                      <a:endParaRPr sz="1600">
                        <a:latin typeface="Comic Sans MS"/>
                        <a:cs typeface="Comic Sans MS"/>
                      </a:endParaRPr>
                    </a:p>
                  </a:txBody>
                  <a:tcPr marL="0" marR="0" marT="173990" marB="0">
                    <a:solidFill>
                      <a:srgbClr val="4D4D4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235075" marR="185420" indent="-908685">
                        <a:lnSpc>
                          <a:spcPct val="100000"/>
                        </a:lnSpc>
                        <a:spcBef>
                          <a:spcPts val="409"/>
                        </a:spcBef>
                        <a:tabLst>
                          <a:tab pos="878205" algn="l"/>
                          <a:tab pos="3047365" algn="l"/>
                          <a:tab pos="3201035" algn="l"/>
                        </a:tabLst>
                      </a:pPr>
                      <a:r>
                        <a:rPr sz="2400" baseline="-32986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c</a:t>
                      </a:r>
                      <a:r>
                        <a:rPr sz="1575" baseline="-71428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k	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All</a:t>
                      </a:r>
                      <a:r>
                        <a:rPr sz="1600" spc="2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optimal</a:t>
                      </a:r>
                      <a:r>
                        <a:rPr sz="1600" spc="2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solutions		Max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value 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of coins </a:t>
                      </a:r>
                      <a:r>
                        <a:rPr sz="160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must</a:t>
                      </a:r>
                      <a:r>
                        <a:rPr sz="1600" spc="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satisfy	1,</a:t>
                      </a:r>
                      <a:r>
                        <a:rPr sz="1600" spc="-2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2,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…,</a:t>
                      </a:r>
                      <a:r>
                        <a:rPr sz="1600" spc="-5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k-1</a:t>
                      </a:r>
                      <a:r>
                        <a:rPr sz="1600" spc="-1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in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any </a:t>
                      </a:r>
                      <a:r>
                        <a:rPr sz="1600" spc="-10" dirty="0">
                          <a:solidFill>
                            <a:srgbClr val="FFFFFF"/>
                          </a:solidFill>
                          <a:latin typeface="Comic Sans MS"/>
                          <a:cs typeface="Comic Sans MS"/>
                        </a:rPr>
                        <a:t>OPT</a:t>
                      </a:r>
                      <a:endParaRPr sz="1600">
                        <a:latin typeface="Comic Sans MS"/>
                        <a:cs typeface="Comic Sans MS"/>
                      </a:endParaRPr>
                    </a:p>
                  </a:txBody>
                  <a:tcPr marL="0" marR="0" marT="52069" marB="0">
                    <a:solidFill>
                      <a:srgbClr val="4D4D4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965">
                <a:tc>
                  <a:txBody>
                    <a:bodyPr/>
                    <a:lstStyle/>
                    <a:p>
                      <a:pPr marL="33020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600" dirty="0">
                          <a:latin typeface="Comic Sans MS"/>
                          <a:cs typeface="Comic Sans MS"/>
                        </a:rPr>
                        <a:t>1</a:t>
                      </a:r>
                      <a:endParaRPr sz="1600">
                        <a:latin typeface="Comic Sans MS"/>
                        <a:cs typeface="Comic Sans MS"/>
                      </a:endParaRPr>
                    </a:p>
                  </a:txBody>
                  <a:tcPr marL="0" marR="0" marT="59690" marB="0"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R="7175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600" dirty="0">
                          <a:latin typeface="Comic Sans MS"/>
                          <a:cs typeface="Comic Sans MS"/>
                        </a:rPr>
                        <a:t>1</a:t>
                      </a:r>
                      <a:endParaRPr sz="1600">
                        <a:latin typeface="Comic Sans MS"/>
                        <a:cs typeface="Comic Sans MS"/>
                      </a:endParaRPr>
                    </a:p>
                  </a:txBody>
                  <a:tcPr marL="0" marR="0" marT="59690" marB="0"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sz="1600" spc="-5" dirty="0">
                          <a:latin typeface="Comic Sans MS"/>
                          <a:cs typeface="Comic Sans MS"/>
                        </a:rPr>
                        <a:t>P</a:t>
                      </a:r>
                      <a:r>
                        <a:rPr sz="1600" spc="-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latin typeface="Symbol"/>
                          <a:cs typeface="Symbol"/>
                        </a:rPr>
                        <a:t>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Comic Sans MS"/>
                          <a:cs typeface="Comic Sans MS"/>
                        </a:rPr>
                        <a:t>4</a:t>
                      </a:r>
                      <a:endParaRPr sz="1600">
                        <a:latin typeface="Comic Sans MS"/>
                        <a:cs typeface="Comic Sans MS"/>
                      </a:endParaRPr>
                    </a:p>
                  </a:txBody>
                  <a:tcPr marL="0" marR="0" marT="60960" marB="0"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1600" dirty="0">
                          <a:latin typeface="Comic Sans MS"/>
                          <a:cs typeface="Comic Sans MS"/>
                        </a:rPr>
                        <a:t>-</a:t>
                      </a:r>
                      <a:endParaRPr sz="1600">
                        <a:latin typeface="Comic Sans MS"/>
                        <a:cs typeface="Comic Sans MS"/>
                      </a:endParaRPr>
                    </a:p>
                  </a:txBody>
                  <a:tcPr marL="0" marR="0" marT="59690" marB="0"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377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600" dirty="0">
                          <a:latin typeface="Comic Sans MS"/>
                          <a:cs typeface="Comic Sans MS"/>
                        </a:rPr>
                        <a:t>2</a:t>
                      </a:r>
                      <a:endParaRPr sz="1600">
                        <a:latin typeface="Comic Sans MS"/>
                        <a:cs typeface="Comic Sans MS"/>
                      </a:endParaRPr>
                    </a:p>
                  </a:txBody>
                  <a:tcPr marL="0" marR="0" marT="68580" marB="0"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600" dirty="0">
                          <a:latin typeface="Comic Sans MS"/>
                          <a:cs typeface="Comic Sans MS"/>
                        </a:rPr>
                        <a:t>5</a:t>
                      </a:r>
                      <a:endParaRPr sz="1600">
                        <a:latin typeface="Comic Sans MS"/>
                        <a:cs typeface="Comic Sans MS"/>
                      </a:endParaRPr>
                    </a:p>
                  </a:txBody>
                  <a:tcPr marL="0" marR="0" marT="68580" marB="0"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600" spc="-5" dirty="0">
                          <a:latin typeface="Comic Sans MS"/>
                          <a:cs typeface="Comic Sans MS"/>
                        </a:rPr>
                        <a:t>N</a:t>
                      </a:r>
                      <a:r>
                        <a:rPr sz="1600" spc="-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latin typeface="Symbol"/>
                          <a:cs typeface="Symbol"/>
                        </a:rPr>
                        <a:t></a:t>
                      </a:r>
                      <a:r>
                        <a:rPr sz="1600" spc="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Comic Sans MS"/>
                          <a:cs typeface="Comic Sans MS"/>
                        </a:rPr>
                        <a:t>1</a:t>
                      </a:r>
                      <a:endParaRPr sz="1600">
                        <a:latin typeface="Comic Sans MS"/>
                        <a:cs typeface="Comic Sans MS"/>
                      </a:endParaRPr>
                    </a:p>
                  </a:txBody>
                  <a:tcPr marL="0" marR="0" marT="70485" marB="0"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238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600" dirty="0">
                          <a:latin typeface="Comic Sans MS"/>
                          <a:cs typeface="Comic Sans MS"/>
                        </a:rPr>
                        <a:t>4</a:t>
                      </a:r>
                      <a:endParaRPr sz="1600">
                        <a:latin typeface="Comic Sans MS"/>
                        <a:cs typeface="Comic Sans MS"/>
                      </a:endParaRPr>
                    </a:p>
                  </a:txBody>
                  <a:tcPr marL="0" marR="0" marT="68580" marB="0"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12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600" dirty="0">
                          <a:latin typeface="Comic Sans MS"/>
                          <a:cs typeface="Comic Sans MS"/>
                        </a:rPr>
                        <a:t>3</a:t>
                      </a:r>
                      <a:endParaRPr sz="1600">
                        <a:latin typeface="Comic Sans MS"/>
                        <a:cs typeface="Comic Sans MS"/>
                      </a:endParaRPr>
                    </a:p>
                  </a:txBody>
                  <a:tcPr marL="0" marR="0" marT="68580" marB="0"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600" spc="-5" dirty="0">
                          <a:latin typeface="Comic Sans MS"/>
                          <a:cs typeface="Comic Sans MS"/>
                        </a:rPr>
                        <a:t>10</a:t>
                      </a:r>
                      <a:endParaRPr sz="1600">
                        <a:latin typeface="Comic Sans MS"/>
                        <a:cs typeface="Comic Sans MS"/>
                      </a:endParaRPr>
                    </a:p>
                  </a:txBody>
                  <a:tcPr marL="0" marR="0" marT="68580" marB="0"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00" spc="-5" dirty="0">
                          <a:latin typeface="Comic Sans MS"/>
                          <a:cs typeface="Comic Sans MS"/>
                        </a:rPr>
                        <a:t>N</a:t>
                      </a:r>
                      <a:r>
                        <a:rPr sz="1600" spc="-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latin typeface="Comic Sans MS"/>
                          <a:cs typeface="Comic Sans MS"/>
                        </a:rPr>
                        <a:t>+</a:t>
                      </a:r>
                      <a:r>
                        <a:rPr sz="1600" spc="-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latin typeface="Comic Sans MS"/>
                          <a:cs typeface="Comic Sans MS"/>
                        </a:rPr>
                        <a:t>D</a:t>
                      </a:r>
                      <a:r>
                        <a:rPr sz="1600" spc="-3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latin typeface="Symbol"/>
                          <a:cs typeface="Symbol"/>
                        </a:rPr>
                        <a:t></a:t>
                      </a:r>
                      <a:r>
                        <a:rPr sz="1600" spc="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Comic Sans MS"/>
                          <a:cs typeface="Comic Sans MS"/>
                        </a:rPr>
                        <a:t>2</a:t>
                      </a:r>
                      <a:endParaRPr sz="1600">
                        <a:latin typeface="Comic Sans MS"/>
                        <a:cs typeface="Comic Sans MS"/>
                      </a:endParaRPr>
                    </a:p>
                  </a:txBody>
                  <a:tcPr marL="0" marR="0" marT="69850" marB="0"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2128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600" spc="-5" dirty="0">
                          <a:latin typeface="Comic Sans MS"/>
                          <a:cs typeface="Comic Sans MS"/>
                        </a:rPr>
                        <a:t>4</a:t>
                      </a:r>
                      <a:r>
                        <a:rPr sz="1600" spc="-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latin typeface="Comic Sans MS"/>
                          <a:cs typeface="Comic Sans MS"/>
                        </a:rPr>
                        <a:t>+</a:t>
                      </a:r>
                      <a:r>
                        <a:rPr sz="1600" spc="-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latin typeface="Comic Sans MS"/>
                          <a:cs typeface="Comic Sans MS"/>
                        </a:rPr>
                        <a:t>5</a:t>
                      </a:r>
                      <a:r>
                        <a:rPr sz="1600" spc="-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latin typeface="Comic Sans MS"/>
                          <a:cs typeface="Comic Sans MS"/>
                        </a:rPr>
                        <a:t>=</a:t>
                      </a:r>
                      <a:r>
                        <a:rPr sz="1600" spc="-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latin typeface="Comic Sans MS"/>
                          <a:cs typeface="Comic Sans MS"/>
                        </a:rPr>
                        <a:t>9</a:t>
                      </a:r>
                      <a:endParaRPr sz="1600">
                        <a:latin typeface="Comic Sans MS"/>
                        <a:cs typeface="Comic Sans MS"/>
                      </a:endParaRPr>
                    </a:p>
                  </a:txBody>
                  <a:tcPr marL="0" marR="0" marT="68580" marB="0"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600" dirty="0">
                          <a:latin typeface="Comic Sans MS"/>
                          <a:cs typeface="Comic Sans MS"/>
                        </a:rPr>
                        <a:t>4</a:t>
                      </a:r>
                      <a:endParaRPr sz="1600">
                        <a:latin typeface="Comic Sans MS"/>
                        <a:cs typeface="Comic Sans MS"/>
                      </a:endParaRPr>
                    </a:p>
                  </a:txBody>
                  <a:tcPr marL="0" marR="0" marT="68580" marB="0"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R="7175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600" spc="-10" dirty="0">
                          <a:latin typeface="Comic Sans MS"/>
                          <a:cs typeface="Comic Sans MS"/>
                        </a:rPr>
                        <a:t>25</a:t>
                      </a:r>
                      <a:endParaRPr sz="1600">
                        <a:latin typeface="Comic Sans MS"/>
                        <a:cs typeface="Comic Sans MS"/>
                      </a:endParaRPr>
                    </a:p>
                  </a:txBody>
                  <a:tcPr marL="0" marR="0" marT="68580" marB="0"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600" spc="-5" dirty="0">
                          <a:latin typeface="Comic Sans MS"/>
                          <a:cs typeface="Comic Sans MS"/>
                        </a:rPr>
                        <a:t>Q</a:t>
                      </a:r>
                      <a:r>
                        <a:rPr sz="1600" spc="-3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latin typeface="Symbol"/>
                          <a:cs typeface="Symbol"/>
                        </a:rPr>
                        <a:t></a:t>
                      </a:r>
                      <a:r>
                        <a:rPr sz="1600" spc="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spc="-5" dirty="0">
                          <a:latin typeface="Comic Sans MS"/>
                          <a:cs typeface="Comic Sans MS"/>
                        </a:rPr>
                        <a:t>3</a:t>
                      </a:r>
                      <a:endParaRPr sz="1600">
                        <a:latin typeface="Comic Sans MS"/>
                        <a:cs typeface="Comic Sans MS"/>
                      </a:endParaRPr>
                    </a:p>
                  </a:txBody>
                  <a:tcPr marL="0" marR="0" marT="69850" marB="0"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21920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600" spc="-5" dirty="0">
                          <a:latin typeface="Comic Sans MS"/>
                          <a:cs typeface="Comic Sans MS"/>
                        </a:rPr>
                        <a:t>20</a:t>
                      </a:r>
                      <a:r>
                        <a:rPr sz="1600" spc="-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latin typeface="Comic Sans MS"/>
                          <a:cs typeface="Comic Sans MS"/>
                        </a:rPr>
                        <a:t>+</a:t>
                      </a:r>
                      <a:r>
                        <a:rPr sz="1600" spc="-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latin typeface="Comic Sans MS"/>
                          <a:cs typeface="Comic Sans MS"/>
                        </a:rPr>
                        <a:t>4</a:t>
                      </a:r>
                      <a:r>
                        <a:rPr sz="1600" spc="-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latin typeface="Comic Sans MS"/>
                          <a:cs typeface="Comic Sans MS"/>
                        </a:rPr>
                        <a:t>=</a:t>
                      </a:r>
                      <a:r>
                        <a:rPr sz="1600" spc="-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10" dirty="0">
                          <a:latin typeface="Comic Sans MS"/>
                          <a:cs typeface="Comic Sans MS"/>
                        </a:rPr>
                        <a:t>24</a:t>
                      </a:r>
                      <a:endParaRPr sz="1600">
                        <a:latin typeface="Comic Sans MS"/>
                        <a:cs typeface="Comic Sans MS"/>
                      </a:endParaRPr>
                    </a:p>
                  </a:txBody>
                  <a:tcPr marL="0" marR="0" marT="68580" marB="0"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536">
                <a:tc>
                  <a:txBody>
                    <a:bodyPr/>
                    <a:lstStyle/>
                    <a:p>
                      <a:pPr marL="349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600" dirty="0">
                          <a:latin typeface="Comic Sans MS"/>
                          <a:cs typeface="Comic Sans MS"/>
                        </a:rPr>
                        <a:t>5</a:t>
                      </a:r>
                      <a:endParaRPr sz="1600">
                        <a:latin typeface="Comic Sans MS"/>
                        <a:cs typeface="Comic Sans MS"/>
                      </a:endParaRPr>
                    </a:p>
                  </a:txBody>
                  <a:tcPr marL="0" marR="0" marT="68580" marB="0"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R="7175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600" spc="-10" dirty="0">
                          <a:latin typeface="Comic Sans MS"/>
                          <a:cs typeface="Comic Sans MS"/>
                        </a:rPr>
                        <a:t>100</a:t>
                      </a:r>
                      <a:endParaRPr sz="1600">
                        <a:latin typeface="Comic Sans MS"/>
                        <a:cs typeface="Comic Sans MS"/>
                      </a:endParaRPr>
                    </a:p>
                  </a:txBody>
                  <a:tcPr marL="0" marR="0" marT="68580" marB="0"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600" spc="-5" dirty="0">
                          <a:latin typeface="Comic Sans MS"/>
                          <a:cs typeface="Comic Sans MS"/>
                        </a:rPr>
                        <a:t>no</a:t>
                      </a:r>
                      <a:r>
                        <a:rPr sz="1600" spc="-5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10" dirty="0">
                          <a:latin typeface="Comic Sans MS"/>
                          <a:cs typeface="Comic Sans MS"/>
                        </a:rPr>
                        <a:t>limit</a:t>
                      </a:r>
                      <a:endParaRPr sz="1600">
                        <a:latin typeface="Comic Sans MS"/>
                        <a:cs typeface="Comic Sans MS"/>
                      </a:endParaRPr>
                    </a:p>
                  </a:txBody>
                  <a:tcPr marL="0" marR="0" marT="68580" marB="0"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marL="121285"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600" spc="-5" dirty="0">
                          <a:latin typeface="Comic Sans MS"/>
                          <a:cs typeface="Comic Sans MS"/>
                        </a:rPr>
                        <a:t>75</a:t>
                      </a:r>
                      <a:r>
                        <a:rPr sz="1600" spc="-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latin typeface="Comic Sans MS"/>
                          <a:cs typeface="Comic Sans MS"/>
                        </a:rPr>
                        <a:t>+</a:t>
                      </a:r>
                      <a:r>
                        <a:rPr sz="1600" spc="-20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latin typeface="Comic Sans MS"/>
                          <a:cs typeface="Comic Sans MS"/>
                        </a:rPr>
                        <a:t>24</a:t>
                      </a:r>
                      <a:r>
                        <a:rPr sz="1600" spc="-2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5" dirty="0">
                          <a:latin typeface="Comic Sans MS"/>
                          <a:cs typeface="Comic Sans MS"/>
                        </a:rPr>
                        <a:t>=</a:t>
                      </a:r>
                      <a:r>
                        <a:rPr sz="1600" spc="-15" dirty="0">
                          <a:latin typeface="Comic Sans MS"/>
                          <a:cs typeface="Comic Sans MS"/>
                        </a:rPr>
                        <a:t> </a:t>
                      </a:r>
                      <a:r>
                        <a:rPr sz="1600" spc="-10" dirty="0">
                          <a:latin typeface="Comic Sans MS"/>
                          <a:cs typeface="Comic Sans MS"/>
                        </a:rPr>
                        <a:t>99</a:t>
                      </a:r>
                      <a:endParaRPr sz="1600">
                        <a:latin typeface="Comic Sans MS"/>
                        <a:cs typeface="Comic Sans MS"/>
                      </a:endParaRPr>
                    </a:p>
                  </a:txBody>
                  <a:tcPr marL="0" marR="0" marT="68580" marB="0"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1600200" y="3962400"/>
            <a:ext cx="5943600" cy="2514600"/>
          </a:xfrm>
          <a:custGeom>
            <a:avLst/>
            <a:gdLst/>
            <a:ahLst/>
            <a:cxnLst/>
            <a:rect l="l" t="t" r="r" b="b"/>
            <a:pathLst>
              <a:path w="5943600" h="2514600">
                <a:moveTo>
                  <a:pt x="685800" y="609600"/>
                </a:moveTo>
                <a:lnTo>
                  <a:pt x="1447800" y="609600"/>
                </a:lnTo>
                <a:lnTo>
                  <a:pt x="1447800" y="0"/>
                </a:lnTo>
                <a:lnTo>
                  <a:pt x="685800" y="0"/>
                </a:lnTo>
                <a:lnTo>
                  <a:pt x="685800" y="609600"/>
                </a:lnTo>
                <a:close/>
              </a:path>
              <a:path w="5943600" h="2514600">
                <a:moveTo>
                  <a:pt x="1447800" y="990600"/>
                </a:moveTo>
                <a:lnTo>
                  <a:pt x="3505200" y="990600"/>
                </a:lnTo>
                <a:lnTo>
                  <a:pt x="3505200" y="609600"/>
                </a:lnTo>
                <a:lnTo>
                  <a:pt x="1447800" y="609600"/>
                </a:lnTo>
                <a:lnTo>
                  <a:pt x="1447800" y="990600"/>
                </a:lnTo>
                <a:close/>
              </a:path>
              <a:path w="5943600" h="2514600">
                <a:moveTo>
                  <a:pt x="1447800" y="609600"/>
                </a:moveTo>
                <a:lnTo>
                  <a:pt x="3505200" y="609600"/>
                </a:lnTo>
                <a:lnTo>
                  <a:pt x="3505200" y="0"/>
                </a:lnTo>
                <a:lnTo>
                  <a:pt x="1447800" y="0"/>
                </a:lnTo>
                <a:lnTo>
                  <a:pt x="1447800" y="609600"/>
                </a:lnTo>
                <a:close/>
              </a:path>
              <a:path w="5943600" h="2514600">
                <a:moveTo>
                  <a:pt x="685800" y="2133600"/>
                </a:moveTo>
                <a:lnTo>
                  <a:pt x="1447800" y="2133600"/>
                </a:lnTo>
                <a:lnTo>
                  <a:pt x="1447800" y="1752600"/>
                </a:lnTo>
                <a:lnTo>
                  <a:pt x="685800" y="1752600"/>
                </a:lnTo>
                <a:lnTo>
                  <a:pt x="685800" y="2133600"/>
                </a:lnTo>
                <a:close/>
              </a:path>
              <a:path w="5943600" h="2514600">
                <a:moveTo>
                  <a:pt x="685800" y="2514600"/>
                </a:moveTo>
                <a:lnTo>
                  <a:pt x="1447800" y="2514600"/>
                </a:lnTo>
                <a:lnTo>
                  <a:pt x="1447800" y="2133600"/>
                </a:lnTo>
                <a:lnTo>
                  <a:pt x="685800" y="2133600"/>
                </a:lnTo>
                <a:lnTo>
                  <a:pt x="685800" y="2514600"/>
                </a:lnTo>
                <a:close/>
              </a:path>
              <a:path w="5943600" h="2514600">
                <a:moveTo>
                  <a:pt x="1447800" y="1752600"/>
                </a:moveTo>
                <a:lnTo>
                  <a:pt x="3505200" y="1752600"/>
                </a:lnTo>
                <a:lnTo>
                  <a:pt x="3505200" y="1371600"/>
                </a:lnTo>
                <a:lnTo>
                  <a:pt x="1447800" y="1371600"/>
                </a:lnTo>
                <a:lnTo>
                  <a:pt x="1447800" y="1752600"/>
                </a:lnTo>
                <a:close/>
              </a:path>
              <a:path w="5943600" h="2514600">
                <a:moveTo>
                  <a:pt x="1447800" y="2133600"/>
                </a:moveTo>
                <a:lnTo>
                  <a:pt x="3505200" y="2133600"/>
                </a:lnTo>
                <a:lnTo>
                  <a:pt x="3505200" y="1752600"/>
                </a:lnTo>
                <a:lnTo>
                  <a:pt x="1447800" y="1752600"/>
                </a:lnTo>
                <a:lnTo>
                  <a:pt x="1447800" y="2133600"/>
                </a:lnTo>
                <a:close/>
              </a:path>
              <a:path w="5943600" h="2514600">
                <a:moveTo>
                  <a:pt x="685800" y="1371600"/>
                </a:moveTo>
                <a:lnTo>
                  <a:pt x="1447800" y="1371600"/>
                </a:lnTo>
                <a:lnTo>
                  <a:pt x="1447800" y="990600"/>
                </a:lnTo>
                <a:lnTo>
                  <a:pt x="685800" y="990600"/>
                </a:lnTo>
                <a:lnTo>
                  <a:pt x="685800" y="1371600"/>
                </a:lnTo>
                <a:close/>
              </a:path>
              <a:path w="5943600" h="2514600">
                <a:moveTo>
                  <a:pt x="1447800" y="1371600"/>
                </a:moveTo>
                <a:lnTo>
                  <a:pt x="3505200" y="1371600"/>
                </a:lnTo>
                <a:lnTo>
                  <a:pt x="3505200" y="990600"/>
                </a:lnTo>
                <a:lnTo>
                  <a:pt x="1447800" y="990600"/>
                </a:lnTo>
                <a:lnTo>
                  <a:pt x="1447800" y="1371600"/>
                </a:lnTo>
                <a:close/>
              </a:path>
              <a:path w="5943600" h="2514600">
                <a:moveTo>
                  <a:pt x="1447800" y="2514600"/>
                </a:moveTo>
                <a:lnTo>
                  <a:pt x="3505200" y="2514600"/>
                </a:lnTo>
                <a:lnTo>
                  <a:pt x="3505200" y="2133600"/>
                </a:lnTo>
                <a:lnTo>
                  <a:pt x="1447800" y="2133600"/>
                </a:lnTo>
                <a:lnTo>
                  <a:pt x="1447800" y="2514600"/>
                </a:lnTo>
                <a:close/>
              </a:path>
              <a:path w="5943600" h="2514600">
                <a:moveTo>
                  <a:pt x="0" y="609600"/>
                </a:moveTo>
                <a:lnTo>
                  <a:pt x="685800" y="609600"/>
                </a:lnTo>
                <a:lnTo>
                  <a:pt x="685800" y="0"/>
                </a:lnTo>
                <a:lnTo>
                  <a:pt x="0" y="0"/>
                </a:lnTo>
                <a:lnTo>
                  <a:pt x="0" y="609600"/>
                </a:lnTo>
                <a:close/>
              </a:path>
              <a:path w="5943600" h="2514600">
                <a:moveTo>
                  <a:pt x="0" y="990600"/>
                </a:moveTo>
                <a:lnTo>
                  <a:pt x="685800" y="990600"/>
                </a:lnTo>
                <a:lnTo>
                  <a:pt x="685800" y="609600"/>
                </a:lnTo>
                <a:lnTo>
                  <a:pt x="0" y="609600"/>
                </a:lnTo>
                <a:lnTo>
                  <a:pt x="0" y="990600"/>
                </a:lnTo>
                <a:close/>
              </a:path>
              <a:path w="5943600" h="2514600">
                <a:moveTo>
                  <a:pt x="0" y="1752600"/>
                </a:moveTo>
                <a:lnTo>
                  <a:pt x="685800" y="1752600"/>
                </a:lnTo>
                <a:lnTo>
                  <a:pt x="685800" y="1371600"/>
                </a:lnTo>
                <a:lnTo>
                  <a:pt x="0" y="1371600"/>
                </a:lnTo>
                <a:lnTo>
                  <a:pt x="0" y="1752600"/>
                </a:lnTo>
                <a:close/>
              </a:path>
              <a:path w="5943600" h="2514600">
                <a:moveTo>
                  <a:pt x="0" y="2133600"/>
                </a:moveTo>
                <a:lnTo>
                  <a:pt x="685800" y="2133600"/>
                </a:lnTo>
                <a:lnTo>
                  <a:pt x="685800" y="1752600"/>
                </a:lnTo>
                <a:lnTo>
                  <a:pt x="0" y="1752600"/>
                </a:lnTo>
                <a:lnTo>
                  <a:pt x="0" y="2133600"/>
                </a:lnTo>
                <a:close/>
              </a:path>
              <a:path w="5943600" h="2514600">
                <a:moveTo>
                  <a:pt x="0" y="2514600"/>
                </a:moveTo>
                <a:lnTo>
                  <a:pt x="685800" y="2514600"/>
                </a:lnTo>
                <a:lnTo>
                  <a:pt x="685800" y="2133600"/>
                </a:lnTo>
                <a:lnTo>
                  <a:pt x="0" y="2133600"/>
                </a:lnTo>
                <a:lnTo>
                  <a:pt x="0" y="2514600"/>
                </a:lnTo>
                <a:close/>
              </a:path>
              <a:path w="5943600" h="2514600">
                <a:moveTo>
                  <a:pt x="0" y="1371600"/>
                </a:moveTo>
                <a:lnTo>
                  <a:pt x="685800" y="1371600"/>
                </a:lnTo>
                <a:lnTo>
                  <a:pt x="685800" y="990600"/>
                </a:lnTo>
                <a:lnTo>
                  <a:pt x="0" y="990600"/>
                </a:lnTo>
                <a:lnTo>
                  <a:pt x="0" y="1371600"/>
                </a:lnTo>
                <a:close/>
              </a:path>
              <a:path w="5943600" h="2514600">
                <a:moveTo>
                  <a:pt x="3505200" y="990600"/>
                </a:moveTo>
                <a:lnTo>
                  <a:pt x="5943600" y="990600"/>
                </a:lnTo>
                <a:lnTo>
                  <a:pt x="5943600" y="609600"/>
                </a:lnTo>
                <a:lnTo>
                  <a:pt x="3505200" y="609600"/>
                </a:lnTo>
                <a:lnTo>
                  <a:pt x="3505200" y="990600"/>
                </a:lnTo>
                <a:close/>
              </a:path>
              <a:path w="5943600" h="2514600">
                <a:moveTo>
                  <a:pt x="3505200" y="609600"/>
                </a:moveTo>
                <a:lnTo>
                  <a:pt x="5943600" y="609600"/>
                </a:lnTo>
                <a:lnTo>
                  <a:pt x="5943600" y="0"/>
                </a:lnTo>
                <a:lnTo>
                  <a:pt x="3505200" y="0"/>
                </a:lnTo>
                <a:lnTo>
                  <a:pt x="3505200" y="609600"/>
                </a:lnTo>
                <a:close/>
              </a:path>
              <a:path w="5943600" h="2514600">
                <a:moveTo>
                  <a:pt x="3505200" y="1752600"/>
                </a:moveTo>
                <a:lnTo>
                  <a:pt x="5943600" y="1752600"/>
                </a:lnTo>
                <a:lnTo>
                  <a:pt x="5943600" y="1371600"/>
                </a:lnTo>
                <a:lnTo>
                  <a:pt x="3505200" y="1371600"/>
                </a:lnTo>
                <a:lnTo>
                  <a:pt x="3505200" y="1752600"/>
                </a:lnTo>
                <a:close/>
              </a:path>
              <a:path w="5943600" h="2514600">
                <a:moveTo>
                  <a:pt x="3505200" y="2133600"/>
                </a:moveTo>
                <a:lnTo>
                  <a:pt x="5943600" y="2133600"/>
                </a:lnTo>
                <a:lnTo>
                  <a:pt x="5943600" y="1752600"/>
                </a:lnTo>
                <a:lnTo>
                  <a:pt x="3505200" y="1752600"/>
                </a:lnTo>
                <a:lnTo>
                  <a:pt x="3505200" y="2133600"/>
                </a:lnTo>
                <a:close/>
              </a:path>
              <a:path w="5943600" h="2514600">
                <a:moveTo>
                  <a:pt x="3505200" y="1371600"/>
                </a:moveTo>
                <a:lnTo>
                  <a:pt x="5943600" y="1371600"/>
                </a:lnTo>
                <a:lnTo>
                  <a:pt x="5943600" y="990600"/>
                </a:lnTo>
                <a:lnTo>
                  <a:pt x="3505200" y="990600"/>
                </a:lnTo>
                <a:lnTo>
                  <a:pt x="3505200" y="1371600"/>
                </a:lnTo>
                <a:close/>
              </a:path>
              <a:path w="5943600" h="2514600">
                <a:moveTo>
                  <a:pt x="3505200" y="2514600"/>
                </a:moveTo>
                <a:lnTo>
                  <a:pt x="5943600" y="2514600"/>
                </a:lnTo>
                <a:lnTo>
                  <a:pt x="5943600" y="2133600"/>
                </a:lnTo>
                <a:lnTo>
                  <a:pt x="3505200" y="2133600"/>
                </a:lnTo>
                <a:lnTo>
                  <a:pt x="3505200" y="2514600"/>
                </a:lnTo>
                <a:close/>
              </a:path>
            </a:pathLst>
          </a:custGeom>
          <a:ln w="914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/>
              <a:t>3</a:t>
            </a:fld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7948" y="167132"/>
            <a:ext cx="53860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73250" algn="l"/>
              </a:tabLst>
            </a:pPr>
            <a:r>
              <a:rPr spc="-5" dirty="0"/>
              <a:t>Coin-Changing:	Analysis </a:t>
            </a:r>
            <a:r>
              <a:rPr dirty="0"/>
              <a:t>of</a:t>
            </a:r>
            <a:r>
              <a:rPr spc="-15" dirty="0"/>
              <a:t> </a:t>
            </a:r>
            <a:r>
              <a:rPr spc="-5" dirty="0"/>
              <a:t>Greedy</a:t>
            </a:r>
            <a:r>
              <a:rPr spc="5" dirty="0"/>
              <a:t> </a:t>
            </a:r>
            <a:r>
              <a:rPr spc="-5" dirty="0"/>
              <a:t>Algorithm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254" y="2442336"/>
            <a:ext cx="103631" cy="10820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6254" y="2773045"/>
            <a:ext cx="103631" cy="10820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88949" y="913002"/>
            <a:ext cx="6435725" cy="2005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  <a:tabLst>
                <a:tab pos="1509395" algn="l"/>
              </a:tabLst>
            </a:pPr>
            <a:r>
              <a:rPr sz="1800" spc="-5" dirty="0">
                <a:solidFill>
                  <a:srgbClr val="003399"/>
                </a:solidFill>
                <a:latin typeface="Comic Sans MS"/>
                <a:cs typeface="Comic Sans MS"/>
              </a:rPr>
              <a:t>Observation.	</a:t>
            </a:r>
            <a:r>
              <a:rPr sz="1800" spc="-5" dirty="0">
                <a:latin typeface="Comic Sans MS"/>
                <a:cs typeface="Comic Sans MS"/>
              </a:rPr>
              <a:t>Greedy algorithm is </a:t>
            </a:r>
            <a:r>
              <a:rPr sz="1800" dirty="0">
                <a:latin typeface="Comic Sans MS"/>
                <a:cs typeface="Comic Sans MS"/>
              </a:rPr>
              <a:t>sub-optimal </a:t>
            </a:r>
            <a:r>
              <a:rPr sz="1800" spc="-5" dirty="0">
                <a:latin typeface="Comic Sans MS"/>
                <a:cs typeface="Comic Sans MS"/>
              </a:rPr>
              <a:t>for </a:t>
            </a:r>
            <a:r>
              <a:rPr sz="1800" dirty="0">
                <a:latin typeface="Comic Sans MS"/>
                <a:cs typeface="Comic Sans MS"/>
              </a:rPr>
              <a:t>US postal </a:t>
            </a:r>
            <a:r>
              <a:rPr sz="1800" spc="-52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denominations:</a:t>
            </a:r>
            <a:r>
              <a:rPr sz="1800" spc="-30" dirty="0">
                <a:latin typeface="Comic Sans MS"/>
                <a:cs typeface="Comic Sans MS"/>
              </a:rPr>
              <a:t> </a:t>
            </a:r>
            <a:r>
              <a:rPr sz="1600" spc="-5" dirty="0">
                <a:latin typeface="Comic Sans MS"/>
                <a:cs typeface="Comic Sans MS"/>
              </a:rPr>
              <a:t>1, </a:t>
            </a:r>
            <a:r>
              <a:rPr sz="1600" spc="-10" dirty="0">
                <a:latin typeface="Comic Sans MS"/>
                <a:cs typeface="Comic Sans MS"/>
              </a:rPr>
              <a:t>10,</a:t>
            </a:r>
            <a:r>
              <a:rPr sz="1600" dirty="0">
                <a:latin typeface="Comic Sans MS"/>
                <a:cs typeface="Comic Sans MS"/>
              </a:rPr>
              <a:t> </a:t>
            </a:r>
            <a:r>
              <a:rPr sz="1600" spc="-10" dirty="0">
                <a:latin typeface="Comic Sans MS"/>
                <a:cs typeface="Comic Sans MS"/>
              </a:rPr>
              <a:t>21,</a:t>
            </a:r>
            <a:r>
              <a:rPr sz="1600" spc="5" dirty="0">
                <a:latin typeface="Comic Sans MS"/>
                <a:cs typeface="Comic Sans MS"/>
              </a:rPr>
              <a:t> </a:t>
            </a:r>
            <a:r>
              <a:rPr sz="1600" spc="-10" dirty="0">
                <a:latin typeface="Comic Sans MS"/>
                <a:cs typeface="Comic Sans MS"/>
              </a:rPr>
              <a:t>34, 70,</a:t>
            </a:r>
            <a:r>
              <a:rPr sz="1600" spc="-5" dirty="0">
                <a:latin typeface="Comic Sans MS"/>
                <a:cs typeface="Comic Sans MS"/>
              </a:rPr>
              <a:t> </a:t>
            </a:r>
            <a:r>
              <a:rPr sz="1600" spc="-10" dirty="0">
                <a:latin typeface="Comic Sans MS"/>
                <a:cs typeface="Comic Sans MS"/>
              </a:rPr>
              <a:t>100,</a:t>
            </a:r>
            <a:r>
              <a:rPr sz="1600" spc="5" dirty="0">
                <a:latin typeface="Comic Sans MS"/>
                <a:cs typeface="Comic Sans MS"/>
              </a:rPr>
              <a:t> </a:t>
            </a:r>
            <a:r>
              <a:rPr sz="1600" spc="-10" dirty="0">
                <a:latin typeface="Comic Sans MS"/>
                <a:cs typeface="Comic Sans MS"/>
              </a:rPr>
              <a:t>350,</a:t>
            </a:r>
            <a:r>
              <a:rPr sz="1600" dirty="0">
                <a:latin typeface="Comic Sans MS"/>
                <a:cs typeface="Comic Sans MS"/>
              </a:rPr>
              <a:t> </a:t>
            </a:r>
            <a:r>
              <a:rPr sz="1600" spc="-10" dirty="0">
                <a:latin typeface="Comic Sans MS"/>
                <a:cs typeface="Comic Sans MS"/>
              </a:rPr>
              <a:t>1225,</a:t>
            </a:r>
            <a:r>
              <a:rPr sz="1600" spc="-5" dirty="0">
                <a:latin typeface="Comic Sans MS"/>
                <a:cs typeface="Comic Sans MS"/>
              </a:rPr>
              <a:t> 1500</a:t>
            </a:r>
            <a:r>
              <a:rPr sz="1800" spc="-5" dirty="0">
                <a:latin typeface="Comic Sans MS"/>
                <a:cs typeface="Comic Sans MS"/>
              </a:rPr>
              <a:t>.</a:t>
            </a:r>
            <a:endParaRPr sz="1800">
              <a:latin typeface="Comic Sans MS"/>
              <a:cs typeface="Comic Sans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50">
              <a:latin typeface="Comic Sans MS"/>
              <a:cs typeface="Comic Sans MS"/>
            </a:endParaRPr>
          </a:p>
          <a:p>
            <a:pPr marL="12700">
              <a:lnSpc>
                <a:spcPct val="100000"/>
              </a:lnSpc>
              <a:tabLst>
                <a:tab pos="1911350" algn="l"/>
              </a:tabLst>
            </a:pPr>
            <a:r>
              <a:rPr sz="1800" dirty="0">
                <a:solidFill>
                  <a:srgbClr val="003399"/>
                </a:solidFill>
                <a:latin typeface="Comic Sans MS"/>
                <a:cs typeface="Comic Sans MS"/>
              </a:rPr>
              <a:t>Counterexample.	</a:t>
            </a:r>
            <a:r>
              <a:rPr sz="1800" spc="-5" dirty="0">
                <a:latin typeface="Comic Sans MS"/>
                <a:cs typeface="Comic Sans MS"/>
              </a:rPr>
              <a:t>140¢.</a:t>
            </a:r>
            <a:endParaRPr sz="1800">
              <a:latin typeface="Comic Sans MS"/>
              <a:cs typeface="Comic Sans MS"/>
            </a:endParaRPr>
          </a:p>
          <a:p>
            <a:pPr marL="358775">
              <a:lnSpc>
                <a:spcPct val="100000"/>
              </a:lnSpc>
              <a:spcBef>
                <a:spcPts val="434"/>
              </a:spcBef>
              <a:tabLst>
                <a:tab pos="1334135" algn="l"/>
              </a:tabLst>
            </a:pPr>
            <a:r>
              <a:rPr sz="1800" spc="-5" dirty="0">
                <a:latin typeface="Comic Sans MS"/>
                <a:cs typeface="Comic Sans MS"/>
              </a:rPr>
              <a:t>Greedy:	</a:t>
            </a:r>
            <a:r>
              <a:rPr sz="1800" dirty="0">
                <a:latin typeface="Comic Sans MS"/>
                <a:cs typeface="Comic Sans MS"/>
              </a:rPr>
              <a:t>100,</a:t>
            </a:r>
            <a:r>
              <a:rPr sz="1800" spc="-3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34,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1,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1,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1,</a:t>
            </a:r>
            <a:r>
              <a:rPr sz="1800" spc="-20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1,</a:t>
            </a:r>
            <a:r>
              <a:rPr sz="1800" spc="-5" dirty="0">
                <a:latin typeface="Comic Sans MS"/>
                <a:cs typeface="Comic Sans MS"/>
              </a:rPr>
              <a:t> </a:t>
            </a:r>
            <a:r>
              <a:rPr sz="1800" dirty="0">
                <a:latin typeface="Comic Sans MS"/>
                <a:cs typeface="Comic Sans MS"/>
              </a:rPr>
              <a:t>1,</a:t>
            </a:r>
            <a:r>
              <a:rPr sz="1800" spc="-10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1.</a:t>
            </a:r>
            <a:endParaRPr sz="1800">
              <a:latin typeface="Comic Sans MS"/>
              <a:cs typeface="Comic Sans MS"/>
            </a:endParaRPr>
          </a:p>
          <a:p>
            <a:pPr marL="358775">
              <a:lnSpc>
                <a:spcPct val="100000"/>
              </a:lnSpc>
              <a:spcBef>
                <a:spcPts val="445"/>
              </a:spcBef>
              <a:tabLst>
                <a:tab pos="1395730" algn="l"/>
              </a:tabLst>
            </a:pPr>
            <a:r>
              <a:rPr sz="1800" spc="-5" dirty="0">
                <a:latin typeface="Comic Sans MS"/>
                <a:cs typeface="Comic Sans MS"/>
              </a:rPr>
              <a:t>Optimal:	</a:t>
            </a:r>
            <a:r>
              <a:rPr sz="1800" dirty="0">
                <a:latin typeface="Comic Sans MS"/>
                <a:cs typeface="Comic Sans MS"/>
              </a:rPr>
              <a:t>70,</a:t>
            </a:r>
            <a:r>
              <a:rPr sz="1800" spc="-45" dirty="0">
                <a:latin typeface="Comic Sans MS"/>
                <a:cs typeface="Comic Sans MS"/>
              </a:rPr>
              <a:t> </a:t>
            </a:r>
            <a:r>
              <a:rPr sz="1800" spc="-5" dirty="0">
                <a:latin typeface="Comic Sans MS"/>
                <a:cs typeface="Comic Sans MS"/>
              </a:rPr>
              <a:t>70.</a:t>
            </a:r>
            <a:endParaRPr sz="1800">
              <a:latin typeface="Comic Sans MS"/>
              <a:cs typeface="Comic Sans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9164" y="3593591"/>
            <a:ext cx="890015" cy="101193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44923" y="4764023"/>
            <a:ext cx="758951" cy="95554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85388" y="4770120"/>
            <a:ext cx="758951" cy="95554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41391" y="3593591"/>
            <a:ext cx="822960" cy="103784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256276" y="4770120"/>
            <a:ext cx="1170431" cy="84886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10967" y="4757928"/>
            <a:ext cx="922019" cy="131521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865120" y="3645408"/>
            <a:ext cx="864107" cy="97993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52600" y="3645408"/>
            <a:ext cx="841248" cy="96011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053328" y="3593591"/>
            <a:ext cx="1423416" cy="943355"/>
          </a:xfrm>
          <a:prstGeom prst="rect">
            <a:avLst/>
          </a:prstGeom>
        </p:spPr>
      </p:pic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dirty="0"/>
              <a:t>4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D4D4D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4302</TotalTime>
  <Words>432</Words>
  <Application>Microsoft Office PowerPoint</Application>
  <PresentationFormat>On-screen Show (4:3)</PresentationFormat>
  <Paragraphs>58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Calibri</vt:lpstr>
      <vt:lpstr>Comic Sans MS</vt:lpstr>
      <vt:lpstr>Courier New</vt:lpstr>
      <vt:lpstr>Segoe UI</vt:lpstr>
      <vt:lpstr>Symbol</vt:lpstr>
      <vt:lpstr>Times New Roman</vt:lpstr>
      <vt:lpstr>Office Theme</vt:lpstr>
      <vt:lpstr>Coin Changing</vt:lpstr>
      <vt:lpstr>Coin-Changing: Greedy Algorithm</vt:lpstr>
      <vt:lpstr>Coin-Changing: Analysis of Greedy Algorithm</vt:lpstr>
      <vt:lpstr>Coin-Changing: Analysis of Greedy Algorithm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Trees</dc:title>
  <dc:creator>Kevin Wayne</dc:creator>
  <cp:lastModifiedBy>Nuzhat Tabassum</cp:lastModifiedBy>
  <cp:revision>2</cp:revision>
  <dcterms:created xsi:type="dcterms:W3CDTF">2024-06-29T18:01:32Z</dcterms:created>
  <dcterms:modified xsi:type="dcterms:W3CDTF">2024-07-04T05:04:10Z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2018-02-05T00:00:00Z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2024-06-29T00:00:00Z</vt:filetime>
  </property>
</Properties>
</file>