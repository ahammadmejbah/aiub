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3" r:id="rId1"/>
  </p:sldMasterIdLst>
  <p:notesMasterIdLst>
    <p:notesMasterId r:id="rId11"/>
  </p:notesMasterIdLst>
  <p:sldIdLst>
    <p:sldId id="290" r:id="rId2"/>
    <p:sldId id="257" r:id="rId3"/>
    <p:sldId id="292" r:id="rId4"/>
    <p:sldId id="270" r:id="rId5"/>
    <p:sldId id="291" r:id="rId6"/>
    <p:sldId id="268" r:id="rId7"/>
    <p:sldId id="271" r:id="rId8"/>
    <p:sldId id="272" r:id="rId9"/>
    <p:sldId id="27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F8F8E3-92EE-4E64-813E-69E829CD19ED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3ADE0A-8043-4C31-8480-902832B5B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095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ADE0A-8043-4C31-8480-902832B5B77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5253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0D0E1-E2CF-D219-995E-012754B13E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7E9A7C-2268-9930-A23D-FCD934A3B1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E23D5-FC51-85F0-2E05-652670C65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49A60-45BD-4B1E-95D7-5FCC9976C132}" type="datetime1">
              <a:rPr lang="en-US" smtClean="0"/>
              <a:t>6/5/2024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5B3718-80BA-3A9C-1078-D5CBEC226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SWAPNIL BISWAS, CSE, MIST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6C3940-A7CF-B5D8-400D-9CB3DA062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6D7EC-6BDF-4B22-9BB0-103CEB4B6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3535"/>
      </p:ext>
    </p:extLst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833B6-A832-09CE-53CC-58E1B32DF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265F1-12B2-201F-1661-9D737CD006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0349C0-2048-430F-A131-28DD8D1D2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87B38-7164-46E0-A586-D647EA3C2C95}" type="datetime1">
              <a:rPr lang="en-US" smtClean="0"/>
              <a:t>6/5/2024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05A6F-9CC9-25D3-EB7A-7628633C4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SWAPNIL BISWAS, CSE, MIST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FCC950-9B36-F4DB-C38E-CAC4E11BF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6D7EC-6BDF-4B22-9BB0-103CEB4B6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188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64707-6AE3-2005-320E-F1FC82B08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CCEEFA-9B70-029A-34DB-723AEB518F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5736AF-E037-4A36-4D3C-7F6C1355E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49A60-45BD-4B1E-95D7-5FCC9976C132}" type="datetime1">
              <a:rPr lang="en-US" smtClean="0"/>
              <a:t>6/5/2024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61D0F-0BF1-9576-66D9-29D093F1E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SWAPNIL BISWAS, CSE, MIST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E58786-F684-1716-A0AF-513D190D5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6D7EC-6BDF-4B22-9BB0-103CEB4B6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862176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DF22A-573B-3DC7-7D92-8F36BCE7B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45119-B91B-FB1D-A132-238B48E3FC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AE3532-365F-000C-0171-20D327E141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E84468-A8DD-F292-0D01-6B0B86E73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81031-98B6-402B-B78D-BB5A607ED0F0}" type="datetime1">
              <a:rPr lang="en-US" smtClean="0"/>
              <a:t>6/5/2024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441ACE-8256-22AF-75E5-55497C22B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SWAPNIL BISWAS, CSE, MIST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7FB404-BA5A-F0D7-64A5-8B1B8741B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6D7EC-6BDF-4B22-9BB0-103CEB4B6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563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A06ED-36DB-BB98-7B22-8C02922A2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C3A921-099C-1418-BC63-29664DC494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B1F644-1BBE-28C6-D0A5-A8594281E6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AD5FD9-4D2D-5650-5938-5FE5217C6B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B92D2D-00AC-023A-54A3-068AA60D13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EAE5C1-D41F-2BCF-4E33-40886E992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EF0DD-F87D-4822-90EE-67A3EDC9F4E7}" type="datetime1">
              <a:rPr lang="en-US" smtClean="0"/>
              <a:t>6/5/2024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46C0A8-1360-AAF7-4006-5CB5703C0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SWAPNIL BISWAS, CSE, MIST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5EAE4F-73C2-714A-3764-C12A68160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6D7EC-6BDF-4B22-9BB0-103CEB4B6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60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B06EA-0260-D310-13C7-8B374E6C3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3E03A7-ED9F-CD19-347B-597612817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41C30-3C4C-429F-9162-3FEDAAC640CA}" type="datetime1">
              <a:rPr lang="en-US" smtClean="0"/>
              <a:t>6/5/2024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67337C-106C-6685-0C93-86058A0D2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SWAPNIL BISWAS, CSE, MIST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7608AB-EDB9-E702-1F3C-A528492A8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6D7EC-6BDF-4B22-9BB0-103CEB4B6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43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B2D1EC-F307-6D8D-290B-928168251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5F14B-B6E3-4530-898E-C394844D33B1}" type="datetime1">
              <a:rPr lang="en-US" smtClean="0"/>
              <a:t>6/5/2024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CDCE4E-31C7-6060-09D4-52B66A7C3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SWAPNIL BISWAS, CSE, MIST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49339C-043D-EAEE-0F67-641D7D23A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6D7EC-6BDF-4B22-9BB0-103CEB4B6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948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354E2-E2D0-1BBC-F674-79B592C8F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BD624-47C6-D14F-514B-BAC31E0630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147F99-0123-B554-09C6-728B6810C0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F14E70-66AF-F920-2D84-A46EC4881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14272-29FA-4235-92FB-E335DBC0EFFC}" type="datetime1">
              <a:rPr lang="en-US" smtClean="0"/>
              <a:t>6/5/2024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89720B-498C-1F52-F028-3A5F6C01F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SWAPNIL BISWAS, CSE, MIST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FF6D7C-CD72-BB23-9DE3-5D7B82DFF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6D7EC-6BDF-4B22-9BB0-103CEB4B6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78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A99B4-98DB-9058-0DC7-97093A2B7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BC86EC-DAA3-985C-7F10-4F485FE055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8CDDD5-51F4-9CDC-AA60-1D02D4585F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7B408E-827B-1D28-A3E0-D23BD83ED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CBD8F-9B61-4C4D-8D60-8AD634F5F2F6}" type="datetime1">
              <a:rPr lang="en-US" smtClean="0"/>
              <a:t>6/5/2024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1C937E-F6A0-1233-D3FB-A9E880994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SWAPNIL BISWAS, CSE, MIST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D725D1-52F9-252D-0E13-327591A9B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6D7EC-6BDF-4B22-9BB0-103CEB4B6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17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3351F-75A2-4DF9-BB63-CEBBF6D68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C22618-78B0-094D-D9FD-218480BEB8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0384DD-55DB-7F4B-C9D0-0AE58578A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6810A-703B-4406-9DE2-8B1C970CC81F}" type="datetime1">
              <a:rPr lang="en-US" smtClean="0"/>
              <a:t>6/5/2024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C6D053-6E7B-EAEB-3666-B5F85E3A5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SWAPNIL BISWAS, CSE, MIST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BB5E75-0A5E-7148-3D47-203D49BBA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6D7EC-6BDF-4B22-9BB0-103CEB4B6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478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7CE1A9-F64C-4739-2688-EA1287A323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D3CFD2-7AA0-2159-144C-9DA4CB2161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4A347D-8459-73BE-1D13-73D43C38C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04410-E3CC-4062-B8BC-AD9BCE4C6FB3}" type="datetime1">
              <a:rPr lang="en-US" smtClean="0"/>
              <a:t>6/5/2024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96B45-AFB1-005B-D005-56C148147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SWAPNIL BISWAS, CSE, MIST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2F656-47C6-5A81-F529-5676AC8EC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6D7EC-6BDF-4B22-9BB0-103CEB4B6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950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761471-7D94-8141-1A79-BF167EEE6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6BB67E-492D-A182-0D38-DF2172423A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04108-A819-971A-4740-EFC8139339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449A60-45BD-4B1E-95D7-5FCC9976C132}" type="datetime1">
              <a:rPr lang="en-US" smtClean="0"/>
              <a:t>6/5/2024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B3D11B-8D6B-0EB4-73AC-292FB7A15F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SWAPNIL BISWAS, CSE, MIST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1ACA06-181E-5A6E-EE78-385AF0F777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6D7EC-6BDF-4B22-9BB0-103CEB4B6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213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200D56-719C-C70B-4102-3150C7E63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87B38-7164-46E0-A586-D647EA3C2C95}" type="datetime1">
              <a:rPr lang="en-US" smtClean="0"/>
              <a:t>6/5/2024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C221AC-7A44-2BD3-D9A3-EC58E34C1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4" y="6486289"/>
            <a:ext cx="6214273" cy="365125"/>
          </a:xfrm>
        </p:spPr>
        <p:txBody>
          <a:bodyPr/>
          <a:lstStyle/>
          <a:p>
            <a:r>
              <a:rPr lang="en-US" dirty="0"/>
              <a:t>Asst. Prof. Nuzhat Tabassum | Courtesy - SWAPNIL BISWAS, CSE, MIST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05121-2139-2760-F192-9FF6CE8BA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6D7EC-6BDF-4B22-9BB0-103CEB4B6DEA}" type="slidenum">
              <a:rPr lang="en-US" smtClean="0"/>
              <a:t>1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3626F3-8D17-9467-51A8-33C15940F888}"/>
              </a:ext>
            </a:extLst>
          </p:cNvPr>
          <p:cNvSpPr txBox="1"/>
          <p:nvPr/>
        </p:nvSpPr>
        <p:spPr>
          <a:xfrm>
            <a:off x="1326746" y="2340143"/>
            <a:ext cx="922972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MERGE SORT</a:t>
            </a:r>
            <a:endParaRPr lang="en-US" sz="60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E2D6457-7425-165F-C7E0-FD09DBECE4F7}"/>
              </a:ext>
            </a:extLst>
          </p:cNvPr>
          <p:cNvCxnSpPr>
            <a:cxnSpLocks/>
          </p:cNvCxnSpPr>
          <p:nvPr/>
        </p:nvCxnSpPr>
        <p:spPr>
          <a:xfrm>
            <a:off x="1326746" y="3785009"/>
            <a:ext cx="9950854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3813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DIVIDE AND CONQUER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E8436-78DE-467C-BB0A-3CCD80F57D49}" type="datetime1">
              <a:rPr lang="en-US" smtClean="0"/>
              <a:t>6/5/2024</a:t>
            </a:fld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6D7EC-6BDF-4B22-9BB0-103CEB4B6DEA}" type="slidenum">
              <a:rPr lang="en-US" smtClean="0"/>
              <a:t>2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097280" y="1880075"/>
            <a:ext cx="49746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Another type of algorithm design paradigm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80185"/>
            <a:ext cx="11769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1608" y="2680295"/>
            <a:ext cx="49402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Divide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problems into sub problems that are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similar type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main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1608" y="3455246"/>
            <a:ext cx="49402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Conquer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sub problems by solving them</a:t>
            </a:r>
            <a:endParaRPr lang="en-US" sz="2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71608" y="4222117"/>
            <a:ext cx="49402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Combine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conquered sub problems to build the solution of original problem</a:t>
            </a:r>
            <a:endParaRPr lang="en-US" sz="2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8930356" y="2415375"/>
            <a:ext cx="529839" cy="529839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7362772" y="3358044"/>
            <a:ext cx="430706" cy="430706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6905004" y="4133585"/>
            <a:ext cx="295396" cy="295396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8979922" y="3358044"/>
            <a:ext cx="430706" cy="430706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10597072" y="3358044"/>
            <a:ext cx="430706" cy="430706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7444386" y="4133585"/>
            <a:ext cx="295396" cy="295396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7983768" y="4133585"/>
            <a:ext cx="295396" cy="295396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8523150" y="4133585"/>
            <a:ext cx="295396" cy="295396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9062532" y="4133585"/>
            <a:ext cx="295396" cy="295396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9601914" y="4133585"/>
            <a:ext cx="295396" cy="295396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10149128" y="4133585"/>
            <a:ext cx="295396" cy="295396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10688510" y="4133585"/>
            <a:ext cx="295396" cy="295396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11227892" y="4133585"/>
            <a:ext cx="295396" cy="295396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Arrow Connector 40"/>
          <p:cNvCxnSpPr>
            <a:stCxn id="10" idx="2"/>
            <a:endCxn id="12" idx="0"/>
          </p:cNvCxnSpPr>
          <p:nvPr/>
        </p:nvCxnSpPr>
        <p:spPr>
          <a:xfrm flipH="1">
            <a:off x="7578125" y="2680295"/>
            <a:ext cx="1352231" cy="67774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10" idx="4"/>
            <a:endCxn id="30" idx="0"/>
          </p:cNvCxnSpPr>
          <p:nvPr/>
        </p:nvCxnSpPr>
        <p:spPr>
          <a:xfrm flipH="1">
            <a:off x="9195275" y="2945214"/>
            <a:ext cx="1" cy="41283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10" idx="6"/>
            <a:endCxn id="31" idx="0"/>
          </p:cNvCxnSpPr>
          <p:nvPr/>
        </p:nvCxnSpPr>
        <p:spPr>
          <a:xfrm>
            <a:off x="9460195" y="2680295"/>
            <a:ext cx="1352230" cy="67774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stCxn id="12" idx="3"/>
            <a:endCxn id="15" idx="0"/>
          </p:cNvCxnSpPr>
          <p:nvPr/>
        </p:nvCxnSpPr>
        <p:spPr>
          <a:xfrm flipH="1">
            <a:off x="7052702" y="3725675"/>
            <a:ext cx="373145" cy="40791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12" idx="4"/>
            <a:endCxn id="32" idx="0"/>
          </p:cNvCxnSpPr>
          <p:nvPr/>
        </p:nvCxnSpPr>
        <p:spPr>
          <a:xfrm>
            <a:off x="7578125" y="3788750"/>
            <a:ext cx="13959" cy="34483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stCxn id="12" idx="5"/>
            <a:endCxn id="33" idx="0"/>
          </p:cNvCxnSpPr>
          <p:nvPr/>
        </p:nvCxnSpPr>
        <p:spPr>
          <a:xfrm>
            <a:off x="7730403" y="3725675"/>
            <a:ext cx="401063" cy="40791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30" idx="3"/>
            <a:endCxn id="34" idx="0"/>
          </p:cNvCxnSpPr>
          <p:nvPr/>
        </p:nvCxnSpPr>
        <p:spPr>
          <a:xfrm flipH="1">
            <a:off x="8670848" y="3725675"/>
            <a:ext cx="372149" cy="40791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30" idx="4"/>
            <a:endCxn id="35" idx="0"/>
          </p:cNvCxnSpPr>
          <p:nvPr/>
        </p:nvCxnSpPr>
        <p:spPr>
          <a:xfrm>
            <a:off x="9195275" y="3788750"/>
            <a:ext cx="14955" cy="34483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30" idx="5"/>
            <a:endCxn id="36" idx="0"/>
          </p:cNvCxnSpPr>
          <p:nvPr/>
        </p:nvCxnSpPr>
        <p:spPr>
          <a:xfrm>
            <a:off x="9347553" y="3725675"/>
            <a:ext cx="402059" cy="40791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>
            <a:stCxn id="31" idx="3"/>
            <a:endCxn id="37" idx="0"/>
          </p:cNvCxnSpPr>
          <p:nvPr/>
        </p:nvCxnSpPr>
        <p:spPr>
          <a:xfrm flipH="1">
            <a:off x="10296826" y="3725675"/>
            <a:ext cx="363321" cy="40791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>
            <a:stCxn id="31" idx="4"/>
            <a:endCxn id="38" idx="0"/>
          </p:cNvCxnSpPr>
          <p:nvPr/>
        </p:nvCxnSpPr>
        <p:spPr>
          <a:xfrm>
            <a:off x="10812425" y="3788750"/>
            <a:ext cx="23783" cy="34483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>
            <a:stCxn id="31" idx="5"/>
            <a:endCxn id="39" idx="0"/>
          </p:cNvCxnSpPr>
          <p:nvPr/>
        </p:nvCxnSpPr>
        <p:spPr>
          <a:xfrm>
            <a:off x="10964703" y="3725675"/>
            <a:ext cx="410887" cy="40791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1097280" y="4988988"/>
            <a:ext cx="5698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base case of the recursions are of constant size</a:t>
            </a:r>
          </a:p>
        </p:txBody>
      </p:sp>
      <p:sp>
        <p:nvSpPr>
          <p:cNvPr id="40" name="Oval 39"/>
          <p:cNvSpPr/>
          <p:nvPr/>
        </p:nvSpPr>
        <p:spPr>
          <a:xfrm>
            <a:off x="8930355" y="2421204"/>
            <a:ext cx="529839" cy="529839"/>
          </a:xfrm>
          <a:prstGeom prst="ellipse">
            <a:avLst/>
          </a:prstGeom>
          <a:solidFill>
            <a:srgbClr val="FFC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/>
          <p:cNvSpPr/>
          <p:nvPr/>
        </p:nvSpPr>
        <p:spPr>
          <a:xfrm>
            <a:off x="7365969" y="3358044"/>
            <a:ext cx="430706" cy="430706"/>
          </a:xfrm>
          <a:prstGeom prst="ellipse">
            <a:avLst/>
          </a:prstGeom>
          <a:solidFill>
            <a:srgbClr val="FFC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/>
          <p:cNvSpPr/>
          <p:nvPr/>
        </p:nvSpPr>
        <p:spPr>
          <a:xfrm>
            <a:off x="6903579" y="4137335"/>
            <a:ext cx="295396" cy="295396"/>
          </a:xfrm>
          <a:prstGeom prst="ellipse">
            <a:avLst/>
          </a:prstGeom>
          <a:solidFill>
            <a:srgbClr val="FFC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6904395" y="4137335"/>
            <a:ext cx="295396" cy="295396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/>
          <p:cNvSpPr/>
          <p:nvPr/>
        </p:nvSpPr>
        <p:spPr>
          <a:xfrm>
            <a:off x="7448890" y="4133585"/>
            <a:ext cx="295396" cy="295396"/>
          </a:xfrm>
          <a:prstGeom prst="ellipse">
            <a:avLst/>
          </a:prstGeom>
          <a:solidFill>
            <a:srgbClr val="FFC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/>
          <p:cNvSpPr/>
          <p:nvPr/>
        </p:nvSpPr>
        <p:spPr>
          <a:xfrm>
            <a:off x="7450793" y="4133585"/>
            <a:ext cx="295396" cy="295396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/>
          <p:cNvSpPr/>
          <p:nvPr/>
        </p:nvSpPr>
        <p:spPr>
          <a:xfrm>
            <a:off x="7983768" y="4133585"/>
            <a:ext cx="295396" cy="295396"/>
          </a:xfrm>
          <a:prstGeom prst="ellipse">
            <a:avLst/>
          </a:prstGeom>
          <a:solidFill>
            <a:srgbClr val="FFC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7983768" y="4133585"/>
            <a:ext cx="295396" cy="295396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/>
          <p:cNvSpPr/>
          <p:nvPr/>
        </p:nvSpPr>
        <p:spPr>
          <a:xfrm>
            <a:off x="7361632" y="3358044"/>
            <a:ext cx="430706" cy="430706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/>
          <p:cNvSpPr/>
          <p:nvPr/>
        </p:nvSpPr>
        <p:spPr>
          <a:xfrm>
            <a:off x="8979922" y="3352215"/>
            <a:ext cx="430706" cy="430706"/>
          </a:xfrm>
          <a:prstGeom prst="ellipse">
            <a:avLst/>
          </a:prstGeom>
          <a:solidFill>
            <a:srgbClr val="FFC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/>
          <p:cNvSpPr/>
          <p:nvPr/>
        </p:nvSpPr>
        <p:spPr>
          <a:xfrm>
            <a:off x="8523150" y="4134787"/>
            <a:ext cx="295396" cy="295396"/>
          </a:xfrm>
          <a:prstGeom prst="ellipse">
            <a:avLst/>
          </a:prstGeom>
          <a:solidFill>
            <a:srgbClr val="FFC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/>
          <p:cNvSpPr/>
          <p:nvPr/>
        </p:nvSpPr>
        <p:spPr>
          <a:xfrm>
            <a:off x="8521247" y="4135696"/>
            <a:ext cx="295396" cy="295396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/>
          <p:cNvSpPr/>
          <p:nvPr/>
        </p:nvSpPr>
        <p:spPr>
          <a:xfrm>
            <a:off x="9062532" y="4134787"/>
            <a:ext cx="295396" cy="295396"/>
          </a:xfrm>
          <a:prstGeom prst="ellipse">
            <a:avLst/>
          </a:prstGeom>
          <a:solidFill>
            <a:srgbClr val="FFC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/>
          <p:cNvSpPr/>
          <p:nvPr/>
        </p:nvSpPr>
        <p:spPr>
          <a:xfrm>
            <a:off x="9059506" y="4132676"/>
            <a:ext cx="295396" cy="295396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/>
          <p:cNvSpPr/>
          <p:nvPr/>
        </p:nvSpPr>
        <p:spPr>
          <a:xfrm>
            <a:off x="9601914" y="4132676"/>
            <a:ext cx="295396" cy="295396"/>
          </a:xfrm>
          <a:prstGeom prst="ellipse">
            <a:avLst/>
          </a:prstGeom>
          <a:solidFill>
            <a:srgbClr val="FFC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/>
          <p:cNvSpPr/>
          <p:nvPr/>
        </p:nvSpPr>
        <p:spPr>
          <a:xfrm>
            <a:off x="9604878" y="4131767"/>
            <a:ext cx="295396" cy="295396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/>
          <p:cNvSpPr/>
          <p:nvPr/>
        </p:nvSpPr>
        <p:spPr>
          <a:xfrm>
            <a:off x="8984502" y="3351634"/>
            <a:ext cx="430706" cy="430706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/>
          <p:cNvSpPr/>
          <p:nvPr/>
        </p:nvSpPr>
        <p:spPr>
          <a:xfrm>
            <a:off x="10597072" y="3351634"/>
            <a:ext cx="430706" cy="430706"/>
          </a:xfrm>
          <a:prstGeom prst="ellipse">
            <a:avLst/>
          </a:prstGeom>
          <a:solidFill>
            <a:srgbClr val="FFC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/>
          <p:cNvSpPr/>
          <p:nvPr/>
        </p:nvSpPr>
        <p:spPr>
          <a:xfrm>
            <a:off x="10157599" y="4130944"/>
            <a:ext cx="295396" cy="295396"/>
          </a:xfrm>
          <a:prstGeom prst="ellipse">
            <a:avLst/>
          </a:prstGeom>
          <a:solidFill>
            <a:srgbClr val="FFC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/>
          <p:cNvSpPr/>
          <p:nvPr/>
        </p:nvSpPr>
        <p:spPr>
          <a:xfrm>
            <a:off x="10153364" y="4130944"/>
            <a:ext cx="295396" cy="295396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/>
          <p:cNvSpPr/>
          <p:nvPr/>
        </p:nvSpPr>
        <p:spPr>
          <a:xfrm>
            <a:off x="10687396" y="4133585"/>
            <a:ext cx="295396" cy="295396"/>
          </a:xfrm>
          <a:prstGeom prst="ellipse">
            <a:avLst/>
          </a:prstGeom>
          <a:solidFill>
            <a:srgbClr val="FFC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/>
          <p:cNvSpPr/>
          <p:nvPr/>
        </p:nvSpPr>
        <p:spPr>
          <a:xfrm>
            <a:off x="10692746" y="4131219"/>
            <a:ext cx="295396" cy="295396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/>
          <p:cNvSpPr/>
          <p:nvPr/>
        </p:nvSpPr>
        <p:spPr>
          <a:xfrm>
            <a:off x="11235772" y="4137335"/>
            <a:ext cx="295396" cy="295396"/>
          </a:xfrm>
          <a:prstGeom prst="ellipse">
            <a:avLst/>
          </a:prstGeom>
          <a:solidFill>
            <a:srgbClr val="FFC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/>
          <p:cNvSpPr/>
          <p:nvPr/>
        </p:nvSpPr>
        <p:spPr>
          <a:xfrm>
            <a:off x="11230422" y="4130944"/>
            <a:ext cx="295396" cy="295396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/>
          <p:cNvSpPr/>
          <p:nvPr/>
        </p:nvSpPr>
        <p:spPr>
          <a:xfrm>
            <a:off x="10599122" y="3351634"/>
            <a:ext cx="430706" cy="430706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/>
          <p:cNvSpPr/>
          <p:nvPr/>
        </p:nvSpPr>
        <p:spPr>
          <a:xfrm>
            <a:off x="8930354" y="2420280"/>
            <a:ext cx="529839" cy="529839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554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5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 animBg="1"/>
      <p:bldP spid="12" grpId="0" animBg="1"/>
      <p:bldP spid="15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64" grpId="0"/>
      <p:bldP spid="40" grpId="0" animBg="1"/>
      <p:bldP spid="52" grpId="0" animBg="1"/>
      <p:bldP spid="54" grpId="0" animBg="1"/>
      <p:bldP spid="56" grpId="0" animBg="1"/>
      <p:bldP spid="58" grpId="0" animBg="1"/>
      <p:bldP spid="62" grpId="0" animBg="1"/>
      <p:bldP spid="65" grpId="0" animBg="1"/>
      <p:bldP spid="66" grpId="0" animBg="1"/>
      <p:bldP spid="68" grpId="0" animBg="1"/>
      <p:bldP spid="69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37B07E-76F2-83B4-66A9-D10BD86B6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87B38-7164-46E0-A586-D647EA3C2C95}" type="datetime1">
              <a:rPr lang="en-US" smtClean="0"/>
              <a:t>6/5/2024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084BA60-6AB4-8746-338F-CF5B9CFFD8A9}"/>
              </a:ext>
            </a:extLst>
          </p:cNvPr>
          <p:cNvSpPr txBox="1">
            <a:spLocks/>
          </p:cNvSpPr>
          <p:nvPr/>
        </p:nvSpPr>
        <p:spPr>
          <a:xfrm>
            <a:off x="741290" y="380336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DIVIDE AND CONQUER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B1ACD60-FCB1-F434-D05A-47DCD5A81527}"/>
              </a:ext>
            </a:extLst>
          </p:cNvPr>
          <p:cNvSpPr/>
          <p:nvPr/>
        </p:nvSpPr>
        <p:spPr>
          <a:xfrm>
            <a:off x="4366901" y="2076628"/>
            <a:ext cx="2734654" cy="4956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88AECA-7607-4A77-0284-64877C0E2D74}"/>
              </a:ext>
            </a:extLst>
          </p:cNvPr>
          <p:cNvSpPr txBox="1"/>
          <p:nvPr/>
        </p:nvSpPr>
        <p:spPr>
          <a:xfrm>
            <a:off x="4626725" y="2116790"/>
            <a:ext cx="22047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problem of size 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942296E-C01E-3573-640B-CAE16AFECD44}"/>
              </a:ext>
            </a:extLst>
          </p:cNvPr>
          <p:cNvSpPr/>
          <p:nvPr/>
        </p:nvSpPr>
        <p:spPr>
          <a:xfrm>
            <a:off x="2092296" y="3143678"/>
            <a:ext cx="2734654" cy="4956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487A0D9-C20C-64CB-10A6-AC540ACAE3D1}"/>
              </a:ext>
            </a:extLst>
          </p:cNvPr>
          <p:cNvSpPr/>
          <p:nvPr/>
        </p:nvSpPr>
        <p:spPr>
          <a:xfrm>
            <a:off x="6782512" y="3143678"/>
            <a:ext cx="2734654" cy="4956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473169-4A3A-6CD7-0CDD-C3F154BFECB9}"/>
              </a:ext>
            </a:extLst>
          </p:cNvPr>
          <p:cNvSpPr/>
          <p:nvPr/>
        </p:nvSpPr>
        <p:spPr>
          <a:xfrm>
            <a:off x="2092296" y="4381394"/>
            <a:ext cx="2734654" cy="4956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3819AD2-AA71-1AEB-03C4-8752F14C2910}"/>
              </a:ext>
            </a:extLst>
          </p:cNvPr>
          <p:cNvSpPr/>
          <p:nvPr/>
        </p:nvSpPr>
        <p:spPr>
          <a:xfrm>
            <a:off x="6782512" y="4381394"/>
            <a:ext cx="2734654" cy="4956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CEBEDC9-7CE4-D28B-C7D6-55E005DCD66C}"/>
              </a:ext>
            </a:extLst>
          </p:cNvPr>
          <p:cNvSpPr/>
          <p:nvPr/>
        </p:nvSpPr>
        <p:spPr>
          <a:xfrm>
            <a:off x="4366901" y="5562850"/>
            <a:ext cx="2734654" cy="4956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D45C9CE-E779-7254-41F1-5ACB294FB9D9}"/>
              </a:ext>
            </a:extLst>
          </p:cNvPr>
          <p:cNvCxnSpPr>
            <a:stCxn id="8" idx="1"/>
            <a:endCxn id="10" idx="0"/>
          </p:cNvCxnSpPr>
          <p:nvPr/>
        </p:nvCxnSpPr>
        <p:spPr>
          <a:xfrm flipH="1">
            <a:off x="3459623" y="2324456"/>
            <a:ext cx="907278" cy="819222"/>
          </a:xfrm>
          <a:prstGeom prst="straightConnector1">
            <a:avLst/>
          </a:prstGeom>
          <a:ln w="381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59874A0-A02B-0772-1700-80D2C56986BE}"/>
              </a:ext>
            </a:extLst>
          </p:cNvPr>
          <p:cNvCxnSpPr>
            <a:stCxn id="8" idx="3"/>
            <a:endCxn id="11" idx="0"/>
          </p:cNvCxnSpPr>
          <p:nvPr/>
        </p:nvCxnSpPr>
        <p:spPr>
          <a:xfrm>
            <a:off x="7101555" y="2324456"/>
            <a:ext cx="1048284" cy="819222"/>
          </a:xfrm>
          <a:prstGeom prst="straightConnector1">
            <a:avLst/>
          </a:prstGeom>
          <a:ln w="381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43DE0D6-F76C-D146-7298-DB846013298E}"/>
              </a:ext>
            </a:extLst>
          </p:cNvPr>
          <p:cNvCxnSpPr>
            <a:stCxn id="10" idx="2"/>
            <a:endCxn id="12" idx="0"/>
          </p:cNvCxnSpPr>
          <p:nvPr/>
        </p:nvCxnSpPr>
        <p:spPr>
          <a:xfrm>
            <a:off x="3459623" y="3639334"/>
            <a:ext cx="0" cy="742060"/>
          </a:xfrm>
          <a:prstGeom prst="straightConnector1">
            <a:avLst/>
          </a:prstGeom>
          <a:ln w="381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C53F3D0-F6EB-180A-AA25-02FDD1CE58F3}"/>
              </a:ext>
            </a:extLst>
          </p:cNvPr>
          <p:cNvCxnSpPr>
            <a:stCxn id="11" idx="2"/>
            <a:endCxn id="13" idx="0"/>
          </p:cNvCxnSpPr>
          <p:nvPr/>
        </p:nvCxnSpPr>
        <p:spPr>
          <a:xfrm>
            <a:off x="8149839" y="3639334"/>
            <a:ext cx="0" cy="742060"/>
          </a:xfrm>
          <a:prstGeom prst="straightConnector1">
            <a:avLst/>
          </a:prstGeom>
          <a:ln w="381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4684AA9-90FF-6BDE-7CF0-87BA677D0290}"/>
              </a:ext>
            </a:extLst>
          </p:cNvPr>
          <p:cNvCxnSpPr>
            <a:stCxn id="12" idx="2"/>
            <a:endCxn id="14" idx="1"/>
          </p:cNvCxnSpPr>
          <p:nvPr/>
        </p:nvCxnSpPr>
        <p:spPr>
          <a:xfrm>
            <a:off x="3459623" y="4877050"/>
            <a:ext cx="907278" cy="933628"/>
          </a:xfrm>
          <a:prstGeom prst="straightConnector1">
            <a:avLst/>
          </a:prstGeom>
          <a:ln w="381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061CDD8-22D6-3C9E-D6F1-C240FA3D5998}"/>
              </a:ext>
            </a:extLst>
          </p:cNvPr>
          <p:cNvCxnSpPr>
            <a:stCxn id="13" idx="2"/>
            <a:endCxn id="14" idx="3"/>
          </p:cNvCxnSpPr>
          <p:nvPr/>
        </p:nvCxnSpPr>
        <p:spPr>
          <a:xfrm flipH="1">
            <a:off x="7101555" y="4877050"/>
            <a:ext cx="1048284" cy="933628"/>
          </a:xfrm>
          <a:prstGeom prst="straightConnector1">
            <a:avLst/>
          </a:prstGeom>
          <a:ln w="381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081E402-F272-7161-2669-265EA0376F8F}"/>
              </a:ext>
            </a:extLst>
          </p:cNvPr>
          <p:cNvSpPr txBox="1"/>
          <p:nvPr/>
        </p:nvSpPr>
        <p:spPr>
          <a:xfrm>
            <a:off x="2047890" y="3198322"/>
            <a:ext cx="28234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sub problem of size n/2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9370B5E-F1B8-A496-542D-DDDD424AAC39}"/>
              </a:ext>
            </a:extLst>
          </p:cNvPr>
          <p:cNvSpPr txBox="1"/>
          <p:nvPr/>
        </p:nvSpPr>
        <p:spPr>
          <a:xfrm>
            <a:off x="6782512" y="3179462"/>
            <a:ext cx="28234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sub problem of size n/2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2E9E2A3-2882-A3F4-FDBF-BB57A93BC037}"/>
              </a:ext>
            </a:extLst>
          </p:cNvPr>
          <p:cNvSpPr txBox="1"/>
          <p:nvPr/>
        </p:nvSpPr>
        <p:spPr>
          <a:xfrm>
            <a:off x="2047890" y="4429167"/>
            <a:ext cx="28440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 to sub problem 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53E1C35-670B-BE47-D48D-EE247F82557F}"/>
              </a:ext>
            </a:extLst>
          </p:cNvPr>
          <p:cNvSpPr txBox="1"/>
          <p:nvPr/>
        </p:nvSpPr>
        <p:spPr>
          <a:xfrm>
            <a:off x="6761929" y="4429167"/>
            <a:ext cx="28440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 to sub problem 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23C26AC-703F-CBB3-C1AD-39966EC4EB31}"/>
              </a:ext>
            </a:extLst>
          </p:cNvPr>
          <p:cNvSpPr txBox="1"/>
          <p:nvPr/>
        </p:nvSpPr>
        <p:spPr>
          <a:xfrm>
            <a:off x="4366901" y="5612270"/>
            <a:ext cx="28071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 to main problem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575A31E-EED1-026B-5D0C-9BE2F00AB0DE}"/>
              </a:ext>
            </a:extLst>
          </p:cNvPr>
          <p:cNvSpPr txBox="1"/>
          <p:nvPr/>
        </p:nvSpPr>
        <p:spPr>
          <a:xfrm>
            <a:off x="2933020" y="2367035"/>
            <a:ext cx="11128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DIVIDE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42B57E9-3E67-5035-E395-5B6330CD54BB}"/>
              </a:ext>
            </a:extLst>
          </p:cNvPr>
          <p:cNvSpPr txBox="1"/>
          <p:nvPr/>
        </p:nvSpPr>
        <p:spPr>
          <a:xfrm>
            <a:off x="1892101" y="3781470"/>
            <a:ext cx="14975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CONQUER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DD81979-2371-2E86-325B-7EB0ECF7D0F6}"/>
              </a:ext>
            </a:extLst>
          </p:cNvPr>
          <p:cNvSpPr txBox="1"/>
          <p:nvPr/>
        </p:nvSpPr>
        <p:spPr>
          <a:xfrm>
            <a:off x="2467034" y="5212129"/>
            <a:ext cx="14398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COMBINE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2A68C01A-DECD-0D4A-2D3C-085745FE11A1}"/>
              </a:ext>
            </a:extLst>
          </p:cNvPr>
          <p:cNvSpPr txBox="1">
            <a:spLocks/>
          </p:cNvSpPr>
          <p:nvPr/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2D6D7EC-6BDF-4B22-9BB0-103CEB4B6DEA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779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" name="Straight Arrow Connector 188"/>
          <p:cNvCxnSpPr>
            <a:stCxn id="67" idx="3"/>
          </p:cNvCxnSpPr>
          <p:nvPr/>
        </p:nvCxnSpPr>
        <p:spPr>
          <a:xfrm>
            <a:off x="4699965" y="3489657"/>
            <a:ext cx="413550" cy="835551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Arrow Connector 190"/>
          <p:cNvCxnSpPr>
            <a:stCxn id="82" idx="1"/>
          </p:cNvCxnSpPr>
          <p:nvPr/>
        </p:nvCxnSpPr>
        <p:spPr>
          <a:xfrm flipH="1">
            <a:off x="8770721" y="3429014"/>
            <a:ext cx="406252" cy="894445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/>
          <p:cNvCxnSpPr>
            <a:stCxn id="19" idx="1"/>
          </p:cNvCxnSpPr>
          <p:nvPr/>
        </p:nvCxnSpPr>
        <p:spPr>
          <a:xfrm flipH="1">
            <a:off x="3699490" y="2269121"/>
            <a:ext cx="982461" cy="964129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>
            <a:stCxn id="63" idx="1"/>
          </p:cNvCxnSpPr>
          <p:nvPr/>
        </p:nvCxnSpPr>
        <p:spPr>
          <a:xfrm flipH="1">
            <a:off x="2279260" y="3489657"/>
            <a:ext cx="382897" cy="875648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96" idx="1"/>
            <a:endCxn id="113" idx="0"/>
          </p:cNvCxnSpPr>
          <p:nvPr/>
        </p:nvCxnSpPr>
        <p:spPr>
          <a:xfrm flipH="1">
            <a:off x="1537646" y="4626258"/>
            <a:ext cx="228161" cy="1156934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97" idx="3"/>
            <a:endCxn id="114" idx="0"/>
          </p:cNvCxnSpPr>
          <p:nvPr/>
        </p:nvCxnSpPr>
        <p:spPr>
          <a:xfrm>
            <a:off x="2784711" y="4626258"/>
            <a:ext cx="305042" cy="1156934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5" idx="1"/>
            <a:endCxn id="122" idx="0"/>
          </p:cNvCxnSpPr>
          <p:nvPr/>
        </p:nvCxnSpPr>
        <p:spPr>
          <a:xfrm flipH="1">
            <a:off x="4387288" y="4611449"/>
            <a:ext cx="213253" cy="1176140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106" idx="3"/>
            <a:endCxn id="123" idx="0"/>
          </p:cNvCxnSpPr>
          <p:nvPr/>
        </p:nvCxnSpPr>
        <p:spPr>
          <a:xfrm>
            <a:off x="5619445" y="4611449"/>
            <a:ext cx="319950" cy="1176140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126" idx="1"/>
            <a:endCxn id="130" idx="0"/>
          </p:cNvCxnSpPr>
          <p:nvPr/>
        </p:nvCxnSpPr>
        <p:spPr>
          <a:xfrm flipH="1">
            <a:off x="8046770" y="4620950"/>
            <a:ext cx="228173" cy="1162242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27" idx="3"/>
            <a:endCxn id="131" idx="0"/>
          </p:cNvCxnSpPr>
          <p:nvPr/>
        </p:nvCxnSpPr>
        <p:spPr>
          <a:xfrm>
            <a:off x="9293847" y="4620950"/>
            <a:ext cx="305030" cy="1162242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Arrow Connector 168"/>
          <p:cNvCxnSpPr>
            <a:stCxn id="84" idx="3"/>
            <a:endCxn id="138" idx="0"/>
          </p:cNvCxnSpPr>
          <p:nvPr/>
        </p:nvCxnSpPr>
        <p:spPr>
          <a:xfrm>
            <a:off x="10705329" y="3429014"/>
            <a:ext cx="530250" cy="948436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/>
          <p:cNvCxnSpPr>
            <a:stCxn id="25" idx="3"/>
            <a:endCxn id="83" idx="0"/>
          </p:cNvCxnSpPr>
          <p:nvPr/>
        </p:nvCxnSpPr>
        <p:spPr>
          <a:xfrm>
            <a:off x="8248115" y="2269121"/>
            <a:ext cx="1693036" cy="905167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MERGE  SORT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4EA67-5585-4229-8E11-950A460F43E6}" type="datetime1">
              <a:rPr lang="en-US" smtClean="0"/>
              <a:t>6/5/2024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E2171E7-C184-6BE9-336D-CEB857435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4" y="6459785"/>
            <a:ext cx="621427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6D7EC-6BDF-4B22-9BB0-103CEB4B6DEA}" type="slidenum">
              <a:rPr lang="en-US" smtClean="0"/>
              <a:t>4</a:t>
            </a:fld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4681951" y="2014395"/>
            <a:ext cx="509452" cy="50945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5191403" y="2014395"/>
            <a:ext cx="509452" cy="50945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5700855" y="2014395"/>
            <a:ext cx="509452" cy="50945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6210307" y="2014395"/>
            <a:ext cx="509452" cy="50945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6719759" y="2014395"/>
            <a:ext cx="509452" cy="50945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7229211" y="2014395"/>
            <a:ext cx="509452" cy="50945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7738663" y="2014395"/>
            <a:ext cx="509452" cy="50945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7323220" y="2073357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21515" y="208362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82792" y="2073357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95963" y="206309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22959" y="208362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94258" y="2073357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7429" y="206309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11804" y="186303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81951" y="2559623"/>
            <a:ext cx="509452" cy="50945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5191403" y="2559623"/>
            <a:ext cx="509452" cy="50945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5700855" y="2559623"/>
            <a:ext cx="509452" cy="50945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6210307" y="2559623"/>
            <a:ext cx="509452" cy="50945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6719759" y="2559623"/>
            <a:ext cx="509452" cy="50945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7229211" y="2559623"/>
            <a:ext cx="509452" cy="50945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7738663" y="2559623"/>
            <a:ext cx="509452" cy="50945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/>
          <p:cNvSpPr txBox="1"/>
          <p:nvPr/>
        </p:nvSpPr>
        <p:spPr>
          <a:xfrm>
            <a:off x="8194199" y="189196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662157" y="3234931"/>
            <a:ext cx="509452" cy="50945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>
            <a:off x="3171609" y="3234931"/>
            <a:ext cx="509452" cy="50945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/>
          <p:cNvSpPr/>
          <p:nvPr/>
        </p:nvSpPr>
        <p:spPr>
          <a:xfrm>
            <a:off x="3681061" y="3234931"/>
            <a:ext cx="509452" cy="50945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/>
          <p:cNvSpPr/>
          <p:nvPr/>
        </p:nvSpPr>
        <p:spPr>
          <a:xfrm>
            <a:off x="4190513" y="3234931"/>
            <a:ext cx="509452" cy="50945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/>
          <p:cNvSpPr txBox="1"/>
          <p:nvPr/>
        </p:nvSpPr>
        <p:spPr>
          <a:xfrm>
            <a:off x="2762998" y="329389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276169" y="328363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774464" y="329389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287635" y="328363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378684" y="310563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675635" y="309623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662157" y="3796891"/>
            <a:ext cx="509452" cy="50945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/>
          <p:cNvSpPr/>
          <p:nvPr/>
        </p:nvSpPr>
        <p:spPr>
          <a:xfrm>
            <a:off x="3171609" y="3796891"/>
            <a:ext cx="509452" cy="50945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/>
          <p:cNvSpPr/>
          <p:nvPr/>
        </p:nvSpPr>
        <p:spPr>
          <a:xfrm>
            <a:off x="3681061" y="3796891"/>
            <a:ext cx="509452" cy="50945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/>
          <p:cNvSpPr/>
          <p:nvPr/>
        </p:nvSpPr>
        <p:spPr>
          <a:xfrm>
            <a:off x="4190513" y="3796891"/>
            <a:ext cx="509452" cy="50945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/>
          <p:cNvSpPr/>
          <p:nvPr/>
        </p:nvSpPr>
        <p:spPr>
          <a:xfrm>
            <a:off x="9176973" y="3174288"/>
            <a:ext cx="509452" cy="50945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/>
          <p:cNvSpPr/>
          <p:nvPr/>
        </p:nvSpPr>
        <p:spPr>
          <a:xfrm>
            <a:off x="9686425" y="3174288"/>
            <a:ext cx="509452" cy="50945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/>
          <p:cNvSpPr/>
          <p:nvPr/>
        </p:nvSpPr>
        <p:spPr>
          <a:xfrm>
            <a:off x="10195877" y="3174288"/>
            <a:ext cx="509452" cy="50945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TextBox 84"/>
          <p:cNvSpPr txBox="1"/>
          <p:nvPr/>
        </p:nvSpPr>
        <p:spPr>
          <a:xfrm>
            <a:off x="9780434" y="32332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278729" y="324351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280173" y="324351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176973" y="3736272"/>
            <a:ext cx="509452" cy="50945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/>
          <p:cNvSpPr/>
          <p:nvPr/>
        </p:nvSpPr>
        <p:spPr>
          <a:xfrm>
            <a:off x="9686425" y="3736272"/>
            <a:ext cx="509452" cy="50945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/>
          <p:cNvSpPr/>
          <p:nvPr/>
        </p:nvSpPr>
        <p:spPr>
          <a:xfrm>
            <a:off x="10195877" y="3736272"/>
            <a:ext cx="509452" cy="50945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/>
          <p:cNvSpPr txBox="1"/>
          <p:nvPr/>
        </p:nvSpPr>
        <p:spPr>
          <a:xfrm>
            <a:off x="10684692" y="304350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06826" y="3093838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765807" y="4371532"/>
            <a:ext cx="509452" cy="50945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/>
          <p:cNvSpPr/>
          <p:nvPr/>
        </p:nvSpPr>
        <p:spPr>
          <a:xfrm>
            <a:off x="2275259" y="4371532"/>
            <a:ext cx="509452" cy="50945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TextBox 97"/>
          <p:cNvSpPr txBox="1"/>
          <p:nvPr/>
        </p:nvSpPr>
        <p:spPr>
          <a:xfrm>
            <a:off x="1866648" y="443049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379819" y="442023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490870" y="426176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765807" y="4943063"/>
            <a:ext cx="509452" cy="50945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2275259" y="4943063"/>
            <a:ext cx="509452" cy="50945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TextBox 103"/>
          <p:cNvSpPr txBox="1"/>
          <p:nvPr/>
        </p:nvSpPr>
        <p:spPr>
          <a:xfrm>
            <a:off x="1871945" y="499155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600541" y="4356723"/>
            <a:ext cx="509452" cy="50945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/>
          <p:cNvSpPr/>
          <p:nvPr/>
        </p:nvSpPr>
        <p:spPr>
          <a:xfrm>
            <a:off x="5109993" y="4356723"/>
            <a:ext cx="509452" cy="50945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TextBox 106"/>
          <p:cNvSpPr txBox="1"/>
          <p:nvPr/>
        </p:nvSpPr>
        <p:spPr>
          <a:xfrm>
            <a:off x="4693944" y="441568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207115" y="440542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600541" y="4914874"/>
            <a:ext cx="509452" cy="50945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/>
          <p:cNvSpPr/>
          <p:nvPr/>
        </p:nvSpPr>
        <p:spPr>
          <a:xfrm>
            <a:off x="5109993" y="4914874"/>
            <a:ext cx="509452" cy="50945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/>
          <p:cNvSpPr/>
          <p:nvPr/>
        </p:nvSpPr>
        <p:spPr>
          <a:xfrm>
            <a:off x="1282920" y="5783192"/>
            <a:ext cx="509452" cy="50945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ectangle 113"/>
          <p:cNvSpPr/>
          <p:nvPr/>
        </p:nvSpPr>
        <p:spPr>
          <a:xfrm>
            <a:off x="2835027" y="5783192"/>
            <a:ext cx="509452" cy="50945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TextBox 116"/>
          <p:cNvSpPr txBox="1"/>
          <p:nvPr/>
        </p:nvSpPr>
        <p:spPr>
          <a:xfrm>
            <a:off x="1028293" y="564209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4132562" y="5787589"/>
            <a:ext cx="509452" cy="50945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Rectangle 122"/>
          <p:cNvSpPr/>
          <p:nvPr/>
        </p:nvSpPr>
        <p:spPr>
          <a:xfrm>
            <a:off x="5684669" y="5787589"/>
            <a:ext cx="509452" cy="50945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Rectangle 125"/>
          <p:cNvSpPr/>
          <p:nvPr/>
        </p:nvSpPr>
        <p:spPr>
          <a:xfrm>
            <a:off x="8274943" y="4366224"/>
            <a:ext cx="509452" cy="50945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Rectangle 126"/>
          <p:cNvSpPr/>
          <p:nvPr/>
        </p:nvSpPr>
        <p:spPr>
          <a:xfrm>
            <a:off x="8784395" y="4366224"/>
            <a:ext cx="509452" cy="50945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TextBox 127"/>
          <p:cNvSpPr txBox="1"/>
          <p:nvPr/>
        </p:nvSpPr>
        <p:spPr>
          <a:xfrm>
            <a:off x="8878404" y="442518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378143" y="443544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7792044" y="5783192"/>
            <a:ext cx="509452" cy="50945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Rectangle 130"/>
          <p:cNvSpPr/>
          <p:nvPr/>
        </p:nvSpPr>
        <p:spPr>
          <a:xfrm>
            <a:off x="9344151" y="5783192"/>
            <a:ext cx="509452" cy="50945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Rectangle 133"/>
          <p:cNvSpPr/>
          <p:nvPr/>
        </p:nvSpPr>
        <p:spPr>
          <a:xfrm>
            <a:off x="8275138" y="4947354"/>
            <a:ext cx="509452" cy="50945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Rectangle 134"/>
          <p:cNvSpPr/>
          <p:nvPr/>
        </p:nvSpPr>
        <p:spPr>
          <a:xfrm>
            <a:off x="8784590" y="4947354"/>
            <a:ext cx="509452" cy="50945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Rectangle 137"/>
          <p:cNvSpPr/>
          <p:nvPr/>
        </p:nvSpPr>
        <p:spPr>
          <a:xfrm>
            <a:off x="10980853" y="4377450"/>
            <a:ext cx="509452" cy="50945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TextBox 139"/>
          <p:cNvSpPr txBox="1"/>
          <p:nvPr/>
        </p:nvSpPr>
        <p:spPr>
          <a:xfrm>
            <a:off x="7993389" y="423539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262495" y="425367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0725932" y="4226388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2739429" y="426610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4318987" y="426176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5582266" y="424570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5834136" y="1628372"/>
            <a:ext cx="12089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(A,0,6)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2561037" y="2816989"/>
            <a:ext cx="12089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(A,0,3)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162478" y="3968301"/>
            <a:ext cx="12089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(A,0,1)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459066" y="5403047"/>
            <a:ext cx="12089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(A,0,0)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938855" y="5430430"/>
            <a:ext cx="12089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(A,1,1)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3293626" y="5416960"/>
            <a:ext cx="12089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(A,2,2)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5895806" y="5417852"/>
            <a:ext cx="12089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(A,3,3)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6982050" y="5401713"/>
            <a:ext cx="12089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(A,4,4)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9577822" y="5383082"/>
            <a:ext cx="12089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(A,5,5)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1132847" y="4001690"/>
            <a:ext cx="12089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(A,6,6)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3870541" y="5654747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2580301" y="566148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5415352" y="563183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7501395" y="563353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9063279" y="561701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726416" y="564209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3292656" y="566148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88835" y="563183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147817" y="563888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8250049" y="562615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9834143" y="563024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1468356" y="423539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1279082" y="5778815"/>
            <a:ext cx="509452" cy="50945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TextBox 114"/>
          <p:cNvSpPr txBox="1"/>
          <p:nvPr/>
        </p:nvSpPr>
        <p:spPr>
          <a:xfrm>
            <a:off x="1383761" y="584215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2831649" y="5787589"/>
            <a:ext cx="509452" cy="50945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TextBox 115"/>
          <p:cNvSpPr txBox="1"/>
          <p:nvPr/>
        </p:nvSpPr>
        <p:spPr>
          <a:xfrm>
            <a:off x="2939587" y="583189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2936256" y="2307616"/>
            <a:ext cx="15648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merge(A,0,6)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160385" y="4929471"/>
            <a:ext cx="15648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merge(A,0,1)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2353071" y="500160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5121615" y="3996149"/>
            <a:ext cx="12089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(A,2,3)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7656825" y="4015575"/>
            <a:ext cx="12089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(A,4,5)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4137039" y="5785167"/>
            <a:ext cx="509452" cy="50945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TextBox 123"/>
          <p:cNvSpPr txBox="1"/>
          <p:nvPr/>
        </p:nvSpPr>
        <p:spPr>
          <a:xfrm>
            <a:off x="4233403" y="584655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5689437" y="5785167"/>
            <a:ext cx="509452" cy="50945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TextBox 124"/>
          <p:cNvSpPr txBox="1"/>
          <p:nvPr/>
        </p:nvSpPr>
        <p:spPr>
          <a:xfrm>
            <a:off x="5789229" y="5836288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3013569" y="4943249"/>
            <a:ext cx="15648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merge(A,2,3)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4718274" y="494324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5186156" y="4955498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1018429" y="3423909"/>
            <a:ext cx="15648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merge(A,0,3)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2761166" y="383974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3269882" y="3842637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3774407" y="383828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261471" y="3849747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9881376" y="2781741"/>
            <a:ext cx="12089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(A,4,6)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7796843" y="5785167"/>
            <a:ext cx="509452" cy="50945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TextBox 131"/>
          <p:cNvSpPr txBox="1"/>
          <p:nvPr/>
        </p:nvSpPr>
        <p:spPr>
          <a:xfrm>
            <a:off x="7892885" y="584215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9341805" y="5781240"/>
            <a:ext cx="509452" cy="50945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TextBox 132"/>
          <p:cNvSpPr txBox="1"/>
          <p:nvPr/>
        </p:nvSpPr>
        <p:spPr>
          <a:xfrm>
            <a:off x="9448711" y="583189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6701511" y="4866175"/>
            <a:ext cx="15648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merge(A,4,5)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8347625" y="499946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8853614" y="500838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10978318" y="4377534"/>
            <a:ext cx="509452" cy="50945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TextBox 138"/>
          <p:cNvSpPr txBox="1"/>
          <p:nvPr/>
        </p:nvSpPr>
        <p:spPr>
          <a:xfrm>
            <a:off x="11085413" y="442614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7496011" y="3663953"/>
            <a:ext cx="15648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merge(A,4,6)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9290667" y="377851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9755214" y="3775728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10261714" y="3775728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4786426" y="259292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5286518" y="2592827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5789229" y="260046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6301576" y="2592827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6808133" y="261429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7315990" y="260624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7785072" y="264884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073667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2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0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6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9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2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5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8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1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4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2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4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5" dur="5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6" dur="5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1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4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0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3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6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9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2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0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3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6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9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7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2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5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8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1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4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2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7" dur="5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8" dur="5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1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4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>
                      <p:stCondLst>
                        <p:cond delay="indefinite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9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0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indefinite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5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6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>
                      <p:stCondLst>
                        <p:cond delay="indefinite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1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2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>
                      <p:stCondLst>
                        <p:cond delay="indefinite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9" dur="5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0" dur="5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1" fill="hold">
                      <p:stCondLst>
                        <p:cond delay="indefinite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5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6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7" fill="hold">
                      <p:stCondLst>
                        <p:cond delay="indefinite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1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2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3" fill="hold">
                      <p:stCondLst>
                        <p:cond delay="indefinite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7" dur="5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8" dur="5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>
                      <p:stCondLst>
                        <p:cond delay="indefinite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4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7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0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1" fill="hold">
                      <p:stCondLst>
                        <p:cond delay="indefinite"/>
                      </p:stCondLst>
                      <p:childTnLst>
                        <p:par>
                          <p:cTn id="372" fill="hold">
                            <p:stCondLst>
                              <p:cond delay="0"/>
                            </p:stCondLst>
                            <p:childTnLst>
                              <p:par>
                                <p:cTn id="37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5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8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1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4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7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0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3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6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7" fill="hold">
                      <p:stCondLst>
                        <p:cond delay="indefinite"/>
                      </p:stCondLst>
                      <p:childTnLst>
                        <p:par>
                          <p:cTn id="398" fill="hold">
                            <p:stCondLst>
                              <p:cond delay="0"/>
                            </p:stCondLst>
                            <p:childTnLst>
                              <p:par>
                                <p:cTn id="39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1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4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7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0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3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7" fill="hold">
                      <p:stCondLst>
                        <p:cond delay="indefinite"/>
                      </p:stCondLst>
                      <p:childTnLst>
                        <p:par>
                          <p:cTn id="418" fill="hold">
                            <p:stCondLst>
                              <p:cond delay="0"/>
                            </p:stCondLst>
                            <p:childTnLst>
                              <p:par>
                                <p:cTn id="4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1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2" fill="hold">
                      <p:stCondLst>
                        <p:cond delay="indefinite"/>
                      </p:stCondLst>
                      <p:childTnLst>
                        <p:par>
                          <p:cTn id="423" fill="hold">
                            <p:stCondLst>
                              <p:cond delay="0"/>
                            </p:stCondLst>
                            <p:childTnLst>
                              <p:par>
                                <p:cTn id="4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6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9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2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5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8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2" fill="hold">
                      <p:stCondLst>
                        <p:cond delay="indefinite"/>
                      </p:stCondLst>
                      <p:childTnLst>
                        <p:par>
                          <p:cTn id="443" fill="hold">
                            <p:stCondLst>
                              <p:cond delay="0"/>
                            </p:stCondLst>
                            <p:childTnLst>
                              <p:par>
                                <p:cTn id="4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6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7" fill="hold">
                      <p:stCondLst>
                        <p:cond delay="indefinite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1" dur="50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2" dur="50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5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8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9" fill="hold">
                      <p:stCondLst>
                        <p:cond delay="indefinite"/>
                      </p:stCondLst>
                      <p:childTnLst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par>
                                <p:cTn id="4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3" dur="50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4" dur="50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5" fill="hold">
                      <p:stCondLst>
                        <p:cond delay="indefinite"/>
                      </p:stCondLst>
                      <p:childTnLst>
                        <p:par>
                          <p:cTn id="466" fill="hold">
                            <p:stCondLst>
                              <p:cond delay="0"/>
                            </p:stCondLst>
                            <p:childTnLst>
                              <p:par>
                                <p:cTn id="4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9" dur="5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0" dur="5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1" fill="hold">
                      <p:stCondLst>
                        <p:cond delay="indefinite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id="47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5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8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1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4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7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0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1" fill="hold">
                      <p:stCondLst>
                        <p:cond delay="indefinite"/>
                      </p:stCondLst>
                      <p:childTnLst>
                        <p:par>
                          <p:cTn id="492" fill="hold">
                            <p:stCondLst>
                              <p:cond delay="0"/>
                            </p:stCondLst>
                            <p:childTnLst>
                              <p:par>
                                <p:cTn id="49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5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6" fill="hold">
                      <p:stCondLst>
                        <p:cond delay="indefinite"/>
                      </p:stCondLst>
                      <p:childTnLst>
                        <p:par>
                          <p:cTn id="497" fill="hold">
                            <p:stCondLst>
                              <p:cond delay="0"/>
                            </p:stCondLst>
                            <p:childTnLst>
                              <p:par>
                                <p:cTn id="49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0" dur="5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1" dur="5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1" fill="hold">
                      <p:stCondLst>
                        <p:cond delay="indefinite"/>
                      </p:stCondLst>
                      <p:childTnLst>
                        <p:par>
                          <p:cTn id="512" fill="hold">
                            <p:stCondLst>
                              <p:cond delay="0"/>
                            </p:stCondLst>
                            <p:childTnLst>
                              <p:par>
                                <p:cTn id="5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5" dur="5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6" dur="5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7" fill="hold">
                      <p:stCondLst>
                        <p:cond delay="indefinite"/>
                      </p:stCondLst>
                      <p:childTnLst>
                        <p:par>
                          <p:cTn id="518" fill="hold">
                            <p:stCondLst>
                              <p:cond delay="0"/>
                            </p:stCondLst>
                            <p:childTnLst>
                              <p:par>
                                <p:cTn id="5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1" dur="5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2" dur="5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3" fill="hold">
                      <p:stCondLst>
                        <p:cond delay="indefinite"/>
                      </p:stCondLst>
                      <p:childTnLst>
                        <p:par>
                          <p:cTn id="524" fill="hold">
                            <p:stCondLst>
                              <p:cond delay="0"/>
                            </p:stCondLst>
                            <p:childTnLst>
                              <p:par>
                                <p:cTn id="5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7" dur="5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8" dur="5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9" fill="hold">
                      <p:stCondLst>
                        <p:cond delay="indefinite"/>
                      </p:stCondLst>
                      <p:childTnLst>
                        <p:par>
                          <p:cTn id="530" fill="hold">
                            <p:stCondLst>
                              <p:cond delay="0"/>
                            </p:stCondLst>
                            <p:childTnLst>
                              <p:par>
                                <p:cTn id="5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3" dur="5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4" dur="5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6" fill="hold">
                      <p:stCondLst>
                        <p:cond delay="indefinite"/>
                      </p:stCondLst>
                      <p:childTnLst>
                        <p:par>
                          <p:cTn id="557" fill="hold">
                            <p:stCondLst>
                              <p:cond delay="0"/>
                            </p:stCondLst>
                            <p:childTnLst>
                              <p:par>
                                <p:cTn id="5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0" dur="5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1" dur="5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2" fill="hold">
                      <p:stCondLst>
                        <p:cond delay="indefinite"/>
                      </p:stCondLst>
                      <p:childTnLst>
                        <p:par>
                          <p:cTn id="563" fill="hold">
                            <p:stCondLst>
                              <p:cond delay="0"/>
                            </p:stCondLst>
                            <p:childTnLst>
                              <p:par>
                                <p:cTn id="5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6" dur="5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7" dur="5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8" fill="hold">
                      <p:stCondLst>
                        <p:cond delay="indefinite"/>
                      </p:stCondLst>
                      <p:childTnLst>
                        <p:par>
                          <p:cTn id="569" fill="hold">
                            <p:stCondLst>
                              <p:cond delay="0"/>
                            </p:stCondLst>
                            <p:childTnLst>
                              <p:par>
                                <p:cTn id="57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2" dur="5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3" dur="5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4" fill="hold">
                      <p:stCondLst>
                        <p:cond delay="indefinite"/>
                      </p:stCondLst>
                      <p:childTnLst>
                        <p:par>
                          <p:cTn id="575" fill="hold">
                            <p:stCondLst>
                              <p:cond delay="0"/>
                            </p:stCondLst>
                            <p:childTnLst>
                              <p:par>
                                <p:cTn id="5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8" dur="5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9" dur="5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0" fill="hold">
                      <p:stCondLst>
                        <p:cond delay="indefinite"/>
                      </p:stCondLst>
                      <p:childTnLst>
                        <p:par>
                          <p:cTn id="581" fill="hold">
                            <p:stCondLst>
                              <p:cond delay="0"/>
                            </p:stCondLst>
                            <p:childTnLst>
                              <p:par>
                                <p:cTn id="58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4" dur="50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5" dur="50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6" fill="hold">
                      <p:stCondLst>
                        <p:cond delay="indefinite"/>
                      </p:stCondLst>
                      <p:childTnLst>
                        <p:par>
                          <p:cTn id="587" fill="hold">
                            <p:stCondLst>
                              <p:cond delay="0"/>
                            </p:stCondLst>
                            <p:childTnLst>
                              <p:par>
                                <p:cTn id="58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0" dur="5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1" dur="5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2" fill="hold">
                      <p:stCondLst>
                        <p:cond delay="indefinite"/>
                      </p:stCondLst>
                      <p:childTnLst>
                        <p:par>
                          <p:cTn id="593" fill="hold">
                            <p:stCondLst>
                              <p:cond delay="0"/>
                            </p:stCondLst>
                            <p:childTnLst>
                              <p:par>
                                <p:cTn id="59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6" dur="5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7" dur="5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7" grpId="0"/>
      <p:bldP spid="28" grpId="0"/>
      <p:bldP spid="30" grpId="0"/>
      <p:bldP spid="31" grpId="0"/>
      <p:bldP spid="32" grpId="0"/>
      <p:bldP spid="33" grpId="0"/>
      <p:bldP spid="35" grpId="0"/>
      <p:bldP spid="37" grpId="0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62" grpId="0"/>
      <p:bldP spid="63" grpId="0" animBg="1"/>
      <p:bldP spid="64" grpId="0" animBg="1"/>
      <p:bldP spid="66" grpId="0" animBg="1"/>
      <p:bldP spid="67" grpId="0" animBg="1"/>
      <p:bldP spid="68" grpId="0"/>
      <p:bldP spid="69" grpId="0"/>
      <p:bldP spid="70" grpId="0"/>
      <p:bldP spid="71" grpId="0"/>
      <p:bldP spid="72" grpId="0"/>
      <p:bldP spid="73" grpId="0"/>
      <p:bldP spid="74" grpId="0" animBg="1"/>
      <p:bldP spid="75" grpId="0" animBg="1"/>
      <p:bldP spid="76" grpId="0" animBg="1"/>
      <p:bldP spid="77" grpId="0" animBg="1"/>
      <p:bldP spid="82" grpId="0" animBg="1"/>
      <p:bldP spid="83" grpId="0" animBg="1"/>
      <p:bldP spid="84" grpId="0" animBg="1"/>
      <p:bldP spid="85" grpId="0"/>
      <p:bldP spid="86" grpId="0"/>
      <p:bldP spid="87" grpId="0"/>
      <p:bldP spid="88" grpId="0" animBg="1"/>
      <p:bldP spid="89" grpId="0" animBg="1"/>
      <p:bldP spid="90" grpId="0" animBg="1"/>
      <p:bldP spid="94" grpId="0"/>
      <p:bldP spid="95" grpId="0"/>
      <p:bldP spid="96" grpId="0" animBg="1"/>
      <p:bldP spid="97" grpId="0" animBg="1"/>
      <p:bldP spid="98" grpId="0"/>
      <p:bldP spid="99" grpId="0"/>
      <p:bldP spid="100" grpId="0"/>
      <p:bldP spid="101" grpId="0" animBg="1"/>
      <p:bldP spid="102" grpId="0" animBg="1"/>
      <p:bldP spid="104" grpId="0"/>
      <p:bldP spid="105" grpId="0" animBg="1"/>
      <p:bldP spid="106" grpId="0" animBg="1"/>
      <p:bldP spid="107" grpId="0"/>
      <p:bldP spid="108" grpId="0"/>
      <p:bldP spid="109" grpId="0" animBg="1"/>
      <p:bldP spid="110" grpId="0" animBg="1"/>
      <p:bldP spid="113" grpId="0" animBg="1"/>
      <p:bldP spid="114" grpId="0" animBg="1"/>
      <p:bldP spid="117" grpId="0"/>
      <p:bldP spid="122" grpId="0" animBg="1"/>
      <p:bldP spid="123" grpId="0" animBg="1"/>
      <p:bldP spid="126" grpId="0" animBg="1"/>
      <p:bldP spid="127" grpId="0" animBg="1"/>
      <p:bldP spid="128" grpId="0"/>
      <p:bldP spid="129" grpId="0"/>
      <p:bldP spid="130" grpId="0" animBg="1"/>
      <p:bldP spid="131" grpId="0" animBg="1"/>
      <p:bldP spid="134" grpId="0" animBg="1"/>
      <p:bldP spid="135" grpId="0" animBg="1"/>
      <p:bldP spid="138" grpId="0" animBg="1"/>
      <p:bldP spid="140" grpId="0"/>
      <p:bldP spid="141" grpId="0"/>
      <p:bldP spid="142" grpId="0"/>
      <p:bldP spid="143" grpId="0"/>
      <p:bldP spid="144" grpId="0"/>
      <p:bldP spid="145" grpId="0"/>
      <p:bldP spid="146" grpId="0"/>
      <p:bldP spid="147" grpId="0"/>
      <p:bldP spid="148" grpId="0"/>
      <p:bldP spid="149" grpId="0"/>
      <p:bldP spid="150" grpId="0"/>
      <p:bldP spid="151" grpId="0"/>
      <p:bldP spid="152" grpId="0"/>
      <p:bldP spid="153" grpId="0"/>
      <p:bldP spid="154" grpId="0"/>
      <p:bldP spid="155" grpId="0"/>
      <p:bldP spid="156" grpId="0"/>
      <p:bldP spid="157" grpId="0"/>
      <p:bldP spid="158" grpId="0"/>
      <p:bldP spid="159" grpId="0"/>
      <p:bldP spid="160" grpId="0"/>
      <p:bldP spid="161" grpId="0"/>
      <p:bldP spid="162" grpId="0"/>
      <p:bldP spid="163" grpId="0"/>
      <p:bldP spid="164" grpId="0"/>
      <p:bldP spid="165" grpId="0"/>
      <p:bldP spid="166" grpId="0"/>
      <p:bldP spid="167" grpId="0"/>
      <p:bldP spid="182" grpId="0" animBg="1"/>
      <p:bldP spid="115" grpId="0"/>
      <p:bldP spid="183" grpId="0" animBg="1"/>
      <p:bldP spid="116" grpId="0"/>
      <p:bldP spid="184" grpId="0"/>
      <p:bldP spid="185" grpId="0"/>
      <p:bldP spid="187" grpId="0"/>
      <p:bldP spid="192" grpId="0"/>
      <p:bldP spid="193" grpId="0"/>
      <p:bldP spid="194" grpId="0" animBg="1"/>
      <p:bldP spid="124" grpId="0"/>
      <p:bldP spid="195" grpId="0" animBg="1"/>
      <p:bldP spid="125" grpId="0"/>
      <p:bldP spid="196" grpId="0"/>
      <p:bldP spid="170" grpId="0"/>
      <p:bldP spid="171" grpId="0"/>
      <p:bldP spid="173" grpId="0"/>
      <p:bldP spid="174" grpId="0"/>
      <p:bldP spid="175" grpId="0"/>
      <p:bldP spid="176" grpId="0"/>
      <p:bldP spid="177" grpId="0"/>
      <p:bldP spid="178" grpId="0"/>
      <p:bldP spid="179" grpId="0" animBg="1"/>
      <p:bldP spid="132" grpId="0"/>
      <p:bldP spid="180" grpId="0" animBg="1"/>
      <p:bldP spid="133" grpId="0"/>
      <p:bldP spid="188" grpId="0"/>
      <p:bldP spid="190" grpId="0"/>
      <p:bldP spid="197" grpId="0"/>
      <p:bldP spid="198" grpId="0" animBg="1"/>
      <p:bldP spid="139" grpId="0"/>
      <p:bldP spid="199" grpId="0"/>
      <p:bldP spid="200" grpId="0"/>
      <p:bldP spid="201" grpId="0"/>
      <p:bldP spid="202" grpId="0"/>
      <p:bldP spid="203" grpId="0"/>
      <p:bldP spid="204" grpId="0"/>
      <p:bldP spid="205" grpId="0"/>
      <p:bldP spid="206" grpId="0"/>
      <p:bldP spid="207" grpId="0"/>
      <p:bldP spid="208" grpId="0"/>
      <p:bldP spid="20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C153E6-3232-0415-943F-756FF53D9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87B38-7164-46E0-A586-D647EA3C2C95}" type="datetime1">
              <a:rPr lang="en-US" smtClean="0"/>
              <a:t>6/5/2024</a:t>
            </a:fld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5259065D-369E-1A17-9BCA-7F5F353D1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4" y="6459785"/>
            <a:ext cx="6214273" cy="365125"/>
          </a:xfrm>
        </p:spPr>
        <p:txBody>
          <a:bodyPr/>
          <a:lstStyle/>
          <a:p>
            <a:r>
              <a:rPr lang="en-US" dirty="0"/>
              <a:t>Asst. Prof. Nuzhat Tabassum | Courtesy - SWAPNIL BISWAS, CSE, MIST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912068-0479-83FF-2AC5-3C0420C16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6D7EC-6BDF-4B22-9BB0-103CEB4B6DEA}" type="slidenum">
              <a:rPr lang="en-US" smtClean="0"/>
              <a:t>5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ED92AC-2287-7E9F-D64C-61252F794F4F}"/>
              </a:ext>
            </a:extLst>
          </p:cNvPr>
          <p:cNvSpPr txBox="1"/>
          <p:nvPr/>
        </p:nvSpPr>
        <p:spPr>
          <a:xfrm>
            <a:off x="1036320" y="642598"/>
            <a:ext cx="5262880" cy="535531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MERGE(A, start, mid, end)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  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n1=mid – start + 1</a:t>
            </a:r>
          </a:p>
          <a:p>
            <a:pPr marL="342900" indent="-342900">
              <a:buAutoNum type="arabicPlain" startAt="2"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n2= end - mid</a:t>
            </a:r>
          </a:p>
          <a:p>
            <a:pPr marL="342900" indent="-342900">
              <a:buAutoNum type="arabicPlain" startAt="2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L[0….n1]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R[0…n2]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new array</a:t>
            </a:r>
          </a:p>
          <a:p>
            <a:pPr marL="342900" indent="-342900">
              <a:buAutoNum type="arabicPlain" startAt="2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0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n1</a:t>
            </a:r>
          </a:p>
          <a:p>
            <a:pPr marL="342900" indent="-342900">
              <a:buAutoNum type="arabicPlain" startAt="2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L[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A[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start+i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 marL="342900" indent="-342900">
              <a:buAutoNum type="arabicPlain" startAt="2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0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buAutoNum type="arabicPlain" startAt="2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R[j] = A[mid+1+j]</a:t>
            </a:r>
          </a:p>
          <a:p>
            <a:pPr marL="342900" indent="-342900">
              <a:buAutoNum type="arabicPlain" startAt="2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L[n1] = ∞</a:t>
            </a:r>
          </a:p>
          <a:p>
            <a:pPr marL="342900" indent="-342900">
              <a:buAutoNum type="arabicPlain" startAt="2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R[n2] = ∞</a:t>
            </a:r>
          </a:p>
          <a:p>
            <a:pPr marL="342900" indent="-342900">
              <a:buAutoNum type="arabicPlain" startAt="2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</a:t>
            </a:r>
          </a:p>
          <a:p>
            <a:pPr marL="342900" indent="-342900">
              <a:buAutoNum type="arabicPlain" startAt="2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</a:t>
            </a:r>
          </a:p>
          <a:p>
            <a:pPr marL="342900" indent="-342900">
              <a:buAutoNum type="arabicPlain" startAt="2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emd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lain" startAt="2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L[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]&lt;= R[j]</a:t>
            </a:r>
          </a:p>
          <a:p>
            <a:pPr marL="342900" indent="-342900">
              <a:buAutoNum type="arabicPlain" startAt="2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      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A[k] = L[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 marL="342900" indent="-342900">
              <a:buAutoNum type="arabicPlain" startAt="2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i+1</a:t>
            </a:r>
          </a:p>
          <a:p>
            <a:pPr marL="342900" indent="-342900">
              <a:buAutoNum type="arabicPlain" startAt="2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lain" startAt="2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A[k] = R[j]</a:t>
            </a:r>
          </a:p>
          <a:p>
            <a:pPr marL="342900" indent="-342900">
              <a:buAutoNum type="arabicPlain" startAt="2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 = j +1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1CDBA4-36B0-26CC-940B-28FDA8F597E0}"/>
              </a:ext>
            </a:extLst>
          </p:cNvPr>
          <p:cNvSpPr txBox="1"/>
          <p:nvPr/>
        </p:nvSpPr>
        <p:spPr>
          <a:xfrm>
            <a:off x="6491989" y="1909917"/>
            <a:ext cx="434896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MERGE_SORT(A, start, end)</a:t>
            </a:r>
          </a:p>
          <a:p>
            <a:pPr marL="342900" indent="-342900">
              <a:buAutoNum type="arabicPlain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&lt; end</a:t>
            </a:r>
          </a:p>
          <a:p>
            <a:pPr marL="342900" indent="-342900">
              <a:buAutoNum type="arabicPlain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mid = </a:t>
            </a:r>
            <a:r>
              <a:rPr lang="en-US" b="0" i="0" dirty="0">
                <a:solidFill>
                  <a:srgbClr val="202124"/>
                </a:solidFill>
                <a:effectLst/>
                <a:latin typeface="Google Sans"/>
              </a:rPr>
              <a:t>⌊</a:t>
            </a:r>
            <a:r>
              <a:rPr lang="en-US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(start + end) /2</a:t>
            </a:r>
            <a:r>
              <a:rPr lang="en-US" b="0" i="0" dirty="0">
                <a:solidFill>
                  <a:srgbClr val="202124"/>
                </a:solidFill>
                <a:effectLst/>
                <a:latin typeface="Google Sans"/>
              </a:rPr>
              <a:t>⌋</a:t>
            </a:r>
          </a:p>
          <a:p>
            <a:pPr marL="342900" indent="-342900">
              <a:buFontTx/>
              <a:buAutoNum type="arabicPlain"/>
            </a:pPr>
            <a:r>
              <a:rPr lang="en-US" dirty="0">
                <a:solidFill>
                  <a:srgbClr val="202124"/>
                </a:solidFill>
                <a:latin typeface="Google Sans"/>
                <a:cs typeface="Times New Roman" panose="02020603050405020304" pitchFamily="18" charset="0"/>
              </a:rPr>
              <a:t>   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MERGE_SORT(A, start, mid)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           MERGE_SORT(A, mid+1, end)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           MERGE(A, start, mid, end)</a:t>
            </a:r>
          </a:p>
        </p:txBody>
      </p:sp>
    </p:spTree>
    <p:extLst>
      <p:ext uri="{BB962C8B-B14F-4D97-AF65-F5344CB8AC3E}">
        <p14:creationId xmlns:p14="http://schemas.microsoft.com/office/powerpoint/2010/main" val="1381031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MERGE  SORT (MERGING)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26C33-733D-4CAE-B54F-03E182AA6BAE}" type="datetime1">
              <a:rPr lang="en-US" smtClean="0"/>
              <a:t>6/5/2024</a:t>
            </a:fld>
            <a:endParaRPr lang="en-US"/>
          </a:p>
        </p:txBody>
      </p:sp>
      <p:sp>
        <p:nvSpPr>
          <p:cNvPr id="171" name="Footer Placeholder 4">
            <a:extLst>
              <a:ext uri="{FF2B5EF4-FFF2-40B4-BE49-F238E27FC236}">
                <a16:creationId xmlns:a16="http://schemas.microsoft.com/office/drawing/2014/main" id="{CBD34B39-5D13-A9F0-7034-D536BF398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4" y="6459785"/>
            <a:ext cx="6214273" cy="365125"/>
          </a:xfrm>
        </p:spPr>
        <p:txBody>
          <a:bodyPr/>
          <a:lstStyle/>
          <a:p>
            <a:r>
              <a:rPr lang="en-US" dirty="0"/>
              <a:t>Asst Prof  Nuzhat Tabassum | Courtesy - SWAPNIL BISWAS, CSE, MIST</a:t>
            </a:r>
          </a:p>
        </p:txBody>
      </p:sp>
      <p:sp>
        <p:nvSpPr>
          <p:cNvPr id="185" name="Slide Number Placeholder 18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6D7EC-6BDF-4B22-9BB0-103CEB4B6DEA}" type="slidenum">
              <a:rPr lang="en-US" smtClean="0"/>
              <a:t>6</a:t>
            </a:fld>
            <a:endParaRPr lang="en-US"/>
          </a:p>
        </p:txBody>
      </p:sp>
      <p:cxnSp>
        <p:nvCxnSpPr>
          <p:cNvPr id="4" name="Straight Arrow Connector 3"/>
          <p:cNvCxnSpPr>
            <a:stCxn id="13" idx="2"/>
            <a:endCxn id="31" idx="0"/>
          </p:cNvCxnSpPr>
          <p:nvPr/>
        </p:nvCxnSpPr>
        <p:spPr>
          <a:xfrm flipH="1">
            <a:off x="1222787" y="3121096"/>
            <a:ext cx="304488" cy="389878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>
            <a:stCxn id="14" idx="2"/>
            <a:endCxn id="32" idx="0"/>
          </p:cNvCxnSpPr>
          <p:nvPr/>
        </p:nvCxnSpPr>
        <p:spPr>
          <a:xfrm flipH="1">
            <a:off x="1732239" y="3121096"/>
            <a:ext cx="304488" cy="389878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>
            <a:stCxn id="15" idx="2"/>
            <a:endCxn id="33" idx="0"/>
          </p:cNvCxnSpPr>
          <p:nvPr/>
        </p:nvCxnSpPr>
        <p:spPr>
          <a:xfrm flipH="1">
            <a:off x="2241691" y="3121096"/>
            <a:ext cx="304488" cy="389878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>
            <a:stCxn id="16" idx="2"/>
            <a:endCxn id="34" idx="0"/>
          </p:cNvCxnSpPr>
          <p:nvPr/>
        </p:nvCxnSpPr>
        <p:spPr>
          <a:xfrm flipH="1">
            <a:off x="2751143" y="3117415"/>
            <a:ext cx="301192" cy="393559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17" idx="2"/>
            <a:endCxn id="36" idx="0"/>
          </p:cNvCxnSpPr>
          <p:nvPr/>
        </p:nvCxnSpPr>
        <p:spPr>
          <a:xfrm>
            <a:off x="3565083" y="3121096"/>
            <a:ext cx="207011" cy="388518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18" idx="2"/>
            <a:endCxn id="37" idx="0"/>
          </p:cNvCxnSpPr>
          <p:nvPr/>
        </p:nvCxnSpPr>
        <p:spPr>
          <a:xfrm>
            <a:off x="4074535" y="3121096"/>
            <a:ext cx="207011" cy="388518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19" idx="2"/>
            <a:endCxn id="38" idx="0"/>
          </p:cNvCxnSpPr>
          <p:nvPr/>
        </p:nvCxnSpPr>
        <p:spPr>
          <a:xfrm>
            <a:off x="4583987" y="3121096"/>
            <a:ext cx="207011" cy="388518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20" idx="2"/>
            <a:endCxn id="39" idx="0"/>
          </p:cNvCxnSpPr>
          <p:nvPr/>
        </p:nvCxnSpPr>
        <p:spPr>
          <a:xfrm>
            <a:off x="5093439" y="3121096"/>
            <a:ext cx="207011" cy="388518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760664" y="3056162"/>
            <a:ext cx="4957362" cy="5125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272549" y="2611644"/>
            <a:ext cx="509452" cy="50945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782001" y="2611644"/>
            <a:ext cx="509452" cy="50945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2291453" y="2611644"/>
            <a:ext cx="509452" cy="50945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2797609" y="2607963"/>
            <a:ext cx="509452" cy="50945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3310357" y="2611644"/>
            <a:ext cx="509452" cy="50945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3819809" y="2611644"/>
            <a:ext cx="509452" cy="50945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4329261" y="2611644"/>
            <a:ext cx="509452" cy="50945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4838713" y="2611644"/>
            <a:ext cx="509452" cy="50945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3911250" y="266631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27534" y="266631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0822" y="266631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83993" y="265605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95459" y="265605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01798" y="266631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82288" y="266631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45912" y="2611644"/>
            <a:ext cx="509452" cy="50945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4922716" y="266631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0664" y="2666314"/>
            <a:ext cx="356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8061" y="3510974"/>
            <a:ext cx="509452" cy="50945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1477513" y="3510974"/>
            <a:ext cx="509452" cy="50945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1986965" y="3510974"/>
            <a:ext cx="509452" cy="50945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2496417" y="3510974"/>
            <a:ext cx="509452" cy="50945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2496417" y="3510974"/>
            <a:ext cx="509452" cy="50945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3517368" y="3509614"/>
            <a:ext cx="509452" cy="50945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4026820" y="3509614"/>
            <a:ext cx="509452" cy="50945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4536272" y="3509614"/>
            <a:ext cx="509452" cy="50945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5045724" y="3509614"/>
            <a:ext cx="509452" cy="50945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5045724" y="3509614"/>
            <a:ext cx="509452" cy="50945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/>
          <p:cNvSpPr txBox="1"/>
          <p:nvPr/>
        </p:nvSpPr>
        <p:spPr>
          <a:xfrm>
            <a:off x="626301" y="3538665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62907" y="3167275"/>
            <a:ext cx="356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272549" y="2607963"/>
            <a:ext cx="509452" cy="50945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1782001" y="2607963"/>
            <a:ext cx="509452" cy="50945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2291453" y="2607963"/>
            <a:ext cx="509452" cy="50945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2799998" y="2606248"/>
            <a:ext cx="509452" cy="50945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3310357" y="2607963"/>
            <a:ext cx="509452" cy="50945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3819809" y="2607963"/>
            <a:ext cx="509452" cy="50945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4329261" y="2607963"/>
            <a:ext cx="509452" cy="50945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4838713" y="2607963"/>
            <a:ext cx="509452" cy="50945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/>
          <p:cNvSpPr txBox="1"/>
          <p:nvPr/>
        </p:nvSpPr>
        <p:spPr>
          <a:xfrm>
            <a:off x="6406324" y="2700610"/>
            <a:ext cx="24240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onsolas" panose="020B0609020204030204" pitchFamily="49" charset="0"/>
                <a:cs typeface="Times New Roman" panose="02020603050405020304" pitchFamily="18" charset="0"/>
              </a:rPr>
              <a:t>for </a:t>
            </a:r>
            <a:r>
              <a:rPr lang="en-US" sz="2000" i="1" dirty="0" err="1">
                <a:latin typeface="Consolas" panose="020B0609020204030204" pitchFamily="49" charset="0"/>
                <a:cs typeface="Times New Roman" panose="02020603050405020304" pitchFamily="18" charset="0"/>
              </a:rPr>
              <a:t>i</a:t>
            </a:r>
            <a:r>
              <a:rPr lang="en-US" sz="2000" i="1" dirty="0">
                <a:latin typeface="Consolas" panose="020B0609020204030204" pitchFamily="49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Consolas" panose="020B0609020204030204" pitchFamily="49" charset="0"/>
              </a:rPr>
              <a:t>← 0 to n1-1</a:t>
            </a:r>
            <a:endParaRPr lang="en-US" i="1" dirty="0"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868173" y="2999265"/>
            <a:ext cx="21563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onsolas" panose="020B0609020204030204" pitchFamily="49" charset="0"/>
                <a:cs typeface="Times New Roman" panose="02020603050405020304" pitchFamily="18" charset="0"/>
              </a:rPr>
              <a:t>L[</a:t>
            </a:r>
            <a:r>
              <a:rPr lang="en-US" sz="2000" i="1" dirty="0" err="1">
                <a:latin typeface="Consolas" panose="020B0609020204030204" pitchFamily="49" charset="0"/>
                <a:cs typeface="Times New Roman" panose="02020603050405020304" pitchFamily="18" charset="0"/>
              </a:rPr>
              <a:t>i</a:t>
            </a:r>
            <a:r>
              <a:rPr lang="en-US" sz="2000" i="1" dirty="0">
                <a:latin typeface="Consolas" panose="020B0609020204030204" pitchFamily="49" charset="0"/>
                <a:cs typeface="Times New Roman" panose="02020603050405020304" pitchFamily="18" charset="0"/>
              </a:rPr>
              <a:t>] </a:t>
            </a:r>
            <a:r>
              <a:rPr lang="en-US" i="1" dirty="0">
                <a:latin typeface="Consolas" panose="020B0609020204030204" pitchFamily="49" charset="0"/>
              </a:rPr>
              <a:t>← </a:t>
            </a:r>
            <a:r>
              <a:rPr lang="en-US" i="1" dirty="0" err="1">
                <a:latin typeface="Consolas" panose="020B0609020204030204" pitchFamily="49" charset="0"/>
              </a:rPr>
              <a:t>Arr</a:t>
            </a:r>
            <a:r>
              <a:rPr lang="en-US" i="1" dirty="0">
                <a:latin typeface="Consolas" panose="020B0609020204030204" pitchFamily="49" charset="0"/>
              </a:rPr>
              <a:t>[</a:t>
            </a:r>
            <a:r>
              <a:rPr lang="en-US" i="1" dirty="0" err="1">
                <a:latin typeface="Consolas" panose="020B0609020204030204" pitchFamily="49" charset="0"/>
              </a:rPr>
              <a:t>p+i</a:t>
            </a:r>
            <a:r>
              <a:rPr lang="en-US" i="1" dirty="0">
                <a:latin typeface="Consolas" panose="020B0609020204030204" pitchFamily="49" charset="0"/>
              </a:rPr>
              <a:t>]</a:t>
            </a:r>
            <a:endParaRPr lang="en-US" i="1" dirty="0"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394909" y="3289617"/>
            <a:ext cx="24240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onsolas" panose="020B0609020204030204" pitchFamily="49" charset="0"/>
                <a:cs typeface="Times New Roman" panose="02020603050405020304" pitchFamily="18" charset="0"/>
              </a:rPr>
              <a:t>for </a:t>
            </a:r>
            <a:r>
              <a:rPr lang="en-US" sz="2000" i="1" dirty="0" err="1">
                <a:latin typeface="Consolas" panose="020B0609020204030204" pitchFamily="49" charset="0"/>
                <a:cs typeface="Times New Roman" panose="02020603050405020304" pitchFamily="18" charset="0"/>
              </a:rPr>
              <a:t>i</a:t>
            </a:r>
            <a:r>
              <a:rPr lang="en-US" sz="2000" i="1" dirty="0">
                <a:latin typeface="Consolas" panose="020B0609020204030204" pitchFamily="49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Consolas" panose="020B0609020204030204" pitchFamily="49" charset="0"/>
              </a:rPr>
              <a:t>← 0 to n2-1</a:t>
            </a:r>
            <a:endParaRPr lang="en-US" i="1" dirty="0"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868173" y="3611022"/>
            <a:ext cx="26629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onsolas" panose="020B0609020204030204" pitchFamily="49" charset="0"/>
                <a:cs typeface="Times New Roman" panose="02020603050405020304" pitchFamily="18" charset="0"/>
              </a:rPr>
              <a:t>R[</a:t>
            </a:r>
            <a:r>
              <a:rPr lang="en-US" sz="2000" i="1" dirty="0" err="1">
                <a:latin typeface="Consolas" panose="020B0609020204030204" pitchFamily="49" charset="0"/>
                <a:cs typeface="Times New Roman" panose="02020603050405020304" pitchFamily="18" charset="0"/>
              </a:rPr>
              <a:t>i</a:t>
            </a:r>
            <a:r>
              <a:rPr lang="en-US" sz="2000" i="1" dirty="0">
                <a:latin typeface="Consolas" panose="020B0609020204030204" pitchFamily="49" charset="0"/>
                <a:cs typeface="Times New Roman" panose="02020603050405020304" pitchFamily="18" charset="0"/>
              </a:rPr>
              <a:t>] </a:t>
            </a:r>
            <a:r>
              <a:rPr lang="en-US" i="1" dirty="0">
                <a:latin typeface="Consolas" panose="020B0609020204030204" pitchFamily="49" charset="0"/>
              </a:rPr>
              <a:t>← </a:t>
            </a:r>
            <a:r>
              <a:rPr lang="en-US" i="1" dirty="0" err="1">
                <a:latin typeface="Consolas" panose="020B0609020204030204" pitchFamily="49" charset="0"/>
              </a:rPr>
              <a:t>Arr</a:t>
            </a:r>
            <a:r>
              <a:rPr lang="en-US" i="1" dirty="0">
                <a:latin typeface="Consolas" panose="020B0609020204030204" pitchFamily="49" charset="0"/>
              </a:rPr>
              <a:t>[mid+1+i]</a:t>
            </a:r>
            <a:endParaRPr lang="en-US" i="1" dirty="0"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grpSp>
        <p:nvGrpSpPr>
          <p:cNvPr id="55" name="Group 54"/>
          <p:cNvGrpSpPr/>
          <p:nvPr/>
        </p:nvGrpSpPr>
        <p:grpSpPr>
          <a:xfrm>
            <a:off x="811529" y="4060178"/>
            <a:ext cx="255198" cy="587394"/>
            <a:chOff x="7165638" y="3786344"/>
            <a:chExt cx="255198" cy="587394"/>
          </a:xfrm>
        </p:grpSpPr>
        <p:cxnSp>
          <p:nvCxnSpPr>
            <p:cNvPr id="56" name="Straight Arrow Connector 55"/>
            <p:cNvCxnSpPr/>
            <p:nvPr/>
          </p:nvCxnSpPr>
          <p:spPr>
            <a:xfrm flipV="1">
              <a:off x="7420051" y="3786344"/>
              <a:ext cx="0" cy="492025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/>
            <p:cNvSpPr txBox="1"/>
            <p:nvPr/>
          </p:nvSpPr>
          <p:spPr>
            <a:xfrm>
              <a:off x="7165638" y="3973628"/>
              <a:ext cx="255198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000" b="1" i="1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en-US" sz="20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58" name="Straight Arrow Connector 57"/>
          <p:cNvCxnSpPr/>
          <p:nvPr/>
        </p:nvCxnSpPr>
        <p:spPr>
          <a:xfrm flipV="1">
            <a:off x="3639775" y="4033212"/>
            <a:ext cx="0" cy="492025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3221999" y="4203634"/>
            <a:ext cx="255198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0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2000" b="1" i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6379267" y="4310756"/>
            <a:ext cx="8467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 err="1">
                <a:latin typeface="Consolas" panose="020B0609020204030204" pitchFamily="49" charset="0"/>
                <a:cs typeface="Times New Roman" panose="02020603050405020304" pitchFamily="18" charset="0"/>
              </a:rPr>
              <a:t>i</a:t>
            </a:r>
            <a:r>
              <a:rPr lang="en-US" sz="2000" i="1" dirty="0">
                <a:latin typeface="Consolas" panose="020B0609020204030204" pitchFamily="49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Consolas" panose="020B0609020204030204" pitchFamily="49" charset="0"/>
              </a:rPr>
              <a:t>← 0</a:t>
            </a:r>
            <a:endParaRPr lang="en-US" i="1" dirty="0"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8136893" y="4319086"/>
            <a:ext cx="8467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onsolas" panose="020B0609020204030204" pitchFamily="49" charset="0"/>
                <a:cs typeface="Times New Roman" panose="02020603050405020304" pitchFamily="18" charset="0"/>
              </a:rPr>
              <a:t>j </a:t>
            </a:r>
            <a:r>
              <a:rPr lang="en-US" i="1" dirty="0">
                <a:latin typeface="Consolas" panose="020B0609020204030204" pitchFamily="49" charset="0"/>
              </a:rPr>
              <a:t>← 0</a:t>
            </a:r>
            <a:endParaRPr lang="en-US" i="1" dirty="0"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grpSp>
        <p:nvGrpSpPr>
          <p:cNvPr id="62" name="Group 61"/>
          <p:cNvGrpSpPr/>
          <p:nvPr/>
        </p:nvGrpSpPr>
        <p:grpSpPr>
          <a:xfrm>
            <a:off x="1097280" y="1955556"/>
            <a:ext cx="312906" cy="642323"/>
            <a:chOff x="7205245" y="1699181"/>
            <a:chExt cx="312906" cy="642323"/>
          </a:xfrm>
        </p:grpSpPr>
        <p:cxnSp>
          <p:nvCxnSpPr>
            <p:cNvPr id="63" name="Straight Arrow Connector 62"/>
            <p:cNvCxnSpPr/>
            <p:nvPr/>
          </p:nvCxnSpPr>
          <p:spPr>
            <a:xfrm>
              <a:off x="7502352" y="1888577"/>
              <a:ext cx="0" cy="452927"/>
            </a:xfrm>
            <a:prstGeom prst="straightConnector1">
              <a:avLst/>
            </a:prstGeom>
            <a:ln w="571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TextBox 63"/>
            <p:cNvSpPr txBox="1"/>
            <p:nvPr/>
          </p:nvSpPr>
          <p:spPr>
            <a:xfrm>
              <a:off x="7205245" y="1699181"/>
              <a:ext cx="3129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000" b="1" i="1" dirty="0" err="1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endParaRPr lang="en-US" sz="2000" b="1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5" name="TextBox 64"/>
          <p:cNvSpPr txBox="1"/>
          <p:nvPr/>
        </p:nvSpPr>
        <p:spPr>
          <a:xfrm>
            <a:off x="6394909" y="4607745"/>
            <a:ext cx="20441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onsolas" panose="020B0609020204030204" pitchFamily="49" charset="0"/>
                <a:cs typeface="Times New Roman" panose="02020603050405020304" pitchFamily="18" charset="0"/>
              </a:rPr>
              <a:t>for k </a:t>
            </a:r>
            <a:r>
              <a:rPr lang="en-US" i="1" dirty="0">
                <a:latin typeface="Consolas" panose="020B0609020204030204" pitchFamily="49" charset="0"/>
              </a:rPr>
              <a:t>← p to q</a:t>
            </a:r>
            <a:endParaRPr lang="en-US" i="1" dirty="0"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66" name="Oval 65"/>
          <p:cNvSpPr/>
          <p:nvPr/>
        </p:nvSpPr>
        <p:spPr>
          <a:xfrm>
            <a:off x="3601969" y="3610887"/>
            <a:ext cx="323881" cy="32388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/>
          <p:cNvSpPr txBox="1"/>
          <p:nvPr/>
        </p:nvSpPr>
        <p:spPr>
          <a:xfrm>
            <a:off x="1355137" y="269155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868308" y="268129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366603" y="269155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879774" y="268129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463722" y="267102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968457" y="267102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458785" y="268129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977090" y="267102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  <p:grpSp>
        <p:nvGrpSpPr>
          <p:cNvPr id="75" name="Group 74"/>
          <p:cNvGrpSpPr/>
          <p:nvPr/>
        </p:nvGrpSpPr>
        <p:grpSpPr>
          <a:xfrm>
            <a:off x="2562088" y="4066724"/>
            <a:ext cx="255198" cy="587394"/>
            <a:chOff x="8916197" y="3792890"/>
            <a:chExt cx="255198" cy="587394"/>
          </a:xfrm>
        </p:grpSpPr>
        <p:cxnSp>
          <p:nvCxnSpPr>
            <p:cNvPr id="76" name="Straight Arrow Connector 75"/>
            <p:cNvCxnSpPr/>
            <p:nvPr/>
          </p:nvCxnSpPr>
          <p:spPr>
            <a:xfrm flipV="1">
              <a:off x="9170610" y="3792890"/>
              <a:ext cx="0" cy="492025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76"/>
            <p:cNvSpPr txBox="1"/>
            <p:nvPr/>
          </p:nvSpPr>
          <p:spPr>
            <a:xfrm>
              <a:off x="8916197" y="3980174"/>
              <a:ext cx="255198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000" b="1" i="1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en-US" sz="20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8" name="Group 77"/>
          <p:cNvGrpSpPr/>
          <p:nvPr/>
        </p:nvGrpSpPr>
        <p:grpSpPr>
          <a:xfrm>
            <a:off x="1503306" y="4049644"/>
            <a:ext cx="255198" cy="587394"/>
            <a:chOff x="7857415" y="3775810"/>
            <a:chExt cx="255198" cy="587394"/>
          </a:xfrm>
        </p:grpSpPr>
        <p:cxnSp>
          <p:nvCxnSpPr>
            <p:cNvPr id="79" name="Straight Arrow Connector 78"/>
            <p:cNvCxnSpPr/>
            <p:nvPr/>
          </p:nvCxnSpPr>
          <p:spPr>
            <a:xfrm flipV="1">
              <a:off x="8111828" y="3775810"/>
              <a:ext cx="0" cy="492025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Box 79"/>
            <p:cNvSpPr txBox="1"/>
            <p:nvPr/>
          </p:nvSpPr>
          <p:spPr>
            <a:xfrm>
              <a:off x="7857415" y="3963094"/>
              <a:ext cx="255198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000" b="1" i="1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en-US" sz="20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1" name="Group 80"/>
          <p:cNvGrpSpPr/>
          <p:nvPr/>
        </p:nvGrpSpPr>
        <p:grpSpPr>
          <a:xfrm>
            <a:off x="2024205" y="4049644"/>
            <a:ext cx="255198" cy="587394"/>
            <a:chOff x="8378314" y="3775810"/>
            <a:chExt cx="255198" cy="587394"/>
          </a:xfrm>
        </p:grpSpPr>
        <p:cxnSp>
          <p:nvCxnSpPr>
            <p:cNvPr id="82" name="Straight Arrow Connector 81"/>
            <p:cNvCxnSpPr/>
            <p:nvPr/>
          </p:nvCxnSpPr>
          <p:spPr>
            <a:xfrm flipV="1">
              <a:off x="8632727" y="3775810"/>
              <a:ext cx="0" cy="492025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Box 82"/>
            <p:cNvSpPr txBox="1"/>
            <p:nvPr/>
          </p:nvSpPr>
          <p:spPr>
            <a:xfrm>
              <a:off x="8378314" y="3963094"/>
              <a:ext cx="255198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000" b="1" i="1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en-US" sz="20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7" name="Group 86"/>
          <p:cNvGrpSpPr/>
          <p:nvPr/>
        </p:nvGrpSpPr>
        <p:grpSpPr>
          <a:xfrm>
            <a:off x="4025519" y="4040324"/>
            <a:ext cx="255198" cy="587394"/>
            <a:chOff x="9970121" y="3767087"/>
            <a:chExt cx="255198" cy="587394"/>
          </a:xfrm>
        </p:grpSpPr>
        <p:cxnSp>
          <p:nvCxnSpPr>
            <p:cNvPr id="88" name="Straight Arrow Connector 87"/>
            <p:cNvCxnSpPr/>
            <p:nvPr/>
          </p:nvCxnSpPr>
          <p:spPr>
            <a:xfrm flipV="1">
              <a:off x="10224534" y="3767087"/>
              <a:ext cx="0" cy="492025"/>
            </a:xfrm>
            <a:prstGeom prst="straightConnector1">
              <a:avLst/>
            </a:prstGeom>
            <a:ln w="571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TextBox 88"/>
            <p:cNvSpPr txBox="1"/>
            <p:nvPr/>
          </p:nvSpPr>
          <p:spPr>
            <a:xfrm>
              <a:off x="9970121" y="3954371"/>
              <a:ext cx="255198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000" b="1" i="1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endParaRPr lang="en-US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0" name="Group 89"/>
          <p:cNvGrpSpPr/>
          <p:nvPr/>
        </p:nvGrpSpPr>
        <p:grpSpPr>
          <a:xfrm>
            <a:off x="4544292" y="4033212"/>
            <a:ext cx="255198" cy="587394"/>
            <a:chOff x="10488894" y="3759975"/>
            <a:chExt cx="255198" cy="587394"/>
          </a:xfrm>
        </p:grpSpPr>
        <p:cxnSp>
          <p:nvCxnSpPr>
            <p:cNvPr id="91" name="Straight Arrow Connector 90"/>
            <p:cNvCxnSpPr/>
            <p:nvPr/>
          </p:nvCxnSpPr>
          <p:spPr>
            <a:xfrm flipV="1">
              <a:off x="10743307" y="3759975"/>
              <a:ext cx="0" cy="492025"/>
            </a:xfrm>
            <a:prstGeom prst="straightConnector1">
              <a:avLst/>
            </a:prstGeom>
            <a:ln w="571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Box 91"/>
            <p:cNvSpPr txBox="1"/>
            <p:nvPr/>
          </p:nvSpPr>
          <p:spPr>
            <a:xfrm>
              <a:off x="10488894" y="3947259"/>
              <a:ext cx="255198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000" b="1" i="1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endParaRPr lang="en-US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3" name="Group 92"/>
          <p:cNvGrpSpPr/>
          <p:nvPr/>
        </p:nvGrpSpPr>
        <p:grpSpPr>
          <a:xfrm>
            <a:off x="5038338" y="4049933"/>
            <a:ext cx="255198" cy="587394"/>
            <a:chOff x="10982940" y="3776696"/>
            <a:chExt cx="255198" cy="587394"/>
          </a:xfrm>
        </p:grpSpPr>
        <p:cxnSp>
          <p:nvCxnSpPr>
            <p:cNvPr id="94" name="Straight Arrow Connector 93"/>
            <p:cNvCxnSpPr/>
            <p:nvPr/>
          </p:nvCxnSpPr>
          <p:spPr>
            <a:xfrm flipV="1">
              <a:off x="11237353" y="3776696"/>
              <a:ext cx="0" cy="492025"/>
            </a:xfrm>
            <a:prstGeom prst="straightConnector1">
              <a:avLst/>
            </a:prstGeom>
            <a:ln w="571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TextBox 94"/>
            <p:cNvSpPr txBox="1"/>
            <p:nvPr/>
          </p:nvSpPr>
          <p:spPr>
            <a:xfrm>
              <a:off x="10982940" y="3963980"/>
              <a:ext cx="255198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000" b="1" i="1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endParaRPr lang="en-US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9" name="Group 98"/>
          <p:cNvGrpSpPr/>
          <p:nvPr/>
        </p:nvGrpSpPr>
        <p:grpSpPr>
          <a:xfrm>
            <a:off x="1739620" y="1936422"/>
            <a:ext cx="312906" cy="642323"/>
            <a:chOff x="7847585" y="1680047"/>
            <a:chExt cx="312906" cy="642323"/>
          </a:xfrm>
        </p:grpSpPr>
        <p:cxnSp>
          <p:nvCxnSpPr>
            <p:cNvPr id="100" name="Straight Arrow Connector 99"/>
            <p:cNvCxnSpPr/>
            <p:nvPr/>
          </p:nvCxnSpPr>
          <p:spPr>
            <a:xfrm>
              <a:off x="8144692" y="1869443"/>
              <a:ext cx="0" cy="452927"/>
            </a:xfrm>
            <a:prstGeom prst="straightConnector1">
              <a:avLst/>
            </a:prstGeom>
            <a:ln w="571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TextBox 100"/>
            <p:cNvSpPr txBox="1"/>
            <p:nvPr/>
          </p:nvSpPr>
          <p:spPr>
            <a:xfrm>
              <a:off x="7847585" y="1680047"/>
              <a:ext cx="3129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000" b="1" i="1" dirty="0" err="1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endParaRPr lang="en-US" sz="2000" b="1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2" name="Group 101"/>
          <p:cNvGrpSpPr/>
          <p:nvPr/>
        </p:nvGrpSpPr>
        <p:grpSpPr>
          <a:xfrm>
            <a:off x="2255208" y="1935177"/>
            <a:ext cx="312906" cy="642323"/>
            <a:chOff x="8363173" y="1678802"/>
            <a:chExt cx="312906" cy="642323"/>
          </a:xfrm>
        </p:grpSpPr>
        <p:cxnSp>
          <p:nvCxnSpPr>
            <p:cNvPr id="103" name="Straight Arrow Connector 102"/>
            <p:cNvCxnSpPr/>
            <p:nvPr/>
          </p:nvCxnSpPr>
          <p:spPr>
            <a:xfrm>
              <a:off x="8660280" y="1868198"/>
              <a:ext cx="0" cy="452927"/>
            </a:xfrm>
            <a:prstGeom prst="straightConnector1">
              <a:avLst/>
            </a:prstGeom>
            <a:ln w="571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TextBox 103"/>
            <p:cNvSpPr txBox="1"/>
            <p:nvPr/>
          </p:nvSpPr>
          <p:spPr>
            <a:xfrm>
              <a:off x="8363173" y="1678802"/>
              <a:ext cx="3129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000" b="1" i="1" dirty="0" err="1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endParaRPr lang="en-US" sz="2000" b="1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5" name="Group 104"/>
          <p:cNvGrpSpPr/>
          <p:nvPr/>
        </p:nvGrpSpPr>
        <p:grpSpPr>
          <a:xfrm>
            <a:off x="2762874" y="1936820"/>
            <a:ext cx="312906" cy="642323"/>
            <a:chOff x="8870839" y="1680445"/>
            <a:chExt cx="312906" cy="642323"/>
          </a:xfrm>
        </p:grpSpPr>
        <p:cxnSp>
          <p:nvCxnSpPr>
            <p:cNvPr id="106" name="Straight Arrow Connector 105"/>
            <p:cNvCxnSpPr/>
            <p:nvPr/>
          </p:nvCxnSpPr>
          <p:spPr>
            <a:xfrm>
              <a:off x="9167946" y="1869841"/>
              <a:ext cx="0" cy="452927"/>
            </a:xfrm>
            <a:prstGeom prst="straightConnector1">
              <a:avLst/>
            </a:prstGeom>
            <a:ln w="571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TextBox 106"/>
            <p:cNvSpPr txBox="1"/>
            <p:nvPr/>
          </p:nvSpPr>
          <p:spPr>
            <a:xfrm>
              <a:off x="8870839" y="1680445"/>
              <a:ext cx="3129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000" b="1" i="1" dirty="0" err="1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endParaRPr lang="en-US" sz="2000" b="1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8" name="Group 107"/>
          <p:cNvGrpSpPr/>
          <p:nvPr/>
        </p:nvGrpSpPr>
        <p:grpSpPr>
          <a:xfrm>
            <a:off x="3322982" y="1935177"/>
            <a:ext cx="312906" cy="642323"/>
            <a:chOff x="9430947" y="1678802"/>
            <a:chExt cx="312906" cy="642323"/>
          </a:xfrm>
        </p:grpSpPr>
        <p:cxnSp>
          <p:nvCxnSpPr>
            <p:cNvPr id="109" name="Straight Arrow Connector 108"/>
            <p:cNvCxnSpPr/>
            <p:nvPr/>
          </p:nvCxnSpPr>
          <p:spPr>
            <a:xfrm>
              <a:off x="9728054" y="1868198"/>
              <a:ext cx="0" cy="452927"/>
            </a:xfrm>
            <a:prstGeom prst="straightConnector1">
              <a:avLst/>
            </a:prstGeom>
            <a:ln w="571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TextBox 109"/>
            <p:cNvSpPr txBox="1"/>
            <p:nvPr/>
          </p:nvSpPr>
          <p:spPr>
            <a:xfrm>
              <a:off x="9430947" y="1678802"/>
              <a:ext cx="3129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000" b="1" i="1" dirty="0" err="1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endParaRPr lang="en-US" sz="2000" b="1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1" name="Group 110"/>
          <p:cNvGrpSpPr/>
          <p:nvPr/>
        </p:nvGrpSpPr>
        <p:grpSpPr>
          <a:xfrm>
            <a:off x="3809198" y="1935177"/>
            <a:ext cx="312906" cy="642323"/>
            <a:chOff x="9917163" y="1678802"/>
            <a:chExt cx="312906" cy="642323"/>
          </a:xfrm>
        </p:grpSpPr>
        <p:cxnSp>
          <p:nvCxnSpPr>
            <p:cNvPr id="112" name="Straight Arrow Connector 111"/>
            <p:cNvCxnSpPr/>
            <p:nvPr/>
          </p:nvCxnSpPr>
          <p:spPr>
            <a:xfrm>
              <a:off x="10214270" y="1868198"/>
              <a:ext cx="0" cy="452927"/>
            </a:xfrm>
            <a:prstGeom prst="straightConnector1">
              <a:avLst/>
            </a:prstGeom>
            <a:ln w="571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TextBox 112"/>
            <p:cNvSpPr txBox="1"/>
            <p:nvPr/>
          </p:nvSpPr>
          <p:spPr>
            <a:xfrm>
              <a:off x="9917163" y="1678802"/>
              <a:ext cx="3129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000" b="1" i="1" dirty="0" err="1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endParaRPr lang="en-US" sz="2000" b="1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4" name="Group 113"/>
          <p:cNvGrpSpPr/>
          <p:nvPr/>
        </p:nvGrpSpPr>
        <p:grpSpPr>
          <a:xfrm>
            <a:off x="4305881" y="1918331"/>
            <a:ext cx="312906" cy="642323"/>
            <a:chOff x="10413846" y="1661956"/>
            <a:chExt cx="312906" cy="642323"/>
          </a:xfrm>
        </p:grpSpPr>
        <p:cxnSp>
          <p:nvCxnSpPr>
            <p:cNvPr id="115" name="Straight Arrow Connector 114"/>
            <p:cNvCxnSpPr/>
            <p:nvPr/>
          </p:nvCxnSpPr>
          <p:spPr>
            <a:xfrm>
              <a:off x="10710953" y="1851352"/>
              <a:ext cx="0" cy="452927"/>
            </a:xfrm>
            <a:prstGeom prst="straightConnector1">
              <a:avLst/>
            </a:prstGeom>
            <a:ln w="571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TextBox 115"/>
            <p:cNvSpPr txBox="1"/>
            <p:nvPr/>
          </p:nvSpPr>
          <p:spPr>
            <a:xfrm>
              <a:off x="10413846" y="1661956"/>
              <a:ext cx="3129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000" b="1" i="1" dirty="0" err="1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endParaRPr lang="en-US" sz="2000" b="1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7" name="Group 116"/>
          <p:cNvGrpSpPr/>
          <p:nvPr/>
        </p:nvGrpSpPr>
        <p:grpSpPr>
          <a:xfrm>
            <a:off x="4909799" y="1943869"/>
            <a:ext cx="312906" cy="642323"/>
            <a:chOff x="11017764" y="1687494"/>
            <a:chExt cx="312906" cy="642323"/>
          </a:xfrm>
        </p:grpSpPr>
        <p:cxnSp>
          <p:nvCxnSpPr>
            <p:cNvPr id="118" name="Straight Arrow Connector 117"/>
            <p:cNvCxnSpPr/>
            <p:nvPr/>
          </p:nvCxnSpPr>
          <p:spPr>
            <a:xfrm>
              <a:off x="11314871" y="1876890"/>
              <a:ext cx="0" cy="452927"/>
            </a:xfrm>
            <a:prstGeom prst="straightConnector1">
              <a:avLst/>
            </a:prstGeom>
            <a:ln w="571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9" name="TextBox 118"/>
            <p:cNvSpPr txBox="1"/>
            <p:nvPr/>
          </p:nvSpPr>
          <p:spPr>
            <a:xfrm>
              <a:off x="11017764" y="1687494"/>
              <a:ext cx="3129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000" b="1" i="1" dirty="0" err="1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endParaRPr lang="en-US" sz="2000" b="1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20" name="Rectangle 119"/>
          <p:cNvSpPr/>
          <p:nvPr/>
        </p:nvSpPr>
        <p:spPr>
          <a:xfrm>
            <a:off x="3236399" y="4013035"/>
            <a:ext cx="560545" cy="5570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TextBox 120"/>
          <p:cNvSpPr txBox="1"/>
          <p:nvPr/>
        </p:nvSpPr>
        <p:spPr>
          <a:xfrm>
            <a:off x="3609916" y="3977827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3571487" y="3565592"/>
            <a:ext cx="373664" cy="3854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TextBox 122"/>
          <p:cNvSpPr txBox="1"/>
          <p:nvPr/>
        </p:nvSpPr>
        <p:spPr>
          <a:xfrm>
            <a:off x="3615641" y="356504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130570" y="2044154"/>
            <a:ext cx="560545" cy="5570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TextBox 124"/>
          <p:cNvSpPr txBox="1"/>
          <p:nvPr/>
        </p:nvSpPr>
        <p:spPr>
          <a:xfrm>
            <a:off x="1394387" y="220127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</a:p>
        </p:txBody>
      </p:sp>
      <p:sp>
        <p:nvSpPr>
          <p:cNvPr id="126" name="Oval 125"/>
          <p:cNvSpPr/>
          <p:nvPr/>
        </p:nvSpPr>
        <p:spPr>
          <a:xfrm>
            <a:off x="1083256" y="3628382"/>
            <a:ext cx="323881" cy="32388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Rectangle 126"/>
          <p:cNvSpPr/>
          <p:nvPr/>
        </p:nvSpPr>
        <p:spPr>
          <a:xfrm>
            <a:off x="905879" y="4036626"/>
            <a:ext cx="560545" cy="559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TextBox 127"/>
          <p:cNvSpPr txBox="1"/>
          <p:nvPr/>
        </p:nvSpPr>
        <p:spPr>
          <a:xfrm>
            <a:off x="1066334" y="398628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034331" y="3569745"/>
            <a:ext cx="404460" cy="4165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TextBox 129"/>
          <p:cNvSpPr txBox="1"/>
          <p:nvPr/>
        </p:nvSpPr>
        <p:spPr>
          <a:xfrm>
            <a:off x="1097549" y="358617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730687" y="2014987"/>
            <a:ext cx="560545" cy="5570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Oval 131"/>
          <p:cNvSpPr/>
          <p:nvPr/>
        </p:nvSpPr>
        <p:spPr>
          <a:xfrm>
            <a:off x="4114888" y="3619712"/>
            <a:ext cx="323881" cy="32388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Rectangle 132"/>
          <p:cNvSpPr/>
          <p:nvPr/>
        </p:nvSpPr>
        <p:spPr>
          <a:xfrm>
            <a:off x="4021685" y="4046728"/>
            <a:ext cx="560545" cy="5570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Rectangle 133"/>
          <p:cNvSpPr/>
          <p:nvPr/>
        </p:nvSpPr>
        <p:spPr>
          <a:xfrm>
            <a:off x="2226872" y="2025197"/>
            <a:ext cx="560545" cy="5570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Rectangle 134"/>
          <p:cNvSpPr/>
          <p:nvPr/>
        </p:nvSpPr>
        <p:spPr>
          <a:xfrm>
            <a:off x="4074613" y="3584228"/>
            <a:ext cx="412026" cy="3854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TextBox 135"/>
          <p:cNvSpPr txBox="1"/>
          <p:nvPr/>
        </p:nvSpPr>
        <p:spPr>
          <a:xfrm>
            <a:off x="4120376" y="356504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37" name="Oval 136"/>
          <p:cNvSpPr/>
          <p:nvPr/>
        </p:nvSpPr>
        <p:spPr>
          <a:xfrm>
            <a:off x="1586888" y="3630394"/>
            <a:ext cx="323881" cy="32388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Rectangle 137"/>
          <p:cNvSpPr/>
          <p:nvPr/>
        </p:nvSpPr>
        <p:spPr>
          <a:xfrm>
            <a:off x="1549994" y="3588892"/>
            <a:ext cx="395854" cy="3854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TextBox 138"/>
          <p:cNvSpPr txBox="1"/>
          <p:nvPr/>
        </p:nvSpPr>
        <p:spPr>
          <a:xfrm>
            <a:off x="1610720" y="357590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1493951" y="4056804"/>
            <a:ext cx="560545" cy="5570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Rectangle 140"/>
          <p:cNvSpPr/>
          <p:nvPr/>
        </p:nvSpPr>
        <p:spPr>
          <a:xfrm>
            <a:off x="2655494" y="2033807"/>
            <a:ext cx="560545" cy="5570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TextBox 141"/>
          <p:cNvSpPr txBox="1"/>
          <p:nvPr/>
        </p:nvSpPr>
        <p:spPr>
          <a:xfrm>
            <a:off x="2729960" y="2239988"/>
            <a:ext cx="5822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mid</a:t>
            </a:r>
          </a:p>
        </p:txBody>
      </p:sp>
      <p:sp>
        <p:nvSpPr>
          <p:cNvPr id="143" name="Oval 142"/>
          <p:cNvSpPr/>
          <p:nvPr/>
        </p:nvSpPr>
        <p:spPr>
          <a:xfrm>
            <a:off x="2102415" y="3619679"/>
            <a:ext cx="323881" cy="32388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Rectangle 143"/>
          <p:cNvSpPr/>
          <p:nvPr/>
        </p:nvSpPr>
        <p:spPr>
          <a:xfrm>
            <a:off x="1931892" y="4055528"/>
            <a:ext cx="560545" cy="5570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Rectangle 144"/>
          <p:cNvSpPr/>
          <p:nvPr/>
        </p:nvSpPr>
        <p:spPr>
          <a:xfrm>
            <a:off x="3396972" y="2025197"/>
            <a:ext cx="429290" cy="5570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Rectangle 145"/>
          <p:cNvSpPr/>
          <p:nvPr/>
        </p:nvSpPr>
        <p:spPr>
          <a:xfrm>
            <a:off x="2056832" y="3570879"/>
            <a:ext cx="397675" cy="3854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TextBox 146"/>
          <p:cNvSpPr txBox="1"/>
          <p:nvPr/>
        </p:nvSpPr>
        <p:spPr>
          <a:xfrm>
            <a:off x="2109015" y="358617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48" name="Oval 147"/>
          <p:cNvSpPr/>
          <p:nvPr/>
        </p:nvSpPr>
        <p:spPr>
          <a:xfrm>
            <a:off x="2605582" y="3611472"/>
            <a:ext cx="323881" cy="32388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Rectangle 148"/>
          <p:cNvSpPr/>
          <p:nvPr/>
        </p:nvSpPr>
        <p:spPr>
          <a:xfrm>
            <a:off x="2564310" y="3559869"/>
            <a:ext cx="389223" cy="4220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TextBox 149"/>
          <p:cNvSpPr txBox="1"/>
          <p:nvPr/>
        </p:nvSpPr>
        <p:spPr>
          <a:xfrm>
            <a:off x="2622186" y="357590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2608314" y="4054142"/>
            <a:ext cx="560545" cy="5570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TextBox 151"/>
          <p:cNvSpPr txBox="1"/>
          <p:nvPr/>
        </p:nvSpPr>
        <p:spPr>
          <a:xfrm>
            <a:off x="2918372" y="3962598"/>
            <a:ext cx="4555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n1</a:t>
            </a:r>
            <a:endParaRPr lang="en-US" sz="2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3" name="Straight Connector 152"/>
          <p:cNvCxnSpPr/>
          <p:nvPr/>
        </p:nvCxnSpPr>
        <p:spPr>
          <a:xfrm>
            <a:off x="3302668" y="2208037"/>
            <a:ext cx="4393" cy="1191338"/>
          </a:xfrm>
          <a:prstGeom prst="line">
            <a:avLst/>
          </a:prstGeom>
          <a:ln w="571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Rectangle 153"/>
          <p:cNvSpPr/>
          <p:nvPr/>
        </p:nvSpPr>
        <p:spPr>
          <a:xfrm>
            <a:off x="3783275" y="2026912"/>
            <a:ext cx="560545" cy="5570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5" name="Group 154"/>
          <p:cNvGrpSpPr/>
          <p:nvPr/>
        </p:nvGrpSpPr>
        <p:grpSpPr>
          <a:xfrm>
            <a:off x="2862035" y="4319086"/>
            <a:ext cx="255198" cy="587394"/>
            <a:chOff x="8916197" y="3792890"/>
            <a:chExt cx="255198" cy="587394"/>
          </a:xfrm>
        </p:grpSpPr>
        <p:cxnSp>
          <p:nvCxnSpPr>
            <p:cNvPr id="156" name="Straight Arrow Connector 155"/>
            <p:cNvCxnSpPr/>
            <p:nvPr/>
          </p:nvCxnSpPr>
          <p:spPr>
            <a:xfrm flipV="1">
              <a:off x="9170610" y="3792890"/>
              <a:ext cx="0" cy="492025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7" name="TextBox 156"/>
            <p:cNvSpPr txBox="1"/>
            <p:nvPr/>
          </p:nvSpPr>
          <p:spPr>
            <a:xfrm>
              <a:off x="8916197" y="3980174"/>
              <a:ext cx="255198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000" b="1" i="1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en-US" sz="20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58" name="Oval 157"/>
          <p:cNvSpPr/>
          <p:nvPr/>
        </p:nvSpPr>
        <p:spPr>
          <a:xfrm>
            <a:off x="4609559" y="3609756"/>
            <a:ext cx="323881" cy="32388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Rectangle 158"/>
          <p:cNvSpPr/>
          <p:nvPr/>
        </p:nvSpPr>
        <p:spPr>
          <a:xfrm>
            <a:off x="4582342" y="3574387"/>
            <a:ext cx="413230" cy="4062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TextBox 159"/>
          <p:cNvSpPr txBox="1"/>
          <p:nvPr/>
        </p:nvSpPr>
        <p:spPr>
          <a:xfrm>
            <a:off x="4610704" y="357531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4539580" y="4038063"/>
            <a:ext cx="560545" cy="5570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Rectangle 161"/>
          <p:cNvSpPr/>
          <p:nvPr/>
        </p:nvSpPr>
        <p:spPr>
          <a:xfrm>
            <a:off x="4295414" y="2025197"/>
            <a:ext cx="560545" cy="5570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Oval 162"/>
          <p:cNvSpPr/>
          <p:nvPr/>
        </p:nvSpPr>
        <p:spPr>
          <a:xfrm>
            <a:off x="5123521" y="3609145"/>
            <a:ext cx="323881" cy="32388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Rectangle 163"/>
          <p:cNvSpPr/>
          <p:nvPr/>
        </p:nvSpPr>
        <p:spPr>
          <a:xfrm>
            <a:off x="5104031" y="3565049"/>
            <a:ext cx="378663" cy="4155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TextBox 164"/>
          <p:cNvSpPr txBox="1"/>
          <p:nvPr/>
        </p:nvSpPr>
        <p:spPr>
          <a:xfrm>
            <a:off x="5129009" y="356504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5072106" y="4053545"/>
            <a:ext cx="560545" cy="5570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TextBox 166"/>
          <p:cNvSpPr txBox="1"/>
          <p:nvPr/>
        </p:nvSpPr>
        <p:spPr>
          <a:xfrm>
            <a:off x="5434762" y="3943732"/>
            <a:ext cx="4555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n2</a:t>
            </a:r>
            <a:endParaRPr lang="en-US" sz="2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8" name="Rectangle 167"/>
          <p:cNvSpPr/>
          <p:nvPr/>
        </p:nvSpPr>
        <p:spPr>
          <a:xfrm>
            <a:off x="4831268" y="2040765"/>
            <a:ext cx="560545" cy="5570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TextBox 168"/>
          <p:cNvSpPr txBox="1"/>
          <p:nvPr/>
        </p:nvSpPr>
        <p:spPr>
          <a:xfrm>
            <a:off x="4920409" y="220785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716646" y="4930234"/>
            <a:ext cx="21595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onsolas" panose="020B0609020204030204" pitchFamily="49" charset="0"/>
                <a:cs typeface="Times New Roman" panose="02020603050405020304" pitchFamily="18" charset="0"/>
              </a:rPr>
              <a:t>if (R[j]&lt;L[</a:t>
            </a:r>
            <a:r>
              <a:rPr lang="en-US" sz="2000" i="1" dirty="0" err="1">
                <a:latin typeface="Consolas" panose="020B0609020204030204" pitchFamily="49" charset="0"/>
                <a:cs typeface="Times New Roman" panose="02020603050405020304" pitchFamily="18" charset="0"/>
              </a:rPr>
              <a:t>i</a:t>
            </a:r>
            <a:r>
              <a:rPr lang="en-US" sz="2000" i="1" dirty="0">
                <a:latin typeface="Consolas" panose="020B0609020204030204" pitchFamily="49" charset="0"/>
                <a:cs typeface="Times New Roman" panose="02020603050405020304" pitchFamily="18" charset="0"/>
              </a:rPr>
              <a:t>])</a:t>
            </a:r>
            <a:endParaRPr lang="en-US" i="1" dirty="0"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73" name="TextBox 172"/>
          <p:cNvSpPr txBox="1"/>
          <p:nvPr/>
        </p:nvSpPr>
        <p:spPr>
          <a:xfrm>
            <a:off x="7513314" y="5293595"/>
            <a:ext cx="21707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 err="1">
                <a:latin typeface="Consolas" panose="020B0609020204030204" pitchFamily="49" charset="0"/>
                <a:cs typeface="Times New Roman" panose="02020603050405020304" pitchFamily="18" charset="0"/>
              </a:rPr>
              <a:t>Arr</a:t>
            </a:r>
            <a:r>
              <a:rPr lang="en-US" sz="2000" i="1" dirty="0">
                <a:latin typeface="Consolas" panose="020B0609020204030204" pitchFamily="49" charset="0"/>
                <a:cs typeface="Times New Roman" panose="02020603050405020304" pitchFamily="18" charset="0"/>
              </a:rPr>
              <a:t>[k]</a:t>
            </a:r>
            <a:r>
              <a:rPr lang="en-US" i="1" dirty="0">
                <a:latin typeface="Consolas" panose="020B0609020204030204" pitchFamily="49" charset="0"/>
              </a:rPr>
              <a:t> ← R[j++]</a:t>
            </a:r>
            <a:endParaRPr lang="en-US" i="1" dirty="0"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74" name="TextBox 173"/>
          <p:cNvSpPr txBox="1"/>
          <p:nvPr/>
        </p:nvSpPr>
        <p:spPr>
          <a:xfrm>
            <a:off x="6774543" y="5560332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onsolas" panose="020B0609020204030204" pitchFamily="49" charset="0"/>
                <a:cs typeface="Times New Roman" panose="02020603050405020304" pitchFamily="18" charset="0"/>
              </a:rPr>
              <a:t>else</a:t>
            </a:r>
            <a:endParaRPr lang="en-US" i="1" dirty="0"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75" name="TextBox 174"/>
          <p:cNvSpPr txBox="1"/>
          <p:nvPr/>
        </p:nvSpPr>
        <p:spPr>
          <a:xfrm>
            <a:off x="7431245" y="5911114"/>
            <a:ext cx="21707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 err="1">
                <a:latin typeface="Consolas" panose="020B0609020204030204" pitchFamily="49" charset="0"/>
                <a:cs typeface="Times New Roman" panose="02020603050405020304" pitchFamily="18" charset="0"/>
              </a:rPr>
              <a:t>Arr</a:t>
            </a:r>
            <a:r>
              <a:rPr lang="en-US" sz="2000" i="1" dirty="0">
                <a:latin typeface="Consolas" panose="020B0609020204030204" pitchFamily="49" charset="0"/>
                <a:cs typeface="Times New Roman" panose="02020603050405020304" pitchFamily="18" charset="0"/>
              </a:rPr>
              <a:t>[k]</a:t>
            </a:r>
            <a:r>
              <a:rPr lang="en-US" i="1" dirty="0">
                <a:latin typeface="Consolas" panose="020B0609020204030204" pitchFamily="49" charset="0"/>
              </a:rPr>
              <a:t> ← L[</a:t>
            </a:r>
            <a:r>
              <a:rPr lang="en-US" i="1" dirty="0" err="1">
                <a:latin typeface="Consolas" panose="020B0609020204030204" pitchFamily="49" charset="0"/>
              </a:rPr>
              <a:t>i</a:t>
            </a:r>
            <a:r>
              <a:rPr lang="en-US" i="1" dirty="0">
                <a:latin typeface="Consolas" panose="020B0609020204030204" pitchFamily="49" charset="0"/>
              </a:rPr>
              <a:t>++]</a:t>
            </a:r>
            <a:endParaRPr lang="en-US" i="1" dirty="0"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76" name="TextBox 175"/>
          <p:cNvSpPr txBox="1"/>
          <p:nvPr/>
        </p:nvSpPr>
        <p:spPr>
          <a:xfrm>
            <a:off x="6151689" y="1716298"/>
            <a:ext cx="24416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solidFill>
                  <a:srgbClr val="C0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merge(</a:t>
            </a:r>
            <a:r>
              <a:rPr lang="en-US" sz="2000" b="1" i="1" dirty="0" err="1">
                <a:solidFill>
                  <a:srgbClr val="C0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Arr</a:t>
            </a:r>
            <a:r>
              <a:rPr lang="en-US" sz="2000" b="1" i="1" dirty="0">
                <a:solidFill>
                  <a:srgbClr val="C0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, p, q)</a:t>
            </a:r>
            <a:endParaRPr lang="en-US" b="1" i="1" dirty="0">
              <a:solidFill>
                <a:srgbClr val="C00000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77" name="TextBox 176"/>
          <p:cNvSpPr txBox="1"/>
          <p:nvPr/>
        </p:nvSpPr>
        <p:spPr>
          <a:xfrm>
            <a:off x="6457906" y="2029661"/>
            <a:ext cx="18886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onsolas" panose="020B0609020204030204" pitchFamily="49" charset="0"/>
                <a:cs typeface="Times New Roman" panose="02020603050405020304" pitchFamily="18" charset="0"/>
              </a:rPr>
              <a:t>mid </a:t>
            </a:r>
            <a:r>
              <a:rPr lang="en-US" i="1" dirty="0">
                <a:latin typeface="Consolas" panose="020B0609020204030204" pitchFamily="49" charset="0"/>
              </a:rPr>
              <a:t>← (</a:t>
            </a:r>
            <a:r>
              <a:rPr lang="en-US" i="1" dirty="0" err="1">
                <a:latin typeface="Consolas" panose="020B0609020204030204" pitchFamily="49" charset="0"/>
              </a:rPr>
              <a:t>p+q</a:t>
            </a:r>
            <a:r>
              <a:rPr lang="en-US" i="1" dirty="0">
                <a:latin typeface="Consolas" panose="020B0609020204030204" pitchFamily="49" charset="0"/>
              </a:rPr>
              <a:t>)/2</a:t>
            </a:r>
            <a:endParaRPr lang="en-US" i="1" dirty="0"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grpSp>
        <p:nvGrpSpPr>
          <p:cNvPr id="96" name="Group 95"/>
          <p:cNvGrpSpPr/>
          <p:nvPr/>
        </p:nvGrpSpPr>
        <p:grpSpPr>
          <a:xfrm>
            <a:off x="5180867" y="1950536"/>
            <a:ext cx="312906" cy="642323"/>
            <a:chOff x="8081207" y="953919"/>
            <a:chExt cx="312906" cy="642323"/>
          </a:xfrm>
        </p:grpSpPr>
        <p:cxnSp>
          <p:nvCxnSpPr>
            <p:cNvPr id="97" name="Straight Arrow Connector 96"/>
            <p:cNvCxnSpPr/>
            <p:nvPr/>
          </p:nvCxnSpPr>
          <p:spPr>
            <a:xfrm>
              <a:off x="8378314" y="1143315"/>
              <a:ext cx="0" cy="452927"/>
            </a:xfrm>
            <a:prstGeom prst="straightConnector1">
              <a:avLst/>
            </a:prstGeom>
            <a:ln w="571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TextBox 97"/>
            <p:cNvSpPr txBox="1"/>
            <p:nvPr/>
          </p:nvSpPr>
          <p:spPr>
            <a:xfrm>
              <a:off x="8081207" y="953919"/>
              <a:ext cx="3129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000" b="1" i="1" dirty="0" err="1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endParaRPr lang="en-US" sz="2000" b="1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4" name="Group 83"/>
          <p:cNvGrpSpPr/>
          <p:nvPr/>
        </p:nvGrpSpPr>
        <p:grpSpPr>
          <a:xfrm>
            <a:off x="5433282" y="4272525"/>
            <a:ext cx="255198" cy="587394"/>
            <a:chOff x="10662647" y="5504713"/>
            <a:chExt cx="255198" cy="587394"/>
          </a:xfrm>
        </p:grpSpPr>
        <p:cxnSp>
          <p:nvCxnSpPr>
            <p:cNvPr id="85" name="Straight Arrow Connector 84"/>
            <p:cNvCxnSpPr/>
            <p:nvPr/>
          </p:nvCxnSpPr>
          <p:spPr>
            <a:xfrm flipV="1">
              <a:off x="10917060" y="5504713"/>
              <a:ext cx="0" cy="492025"/>
            </a:xfrm>
            <a:prstGeom prst="straightConnector1">
              <a:avLst/>
            </a:prstGeom>
            <a:ln w="571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Box 85"/>
            <p:cNvSpPr txBox="1"/>
            <p:nvPr/>
          </p:nvSpPr>
          <p:spPr>
            <a:xfrm>
              <a:off x="10662647" y="5691997"/>
              <a:ext cx="255198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000" b="1" i="1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endParaRPr lang="en-US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8" name="TextBox 177"/>
          <p:cNvSpPr txBox="1"/>
          <p:nvPr/>
        </p:nvSpPr>
        <p:spPr>
          <a:xfrm>
            <a:off x="8610839" y="2044560"/>
            <a:ext cx="17475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onsolas" panose="020B0609020204030204" pitchFamily="49" charset="0"/>
                <a:cs typeface="Times New Roman" panose="02020603050405020304" pitchFamily="18" charset="0"/>
              </a:rPr>
              <a:t>n1 </a:t>
            </a:r>
            <a:r>
              <a:rPr lang="en-US" i="1" dirty="0">
                <a:latin typeface="Consolas" panose="020B0609020204030204" pitchFamily="49" charset="0"/>
              </a:rPr>
              <a:t>← mid-p+1</a:t>
            </a:r>
            <a:endParaRPr lang="en-US" i="1" dirty="0"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79" name="TextBox 178"/>
          <p:cNvSpPr txBox="1"/>
          <p:nvPr/>
        </p:nvSpPr>
        <p:spPr>
          <a:xfrm>
            <a:off x="10622707" y="2042963"/>
            <a:ext cx="14943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onsolas" panose="020B0609020204030204" pitchFamily="49" charset="0"/>
                <a:cs typeface="Times New Roman" panose="02020603050405020304" pitchFamily="18" charset="0"/>
              </a:rPr>
              <a:t>n2 </a:t>
            </a:r>
            <a:r>
              <a:rPr lang="en-US" i="1" dirty="0">
                <a:latin typeface="Consolas" panose="020B0609020204030204" pitchFamily="49" charset="0"/>
              </a:rPr>
              <a:t>← q-mid</a:t>
            </a:r>
            <a:endParaRPr lang="en-US" i="1" dirty="0"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0" name="TextBox 179"/>
          <p:cNvSpPr txBox="1"/>
          <p:nvPr/>
        </p:nvSpPr>
        <p:spPr>
          <a:xfrm>
            <a:off x="6399125" y="2381746"/>
            <a:ext cx="56861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onsolas" panose="020B0609020204030204" pitchFamily="49" charset="0"/>
                <a:cs typeface="Times New Roman" panose="02020603050405020304" pitchFamily="18" charset="0"/>
              </a:rPr>
              <a:t>create arrays L[0 to n1] and R[0 to n2]</a:t>
            </a:r>
            <a:endParaRPr lang="en-US" i="1" dirty="0"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95" name="Rectangle 194"/>
          <p:cNvSpPr/>
          <p:nvPr/>
        </p:nvSpPr>
        <p:spPr>
          <a:xfrm>
            <a:off x="5553829" y="3513727"/>
            <a:ext cx="315418" cy="50945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Rectangle 196"/>
          <p:cNvSpPr/>
          <p:nvPr/>
        </p:nvSpPr>
        <p:spPr>
          <a:xfrm>
            <a:off x="3003591" y="3510518"/>
            <a:ext cx="315418" cy="50945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" name="TextBox 195"/>
          <p:cNvSpPr txBox="1"/>
          <p:nvPr/>
        </p:nvSpPr>
        <p:spPr>
          <a:xfrm>
            <a:off x="2969794" y="3538665"/>
            <a:ext cx="3674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8" name="TextBox 197"/>
          <p:cNvSpPr txBox="1"/>
          <p:nvPr/>
        </p:nvSpPr>
        <p:spPr>
          <a:xfrm>
            <a:off x="5518988" y="3541347"/>
            <a:ext cx="3674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9" name="TextBox 198"/>
          <p:cNvSpPr txBox="1"/>
          <p:nvPr/>
        </p:nvSpPr>
        <p:spPr>
          <a:xfrm>
            <a:off x="6345384" y="3992758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onsolas" panose="020B0609020204030204" pitchFamily="49" charset="0"/>
                <a:cs typeface="Times New Roman" panose="02020603050405020304" pitchFamily="18" charset="0"/>
              </a:rPr>
              <a:t>L[n1] </a:t>
            </a:r>
            <a:r>
              <a:rPr lang="en-US" i="1" dirty="0">
                <a:latin typeface="Consolas" panose="020B0609020204030204" pitchFamily="49" charset="0"/>
              </a:rPr>
              <a:t>←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0" name="TextBox 199"/>
          <p:cNvSpPr txBox="1"/>
          <p:nvPr/>
        </p:nvSpPr>
        <p:spPr>
          <a:xfrm>
            <a:off x="8470140" y="3985649"/>
            <a:ext cx="14494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onsolas" panose="020B0609020204030204" pitchFamily="49" charset="0"/>
                <a:cs typeface="Times New Roman" panose="02020603050405020304" pitchFamily="18" charset="0"/>
              </a:rPr>
              <a:t>R[n2] </a:t>
            </a:r>
            <a:r>
              <a:rPr lang="en-US" i="1" dirty="0">
                <a:latin typeface="Consolas" panose="020B0609020204030204" pitchFamily="49" charset="0"/>
              </a:rPr>
              <a:t>←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6414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7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8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9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0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3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4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5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>
                      <p:stCondLst>
                        <p:cond delay="indefinite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6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indefinite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>
                      <p:stCondLst>
                        <p:cond delay="indefinite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6" dur="5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7" dur="5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0" dur="5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1" dur="5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" fill="hold">
                      <p:stCondLst>
                        <p:cond delay="indefinite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6" dur="5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7" dur="5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8" fill="hold">
                      <p:stCondLst>
                        <p:cond delay="indefinite"/>
                      </p:stCondLst>
                      <p:childTnLst>
                        <p:par>
                          <p:cTn id="309" fill="hold">
                            <p:stCondLst>
                              <p:cond delay="0"/>
                            </p:stCondLst>
                            <p:childTnLst>
                              <p:par>
                                <p:cTn id="3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2" dur="5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3" dur="5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4" fill="hold">
                      <p:stCondLst>
                        <p:cond delay="indefinite"/>
                      </p:stCondLst>
                      <p:childTnLst>
                        <p:par>
                          <p:cTn id="315" fill="hold">
                            <p:stCondLst>
                              <p:cond delay="0"/>
                            </p:stCondLst>
                            <p:childTnLst>
                              <p:par>
                                <p:cTn id="3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0" fill="hold">
                      <p:stCondLst>
                        <p:cond delay="indefinite"/>
                      </p:stCondLst>
                      <p:childTnLst>
                        <p:par>
                          <p:cTn id="321" fill="hold">
                            <p:stCondLst>
                              <p:cond delay="0"/>
                            </p:stCondLst>
                            <p:childTnLst>
                              <p:par>
                                <p:cTn id="3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6" fill="hold">
                      <p:stCondLst>
                        <p:cond delay="indefinite"/>
                      </p:stCondLst>
                      <p:childTnLst>
                        <p:par>
                          <p:cTn id="327" fill="hold">
                            <p:stCondLst>
                              <p:cond delay="0"/>
                            </p:stCondLst>
                            <p:childTnLst>
                              <p:par>
                                <p:cTn id="3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6" fill="hold">
                      <p:stCondLst>
                        <p:cond delay="indefinite"/>
                      </p:stCondLst>
                      <p:childTnLst>
                        <p:par>
                          <p:cTn id="337" fill="hold">
                            <p:stCondLst>
                              <p:cond delay="0"/>
                            </p:stCondLst>
                            <p:childTnLst>
                              <p:par>
                                <p:cTn id="3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2" fill="hold">
                      <p:stCondLst>
                        <p:cond delay="indefinite"/>
                      </p:stCondLst>
                      <p:childTnLst>
                        <p:par>
                          <p:cTn id="343" fill="hold">
                            <p:stCondLst>
                              <p:cond delay="0"/>
                            </p:stCondLst>
                            <p:childTnLst>
                              <p:par>
                                <p:cTn id="344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8" fill="hold">
                      <p:stCondLst>
                        <p:cond delay="indefinite"/>
                      </p:stCondLst>
                      <p:childTnLst>
                        <p:par>
                          <p:cTn id="349" fill="hold">
                            <p:stCondLst>
                              <p:cond delay="0"/>
                            </p:stCondLst>
                            <p:childTnLst>
                              <p:par>
                                <p:cTn id="3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4" fill="hold">
                      <p:stCondLst>
                        <p:cond delay="indefinite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9" fill="hold">
                      <p:stCondLst>
                        <p:cond delay="indefinite"/>
                      </p:stCondLst>
                      <p:childTnLst>
                        <p:par>
                          <p:cTn id="360" fill="hold">
                            <p:stCondLst>
                              <p:cond delay="0"/>
                            </p:stCondLst>
                            <p:childTnLst>
                              <p:par>
                                <p:cTn id="36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4" fill="hold">
                      <p:stCondLst>
                        <p:cond delay="indefinite"/>
                      </p:stCondLst>
                      <p:childTnLst>
                        <p:par>
                          <p:cTn id="365" fill="hold">
                            <p:stCondLst>
                              <p:cond delay="0"/>
                            </p:stCondLst>
                            <p:childTnLst>
                              <p:par>
                                <p:cTn id="3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8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4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0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1" fill="hold">
                      <p:stCondLst>
                        <p:cond delay="indefinite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5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6" fill="hold">
                      <p:stCondLst>
                        <p:cond delay="indefinite"/>
                      </p:stCondLst>
                      <p:childTnLst>
                        <p:par>
                          <p:cTn id="387" fill="hold">
                            <p:stCondLst>
                              <p:cond delay="0"/>
                            </p:stCondLst>
                            <p:childTnLst>
                              <p:par>
                                <p:cTn id="38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1" fill="hold">
                      <p:stCondLst>
                        <p:cond delay="indefinite"/>
                      </p:stCondLst>
                      <p:childTnLst>
                        <p:par>
                          <p:cTn id="392" fill="hold">
                            <p:stCondLst>
                              <p:cond delay="0"/>
                            </p:stCondLst>
                            <p:childTnLst>
                              <p:par>
                                <p:cTn id="3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5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8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1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4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8" fill="hold">
                      <p:stCondLst>
                        <p:cond delay="indefinite"/>
                      </p:stCondLst>
                      <p:childTnLst>
                        <p:par>
                          <p:cTn id="409" fill="hold">
                            <p:stCondLst>
                              <p:cond delay="0"/>
                            </p:stCondLst>
                            <p:childTnLst>
                              <p:par>
                                <p:cTn id="4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2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3" fill="hold">
                      <p:stCondLst>
                        <p:cond delay="indefinite"/>
                      </p:stCondLst>
                      <p:childTnLst>
                        <p:par>
                          <p:cTn id="414" fill="hold">
                            <p:stCondLst>
                              <p:cond delay="0"/>
                            </p:stCondLst>
                            <p:childTnLst>
                              <p:par>
                                <p:cTn id="4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8" fill="hold">
                      <p:stCondLst>
                        <p:cond delay="indefinite"/>
                      </p:stCondLst>
                      <p:childTnLst>
                        <p:par>
                          <p:cTn id="419" fill="hold">
                            <p:stCondLst>
                              <p:cond delay="0"/>
                            </p:stCondLst>
                            <p:childTnLst>
                              <p:par>
                                <p:cTn id="4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2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5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8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1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5" fill="hold">
                      <p:stCondLst>
                        <p:cond delay="indefinite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9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0" fill="hold">
                      <p:stCondLst>
                        <p:cond delay="indefinite"/>
                      </p:stCondLst>
                      <p:childTnLst>
                        <p:par>
                          <p:cTn id="441" fill="hold">
                            <p:stCondLst>
                              <p:cond delay="0"/>
                            </p:stCondLst>
                            <p:childTnLst>
                              <p:par>
                                <p:cTn id="4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5" fill="hold">
                      <p:stCondLst>
                        <p:cond delay="indefinite"/>
                      </p:stCondLst>
                      <p:childTnLst>
                        <p:par>
                          <p:cTn id="446" fill="hold">
                            <p:stCondLst>
                              <p:cond delay="0"/>
                            </p:stCondLst>
                            <p:childTnLst>
                              <p:par>
                                <p:cTn id="4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9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2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5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1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2" fill="hold">
                      <p:stCondLst>
                        <p:cond delay="indefinite"/>
                      </p:stCondLst>
                      <p:childTnLst>
                        <p:par>
                          <p:cTn id="463" fill="hold">
                            <p:stCondLst>
                              <p:cond delay="0"/>
                            </p:stCondLst>
                            <p:childTnLst>
                              <p:par>
                                <p:cTn id="46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6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7" fill="hold">
                      <p:stCondLst>
                        <p:cond delay="indefinite"/>
                      </p:stCondLst>
                      <p:childTnLst>
                        <p:par>
                          <p:cTn id="468" fill="hold">
                            <p:stCondLst>
                              <p:cond delay="0"/>
                            </p:stCondLst>
                            <p:childTnLst>
                              <p:par>
                                <p:cTn id="46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2" fill="hold">
                      <p:stCondLst>
                        <p:cond delay="indefinite"/>
                      </p:stCondLst>
                      <p:childTnLst>
                        <p:par>
                          <p:cTn id="473" fill="hold">
                            <p:stCondLst>
                              <p:cond delay="0"/>
                            </p:stCondLst>
                            <p:childTnLst>
                              <p:par>
                                <p:cTn id="4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6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9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5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8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9" fill="hold">
                      <p:stCondLst>
                        <p:cond delay="indefinite"/>
                      </p:stCondLst>
                      <p:childTnLst>
                        <p:par>
                          <p:cTn id="490" fill="hold">
                            <p:stCondLst>
                              <p:cond delay="0"/>
                            </p:stCondLst>
                            <p:childTnLst>
                              <p:par>
                                <p:cTn id="49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3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4" fill="hold">
                      <p:stCondLst>
                        <p:cond delay="indefinite"/>
                      </p:stCondLst>
                      <p:childTnLst>
                        <p:par>
                          <p:cTn id="495" fill="hold">
                            <p:stCondLst>
                              <p:cond delay="0"/>
                            </p:stCondLst>
                            <p:childTnLst>
                              <p:par>
                                <p:cTn id="49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9" fill="hold">
                      <p:stCondLst>
                        <p:cond delay="indefinite"/>
                      </p:stCondLst>
                      <p:childTnLst>
                        <p:par>
                          <p:cTn id="500" fill="hold">
                            <p:stCondLst>
                              <p:cond delay="0"/>
                            </p:stCondLst>
                            <p:childTnLst>
                              <p:par>
                                <p:cTn id="5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3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6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9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2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5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6" fill="hold">
                      <p:stCondLst>
                        <p:cond delay="indefinite"/>
                      </p:stCondLst>
                      <p:childTnLst>
                        <p:par>
                          <p:cTn id="517" fill="hold">
                            <p:stCondLst>
                              <p:cond delay="0"/>
                            </p:stCondLst>
                            <p:childTnLst>
                              <p:par>
                                <p:cTn id="5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0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1" fill="hold">
                      <p:stCondLst>
                        <p:cond delay="indefinite"/>
                      </p:stCondLst>
                      <p:childTnLst>
                        <p:par>
                          <p:cTn id="522" fill="hold">
                            <p:stCondLst>
                              <p:cond delay="0"/>
                            </p:stCondLst>
                            <p:childTnLst>
                              <p:par>
                                <p:cTn id="5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6" fill="hold">
                      <p:stCondLst>
                        <p:cond delay="indefinite"/>
                      </p:stCondLst>
                      <p:childTnLst>
                        <p:par>
                          <p:cTn id="527" fill="hold">
                            <p:stCondLst>
                              <p:cond delay="0"/>
                            </p:stCondLst>
                            <p:childTnLst>
                              <p:par>
                                <p:cTn id="5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0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3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6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2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3" fill="hold">
                      <p:stCondLst>
                        <p:cond delay="indefinite"/>
                      </p:stCondLst>
                      <p:childTnLst>
                        <p:par>
                          <p:cTn id="544" fill="hold">
                            <p:stCondLst>
                              <p:cond delay="0"/>
                            </p:stCondLst>
                            <p:childTnLst>
                              <p:par>
                                <p:cTn id="5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7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8" fill="hold">
                      <p:stCondLst>
                        <p:cond delay="indefinite"/>
                      </p:stCondLst>
                      <p:childTnLst>
                        <p:par>
                          <p:cTn id="549" fill="hold">
                            <p:stCondLst>
                              <p:cond delay="0"/>
                            </p:stCondLst>
                            <p:childTnLst>
                              <p:par>
                                <p:cTn id="5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3" fill="hold">
                      <p:stCondLst>
                        <p:cond delay="indefinite"/>
                      </p:stCondLst>
                      <p:childTnLst>
                        <p:par>
                          <p:cTn id="554" fill="hold">
                            <p:stCondLst>
                              <p:cond delay="0"/>
                            </p:stCondLst>
                            <p:childTnLst>
                              <p:par>
                                <p:cTn id="5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7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0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3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0" fill="hold">
                      <p:stCondLst>
                        <p:cond delay="indefinite"/>
                      </p:stCondLst>
                      <p:childTnLst>
                        <p:par>
                          <p:cTn id="571" fill="hold">
                            <p:stCondLst>
                              <p:cond delay="0"/>
                            </p:stCondLst>
                            <p:childTnLst>
                              <p:par>
                                <p:cTn id="57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4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5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6" fill="hold">
                      <p:stCondLst>
                        <p:cond delay="indefinite"/>
                      </p:stCondLst>
                      <p:childTnLst>
                        <p:par>
                          <p:cTn id="577" fill="hold">
                            <p:stCondLst>
                              <p:cond delay="0"/>
                            </p:stCondLst>
                            <p:childTnLst>
                              <p:par>
                                <p:cTn id="57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0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1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2" fill="hold">
                      <p:stCondLst>
                        <p:cond delay="indefinite"/>
                      </p:stCondLst>
                      <p:childTnLst>
                        <p:par>
                          <p:cTn id="583" fill="hold">
                            <p:stCondLst>
                              <p:cond delay="0"/>
                            </p:stCondLst>
                            <p:childTnLst>
                              <p:par>
                                <p:cTn id="58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6" dur="5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7" dur="5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8" fill="hold">
                      <p:stCondLst>
                        <p:cond delay="indefinite"/>
                      </p:stCondLst>
                      <p:childTnLst>
                        <p:par>
                          <p:cTn id="589" fill="hold">
                            <p:stCondLst>
                              <p:cond delay="0"/>
                            </p:stCondLst>
                            <p:childTnLst>
                              <p:par>
                                <p:cTn id="59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2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3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 animBg="1"/>
      <p:bldP spid="29" grpId="0"/>
      <p:bldP spid="30" grpId="0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/>
      <p:bldP spid="42" grpId="0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/>
      <p:bldP spid="52" grpId="0"/>
      <p:bldP spid="53" grpId="0"/>
      <p:bldP spid="54" grpId="0"/>
      <p:bldP spid="59" grpId="0"/>
      <p:bldP spid="60" grpId="0"/>
      <p:bldP spid="61" grpId="0"/>
      <p:bldP spid="65" grpId="0"/>
      <p:bldP spid="66" grpId="0" animBg="1"/>
      <p:bldP spid="67" grpId="0"/>
      <p:bldP spid="68" grpId="0"/>
      <p:bldP spid="69" grpId="0"/>
      <p:bldP spid="70" grpId="0"/>
      <p:bldP spid="71" grpId="0"/>
      <p:bldP spid="72" grpId="0"/>
      <p:bldP spid="73" grpId="0"/>
      <p:bldP spid="74" grpId="0"/>
      <p:bldP spid="120" grpId="0" animBg="1"/>
      <p:bldP spid="121" grpId="0"/>
      <p:bldP spid="122" grpId="0" animBg="1"/>
      <p:bldP spid="123" grpId="0"/>
      <p:bldP spid="124" grpId="0" animBg="1"/>
      <p:bldP spid="125" grpId="0"/>
      <p:bldP spid="126" grpId="0" animBg="1"/>
      <p:bldP spid="127" grpId="0" animBg="1"/>
      <p:bldP spid="128" grpId="0"/>
      <p:bldP spid="129" grpId="0" animBg="1"/>
      <p:bldP spid="130" grpId="0"/>
      <p:bldP spid="131" grpId="0" animBg="1"/>
      <p:bldP spid="132" grpId="0" animBg="1"/>
      <p:bldP spid="133" grpId="0" animBg="1"/>
      <p:bldP spid="134" grpId="0" animBg="1"/>
      <p:bldP spid="135" grpId="0" animBg="1"/>
      <p:bldP spid="136" grpId="0"/>
      <p:bldP spid="137" grpId="0" animBg="1"/>
      <p:bldP spid="138" grpId="0" animBg="1"/>
      <p:bldP spid="139" grpId="0"/>
      <p:bldP spid="140" grpId="0" animBg="1"/>
      <p:bldP spid="141" grpId="0" animBg="1"/>
      <p:bldP spid="142" grpId="0"/>
      <p:bldP spid="143" grpId="0" animBg="1"/>
      <p:bldP spid="144" grpId="0" animBg="1"/>
      <p:bldP spid="145" grpId="0" animBg="1"/>
      <p:bldP spid="146" grpId="0" animBg="1"/>
      <p:bldP spid="147" grpId="0"/>
      <p:bldP spid="148" grpId="0" animBg="1"/>
      <p:bldP spid="149" grpId="0" animBg="1"/>
      <p:bldP spid="150" grpId="0"/>
      <p:bldP spid="151" grpId="0" animBg="1"/>
      <p:bldP spid="152" grpId="0"/>
      <p:bldP spid="154" grpId="0" animBg="1"/>
      <p:bldP spid="158" grpId="0" animBg="1"/>
      <p:bldP spid="159" grpId="0" animBg="1"/>
      <p:bldP spid="160" grpId="0"/>
      <p:bldP spid="161" grpId="0" animBg="1"/>
      <p:bldP spid="162" grpId="0" animBg="1"/>
      <p:bldP spid="163" grpId="0" animBg="1"/>
      <p:bldP spid="164" grpId="0" animBg="1"/>
      <p:bldP spid="165" grpId="0"/>
      <p:bldP spid="166" grpId="0" animBg="1"/>
      <p:bldP spid="167" grpId="0"/>
      <p:bldP spid="168" grpId="0" animBg="1"/>
      <p:bldP spid="169" grpId="0"/>
      <p:bldP spid="170" grpId="0"/>
      <p:bldP spid="173" grpId="0"/>
      <p:bldP spid="174" grpId="0"/>
      <p:bldP spid="175" grpId="0"/>
      <p:bldP spid="176" grpId="0"/>
      <p:bldP spid="177" grpId="0"/>
      <p:bldP spid="178" grpId="0"/>
      <p:bldP spid="179" grpId="0"/>
      <p:bldP spid="180" grpId="0"/>
      <p:bldP spid="195" grpId="0" animBg="1"/>
      <p:bldP spid="197" grpId="0" animBg="1"/>
      <p:bldP spid="196" grpId="0"/>
      <p:bldP spid="198" grpId="0"/>
      <p:bldP spid="199" grpId="0"/>
      <p:bldP spid="20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MERGE SORT (TIME COMPLEXITY)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33644" y="1799890"/>
            <a:ext cx="22188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merge_sort</a:t>
            </a:r>
            <a:r>
              <a:rPr lang="en-US" sz="20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(A, p, q)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23302" y="2444299"/>
            <a:ext cx="17956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mid ← (</a:t>
            </a:r>
            <a:r>
              <a:rPr lang="en-US" sz="20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p+q</a:t>
            </a:r>
            <a:r>
              <a:rPr lang="en-US" sz="20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)/2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5678" y="2729311"/>
            <a:ext cx="23599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merge_sort</a:t>
            </a:r>
            <a:r>
              <a:rPr lang="en-US" sz="20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A,p,mid</a:t>
            </a:r>
            <a:r>
              <a:rPr lang="en-US" sz="20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23302" y="3091482"/>
            <a:ext cx="26340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merge_sort</a:t>
            </a:r>
            <a:r>
              <a:rPr lang="en-US" sz="20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(A,mid+1,q)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5678" y="3424603"/>
            <a:ext cx="15648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merge(</a:t>
            </a:r>
            <a:r>
              <a:rPr lang="en-US" sz="20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A,p,q</a:t>
            </a:r>
            <a:r>
              <a:rPr lang="en-US" sz="20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80712" y="2116194"/>
            <a:ext cx="13404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p&lt;q then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799890"/>
            <a:ext cx="64459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there are 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elements in the array indexed from 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256521"/>
            <a:ext cx="58947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lang="en-US" sz="20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merge_sort</a:t>
            </a:r>
            <a:r>
              <a:rPr lang="en-US" sz="20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(A, p, q)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takes T(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time to be solved</a:t>
            </a:r>
            <a:endParaRPr 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359625" y="1799890"/>
            <a:ext cx="6543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T(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Straight Arrow Connector 15"/>
          <p:cNvCxnSpPr>
            <a:stCxn id="5" idx="3"/>
            <a:endCxn id="14" idx="1"/>
          </p:cNvCxnSpPr>
          <p:nvPr/>
        </p:nvCxnSpPr>
        <p:spPr>
          <a:xfrm>
            <a:off x="9852521" y="1999945"/>
            <a:ext cx="150710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97280" y="2698577"/>
            <a:ext cx="66401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</a:t>
            </a:r>
            <a:r>
              <a:rPr lang="en-US" sz="20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merge_sort</a:t>
            </a:r>
            <a:r>
              <a:rPr lang="en-US" sz="20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(A, p, mid)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 take T(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/2) time to be solved</a:t>
            </a:r>
            <a:endParaRPr 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353767" y="2729311"/>
            <a:ext cx="853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T(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n/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endParaRPr 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Straight Arrow Connector 21"/>
          <p:cNvCxnSpPr>
            <a:stCxn id="7" idx="3"/>
            <a:endCxn id="18" idx="1"/>
          </p:cNvCxnSpPr>
          <p:nvPr/>
        </p:nvCxnSpPr>
        <p:spPr>
          <a:xfrm>
            <a:off x="10775619" y="2929366"/>
            <a:ext cx="57814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1353767" y="3087637"/>
            <a:ext cx="853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T(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n/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endParaRPr 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360650" y="3424603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cn</a:t>
            </a:r>
            <a:endParaRPr 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Straight Arrow Connector 27"/>
          <p:cNvCxnSpPr>
            <a:stCxn id="8" idx="3"/>
            <a:endCxn id="23" idx="1"/>
          </p:cNvCxnSpPr>
          <p:nvPr/>
        </p:nvCxnSpPr>
        <p:spPr>
          <a:xfrm flipV="1">
            <a:off x="11057356" y="3287692"/>
            <a:ext cx="296411" cy="38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9" idx="3"/>
            <a:endCxn id="26" idx="1"/>
          </p:cNvCxnSpPr>
          <p:nvPr/>
        </p:nvCxnSpPr>
        <p:spPr>
          <a:xfrm>
            <a:off x="9980530" y="3624658"/>
            <a:ext cx="138012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097280" y="3146740"/>
            <a:ext cx="6943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</a:t>
            </a:r>
            <a:r>
              <a:rPr lang="en-US" sz="20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merge_sort</a:t>
            </a:r>
            <a:r>
              <a:rPr lang="en-US" sz="20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(A, mid+1, q)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 take T(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/2) time to be solved</a:t>
            </a:r>
            <a:endParaRPr 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097280" y="3597982"/>
            <a:ext cx="52661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merge (A, p, q)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 take </a:t>
            </a:r>
            <a:r>
              <a:rPr lang="en-US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time to be solved</a:t>
            </a:r>
            <a:endParaRPr 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1580971" y="4045427"/>
                <a:ext cx="3884268" cy="9766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                                     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𝑐𝑛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&gt;1</m:t>
                            </m:r>
                          </m:e>
                        </m:eqAr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0971" y="4045427"/>
                <a:ext cx="3884268" cy="976614"/>
              </a:xfrm>
              <a:prstGeom prst="rect">
                <a:avLst/>
              </a:prstGeom>
              <a:blipFill rotWithShape="0">
                <a:blip r:embed="rId2"/>
                <a:stretch>
                  <a:fillRect l="-12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1580971" y="5129318"/>
                <a:ext cx="3241080" cy="9766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                        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𝑐𝑛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&gt;1</m:t>
                            </m:r>
                          </m:e>
                        </m:eqAr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0971" y="5129318"/>
                <a:ext cx="3241080" cy="976614"/>
              </a:xfrm>
              <a:prstGeom prst="rect">
                <a:avLst/>
              </a:prstGeom>
              <a:blipFill rotWithShape="0">
                <a:blip r:embed="rId3"/>
                <a:stretch>
                  <a:fillRect l="-15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C5EB6-DFD1-4BB8-857E-63709ACBF9B1}" type="datetime1">
              <a:rPr lang="en-US" smtClean="0"/>
              <a:t>6/5/2024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6D7EC-6BDF-4B22-9BB0-103CEB4B6DE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9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4" grpId="0"/>
      <p:bldP spid="17" grpId="0"/>
      <p:bldP spid="18" grpId="0"/>
      <p:bldP spid="23" grpId="0"/>
      <p:bldP spid="26" grpId="0"/>
      <p:bldP spid="31" grpId="0"/>
      <p:bldP spid="32" grpId="0"/>
      <p:bldP spid="33" grpId="0"/>
      <p:bldP spid="3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MERGE SORT (TIME COMPLEXITY)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1097280" y="1787913"/>
                <a:ext cx="3241080" cy="9766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                        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𝑐𝑛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&gt;1</m:t>
                            </m:r>
                          </m:e>
                        </m:eqAr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280" y="1787913"/>
                <a:ext cx="3241080" cy="976614"/>
              </a:xfrm>
              <a:prstGeom prst="rect">
                <a:avLst/>
              </a:prstGeom>
              <a:blipFill rotWithShape="0">
                <a:blip r:embed="rId2"/>
                <a:stretch>
                  <a:fillRect l="-15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1097283" y="2764527"/>
            <a:ext cx="22092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T(n) = 2T(n/2) +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97280" y="3205362"/>
            <a:ext cx="37387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=&gt; T(n) = 2[2T(n/4) + c(n/2)] +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97280" y="3646198"/>
            <a:ext cx="29195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=&gt; T(n) = 2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T(n/2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+ 2cn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97280" y="4025723"/>
            <a:ext cx="40368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=&gt; T(n) = 2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[2T(n/2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c(n/4)] + 2cn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97280" y="4407576"/>
            <a:ext cx="28554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=&gt; T(n) = 2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T(n/2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+ 3cn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79323" y="4711354"/>
            <a:ext cx="32893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…</a:t>
            </a:r>
          </a:p>
          <a:p>
            <a:r>
              <a:rPr lang="en-US" sz="1400" b="1" dirty="0"/>
              <a:t>…</a:t>
            </a:r>
          </a:p>
          <a:p>
            <a:r>
              <a:rPr lang="en-US" sz="1400" b="1" dirty="0"/>
              <a:t>...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5422616"/>
            <a:ext cx="24336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the last term is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97280" y="5737668"/>
            <a:ext cx="28089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=&gt; T(n) = 2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T(n/2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icn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536678" y="1891167"/>
            <a:ext cx="27240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=&gt; T(n) = 2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T(n/2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icn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451450" y="1875583"/>
            <a:ext cx="15151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  …  …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866705" y="2444897"/>
            <a:ext cx="21852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the last term: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Brace 3"/>
          <p:cNvSpPr/>
          <p:nvPr/>
        </p:nvSpPr>
        <p:spPr>
          <a:xfrm rot="5400000">
            <a:off x="8101413" y="1956067"/>
            <a:ext cx="273466" cy="756059"/>
          </a:xfrm>
          <a:prstGeom prst="rightBrace">
            <a:avLst>
              <a:gd name="adj1" fmla="val 45833"/>
              <a:gd name="adj2" fmla="val 50000"/>
            </a:avLst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7918186" y="2456653"/>
            <a:ext cx="6399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T(1)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777211" y="2892850"/>
            <a:ext cx="12747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n/2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777211" y="3257888"/>
            <a:ext cx="14061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=&gt;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log</a:t>
            </a: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5866705" y="3657998"/>
            <a:ext cx="45015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assigning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log</a:t>
            </a: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in equation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536678" y="4080018"/>
            <a:ext cx="24785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T(n) =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 + cn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36677" y="4511299"/>
            <a:ext cx="28266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=&gt; T(n) =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 + cn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36677" y="4859343"/>
            <a:ext cx="24851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=&gt; T(n) =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cn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54229" y="4890121"/>
            <a:ext cx="1111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[T(1) = c]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36677" y="5259453"/>
            <a:ext cx="22639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=&gt; T(n) = O(nlog</a:t>
            </a: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94EF0-6E2D-4E7C-84E7-340842D6584D}" type="datetime1">
              <a:rPr lang="en-US" smtClean="0"/>
              <a:t>6/5/2024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6D7EC-6BDF-4B22-9BB0-103CEB4B6DE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111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7" grpId="0"/>
      <p:bldP spid="29" grpId="0"/>
      <p:bldP spid="35" grpId="0"/>
      <p:bldP spid="3" grpId="0"/>
      <p:bldP spid="36" grpId="0"/>
      <p:bldP spid="37" grpId="0"/>
      <p:bldP spid="44" grpId="0"/>
      <p:bldP spid="46" grpId="0"/>
      <p:bldP spid="47" grpId="0"/>
      <p:bldP spid="4" grpId="0" animBg="1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THANK YOU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ANY QUESTIONS?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B56B5-F4F1-417A-947B-95537189184A}" type="datetime1">
              <a:rPr lang="en-US" smtClean="0"/>
              <a:t>6/5/2024</a:t>
            </a:fld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45191A9-D3CC-82A3-F71E-4490D3862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4" y="6459785"/>
            <a:ext cx="6214273" cy="365125"/>
          </a:xfrm>
        </p:spPr>
        <p:txBody>
          <a:bodyPr/>
          <a:lstStyle/>
          <a:p>
            <a:r>
              <a:rPr lang="en-US" dirty="0"/>
              <a:t>Asst Prof Nuzhat Tabassum | Courtesy - SWAPNIL BISWAS, CSE, MIST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6D7EC-6BDF-4B22-9BB0-103CEB4B6DE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915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3033</TotalTime>
  <Words>1160</Words>
  <Application>Microsoft Office PowerPoint</Application>
  <PresentationFormat>Widescreen</PresentationFormat>
  <Paragraphs>277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Consolas</vt:lpstr>
      <vt:lpstr>Google Sans</vt:lpstr>
      <vt:lpstr>Times New Roman</vt:lpstr>
      <vt:lpstr>Wingdings</vt:lpstr>
      <vt:lpstr>Office Theme</vt:lpstr>
      <vt:lpstr>PowerPoint Presentation</vt:lpstr>
      <vt:lpstr>DIVIDE AND CONQUER</vt:lpstr>
      <vt:lpstr>PowerPoint Presentation</vt:lpstr>
      <vt:lpstr>MERGE  SORT</vt:lpstr>
      <vt:lpstr>PowerPoint Presentation</vt:lpstr>
      <vt:lpstr>MERGE  SORT (MERGING)</vt:lpstr>
      <vt:lpstr>MERGE SORT (TIME COMPLEXITY)</vt:lpstr>
      <vt:lpstr>MERGE SORT (TIME COMPLEXITY)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QUICK  SORT</dc:title>
  <dc:creator>ACER</dc:creator>
  <cp:lastModifiedBy>Nuzhat Tabassum</cp:lastModifiedBy>
  <cp:revision>796</cp:revision>
  <dcterms:created xsi:type="dcterms:W3CDTF">2022-09-03T04:30:35Z</dcterms:created>
  <dcterms:modified xsi:type="dcterms:W3CDTF">2024-06-05T06:26:37Z</dcterms:modified>
</cp:coreProperties>
</file>