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3"/>
  </p:notesMasterIdLst>
  <p:sldIdLst>
    <p:sldId id="256" r:id="rId2"/>
    <p:sldId id="296" r:id="rId3"/>
    <p:sldId id="295" r:id="rId4"/>
    <p:sldId id="304" r:id="rId5"/>
    <p:sldId id="305" r:id="rId6"/>
    <p:sldId id="306" r:id="rId7"/>
    <p:sldId id="307" r:id="rId8"/>
    <p:sldId id="308" r:id="rId9"/>
    <p:sldId id="302" r:id="rId10"/>
    <p:sldId id="260" r:id="rId11"/>
    <p:sldId id="276" r:id="rId12"/>
    <p:sldId id="309" r:id="rId13"/>
    <p:sldId id="314" r:id="rId14"/>
    <p:sldId id="315" r:id="rId15"/>
    <p:sldId id="310" r:id="rId16"/>
    <p:sldId id="311" r:id="rId17"/>
    <p:sldId id="312" r:id="rId18"/>
    <p:sldId id="313" r:id="rId19"/>
    <p:sldId id="316" r:id="rId20"/>
    <p:sldId id="317" r:id="rId21"/>
    <p:sldId id="318" r:id="rId22"/>
    <p:sldId id="319" r:id="rId23"/>
    <p:sldId id="320" r:id="rId24"/>
    <p:sldId id="321" r:id="rId25"/>
    <p:sldId id="293" r:id="rId26"/>
    <p:sldId id="323" r:id="rId27"/>
    <p:sldId id="324" r:id="rId28"/>
    <p:sldId id="325" r:id="rId29"/>
    <p:sldId id="326" r:id="rId30"/>
    <p:sldId id="327" r:id="rId31"/>
    <p:sldId id="32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44444" autoAdjust="0"/>
  </p:normalViewPr>
  <p:slideViewPr>
    <p:cSldViewPr snapToGrid="0">
      <p:cViewPr varScale="1">
        <p:scale>
          <a:sx n="117" d="100"/>
          <a:sy n="117" d="100"/>
        </p:scale>
        <p:origin x="-348"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D90448-219A-4F96-9808-27A7DB31EAB5}" type="datetimeFigureOut">
              <a:rPr lang="en-AU" smtClean="0"/>
              <a:t>9/06/2026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79D320-AAC3-4274-A025-3FBFE094D139}" type="slidenum">
              <a:rPr lang="en-AU" smtClean="0"/>
              <a:t>‹#›</a:t>
            </a:fld>
            <a:endParaRPr lang="en-AU"/>
          </a:p>
        </p:txBody>
      </p:sp>
    </p:spTree>
    <p:extLst>
      <p:ext uri="{BB962C8B-B14F-4D97-AF65-F5344CB8AC3E}">
        <p14:creationId xmlns:p14="http://schemas.microsoft.com/office/powerpoint/2010/main" val="162762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19DC9E56-1FB4-450E-8B32-6DCDE4948700}" type="datetime1">
              <a:rPr lang="en-AU" smtClean="0"/>
              <a:t>9/06/2026</a:t>
            </a:fld>
            <a:endParaRPr lang="en-AU"/>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26C05DC-8A46-431C-AB0F-F7F5BF98DABD}" type="slidenum">
              <a:rPr lang="en-AU" smtClean="0"/>
              <a:t>‹#›</a:t>
            </a:fld>
            <a:endParaRPr lang="en-AU"/>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9172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B9F253-0278-4C56-953F-86137F62206B}" type="datetime1">
              <a:rPr lang="en-AU" smtClean="0"/>
              <a:t>9/06/2026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3374804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884C7-166F-4FE1-A119-770586332946}" type="datetime1">
              <a:rPr lang="en-AU" smtClean="0"/>
              <a:t>9/06/2026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6C05DC-8A46-431C-AB0F-F7F5BF98DABD}" type="slidenum">
              <a:rPr lang="en-AU" smtClean="0"/>
              <a:t>‹#›</a:t>
            </a:fld>
            <a:endParaRPr lang="en-AU"/>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93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2A9D3D-7491-4111-9FFD-F4F1A9AE34B7}" type="datetime1">
              <a:rPr lang="en-AU" smtClean="0"/>
              <a:t>9/06/2026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1559283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F50937-86E1-4F26-ADF3-40C27DFE80A4}" type="datetime1">
              <a:rPr lang="en-AU" smtClean="0"/>
              <a:t>9/06/2026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309895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41564E-F98C-402C-9029-63B576937F97}" type="datetime1">
              <a:rPr lang="en-AU" smtClean="0"/>
              <a:t>9/06/2026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3239158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049406-15EC-45A9-A688-D1B4773940DD}" type="datetime1">
              <a:rPr lang="en-AU" smtClean="0"/>
              <a:t>9/06/2026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234938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777FA8-CD7B-4423-A57D-E9AD49C784D9}" type="datetime1">
              <a:rPr lang="en-AU" smtClean="0"/>
              <a:t>9/06/2026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2341307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02E541-369B-45A8-AAB5-A35335150CC1}" type="datetime1">
              <a:rPr lang="en-AU" smtClean="0"/>
              <a:t>9/06/2026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2330466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E6DCAA-E4CD-4478-9C7C-072F02816DA4}" type="datetime1">
              <a:rPr lang="en-AU" smtClean="0"/>
              <a:t>9/06/2026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254664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08E8F7-8FB0-4EF8-841D-F293CD610DA5}" type="datetime1">
              <a:rPr lang="en-AU" smtClean="0"/>
              <a:t>9/06/2026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26C05DC-8A46-431C-AB0F-F7F5BF98DABD}" type="slidenum">
              <a:rPr lang="en-AU" smtClean="0"/>
              <a:t>‹#›</a:t>
            </a:fld>
            <a:endParaRPr lang="en-AU"/>
          </a:p>
        </p:txBody>
      </p:sp>
    </p:spTree>
    <p:extLst>
      <p:ext uri="{BB962C8B-B14F-4D97-AF65-F5344CB8AC3E}">
        <p14:creationId xmlns:p14="http://schemas.microsoft.com/office/powerpoint/2010/main" val="798501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A16D8DB9-9D39-4A95-8416-9868D9BBF3A1}" type="datetime1">
              <a:rPr lang="en-AU" smtClean="0"/>
              <a:t>9/06/2026</a:t>
            </a:fld>
            <a:endParaRPr lang="en-A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A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D26C05DC-8A46-431C-AB0F-F7F5BF98DABD}" type="slidenum">
              <a:rPr lang="en-AU" smtClean="0"/>
              <a:t>‹#›</a:t>
            </a:fld>
            <a:endParaRPr lang="en-AU"/>
          </a:p>
        </p:txBody>
      </p:sp>
    </p:spTree>
    <p:extLst>
      <p:ext uri="{BB962C8B-B14F-4D97-AF65-F5344CB8AC3E}">
        <p14:creationId xmlns:p14="http://schemas.microsoft.com/office/powerpoint/2010/main" val="30235234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683FFE-AE84-673C-D453-ED0947C7149F}"/>
              </a:ext>
            </a:extLst>
          </p:cNvPr>
          <p:cNvSpPr>
            <a:spLocks noGrp="1"/>
          </p:cNvSpPr>
          <p:nvPr>
            <p:ph type="ctrTitle"/>
          </p:nvPr>
        </p:nvSpPr>
        <p:spPr/>
        <p:txBody>
          <a:bodyPr/>
          <a:lstStyle/>
          <a:p>
            <a:r>
              <a:rPr lang="en-AU" sz="6000" dirty="0"/>
              <a:t>Introduction</a:t>
            </a:r>
            <a:endParaRPr lang="en-AU" dirty="0"/>
          </a:p>
        </p:txBody>
      </p:sp>
      <p:sp>
        <p:nvSpPr>
          <p:cNvPr id="3" name="Subtitle 2">
            <a:extLst>
              <a:ext uri="{FF2B5EF4-FFF2-40B4-BE49-F238E27FC236}">
                <a16:creationId xmlns="" xmlns:a16="http://schemas.microsoft.com/office/drawing/2014/main" id="{6BDA3644-66AD-68AA-D78D-C7A282B2CA24}"/>
              </a:ext>
            </a:extLst>
          </p:cNvPr>
          <p:cNvSpPr>
            <a:spLocks noGrp="1"/>
          </p:cNvSpPr>
          <p:nvPr>
            <p:ph type="subTitle" idx="1"/>
          </p:nvPr>
        </p:nvSpPr>
        <p:spPr/>
        <p:txBody>
          <a:bodyPr/>
          <a:lstStyle/>
          <a:p>
            <a:r>
              <a:rPr lang="en-AU" dirty="0"/>
              <a:t>Introduction to Data Science</a:t>
            </a:r>
          </a:p>
        </p:txBody>
      </p:sp>
    </p:spTree>
    <p:extLst>
      <p:ext uri="{BB962C8B-B14F-4D97-AF65-F5344CB8AC3E}">
        <p14:creationId xmlns:p14="http://schemas.microsoft.com/office/powerpoint/2010/main" val="1727497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A837FF-8C0F-5555-8334-AD07D993F0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xmlns="" id="{8AAB5786-0F5C-452A-C0DD-7C379FDBB13C}"/>
              </a:ext>
            </a:extLst>
          </p:cNvPr>
          <p:cNvSpPr>
            <a:spLocks noGrp="1"/>
          </p:cNvSpPr>
          <p:nvPr>
            <p:ph idx="1"/>
          </p:nvPr>
        </p:nvSpPr>
        <p:spPr/>
        <p:txBody>
          <a:bodyPr/>
          <a:lstStyle/>
          <a:p>
            <a:pPr lvl="0"/>
            <a:r>
              <a:rPr lang="en-US" sz="2400" dirty="0">
                <a:latin typeface="Times New Roman" pitchFamily="18" charset="0"/>
                <a:cs typeface="Times New Roman" pitchFamily="18" charset="0"/>
              </a:rPr>
              <a:t>What is Data Science? </a:t>
            </a:r>
            <a:endParaRPr lang="en-US" sz="2400" dirty="0" smtClean="0">
              <a:latin typeface="Times New Roman" pitchFamily="18" charset="0"/>
              <a:cs typeface="Times New Roman" pitchFamily="18" charset="0"/>
            </a:endParaRPr>
          </a:p>
          <a:p>
            <a:r>
              <a:rPr lang="en-US" sz="2400" dirty="0">
                <a:latin typeface="Times New Roman" pitchFamily="18" charset="0"/>
                <a:cs typeface="Times New Roman" pitchFamily="18" charset="0"/>
              </a:rPr>
              <a:t>Applications of Data Science </a:t>
            </a:r>
          </a:p>
          <a:p>
            <a:pPr lvl="0"/>
            <a:r>
              <a:rPr lang="en-US" sz="2400" dirty="0" smtClean="0">
                <a:latin typeface="Times New Roman" pitchFamily="18" charset="0"/>
                <a:cs typeface="Times New Roman" pitchFamily="18" charset="0"/>
              </a:rPr>
              <a:t>Data-driven </a:t>
            </a:r>
            <a:r>
              <a:rPr lang="en-US" sz="2400" dirty="0">
                <a:latin typeface="Times New Roman" pitchFamily="18" charset="0"/>
                <a:cs typeface="Times New Roman" pitchFamily="18" charset="0"/>
              </a:rPr>
              <a:t>decision making </a:t>
            </a:r>
          </a:p>
          <a:p>
            <a:pPr lvl="0"/>
            <a:r>
              <a:rPr lang="en-US" sz="2400" dirty="0" smtClean="0">
                <a:latin typeface="Times New Roman" pitchFamily="18" charset="0"/>
                <a:cs typeface="Times New Roman" pitchFamily="18" charset="0"/>
              </a:rPr>
              <a:t>Roles </a:t>
            </a:r>
            <a:r>
              <a:rPr lang="en-US" sz="2400" dirty="0">
                <a:latin typeface="Times New Roman" pitchFamily="18" charset="0"/>
                <a:cs typeface="Times New Roman" pitchFamily="18" charset="0"/>
              </a:rPr>
              <a:t>in a data science team </a:t>
            </a:r>
            <a:endParaRPr lang="en-US" sz="2400" dirty="0" smtClean="0">
              <a:latin typeface="Times New Roman" pitchFamily="18" charset="0"/>
              <a:cs typeface="Times New Roman" pitchFamily="18" charset="0"/>
            </a:endParaRPr>
          </a:p>
          <a:p>
            <a:r>
              <a:rPr lang="en-US" sz="2400" dirty="0">
                <a:latin typeface="Times New Roman" pitchFamily="18" charset="0"/>
                <a:cs typeface="Times New Roman" pitchFamily="18" charset="0"/>
              </a:rPr>
              <a:t>Data Science lifecycle </a:t>
            </a:r>
            <a:r>
              <a:rPr lang="en-US" sz="2400" dirty="0" smtClean="0">
                <a:latin typeface="Times New Roman" pitchFamily="18" charset="0"/>
                <a:cs typeface="Times New Roman" pitchFamily="18" charset="0"/>
              </a:rPr>
              <a:t>[</a:t>
            </a:r>
            <a:r>
              <a:rPr lang="en-US" sz="2400" dirty="0" smtClean="0">
                <a:solidFill>
                  <a:srgbClr val="00B050"/>
                </a:solidFill>
                <a:latin typeface="Times New Roman" pitchFamily="18" charset="0"/>
                <a:cs typeface="Times New Roman" pitchFamily="18" charset="0"/>
              </a:rPr>
              <a:t>Next</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xmlns="" id="{74F12938-5FF6-FAA0-BED9-CFB42B7035AA}"/>
              </a:ext>
            </a:extLst>
          </p:cNvPr>
          <p:cNvSpPr>
            <a:spLocks noGrp="1"/>
          </p:cNvSpPr>
          <p:nvPr>
            <p:ph type="sldNum" sz="quarter" idx="12"/>
          </p:nvPr>
        </p:nvSpPr>
        <p:spPr/>
        <p:txBody>
          <a:bodyPr/>
          <a:lstStyle/>
          <a:p>
            <a:fld id="{C3584116-71E9-45F8-BC17-47CE06098486}" type="slidenum">
              <a:rPr lang="en-US" smtClean="0"/>
              <a:t>2</a:t>
            </a:fld>
            <a:endParaRPr lang="en-US"/>
          </a:p>
        </p:txBody>
      </p:sp>
    </p:spTree>
    <p:extLst>
      <p:ext uri="{BB962C8B-B14F-4D97-AF65-F5344CB8AC3E}">
        <p14:creationId xmlns:p14="http://schemas.microsoft.com/office/powerpoint/2010/main" val="606908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p:txBody>
          <a:bodyPr/>
          <a:lstStyle/>
          <a:p>
            <a:r>
              <a:rPr lang="en-US" dirty="0">
                <a:latin typeface="Times New Roman" pitchFamily="18" charset="0"/>
                <a:cs typeface="Times New Roman" pitchFamily="18" charset="0"/>
              </a:rPr>
              <a:t>The question isn’t just "Why study data science?" anymore—it’s "How can you afford not to?"</a:t>
            </a:r>
          </a:p>
          <a:p>
            <a:r>
              <a:rPr lang="en-US" dirty="0">
                <a:latin typeface="Times New Roman" pitchFamily="18" charset="0"/>
                <a:cs typeface="Times New Roman" pitchFamily="18" charset="0"/>
              </a:rPr>
              <a:t>We are living in an era where data has surpassed oil as the world’s most valuable resource. Choosing to study data science means acquiring the keys to understand, navigate, and shape the modern world.</a:t>
            </a: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3</a:t>
            </a:fld>
            <a:endParaRPr lang="en-AU"/>
          </a:p>
        </p:txBody>
      </p:sp>
    </p:spTree>
    <p:extLst>
      <p:ext uri="{BB962C8B-B14F-4D97-AF65-F5344CB8AC3E}">
        <p14:creationId xmlns:p14="http://schemas.microsoft.com/office/powerpoint/2010/main" val="334842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a:xfrm>
            <a:off x="411480" y="1982586"/>
            <a:ext cx="5519057" cy="4038600"/>
          </a:xfrm>
        </p:spPr>
        <p:txBody>
          <a:bodyPr>
            <a:normAutofit fontScale="92500" lnSpcReduction="10000"/>
          </a:bodyPr>
          <a:lstStyle/>
          <a:p>
            <a:pPr marL="45720" indent="0" algn="just">
              <a:buNone/>
            </a:pPr>
            <a:r>
              <a:rPr lang="en-US" b="1" dirty="0">
                <a:latin typeface="Times New Roman" pitchFamily="18" charset="0"/>
                <a:cs typeface="Times New Roman" pitchFamily="18" charset="0"/>
              </a:rPr>
              <a:t>1. The Explosion of Digital Data</a:t>
            </a:r>
          </a:p>
          <a:p>
            <a:pPr algn="just"/>
            <a:r>
              <a:rPr lang="en-US" dirty="0">
                <a:latin typeface="Times New Roman" pitchFamily="18" charset="0"/>
                <a:cs typeface="Times New Roman" pitchFamily="18" charset="0"/>
              </a:rPr>
              <a:t>Every click, swipe, share,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sensor ping, and online transaction generates data. We are generating </a:t>
            </a:r>
            <a:r>
              <a:rPr lang="en-US" dirty="0" err="1">
                <a:latin typeface="Times New Roman" pitchFamily="18" charset="0"/>
                <a:cs typeface="Times New Roman" pitchFamily="18" charset="0"/>
              </a:rPr>
              <a:t>zettabytes</a:t>
            </a:r>
            <a:r>
              <a:rPr lang="en-US" dirty="0">
                <a:latin typeface="Times New Roman" pitchFamily="18" charset="0"/>
                <a:cs typeface="Times New Roman" pitchFamily="18" charset="0"/>
              </a:rPr>
              <a:t> of data at an exponential rate, creating a massive digital universe.</a:t>
            </a:r>
          </a:p>
          <a:p>
            <a:pPr algn="just"/>
            <a:r>
              <a:rPr lang="en-US" b="1" dirty="0">
                <a:latin typeface="Times New Roman" pitchFamily="18" charset="0"/>
                <a:cs typeface="Times New Roman" pitchFamily="18" charset="0"/>
              </a:rPr>
              <a:t>The Challenge:</a:t>
            </a:r>
            <a:r>
              <a:rPr lang="en-US" dirty="0">
                <a:latin typeface="Times New Roman" pitchFamily="18" charset="0"/>
                <a:cs typeface="Times New Roman" pitchFamily="18" charset="0"/>
              </a:rPr>
              <a:t> Raw data is just noise. Without structure, it is completely useless.</a:t>
            </a:r>
          </a:p>
          <a:p>
            <a:pPr algn="just"/>
            <a:r>
              <a:rPr lang="en-US" b="1" dirty="0">
                <a:latin typeface="Times New Roman" pitchFamily="18" charset="0"/>
                <a:cs typeface="Times New Roman" pitchFamily="18" charset="0"/>
              </a:rPr>
              <a:t>The Opportunity:</a:t>
            </a:r>
            <a:r>
              <a:rPr lang="en-US" dirty="0">
                <a:latin typeface="Times New Roman" pitchFamily="18" charset="0"/>
                <a:cs typeface="Times New Roman" pitchFamily="18" charset="0"/>
              </a:rPr>
              <a:t> Data science provides the tools—like statistical analysis, data </a:t>
            </a:r>
            <a:r>
              <a:rPr lang="en-US" dirty="0" err="1">
                <a:latin typeface="Times New Roman" pitchFamily="18" charset="0"/>
                <a:cs typeface="Times New Roman" pitchFamily="18" charset="0"/>
              </a:rPr>
              <a:t>munging</a:t>
            </a:r>
            <a:r>
              <a:rPr lang="en-US" dirty="0">
                <a:latin typeface="Times New Roman" pitchFamily="18" charset="0"/>
                <a:cs typeface="Times New Roman" pitchFamily="18" charset="0"/>
              </a:rPr>
              <a:t>, and scalable computing—to mine this digital gold rush. By studying data science, you learn how to turn chaotic, unstructured data into structured, actionable intelligence.</a:t>
            </a:r>
          </a:p>
          <a:p>
            <a:pPr marL="45720" indent="0" algn="just">
              <a:buNone/>
            </a:pPr>
            <a:endParaRPr lang="en-US" dirty="0">
              <a:latin typeface="Times New Roman" pitchFamily="18" charset="0"/>
              <a:cs typeface="Times New Roman" pitchFamily="18" charset="0"/>
            </a:endParaRP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4</a:t>
            </a:fld>
            <a:endParaRPr lang="en-AU"/>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5607" y="2514600"/>
            <a:ext cx="5870246" cy="3204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34834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a:xfrm>
            <a:off x="411480" y="1982586"/>
            <a:ext cx="5519057" cy="4038600"/>
          </a:xfrm>
        </p:spPr>
        <p:txBody>
          <a:bodyPr>
            <a:normAutofit fontScale="85000" lnSpcReduction="20000"/>
          </a:bodyPr>
          <a:lstStyle/>
          <a:p>
            <a:pPr marL="45720" indent="0" algn="just">
              <a:buNone/>
            </a:pPr>
            <a:r>
              <a:rPr lang="en-US" b="1" dirty="0">
                <a:latin typeface="Times New Roman" pitchFamily="18" charset="0"/>
                <a:cs typeface="Times New Roman" pitchFamily="18" charset="0"/>
              </a:rPr>
              <a:t>2. Navigating an AI and Data-Driven World</a:t>
            </a:r>
          </a:p>
          <a:p>
            <a:pPr algn="just"/>
            <a:r>
              <a:rPr lang="en-US" dirty="0">
                <a:latin typeface="Times New Roman" pitchFamily="18" charset="0"/>
                <a:cs typeface="Times New Roman" pitchFamily="18" charset="0"/>
              </a:rPr>
              <a:t>We have firmly transitioned from software-assisted operations to </a:t>
            </a:r>
            <a:r>
              <a:rPr lang="en-US" b="1" dirty="0">
                <a:latin typeface="Times New Roman" pitchFamily="18" charset="0"/>
                <a:cs typeface="Times New Roman" pitchFamily="18" charset="0"/>
              </a:rPr>
              <a:t>AI-driven decision-making</a:t>
            </a:r>
            <a:r>
              <a:rPr lang="en-US" dirty="0">
                <a:latin typeface="Times New Roman" pitchFamily="18" charset="0"/>
                <a:cs typeface="Times New Roman" pitchFamily="18" charset="0"/>
              </a:rPr>
              <a:t>. Organizations no longer rely on "gut feelings"; they rely on predictive models and automated pipelines.</a:t>
            </a:r>
          </a:p>
          <a:p>
            <a:pPr algn="just"/>
            <a:r>
              <a:rPr lang="en-US" b="1" dirty="0">
                <a:latin typeface="Times New Roman" pitchFamily="18" charset="0"/>
                <a:cs typeface="Times New Roman" pitchFamily="18" charset="0"/>
              </a:rPr>
              <a:t>Core Machinery of AI:</a:t>
            </a:r>
            <a:r>
              <a:rPr lang="en-US" dirty="0">
                <a:latin typeface="Times New Roman" pitchFamily="18" charset="0"/>
                <a:cs typeface="Times New Roman" pitchFamily="18" charset="0"/>
              </a:rPr>
              <a:t> Machine Learning (ML) and Deep Learning are not magic; they are applied data science. Studying this field gives you a granular understanding of how large language models (LLMs), computer vision, and autonomous systems actually function.</a:t>
            </a:r>
          </a:p>
          <a:p>
            <a:pPr algn="just"/>
            <a:r>
              <a:rPr lang="en-US" b="1" dirty="0">
                <a:latin typeface="Times New Roman" pitchFamily="18" charset="0"/>
                <a:cs typeface="Times New Roman" pitchFamily="18" charset="0"/>
              </a:rPr>
              <a:t>Algorithmic Literacy:</a:t>
            </a:r>
            <a:r>
              <a:rPr lang="en-US" dirty="0">
                <a:latin typeface="Times New Roman" pitchFamily="18" charset="0"/>
                <a:cs typeface="Times New Roman" pitchFamily="18" charset="0"/>
              </a:rPr>
              <a:t> Understanding data science allows you to build, evaluate, and critique the algorithms shaping society, ensuring you are a creator in the AI revolution, not just a spectator.</a:t>
            </a: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5</a:t>
            </a:fld>
            <a:endParaRPr lang="en-AU"/>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257" y="2073050"/>
            <a:ext cx="5778727" cy="3154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37653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a:xfrm>
            <a:off x="1252401" y="1990751"/>
            <a:ext cx="9614263" cy="4038600"/>
          </a:xfrm>
        </p:spPr>
        <p:txBody>
          <a:bodyPr>
            <a:normAutofit/>
          </a:bodyPr>
          <a:lstStyle/>
          <a:p>
            <a:pPr marL="45720" indent="0" algn="just">
              <a:buNone/>
            </a:pPr>
            <a:r>
              <a:rPr lang="en-US" b="1" dirty="0">
                <a:latin typeface="Times New Roman" pitchFamily="18" charset="0"/>
                <a:cs typeface="Times New Roman" pitchFamily="18" charset="0"/>
              </a:rPr>
              <a:t>3. Unprecedented Industry Demand</a:t>
            </a:r>
          </a:p>
          <a:p>
            <a:pPr algn="just"/>
            <a:r>
              <a:rPr lang="en-US" dirty="0">
                <a:latin typeface="Times New Roman" pitchFamily="18" charset="0"/>
                <a:cs typeface="Times New Roman" pitchFamily="18" charset="0"/>
              </a:rPr>
              <a:t>The job market for data professionals remains incredibly robust across virtually every sector—finance, healthcare, e-commerce, entertainment, and agriculture.</a:t>
            </a:r>
          </a:p>
          <a:p>
            <a:pPr algn="just"/>
            <a:r>
              <a:rPr lang="en-US" b="1" dirty="0">
                <a:latin typeface="Times New Roman" pitchFamily="18" charset="0"/>
                <a:cs typeface="Times New Roman" pitchFamily="18" charset="0"/>
              </a:rPr>
              <a:t>Versatility:</a:t>
            </a:r>
            <a:r>
              <a:rPr lang="en-US" dirty="0">
                <a:latin typeface="Times New Roman" pitchFamily="18" charset="0"/>
                <a:cs typeface="Times New Roman" pitchFamily="18" charset="0"/>
              </a:rPr>
              <a:t> A data scientist isn’t locked into one industry. You could be optimizing supply chains for a logistics giant today, and predicting patient outcomes or disease outbreaks tomorrow.</a:t>
            </a:r>
          </a:p>
          <a:p>
            <a:pPr algn="just"/>
            <a:r>
              <a:rPr lang="en-US" b="1" dirty="0">
                <a:latin typeface="Times New Roman" pitchFamily="18" charset="0"/>
                <a:cs typeface="Times New Roman" pitchFamily="18" charset="0"/>
              </a:rPr>
              <a:t>High Strategic Value:</a:t>
            </a:r>
            <a:r>
              <a:rPr lang="en-US" dirty="0">
                <a:latin typeface="Times New Roman" pitchFamily="18" charset="0"/>
                <a:cs typeface="Times New Roman" pitchFamily="18" charset="0"/>
              </a:rPr>
              <a:t> Because data scientists directly impact a company’s bottom line by discovering efficiencies and forecasting trends, they are highly valued, leading to excellent compensation, fast-tracked career progression, and strong job security.</a:t>
            </a: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6</a:t>
            </a:fld>
            <a:endParaRPr lang="en-AU"/>
          </a:p>
        </p:txBody>
      </p:sp>
    </p:spTree>
    <p:extLst>
      <p:ext uri="{BB962C8B-B14F-4D97-AF65-F5344CB8AC3E}">
        <p14:creationId xmlns:p14="http://schemas.microsoft.com/office/powerpoint/2010/main" val="40077744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a:xfrm>
            <a:off x="1366702" y="1949929"/>
            <a:ext cx="9614263" cy="4038600"/>
          </a:xfrm>
        </p:spPr>
        <p:txBody>
          <a:bodyPr>
            <a:normAutofit/>
          </a:bodyPr>
          <a:lstStyle/>
          <a:p>
            <a:pPr marL="45720" indent="0" algn="just">
              <a:buNone/>
            </a:pPr>
            <a:r>
              <a:rPr lang="en-US" b="1" dirty="0">
                <a:latin typeface="Times New Roman" pitchFamily="18" charset="0"/>
                <a:cs typeface="Times New Roman" pitchFamily="18" charset="0"/>
              </a:rPr>
              <a:t>4. Rich Research Opportunities</a:t>
            </a:r>
          </a:p>
          <a:p>
            <a:pPr algn="just"/>
            <a:r>
              <a:rPr lang="en-US" dirty="0">
                <a:latin typeface="Times New Roman" pitchFamily="18" charset="0"/>
                <a:cs typeface="Times New Roman" pitchFamily="18" charset="0"/>
              </a:rPr>
              <a:t>If your horizon extends toward academia or advanced R&amp;D, data science is the ultimate frontier. It serves as a powerful catalyst for interdisciplinary innovation.</a:t>
            </a:r>
          </a:p>
          <a:p>
            <a:pPr algn="just"/>
            <a:r>
              <a:rPr lang="en-US" b="1" dirty="0">
                <a:latin typeface="Times New Roman" pitchFamily="18" charset="0"/>
                <a:cs typeface="Times New Roman" pitchFamily="18" charset="0"/>
              </a:rPr>
              <a:t>Solving Global Complexities:</a:t>
            </a:r>
            <a:r>
              <a:rPr lang="en-US" dirty="0">
                <a:latin typeface="Times New Roman" pitchFamily="18" charset="0"/>
                <a:cs typeface="Times New Roman" pitchFamily="18" charset="0"/>
              </a:rPr>
              <a:t> The world's most pressing challenges—such as modeling climate change, optimizing sustainable farming practices, or mapping the human genome—are fundamentally big data problems.</a:t>
            </a:r>
          </a:p>
          <a:p>
            <a:pPr algn="just"/>
            <a:r>
              <a:rPr lang="en-US" b="1" dirty="0">
                <a:latin typeface="Times New Roman" pitchFamily="18" charset="0"/>
                <a:cs typeface="Times New Roman" pitchFamily="18" charset="0"/>
              </a:rPr>
              <a:t>Advancing the State-of-the-Art:</a:t>
            </a:r>
            <a:r>
              <a:rPr lang="en-US" dirty="0">
                <a:latin typeface="Times New Roman" pitchFamily="18" charset="0"/>
                <a:cs typeface="Times New Roman" pitchFamily="18" charset="0"/>
              </a:rPr>
              <a:t> There is massive research momentum in developing more efficient algorithms, exploring </a:t>
            </a:r>
            <a:r>
              <a:rPr lang="en-US" dirty="0" err="1">
                <a:latin typeface="Times New Roman" pitchFamily="18" charset="0"/>
                <a:cs typeface="Times New Roman" pitchFamily="18" charset="0"/>
              </a:rPr>
              <a:t>Agentic</a:t>
            </a:r>
            <a:r>
              <a:rPr lang="en-US" dirty="0">
                <a:latin typeface="Times New Roman" pitchFamily="18" charset="0"/>
                <a:cs typeface="Times New Roman" pitchFamily="18" charset="0"/>
              </a:rPr>
              <a:t> AI, mitigating algorithmic bias, and perfecting Natural Language Processing (NLP) for under-resourced languages.</a:t>
            </a: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7</a:t>
            </a:fld>
            <a:endParaRPr lang="en-AU"/>
          </a:p>
        </p:txBody>
      </p:sp>
    </p:spTree>
    <p:extLst>
      <p:ext uri="{BB962C8B-B14F-4D97-AF65-F5344CB8AC3E}">
        <p14:creationId xmlns:p14="http://schemas.microsoft.com/office/powerpoint/2010/main" val="27436170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Why Study Data Science</a:t>
            </a:r>
            <a:r>
              <a:rPr lang="en-AU" dirty="0" smtClean="0"/>
              <a:t>?</a:t>
            </a:r>
            <a:endParaRPr lang="en-AU" dirty="0"/>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a:xfrm>
            <a:off x="1374866" y="1933600"/>
            <a:ext cx="9614263" cy="4038600"/>
          </a:xfrm>
        </p:spPr>
        <p:txBody>
          <a:bodyPr>
            <a:normAutofit/>
          </a:bodyPr>
          <a:lstStyle/>
          <a:p>
            <a:pPr algn="just"/>
            <a:r>
              <a:rPr lang="en-US" dirty="0">
                <a:latin typeface="Times New Roman" pitchFamily="18" charset="0"/>
                <a:cs typeface="Times New Roman" pitchFamily="18" charset="0"/>
              </a:rPr>
              <a:t>Studying data science is about mastering a universal language. It equips you with a blend of mathematical rigor, computational skill, and domain expertise that allows you to look at a massive wall of numbers and extract human-centric solutions.</a:t>
            </a:r>
          </a:p>
          <a:p>
            <a:pPr algn="just"/>
            <a:r>
              <a:rPr lang="en-US" dirty="0">
                <a:latin typeface="Times New Roman" pitchFamily="18" charset="0"/>
                <a:cs typeface="Times New Roman" pitchFamily="18" charset="0"/>
              </a:rPr>
              <a:t>Which of these areas resonates most with your current goals? Are you looking at this from a career-pivot perspective, or are you exploring its research potential?</a:t>
            </a: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8</a:t>
            </a:fld>
            <a:endParaRPr lang="en-AU"/>
          </a:p>
        </p:txBody>
      </p:sp>
    </p:spTree>
    <p:extLst>
      <p:ext uri="{BB962C8B-B14F-4D97-AF65-F5344CB8AC3E}">
        <p14:creationId xmlns:p14="http://schemas.microsoft.com/office/powerpoint/2010/main" val="16088624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F124A8-FFFA-BD0C-DF8A-48CFA165C068}"/>
              </a:ext>
            </a:extLst>
          </p:cNvPr>
          <p:cNvSpPr>
            <a:spLocks noGrp="1"/>
          </p:cNvSpPr>
          <p:nvPr>
            <p:ph type="title"/>
          </p:nvPr>
        </p:nvSpPr>
        <p:spPr/>
        <p:txBody>
          <a:bodyPr/>
          <a:lstStyle/>
          <a:p>
            <a:r>
              <a:rPr lang="en-AU" dirty="0"/>
              <a:t>What is Data Science?</a:t>
            </a:r>
          </a:p>
        </p:txBody>
      </p:sp>
      <p:sp>
        <p:nvSpPr>
          <p:cNvPr id="3" name="Content Placeholder 2">
            <a:extLst>
              <a:ext uri="{FF2B5EF4-FFF2-40B4-BE49-F238E27FC236}">
                <a16:creationId xmlns="" xmlns:a16="http://schemas.microsoft.com/office/drawing/2014/main" id="{B27B0BA3-19C0-D821-82D5-0C9EEF712B4E}"/>
              </a:ext>
            </a:extLst>
          </p:cNvPr>
          <p:cNvSpPr>
            <a:spLocks noGrp="1"/>
          </p:cNvSpPr>
          <p:nvPr>
            <p:ph idx="1"/>
          </p:nvPr>
        </p:nvSpPr>
        <p:spPr/>
        <p:txBody>
          <a:bodyPr/>
          <a:lstStyle/>
          <a:p>
            <a:pPr algn="just"/>
            <a:r>
              <a:rPr lang="en-US" dirty="0">
                <a:latin typeface="Times New Roman" pitchFamily="18" charset="0"/>
                <a:cs typeface="Times New Roman" pitchFamily="18" charset="0"/>
              </a:rPr>
              <a:t>Data science starts with </a:t>
            </a:r>
            <a:r>
              <a:rPr lang="en-US" b="1" dirty="0">
                <a:latin typeface="Times New Roman" pitchFamily="18" charset="0"/>
                <a:cs typeface="Times New Roman" pitchFamily="18" charset="0"/>
              </a:rPr>
              <a:t>data</a:t>
            </a:r>
            <a:r>
              <a:rPr lang="en-US" dirty="0">
                <a:latin typeface="Times New Roman" pitchFamily="18" charset="0"/>
                <a:cs typeface="Times New Roman" pitchFamily="18" charset="0"/>
              </a:rPr>
              <a:t>, which can range from </a:t>
            </a:r>
            <a:r>
              <a:rPr lang="en-US" dirty="0">
                <a:solidFill>
                  <a:srgbClr val="00B0F0"/>
                </a:solidFill>
                <a:latin typeface="Times New Roman" pitchFamily="18" charset="0"/>
                <a:cs typeface="Times New Roman" pitchFamily="18" charset="0"/>
              </a:rPr>
              <a:t>a simple array of a few numeric observations to a complex matrix of millions of observations with thousands of variables</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Data science utilizes certain specialized </a:t>
            </a:r>
            <a:r>
              <a:rPr lang="en-US" dirty="0">
                <a:solidFill>
                  <a:srgbClr val="00B0F0"/>
                </a:solidFill>
                <a:latin typeface="Times New Roman" pitchFamily="18" charset="0"/>
                <a:cs typeface="Times New Roman" pitchFamily="18" charset="0"/>
              </a:rPr>
              <a:t>computational methods </a:t>
            </a:r>
            <a:r>
              <a:rPr lang="en-US" dirty="0">
                <a:latin typeface="Times New Roman" pitchFamily="18" charset="0"/>
                <a:cs typeface="Times New Roman" pitchFamily="18" charset="0"/>
              </a:rPr>
              <a:t>in order to discover meaningful and useful structures within a </a:t>
            </a:r>
            <a:r>
              <a:rPr lang="en-US" b="1" dirty="0">
                <a:latin typeface="Times New Roman" pitchFamily="18" charset="0"/>
                <a:cs typeface="Times New Roman" pitchFamily="18" charset="0"/>
              </a:rPr>
              <a:t>dataset</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The discipline of data science coexists and is closely associated with a number of related areas such as database systems, data engineering, visualization, data analysis, experimentation, and business intelligence (BI).</a:t>
            </a:r>
            <a:endParaRPr lang="en-AU" dirty="0">
              <a:latin typeface="Times New Roman" pitchFamily="18" charset="0"/>
              <a:cs typeface="Times New Roman" pitchFamily="18" charset="0"/>
            </a:endParaRPr>
          </a:p>
        </p:txBody>
      </p:sp>
      <p:sp>
        <p:nvSpPr>
          <p:cNvPr id="4" name="Rectangle 3">
            <a:extLst>
              <a:ext uri="{FF2B5EF4-FFF2-40B4-BE49-F238E27FC236}">
                <a16:creationId xmlns="" xmlns:a16="http://schemas.microsoft.com/office/drawing/2014/main" id="{0B98C49D-6A98-A57E-6A58-015B87C330E2}"/>
              </a:ext>
            </a:extLst>
          </p:cNvPr>
          <p:cNvSpPr/>
          <p:nvPr/>
        </p:nvSpPr>
        <p:spPr>
          <a:xfrm>
            <a:off x="1551215" y="5282292"/>
            <a:ext cx="9352462" cy="5034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solidFill>
                  <a:srgbClr val="FF0000"/>
                </a:solidFill>
                <a:latin typeface="Times New Roman" pitchFamily="18" charset="0"/>
                <a:cs typeface="Times New Roman" pitchFamily="18" charset="0"/>
              </a:rPr>
              <a:t>Data science is a collection of techniques used to extract value from data</a:t>
            </a:r>
            <a:r>
              <a:rPr lang="en-US" sz="2400" dirty="0">
                <a:latin typeface="Times New Roman" pitchFamily="18" charset="0"/>
                <a:cs typeface="Times New Roman" pitchFamily="18" charset="0"/>
              </a:rPr>
              <a:t>.</a:t>
            </a:r>
            <a:endParaRPr lang="en-AU" sz="2400" dirty="0">
              <a:latin typeface="Times New Roman" pitchFamily="18" charset="0"/>
              <a:cs typeface="Times New Roman" pitchFamily="18" charset="0"/>
            </a:endParaRPr>
          </a:p>
        </p:txBody>
      </p:sp>
      <p:sp>
        <p:nvSpPr>
          <p:cNvPr id="5" name="Slide Number Placeholder 4">
            <a:extLst>
              <a:ext uri="{FF2B5EF4-FFF2-40B4-BE49-F238E27FC236}">
                <a16:creationId xmlns="" xmlns:a16="http://schemas.microsoft.com/office/drawing/2014/main" id="{E3C1C4FF-D207-E4C2-A21E-40947FB87A02}"/>
              </a:ext>
            </a:extLst>
          </p:cNvPr>
          <p:cNvSpPr>
            <a:spLocks noGrp="1"/>
          </p:cNvSpPr>
          <p:nvPr>
            <p:ph type="sldNum" sz="quarter" idx="12"/>
          </p:nvPr>
        </p:nvSpPr>
        <p:spPr/>
        <p:txBody>
          <a:bodyPr/>
          <a:lstStyle/>
          <a:p>
            <a:fld id="{D26C05DC-8A46-431C-AB0F-F7F5BF98DABD}" type="slidenum">
              <a:rPr lang="en-AU" smtClean="0"/>
              <a:t>9</a:t>
            </a:fld>
            <a:endParaRPr lang="en-AU"/>
          </a:p>
        </p:txBody>
      </p:sp>
    </p:spTree>
    <p:extLst>
      <p:ext uri="{BB962C8B-B14F-4D97-AF65-F5344CB8AC3E}">
        <p14:creationId xmlns:p14="http://schemas.microsoft.com/office/powerpoint/2010/main" val="3707919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Who uses Data Science today?</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r>
              <a:rPr lang="en-US" dirty="0">
                <a:latin typeface="Times New Roman" pitchFamily="18" charset="0"/>
                <a:cs typeface="Times New Roman" pitchFamily="18" charset="0"/>
              </a:rPr>
              <a:t>Almost every organization and business.</a:t>
            </a:r>
            <a:endParaRPr lang="en-AU"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10</a:t>
            </a:fld>
            <a:endParaRPr lang="en-AU"/>
          </a:p>
        </p:txBody>
      </p:sp>
    </p:spTree>
    <p:extLst>
      <p:ext uri="{BB962C8B-B14F-4D97-AF65-F5344CB8AC3E}">
        <p14:creationId xmlns:p14="http://schemas.microsoft.com/office/powerpoint/2010/main" val="33488180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41ED43-EC83-AD34-2C1E-FB9DE8A11248}"/>
              </a:ext>
            </a:extLst>
          </p:cNvPr>
          <p:cNvSpPr>
            <a:spLocks noGrp="1"/>
          </p:cNvSpPr>
          <p:nvPr>
            <p:ph type="title"/>
          </p:nvPr>
        </p:nvSpPr>
        <p:spPr/>
        <p:txBody>
          <a:bodyPr>
            <a:normAutofit/>
          </a:bodyPr>
          <a:lstStyle/>
          <a:p>
            <a:r>
              <a:rPr lang="en-US" dirty="0"/>
              <a:t>AI, Machine Learning, and Data Science</a:t>
            </a:r>
            <a:endParaRPr lang="en-AU" dirty="0"/>
          </a:p>
        </p:txBody>
      </p:sp>
      <p:pic>
        <p:nvPicPr>
          <p:cNvPr id="5" name="Picture 4">
            <a:extLst>
              <a:ext uri="{FF2B5EF4-FFF2-40B4-BE49-F238E27FC236}">
                <a16:creationId xmlns="" xmlns:a16="http://schemas.microsoft.com/office/drawing/2014/main" id="{8A64EEC2-7DA4-E3DE-D34B-3FBC96C27892}"/>
              </a:ext>
            </a:extLst>
          </p:cNvPr>
          <p:cNvPicPr>
            <a:picLocks noChangeAspect="1"/>
          </p:cNvPicPr>
          <p:nvPr/>
        </p:nvPicPr>
        <p:blipFill>
          <a:blip r:embed="rId2"/>
          <a:stretch>
            <a:fillRect/>
          </a:stretch>
        </p:blipFill>
        <p:spPr>
          <a:xfrm>
            <a:off x="2347078" y="1813560"/>
            <a:ext cx="7497844" cy="4800600"/>
          </a:xfrm>
          <a:prstGeom prst="rect">
            <a:avLst/>
          </a:prstGeom>
        </p:spPr>
      </p:pic>
      <p:sp>
        <p:nvSpPr>
          <p:cNvPr id="6" name="Slide Number Placeholder 5">
            <a:extLst>
              <a:ext uri="{FF2B5EF4-FFF2-40B4-BE49-F238E27FC236}">
                <a16:creationId xmlns="" xmlns:a16="http://schemas.microsoft.com/office/drawing/2014/main" id="{A4E2D810-FF91-D074-79EE-04E2F07044D4}"/>
              </a:ext>
            </a:extLst>
          </p:cNvPr>
          <p:cNvSpPr>
            <a:spLocks noGrp="1"/>
          </p:cNvSpPr>
          <p:nvPr>
            <p:ph type="sldNum" sz="quarter" idx="12"/>
          </p:nvPr>
        </p:nvSpPr>
        <p:spPr/>
        <p:txBody>
          <a:bodyPr/>
          <a:lstStyle/>
          <a:p>
            <a:fld id="{D26C05DC-8A46-431C-AB0F-F7F5BF98DABD}" type="slidenum">
              <a:rPr lang="en-AU" smtClean="0"/>
              <a:t>11</a:t>
            </a:fld>
            <a:endParaRPr lang="en-AU"/>
          </a:p>
        </p:txBody>
      </p:sp>
    </p:spTree>
    <p:extLst>
      <p:ext uri="{BB962C8B-B14F-4D97-AF65-F5344CB8AC3E}">
        <p14:creationId xmlns:p14="http://schemas.microsoft.com/office/powerpoint/2010/main" val="441180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pPr marL="45720" indent="0" algn="just">
              <a:buNone/>
            </a:pPr>
            <a:r>
              <a:rPr lang="en-US" b="1" dirty="0">
                <a:latin typeface="Times New Roman" pitchFamily="18" charset="0"/>
                <a:cs typeface="Times New Roman" pitchFamily="18" charset="0"/>
              </a:rPr>
              <a:t>Healthcare</a:t>
            </a:r>
          </a:p>
          <a:p>
            <a:pPr algn="just"/>
            <a:r>
              <a:rPr lang="en-US" b="1" dirty="0">
                <a:latin typeface="Times New Roman" pitchFamily="18" charset="0"/>
                <a:cs typeface="Times New Roman" pitchFamily="18" charset="0"/>
              </a:rPr>
              <a:t>Disease prediction:  </a:t>
            </a:r>
            <a:r>
              <a:rPr lang="en-US" dirty="0">
                <a:latin typeface="Times New Roman" pitchFamily="18" charset="0"/>
                <a:cs typeface="Times New Roman" pitchFamily="18" charset="0"/>
              </a:rPr>
              <a:t>Data science shifts medicine from a reactive practice to a proactive science by identifying risks long before symptoms manifest</a:t>
            </a:r>
            <a:r>
              <a:rPr lang="en-US" dirty="0" smtClean="0">
                <a:latin typeface="Times New Roman" pitchFamily="18" charset="0"/>
                <a:cs typeface="Times New Roman" pitchFamily="18" charset="0"/>
              </a:rPr>
              <a:t>.</a:t>
            </a:r>
          </a:p>
          <a:p>
            <a:pPr lvl="1" algn="just"/>
            <a:r>
              <a:rPr lang="en-US" dirty="0">
                <a:latin typeface="Times New Roman" pitchFamily="18" charset="0"/>
                <a:cs typeface="Times New Roman" pitchFamily="18" charset="0"/>
              </a:rPr>
              <a:t>Risk Modeling: By analyzing historical patient demographics, genetic markers, lifestyle choices, and vitals, machine learning models can calculate the probability of a patient developing chronic conditions like diabetes, cardiovascular diseases, or kidney failure</a:t>
            </a:r>
            <a:r>
              <a:rPr lang="en-US" dirty="0" smtClean="0">
                <a:latin typeface="Times New Roman" pitchFamily="18" charset="0"/>
                <a:cs typeface="Times New Roman" pitchFamily="18" charset="0"/>
              </a:rPr>
              <a:t>.</a:t>
            </a:r>
          </a:p>
          <a:p>
            <a:pPr lvl="1" algn="just"/>
            <a:r>
              <a:rPr lang="en-US" dirty="0" smtClean="0">
                <a:latin typeface="Times New Roman" pitchFamily="18" charset="0"/>
                <a:cs typeface="Times New Roman" pitchFamily="18" charset="0"/>
              </a:rPr>
              <a:t>Early </a:t>
            </a:r>
            <a:r>
              <a:rPr lang="en-US" dirty="0">
                <a:latin typeface="Times New Roman" pitchFamily="18" charset="0"/>
                <a:cs typeface="Times New Roman" pitchFamily="18" charset="0"/>
              </a:rPr>
              <a:t>Oncology Detection: Predictive models look for subtle anomalies in blood biomarkers or genetic sequencing data, flagging high-risk oncology cases at Stage 0 or Stage 1, significantly improving survival rates.</a:t>
            </a:r>
          </a:p>
          <a:p>
            <a:pPr algn="just"/>
            <a:r>
              <a:rPr lang="en-US" dirty="0">
                <a:latin typeface="Times New Roman" pitchFamily="18" charset="0"/>
                <a:cs typeface="Times New Roman" pitchFamily="18" charset="0"/>
              </a:rPr>
              <a:t>Medical image </a:t>
            </a:r>
            <a:r>
              <a:rPr lang="en-US" dirty="0" smtClean="0">
                <a:latin typeface="Times New Roman" pitchFamily="18" charset="0"/>
                <a:cs typeface="Times New Roman" pitchFamily="18" charset="0"/>
              </a:rPr>
              <a:t>analysis</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Personalized medicine</a:t>
            </a:r>
          </a:p>
          <a:p>
            <a:pPr marL="45720" indent="0" algn="just">
              <a:buNone/>
            </a:pPr>
            <a:endParaRPr lang="en-AU"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12</a:t>
            </a:fld>
            <a:endParaRPr lang="en-AU"/>
          </a:p>
        </p:txBody>
      </p:sp>
    </p:spTree>
    <p:extLst>
      <p:ext uri="{BB962C8B-B14F-4D97-AF65-F5344CB8AC3E}">
        <p14:creationId xmlns:p14="http://schemas.microsoft.com/office/powerpoint/2010/main" val="7451337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a:bodyPr>
          <a:lstStyle/>
          <a:p>
            <a:pPr marL="45720" indent="0" algn="just">
              <a:buNone/>
            </a:pPr>
            <a:r>
              <a:rPr lang="en-US" b="1" dirty="0">
                <a:latin typeface="Times New Roman" pitchFamily="18" charset="0"/>
                <a:cs typeface="Times New Roman" pitchFamily="18" charset="0"/>
              </a:rPr>
              <a:t>Healthcare</a:t>
            </a:r>
          </a:p>
          <a:p>
            <a:pPr algn="just"/>
            <a:r>
              <a:rPr lang="en-US" dirty="0">
                <a:latin typeface="Times New Roman" pitchFamily="18" charset="0"/>
                <a:cs typeface="Times New Roman" pitchFamily="18" charset="0"/>
              </a:rPr>
              <a:t>Disease </a:t>
            </a:r>
            <a:r>
              <a:rPr lang="en-US" dirty="0" smtClean="0">
                <a:latin typeface="Times New Roman" pitchFamily="18" charset="0"/>
                <a:cs typeface="Times New Roman" pitchFamily="18" charset="0"/>
              </a:rPr>
              <a:t>prediction</a:t>
            </a:r>
          </a:p>
          <a:p>
            <a:pPr algn="just"/>
            <a:r>
              <a:rPr lang="en-US" b="1" dirty="0" smtClean="0">
                <a:latin typeface="Times New Roman" pitchFamily="18" charset="0"/>
                <a:cs typeface="Times New Roman" pitchFamily="18" charset="0"/>
              </a:rPr>
              <a:t>Medical </a:t>
            </a:r>
            <a:r>
              <a:rPr lang="en-US" b="1" dirty="0">
                <a:latin typeface="Times New Roman" pitchFamily="18" charset="0"/>
                <a:cs typeface="Times New Roman" pitchFamily="18" charset="0"/>
              </a:rPr>
              <a:t>image analysis: </a:t>
            </a:r>
            <a:r>
              <a:rPr lang="en-US" dirty="0">
                <a:latin typeface="Times New Roman" pitchFamily="18" charset="0"/>
                <a:cs typeface="Times New Roman" pitchFamily="18" charset="0"/>
              </a:rPr>
              <a:t>Medical imaging produces massive amounts of pixel data that computer vision algorithms can digest with incredible speed and accuracy</a:t>
            </a:r>
            <a:r>
              <a:rPr lang="en-US" dirty="0" smtClean="0">
                <a:latin typeface="Times New Roman" pitchFamily="18" charset="0"/>
                <a:cs typeface="Times New Roman" pitchFamily="18" charset="0"/>
              </a:rPr>
              <a:t>.</a:t>
            </a:r>
          </a:p>
          <a:p>
            <a:pPr lvl="1" algn="just"/>
            <a:r>
              <a:rPr lang="en-US" dirty="0" smtClean="0">
                <a:latin typeface="Times New Roman" pitchFamily="18" charset="0"/>
                <a:cs typeface="Times New Roman" pitchFamily="18" charset="0"/>
              </a:rPr>
              <a:t>Computer </a:t>
            </a:r>
            <a:r>
              <a:rPr lang="en-US" dirty="0">
                <a:latin typeface="Times New Roman" pitchFamily="18" charset="0"/>
                <a:cs typeface="Times New Roman" pitchFamily="18" charset="0"/>
              </a:rPr>
              <a:t>Vision Diagnostics: Deep learning models—particularly Convolutional Neural Networks (CNNs)—are trained on millions of labeled medical images to detect tumors, fractures, microscopic infections, or retinal thinning</a:t>
            </a:r>
            <a:r>
              <a:rPr lang="en-US" dirty="0" smtClean="0">
                <a:latin typeface="Times New Roman" pitchFamily="18" charset="0"/>
                <a:cs typeface="Times New Roman" pitchFamily="18" charset="0"/>
              </a:rPr>
              <a:t>.</a:t>
            </a:r>
          </a:p>
          <a:p>
            <a:pPr lvl="1" algn="just"/>
            <a:r>
              <a:rPr lang="en-US" dirty="0" smtClean="0">
                <a:latin typeface="Times New Roman" pitchFamily="18" charset="0"/>
                <a:cs typeface="Times New Roman" pitchFamily="18" charset="0"/>
              </a:rPr>
              <a:t>Enhancing </a:t>
            </a:r>
            <a:r>
              <a:rPr lang="en-US" dirty="0">
                <a:latin typeface="Times New Roman" pitchFamily="18" charset="0"/>
                <a:cs typeface="Times New Roman" pitchFamily="18" charset="0"/>
              </a:rPr>
              <a:t>Human Expertise: These tools serve as an advanced second pair of eyes for radiologists, highlighting specific regions of interest on X-rays, MRIs, CT scans, and ultrasounds to minimize human error and diagnostic fatigue.</a:t>
            </a:r>
          </a:p>
          <a:p>
            <a:pPr algn="just"/>
            <a:r>
              <a:rPr lang="en-US" dirty="0">
                <a:latin typeface="Times New Roman" pitchFamily="18" charset="0"/>
                <a:cs typeface="Times New Roman" pitchFamily="18" charset="0"/>
              </a:rPr>
              <a:t>Personalized medicine</a:t>
            </a:r>
          </a:p>
          <a:p>
            <a:pPr marL="45720" indent="0" algn="just">
              <a:buNone/>
            </a:pPr>
            <a:endParaRPr lang="en-AU"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13</a:t>
            </a:fld>
            <a:endParaRPr lang="en-AU"/>
          </a:p>
        </p:txBody>
      </p:sp>
    </p:spTree>
    <p:extLst>
      <p:ext uri="{BB962C8B-B14F-4D97-AF65-F5344CB8AC3E}">
        <p14:creationId xmlns:p14="http://schemas.microsoft.com/office/powerpoint/2010/main" val="1913250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a:bodyPr>
          <a:lstStyle/>
          <a:p>
            <a:pPr marL="45720" indent="0" algn="just">
              <a:buNone/>
            </a:pPr>
            <a:r>
              <a:rPr lang="en-US" b="1" dirty="0">
                <a:latin typeface="Times New Roman" pitchFamily="18" charset="0"/>
                <a:cs typeface="Times New Roman" pitchFamily="18" charset="0"/>
              </a:rPr>
              <a:t>Healthcare</a:t>
            </a:r>
          </a:p>
          <a:p>
            <a:pPr algn="just"/>
            <a:r>
              <a:rPr lang="en-US" dirty="0">
                <a:latin typeface="Times New Roman" pitchFamily="18" charset="0"/>
                <a:cs typeface="Times New Roman" pitchFamily="18" charset="0"/>
              </a:rPr>
              <a:t>Disease </a:t>
            </a:r>
            <a:r>
              <a:rPr lang="en-US" dirty="0" smtClean="0">
                <a:latin typeface="Times New Roman" pitchFamily="18" charset="0"/>
                <a:cs typeface="Times New Roman" pitchFamily="18" charset="0"/>
              </a:rPr>
              <a:t>prediction</a:t>
            </a:r>
          </a:p>
          <a:p>
            <a:pPr algn="just"/>
            <a:r>
              <a:rPr lang="en-US" dirty="0" smtClean="0">
                <a:latin typeface="Times New Roman" pitchFamily="18" charset="0"/>
                <a:cs typeface="Times New Roman" pitchFamily="18" charset="0"/>
              </a:rPr>
              <a:t>Medical image analysis</a:t>
            </a:r>
          </a:p>
          <a:p>
            <a:pPr algn="just"/>
            <a:r>
              <a:rPr lang="en-US" b="1" dirty="0">
                <a:latin typeface="Times New Roman" pitchFamily="18" charset="0"/>
                <a:cs typeface="Times New Roman" pitchFamily="18" charset="0"/>
              </a:rPr>
              <a:t>Personalized medicine: </a:t>
            </a:r>
            <a:r>
              <a:rPr lang="en-US" dirty="0">
                <a:latin typeface="Times New Roman" pitchFamily="18" charset="0"/>
                <a:cs typeface="Times New Roman" pitchFamily="18" charset="0"/>
              </a:rPr>
              <a:t>The traditional "one-size-fits-all" approach to treatment is being replaced by hyper-targeted healthcare tailored to an individual's unique biological makeup</a:t>
            </a:r>
            <a:r>
              <a:rPr lang="en-US" dirty="0" smtClean="0">
                <a:latin typeface="Times New Roman" pitchFamily="18" charset="0"/>
                <a:cs typeface="Times New Roman" pitchFamily="18" charset="0"/>
              </a:rPr>
              <a:t>.</a:t>
            </a:r>
          </a:p>
          <a:p>
            <a:pPr lvl="1" algn="just"/>
            <a:r>
              <a:rPr lang="en-US" dirty="0">
                <a:latin typeface="Times New Roman" pitchFamily="18" charset="0"/>
                <a:cs typeface="Times New Roman" pitchFamily="18" charset="0"/>
              </a:rPr>
              <a:t>Genomic Sequencing: High-performance computing algorithms process a patient's entire genome to understand how their body will interact with specific chemical compounds</a:t>
            </a:r>
            <a:r>
              <a:rPr lang="en-US" dirty="0" smtClean="0">
                <a:latin typeface="Times New Roman" pitchFamily="18" charset="0"/>
                <a:cs typeface="Times New Roman" pitchFamily="18" charset="0"/>
              </a:rPr>
              <a:t>.</a:t>
            </a:r>
          </a:p>
          <a:p>
            <a:pPr lvl="1" algn="just"/>
            <a:r>
              <a:rPr lang="en-US" dirty="0" smtClean="0">
                <a:latin typeface="Times New Roman" pitchFamily="18" charset="0"/>
                <a:cs typeface="Times New Roman" pitchFamily="18" charset="0"/>
              </a:rPr>
              <a:t>Tailored </a:t>
            </a:r>
            <a:r>
              <a:rPr lang="en-US" dirty="0">
                <a:latin typeface="Times New Roman" pitchFamily="18" charset="0"/>
                <a:cs typeface="Times New Roman" pitchFamily="18" charset="0"/>
              </a:rPr>
              <a:t>Treatment Plans: Data science cross-references a patient's clinical history with global trial data to determine the exact medication cocktail and dosage that yields the highest efficacy with the fewest adverse side effects.</a:t>
            </a:r>
          </a:p>
          <a:p>
            <a:pPr marL="45720" indent="0" algn="just">
              <a:buNone/>
            </a:pPr>
            <a:endParaRPr lang="en-AU"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14</a:t>
            </a:fld>
            <a:endParaRPr lang="en-AU"/>
          </a:p>
        </p:txBody>
      </p:sp>
    </p:spTree>
    <p:extLst>
      <p:ext uri="{BB962C8B-B14F-4D97-AF65-F5344CB8AC3E}">
        <p14:creationId xmlns:p14="http://schemas.microsoft.com/office/powerpoint/2010/main" val="26521027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pPr marL="45720" indent="0" algn="just">
              <a:buNone/>
            </a:pPr>
            <a:r>
              <a:rPr lang="en-US" b="1" dirty="0">
                <a:latin typeface="Times New Roman" pitchFamily="18" charset="0"/>
                <a:cs typeface="Times New Roman" pitchFamily="18" charset="0"/>
              </a:rPr>
              <a:t>Business &amp; E-Commerce</a:t>
            </a:r>
          </a:p>
          <a:p>
            <a:pPr algn="just"/>
            <a:r>
              <a:rPr lang="en-US" b="1" dirty="0">
                <a:latin typeface="Times New Roman" pitchFamily="18" charset="0"/>
                <a:cs typeface="Times New Roman" pitchFamily="18" charset="0"/>
              </a:rPr>
              <a:t>Recommendation systems:  </a:t>
            </a:r>
            <a:r>
              <a:rPr lang="en-US" dirty="0">
                <a:latin typeface="Times New Roman" pitchFamily="18" charset="0"/>
                <a:cs typeface="Times New Roman" pitchFamily="18" charset="0"/>
              </a:rPr>
              <a:t>Instead of showing the same storefront to every visitor, e-commerce platforms use recommendation engines to curate a unique, hyper-personalized shopping experience for individual users.</a:t>
            </a:r>
          </a:p>
          <a:p>
            <a:pPr algn="just"/>
            <a:r>
              <a:rPr lang="en-US" b="1" dirty="0">
                <a:latin typeface="Times New Roman" pitchFamily="18" charset="0"/>
                <a:cs typeface="Times New Roman" pitchFamily="18" charset="0"/>
              </a:rPr>
              <a:t>Customer segmentation:  </a:t>
            </a:r>
            <a:r>
              <a:rPr lang="en-US" dirty="0">
                <a:latin typeface="Times New Roman" pitchFamily="18" charset="0"/>
                <a:cs typeface="Times New Roman" pitchFamily="18" charset="0"/>
              </a:rPr>
              <a:t>Businesses cannot treat millions of customers as a single monolith. Data science allows companies to automatically organize their audience into distinct, actionable cohorts based on behavioral and financial data.</a:t>
            </a:r>
          </a:p>
          <a:p>
            <a:pPr algn="just"/>
            <a:r>
              <a:rPr lang="en-US" b="1" dirty="0">
                <a:latin typeface="Times New Roman" pitchFamily="18" charset="0"/>
                <a:cs typeface="Times New Roman" pitchFamily="18" charset="0"/>
              </a:rPr>
              <a:t>Sales forecasting: </a:t>
            </a:r>
            <a:r>
              <a:rPr lang="en-US" dirty="0">
                <a:latin typeface="Times New Roman" pitchFamily="18" charset="0"/>
                <a:cs typeface="Times New Roman" pitchFamily="18" charset="0"/>
              </a:rPr>
              <a:t>Anticipating future market demand is critical for survival. Sales forecasting utilizes predictive analytics models to transform historical data into accurate timelines of expected growth and market shifts.</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15</a:t>
            </a:fld>
            <a:endParaRPr lang="en-AU"/>
          </a:p>
        </p:txBody>
      </p:sp>
    </p:spTree>
    <p:extLst>
      <p:ext uri="{BB962C8B-B14F-4D97-AF65-F5344CB8AC3E}">
        <p14:creationId xmlns:p14="http://schemas.microsoft.com/office/powerpoint/2010/main" val="4234060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pPr marL="45720" indent="0">
              <a:buNone/>
            </a:pPr>
            <a:r>
              <a:rPr lang="en-US" b="1" dirty="0">
                <a:latin typeface="Times New Roman" pitchFamily="18" charset="0"/>
                <a:cs typeface="Times New Roman" pitchFamily="18" charset="0"/>
              </a:rPr>
              <a:t>Finance</a:t>
            </a:r>
          </a:p>
          <a:p>
            <a:r>
              <a:rPr lang="en-US" b="1" dirty="0">
                <a:latin typeface="Times New Roman" pitchFamily="18" charset="0"/>
                <a:cs typeface="Times New Roman" pitchFamily="18" charset="0"/>
              </a:rPr>
              <a:t>Fraud detection: </a:t>
            </a:r>
            <a:r>
              <a:rPr lang="en-US" dirty="0" smtClean="0">
                <a:latin typeface="Times New Roman" pitchFamily="18" charset="0"/>
                <a:cs typeface="Times New Roman" pitchFamily="18" charset="0"/>
              </a:rPr>
              <a:t>Financial </a:t>
            </a:r>
            <a:r>
              <a:rPr lang="en-US" dirty="0">
                <a:latin typeface="Times New Roman" pitchFamily="18" charset="0"/>
                <a:cs typeface="Times New Roman" pitchFamily="18" charset="0"/>
              </a:rPr>
              <a:t>fraud costs institutions and individuals billions of dollars annually. Data science has shifted fraud prevention from a reactive review process to a proactive, real-time defense mechanism.</a:t>
            </a:r>
          </a:p>
          <a:p>
            <a:r>
              <a:rPr lang="en-US" b="1" dirty="0">
                <a:latin typeface="Times New Roman" pitchFamily="18" charset="0"/>
                <a:cs typeface="Times New Roman" pitchFamily="18" charset="0"/>
              </a:rPr>
              <a:t>Credit scoring: </a:t>
            </a:r>
            <a:r>
              <a:rPr lang="en-US" dirty="0">
                <a:latin typeface="Times New Roman" pitchFamily="18" charset="0"/>
                <a:cs typeface="Times New Roman" pitchFamily="18" charset="0"/>
              </a:rPr>
              <a:t>Traditionally, creditworthiness was evaluated using rigid, slow-moving scorecards that relied on limited financial history. Data science introduces automated, highly nuanced predictive models to assess lending risk.</a:t>
            </a:r>
          </a:p>
          <a:p>
            <a:r>
              <a:rPr lang="en-US" b="1" dirty="0">
                <a:latin typeface="Times New Roman" pitchFamily="18" charset="0"/>
                <a:cs typeface="Times New Roman" pitchFamily="18" charset="0"/>
              </a:rPr>
              <a:t>Algorithmic trading: </a:t>
            </a:r>
            <a:r>
              <a:rPr lang="en-US" dirty="0">
                <a:latin typeface="Times New Roman" pitchFamily="18" charset="0"/>
                <a:cs typeface="Times New Roman" pitchFamily="18" charset="0"/>
              </a:rPr>
              <a:t>Algorithmic trading uses mathematical models and computational power to execute financial trades at speeds and volumes that are entirely impossible for human traders.</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16</a:t>
            </a:fld>
            <a:endParaRPr lang="en-AU"/>
          </a:p>
        </p:txBody>
      </p:sp>
    </p:spTree>
    <p:extLst>
      <p:ext uri="{BB962C8B-B14F-4D97-AF65-F5344CB8AC3E}">
        <p14:creationId xmlns:p14="http://schemas.microsoft.com/office/powerpoint/2010/main" val="24607635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pPr marL="45720" indent="0" algn="just">
              <a:buNone/>
            </a:pPr>
            <a:r>
              <a:rPr lang="en-US" b="1" dirty="0">
                <a:latin typeface="Times New Roman" pitchFamily="18" charset="0"/>
                <a:cs typeface="Times New Roman" pitchFamily="18" charset="0"/>
              </a:rPr>
              <a:t>Social Media &amp; NLP</a:t>
            </a:r>
          </a:p>
          <a:p>
            <a:pPr algn="just"/>
            <a:r>
              <a:rPr lang="en-US" b="1" dirty="0">
                <a:latin typeface="Times New Roman" pitchFamily="18" charset="0"/>
                <a:cs typeface="Times New Roman" pitchFamily="18" charset="0"/>
              </a:rPr>
              <a:t>Sentiment analysis: </a:t>
            </a:r>
            <a:r>
              <a:rPr lang="en-US" dirty="0">
                <a:latin typeface="Times New Roman" pitchFamily="18" charset="0"/>
                <a:cs typeface="Times New Roman" pitchFamily="18" charset="0"/>
              </a:rPr>
              <a:t>Sentiment analysis (also known as opinion mining) is the process of deciphering the emotional tone hidden within digital text. Rather than simply reading keywords, advanced NLP models evaluate entire context strings to understand how users feel. </a:t>
            </a:r>
          </a:p>
          <a:p>
            <a:pPr algn="just"/>
            <a:r>
              <a:rPr lang="en-US" b="1" dirty="0">
                <a:latin typeface="Times New Roman" pitchFamily="18" charset="0"/>
                <a:cs typeface="Times New Roman" pitchFamily="18" charset="0"/>
              </a:rPr>
              <a:t>Spam detection: </a:t>
            </a:r>
            <a:r>
              <a:rPr lang="en-US" dirty="0">
                <a:latin typeface="Times New Roman" pitchFamily="18" charset="0"/>
                <a:cs typeface="Times New Roman" pitchFamily="18" charset="0"/>
              </a:rPr>
              <a:t>Social media channels are constant targets for malicious actors. Spam detection utilizes text classification techniques to maintain communication quality and protect users from fraud.</a:t>
            </a:r>
          </a:p>
          <a:p>
            <a:pPr algn="just"/>
            <a:r>
              <a:rPr lang="en-US" b="1" dirty="0" err="1" smtClean="0">
                <a:latin typeface="Times New Roman" pitchFamily="18" charset="0"/>
                <a:cs typeface="Times New Roman" pitchFamily="18" charset="0"/>
              </a:rPr>
              <a:t>Chatbots</a:t>
            </a:r>
            <a:r>
              <a:rPr lang="en-US" b="1" dirty="0">
                <a:latin typeface="Times New Roman" pitchFamily="18" charset="0"/>
                <a:cs typeface="Times New Roman" pitchFamily="18" charset="0"/>
              </a:rPr>
              <a:t>: </a:t>
            </a:r>
            <a:r>
              <a:rPr lang="en-US" dirty="0" err="1">
                <a:latin typeface="Times New Roman" pitchFamily="18" charset="0"/>
                <a:cs typeface="Times New Roman" pitchFamily="18" charset="0"/>
              </a:rPr>
              <a:t>Chatbots</a:t>
            </a:r>
            <a:r>
              <a:rPr lang="en-US" dirty="0">
                <a:latin typeface="Times New Roman" pitchFamily="18" charset="0"/>
                <a:cs typeface="Times New Roman" pitchFamily="18" charset="0"/>
              </a:rPr>
              <a:t> are the public-facing side of NLP on social media and e-commerce platforms, shifting customer interactions from rigid button-menus to fluid, natural dialogue.</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17</a:t>
            </a:fld>
            <a:endParaRPr lang="en-AU"/>
          </a:p>
        </p:txBody>
      </p:sp>
    </p:spTree>
    <p:extLst>
      <p:ext uri="{BB962C8B-B14F-4D97-AF65-F5344CB8AC3E}">
        <p14:creationId xmlns:p14="http://schemas.microsoft.com/office/powerpoint/2010/main" val="28812102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Applications of Data Science</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lstStyle/>
          <a:p>
            <a:pPr marL="45720" indent="0" algn="just">
              <a:buNone/>
            </a:pPr>
            <a:r>
              <a:rPr lang="en-US" b="1" dirty="0" smtClean="0">
                <a:latin typeface="Times New Roman" pitchFamily="18" charset="0"/>
                <a:cs typeface="Times New Roman" pitchFamily="18" charset="0"/>
              </a:rPr>
              <a:t>Smart Cities &amp; </a:t>
            </a:r>
            <a:r>
              <a:rPr lang="en-US" b="1" dirty="0" err="1" smtClean="0">
                <a:latin typeface="Times New Roman" pitchFamily="18" charset="0"/>
                <a:cs typeface="Times New Roman" pitchFamily="18" charset="0"/>
              </a:rPr>
              <a:t>IoT</a:t>
            </a:r>
            <a:endParaRPr lang="en-US" b="1"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Traffic prediction: </a:t>
            </a:r>
            <a:r>
              <a:rPr lang="en-US" dirty="0" smtClean="0">
                <a:latin typeface="Times New Roman" pitchFamily="18" charset="0"/>
                <a:cs typeface="Times New Roman" pitchFamily="18" charset="0"/>
              </a:rPr>
              <a:t>Urban </a:t>
            </a:r>
            <a:r>
              <a:rPr lang="en-US" dirty="0">
                <a:latin typeface="Times New Roman" pitchFamily="18" charset="0"/>
                <a:cs typeface="Times New Roman" pitchFamily="18" charset="0"/>
              </a:rPr>
              <a:t>congestion costs cities billions in lost productivity and increased carbon emissions.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-driven traffic prediction shifts traffic management from a reactive system to an automated, predictive infrastructure.</a:t>
            </a:r>
            <a:endParaRPr lang="en-US"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Energy management: </a:t>
            </a:r>
            <a:r>
              <a:rPr lang="en-US" dirty="0">
                <a:latin typeface="Times New Roman" pitchFamily="18" charset="0"/>
                <a:cs typeface="Times New Roman" pitchFamily="18" charset="0"/>
              </a:rPr>
              <a:t>Traditional power grids operate on a centralized, one-way delivery system that struggles to efficiently balance variable power generation with unpredictable consumer demand. Smart cities use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 to transition to responsive Smart Grids.</a:t>
            </a:r>
            <a:endParaRPr lang="en-US"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Environmental monitoring: </a:t>
            </a:r>
            <a:r>
              <a:rPr lang="en-US" dirty="0">
                <a:latin typeface="Times New Roman" pitchFamily="18" charset="0"/>
                <a:cs typeface="Times New Roman" pitchFamily="18" charset="0"/>
              </a:rPr>
              <a:t>Protecting public health requires continuous, highly localized awareness of environmental factors. Traditional weather stations are spaced too far apart to capture micro-level changes in urban environments.</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18</a:t>
            </a:fld>
            <a:endParaRPr lang="en-AU"/>
          </a:p>
        </p:txBody>
      </p:sp>
    </p:spTree>
    <p:extLst>
      <p:ext uri="{BB962C8B-B14F-4D97-AF65-F5344CB8AC3E}">
        <p14:creationId xmlns:p14="http://schemas.microsoft.com/office/powerpoint/2010/main" val="2149276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Data-Driven Decision Making</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fontScale="92500" lnSpcReduction="10000"/>
          </a:bodyPr>
          <a:lstStyle/>
          <a:p>
            <a:pPr marL="45720" indent="0" algn="just">
              <a:buNone/>
            </a:pPr>
            <a:r>
              <a:rPr lang="en-US" b="1" dirty="0">
                <a:latin typeface="Times New Roman" pitchFamily="18" charset="0"/>
                <a:cs typeface="Times New Roman" pitchFamily="18" charset="0"/>
              </a:rPr>
              <a:t>1. Traditional Decision-Making</a:t>
            </a:r>
          </a:p>
          <a:p>
            <a:pPr algn="just"/>
            <a:r>
              <a:rPr lang="en-US" dirty="0">
                <a:latin typeface="Times New Roman" pitchFamily="18" charset="0"/>
                <a:cs typeface="Times New Roman" pitchFamily="18" charset="0"/>
              </a:rPr>
              <a:t>Traditional decision-making relies primarily on internal human faculties and legacy knowledge. It is heavily centralized around individuals who have spent years in a specific industry.</a:t>
            </a:r>
          </a:p>
          <a:p>
            <a:pPr algn="just"/>
            <a:r>
              <a:rPr lang="en-US" b="1" dirty="0">
                <a:latin typeface="Times New Roman" pitchFamily="18" charset="0"/>
                <a:cs typeface="Times New Roman" pitchFamily="18" charset="0"/>
              </a:rPr>
              <a:t>Experience:</a:t>
            </a:r>
            <a:r>
              <a:rPr lang="en-US" dirty="0">
                <a:latin typeface="Times New Roman" pitchFamily="18" charset="0"/>
                <a:cs typeface="Times New Roman" pitchFamily="18" charset="0"/>
              </a:rPr>
              <a:t> Decisions are anchored in historical precedent. Leaders look at what worked in the past and assume the same playbook will work in the present. This relies heavily on the </a:t>
            </a:r>
            <a:r>
              <a:rPr lang="en-US" b="1" dirty="0" err="1">
                <a:latin typeface="Times New Roman" pitchFamily="18" charset="0"/>
                <a:cs typeface="Times New Roman" pitchFamily="18" charset="0"/>
              </a:rPr>
              <a:t>HiPPO</a:t>
            </a:r>
            <a:r>
              <a:rPr lang="en-US" b="1" dirty="0">
                <a:latin typeface="Times New Roman" pitchFamily="18" charset="0"/>
                <a:cs typeface="Times New Roman" pitchFamily="18" charset="0"/>
              </a:rPr>
              <a:t> (Highest Paid Person's Opinion)</a:t>
            </a:r>
            <a:r>
              <a:rPr lang="en-US" dirty="0">
                <a:latin typeface="Times New Roman" pitchFamily="18" charset="0"/>
                <a:cs typeface="Times New Roman" pitchFamily="18" charset="0"/>
              </a:rPr>
              <a:t> in the room.</a:t>
            </a:r>
          </a:p>
          <a:p>
            <a:pPr algn="just"/>
            <a:r>
              <a:rPr lang="en-US" b="1" dirty="0">
                <a:latin typeface="Times New Roman" pitchFamily="18" charset="0"/>
                <a:cs typeface="Times New Roman" pitchFamily="18" charset="0"/>
              </a:rPr>
              <a:t>Intuition:</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is the subconscious mind processing patterns based on years of </a:t>
            </a:r>
            <a:r>
              <a:rPr lang="en-US" dirty="0" err="1">
                <a:latin typeface="Times New Roman" pitchFamily="18" charset="0"/>
                <a:cs typeface="Times New Roman" pitchFamily="18" charset="0"/>
              </a:rPr>
              <a:t>unquantified</a:t>
            </a:r>
            <a:r>
              <a:rPr lang="en-US" dirty="0">
                <a:latin typeface="Times New Roman" pitchFamily="18" charset="0"/>
                <a:cs typeface="Times New Roman" pitchFamily="18" charset="0"/>
              </a:rPr>
              <a:t> observation.</a:t>
            </a:r>
          </a:p>
          <a:p>
            <a:pPr algn="just"/>
            <a:r>
              <a:rPr lang="en-US" b="1" dirty="0">
                <a:latin typeface="Times New Roman" pitchFamily="18" charset="0"/>
                <a:cs typeface="Times New Roman" pitchFamily="18" charset="0"/>
              </a:rPr>
              <a:t>The Vulnerability:</a:t>
            </a:r>
            <a:r>
              <a:rPr lang="en-US" dirty="0">
                <a:latin typeface="Times New Roman" pitchFamily="18" charset="0"/>
                <a:cs typeface="Times New Roman" pitchFamily="18" charset="0"/>
              </a:rPr>
              <a:t> While experience is valuable, it is highly susceptible to </a:t>
            </a:r>
            <a:r>
              <a:rPr lang="en-US" b="1" dirty="0">
                <a:latin typeface="Times New Roman" pitchFamily="18" charset="0"/>
                <a:cs typeface="Times New Roman" pitchFamily="18" charset="0"/>
              </a:rPr>
              <a:t>cognitive biases</a:t>
            </a:r>
            <a:r>
              <a:rPr lang="en-US" dirty="0">
                <a:latin typeface="Times New Roman" pitchFamily="18" charset="0"/>
                <a:cs typeface="Times New Roman" pitchFamily="18" charset="0"/>
              </a:rPr>
              <a:t> (such as confirmation bias or </a:t>
            </a:r>
            <a:r>
              <a:rPr lang="en-US" dirty="0" err="1">
                <a:latin typeface="Times New Roman" pitchFamily="18" charset="0"/>
                <a:cs typeface="Times New Roman" pitchFamily="18" charset="0"/>
              </a:rPr>
              <a:t>recency</a:t>
            </a:r>
            <a:r>
              <a:rPr lang="en-US" dirty="0">
                <a:latin typeface="Times New Roman" pitchFamily="18" charset="0"/>
                <a:cs typeface="Times New Roman" pitchFamily="18" charset="0"/>
              </a:rPr>
              <a:t> bias). Furthermore, intuition fails when a market undergoes a sudden structural shift—past experience cannot accurately predict an unprecedented future.</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19</a:t>
            </a:fld>
            <a:endParaRPr lang="en-AU"/>
          </a:p>
        </p:txBody>
      </p:sp>
    </p:spTree>
    <p:extLst>
      <p:ext uri="{BB962C8B-B14F-4D97-AF65-F5344CB8AC3E}">
        <p14:creationId xmlns:p14="http://schemas.microsoft.com/office/powerpoint/2010/main" val="4339562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Data-Driven Decision Making</a:t>
            </a:r>
            <a:endParaRPr lang="en-AU"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fontScale="92500"/>
          </a:bodyPr>
          <a:lstStyle/>
          <a:p>
            <a:pPr marL="45720" indent="0">
              <a:buNone/>
            </a:pPr>
            <a:r>
              <a:rPr lang="en-US" b="1" dirty="0">
                <a:latin typeface="Times New Roman" pitchFamily="18" charset="0"/>
                <a:cs typeface="Times New Roman" pitchFamily="18" charset="0"/>
              </a:rPr>
              <a:t>2. Data-Driven Decision-Making</a:t>
            </a:r>
          </a:p>
          <a:p>
            <a:r>
              <a:rPr lang="en-US" dirty="0">
                <a:latin typeface="Times New Roman" pitchFamily="18" charset="0"/>
                <a:cs typeface="Times New Roman" pitchFamily="18" charset="0"/>
              </a:rPr>
              <a:t>Data-driven decision-making (DDDM) shifts the center of gravity from the individual to the data pipeline. It requires validating strategies against empirical evidence before execution.</a:t>
            </a:r>
          </a:p>
          <a:p>
            <a:r>
              <a:rPr lang="en-US" b="1" dirty="0">
                <a:latin typeface="Times New Roman" pitchFamily="18" charset="0"/>
                <a:cs typeface="Times New Roman" pitchFamily="18" charset="0"/>
              </a:rPr>
              <a:t>Evidence:</a:t>
            </a:r>
            <a:r>
              <a:rPr lang="en-US" dirty="0">
                <a:latin typeface="Times New Roman" pitchFamily="18" charset="0"/>
                <a:cs typeface="Times New Roman" pitchFamily="18" charset="0"/>
              </a:rPr>
              <a:t> Instead of guessing what customers want or how a system will behave, decisions are backed by hard, verifiable metrics—such as real-time user telemetry, sensor logs, or financial transactions.</a:t>
            </a:r>
          </a:p>
          <a:p>
            <a:r>
              <a:rPr lang="en-US" b="1" dirty="0">
                <a:latin typeface="Times New Roman" pitchFamily="18" charset="0"/>
                <a:cs typeface="Times New Roman" pitchFamily="18" charset="0"/>
              </a:rPr>
              <a:t>Analytics:</a:t>
            </a:r>
            <a:r>
              <a:rPr lang="en-US" dirty="0">
                <a:latin typeface="Times New Roman" pitchFamily="18" charset="0"/>
                <a:cs typeface="Times New Roman" pitchFamily="18" charset="0"/>
              </a:rPr>
              <a:t> Raw evidence is processed using descriptive, predictive, and prescriptive statistical models. This transforms chaotic data into clear, objective insights, showing </a:t>
            </a:r>
            <a:r>
              <a:rPr lang="en-US" dirty="0">
                <a:solidFill>
                  <a:srgbClr val="FF0000"/>
                </a:solidFill>
                <a:latin typeface="Times New Roman" pitchFamily="18" charset="0"/>
                <a:cs typeface="Times New Roman" pitchFamily="18" charset="0"/>
              </a:rPr>
              <a:t>not just what is happening, but </a:t>
            </a:r>
            <a:r>
              <a:rPr lang="en-US" i="1" dirty="0">
                <a:solidFill>
                  <a:srgbClr val="FF0000"/>
                </a:solidFill>
                <a:latin typeface="Times New Roman" pitchFamily="18" charset="0"/>
                <a:cs typeface="Times New Roman" pitchFamily="18" charset="0"/>
              </a:rPr>
              <a:t>why</a:t>
            </a:r>
            <a:r>
              <a:rPr lang="en-US" dirty="0">
                <a:solidFill>
                  <a:srgbClr val="FF0000"/>
                </a:solidFill>
                <a:latin typeface="Times New Roman" pitchFamily="18" charset="0"/>
                <a:cs typeface="Times New Roman" pitchFamily="18" charset="0"/>
              </a:rPr>
              <a:t> it is happening and </a:t>
            </a:r>
            <a:r>
              <a:rPr lang="en-US" i="1" dirty="0">
                <a:solidFill>
                  <a:srgbClr val="FF0000"/>
                </a:solidFill>
                <a:latin typeface="Times New Roman" pitchFamily="18" charset="0"/>
                <a:cs typeface="Times New Roman" pitchFamily="18" charset="0"/>
              </a:rPr>
              <a:t>what</a:t>
            </a:r>
            <a:r>
              <a:rPr lang="en-US" dirty="0">
                <a:solidFill>
                  <a:srgbClr val="FF0000"/>
                </a:solidFill>
                <a:latin typeface="Times New Roman" pitchFamily="18" charset="0"/>
                <a:cs typeface="Times New Roman" pitchFamily="18" charset="0"/>
              </a:rPr>
              <a:t> will happen next</a:t>
            </a:r>
            <a:r>
              <a:rPr lang="en-US" dirty="0">
                <a:latin typeface="Times New Roman" pitchFamily="18" charset="0"/>
                <a:cs typeface="Times New Roman" pitchFamily="18" charset="0"/>
              </a:rPr>
              <a:t>.</a:t>
            </a:r>
          </a:p>
          <a:p>
            <a:r>
              <a:rPr lang="en-US" b="1" dirty="0">
                <a:latin typeface="Times New Roman" pitchFamily="18" charset="0"/>
                <a:cs typeface="Times New Roman" pitchFamily="18" charset="0"/>
              </a:rPr>
              <a:t>The Strength:</a:t>
            </a:r>
            <a:r>
              <a:rPr lang="en-US" dirty="0">
                <a:latin typeface="Times New Roman" pitchFamily="18" charset="0"/>
                <a:cs typeface="Times New Roman" pitchFamily="18" charset="0"/>
              </a:rPr>
              <a:t> It eliminates guesswork. It allows organizations to remain agile, objective, and capable of discovering hidden market patterns that human intuition completely misses.</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20</a:t>
            </a:fld>
            <a:endParaRPr lang="en-AU"/>
          </a:p>
        </p:txBody>
      </p:sp>
    </p:spTree>
    <p:extLst>
      <p:ext uri="{BB962C8B-B14F-4D97-AF65-F5344CB8AC3E}">
        <p14:creationId xmlns:p14="http://schemas.microsoft.com/office/powerpoint/2010/main" val="18094800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Data-Driven Decision Making</a:t>
            </a:r>
            <a:endParaRPr lang="en-AU" dirty="0"/>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21</a:t>
            </a:fld>
            <a:endParaRPr lang="en-AU"/>
          </a:p>
        </p:txBody>
      </p:sp>
      <p:graphicFrame>
        <p:nvGraphicFramePr>
          <p:cNvPr id="6" name="Table 5"/>
          <p:cNvGraphicFramePr>
            <a:graphicFrameLocks noGrp="1"/>
          </p:cNvGraphicFramePr>
          <p:nvPr>
            <p:extLst>
              <p:ext uri="{D42A27DB-BD31-4B8C-83A1-F6EECF244321}">
                <p14:modId xmlns:p14="http://schemas.microsoft.com/office/powerpoint/2010/main" val="3136044510"/>
              </p:ext>
            </p:extLst>
          </p:nvPr>
        </p:nvGraphicFramePr>
        <p:xfrm>
          <a:off x="1715164" y="1926771"/>
          <a:ext cx="8385435" cy="4038601"/>
        </p:xfrm>
        <a:graphic>
          <a:graphicData uri="http://schemas.openxmlformats.org/drawingml/2006/table">
            <a:tbl>
              <a:tblPr>
                <a:tableStyleId>{C4B1156A-380E-4F78-BDF5-A606A8083BF9}</a:tableStyleId>
              </a:tblPr>
              <a:tblGrid>
                <a:gridCol w="2795145"/>
                <a:gridCol w="2795145"/>
                <a:gridCol w="2795145"/>
              </a:tblGrid>
              <a:tr h="362438">
                <a:tc>
                  <a:txBody>
                    <a:bodyPr/>
                    <a:lstStyle/>
                    <a:p>
                      <a:pPr rtl="0"/>
                      <a:r>
                        <a:rPr lang="en-US" sz="1500" b="1" dirty="0">
                          <a:effectLst/>
                        </a:rPr>
                        <a:t>Dimension</a:t>
                      </a:r>
                      <a:endParaRPr lang="en-US" sz="1500" b="1" dirty="0">
                        <a:solidFill>
                          <a:srgbClr val="1F1F1F"/>
                        </a:solidFill>
                        <a:effectLst/>
                        <a:latin typeface="Google Sans Text"/>
                      </a:endParaRPr>
                    </a:p>
                  </a:txBody>
                  <a:tcPr marL="97082" marR="97082" marT="64721" marB="64721" anchor="ctr">
                    <a:solidFill>
                      <a:schemeClr val="accent4">
                        <a:lumMod val="60000"/>
                        <a:lumOff val="40000"/>
                      </a:schemeClr>
                    </a:solidFill>
                  </a:tcPr>
                </a:tc>
                <a:tc>
                  <a:txBody>
                    <a:bodyPr/>
                    <a:lstStyle/>
                    <a:p>
                      <a:pPr rtl="0"/>
                      <a:r>
                        <a:rPr lang="en-US" sz="1500" b="1">
                          <a:effectLst/>
                        </a:rPr>
                        <a:t>Traditional Approach</a:t>
                      </a:r>
                      <a:endParaRPr lang="en-US" sz="1500" b="1">
                        <a:solidFill>
                          <a:srgbClr val="1F1F1F"/>
                        </a:solidFill>
                        <a:effectLst/>
                        <a:latin typeface="Google Sans Text"/>
                      </a:endParaRPr>
                    </a:p>
                  </a:txBody>
                  <a:tcPr marL="97082" marR="97082" marT="64721" marB="64721" anchor="ctr">
                    <a:solidFill>
                      <a:schemeClr val="accent4">
                        <a:lumMod val="60000"/>
                        <a:lumOff val="40000"/>
                      </a:schemeClr>
                    </a:solidFill>
                  </a:tcPr>
                </a:tc>
                <a:tc>
                  <a:txBody>
                    <a:bodyPr/>
                    <a:lstStyle/>
                    <a:p>
                      <a:pPr rtl="0"/>
                      <a:r>
                        <a:rPr lang="en-US" sz="1500" b="1" dirty="0">
                          <a:effectLst/>
                        </a:rPr>
                        <a:t>Data-Driven Approach</a:t>
                      </a:r>
                      <a:endParaRPr lang="en-US" sz="1500" b="1" dirty="0">
                        <a:solidFill>
                          <a:srgbClr val="1F1F1F"/>
                        </a:solidFill>
                        <a:effectLst/>
                        <a:latin typeface="Google Sans Text"/>
                      </a:endParaRPr>
                    </a:p>
                  </a:txBody>
                  <a:tcPr marL="97082" marR="97082" marT="64721" marB="64721" anchor="ctr">
                    <a:solidFill>
                      <a:schemeClr val="accent4">
                        <a:lumMod val="60000"/>
                        <a:lumOff val="40000"/>
                      </a:schemeClr>
                    </a:solidFill>
                  </a:tcPr>
                </a:tc>
              </a:tr>
              <a:tr h="595435">
                <a:tc>
                  <a:txBody>
                    <a:bodyPr/>
                    <a:lstStyle/>
                    <a:p>
                      <a:pPr rtl="0"/>
                      <a:r>
                        <a:rPr lang="en-US" sz="1500">
                          <a:effectLst/>
                        </a:rPr>
                        <a:t>Primary Driver</a:t>
                      </a:r>
                      <a:endParaRPr lang="en-US" sz="1500">
                        <a:solidFill>
                          <a:srgbClr val="1F1F1F"/>
                        </a:solidFill>
                        <a:effectLst/>
                        <a:latin typeface="Google Sans Text"/>
                      </a:endParaRPr>
                    </a:p>
                  </a:txBody>
                  <a:tcPr marL="97082" marR="97082" marT="64721" marB="64721" anchor="ctr"/>
                </a:tc>
                <a:tc>
                  <a:txBody>
                    <a:bodyPr/>
                    <a:lstStyle/>
                    <a:p>
                      <a:pPr rtl="0"/>
                      <a:r>
                        <a:rPr lang="en-US" sz="1500" dirty="0">
                          <a:effectLst/>
                        </a:rPr>
                        <a:t>Instinct, seniority, and </a:t>
                      </a:r>
                      <a:r>
                        <a:rPr lang="en-US" sz="1500" dirty="0" smtClean="0">
                          <a:effectLst/>
                        </a:rPr>
                        <a:t>"intuition"</a:t>
                      </a:r>
                      <a:endParaRPr lang="en-US" sz="1500" dirty="0">
                        <a:solidFill>
                          <a:srgbClr val="1F1F1F"/>
                        </a:solidFill>
                        <a:effectLst/>
                        <a:latin typeface="Google Sans Text"/>
                      </a:endParaRPr>
                    </a:p>
                  </a:txBody>
                  <a:tcPr marL="97082" marR="97082" marT="64721" marB="64721" anchor="ctr"/>
                </a:tc>
                <a:tc>
                  <a:txBody>
                    <a:bodyPr/>
                    <a:lstStyle/>
                    <a:p>
                      <a:pPr rtl="0"/>
                      <a:r>
                        <a:rPr lang="en-US" sz="1500">
                          <a:effectLst/>
                        </a:rPr>
                        <a:t>Verifiable data, metrics, and algorithms</a:t>
                      </a:r>
                      <a:endParaRPr lang="en-US" sz="1500">
                        <a:solidFill>
                          <a:srgbClr val="1F1F1F"/>
                        </a:solidFill>
                        <a:effectLst/>
                        <a:latin typeface="Google Sans Text"/>
                      </a:endParaRPr>
                    </a:p>
                  </a:txBody>
                  <a:tcPr marL="97082" marR="97082" marT="64721" marB="64721" anchor="ctr"/>
                </a:tc>
              </a:tr>
              <a:tr h="595435">
                <a:tc>
                  <a:txBody>
                    <a:bodyPr/>
                    <a:lstStyle/>
                    <a:p>
                      <a:pPr rtl="0"/>
                      <a:r>
                        <a:rPr lang="en-US" sz="1500">
                          <a:effectLst/>
                        </a:rPr>
                        <a:t>Risk Profile</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High (dependent on individual human biases)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Calculated (mitigated by statistical probability)</a:t>
                      </a:r>
                      <a:endParaRPr lang="en-US" sz="1500">
                        <a:solidFill>
                          <a:srgbClr val="1F1F1F"/>
                        </a:solidFill>
                        <a:effectLst/>
                        <a:latin typeface="Google Sans Text"/>
                      </a:endParaRPr>
                    </a:p>
                  </a:txBody>
                  <a:tcPr marL="97082" marR="97082" marT="64721" marB="64721" anchor="ctr"/>
                </a:tc>
              </a:tr>
              <a:tr h="595435">
                <a:tc>
                  <a:txBody>
                    <a:bodyPr/>
                    <a:lstStyle/>
                    <a:p>
                      <a:pPr rtl="0"/>
                      <a:r>
                        <a:rPr lang="en-US" sz="1500">
                          <a:effectLst/>
                        </a:rPr>
                        <a:t>Speed</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Fast for single choices, slow to scale</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Systemized and automated in real-time</a:t>
                      </a:r>
                      <a:endParaRPr lang="en-US" sz="1500">
                        <a:solidFill>
                          <a:srgbClr val="1F1F1F"/>
                        </a:solidFill>
                        <a:effectLst/>
                        <a:latin typeface="Google Sans Text"/>
                      </a:endParaRPr>
                    </a:p>
                  </a:txBody>
                  <a:tcPr marL="97082" marR="97082" marT="64721" marB="64721" anchor="ctr"/>
                </a:tc>
              </a:tr>
              <a:tr h="595435">
                <a:tc>
                  <a:txBody>
                    <a:bodyPr/>
                    <a:lstStyle/>
                    <a:p>
                      <a:pPr rtl="0"/>
                      <a:r>
                        <a:rPr lang="en-US" sz="1500">
                          <a:effectLst/>
                        </a:rPr>
                        <a:t>Adaptability</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Rigid; relies on old formulas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Highly agile; pivots as incoming data changes</a:t>
                      </a:r>
                      <a:endParaRPr lang="en-US" sz="1500">
                        <a:solidFill>
                          <a:srgbClr val="1F1F1F"/>
                        </a:solidFill>
                        <a:effectLst/>
                        <a:latin typeface="Google Sans Text"/>
                      </a:endParaRPr>
                    </a:p>
                  </a:txBody>
                  <a:tcPr marL="97082" marR="97082" marT="64721" marB="64721" anchor="ctr"/>
                </a:tc>
              </a:tr>
              <a:tr h="1294423">
                <a:tc>
                  <a:txBody>
                    <a:bodyPr/>
                    <a:lstStyle/>
                    <a:p>
                      <a:pPr rtl="0"/>
                      <a:r>
                        <a:rPr lang="en-US" sz="1500">
                          <a:effectLst/>
                        </a:rPr>
                        <a:t>Example</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"We should launch this product because I’ve been in this market 20 years and I feel it will succeed."</a:t>
                      </a:r>
                      <a:endParaRPr lang="en-US" sz="1500">
                        <a:solidFill>
                          <a:srgbClr val="1F1F1F"/>
                        </a:solidFill>
                        <a:effectLst/>
                        <a:latin typeface="Google Sans Text"/>
                      </a:endParaRPr>
                    </a:p>
                  </a:txBody>
                  <a:tcPr marL="97082" marR="97082" marT="64721" marB="64721" anchor="ctr"/>
                </a:tc>
                <a:tc>
                  <a:txBody>
                    <a:bodyPr/>
                    <a:lstStyle/>
                    <a:p>
                      <a:pPr rtl="0"/>
                      <a:r>
                        <a:rPr lang="en-US" sz="1500" dirty="0">
                          <a:effectLst/>
                        </a:rPr>
                        <a:t>"We are launching this product because A/B testing shows a 34% higher conversion rate among our core demographic."</a:t>
                      </a:r>
                      <a:endParaRPr lang="en-US" sz="1500" dirty="0">
                        <a:solidFill>
                          <a:srgbClr val="1F1F1F"/>
                        </a:solidFill>
                        <a:effectLst/>
                        <a:latin typeface="Google Sans Text"/>
                      </a:endParaRPr>
                    </a:p>
                  </a:txBody>
                  <a:tcPr marL="97082" marR="97082" marT="64721" marB="64721" anchor="ctr"/>
                </a:tc>
              </a:tr>
            </a:tbl>
          </a:graphicData>
        </a:graphic>
      </p:graphicFrame>
    </p:spTree>
    <p:extLst>
      <p:ext uri="{BB962C8B-B14F-4D97-AF65-F5344CB8AC3E}">
        <p14:creationId xmlns:p14="http://schemas.microsoft.com/office/powerpoint/2010/main" val="11872017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lstStyle/>
          <a:p>
            <a:r>
              <a:rPr lang="en-US" dirty="0"/>
              <a:t>Data-Driven Decision Making</a:t>
            </a:r>
            <a:endParaRPr lang="en-AU" dirty="0"/>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22</a:t>
            </a:fld>
            <a:endParaRPr lang="en-AU"/>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677" y="1877444"/>
            <a:ext cx="7968344" cy="4349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17534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normAutofit/>
          </a:bodyPr>
          <a:lstStyle/>
          <a:p>
            <a:r>
              <a:rPr lang="en-US" sz="4000" dirty="0"/>
              <a:t>Data-Driven Decision </a:t>
            </a:r>
            <a:r>
              <a:rPr lang="en-US" sz="4000" dirty="0" smtClean="0"/>
              <a:t>Making: A Case Study</a:t>
            </a:r>
            <a:endParaRPr lang="en-AU" sz="4000"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a:bodyPr>
          <a:lstStyle/>
          <a:p>
            <a:pPr marL="45720" indent="0">
              <a:buNone/>
            </a:pPr>
            <a:r>
              <a:rPr lang="en-US" b="1" dirty="0">
                <a:latin typeface="Times New Roman" pitchFamily="18" charset="0"/>
                <a:cs typeface="Times New Roman" pitchFamily="18" charset="0"/>
              </a:rPr>
              <a:t>Example</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university wants to reduce student dropout rates.</a:t>
            </a:r>
          </a:p>
          <a:p>
            <a:pPr marL="45720" indent="0">
              <a:buNone/>
            </a:pPr>
            <a:r>
              <a:rPr lang="en-US" b="1" dirty="0">
                <a:latin typeface="Times New Roman" pitchFamily="18" charset="0"/>
                <a:cs typeface="Times New Roman" pitchFamily="18" charset="0"/>
              </a:rPr>
              <a:t>Questions:</a:t>
            </a:r>
          </a:p>
          <a:p>
            <a:r>
              <a:rPr lang="en-US" dirty="0">
                <a:latin typeface="Times New Roman" pitchFamily="18" charset="0"/>
                <a:cs typeface="Times New Roman" pitchFamily="18" charset="0"/>
              </a:rPr>
              <a:t>What data would we collect? </a:t>
            </a:r>
          </a:p>
          <a:p>
            <a:r>
              <a:rPr lang="en-US" dirty="0">
                <a:latin typeface="Times New Roman" pitchFamily="18" charset="0"/>
                <a:cs typeface="Times New Roman" pitchFamily="18" charset="0"/>
              </a:rPr>
              <a:t>What insights might help?</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23</a:t>
            </a:fld>
            <a:endParaRPr lang="en-AU"/>
          </a:p>
        </p:txBody>
      </p:sp>
    </p:spTree>
    <p:extLst>
      <p:ext uri="{BB962C8B-B14F-4D97-AF65-F5344CB8AC3E}">
        <p14:creationId xmlns:p14="http://schemas.microsoft.com/office/powerpoint/2010/main" val="22809905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D3FF3B-099A-B5CE-1193-B6C92779EF54}"/>
              </a:ext>
            </a:extLst>
          </p:cNvPr>
          <p:cNvSpPr>
            <a:spLocks noGrp="1"/>
          </p:cNvSpPr>
          <p:nvPr>
            <p:ph type="title"/>
          </p:nvPr>
        </p:nvSpPr>
        <p:spPr/>
        <p:txBody>
          <a:bodyPr>
            <a:normAutofit/>
          </a:bodyPr>
          <a:lstStyle/>
          <a:p>
            <a:r>
              <a:rPr lang="en-US" sz="4000" dirty="0"/>
              <a:t>Data-Driven Decision </a:t>
            </a:r>
            <a:r>
              <a:rPr lang="en-US" sz="4000" dirty="0" smtClean="0"/>
              <a:t>Making</a:t>
            </a:r>
            <a:endParaRPr lang="en-AU" sz="4000" dirty="0"/>
          </a:p>
        </p:txBody>
      </p:sp>
      <p:sp>
        <p:nvSpPr>
          <p:cNvPr id="3" name="Content Placeholder 2">
            <a:extLst>
              <a:ext uri="{FF2B5EF4-FFF2-40B4-BE49-F238E27FC236}">
                <a16:creationId xmlns="" xmlns:a16="http://schemas.microsoft.com/office/drawing/2014/main" id="{4D3DE2A1-F1C4-FE6C-02F7-CB3AA37AEC14}"/>
              </a:ext>
            </a:extLst>
          </p:cNvPr>
          <p:cNvSpPr>
            <a:spLocks noGrp="1"/>
          </p:cNvSpPr>
          <p:nvPr>
            <p:ph idx="1"/>
          </p:nvPr>
        </p:nvSpPr>
        <p:spPr/>
        <p:txBody>
          <a:bodyPr>
            <a:normAutofit/>
          </a:bodyPr>
          <a:lstStyle/>
          <a:p>
            <a:r>
              <a:rPr lang="en-US" dirty="0">
                <a:latin typeface="Times New Roman" pitchFamily="18" charset="0"/>
                <a:cs typeface="Times New Roman" pitchFamily="18" charset="0"/>
              </a:rPr>
              <a:t>Better accuracy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Reduced </a:t>
            </a:r>
            <a:r>
              <a:rPr lang="en-US" dirty="0">
                <a:latin typeface="Times New Roman" pitchFamily="18" charset="0"/>
                <a:cs typeface="Times New Roman" pitchFamily="18" charset="0"/>
              </a:rPr>
              <a:t>risk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Faster </a:t>
            </a:r>
            <a:r>
              <a:rPr lang="en-US" dirty="0">
                <a:latin typeface="Times New Roman" pitchFamily="18" charset="0"/>
                <a:cs typeface="Times New Roman" pitchFamily="18" charset="0"/>
              </a:rPr>
              <a:t>decisions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Competitive </a:t>
            </a:r>
            <a:r>
              <a:rPr lang="en-US" dirty="0">
                <a:latin typeface="Times New Roman" pitchFamily="18" charset="0"/>
                <a:cs typeface="Times New Roman" pitchFamily="18" charset="0"/>
              </a:rPr>
              <a:t>advantage</a:t>
            </a:r>
          </a:p>
        </p:txBody>
      </p:sp>
      <p:sp>
        <p:nvSpPr>
          <p:cNvPr id="4" name="Slide Number Placeholder 3">
            <a:extLst>
              <a:ext uri="{FF2B5EF4-FFF2-40B4-BE49-F238E27FC236}">
                <a16:creationId xmlns="" xmlns:a16="http://schemas.microsoft.com/office/drawing/2014/main" id="{28E3A523-4F57-2CBD-E7F0-879F8435CBFB}"/>
              </a:ext>
            </a:extLst>
          </p:cNvPr>
          <p:cNvSpPr>
            <a:spLocks noGrp="1"/>
          </p:cNvSpPr>
          <p:nvPr>
            <p:ph type="sldNum" sz="quarter" idx="12"/>
          </p:nvPr>
        </p:nvSpPr>
        <p:spPr/>
        <p:txBody>
          <a:bodyPr/>
          <a:lstStyle/>
          <a:p>
            <a:fld id="{D26C05DC-8A46-431C-AB0F-F7F5BF98DABD}" type="slidenum">
              <a:rPr lang="en-AU" smtClean="0"/>
              <a:t>24</a:t>
            </a:fld>
            <a:endParaRPr lang="en-AU"/>
          </a:p>
        </p:txBody>
      </p:sp>
    </p:spTree>
    <p:extLst>
      <p:ext uri="{BB962C8B-B14F-4D97-AF65-F5344CB8AC3E}">
        <p14:creationId xmlns:p14="http://schemas.microsoft.com/office/powerpoint/2010/main" val="41331234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25</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a:bodyPr>
          <a:lstStyle/>
          <a:p>
            <a:pPr marL="45720" indent="0" algn="just">
              <a:buNone/>
            </a:pPr>
            <a:r>
              <a:rPr lang="en-US" b="1" dirty="0">
                <a:latin typeface="Times New Roman" pitchFamily="18" charset="0"/>
                <a:cs typeface="Times New Roman" pitchFamily="18" charset="0"/>
              </a:rPr>
              <a:t>1. Data Engineer (The Architect)</a:t>
            </a:r>
          </a:p>
          <a:p>
            <a:pPr algn="just"/>
            <a:r>
              <a:rPr lang="en-US" dirty="0">
                <a:latin typeface="Times New Roman" pitchFamily="18" charset="0"/>
                <a:cs typeface="Times New Roman" pitchFamily="18" charset="0"/>
              </a:rPr>
              <a:t>Data Engineers build and maintain the foundational infrastructure that allows data to flow smoothly. They are the plumbers and architects of the data ecosystem.</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Designing distributed systems, building robust ETL (Extract, Transform, Load) pipelines, and managing big data architectures (like </a:t>
            </a:r>
            <a:r>
              <a:rPr lang="en-US" dirty="0" err="1">
                <a:latin typeface="Times New Roman" pitchFamily="18" charset="0"/>
                <a:cs typeface="Times New Roman" pitchFamily="18" charset="0"/>
              </a:rPr>
              <a:t>Hadoop</a:t>
            </a:r>
            <a:r>
              <a:rPr lang="en-US" dirty="0">
                <a:latin typeface="Times New Roman" pitchFamily="18" charset="0"/>
                <a:cs typeface="Times New Roman" pitchFamily="18" charset="0"/>
              </a:rPr>
              <a:t>, Apache Spark, or cloud data warehouses).</a:t>
            </a: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Python, Java, SQL, </a:t>
            </a:r>
            <a:r>
              <a:rPr lang="en-US" dirty="0" err="1">
                <a:latin typeface="Times New Roman" pitchFamily="18" charset="0"/>
                <a:cs typeface="Times New Roman" pitchFamily="18" charset="0"/>
              </a:rPr>
              <a:t>NoSQL</a:t>
            </a:r>
            <a:r>
              <a:rPr lang="en-US" dirty="0">
                <a:latin typeface="Times New Roman" pitchFamily="18" charset="0"/>
                <a:cs typeface="Times New Roman" pitchFamily="18" charset="0"/>
              </a:rPr>
              <a:t>, Kafka, Spark, AWS/Azure/GCP.</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Data availability, scalability, and system reliability.</a:t>
            </a:r>
          </a:p>
          <a:p>
            <a:pPr marL="4572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51271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26</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a:bodyPr>
          <a:lstStyle/>
          <a:p>
            <a:pPr marL="45720" indent="0" algn="just">
              <a:buNone/>
            </a:pPr>
            <a:r>
              <a:rPr lang="en-US" b="1" dirty="0">
                <a:latin typeface="Times New Roman" pitchFamily="18" charset="0"/>
                <a:cs typeface="Times New Roman" pitchFamily="18" charset="0"/>
              </a:rPr>
              <a:t>2. Data Analyst (The Storyteller)</a:t>
            </a:r>
          </a:p>
          <a:p>
            <a:pPr algn="just"/>
            <a:r>
              <a:rPr lang="en-US" dirty="0">
                <a:latin typeface="Times New Roman" pitchFamily="18" charset="0"/>
                <a:cs typeface="Times New Roman" pitchFamily="18" charset="0"/>
              </a:rPr>
              <a:t>Data Analysts look at historical data to identify trends, answer specific business queries, and translate complex numbers into human-readable narratives.</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Cleaning data, performing exploratory data analysis (EDA), generating descriptive statistics, and building interactive dashboards for business stakeholders.</a:t>
            </a: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SQL, Excel, Tableau, Power BI, basic R or Python.</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Describing </a:t>
            </a:r>
            <a:r>
              <a:rPr lang="en-US" i="1" dirty="0">
                <a:latin typeface="Times New Roman" pitchFamily="18" charset="0"/>
                <a:cs typeface="Times New Roman" pitchFamily="18" charset="0"/>
              </a:rPr>
              <a:t>what</a:t>
            </a:r>
            <a:r>
              <a:rPr lang="en-US" dirty="0">
                <a:latin typeface="Times New Roman" pitchFamily="18" charset="0"/>
                <a:cs typeface="Times New Roman" pitchFamily="18" charset="0"/>
              </a:rPr>
              <a:t> happened and </a:t>
            </a:r>
            <a:r>
              <a:rPr lang="en-US" i="1" dirty="0">
                <a:latin typeface="Times New Roman" pitchFamily="18" charset="0"/>
                <a:cs typeface="Times New Roman" pitchFamily="18" charset="0"/>
              </a:rPr>
              <a:t>why</a:t>
            </a:r>
            <a:r>
              <a:rPr lang="en-US" dirty="0">
                <a:latin typeface="Times New Roman" pitchFamily="18" charset="0"/>
                <a:cs typeface="Times New Roman" pitchFamily="18" charset="0"/>
              </a:rPr>
              <a:t> it happened (Descriptive and Diagnostic analytics).</a:t>
            </a:r>
          </a:p>
        </p:txBody>
      </p:sp>
    </p:spTree>
    <p:extLst>
      <p:ext uri="{BB962C8B-B14F-4D97-AF65-F5344CB8AC3E}">
        <p14:creationId xmlns:p14="http://schemas.microsoft.com/office/powerpoint/2010/main" val="1760088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27</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a:bodyPr>
          <a:lstStyle/>
          <a:p>
            <a:pPr marL="45720" indent="0" algn="just">
              <a:buNone/>
            </a:pPr>
            <a:r>
              <a:rPr lang="en-US" b="1" dirty="0">
                <a:latin typeface="Times New Roman" pitchFamily="18" charset="0"/>
                <a:cs typeface="Times New Roman" pitchFamily="18" charset="0"/>
              </a:rPr>
              <a:t>3. Data Scientist (The Modeler)</a:t>
            </a:r>
          </a:p>
          <a:p>
            <a:pPr algn="just"/>
            <a:r>
              <a:rPr lang="en-US" dirty="0">
                <a:latin typeface="Times New Roman" pitchFamily="18" charset="0"/>
                <a:cs typeface="Times New Roman" pitchFamily="18" charset="0"/>
              </a:rPr>
              <a:t>Data Scientists take over where analysts leave off. They use advanced mathematics and statistical modeling to look forward into the future.</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Engineering complex features, building predictive algorithms, framing business problems into machine learning tasks, and running experimental evaluations (like A/B testing).</a:t>
            </a: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Python, R, advanced statistics, regression, clustering, ensemble methods (like </a:t>
            </a:r>
            <a:r>
              <a:rPr lang="en-US" dirty="0" err="1">
                <a:latin typeface="Times New Roman" pitchFamily="18" charset="0"/>
                <a:cs typeface="Times New Roman" pitchFamily="18" charset="0"/>
              </a:rPr>
              <a:t>XGBoost</a:t>
            </a:r>
            <a:r>
              <a:rPr lang="en-US" dirty="0">
                <a:latin typeface="Times New Roman" pitchFamily="18" charset="0"/>
                <a:cs typeface="Times New Roman" pitchFamily="18" charset="0"/>
              </a:rPr>
              <a:t>).</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Predicting </a:t>
            </a:r>
            <a:r>
              <a:rPr lang="en-US" i="1" dirty="0">
                <a:latin typeface="Times New Roman" pitchFamily="18" charset="0"/>
                <a:cs typeface="Times New Roman" pitchFamily="18" charset="0"/>
              </a:rPr>
              <a:t>what will happen</a:t>
            </a:r>
            <a:r>
              <a:rPr lang="en-US" dirty="0">
                <a:latin typeface="Times New Roman" pitchFamily="18" charset="0"/>
                <a:cs typeface="Times New Roman" pitchFamily="18" charset="0"/>
              </a:rPr>
              <a:t> and prescribing optimal strategies (Predictive and Prescriptive analytics).</a:t>
            </a:r>
          </a:p>
        </p:txBody>
      </p:sp>
    </p:spTree>
    <p:extLst>
      <p:ext uri="{BB962C8B-B14F-4D97-AF65-F5344CB8AC3E}">
        <p14:creationId xmlns:p14="http://schemas.microsoft.com/office/powerpoint/2010/main" val="1171631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28</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a:bodyPr>
          <a:lstStyle/>
          <a:p>
            <a:pPr marL="45720" indent="0" algn="just">
              <a:buNone/>
            </a:pPr>
            <a:r>
              <a:rPr lang="en-US" b="1" dirty="0">
                <a:latin typeface="Times New Roman" pitchFamily="18" charset="0"/>
                <a:cs typeface="Times New Roman" pitchFamily="18" charset="0"/>
              </a:rPr>
              <a:t>4. Machine Learning (ML) Engineer (The Builder)</a:t>
            </a:r>
          </a:p>
          <a:p>
            <a:pPr algn="just"/>
            <a:r>
              <a:rPr lang="en-US" dirty="0">
                <a:latin typeface="Times New Roman" pitchFamily="18" charset="0"/>
                <a:cs typeface="Times New Roman" pitchFamily="18" charset="0"/>
              </a:rPr>
              <a:t>An ML Engineer bridge the gap between a data scientist's experimental model and a production-ready software system. They make models fast, stable, and scalable</a:t>
            </a:r>
            <a:r>
              <a:rPr lang="en-US" dirty="0" smtClean="0">
                <a:latin typeface="Times New Roman" pitchFamily="18" charset="0"/>
                <a:cs typeface="Times New Roman" pitchFamily="18" charset="0"/>
              </a:rPr>
              <a:t>.</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Optimizing training code, deploying machine learning models into production environments, setting up CI/CD pipelines for AI (</a:t>
            </a:r>
            <a:r>
              <a:rPr lang="en-US" dirty="0" err="1">
                <a:latin typeface="Times New Roman" pitchFamily="18" charset="0"/>
                <a:cs typeface="Times New Roman" pitchFamily="18" charset="0"/>
              </a:rPr>
              <a:t>MLOps</a:t>
            </a:r>
            <a:r>
              <a:rPr lang="en-US" dirty="0">
                <a:latin typeface="Times New Roman" pitchFamily="18" charset="0"/>
                <a:cs typeface="Times New Roman" pitchFamily="18" charset="0"/>
              </a:rPr>
              <a:t>), and ensuring low-latency model inference.</a:t>
            </a: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Python, C++, </a:t>
            </a:r>
            <a:r>
              <a:rPr lang="en-US" dirty="0" err="1">
                <a:latin typeface="Times New Roman" pitchFamily="18" charset="0"/>
                <a:cs typeface="Times New Roman" pitchFamily="18" charset="0"/>
              </a:rPr>
              <a:t>Docker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Kubernetes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TensorFlow</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PyTorch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MLOps</a:t>
            </a:r>
            <a:r>
              <a:rPr lang="en-US" dirty="0">
                <a:latin typeface="Times New Roman" pitchFamily="18" charset="0"/>
                <a:cs typeface="Times New Roman" pitchFamily="18" charset="0"/>
              </a:rPr>
              <a:t> frameworks.</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Deployment, code optimization, performance, and model monitoring.</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634130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29</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lnSpcReduction="10000"/>
          </a:bodyPr>
          <a:lstStyle/>
          <a:p>
            <a:pPr marL="45720" indent="0" algn="just">
              <a:buNone/>
            </a:pPr>
            <a:r>
              <a:rPr lang="en-US" b="1" dirty="0">
                <a:latin typeface="Times New Roman" pitchFamily="18" charset="0"/>
                <a:cs typeface="Times New Roman" pitchFamily="18" charset="0"/>
              </a:rPr>
              <a:t>5. Machine Learning / NLP Researcher (The Innovator)</a:t>
            </a:r>
          </a:p>
          <a:p>
            <a:pPr algn="just"/>
            <a:r>
              <a:rPr lang="en-US" dirty="0">
                <a:latin typeface="Times New Roman" pitchFamily="18" charset="0"/>
                <a:cs typeface="Times New Roman" pitchFamily="18" charset="0"/>
              </a:rPr>
              <a:t>Often found in advanced R&amp;D divisions or cutting-edge tech firms, researchers focus on pushing the boundaries of what AI can do rather than applying existing tools.</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Designing novel model architectures, publishing academic findings, and tackling highly specialized domains like computer vision, deep reinforcement learning, or advanced Natural Language Processing (NLP).</a:t>
            </a: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Deep theoretical mathematics, calculus, linear algebra, frameworks like </a:t>
            </a:r>
            <a:r>
              <a:rPr lang="en-US" dirty="0" err="1">
                <a:latin typeface="Times New Roman" pitchFamily="18" charset="0"/>
                <a:cs typeface="Times New Roman" pitchFamily="18" charset="0"/>
              </a:rPr>
              <a:t>PyTorch</a:t>
            </a:r>
            <a:r>
              <a:rPr lang="en-US" dirty="0">
                <a:latin typeface="Times New Roman" pitchFamily="18" charset="0"/>
                <a:cs typeface="Times New Roman" pitchFamily="18" charset="0"/>
              </a:rPr>
              <a:t>, publishing scientific papers.</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Innovation, algorithmic breakthrough, and long-term capability development.</a:t>
            </a:r>
          </a:p>
        </p:txBody>
      </p:sp>
    </p:spTree>
    <p:extLst>
      <p:ext uri="{BB962C8B-B14F-4D97-AF65-F5344CB8AC3E}">
        <p14:creationId xmlns:p14="http://schemas.microsoft.com/office/powerpoint/2010/main" val="718715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30</a:t>
            </a:fld>
            <a:endParaRPr lang="en-US"/>
          </a:p>
        </p:txBody>
      </p:sp>
      <p:sp>
        <p:nvSpPr>
          <p:cNvPr id="7" name="Content Placeholder 2">
            <a:extLst>
              <a:ext uri="{FF2B5EF4-FFF2-40B4-BE49-F238E27FC236}">
                <a16:creationId xmlns="" xmlns:a16="http://schemas.microsoft.com/office/drawing/2014/main" id="{4D3DE2A1-F1C4-FE6C-02F7-CB3AA37AEC14}"/>
              </a:ext>
            </a:extLst>
          </p:cNvPr>
          <p:cNvSpPr>
            <a:spLocks noGrp="1"/>
          </p:cNvSpPr>
          <p:nvPr>
            <p:ph idx="1"/>
          </p:nvPr>
        </p:nvSpPr>
        <p:spPr>
          <a:xfrm>
            <a:off x="1143000" y="2057400"/>
            <a:ext cx="9872871" cy="4038600"/>
          </a:xfrm>
        </p:spPr>
        <p:txBody>
          <a:bodyPr>
            <a:normAutofit/>
          </a:bodyPr>
          <a:lstStyle/>
          <a:p>
            <a:pPr marL="45720" indent="0" algn="just">
              <a:buNone/>
            </a:pPr>
            <a:r>
              <a:rPr lang="en-US" b="1" dirty="0">
                <a:latin typeface="Times New Roman" pitchFamily="18" charset="0"/>
                <a:cs typeface="Times New Roman" pitchFamily="18" charset="0"/>
              </a:rPr>
              <a:t>6. Product Manager / Data Translator (The Bridge)</a:t>
            </a:r>
          </a:p>
          <a:p>
            <a:pPr algn="just"/>
            <a:r>
              <a:rPr lang="en-US" dirty="0">
                <a:latin typeface="Times New Roman" pitchFamily="18" charset="0"/>
                <a:cs typeface="Times New Roman" pitchFamily="18" charset="0"/>
              </a:rPr>
              <a:t>Data initiatives fail if they aren't aligned with business realities. The Product Manager acts as the crucial link between business stakeholders and technical execution.</a:t>
            </a:r>
          </a:p>
          <a:p>
            <a:pPr algn="just"/>
            <a:r>
              <a:rPr lang="en-US" b="1" dirty="0">
                <a:latin typeface="Times New Roman" pitchFamily="18" charset="0"/>
                <a:cs typeface="Times New Roman" pitchFamily="18" charset="0"/>
              </a:rPr>
              <a:t>Core Responsibilities:</a:t>
            </a:r>
            <a:r>
              <a:rPr lang="en-US" dirty="0">
                <a:latin typeface="Times New Roman" pitchFamily="18" charset="0"/>
                <a:cs typeface="Times New Roman" pitchFamily="18" charset="0"/>
              </a:rPr>
              <a:t> Defining the project objective, managing the roadmap, translating high-level business goals into specific data requirements, and ensuring the team builds something that delivers tangible </a:t>
            </a:r>
            <a:r>
              <a:rPr lang="en-US" dirty="0">
                <a:latin typeface="Times New Roman" pitchFamily="18" charset="0"/>
                <a:cs typeface="Times New Roman" pitchFamily="18" charset="0"/>
              </a:rPr>
              <a:t>ROI (Return on Investment).</a:t>
            </a:r>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Skills:</a:t>
            </a:r>
            <a:r>
              <a:rPr lang="en-US" dirty="0">
                <a:latin typeface="Times New Roman" pitchFamily="18" charset="0"/>
                <a:cs typeface="Times New Roman" pitchFamily="18" charset="0"/>
              </a:rPr>
              <a:t> Agile methodologies, deep domain expertise, KPIs tracking, communication, basic data literacy.</a:t>
            </a:r>
          </a:p>
          <a:p>
            <a:pPr algn="just"/>
            <a:r>
              <a:rPr lang="en-US" b="1" dirty="0">
                <a:latin typeface="Times New Roman" pitchFamily="18" charset="0"/>
                <a:cs typeface="Times New Roman" pitchFamily="18" charset="0"/>
              </a:rPr>
              <a:t>Focus:</a:t>
            </a:r>
            <a:r>
              <a:rPr lang="en-US" dirty="0">
                <a:latin typeface="Times New Roman" pitchFamily="18" charset="0"/>
                <a:cs typeface="Times New Roman" pitchFamily="18" charset="0"/>
              </a:rPr>
              <a:t> Value delivery, alignment, and project strategy.</a:t>
            </a:r>
          </a:p>
        </p:txBody>
      </p:sp>
    </p:spTree>
    <p:extLst>
      <p:ext uri="{BB962C8B-B14F-4D97-AF65-F5344CB8AC3E}">
        <p14:creationId xmlns:p14="http://schemas.microsoft.com/office/powerpoint/2010/main" val="153497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9C5D52-3004-49E6-FF72-A8EEE24E5E4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C57A5FE-7433-11BF-EC71-1FF0C2267C4A}"/>
              </a:ext>
            </a:extLst>
          </p:cNvPr>
          <p:cNvSpPr>
            <a:spLocks noGrp="1"/>
          </p:cNvSpPr>
          <p:nvPr>
            <p:ph type="title"/>
          </p:nvPr>
        </p:nvSpPr>
        <p:spPr/>
        <p:txBody>
          <a:bodyPr/>
          <a:lstStyle/>
          <a:p>
            <a:r>
              <a:rPr lang="en-US" dirty="0"/>
              <a:t>Roles in a data science team </a:t>
            </a:r>
          </a:p>
        </p:txBody>
      </p:sp>
      <p:sp>
        <p:nvSpPr>
          <p:cNvPr id="5" name="Slide Number Placeholder 4">
            <a:extLst>
              <a:ext uri="{FF2B5EF4-FFF2-40B4-BE49-F238E27FC236}">
                <a16:creationId xmlns="" xmlns:a16="http://schemas.microsoft.com/office/drawing/2014/main" id="{08597B4E-17FC-1E91-85C9-0AA4AAC11518}"/>
              </a:ext>
            </a:extLst>
          </p:cNvPr>
          <p:cNvSpPr>
            <a:spLocks noGrp="1"/>
          </p:cNvSpPr>
          <p:nvPr>
            <p:ph type="sldNum" sz="quarter" idx="12"/>
          </p:nvPr>
        </p:nvSpPr>
        <p:spPr/>
        <p:txBody>
          <a:bodyPr/>
          <a:lstStyle/>
          <a:p>
            <a:fld id="{C3584116-71E9-45F8-BC17-47CE06098486}" type="slidenum">
              <a:rPr lang="en-US" smtClean="0"/>
              <a:t>31</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902010481"/>
              </p:ext>
            </p:extLst>
          </p:nvPr>
        </p:nvGraphicFramePr>
        <p:xfrm>
          <a:off x="1886613" y="2057399"/>
          <a:ext cx="8385436" cy="4038602"/>
        </p:xfrm>
        <a:graphic>
          <a:graphicData uri="http://schemas.openxmlformats.org/drawingml/2006/table">
            <a:tbl>
              <a:tblPr>
                <a:tableStyleId>{C4B1156A-380E-4F78-BDF5-A606A8083BF9}</a:tableStyleId>
              </a:tblPr>
              <a:tblGrid>
                <a:gridCol w="2096359"/>
                <a:gridCol w="2096359"/>
                <a:gridCol w="2096359"/>
                <a:gridCol w="2096359"/>
              </a:tblGrid>
              <a:tr h="595435">
                <a:tc>
                  <a:txBody>
                    <a:bodyPr/>
                    <a:lstStyle/>
                    <a:p>
                      <a:pPr rtl="0"/>
                      <a:r>
                        <a:rPr lang="en-US" sz="1500" b="1">
                          <a:effectLst/>
                        </a:rPr>
                        <a:t>Role</a:t>
                      </a:r>
                      <a:endParaRPr lang="en-US" sz="1500" b="1">
                        <a:solidFill>
                          <a:srgbClr val="1F1F1F"/>
                        </a:solidFill>
                        <a:effectLst/>
                        <a:latin typeface="Google Sans Text"/>
                      </a:endParaRPr>
                    </a:p>
                  </a:txBody>
                  <a:tcPr marL="97082" marR="97082" marT="64721" marB="64721" anchor="ctr">
                    <a:solidFill>
                      <a:schemeClr val="accent4">
                        <a:lumMod val="60000"/>
                        <a:lumOff val="40000"/>
                      </a:schemeClr>
                    </a:solidFill>
                  </a:tcPr>
                </a:tc>
                <a:tc>
                  <a:txBody>
                    <a:bodyPr/>
                    <a:lstStyle/>
                    <a:p>
                      <a:pPr rtl="0"/>
                      <a:r>
                        <a:rPr lang="en-US" sz="1500" b="1">
                          <a:effectLst/>
                        </a:rPr>
                        <a:t>Primary Question Answered</a:t>
                      </a:r>
                      <a:endParaRPr lang="en-US" sz="1500" b="1">
                        <a:solidFill>
                          <a:srgbClr val="1F1F1F"/>
                        </a:solidFill>
                        <a:effectLst/>
                        <a:latin typeface="Google Sans Text"/>
                      </a:endParaRPr>
                    </a:p>
                  </a:txBody>
                  <a:tcPr marL="97082" marR="97082" marT="64721" marB="64721" anchor="ctr">
                    <a:solidFill>
                      <a:schemeClr val="accent4">
                        <a:lumMod val="60000"/>
                        <a:lumOff val="40000"/>
                      </a:schemeClr>
                    </a:solidFill>
                  </a:tcPr>
                </a:tc>
                <a:tc>
                  <a:txBody>
                    <a:bodyPr/>
                    <a:lstStyle/>
                    <a:p>
                      <a:pPr rtl="0"/>
                      <a:r>
                        <a:rPr lang="en-US" sz="1500" b="1">
                          <a:effectLst/>
                        </a:rPr>
                        <a:t>Deliverable</a:t>
                      </a:r>
                      <a:endParaRPr lang="en-US" sz="1500" b="1">
                        <a:solidFill>
                          <a:srgbClr val="1F1F1F"/>
                        </a:solidFill>
                        <a:effectLst/>
                        <a:latin typeface="Google Sans Text"/>
                      </a:endParaRPr>
                    </a:p>
                  </a:txBody>
                  <a:tcPr marL="97082" marR="97082" marT="64721" marB="64721" anchor="ctr">
                    <a:solidFill>
                      <a:schemeClr val="accent4">
                        <a:lumMod val="60000"/>
                        <a:lumOff val="40000"/>
                      </a:schemeClr>
                    </a:solidFill>
                  </a:tcPr>
                </a:tc>
                <a:tc>
                  <a:txBody>
                    <a:bodyPr/>
                    <a:lstStyle/>
                    <a:p>
                      <a:pPr rtl="0"/>
                      <a:r>
                        <a:rPr lang="en-US" sz="1500" b="1" dirty="0">
                          <a:effectLst/>
                        </a:rPr>
                        <a:t>Main Tooling</a:t>
                      </a:r>
                      <a:endParaRPr lang="en-US" sz="1500" b="1" dirty="0">
                        <a:solidFill>
                          <a:srgbClr val="1F1F1F"/>
                        </a:solidFill>
                        <a:effectLst/>
                        <a:latin typeface="Google Sans Text"/>
                      </a:endParaRPr>
                    </a:p>
                  </a:txBody>
                  <a:tcPr marL="97082" marR="97082" marT="64721" marB="64721" anchor="ctr">
                    <a:solidFill>
                      <a:schemeClr val="accent4">
                        <a:lumMod val="60000"/>
                        <a:lumOff val="40000"/>
                      </a:schemeClr>
                    </a:solidFill>
                  </a:tcPr>
                </a:tc>
              </a:tr>
              <a:tr h="828431">
                <a:tc>
                  <a:txBody>
                    <a:bodyPr/>
                    <a:lstStyle/>
                    <a:p>
                      <a:pPr rtl="0"/>
                      <a:r>
                        <a:rPr lang="en-US" sz="1500">
                          <a:effectLst/>
                        </a:rPr>
                        <a:t>Data Engineer</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"How do we reliably store and move this data?"</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Clean, accessible Data Lakes &amp; Warehouses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SQL, Spark, Cloud Infra</a:t>
                      </a:r>
                      <a:endParaRPr lang="en-US" sz="1500">
                        <a:solidFill>
                          <a:srgbClr val="1F1F1F"/>
                        </a:solidFill>
                        <a:effectLst/>
                        <a:latin typeface="Google Sans Text"/>
                      </a:endParaRPr>
                    </a:p>
                  </a:txBody>
                  <a:tcPr marL="97082" marR="97082" marT="64721" marB="64721" anchor="ctr"/>
                </a:tc>
              </a:tr>
              <a:tr h="595435">
                <a:tc>
                  <a:txBody>
                    <a:bodyPr/>
                    <a:lstStyle/>
                    <a:p>
                      <a:pPr rtl="0"/>
                      <a:r>
                        <a:rPr lang="en-US" sz="1500">
                          <a:effectLst/>
                        </a:rPr>
                        <a:t>Data Analyst</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"What do our past trends reveal?"</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BI Dashboards &amp; Reports</a:t>
                      </a:r>
                      <a:endParaRPr lang="en-US" sz="1500">
                        <a:solidFill>
                          <a:srgbClr val="1F1F1F"/>
                        </a:solidFill>
                        <a:effectLst/>
                        <a:latin typeface="Google Sans Text"/>
                      </a:endParaRPr>
                    </a:p>
                  </a:txBody>
                  <a:tcPr marL="97082" marR="97082" marT="64721" marB="64721" anchor="ctr"/>
                </a:tc>
                <a:tc>
                  <a:txBody>
                    <a:bodyPr/>
                    <a:lstStyle/>
                    <a:p>
                      <a:pPr rtl="0"/>
                      <a:r>
                        <a:rPr lang="en-US" sz="1500" dirty="0">
                          <a:effectLst/>
                        </a:rPr>
                        <a:t>SQL, Tableau, Excel</a:t>
                      </a:r>
                      <a:endParaRPr lang="en-US" sz="1500" dirty="0">
                        <a:solidFill>
                          <a:srgbClr val="1F1F1F"/>
                        </a:solidFill>
                        <a:effectLst/>
                        <a:latin typeface="Google Sans Text"/>
                      </a:endParaRPr>
                    </a:p>
                  </a:txBody>
                  <a:tcPr marL="97082" marR="97082" marT="64721" marB="64721" anchor="ctr"/>
                </a:tc>
              </a:tr>
              <a:tr h="595435">
                <a:tc>
                  <a:txBody>
                    <a:bodyPr/>
                    <a:lstStyle/>
                    <a:p>
                      <a:pPr rtl="0"/>
                      <a:r>
                        <a:rPr lang="en-US" sz="1500">
                          <a:effectLst/>
                        </a:rPr>
                        <a:t>Data Scientist</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"Can we predict future behavior?"</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Mathematical &amp; ML Prototypes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Python, R, Stats</a:t>
                      </a:r>
                      <a:endParaRPr lang="en-US" sz="1500">
                        <a:solidFill>
                          <a:srgbClr val="1F1F1F"/>
                        </a:solidFill>
                        <a:effectLst/>
                        <a:latin typeface="Google Sans Text"/>
                      </a:endParaRPr>
                    </a:p>
                  </a:txBody>
                  <a:tcPr marL="97082" marR="97082" marT="64721" marB="64721" anchor="ctr"/>
                </a:tc>
              </a:tr>
              <a:tr h="595435">
                <a:tc>
                  <a:txBody>
                    <a:bodyPr/>
                    <a:lstStyle/>
                    <a:p>
                      <a:pPr rtl="0"/>
                      <a:r>
                        <a:rPr lang="en-US" sz="1500">
                          <a:effectLst/>
                        </a:rPr>
                        <a:t>ML Engineer</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"How does this run for millions of users?"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Scalable, Live AI Services &amp; APIs</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Python, Docker, MLOps</a:t>
                      </a:r>
                      <a:endParaRPr lang="en-US" sz="1500">
                        <a:solidFill>
                          <a:srgbClr val="1F1F1F"/>
                        </a:solidFill>
                        <a:effectLst/>
                        <a:latin typeface="Google Sans Text"/>
                      </a:endParaRPr>
                    </a:p>
                  </a:txBody>
                  <a:tcPr marL="97082" marR="97082" marT="64721" marB="64721" anchor="ctr"/>
                </a:tc>
              </a:tr>
              <a:tr h="828431">
                <a:tc>
                  <a:txBody>
                    <a:bodyPr/>
                    <a:lstStyle/>
                    <a:p>
                      <a:pPr rtl="0"/>
                      <a:r>
                        <a:rPr lang="en-US" sz="1500">
                          <a:effectLst/>
                        </a:rPr>
                        <a:t>Product Manager</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"What actual problem are we trying to solve?"</a:t>
                      </a:r>
                      <a:endParaRPr lang="en-US" sz="1500">
                        <a:solidFill>
                          <a:srgbClr val="1F1F1F"/>
                        </a:solidFill>
                        <a:effectLst/>
                        <a:latin typeface="Google Sans Text"/>
                      </a:endParaRPr>
                    </a:p>
                  </a:txBody>
                  <a:tcPr marL="97082" marR="97082" marT="64721" marB="64721" anchor="ctr"/>
                </a:tc>
                <a:tc>
                  <a:txBody>
                    <a:bodyPr/>
                    <a:lstStyle/>
                    <a:p>
                      <a:pPr rtl="0"/>
                      <a:r>
                        <a:rPr lang="en-US" sz="1500">
                          <a:effectLst/>
                        </a:rPr>
                        <a:t>Project Roadmap &amp; ROI metrics</a:t>
                      </a:r>
                      <a:endParaRPr lang="en-US" sz="1500">
                        <a:solidFill>
                          <a:srgbClr val="1F1F1F"/>
                        </a:solidFill>
                        <a:effectLst/>
                        <a:latin typeface="Google Sans Text"/>
                      </a:endParaRPr>
                    </a:p>
                  </a:txBody>
                  <a:tcPr marL="97082" marR="97082" marT="64721" marB="64721" anchor="ctr"/>
                </a:tc>
                <a:tc>
                  <a:txBody>
                    <a:bodyPr/>
                    <a:lstStyle/>
                    <a:p>
                      <a:pPr rtl="0"/>
                      <a:r>
                        <a:rPr lang="en-US" sz="1500" dirty="0" err="1">
                          <a:effectLst/>
                        </a:rPr>
                        <a:t>Jira</a:t>
                      </a:r>
                      <a:r>
                        <a:rPr lang="en-US" sz="1500" dirty="0">
                          <a:effectLst/>
                        </a:rPr>
                        <a:t>, Docs, Presentation Tools</a:t>
                      </a:r>
                      <a:endParaRPr lang="en-US" sz="1500" dirty="0">
                        <a:solidFill>
                          <a:srgbClr val="1F1F1F"/>
                        </a:solidFill>
                        <a:effectLst/>
                        <a:latin typeface="Google Sans Text"/>
                      </a:endParaRPr>
                    </a:p>
                  </a:txBody>
                  <a:tcPr marL="97082" marR="97082" marT="64721" marB="64721" anchor="ctr"/>
                </a:tc>
              </a:tr>
            </a:tbl>
          </a:graphicData>
        </a:graphic>
      </p:graphicFrame>
    </p:spTree>
    <p:extLst>
      <p:ext uri="{BB962C8B-B14F-4D97-AF65-F5344CB8AC3E}">
        <p14:creationId xmlns:p14="http://schemas.microsoft.com/office/powerpoint/2010/main" val="3003325305"/>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434</TotalTime>
  <Words>2673</Words>
  <Application>Microsoft Office PowerPoint</Application>
  <PresentationFormat>Custom</PresentationFormat>
  <Paragraphs>216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Basis</vt:lpstr>
      <vt:lpstr>Introduction</vt:lpstr>
      <vt:lpstr>Outline</vt:lpstr>
      <vt:lpstr>Why Study Data Science?</vt:lpstr>
      <vt:lpstr>Why Study Data Science?</vt:lpstr>
      <vt:lpstr>Why Study Data Science?</vt:lpstr>
      <vt:lpstr>Why Study Data Science?</vt:lpstr>
      <vt:lpstr>Why Study Data Science?</vt:lpstr>
      <vt:lpstr>Why Study Data Science?</vt:lpstr>
      <vt:lpstr>What is Data Science?</vt:lpstr>
      <vt:lpstr>Who uses Data Science today?</vt:lpstr>
      <vt:lpstr>AI, Machine Learning, and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Applications of Data Science</vt:lpstr>
      <vt:lpstr>Data-Driven Decision Making</vt:lpstr>
      <vt:lpstr>Data-Driven Decision Making</vt:lpstr>
      <vt:lpstr>Data-Driven Decision Making</vt:lpstr>
      <vt:lpstr>Data-Driven Decision Making</vt:lpstr>
      <vt:lpstr>Data-Driven Decision Making: A Case Study</vt:lpstr>
      <vt:lpstr>Data-Driven Decision Making</vt:lpstr>
      <vt:lpstr>Roles in a data science team </vt:lpstr>
      <vt:lpstr>Roles in a data science team </vt:lpstr>
      <vt:lpstr>Roles in a data science team </vt:lpstr>
      <vt:lpstr>Roles in a data science team </vt:lpstr>
      <vt:lpstr>Roles in a data science team </vt:lpstr>
      <vt:lpstr>Roles in a data science team </vt:lpstr>
      <vt:lpstr>Roles in a data science team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Abdus Salam</dc:creator>
  <cp:lastModifiedBy>Ashraf</cp:lastModifiedBy>
  <cp:revision>102</cp:revision>
  <dcterms:created xsi:type="dcterms:W3CDTF">2023-06-04T18:58:53Z</dcterms:created>
  <dcterms:modified xsi:type="dcterms:W3CDTF">2026-06-09T03:46:43Z</dcterms:modified>
</cp:coreProperties>
</file>