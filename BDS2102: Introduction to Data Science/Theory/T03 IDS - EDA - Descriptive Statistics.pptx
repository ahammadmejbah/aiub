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686" r:id="rId1"/>
  </p:sldMasterIdLst>
  <p:notesMasterIdLst>
    <p:notesMasterId r:id="rId35"/>
  </p:notesMasterIdLst>
  <p:sldIdLst>
    <p:sldId id="344" r:id="rId2"/>
    <p:sldId id="333" r:id="rId3"/>
    <p:sldId id="356" r:id="rId4"/>
    <p:sldId id="334" r:id="rId5"/>
    <p:sldId id="336" r:id="rId6"/>
    <p:sldId id="335" r:id="rId7"/>
    <p:sldId id="337" r:id="rId8"/>
    <p:sldId id="338" r:id="rId9"/>
    <p:sldId id="339" r:id="rId10"/>
    <p:sldId id="340" r:id="rId11"/>
    <p:sldId id="341" r:id="rId12"/>
    <p:sldId id="342" r:id="rId13"/>
    <p:sldId id="343" r:id="rId14"/>
    <p:sldId id="301" r:id="rId15"/>
    <p:sldId id="272" r:id="rId16"/>
    <p:sldId id="345" r:id="rId17"/>
    <p:sldId id="346" r:id="rId18"/>
    <p:sldId id="347" r:id="rId19"/>
    <p:sldId id="348" r:id="rId20"/>
    <p:sldId id="299" r:id="rId21"/>
    <p:sldId id="349" r:id="rId22"/>
    <p:sldId id="296" r:id="rId23"/>
    <p:sldId id="303" r:id="rId24"/>
    <p:sldId id="304" r:id="rId25"/>
    <p:sldId id="305" r:id="rId26"/>
    <p:sldId id="308" r:id="rId27"/>
    <p:sldId id="311" r:id="rId28"/>
    <p:sldId id="350" r:id="rId29"/>
    <p:sldId id="351" r:id="rId30"/>
    <p:sldId id="352" r:id="rId31"/>
    <p:sldId id="321" r:id="rId32"/>
    <p:sldId id="353" r:id="rId33"/>
    <p:sldId id="354"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0305" autoAdjust="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67EF9875-2DB4-4C6F-B83C-C76708619D1E}" type="datetimeFigureOut">
              <a:rPr lang="en-US"/>
              <a:pPr>
                <a:defRPr/>
              </a:pPr>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F988E72-CD23-49C4-B2A0-C33710F52C24}" type="slidenum">
              <a:rPr lang="en-US" altLang="en-US"/>
              <a:pPr/>
              <a:t>‹#›</a:t>
            </a:fld>
            <a:endParaRPr lang="en-US" altLang="en-US"/>
          </a:p>
        </p:txBody>
      </p:sp>
    </p:spTree>
    <p:extLst>
      <p:ext uri="{BB962C8B-B14F-4D97-AF65-F5344CB8AC3E}">
        <p14:creationId xmlns:p14="http://schemas.microsoft.com/office/powerpoint/2010/main" val="34687478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978025" y="3733800"/>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smtClean="0">
                <a:solidFill>
                  <a:schemeClr val="tx1"/>
                </a:solidFill>
              </a:defRPr>
            </a:lvl1pPr>
          </a:lstStyle>
          <a:p>
            <a:pPr>
              <a:defRPr/>
            </a:pPr>
            <a:fld id="{D4E545B9-CBBD-4805-BC31-184291741C21}" type="datetime1">
              <a:rPr lang="en-US"/>
              <a:pPr>
                <a:defRPr/>
              </a:pPr>
              <a:t>6/23/2026</a:t>
            </a:fld>
            <a:endParaRPr lang="en-US"/>
          </a:p>
        </p:txBody>
      </p:sp>
      <p:sp>
        <p:nvSpPr>
          <p:cNvPr id="7" name="Footer Placeholder 4"/>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Slide Number Placeholder 5"/>
          <p:cNvSpPr>
            <a:spLocks noGrp="1"/>
          </p:cNvSpPr>
          <p:nvPr>
            <p:ph type="sldNum" sz="quarter" idx="12"/>
          </p:nvPr>
        </p:nvSpPr>
        <p:spPr/>
        <p:txBody>
          <a:bodyPr/>
          <a:lstStyle>
            <a:lvl1pPr>
              <a:defRPr/>
            </a:lvl1pPr>
          </a:lstStyle>
          <a:p>
            <a:fld id="{9F2D0695-B42D-4CAC-8357-3ABCF9C05796}" type="slidenum">
              <a:rPr lang="en-US" altLang="en-US"/>
              <a:pPr/>
              <a:t>‹#›</a:t>
            </a:fld>
            <a:endParaRPr lang="en-US" altLang="en-US"/>
          </a:p>
        </p:txBody>
      </p:sp>
    </p:spTree>
    <p:extLst>
      <p:ext uri="{BB962C8B-B14F-4D97-AF65-F5344CB8AC3E}">
        <p14:creationId xmlns:p14="http://schemas.microsoft.com/office/powerpoint/2010/main" val="571115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4751505-161F-44B9-A77C-2FEC0FEA1A96}" type="datetime1">
              <a:rPr lang="en-US"/>
              <a:pPr>
                <a:defRPr/>
              </a:pPr>
              <a:t>6/23/2026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09723EA-68F5-47AF-83F8-4C789BBDAC23}" type="slidenum">
              <a:rPr lang="en-US" altLang="en-US"/>
              <a:pPr/>
              <a:t>‹#›</a:t>
            </a:fld>
            <a:endParaRPr lang="en-US" altLang="en-US"/>
          </a:p>
        </p:txBody>
      </p:sp>
    </p:spTree>
    <p:extLst>
      <p:ext uri="{BB962C8B-B14F-4D97-AF65-F5344CB8AC3E}">
        <p14:creationId xmlns:p14="http://schemas.microsoft.com/office/powerpoint/2010/main" val="18647174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981200" y="4021138"/>
            <a:ext cx="8229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smtClean="0"/>
            </a:lvl1pPr>
          </a:lstStyle>
          <a:p>
            <a:pPr>
              <a:defRPr/>
            </a:pPr>
            <a:fld id="{9DDEBD24-68CB-421F-AA48-E6C482B1F835}" type="datetime1">
              <a:rPr lang="en-US"/>
              <a:pPr>
                <a:defRPr/>
              </a:pPr>
              <a:t>6/23/2026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44D6293-2754-4839-9BD3-391E97B979D2}" type="slidenum">
              <a:rPr lang="en-US" altLang="en-US"/>
              <a:pPr/>
              <a:t>‹#›</a:t>
            </a:fld>
            <a:endParaRPr lang="en-US" altLang="en-US"/>
          </a:p>
        </p:txBody>
      </p:sp>
    </p:spTree>
    <p:extLst>
      <p:ext uri="{BB962C8B-B14F-4D97-AF65-F5344CB8AC3E}">
        <p14:creationId xmlns:p14="http://schemas.microsoft.com/office/powerpoint/2010/main" val="3226701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1630732D-9C63-4EF6-907B-F7193327C476}" type="datetime1">
              <a:rPr lang="en-US"/>
              <a:pPr>
                <a:defRPr/>
              </a:pPr>
              <a:t>6/23/2026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AF948B56-E040-4F76-ABC2-AD11023B2065}" type="slidenum">
              <a:rPr lang="en-US" altLang="en-US"/>
              <a:pPr/>
              <a:t>‹#›</a:t>
            </a:fld>
            <a:endParaRPr lang="en-US" altLang="en-US"/>
          </a:p>
        </p:txBody>
      </p:sp>
    </p:spTree>
    <p:extLst>
      <p:ext uri="{BB962C8B-B14F-4D97-AF65-F5344CB8AC3E}">
        <p14:creationId xmlns:p14="http://schemas.microsoft.com/office/powerpoint/2010/main" val="1465879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2F4038E-0008-4599-BBC6-EA7CE43C636B}" type="datetime1">
              <a:rPr lang="en-US"/>
              <a:pPr>
                <a:defRPr/>
              </a:pPr>
              <a:t>6/23/2026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DE7377CA-94F6-447E-BE71-FA40451CCF34}" type="slidenum">
              <a:rPr lang="en-US" altLang="en-US"/>
              <a:pPr/>
              <a:t>‹#›</a:t>
            </a:fld>
            <a:endParaRPr lang="en-US" altLang="en-US"/>
          </a:p>
        </p:txBody>
      </p:sp>
    </p:spTree>
    <p:extLst>
      <p:ext uri="{BB962C8B-B14F-4D97-AF65-F5344CB8AC3E}">
        <p14:creationId xmlns:p14="http://schemas.microsoft.com/office/powerpoint/2010/main" val="3985186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B8B5D5F0-A319-4935-A42A-C042ED4D6D20}" type="datetime1">
              <a:rPr lang="en-US"/>
              <a:pPr>
                <a:defRPr/>
              </a:pPr>
              <a:t>6/23/2026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A33B55A3-95FD-40D6-97F1-5E2DC7D15DF6}" type="slidenum">
              <a:rPr lang="en-US" altLang="en-US"/>
              <a:pPr/>
              <a:t>‹#›</a:t>
            </a:fld>
            <a:endParaRPr lang="en-US" altLang="en-US"/>
          </a:p>
        </p:txBody>
      </p:sp>
    </p:spTree>
    <p:extLst>
      <p:ext uri="{BB962C8B-B14F-4D97-AF65-F5344CB8AC3E}">
        <p14:creationId xmlns:p14="http://schemas.microsoft.com/office/powerpoint/2010/main" val="58425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4327C2E-86AC-4299-A9C5-C7D25810AD9B}" type="datetime1">
              <a:rPr lang="en-US"/>
              <a:pPr>
                <a:defRPr/>
              </a:pPr>
              <a:t>6/23/2026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71DDC0F6-81F6-4F00-8B59-D73436E3555A}" type="slidenum">
              <a:rPr lang="en-US" altLang="en-US"/>
              <a:pPr/>
              <a:t>‹#›</a:t>
            </a:fld>
            <a:endParaRPr lang="en-US" altLang="en-US"/>
          </a:p>
        </p:txBody>
      </p:sp>
    </p:spTree>
    <p:extLst>
      <p:ext uri="{BB962C8B-B14F-4D97-AF65-F5344CB8AC3E}">
        <p14:creationId xmlns:p14="http://schemas.microsoft.com/office/powerpoint/2010/main" val="2287692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0691584-EBD0-44AA-A8C0-DC56304C1B2F}" type="datetime1">
              <a:rPr lang="en-US"/>
              <a:pPr>
                <a:defRPr/>
              </a:pPr>
              <a:t>6/23/2026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2F2836B-FAD4-4B18-AB2B-763F93A733DD}" type="slidenum">
              <a:rPr lang="en-US" altLang="en-US"/>
              <a:pPr/>
              <a:t>‹#›</a:t>
            </a:fld>
            <a:endParaRPr lang="en-US" altLang="en-US"/>
          </a:p>
        </p:txBody>
      </p:sp>
    </p:spTree>
    <p:extLst>
      <p:ext uri="{BB962C8B-B14F-4D97-AF65-F5344CB8AC3E}">
        <p14:creationId xmlns:p14="http://schemas.microsoft.com/office/powerpoint/2010/main" val="459701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rtlCol="0">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69E928B-4594-4CCC-BEE7-52C331627A50}" type="datetime1">
              <a:rPr lang="en-US"/>
              <a:pPr>
                <a:defRPr/>
              </a:pPr>
              <a:t>6/23/2026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5EB44517-74B9-4B76-BF8F-65954CF7D30E}" type="slidenum">
              <a:rPr lang="en-US" altLang="en-US"/>
              <a:pPr/>
              <a:t>‹#›</a:t>
            </a:fld>
            <a:endParaRPr lang="en-US" altLang="en-US"/>
          </a:p>
        </p:txBody>
      </p:sp>
    </p:spTree>
    <p:extLst>
      <p:ext uri="{BB962C8B-B14F-4D97-AF65-F5344CB8AC3E}">
        <p14:creationId xmlns:p14="http://schemas.microsoft.com/office/powerpoint/2010/main" val="2335357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94D5753-074A-47F3-9801-6A409ECF4411}" type="datetime1">
              <a:rPr lang="en-US"/>
              <a:pPr>
                <a:defRPr/>
              </a:pPr>
              <a:t>6/23/2026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56869A35-BB42-4C43-904B-9701C8B0AE06}" type="slidenum">
              <a:rPr lang="en-US" altLang="en-US"/>
              <a:pPr/>
              <a:t>‹#›</a:t>
            </a:fld>
            <a:endParaRPr lang="en-US" altLang="en-US"/>
          </a:p>
        </p:txBody>
      </p:sp>
    </p:spTree>
    <p:extLst>
      <p:ext uri="{BB962C8B-B14F-4D97-AF65-F5344CB8AC3E}">
        <p14:creationId xmlns:p14="http://schemas.microsoft.com/office/powerpoint/2010/main" val="3188814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C27D0F4-DFA9-44DF-A419-68F3F7180314}" type="datetime1">
              <a:rPr lang="en-US"/>
              <a:pPr>
                <a:defRPr/>
              </a:pPr>
              <a:t>6/23/2026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9897C926-65E1-4015-B207-1B494B411635}" type="slidenum">
              <a:rPr lang="en-US" altLang="en-US"/>
              <a:pPr/>
              <a:t>‹#›</a:t>
            </a:fld>
            <a:endParaRPr lang="en-US" altLang="en-US"/>
          </a:p>
        </p:txBody>
      </p:sp>
    </p:spTree>
    <p:extLst>
      <p:ext uri="{BB962C8B-B14F-4D97-AF65-F5344CB8AC3E}">
        <p14:creationId xmlns:p14="http://schemas.microsoft.com/office/powerpoint/2010/main" val="3595851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775" y="244475"/>
            <a:ext cx="11723688" cy="6376988"/>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7" name="Title Placeholder 1"/>
          <p:cNvSpPr>
            <a:spLocks noGrp="1"/>
          </p:cNvSpPr>
          <p:nvPr>
            <p:ph type="title"/>
          </p:nvPr>
        </p:nvSpPr>
        <p:spPr bwMode="auto">
          <a:xfrm>
            <a:off x="1143000" y="609600"/>
            <a:ext cx="9875838" cy="135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1143000" y="2057400"/>
            <a:ext cx="987266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1143000" y="6224588"/>
            <a:ext cx="2328863" cy="365125"/>
          </a:xfrm>
          <a:prstGeom prst="rect">
            <a:avLst/>
          </a:prstGeom>
        </p:spPr>
        <p:txBody>
          <a:bodyPr vert="horz" lIns="91440" tIns="45720" rIns="91440" bIns="45720" rtlCol="0" anchor="ctr"/>
          <a:lstStyle>
            <a:lvl1pPr algn="l">
              <a:defRPr sz="1200" smtClean="0">
                <a:solidFill>
                  <a:schemeClr val="tx1"/>
                </a:solidFill>
              </a:defRPr>
            </a:lvl1pPr>
          </a:lstStyle>
          <a:p>
            <a:pPr>
              <a:defRPr/>
            </a:pPr>
            <a:fld id="{BE98B124-CCEF-4FAF-B3C0-870B99E3B09B}" type="datetime1">
              <a:rPr lang="en-US"/>
              <a:pPr>
                <a:defRPr/>
              </a:pPr>
              <a:t>6/23/2026</a:t>
            </a:fld>
            <a:endParaRPr lang="en-US"/>
          </a:p>
        </p:txBody>
      </p:sp>
      <p:sp>
        <p:nvSpPr>
          <p:cNvPr id="5" name="Footer Placeholder 4"/>
          <p:cNvSpPr>
            <a:spLocks noGrp="1"/>
          </p:cNvSpPr>
          <p:nvPr>
            <p:ph type="ftr" sz="quarter" idx="3"/>
          </p:nvPr>
        </p:nvSpPr>
        <p:spPr>
          <a:xfrm>
            <a:off x="3949700" y="6224588"/>
            <a:ext cx="4716463" cy="365125"/>
          </a:xfrm>
          <a:prstGeom prst="rect">
            <a:avLst/>
          </a:prstGeom>
        </p:spPr>
        <p:txBody>
          <a:bodyPr vert="horz" lIns="91440" tIns="45720" rIns="91440" bIns="45720" rtlCol="0" anchor="ctr"/>
          <a:lstStyle>
            <a:lvl1pPr algn="ctr">
              <a:defRPr sz="1200">
                <a:solidFill>
                  <a:schemeClr val="tx1"/>
                </a:solidFill>
              </a:defRPr>
            </a:lvl1pPr>
          </a:lstStyle>
          <a:p>
            <a:pPr>
              <a:defRPr/>
            </a:pPr>
            <a:endParaRPr lang="en-US"/>
          </a:p>
        </p:txBody>
      </p:sp>
      <p:sp>
        <p:nvSpPr>
          <p:cNvPr id="6" name="Slide Number Placeholder 5"/>
          <p:cNvSpPr>
            <a:spLocks noGrp="1"/>
          </p:cNvSpPr>
          <p:nvPr>
            <p:ph type="sldNum" sz="quarter" idx="4"/>
          </p:nvPr>
        </p:nvSpPr>
        <p:spPr>
          <a:xfrm>
            <a:off x="9329738" y="6224588"/>
            <a:ext cx="1706562" cy="365125"/>
          </a:xfrm>
          <a:prstGeom prst="rect">
            <a:avLst/>
          </a:prstGeom>
        </p:spPr>
        <p:txBody>
          <a:bodyPr vert="horz" wrap="square" lIns="91440" tIns="45720" rIns="91440" bIns="45720" numCol="1" anchor="ctr" anchorCtr="0" compatLnSpc="1">
            <a:prstTxWarp prst="textNoShape">
              <a:avLst/>
            </a:prstTxWarp>
          </a:bodyPr>
          <a:lstStyle>
            <a:lvl1pPr algn="r">
              <a:defRPr sz="1200"/>
            </a:lvl1pPr>
          </a:lstStyle>
          <a:p>
            <a:fld id="{B434C5DA-6621-4F04-8146-1B72F6F8881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5035" r:id="rId1"/>
    <p:sldLayoutId id="2147485026" r:id="rId2"/>
    <p:sldLayoutId id="2147485036" r:id="rId3"/>
    <p:sldLayoutId id="2147485027" r:id="rId4"/>
    <p:sldLayoutId id="2147485028" r:id="rId5"/>
    <p:sldLayoutId id="2147485029" r:id="rId6"/>
    <p:sldLayoutId id="2147485030" r:id="rId7"/>
    <p:sldLayoutId id="2147485031" r:id="rId8"/>
    <p:sldLayoutId id="2147485032" r:id="rId9"/>
    <p:sldLayoutId id="2147485033" r:id="rId10"/>
    <p:sldLayoutId id="2147485034"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p:titleStyle>
    <p:body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a:t>
            </a:fld>
            <a:endParaRPr lang="en-US" altLang="en-US"/>
          </a:p>
        </p:txBody>
      </p:sp>
      <p:sp>
        <p:nvSpPr>
          <p:cNvPr id="5" name="Content Placeholder 2"/>
          <p:cNvSpPr txBox="1">
            <a:spLocks/>
          </p:cNvSpPr>
          <p:nvPr/>
        </p:nvSpPr>
        <p:spPr>
          <a:xfrm>
            <a:off x="538797" y="1655763"/>
            <a:ext cx="729456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dirty="0">
                <a:latin typeface="Times New Roman" pitchFamily="18" charset="0"/>
                <a:cs typeface="Times New Roman" pitchFamily="18" charset="0"/>
              </a:rPr>
              <a:t>Exploratory Data Analysis (EDA) is the process of understanding a dataset before applying statistical models or machine learning algorithms. </a:t>
            </a:r>
          </a:p>
          <a:p>
            <a:pPr marL="46037" indent="0">
              <a:buNone/>
            </a:pPr>
            <a:endParaRPr lang="en-US" dirty="0">
              <a:latin typeface="Times New Roman" pitchFamily="18" charset="0"/>
              <a:cs typeface="Times New Roman" pitchFamily="18" charset="0"/>
            </a:endParaRPr>
          </a:p>
          <a:p>
            <a:pPr marL="46037" indent="0">
              <a:buNone/>
            </a:pPr>
            <a:r>
              <a:rPr lang="en-US" dirty="0">
                <a:latin typeface="Times New Roman" pitchFamily="18" charset="0"/>
                <a:cs typeface="Times New Roman" pitchFamily="18" charset="0"/>
              </a:rPr>
              <a:t>EDA answers the question: </a:t>
            </a:r>
          </a:p>
          <a:p>
            <a:pPr marL="46037" indent="0">
              <a:buNone/>
            </a:pPr>
            <a:r>
              <a:rPr lang="en-US" dirty="0">
                <a:solidFill>
                  <a:srgbClr val="FF0000"/>
                </a:solidFill>
                <a:latin typeface="Times New Roman" pitchFamily="18" charset="0"/>
                <a:cs typeface="Times New Roman" pitchFamily="18" charset="0"/>
              </a:rPr>
              <a:t>What does my data look like, and is it suitable for analysis?</a:t>
            </a:r>
          </a:p>
          <a:p>
            <a:pPr marL="46037" indent="0">
              <a:buNone/>
            </a:pPr>
            <a:endParaRPr lang="en-US" dirty="0">
              <a:latin typeface="Times New Roman" pitchFamily="18" charset="0"/>
              <a:cs typeface="Times New Roman" pitchFamily="18" charset="0"/>
            </a:endParaRP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Exploratory Data Analysis (EDA)</a:t>
            </a:r>
          </a:p>
        </p:txBody>
      </p:sp>
      <p:pic>
        <p:nvPicPr>
          <p:cNvPr id="133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6836" y="2286000"/>
            <a:ext cx="333533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865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2</a:t>
            </a:fld>
            <a:endParaRPr lang="en-US" altLang="en-US"/>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Exploratory Data Analysis (EDA)</a:t>
            </a:r>
          </a:p>
        </p:txBody>
      </p:sp>
      <p:sp>
        <p:nvSpPr>
          <p:cNvPr id="7" name="TextBox 6">
            <a:extLst>
              <a:ext uri="{FF2B5EF4-FFF2-40B4-BE49-F238E27FC236}">
                <a16:creationId xmlns:a16="http://schemas.microsoft.com/office/drawing/2014/main" id="{D59CDED4-AFD3-7B0B-348E-B39113C60D9A}"/>
              </a:ext>
            </a:extLst>
          </p:cNvPr>
          <p:cNvSpPr txBox="1"/>
          <p:nvPr/>
        </p:nvSpPr>
        <p:spPr>
          <a:xfrm>
            <a:off x="7569200" y="403404"/>
            <a:ext cx="4297680" cy="5909310"/>
          </a:xfrm>
          <a:prstGeom prst="rect">
            <a:avLst/>
          </a:prstGeom>
          <a:solidFill>
            <a:schemeClr val="accent1">
              <a:lumMod val="20000"/>
              <a:lumOff val="80000"/>
            </a:schemeClr>
          </a:solidFill>
          <a:ln>
            <a:solidFill>
              <a:schemeClr val="accent1"/>
            </a:solidFill>
          </a:ln>
        </p:spPr>
        <p:txBody>
          <a:bodyPr wrap="square">
            <a:spAutoFit/>
          </a:bodyPr>
          <a:lstStyle/>
          <a:p>
            <a:r>
              <a:rPr lang="en-US" dirty="0">
                <a:latin typeface="Times New Roman" panose="02020603050405020304" pitchFamily="18" charset="0"/>
                <a:cs typeface="Times New Roman" panose="02020603050405020304" pitchFamily="18" charset="0"/>
              </a:rPr>
              <a:t>1. Load Dataset</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2. Understand Structure</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3. Check Variable Types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4. Compute Summary Statistics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5. Identify Missing Values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6. Detect Duplicates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7. Detect Outliers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8. Visualize Distributions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9. Examine Relationships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10. Generate Insights</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11. Prepare for Data Cleaning/Modeling</a:t>
            </a:r>
          </a:p>
        </p:txBody>
      </p:sp>
      <p:pic>
        <p:nvPicPr>
          <p:cNvPr id="10" name="Picture 9">
            <a:extLst>
              <a:ext uri="{FF2B5EF4-FFF2-40B4-BE49-F238E27FC236}">
                <a16:creationId xmlns:a16="http://schemas.microsoft.com/office/drawing/2014/main" id="{8A4EAFA0-3881-83BA-0E0F-FAC6A1BA7B2A}"/>
              </a:ext>
            </a:extLst>
          </p:cNvPr>
          <p:cNvPicPr>
            <a:picLocks noChangeAspect="1"/>
          </p:cNvPicPr>
          <p:nvPr/>
        </p:nvPicPr>
        <p:blipFill>
          <a:blip r:embed="rId2"/>
          <a:stretch>
            <a:fillRect/>
          </a:stretch>
        </p:blipFill>
        <p:spPr>
          <a:xfrm>
            <a:off x="679559" y="1889595"/>
            <a:ext cx="3334801" cy="3810330"/>
          </a:xfrm>
          <a:prstGeom prst="rect">
            <a:avLst/>
          </a:prstGeom>
        </p:spPr>
      </p:pic>
      <p:sp>
        <p:nvSpPr>
          <p:cNvPr id="12" name="TextBox 11">
            <a:extLst>
              <a:ext uri="{FF2B5EF4-FFF2-40B4-BE49-F238E27FC236}">
                <a16:creationId xmlns:a16="http://schemas.microsoft.com/office/drawing/2014/main" id="{824502F6-6558-C0A3-09C2-86B1AE63D780}"/>
              </a:ext>
            </a:extLst>
          </p:cNvPr>
          <p:cNvSpPr txBox="1"/>
          <p:nvPr/>
        </p:nvSpPr>
        <p:spPr>
          <a:xfrm>
            <a:off x="4307840" y="3244334"/>
            <a:ext cx="2590800" cy="369332"/>
          </a:xfrm>
          <a:prstGeom prst="rect">
            <a:avLst/>
          </a:prstGeom>
          <a:solidFill>
            <a:schemeClr val="accent1">
              <a:lumMod val="20000"/>
              <a:lumOff val="80000"/>
            </a:schemeClr>
          </a:solidFill>
          <a:ln>
            <a:solidFill>
              <a:schemeClr val="accent1"/>
            </a:solidFill>
          </a:ln>
        </p:spPr>
        <p:txBody>
          <a:bodyPr wrap="square">
            <a:spAutoFit/>
          </a:bodyPr>
          <a:lstStyle/>
          <a:p>
            <a:r>
              <a:rPr lang="en-US" dirty="0">
                <a:latin typeface="Times New Roman" panose="02020603050405020304" pitchFamily="18" charset="0"/>
                <a:cs typeface="Times New Roman" panose="02020603050405020304" pitchFamily="18" charset="0"/>
              </a:rPr>
              <a:t>A Typical EDA Workflow</a:t>
            </a:r>
          </a:p>
        </p:txBody>
      </p:sp>
    </p:spTree>
    <p:extLst>
      <p:ext uri="{BB962C8B-B14F-4D97-AF65-F5344CB8AC3E}">
        <p14:creationId xmlns:p14="http://schemas.microsoft.com/office/powerpoint/2010/main" val="1853477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7BCEC-B19B-7533-2770-CFBB962270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0076AD-31D5-EAC8-0C3F-A5E835499DC2}"/>
              </a:ext>
            </a:extLst>
          </p:cNvPr>
          <p:cNvSpPr>
            <a:spLocks noGrp="1"/>
          </p:cNvSpPr>
          <p:nvPr>
            <p:ph type="sldNum" sz="quarter" idx="12"/>
          </p:nvPr>
        </p:nvSpPr>
        <p:spPr/>
        <p:txBody>
          <a:bodyPr/>
          <a:lstStyle/>
          <a:p>
            <a:fld id="{71DDC0F6-81F6-4F00-8B59-D73436E3555A}" type="slidenum">
              <a:rPr lang="en-US" altLang="en-US" smtClean="0"/>
              <a:pPr/>
              <a:t>3</a:t>
            </a:fld>
            <a:endParaRPr lang="en-US" altLang="en-US"/>
          </a:p>
        </p:txBody>
      </p:sp>
      <p:sp>
        <p:nvSpPr>
          <p:cNvPr id="5" name="Content Placeholder 2">
            <a:extLst>
              <a:ext uri="{FF2B5EF4-FFF2-40B4-BE49-F238E27FC236}">
                <a16:creationId xmlns:a16="http://schemas.microsoft.com/office/drawing/2014/main" id="{48486F43-C1EB-F8F8-9DCA-B31F40033EEA}"/>
              </a:ext>
            </a:extLst>
          </p:cNvPr>
          <p:cNvSpPr txBox="1">
            <a:spLocks/>
          </p:cNvSpPr>
          <p:nvPr/>
        </p:nvSpPr>
        <p:spPr>
          <a:xfrm>
            <a:off x="538798" y="1655763"/>
            <a:ext cx="6523309"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82296" lvl="1" indent="0" algn="just" eaLnBrk="1" fontAlgn="auto" hangingPunct="1">
              <a:buClr>
                <a:srgbClr val="0F6FC6">
                  <a:lumMod val="75000"/>
                </a:srgbClr>
              </a:buClr>
              <a:buNone/>
              <a:defRPr/>
            </a:pPr>
            <a:r>
              <a:rPr lang="en-US" altLang="en-US" sz="1800" dirty="0">
                <a:solidFill>
                  <a:srgbClr val="FF0000"/>
                </a:solidFill>
                <a:latin typeface="Times New Roman" panose="02020603050405020304" pitchFamily="18" charset="0"/>
                <a:cs typeface="Times New Roman" panose="02020603050405020304" pitchFamily="18" charset="0"/>
              </a:rPr>
              <a:t>Before analyzing data, how do we understand what data we have?</a:t>
            </a: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a:p>
            <a:pPr marL="82296" lvl="1" indent="0" algn="just" eaLnBrk="1" fontAlgn="auto" hangingPunct="1">
              <a:buClr>
                <a:srgbClr val="0F6FC6">
                  <a:lumMod val="75000"/>
                </a:srgbClr>
              </a:buClr>
              <a:buNone/>
              <a:defRPr/>
            </a:pPr>
            <a:r>
              <a:rPr lang="en-US" altLang="en-US" sz="1800" dirty="0">
                <a:latin typeface="Times New Roman" panose="02020603050405020304" pitchFamily="18" charset="0"/>
                <a:cs typeface="Times New Roman" panose="02020603050405020304" pitchFamily="18" charset="0"/>
              </a:rPr>
              <a:t>Given the example dataset:</a:t>
            </a:r>
          </a:p>
          <a:p>
            <a:pPr marL="368046" lvl="1" indent="-285750" algn="just" eaLnBrk="1" fontAlgn="auto" hangingPunct="1">
              <a:buClr>
                <a:srgbClr val="0F6FC6">
                  <a:lumMod val="75000"/>
                </a:srgbClr>
              </a:buClr>
              <a:defRPr/>
            </a:pPr>
            <a:r>
              <a:rPr lang="en-US" altLang="en-US" sz="1800" dirty="0">
                <a:latin typeface="Times New Roman" panose="02020603050405020304" pitchFamily="18" charset="0"/>
                <a:cs typeface="Times New Roman" panose="02020603050405020304" pitchFamily="18" charset="0"/>
              </a:rPr>
              <a:t>What information can we obtain from this data?</a:t>
            </a:r>
          </a:p>
          <a:p>
            <a:pPr marL="368046" lvl="1" indent="-285750" algn="just" eaLnBrk="1" fontAlgn="auto" hangingPunct="1">
              <a:buClr>
                <a:srgbClr val="0F6FC6">
                  <a:lumMod val="75000"/>
                </a:srgbClr>
              </a:buClr>
              <a:defRPr/>
            </a:pPr>
            <a:r>
              <a:rPr lang="en-US" altLang="en-US" sz="1800" dirty="0">
                <a:latin typeface="Times New Roman" panose="02020603050405020304" pitchFamily="18" charset="0"/>
                <a:cs typeface="Times New Roman" panose="02020603050405020304" pitchFamily="18" charset="0"/>
              </a:rPr>
              <a:t>Is this enough to understand all students?</a:t>
            </a:r>
          </a:p>
          <a:p>
            <a:pPr marL="368046" lvl="1" indent="-285750" algn="just" eaLnBrk="1" fontAlgn="auto" hangingPunct="1">
              <a:buClr>
                <a:srgbClr val="0F6FC6">
                  <a:lumMod val="75000"/>
                </a:srgbClr>
              </a:buClr>
              <a:defRPr/>
            </a:pPr>
            <a:r>
              <a:rPr lang="en-US" altLang="en-US" sz="1800" dirty="0">
                <a:latin typeface="Times New Roman" panose="02020603050405020304" pitchFamily="18" charset="0"/>
                <a:cs typeface="Times New Roman" panose="02020603050405020304" pitchFamily="18" charset="0"/>
              </a:rPr>
              <a:t>What should we examine before applying machine learning?</a:t>
            </a:r>
          </a:p>
          <a:p>
            <a:pPr marL="82296" lvl="1" indent="0" algn="just" eaLnBrk="1" fontAlgn="auto" hangingPunct="1">
              <a:buClr>
                <a:srgbClr val="0F6FC6">
                  <a:lumMod val="75000"/>
                </a:srgbClr>
              </a:buClr>
              <a:buNone/>
              <a:defRPr/>
            </a:pPr>
            <a:endParaRPr lang="en-US" altLang="en-US" sz="1800"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51C6BA16-FD62-2105-45DB-EDDBB2C9B889}"/>
              </a:ext>
            </a:extLst>
          </p:cNvPr>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graphicFrame>
        <p:nvGraphicFramePr>
          <p:cNvPr id="3" name="Table 2">
            <a:extLst>
              <a:ext uri="{FF2B5EF4-FFF2-40B4-BE49-F238E27FC236}">
                <a16:creationId xmlns:a16="http://schemas.microsoft.com/office/drawing/2014/main" id="{9FD164DE-3DAB-953C-18C5-FF802158418F}"/>
              </a:ext>
            </a:extLst>
          </p:cNvPr>
          <p:cNvGraphicFramePr>
            <a:graphicFrameLocks noGrp="1"/>
          </p:cNvGraphicFramePr>
          <p:nvPr/>
        </p:nvGraphicFramePr>
        <p:xfrm>
          <a:off x="710293" y="2245406"/>
          <a:ext cx="4500056" cy="1097280"/>
        </p:xfrm>
        <a:graphic>
          <a:graphicData uri="http://schemas.openxmlformats.org/drawingml/2006/table">
            <a:tbl>
              <a:tblPr>
                <a:tableStyleId>{3C2FFA5D-87B4-456A-9821-1D502468CF0F}</a:tableStyleId>
              </a:tblPr>
              <a:tblGrid>
                <a:gridCol w="1359218">
                  <a:extLst>
                    <a:ext uri="{9D8B030D-6E8A-4147-A177-3AD203B41FA5}">
                      <a16:colId xmlns:a16="http://schemas.microsoft.com/office/drawing/2014/main" val="20000"/>
                    </a:ext>
                  </a:extLst>
                </a:gridCol>
                <a:gridCol w="670433">
                  <a:extLst>
                    <a:ext uri="{9D8B030D-6E8A-4147-A177-3AD203B41FA5}">
                      <a16:colId xmlns:a16="http://schemas.microsoft.com/office/drawing/2014/main" val="20001"/>
                    </a:ext>
                  </a:extLst>
                </a:gridCol>
                <a:gridCol w="870522">
                  <a:extLst>
                    <a:ext uri="{9D8B030D-6E8A-4147-A177-3AD203B41FA5}">
                      <a16:colId xmlns:a16="http://schemas.microsoft.com/office/drawing/2014/main" val="20002"/>
                    </a:ext>
                  </a:extLst>
                </a:gridCol>
                <a:gridCol w="1599883">
                  <a:extLst>
                    <a:ext uri="{9D8B030D-6E8A-4147-A177-3AD203B41FA5}">
                      <a16:colId xmlns:a16="http://schemas.microsoft.com/office/drawing/2014/main" val="20003"/>
                    </a:ext>
                  </a:extLst>
                </a:gridCol>
              </a:tblGrid>
              <a:tr h="365760">
                <a:tc>
                  <a:txBody>
                    <a:bodyPr/>
                    <a:lstStyle/>
                    <a:p>
                      <a:r>
                        <a:rPr lang="en-US" sz="1800" b="1"/>
                        <a:t>StudentID</a:t>
                      </a:r>
                    </a:p>
                  </a:txBody>
                  <a:tcPr anchor="ctr"/>
                </a:tc>
                <a:tc>
                  <a:txBody>
                    <a:bodyPr/>
                    <a:lstStyle/>
                    <a:p>
                      <a:r>
                        <a:rPr lang="en-US" sz="1800" b="1"/>
                        <a:t>Age</a:t>
                      </a:r>
                    </a:p>
                  </a:txBody>
                  <a:tcPr anchor="ctr"/>
                </a:tc>
                <a:tc>
                  <a:txBody>
                    <a:bodyPr/>
                    <a:lstStyle/>
                    <a:p>
                      <a:r>
                        <a:rPr lang="en-US" sz="1800" b="1"/>
                        <a:t>CGPA</a:t>
                      </a:r>
                    </a:p>
                  </a:txBody>
                  <a:tcPr anchor="ctr"/>
                </a:tc>
                <a:tc>
                  <a:txBody>
                    <a:bodyPr/>
                    <a:lstStyle/>
                    <a:p>
                      <a:r>
                        <a:rPr lang="en-US" sz="1800" b="1" dirty="0"/>
                        <a:t>Department</a:t>
                      </a:r>
                    </a:p>
                  </a:txBody>
                  <a:tcPr anchor="ctr"/>
                </a:tc>
                <a:extLst>
                  <a:ext uri="{0D108BD9-81ED-4DB2-BD59-A6C34878D82A}">
                    <a16:rowId xmlns:a16="http://schemas.microsoft.com/office/drawing/2014/main" val="10000"/>
                  </a:ext>
                </a:extLst>
              </a:tr>
              <a:tr h="365760">
                <a:tc>
                  <a:txBody>
                    <a:bodyPr/>
                    <a:lstStyle/>
                    <a:p>
                      <a:r>
                        <a:rPr lang="en-US" sz="1800"/>
                        <a:t>101</a:t>
                      </a:r>
                    </a:p>
                  </a:txBody>
                  <a:tcPr anchor="ctr"/>
                </a:tc>
                <a:tc>
                  <a:txBody>
                    <a:bodyPr/>
                    <a:lstStyle/>
                    <a:p>
                      <a:r>
                        <a:rPr lang="en-US" sz="1800"/>
                        <a:t>21</a:t>
                      </a:r>
                    </a:p>
                  </a:txBody>
                  <a:tcPr anchor="ctr"/>
                </a:tc>
                <a:tc>
                  <a:txBody>
                    <a:bodyPr/>
                    <a:lstStyle/>
                    <a:p>
                      <a:r>
                        <a:rPr lang="en-US" sz="1800"/>
                        <a:t>3.75</a:t>
                      </a:r>
                    </a:p>
                  </a:txBody>
                  <a:tcPr anchor="ctr"/>
                </a:tc>
                <a:tc>
                  <a:txBody>
                    <a:bodyPr/>
                    <a:lstStyle/>
                    <a:p>
                      <a:r>
                        <a:rPr lang="en-US" sz="1800"/>
                        <a:t>CSE</a:t>
                      </a:r>
                    </a:p>
                  </a:txBody>
                  <a:tcPr anchor="ctr"/>
                </a:tc>
                <a:extLst>
                  <a:ext uri="{0D108BD9-81ED-4DB2-BD59-A6C34878D82A}">
                    <a16:rowId xmlns:a16="http://schemas.microsoft.com/office/drawing/2014/main" val="10001"/>
                  </a:ext>
                </a:extLst>
              </a:tr>
              <a:tr h="365760">
                <a:tc>
                  <a:txBody>
                    <a:bodyPr/>
                    <a:lstStyle/>
                    <a:p>
                      <a:r>
                        <a:rPr lang="en-US" sz="1800"/>
                        <a:t>102</a:t>
                      </a:r>
                    </a:p>
                  </a:txBody>
                  <a:tcPr anchor="ctr"/>
                </a:tc>
                <a:tc>
                  <a:txBody>
                    <a:bodyPr/>
                    <a:lstStyle/>
                    <a:p>
                      <a:r>
                        <a:rPr lang="en-US" sz="1800"/>
                        <a:t>22</a:t>
                      </a:r>
                    </a:p>
                  </a:txBody>
                  <a:tcPr anchor="ctr"/>
                </a:tc>
                <a:tc>
                  <a:txBody>
                    <a:bodyPr/>
                    <a:lstStyle/>
                    <a:p>
                      <a:r>
                        <a:rPr lang="en-US" sz="1800"/>
                        <a:t>3.20</a:t>
                      </a:r>
                    </a:p>
                  </a:txBody>
                  <a:tcPr anchor="ctr"/>
                </a:tc>
                <a:tc>
                  <a:txBody>
                    <a:bodyPr/>
                    <a:lstStyle/>
                    <a:p>
                      <a:r>
                        <a:rPr lang="en-US" sz="1800" dirty="0"/>
                        <a:t>EEE</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651600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4</a:t>
            </a:fld>
            <a:endParaRPr lang="en-US" altLang="en-US"/>
          </a:p>
        </p:txBody>
      </p:sp>
      <p:sp>
        <p:nvSpPr>
          <p:cNvPr id="5" name="Content Placeholder 2"/>
          <p:cNvSpPr txBox="1">
            <a:spLocks/>
          </p:cNvSpPr>
          <p:nvPr/>
        </p:nvSpPr>
        <p:spPr>
          <a:xfrm>
            <a:off x="538798" y="1655763"/>
            <a:ext cx="8082688"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1: What information can we obtain from this data?</a:t>
            </a:r>
          </a:p>
          <a:p>
            <a:pPr marL="46037" indent="0">
              <a:buNone/>
            </a:pPr>
            <a:r>
              <a:rPr lang="en-US" dirty="0">
                <a:latin typeface="Times New Roman" pitchFamily="18" charset="0"/>
                <a:cs typeface="Times New Roman" pitchFamily="18" charset="0"/>
              </a:rPr>
              <a:t>We can identify:</a:t>
            </a:r>
          </a:p>
          <a:p>
            <a:pPr lvl="1"/>
            <a:r>
              <a:rPr lang="en-US" dirty="0">
                <a:latin typeface="Times New Roman" pitchFamily="18" charset="0"/>
                <a:cs typeface="Times New Roman" pitchFamily="18" charset="0"/>
              </a:rPr>
              <a:t>Student IDs </a:t>
            </a:r>
          </a:p>
          <a:p>
            <a:pPr lvl="1"/>
            <a:r>
              <a:rPr lang="en-US" dirty="0">
                <a:latin typeface="Times New Roman" pitchFamily="18" charset="0"/>
                <a:cs typeface="Times New Roman" pitchFamily="18" charset="0"/>
              </a:rPr>
              <a:t>Students' ages </a:t>
            </a:r>
          </a:p>
          <a:p>
            <a:pPr lvl="1"/>
            <a:r>
              <a:rPr lang="en-US" dirty="0">
                <a:latin typeface="Times New Roman" pitchFamily="18" charset="0"/>
                <a:cs typeface="Times New Roman" pitchFamily="18" charset="0"/>
              </a:rPr>
              <a:t>Students' CGPAs </a:t>
            </a:r>
          </a:p>
          <a:p>
            <a:pPr lvl="1"/>
            <a:r>
              <a:rPr lang="en-US" dirty="0">
                <a:latin typeface="Times New Roman" pitchFamily="18" charset="0"/>
                <a:cs typeface="Times New Roman" pitchFamily="18" charset="0"/>
              </a:rPr>
              <a:t>Departments they belong to </a:t>
            </a:r>
          </a:p>
          <a:p>
            <a:pPr marL="46037" indent="0">
              <a:buNone/>
            </a:pPr>
            <a:r>
              <a:rPr lang="en-US" dirty="0">
                <a:latin typeface="Times New Roman" pitchFamily="18" charset="0"/>
                <a:cs typeface="Times New Roman" pitchFamily="18" charset="0"/>
              </a:rPr>
              <a:t>We can also perform simple analyses such as:</a:t>
            </a:r>
          </a:p>
          <a:p>
            <a:pPr lvl="1"/>
            <a:r>
              <a:rPr lang="en-US" dirty="0">
                <a:latin typeface="Times New Roman" pitchFamily="18" charset="0"/>
                <a:cs typeface="Times New Roman" pitchFamily="18" charset="0"/>
              </a:rPr>
              <a:t>Average age </a:t>
            </a:r>
          </a:p>
          <a:p>
            <a:pPr lvl="1"/>
            <a:r>
              <a:rPr lang="en-US" dirty="0">
                <a:latin typeface="Times New Roman" pitchFamily="18" charset="0"/>
                <a:cs typeface="Times New Roman" pitchFamily="18" charset="0"/>
              </a:rPr>
              <a:t>Average CGPA </a:t>
            </a:r>
          </a:p>
          <a:p>
            <a:pPr lvl="1"/>
            <a:r>
              <a:rPr lang="en-US" dirty="0">
                <a:latin typeface="Times New Roman" pitchFamily="18" charset="0"/>
                <a:cs typeface="Times New Roman" pitchFamily="18" charset="0"/>
              </a:rPr>
              <a:t>Highest and lowest CGPA </a:t>
            </a:r>
          </a:p>
          <a:p>
            <a:pPr lvl="1"/>
            <a:r>
              <a:rPr lang="en-US" dirty="0">
                <a:latin typeface="Times New Roman" pitchFamily="18" charset="0"/>
                <a:cs typeface="Times New Roman" pitchFamily="18" charset="0"/>
              </a:rPr>
              <a:t>Number of students in each department</a:t>
            </a: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sp>
        <p:nvSpPr>
          <p:cNvPr id="4" name="Rectangle 3"/>
          <p:cNvSpPr/>
          <p:nvPr/>
        </p:nvSpPr>
        <p:spPr>
          <a:xfrm>
            <a:off x="525234" y="6096000"/>
            <a:ext cx="8300358" cy="369332"/>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Data contains information that can be summarized and analyzed to answer questions.</a:t>
            </a:r>
          </a:p>
        </p:txBody>
      </p:sp>
    </p:spTree>
    <p:extLst>
      <p:ext uri="{BB962C8B-B14F-4D97-AF65-F5344CB8AC3E}">
        <p14:creationId xmlns:p14="http://schemas.microsoft.com/office/powerpoint/2010/main" val="1613244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5</a:t>
            </a:fld>
            <a:endParaRPr lang="en-US" altLang="en-US"/>
          </a:p>
        </p:txBody>
      </p:sp>
      <p:sp>
        <p:nvSpPr>
          <p:cNvPr id="5" name="Content Placeholder 2"/>
          <p:cNvSpPr txBox="1">
            <a:spLocks/>
          </p:cNvSpPr>
          <p:nvPr/>
        </p:nvSpPr>
        <p:spPr>
          <a:xfrm>
            <a:off x="538798" y="1655763"/>
            <a:ext cx="8082688" cy="4440237"/>
          </a:xfrm>
          <a:prstGeom prst="rect">
            <a:avLst/>
          </a:prstGeom>
        </p:spPr>
        <p:txBody>
          <a:bodyPr rtlCol="0">
            <a:normAutofit lnSpcReduction="1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2: Is this enough to understand all students?</a:t>
            </a:r>
          </a:p>
          <a:p>
            <a:pPr marL="46037" indent="0">
              <a:buNone/>
            </a:pPr>
            <a:r>
              <a:rPr lang="en-US" b="1" dirty="0">
                <a:latin typeface="Times New Roman" pitchFamily="18" charset="0"/>
                <a:cs typeface="Times New Roman" pitchFamily="18" charset="0"/>
              </a:rPr>
              <a:t>Answer: No</a:t>
            </a:r>
            <a:endParaRPr lang="en-US" dirty="0">
              <a:latin typeface="Times New Roman" pitchFamily="18" charset="0"/>
              <a:cs typeface="Times New Roman" pitchFamily="18" charset="0"/>
            </a:endParaRPr>
          </a:p>
          <a:p>
            <a:pPr marL="46037" indent="0">
              <a:buNone/>
            </a:pPr>
            <a:r>
              <a:rPr lang="en-US" dirty="0">
                <a:latin typeface="Times New Roman" pitchFamily="18" charset="0"/>
                <a:cs typeface="Times New Roman" pitchFamily="18" charset="0"/>
              </a:rPr>
              <a:t>Reasons:</a:t>
            </a:r>
          </a:p>
          <a:p>
            <a:pPr lvl="1"/>
            <a:r>
              <a:rPr lang="en-US" dirty="0">
                <a:latin typeface="Times New Roman" pitchFamily="18" charset="0"/>
                <a:cs typeface="Times New Roman" pitchFamily="18" charset="0"/>
              </a:rPr>
              <a:t>Only two students are shown. </a:t>
            </a:r>
          </a:p>
          <a:p>
            <a:pPr lvl="1"/>
            <a:r>
              <a:rPr lang="en-US" dirty="0">
                <a:latin typeface="Times New Roman" pitchFamily="18" charset="0"/>
                <a:cs typeface="Times New Roman" pitchFamily="18" charset="0"/>
              </a:rPr>
              <a:t>The dataset may not represent the entire student population. </a:t>
            </a:r>
          </a:p>
          <a:p>
            <a:r>
              <a:rPr lang="en-US" dirty="0">
                <a:latin typeface="Times New Roman" pitchFamily="18" charset="0"/>
                <a:cs typeface="Times New Roman" pitchFamily="18" charset="0"/>
              </a:rPr>
              <a:t>Important variables may be missing: </a:t>
            </a:r>
          </a:p>
          <a:p>
            <a:pPr lvl="1"/>
            <a:r>
              <a:rPr lang="en-US" dirty="0">
                <a:latin typeface="Times New Roman" pitchFamily="18" charset="0"/>
                <a:cs typeface="Times New Roman" pitchFamily="18" charset="0"/>
              </a:rPr>
              <a:t>Gender </a:t>
            </a:r>
          </a:p>
          <a:p>
            <a:pPr lvl="1"/>
            <a:r>
              <a:rPr lang="en-US" dirty="0">
                <a:latin typeface="Times New Roman" pitchFamily="18" charset="0"/>
                <a:cs typeface="Times New Roman" pitchFamily="18" charset="0"/>
              </a:rPr>
              <a:t>Semester </a:t>
            </a:r>
          </a:p>
          <a:p>
            <a:pPr lvl="1"/>
            <a:r>
              <a:rPr lang="en-US" dirty="0">
                <a:latin typeface="Times New Roman" pitchFamily="18" charset="0"/>
                <a:cs typeface="Times New Roman" pitchFamily="18" charset="0"/>
              </a:rPr>
              <a:t>Attendance </a:t>
            </a:r>
          </a:p>
          <a:p>
            <a:pPr lvl="1"/>
            <a:r>
              <a:rPr lang="en-US" dirty="0">
                <a:latin typeface="Times New Roman" pitchFamily="18" charset="0"/>
                <a:cs typeface="Times New Roman" pitchFamily="18" charset="0"/>
              </a:rPr>
              <a:t>Exam scores </a:t>
            </a:r>
          </a:p>
          <a:p>
            <a:pPr lvl="1"/>
            <a:r>
              <a:rPr lang="en-US" dirty="0">
                <a:latin typeface="Times New Roman" pitchFamily="18" charset="0"/>
                <a:cs typeface="Times New Roman" pitchFamily="18" charset="0"/>
              </a:rPr>
              <a:t>Family background </a:t>
            </a:r>
          </a:p>
          <a:p>
            <a:pPr lvl="1"/>
            <a:r>
              <a:rPr lang="en-US" dirty="0">
                <a:latin typeface="Times New Roman" pitchFamily="18" charset="0"/>
                <a:cs typeface="Times New Roman" pitchFamily="18" charset="0"/>
              </a:rPr>
              <a:t>Extracurricular activities</a:t>
            </a: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sp>
        <p:nvSpPr>
          <p:cNvPr id="4" name="Rectangle 3"/>
          <p:cNvSpPr/>
          <p:nvPr/>
        </p:nvSpPr>
        <p:spPr>
          <a:xfrm>
            <a:off x="525233" y="6096000"/>
            <a:ext cx="9769931" cy="369332"/>
          </a:xfrm>
          <a:prstGeom prst="rect">
            <a:avLst/>
          </a:prstGeom>
        </p:spPr>
        <p:txBody>
          <a:bodyPr wrap="square">
            <a:spAutoFit/>
          </a:bodyPr>
          <a:lstStyle/>
          <a:p>
            <a:r>
              <a:rPr lang="en-US" dirty="0">
                <a:solidFill>
                  <a:srgbClr val="FF0000"/>
                </a:solidFill>
                <a:latin typeface="Times New Roman" pitchFamily="18" charset="0"/>
                <a:cs typeface="Times New Roman" pitchFamily="18" charset="0"/>
              </a:rPr>
              <a:t>Population </a:t>
            </a:r>
            <a:r>
              <a:rPr lang="en-US" dirty="0" err="1">
                <a:solidFill>
                  <a:srgbClr val="FF0000"/>
                </a:solidFill>
                <a:latin typeface="Times New Roman" pitchFamily="18" charset="0"/>
                <a:cs typeface="Times New Roman" pitchFamily="18" charset="0"/>
              </a:rPr>
              <a:t>vs</a:t>
            </a:r>
            <a:r>
              <a:rPr lang="en-US" dirty="0">
                <a:solidFill>
                  <a:srgbClr val="FF0000"/>
                </a:solidFill>
                <a:latin typeface="Times New Roman" pitchFamily="18" charset="0"/>
                <a:cs typeface="Times New Roman" pitchFamily="18" charset="0"/>
              </a:rPr>
              <a:t> Sample: A small dataset may provide insights, but it may not fully represent all students. </a:t>
            </a:r>
          </a:p>
        </p:txBody>
      </p:sp>
    </p:spTree>
    <p:extLst>
      <p:ext uri="{BB962C8B-B14F-4D97-AF65-F5344CB8AC3E}">
        <p14:creationId xmlns:p14="http://schemas.microsoft.com/office/powerpoint/2010/main" val="1329919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6</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lnSpcReduction="1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3: What should we examine before applying machine learning?</a:t>
            </a:r>
          </a:p>
          <a:p>
            <a:pPr marL="46037" indent="0">
              <a:buNone/>
            </a:pPr>
            <a:r>
              <a:rPr lang="en-US" dirty="0">
                <a:latin typeface="Times New Roman" pitchFamily="18" charset="0"/>
                <a:cs typeface="Times New Roman" pitchFamily="18" charset="0"/>
              </a:rPr>
              <a:t>Before building a machine learning model, we should examine:</a:t>
            </a:r>
          </a:p>
          <a:p>
            <a:pPr marL="46037" indent="0">
              <a:buNone/>
            </a:pPr>
            <a:r>
              <a:rPr lang="en-US" b="1" dirty="0">
                <a:latin typeface="Times New Roman" pitchFamily="18" charset="0"/>
                <a:cs typeface="Times New Roman" pitchFamily="18" charset="0"/>
              </a:rPr>
              <a:t>1. Data Quality</a:t>
            </a:r>
          </a:p>
          <a:p>
            <a:pPr lvl="1"/>
            <a:r>
              <a:rPr lang="en-US" dirty="0">
                <a:latin typeface="Times New Roman" pitchFamily="18" charset="0"/>
                <a:cs typeface="Times New Roman" pitchFamily="18" charset="0"/>
              </a:rPr>
              <a:t>Missing values </a:t>
            </a:r>
          </a:p>
          <a:p>
            <a:pPr lvl="1"/>
            <a:r>
              <a:rPr lang="en-US" dirty="0">
                <a:latin typeface="Times New Roman" pitchFamily="18" charset="0"/>
                <a:cs typeface="Times New Roman" pitchFamily="18" charset="0"/>
              </a:rPr>
              <a:t>Incorrect values </a:t>
            </a:r>
          </a:p>
          <a:p>
            <a:pPr lvl="1"/>
            <a:r>
              <a:rPr lang="en-US" dirty="0">
                <a:latin typeface="Times New Roman" pitchFamily="18" charset="0"/>
                <a:cs typeface="Times New Roman" pitchFamily="18" charset="0"/>
              </a:rPr>
              <a:t>Duplicate records </a:t>
            </a:r>
          </a:p>
          <a:p>
            <a:pPr marL="46037" indent="0">
              <a:buNone/>
            </a:pPr>
            <a:r>
              <a:rPr lang="en-US" dirty="0">
                <a:latin typeface="Times New Roman" pitchFamily="18" charset="0"/>
                <a:cs typeface="Times New Roman" pitchFamily="18" charset="0"/>
              </a:rPr>
              <a:t>Example: Age = -5, CGPA = 12.5  </a:t>
            </a:r>
            <a:r>
              <a:rPr lang="en-US" dirty="0">
                <a:solidFill>
                  <a:srgbClr val="FF0000"/>
                </a:solidFill>
                <a:latin typeface="Times New Roman" pitchFamily="18" charset="0"/>
                <a:cs typeface="Times New Roman" pitchFamily="18" charset="0"/>
              </a:rPr>
              <a:t>Clearly invalid</a:t>
            </a:r>
            <a:r>
              <a:rPr lang="en-US" dirty="0">
                <a:latin typeface="Times New Roman" pitchFamily="18" charset="0"/>
                <a:cs typeface="Times New Roman" pitchFamily="18" charset="0"/>
              </a:rPr>
              <a:t>.</a:t>
            </a:r>
          </a:p>
          <a:p>
            <a:pPr marL="46037" indent="0">
              <a:buNone/>
            </a:pPr>
            <a:r>
              <a:rPr lang="en-US" b="1" dirty="0">
                <a:latin typeface="Times New Roman" pitchFamily="18" charset="0"/>
                <a:cs typeface="Times New Roman" pitchFamily="18" charset="0"/>
              </a:rPr>
              <a:t>2. Data Types</a:t>
            </a:r>
          </a:p>
          <a:p>
            <a:pPr marL="46037" indent="0">
              <a:buNone/>
            </a:pPr>
            <a:r>
              <a:rPr lang="en-US" dirty="0">
                <a:latin typeface="Times New Roman" pitchFamily="18" charset="0"/>
                <a:cs typeface="Times New Roman" pitchFamily="18" charset="0"/>
              </a:rPr>
              <a:t>Determine whether variables are:</a:t>
            </a:r>
          </a:p>
          <a:p>
            <a:pPr lvl="1"/>
            <a:r>
              <a:rPr lang="en-US" dirty="0">
                <a:latin typeface="Times New Roman" pitchFamily="18" charset="0"/>
                <a:cs typeface="Times New Roman" pitchFamily="18" charset="0"/>
              </a:rPr>
              <a:t>Numerical </a:t>
            </a:r>
          </a:p>
          <a:p>
            <a:pPr lvl="1"/>
            <a:r>
              <a:rPr lang="en-US" dirty="0">
                <a:latin typeface="Times New Roman" pitchFamily="18" charset="0"/>
                <a:cs typeface="Times New Roman" pitchFamily="18" charset="0"/>
              </a:rPr>
              <a:t>Categorical </a:t>
            </a: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sp>
        <p:nvSpPr>
          <p:cNvPr id="3" name="Rectangle 2"/>
          <p:cNvSpPr/>
          <p:nvPr/>
        </p:nvSpPr>
        <p:spPr>
          <a:xfrm>
            <a:off x="6264777" y="4477141"/>
            <a:ext cx="3605844" cy="646331"/>
          </a:xfrm>
          <a:prstGeom prst="rect">
            <a:avLst/>
          </a:prstGeom>
        </p:spPr>
        <p:txBody>
          <a:bodyPr wrap="square">
            <a:spAutoFit/>
          </a:bodyPr>
          <a:lstStyle/>
          <a:p>
            <a:pPr marL="46037" indent="0">
              <a:buNone/>
            </a:pPr>
            <a:r>
              <a:rPr lang="en-US" dirty="0">
                <a:latin typeface="Times New Roman" pitchFamily="18" charset="0"/>
                <a:cs typeface="Times New Roman" pitchFamily="18" charset="0"/>
              </a:rPr>
              <a:t>Example:</a:t>
            </a:r>
          </a:p>
          <a:p>
            <a:pPr marL="46037" indent="0">
              <a:buNone/>
            </a:pPr>
            <a:endParaRPr lang="en-US" dirty="0">
              <a:latin typeface="Times New Roman" pitchFamily="18" charset="0"/>
              <a:cs typeface="Times New Roman"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2264772855"/>
              </p:ext>
            </p:extLst>
          </p:nvPr>
        </p:nvGraphicFramePr>
        <p:xfrm>
          <a:off x="7543800" y="4565650"/>
          <a:ext cx="2975865" cy="1463040"/>
        </p:xfrm>
        <a:graphic>
          <a:graphicData uri="http://schemas.openxmlformats.org/drawingml/2006/table">
            <a:tbl>
              <a:tblPr>
                <a:tableStyleId>{3C2FFA5D-87B4-456A-9821-1D502468CF0F}</a:tableStyleId>
              </a:tblPr>
              <a:tblGrid>
                <a:gridCol w="1499172">
                  <a:extLst>
                    <a:ext uri="{9D8B030D-6E8A-4147-A177-3AD203B41FA5}">
                      <a16:colId xmlns:a16="http://schemas.microsoft.com/office/drawing/2014/main" val="20000"/>
                    </a:ext>
                  </a:extLst>
                </a:gridCol>
                <a:gridCol w="1476693">
                  <a:extLst>
                    <a:ext uri="{9D8B030D-6E8A-4147-A177-3AD203B41FA5}">
                      <a16:colId xmlns:a16="http://schemas.microsoft.com/office/drawing/2014/main" val="20001"/>
                    </a:ext>
                  </a:extLst>
                </a:gridCol>
              </a:tblGrid>
              <a:tr h="0">
                <a:tc>
                  <a:txBody>
                    <a:bodyPr/>
                    <a:lstStyle/>
                    <a:p>
                      <a:r>
                        <a:rPr lang="en-US" sz="1800" b="1" dirty="0">
                          <a:latin typeface="Times New Roman" pitchFamily="18" charset="0"/>
                          <a:cs typeface="Times New Roman" pitchFamily="18" charset="0"/>
                        </a:rPr>
                        <a:t>Variable</a:t>
                      </a:r>
                    </a:p>
                  </a:txBody>
                  <a:tcPr anchor="ctr"/>
                </a:tc>
                <a:tc>
                  <a:txBody>
                    <a:bodyPr/>
                    <a:lstStyle/>
                    <a:p>
                      <a:r>
                        <a:rPr lang="en-US" sz="1800" b="1" dirty="0">
                          <a:latin typeface="Times New Roman" pitchFamily="18" charset="0"/>
                          <a:cs typeface="Times New Roman" pitchFamily="18" charset="0"/>
                        </a:rPr>
                        <a:t>Type</a:t>
                      </a:r>
                    </a:p>
                  </a:txBody>
                  <a:tcPr anchor="ctr"/>
                </a:tc>
                <a:extLst>
                  <a:ext uri="{0D108BD9-81ED-4DB2-BD59-A6C34878D82A}">
                    <a16:rowId xmlns:a16="http://schemas.microsoft.com/office/drawing/2014/main" val="10000"/>
                  </a:ext>
                </a:extLst>
              </a:tr>
              <a:tr h="365760">
                <a:tc>
                  <a:txBody>
                    <a:bodyPr/>
                    <a:lstStyle/>
                    <a:p>
                      <a:r>
                        <a:rPr lang="en-US" sz="1800" dirty="0">
                          <a:latin typeface="Times New Roman" pitchFamily="18" charset="0"/>
                          <a:cs typeface="Times New Roman" pitchFamily="18" charset="0"/>
                        </a:rPr>
                        <a:t>Age</a:t>
                      </a:r>
                    </a:p>
                  </a:txBody>
                  <a:tcPr anchor="ctr"/>
                </a:tc>
                <a:tc>
                  <a:txBody>
                    <a:bodyPr/>
                    <a:lstStyle/>
                    <a:p>
                      <a:r>
                        <a:rPr lang="en-US" sz="1800">
                          <a:latin typeface="Times New Roman" pitchFamily="18" charset="0"/>
                          <a:cs typeface="Times New Roman" pitchFamily="18" charset="0"/>
                        </a:rPr>
                        <a:t>Numerical</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CGPA</a:t>
                      </a:r>
                    </a:p>
                  </a:txBody>
                  <a:tcPr anchor="ctr"/>
                </a:tc>
                <a:tc>
                  <a:txBody>
                    <a:bodyPr/>
                    <a:lstStyle/>
                    <a:p>
                      <a:r>
                        <a:rPr lang="en-US" sz="1800">
                          <a:latin typeface="Times New Roman" pitchFamily="18" charset="0"/>
                          <a:cs typeface="Times New Roman" pitchFamily="18" charset="0"/>
                        </a:rPr>
                        <a:t>Numerical</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Department</a:t>
                      </a:r>
                    </a:p>
                  </a:txBody>
                  <a:tcPr anchor="ctr"/>
                </a:tc>
                <a:tc>
                  <a:txBody>
                    <a:bodyPr/>
                    <a:lstStyle/>
                    <a:p>
                      <a:r>
                        <a:rPr lang="en-US" sz="1800" dirty="0">
                          <a:latin typeface="Times New Roman" pitchFamily="18" charset="0"/>
                          <a:cs typeface="Times New Roman" pitchFamily="18" charset="0"/>
                        </a:rPr>
                        <a:t>Categorical</a:t>
                      </a: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79175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7</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3: What should we examine before applying machine learning?</a:t>
            </a:r>
          </a:p>
          <a:p>
            <a:pPr marL="46037" indent="0">
              <a:buNone/>
            </a:pPr>
            <a:r>
              <a:rPr lang="en-US" dirty="0">
                <a:latin typeface="Times New Roman" pitchFamily="18" charset="0"/>
                <a:cs typeface="Times New Roman" pitchFamily="18" charset="0"/>
              </a:rPr>
              <a:t>Before building a machine learning model, we should examine:</a:t>
            </a:r>
          </a:p>
          <a:p>
            <a:pPr marL="46037" indent="0">
              <a:buNone/>
            </a:pPr>
            <a:r>
              <a:rPr lang="en-US" b="1" dirty="0">
                <a:latin typeface="Times New Roman" pitchFamily="18" charset="0"/>
                <a:cs typeface="Times New Roman" pitchFamily="18" charset="0"/>
              </a:rPr>
              <a:t>3. Dataset Size</a:t>
            </a:r>
          </a:p>
          <a:p>
            <a:pPr lvl="1"/>
            <a:r>
              <a:rPr lang="en-US" dirty="0">
                <a:latin typeface="Times New Roman" pitchFamily="18" charset="0"/>
                <a:cs typeface="Times New Roman" pitchFamily="18" charset="0"/>
              </a:rPr>
              <a:t>How many rows? </a:t>
            </a:r>
          </a:p>
          <a:p>
            <a:pPr lvl="1"/>
            <a:r>
              <a:rPr lang="en-US" dirty="0">
                <a:latin typeface="Times New Roman" pitchFamily="18" charset="0"/>
                <a:cs typeface="Times New Roman" pitchFamily="18" charset="0"/>
              </a:rPr>
              <a:t>How many features? </a:t>
            </a:r>
          </a:p>
          <a:p>
            <a:pPr marL="46037" indent="0">
              <a:buNone/>
            </a:pPr>
            <a:r>
              <a:rPr lang="en-US" dirty="0">
                <a:latin typeface="Times New Roman" pitchFamily="18" charset="0"/>
                <a:cs typeface="Times New Roman" pitchFamily="18" charset="0"/>
              </a:rPr>
              <a:t>A model may not perform well with very little data.</a:t>
            </a:r>
          </a:p>
          <a:p>
            <a:pPr marL="46037" indent="0">
              <a:buNone/>
            </a:pPr>
            <a:r>
              <a:rPr lang="en-US" b="1" dirty="0">
                <a:latin typeface="Times New Roman" pitchFamily="18" charset="0"/>
                <a:cs typeface="Times New Roman" pitchFamily="18" charset="0"/>
              </a:rPr>
              <a:t>4. Distribution of Variables</a:t>
            </a:r>
          </a:p>
          <a:p>
            <a:pPr marL="46037" indent="0">
              <a:buNone/>
            </a:pPr>
            <a:r>
              <a:rPr lang="en-US" dirty="0">
                <a:latin typeface="Times New Roman" pitchFamily="18" charset="0"/>
                <a:cs typeface="Times New Roman" pitchFamily="18" charset="0"/>
              </a:rPr>
              <a:t>Questions such as:</a:t>
            </a:r>
          </a:p>
          <a:p>
            <a:pPr lvl="1"/>
            <a:r>
              <a:rPr lang="en-US" dirty="0">
                <a:latin typeface="Times New Roman" pitchFamily="18" charset="0"/>
                <a:cs typeface="Times New Roman" pitchFamily="18" charset="0"/>
              </a:rPr>
              <a:t>Are ages normally distributed? </a:t>
            </a:r>
          </a:p>
          <a:p>
            <a:pPr lvl="1"/>
            <a:r>
              <a:rPr lang="en-US" dirty="0">
                <a:latin typeface="Times New Roman" pitchFamily="18" charset="0"/>
                <a:cs typeface="Times New Roman" pitchFamily="18" charset="0"/>
              </a:rPr>
              <a:t>Are CGPAs concentrated in a narrow range?</a:t>
            </a: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spTree>
    <p:extLst>
      <p:ext uri="{BB962C8B-B14F-4D97-AF65-F5344CB8AC3E}">
        <p14:creationId xmlns:p14="http://schemas.microsoft.com/office/powerpoint/2010/main" val="1324584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8</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3: What should we examine before applying machine learning?</a:t>
            </a:r>
          </a:p>
          <a:p>
            <a:pPr marL="46037" indent="0">
              <a:buNone/>
            </a:pPr>
            <a:r>
              <a:rPr lang="en-US" dirty="0">
                <a:latin typeface="Times New Roman" pitchFamily="18" charset="0"/>
                <a:cs typeface="Times New Roman" pitchFamily="18" charset="0"/>
              </a:rPr>
              <a:t>Before building a machine learning model, we should examine:</a:t>
            </a:r>
          </a:p>
          <a:p>
            <a:pPr marL="46037" indent="0">
              <a:buNone/>
            </a:pPr>
            <a:r>
              <a:rPr lang="en-US" b="1" dirty="0">
                <a:latin typeface="Times New Roman" pitchFamily="18" charset="0"/>
                <a:cs typeface="Times New Roman" pitchFamily="18" charset="0"/>
              </a:rPr>
              <a:t>5. Missing Values</a:t>
            </a:r>
          </a:p>
          <a:p>
            <a:r>
              <a:rPr lang="en-US" dirty="0">
                <a:latin typeface="Times New Roman" pitchFamily="18" charset="0"/>
                <a:cs typeface="Times New Roman" pitchFamily="18" charset="0"/>
              </a:rPr>
              <a:t>Example:</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marL="46037" indent="0">
              <a:buNone/>
            </a:pPr>
            <a:r>
              <a:rPr lang="en-US" dirty="0">
                <a:latin typeface="Times New Roman" pitchFamily="18" charset="0"/>
                <a:cs typeface="Times New Roman" pitchFamily="18" charset="0"/>
              </a:rPr>
              <a:t>Need handling before modeling.</a:t>
            </a: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graphicFrame>
        <p:nvGraphicFramePr>
          <p:cNvPr id="3" name="Table 2"/>
          <p:cNvGraphicFramePr>
            <a:graphicFrameLocks noGrp="1"/>
          </p:cNvGraphicFramePr>
          <p:nvPr>
            <p:extLst>
              <p:ext uri="{D42A27DB-BD31-4B8C-83A1-F6EECF244321}">
                <p14:modId xmlns:p14="http://schemas.microsoft.com/office/powerpoint/2010/main" val="1110236611"/>
              </p:ext>
            </p:extLst>
          </p:nvPr>
        </p:nvGraphicFramePr>
        <p:xfrm>
          <a:off x="2277836" y="3054531"/>
          <a:ext cx="1540955" cy="1097280"/>
        </p:xfrm>
        <a:graphic>
          <a:graphicData uri="http://schemas.openxmlformats.org/drawingml/2006/table">
            <a:tbl>
              <a:tblPr>
                <a:tableStyleId>{3C2FFA5D-87B4-456A-9821-1D502468CF0F}</a:tableStyleId>
              </a:tblPr>
              <a:tblGrid>
                <a:gridCol w="670433">
                  <a:extLst>
                    <a:ext uri="{9D8B030D-6E8A-4147-A177-3AD203B41FA5}">
                      <a16:colId xmlns:a16="http://schemas.microsoft.com/office/drawing/2014/main" val="20000"/>
                    </a:ext>
                  </a:extLst>
                </a:gridCol>
                <a:gridCol w="870522">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Age</a:t>
                      </a:r>
                    </a:p>
                  </a:txBody>
                  <a:tcPr anchor="ctr"/>
                </a:tc>
                <a:tc>
                  <a:txBody>
                    <a:bodyPr/>
                    <a:lstStyle/>
                    <a:p>
                      <a:r>
                        <a:rPr lang="en-US" sz="1800" b="1" dirty="0">
                          <a:latin typeface="Times New Roman" pitchFamily="18" charset="0"/>
                          <a:cs typeface="Times New Roman" pitchFamily="18" charset="0"/>
                        </a:rPr>
                        <a:t>CGPA</a:t>
                      </a:r>
                    </a:p>
                  </a:txBody>
                  <a:tcPr anchor="ctr"/>
                </a:tc>
                <a:extLst>
                  <a:ext uri="{0D108BD9-81ED-4DB2-BD59-A6C34878D82A}">
                    <a16:rowId xmlns:a16="http://schemas.microsoft.com/office/drawing/2014/main" val="10000"/>
                  </a:ext>
                </a:extLst>
              </a:tr>
              <a:tr h="365760">
                <a:tc>
                  <a:txBody>
                    <a:bodyPr/>
                    <a:lstStyle/>
                    <a:p>
                      <a:r>
                        <a:rPr lang="en-US" sz="1800" dirty="0">
                          <a:latin typeface="Times New Roman" pitchFamily="18" charset="0"/>
                          <a:cs typeface="Times New Roman" pitchFamily="18" charset="0"/>
                        </a:rPr>
                        <a:t>21</a:t>
                      </a:r>
                    </a:p>
                  </a:txBody>
                  <a:tcPr anchor="ctr"/>
                </a:tc>
                <a:tc>
                  <a:txBody>
                    <a:bodyPr/>
                    <a:lstStyle/>
                    <a:p>
                      <a:r>
                        <a:rPr lang="en-US" sz="1800" dirty="0">
                          <a:latin typeface="Times New Roman" pitchFamily="18" charset="0"/>
                          <a:cs typeface="Times New Roman" pitchFamily="18" charset="0"/>
                        </a:rPr>
                        <a:t>3.5</a:t>
                      </a:r>
                    </a:p>
                  </a:txBody>
                  <a:tcPr anchor="ctr"/>
                </a:tc>
                <a:extLst>
                  <a:ext uri="{0D108BD9-81ED-4DB2-BD59-A6C34878D82A}">
                    <a16:rowId xmlns:a16="http://schemas.microsoft.com/office/drawing/2014/main" val="10001"/>
                  </a:ext>
                </a:extLst>
              </a:tr>
              <a:tr h="365760">
                <a:tc>
                  <a:txBody>
                    <a:bodyPr/>
                    <a:lstStyle/>
                    <a:p>
                      <a:r>
                        <a:rPr lang="en-US" sz="1800" dirty="0">
                          <a:solidFill>
                            <a:srgbClr val="FF0000"/>
                          </a:solidFill>
                          <a:latin typeface="Times New Roman" pitchFamily="18" charset="0"/>
                          <a:cs typeface="Times New Roman" pitchFamily="18" charset="0"/>
                        </a:rPr>
                        <a:t>NA</a:t>
                      </a:r>
                    </a:p>
                  </a:txBody>
                  <a:tcPr anchor="ctr"/>
                </a:tc>
                <a:tc>
                  <a:txBody>
                    <a:bodyPr/>
                    <a:lstStyle/>
                    <a:p>
                      <a:r>
                        <a:rPr lang="en-US" sz="1800" dirty="0">
                          <a:latin typeface="Times New Roman" pitchFamily="18" charset="0"/>
                          <a:cs typeface="Times New Roman" pitchFamily="18" charset="0"/>
                        </a:rPr>
                        <a:t>3.7</a:t>
                      </a:r>
                    </a:p>
                  </a:txBody>
                  <a:tcPr anchor="ctr"/>
                </a:tc>
                <a:extLst>
                  <a:ext uri="{0D108BD9-81ED-4DB2-BD59-A6C34878D82A}">
                    <a16:rowId xmlns:a16="http://schemas.microsoft.com/office/drawing/2014/main" val="10002"/>
                  </a:ext>
                </a:extLst>
              </a:tr>
            </a:tbl>
          </a:graphicData>
        </a:graphic>
      </p:graphicFrame>
      <p:sp>
        <p:nvSpPr>
          <p:cNvPr id="7" name="TextBox 6"/>
          <p:cNvSpPr txBox="1"/>
          <p:nvPr/>
        </p:nvSpPr>
        <p:spPr>
          <a:xfrm>
            <a:off x="5347583" y="2773702"/>
            <a:ext cx="3412696" cy="3046988"/>
          </a:xfrm>
          <a:prstGeom prst="rect">
            <a:avLst/>
          </a:prstGeom>
          <a:noFill/>
        </p:spPr>
        <p:txBody>
          <a:bodyPr wrap="square" rtlCol="0">
            <a:spAutoFit/>
          </a:bodyPr>
          <a:lstStyle/>
          <a:p>
            <a:r>
              <a:rPr lang="en-US" sz="2400" b="1" dirty="0">
                <a:latin typeface="Times New Roman" pitchFamily="18" charset="0"/>
                <a:cs typeface="Times New Roman" pitchFamily="18" charset="0"/>
              </a:rPr>
              <a:t>6. Outliers</a:t>
            </a:r>
          </a:p>
          <a:p>
            <a:r>
              <a:rPr lang="en-US" sz="2400" dirty="0">
                <a:latin typeface="Times New Roman" pitchFamily="18" charset="0"/>
                <a:cs typeface="Times New Roman" pitchFamily="18" charset="0"/>
              </a:rPr>
              <a:t>Example: CGPA</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3.2</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3.5</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3.7</a:t>
            </a:r>
            <a:br>
              <a:rPr lang="en-US" sz="2400" dirty="0">
                <a:latin typeface="Times New Roman" pitchFamily="18" charset="0"/>
                <a:cs typeface="Times New Roman" pitchFamily="18" charset="0"/>
              </a:rPr>
            </a:br>
            <a:r>
              <a:rPr lang="en-US" sz="2400" dirty="0">
                <a:solidFill>
                  <a:srgbClr val="FF0000"/>
                </a:solidFill>
                <a:latin typeface="Times New Roman" pitchFamily="18" charset="0"/>
                <a:cs typeface="Times New Roman" pitchFamily="18" charset="0"/>
              </a:rPr>
              <a:t>15.0</a:t>
            </a:r>
          </a:p>
          <a:p>
            <a:r>
              <a:rPr lang="en-US" sz="2400" dirty="0">
                <a:latin typeface="Times New Roman" pitchFamily="18" charset="0"/>
                <a:cs typeface="Times New Roman" pitchFamily="18" charset="0"/>
              </a:rPr>
              <a:t>Clearly problematic.</a:t>
            </a:r>
          </a:p>
          <a:p>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297491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9</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Question 3: What should we examine before applying machine learning?</a:t>
            </a:r>
          </a:p>
          <a:p>
            <a:pPr marL="46037" indent="0">
              <a:buNone/>
            </a:pPr>
            <a:r>
              <a:rPr lang="en-US" dirty="0">
                <a:latin typeface="Times New Roman" pitchFamily="18" charset="0"/>
                <a:cs typeface="Times New Roman" pitchFamily="18" charset="0"/>
              </a:rPr>
              <a:t>Before building a machine learning model, we should examine:</a:t>
            </a:r>
          </a:p>
          <a:p>
            <a:pPr marL="46037" indent="0">
              <a:buNone/>
            </a:pPr>
            <a:r>
              <a:rPr lang="en-US" b="1" dirty="0">
                <a:latin typeface="Times New Roman" pitchFamily="18" charset="0"/>
                <a:cs typeface="Times New Roman" pitchFamily="18" charset="0"/>
              </a:rPr>
              <a:t>7. Target Variable Availability</a:t>
            </a:r>
          </a:p>
          <a:p>
            <a:pPr marL="46037" indent="0">
              <a:buNone/>
            </a:pPr>
            <a:r>
              <a:rPr lang="en-US" dirty="0">
                <a:latin typeface="Times New Roman" pitchFamily="18" charset="0"/>
                <a:cs typeface="Times New Roman" pitchFamily="18" charset="0"/>
              </a:rPr>
              <a:t>For supervised learning:</a:t>
            </a:r>
          </a:p>
          <a:p>
            <a:pPr lvl="1"/>
            <a:r>
              <a:rPr lang="en-US" dirty="0">
                <a:latin typeface="Times New Roman" pitchFamily="18" charset="0"/>
                <a:cs typeface="Times New Roman" pitchFamily="18" charset="0"/>
              </a:rPr>
              <a:t>What are we trying to predict? </a:t>
            </a:r>
          </a:p>
          <a:p>
            <a:pPr marL="46037" indent="0">
              <a:buNone/>
            </a:pPr>
            <a:r>
              <a:rPr lang="en-US" dirty="0">
                <a:latin typeface="Times New Roman" pitchFamily="18" charset="0"/>
                <a:cs typeface="Times New Roman" pitchFamily="18" charset="0"/>
              </a:rPr>
              <a:t>Examples:</a:t>
            </a:r>
          </a:p>
          <a:p>
            <a:pPr lvl="1"/>
            <a:r>
              <a:rPr lang="en-US" dirty="0">
                <a:latin typeface="Times New Roman" pitchFamily="18" charset="0"/>
                <a:cs typeface="Times New Roman" pitchFamily="18" charset="0"/>
              </a:rPr>
              <a:t>Pass/Fail </a:t>
            </a:r>
          </a:p>
          <a:p>
            <a:pPr lvl="1"/>
            <a:r>
              <a:rPr lang="en-US" dirty="0">
                <a:latin typeface="Times New Roman" pitchFamily="18" charset="0"/>
                <a:cs typeface="Times New Roman" pitchFamily="18" charset="0"/>
              </a:rPr>
              <a:t>CGPA </a:t>
            </a:r>
          </a:p>
          <a:p>
            <a:pPr lvl="1"/>
            <a:r>
              <a:rPr lang="en-US" dirty="0">
                <a:latin typeface="Times New Roman" pitchFamily="18" charset="0"/>
                <a:cs typeface="Times New Roman" pitchFamily="18" charset="0"/>
              </a:rPr>
              <a:t>Placement Status </a:t>
            </a:r>
          </a:p>
          <a:p>
            <a:pPr marL="46037" indent="0">
              <a:buNone/>
            </a:pPr>
            <a:r>
              <a:rPr lang="en-US" dirty="0">
                <a:solidFill>
                  <a:srgbClr val="FF0000"/>
                </a:solidFill>
                <a:latin typeface="Times New Roman" pitchFamily="18" charset="0"/>
                <a:cs typeface="Times New Roman" pitchFamily="18" charset="0"/>
              </a:rPr>
              <a:t>Without a target variable, many ML tasks cannot be performed.</a:t>
            </a: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a:t>
            </a:r>
          </a:p>
        </p:txBody>
      </p:sp>
    </p:spTree>
    <p:extLst>
      <p:ext uri="{BB962C8B-B14F-4D97-AF65-F5344CB8AC3E}">
        <p14:creationId xmlns:p14="http://schemas.microsoft.com/office/powerpoint/2010/main" val="684086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10</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lnSpcReduction="1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Structured Data</a:t>
            </a:r>
          </a:p>
          <a:p>
            <a:pPr lvl="1"/>
            <a:r>
              <a:rPr lang="en-US" dirty="0">
                <a:latin typeface="Times New Roman" pitchFamily="18" charset="0"/>
                <a:cs typeface="Times New Roman" pitchFamily="18" charset="0"/>
              </a:rPr>
              <a:t>Organized in rows and columns </a:t>
            </a:r>
          </a:p>
          <a:p>
            <a:pPr lvl="1"/>
            <a:r>
              <a:rPr lang="en-US" dirty="0">
                <a:latin typeface="Times New Roman" pitchFamily="18" charset="0"/>
                <a:cs typeface="Times New Roman" pitchFamily="18" charset="0"/>
              </a:rPr>
              <a:t>Stored in databases, spreadsheets</a:t>
            </a:r>
          </a:p>
          <a:p>
            <a:pPr marL="46037" indent="0">
              <a:buNone/>
            </a:pPr>
            <a:r>
              <a:rPr lang="en-US" b="1" dirty="0">
                <a:latin typeface="Times New Roman" pitchFamily="18" charset="0"/>
                <a:cs typeface="Times New Roman" pitchFamily="18" charset="0"/>
              </a:rPr>
              <a:t>Unstructured Data</a:t>
            </a:r>
          </a:p>
          <a:p>
            <a:pPr lvl="1"/>
            <a:r>
              <a:rPr lang="en-US" dirty="0">
                <a:latin typeface="Times New Roman" pitchFamily="18" charset="0"/>
                <a:cs typeface="Times New Roman" pitchFamily="18" charset="0"/>
              </a:rPr>
              <a:t>No predefined format</a:t>
            </a:r>
          </a:p>
          <a:p>
            <a:pPr marL="46037" indent="0">
              <a:buNone/>
            </a:pPr>
            <a:r>
              <a:rPr lang="en-US" b="1" dirty="0">
                <a:latin typeface="Times New Roman" pitchFamily="18" charset="0"/>
                <a:cs typeface="Times New Roman" pitchFamily="18" charset="0"/>
              </a:rPr>
              <a:t>Examples:</a:t>
            </a:r>
          </a:p>
          <a:p>
            <a:pPr lvl="1"/>
            <a:r>
              <a:rPr lang="en-US" dirty="0">
                <a:latin typeface="Times New Roman" pitchFamily="18" charset="0"/>
                <a:cs typeface="Times New Roman" pitchFamily="18" charset="0"/>
              </a:rPr>
              <a:t>Emails</a:t>
            </a:r>
          </a:p>
          <a:p>
            <a:pPr lvl="1"/>
            <a:r>
              <a:rPr lang="en-US" dirty="0">
                <a:latin typeface="Times New Roman" pitchFamily="18" charset="0"/>
                <a:cs typeface="Times New Roman" pitchFamily="18" charset="0"/>
              </a:rPr>
              <a:t>PDFs</a:t>
            </a:r>
          </a:p>
          <a:p>
            <a:pPr lvl="1"/>
            <a:r>
              <a:rPr lang="en-US" dirty="0">
                <a:latin typeface="Times New Roman" pitchFamily="18" charset="0"/>
                <a:cs typeface="Times New Roman" pitchFamily="18" charset="0"/>
              </a:rPr>
              <a:t>Images</a:t>
            </a:r>
          </a:p>
          <a:p>
            <a:pPr lvl="1"/>
            <a:r>
              <a:rPr lang="en-US" dirty="0">
                <a:latin typeface="Times New Roman" pitchFamily="18" charset="0"/>
                <a:cs typeface="Times New Roman" pitchFamily="18" charset="0"/>
              </a:rPr>
              <a:t>Audio</a:t>
            </a:r>
          </a:p>
          <a:p>
            <a:pPr lvl="1"/>
            <a:r>
              <a:rPr lang="en-US" dirty="0">
                <a:latin typeface="Times New Roman" pitchFamily="18" charset="0"/>
                <a:cs typeface="Times New Roman" pitchFamily="18" charset="0"/>
              </a:rPr>
              <a:t>Videos</a:t>
            </a:r>
          </a:p>
          <a:p>
            <a:pPr lvl="1"/>
            <a:r>
              <a:rPr lang="en-US" dirty="0">
                <a:latin typeface="Times New Roman" pitchFamily="18" charset="0"/>
                <a:cs typeface="Times New Roman" pitchFamily="18" charset="0"/>
              </a:rPr>
              <a:t>Social media posts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 Structured vs. Unstructured Data </a:t>
            </a:r>
          </a:p>
        </p:txBody>
      </p:sp>
      <p:graphicFrame>
        <p:nvGraphicFramePr>
          <p:cNvPr id="4" name="Table 3"/>
          <p:cNvGraphicFramePr>
            <a:graphicFrameLocks noGrp="1"/>
          </p:cNvGraphicFramePr>
          <p:nvPr>
            <p:extLst>
              <p:ext uri="{D42A27DB-BD31-4B8C-83A1-F6EECF244321}">
                <p14:modId xmlns:p14="http://schemas.microsoft.com/office/powerpoint/2010/main" val="2218638387"/>
              </p:ext>
            </p:extLst>
          </p:nvPr>
        </p:nvGraphicFramePr>
        <p:xfrm>
          <a:off x="5608865" y="1849483"/>
          <a:ext cx="2244345" cy="731520"/>
        </p:xfrm>
        <a:graphic>
          <a:graphicData uri="http://schemas.openxmlformats.org/drawingml/2006/table">
            <a:tbl>
              <a:tblPr>
                <a:tableStyleId>{3C2FFA5D-87B4-456A-9821-1D502468CF0F}</a:tableStyleId>
              </a:tblPr>
              <a:tblGrid>
                <a:gridCol w="478155">
                  <a:extLst>
                    <a:ext uri="{9D8B030D-6E8A-4147-A177-3AD203B41FA5}">
                      <a16:colId xmlns:a16="http://schemas.microsoft.com/office/drawing/2014/main" val="20000"/>
                    </a:ext>
                  </a:extLst>
                </a:gridCol>
                <a:gridCol w="895668">
                  <a:extLst>
                    <a:ext uri="{9D8B030D-6E8A-4147-A177-3AD203B41FA5}">
                      <a16:colId xmlns:a16="http://schemas.microsoft.com/office/drawing/2014/main" val="20001"/>
                    </a:ext>
                  </a:extLst>
                </a:gridCol>
                <a:gridCol w="870522">
                  <a:extLst>
                    <a:ext uri="{9D8B030D-6E8A-4147-A177-3AD203B41FA5}">
                      <a16:colId xmlns:a16="http://schemas.microsoft.com/office/drawing/2014/main" val="20002"/>
                    </a:ext>
                  </a:extLst>
                </a:gridCol>
              </a:tblGrid>
              <a:tr h="365760">
                <a:tc>
                  <a:txBody>
                    <a:bodyPr/>
                    <a:lstStyle/>
                    <a:p>
                      <a:r>
                        <a:rPr lang="en-US" sz="1800" b="1">
                          <a:latin typeface="Times New Roman" pitchFamily="18" charset="0"/>
                          <a:cs typeface="Times New Roman" pitchFamily="18" charset="0"/>
                        </a:rPr>
                        <a:t>ID</a:t>
                      </a:r>
                    </a:p>
                  </a:txBody>
                  <a:tcPr anchor="ctr"/>
                </a:tc>
                <a:tc>
                  <a:txBody>
                    <a:bodyPr/>
                    <a:lstStyle/>
                    <a:p>
                      <a:r>
                        <a:rPr lang="en-US" sz="1800" b="1">
                          <a:latin typeface="Times New Roman" pitchFamily="18" charset="0"/>
                          <a:cs typeface="Times New Roman" pitchFamily="18" charset="0"/>
                        </a:rPr>
                        <a:t>Name</a:t>
                      </a:r>
                    </a:p>
                  </a:txBody>
                  <a:tcPr anchor="ctr"/>
                </a:tc>
                <a:tc>
                  <a:txBody>
                    <a:bodyPr/>
                    <a:lstStyle/>
                    <a:p>
                      <a:r>
                        <a:rPr lang="en-US" sz="1800" b="1" dirty="0">
                          <a:latin typeface="Times New Roman" pitchFamily="18" charset="0"/>
                          <a:cs typeface="Times New Roman" pitchFamily="18" charset="0"/>
                        </a:rPr>
                        <a:t>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a:t>
                      </a:r>
                    </a:p>
                  </a:txBody>
                  <a:tcPr anchor="ctr"/>
                </a:tc>
                <a:tc>
                  <a:txBody>
                    <a:bodyPr/>
                    <a:lstStyle/>
                    <a:p>
                      <a:r>
                        <a:rPr lang="en-US" sz="1800">
                          <a:latin typeface="Times New Roman" pitchFamily="18" charset="0"/>
                          <a:cs typeface="Times New Roman" pitchFamily="18" charset="0"/>
                        </a:rPr>
                        <a:t>Rahim</a:t>
                      </a:r>
                    </a:p>
                  </a:txBody>
                  <a:tcPr anchor="ctr"/>
                </a:tc>
                <a:tc>
                  <a:txBody>
                    <a:bodyPr/>
                    <a:lstStyle/>
                    <a:p>
                      <a:r>
                        <a:rPr lang="en-US" sz="1800" dirty="0">
                          <a:latin typeface="Times New Roman" pitchFamily="18" charset="0"/>
                          <a:cs typeface="Times New Roman" pitchFamily="18" charset="0"/>
                        </a:rPr>
                        <a:t>3.7</a:t>
                      </a:r>
                    </a:p>
                  </a:txBody>
                  <a:tcPr anchor="ctr"/>
                </a:tc>
                <a:extLst>
                  <a:ext uri="{0D108BD9-81ED-4DB2-BD59-A6C34878D82A}">
                    <a16:rowId xmlns:a16="http://schemas.microsoft.com/office/drawing/2014/main" val="10001"/>
                  </a:ext>
                </a:extLst>
              </a:tr>
            </a:tbl>
          </a:graphicData>
        </a:graphic>
      </p:graphicFrame>
      <p:sp>
        <p:nvSpPr>
          <p:cNvPr id="7" name="Rectangle 6"/>
          <p:cNvSpPr/>
          <p:nvPr/>
        </p:nvSpPr>
        <p:spPr>
          <a:xfrm>
            <a:off x="3905251" y="3279888"/>
            <a:ext cx="3597728" cy="1938992"/>
          </a:xfrm>
          <a:prstGeom prst="rect">
            <a:avLst/>
          </a:prstGeom>
        </p:spPr>
        <p:txBody>
          <a:bodyPr wrap="square">
            <a:spAutoFit/>
          </a:bodyPr>
          <a:lstStyle/>
          <a:p>
            <a:pPr marL="46037" indent="0">
              <a:buNone/>
            </a:pPr>
            <a:r>
              <a:rPr lang="en-US" sz="2400" b="1" dirty="0">
                <a:latin typeface="Times New Roman" pitchFamily="18" charset="0"/>
                <a:cs typeface="Times New Roman" pitchFamily="18" charset="0"/>
              </a:rPr>
              <a:t>Semi-Structured Data</a:t>
            </a:r>
          </a:p>
          <a:p>
            <a:pPr marL="46037" indent="0">
              <a:buNone/>
            </a:pPr>
            <a:r>
              <a:rPr lang="en-US" sz="2400" dirty="0">
                <a:latin typeface="Times New Roman" pitchFamily="18" charset="0"/>
                <a:cs typeface="Times New Roman" pitchFamily="18" charset="0"/>
              </a:rPr>
              <a:t>Examples:</a:t>
            </a:r>
          </a:p>
          <a:p>
            <a:pPr marL="788987" lvl="1" indent="-285750">
              <a:buFont typeface="Arial" pitchFamily="34" charset="0"/>
              <a:buChar char="•"/>
            </a:pPr>
            <a:r>
              <a:rPr lang="en-US" sz="2400" dirty="0">
                <a:latin typeface="Times New Roman" pitchFamily="18" charset="0"/>
                <a:cs typeface="Times New Roman" pitchFamily="18" charset="0"/>
              </a:rPr>
              <a:t>JSON</a:t>
            </a:r>
          </a:p>
          <a:p>
            <a:pPr marL="788987" lvl="1" indent="-285750">
              <a:buFont typeface="Arial" pitchFamily="34" charset="0"/>
              <a:buChar char="•"/>
            </a:pPr>
            <a:r>
              <a:rPr lang="en-US" sz="2400" dirty="0">
                <a:latin typeface="Times New Roman" pitchFamily="18" charset="0"/>
                <a:cs typeface="Times New Roman" pitchFamily="18" charset="0"/>
              </a:rPr>
              <a:t>XML</a:t>
            </a:r>
          </a:p>
          <a:p>
            <a:pPr marL="46037" indent="0">
              <a:buNone/>
            </a:pPr>
            <a:endParaRPr lang="en-US" sz="2400" dirty="0">
              <a:latin typeface="Times New Roman" pitchFamily="18" charset="0"/>
              <a:cs typeface="Times New Roman" pitchFamily="18" charset="0"/>
            </a:endParaRPr>
          </a:p>
        </p:txBody>
      </p:sp>
      <p:sp>
        <p:nvSpPr>
          <p:cNvPr id="8" name="Rectangle 7"/>
          <p:cNvSpPr/>
          <p:nvPr/>
        </p:nvSpPr>
        <p:spPr>
          <a:xfrm>
            <a:off x="7736795" y="3674006"/>
            <a:ext cx="3282043" cy="1938992"/>
          </a:xfrm>
          <a:prstGeom prst="rect">
            <a:avLst/>
          </a:prstGeom>
        </p:spPr>
        <p:txBody>
          <a:bodyPr wrap="square">
            <a:spAutoFit/>
          </a:bodyPr>
          <a:lstStyle/>
          <a:p>
            <a:pPr marL="46037" indent="0">
              <a:buNone/>
            </a:pPr>
            <a:r>
              <a:rPr lang="en-US" sz="2400" dirty="0">
                <a:latin typeface="Times New Roman" pitchFamily="18" charset="0"/>
                <a:cs typeface="Times New Roman" pitchFamily="18" charset="0"/>
              </a:rPr>
              <a:t>Which type is:</a:t>
            </a:r>
          </a:p>
          <a:p>
            <a:pPr marL="846137" lvl="1" indent="-342900">
              <a:buFont typeface="Arial" pitchFamily="34" charset="0"/>
              <a:buChar char="•"/>
            </a:pPr>
            <a:r>
              <a:rPr lang="en-US" sz="2400" dirty="0">
                <a:latin typeface="Times New Roman" pitchFamily="18" charset="0"/>
                <a:cs typeface="Times New Roman" pitchFamily="18" charset="0"/>
              </a:rPr>
              <a:t>Facebook post?</a:t>
            </a:r>
          </a:p>
          <a:p>
            <a:pPr marL="846137" lvl="1" indent="-342900">
              <a:buFont typeface="Arial" pitchFamily="34" charset="0"/>
              <a:buChar char="•"/>
            </a:pPr>
            <a:r>
              <a:rPr lang="en-US" sz="2400" dirty="0">
                <a:latin typeface="Times New Roman" pitchFamily="18" charset="0"/>
                <a:cs typeface="Times New Roman" pitchFamily="18" charset="0"/>
              </a:rPr>
              <a:t>Hospital record?</a:t>
            </a:r>
          </a:p>
          <a:p>
            <a:pPr marL="846137" lvl="1" indent="-342900">
              <a:buFont typeface="Arial" pitchFamily="34" charset="0"/>
              <a:buChar char="•"/>
            </a:pPr>
            <a:r>
              <a:rPr lang="en-US" sz="2400" dirty="0">
                <a:latin typeface="Times New Roman" pitchFamily="18" charset="0"/>
                <a:cs typeface="Times New Roman" pitchFamily="18" charset="0"/>
              </a:rPr>
              <a:t>YouTube video?</a:t>
            </a:r>
          </a:p>
          <a:p>
            <a:pPr marL="846137" lvl="1" indent="-342900">
              <a:buFont typeface="Arial" pitchFamily="34" charset="0"/>
              <a:buChar char="•"/>
            </a:pPr>
            <a:r>
              <a:rPr lang="en-US" sz="2400" dirty="0">
                <a:latin typeface="Times New Roman" pitchFamily="18" charset="0"/>
                <a:cs typeface="Times New Roman" pitchFamily="18" charset="0"/>
              </a:rPr>
              <a:t>Student database?</a:t>
            </a:r>
          </a:p>
        </p:txBody>
      </p:sp>
    </p:spTree>
    <p:extLst>
      <p:ext uri="{BB962C8B-B14F-4D97-AF65-F5344CB8AC3E}">
        <p14:creationId xmlns:p14="http://schemas.microsoft.com/office/powerpoint/2010/main" val="25410905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11</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fontScale="92500" lnSpcReduction="1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dirty="0">
                <a:latin typeface="Times New Roman" pitchFamily="18" charset="0"/>
                <a:cs typeface="Times New Roman" pitchFamily="18" charset="0"/>
              </a:rPr>
              <a:t>Variables are the characteristics measured for each observation.</a:t>
            </a:r>
          </a:p>
          <a:p>
            <a:pPr marL="46037" indent="0">
              <a:buNone/>
            </a:pPr>
            <a:r>
              <a:rPr lang="en-US" b="1" dirty="0">
                <a:latin typeface="Times New Roman" pitchFamily="18" charset="0"/>
                <a:cs typeface="Times New Roman" pitchFamily="18" charset="0"/>
              </a:rPr>
              <a:t>Categorical Variables</a:t>
            </a:r>
          </a:p>
          <a:p>
            <a:pPr marL="46037" indent="0">
              <a:buNone/>
            </a:pPr>
            <a:r>
              <a:rPr lang="en-US" b="1" dirty="0">
                <a:latin typeface="Times New Roman" pitchFamily="18" charset="0"/>
                <a:cs typeface="Times New Roman" pitchFamily="18" charset="0"/>
              </a:rPr>
              <a:t>Nominal</a:t>
            </a:r>
          </a:p>
          <a:p>
            <a:pPr marL="46037" indent="0">
              <a:buNone/>
            </a:pPr>
            <a:r>
              <a:rPr lang="en-US" dirty="0">
                <a:latin typeface="Times New Roman" pitchFamily="18" charset="0"/>
                <a:cs typeface="Times New Roman" pitchFamily="18" charset="0"/>
              </a:rPr>
              <a:t>Examples:</a:t>
            </a:r>
          </a:p>
          <a:p>
            <a:pPr lvl="1"/>
            <a:r>
              <a:rPr lang="en-US" dirty="0">
                <a:latin typeface="Times New Roman" pitchFamily="18" charset="0"/>
                <a:cs typeface="Times New Roman" pitchFamily="18" charset="0"/>
              </a:rPr>
              <a:t>Gender </a:t>
            </a:r>
          </a:p>
          <a:p>
            <a:pPr lvl="1"/>
            <a:r>
              <a:rPr lang="en-US" dirty="0">
                <a:latin typeface="Times New Roman" pitchFamily="18" charset="0"/>
                <a:cs typeface="Times New Roman" pitchFamily="18" charset="0"/>
              </a:rPr>
              <a:t>Blood Group </a:t>
            </a:r>
          </a:p>
          <a:p>
            <a:pPr lvl="1"/>
            <a:r>
              <a:rPr lang="en-US" dirty="0">
                <a:latin typeface="Times New Roman" pitchFamily="18" charset="0"/>
                <a:cs typeface="Times New Roman" pitchFamily="18" charset="0"/>
              </a:rPr>
              <a:t>Department </a:t>
            </a:r>
          </a:p>
          <a:p>
            <a:pPr marL="46037" indent="0">
              <a:buNone/>
            </a:pPr>
            <a:r>
              <a:rPr lang="en-US" b="1" dirty="0">
                <a:latin typeface="Times New Roman" pitchFamily="18" charset="0"/>
                <a:cs typeface="Times New Roman" pitchFamily="18" charset="0"/>
              </a:rPr>
              <a:t>Ordinal</a:t>
            </a:r>
          </a:p>
          <a:p>
            <a:pPr marL="46037" indent="0">
              <a:buNone/>
            </a:pPr>
            <a:r>
              <a:rPr lang="en-US" dirty="0">
                <a:latin typeface="Times New Roman" pitchFamily="18" charset="0"/>
                <a:cs typeface="Times New Roman" pitchFamily="18" charset="0"/>
              </a:rPr>
              <a:t>Examples:</a:t>
            </a:r>
          </a:p>
          <a:p>
            <a:pPr lvl="1"/>
            <a:r>
              <a:rPr lang="en-US" dirty="0">
                <a:latin typeface="Times New Roman" pitchFamily="18" charset="0"/>
                <a:cs typeface="Times New Roman" pitchFamily="18" charset="0"/>
              </a:rPr>
              <a:t>Satisfaction Level </a:t>
            </a:r>
          </a:p>
          <a:p>
            <a:pPr lvl="1"/>
            <a:r>
              <a:rPr lang="en-US" dirty="0">
                <a:latin typeface="Times New Roman" pitchFamily="18" charset="0"/>
                <a:cs typeface="Times New Roman" pitchFamily="18" charset="0"/>
              </a:rPr>
              <a:t>Education Level </a:t>
            </a:r>
          </a:p>
          <a:p>
            <a:pPr lvl="1"/>
            <a:r>
              <a:rPr lang="en-US" dirty="0">
                <a:latin typeface="Times New Roman" pitchFamily="18" charset="0"/>
                <a:cs typeface="Times New Roman" pitchFamily="18" charset="0"/>
              </a:rPr>
              <a:t>Product Ratings</a:t>
            </a:r>
          </a:p>
          <a:p>
            <a:pPr marL="46037"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 Types of Variables</a:t>
            </a:r>
          </a:p>
        </p:txBody>
      </p:sp>
      <p:sp>
        <p:nvSpPr>
          <p:cNvPr id="3" name="Rectangle 2"/>
          <p:cNvSpPr/>
          <p:nvPr/>
        </p:nvSpPr>
        <p:spPr>
          <a:xfrm>
            <a:off x="4060370" y="2063153"/>
            <a:ext cx="3793673" cy="3785652"/>
          </a:xfrm>
          <a:prstGeom prst="rect">
            <a:avLst/>
          </a:prstGeom>
        </p:spPr>
        <p:txBody>
          <a:bodyPr wrap="square">
            <a:spAutoFit/>
          </a:bodyPr>
          <a:lstStyle/>
          <a:p>
            <a:r>
              <a:rPr lang="en-US" sz="2000" b="1" dirty="0">
                <a:latin typeface="Times New Roman" pitchFamily="18" charset="0"/>
                <a:cs typeface="Times New Roman" pitchFamily="18" charset="0"/>
              </a:rPr>
              <a:t>Numerical Variables</a:t>
            </a:r>
          </a:p>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Discrete</a:t>
            </a:r>
          </a:p>
          <a:p>
            <a:r>
              <a:rPr lang="en-US" sz="2000" dirty="0">
                <a:latin typeface="Times New Roman" pitchFamily="18" charset="0"/>
                <a:cs typeface="Times New Roman" pitchFamily="18" charset="0"/>
              </a:rPr>
              <a:t>Examples:</a:t>
            </a:r>
          </a:p>
          <a:p>
            <a:pPr marL="800100" lvl="1" indent="-342900">
              <a:buFont typeface="Arial" pitchFamily="34" charset="0"/>
              <a:buChar char="•"/>
            </a:pPr>
            <a:r>
              <a:rPr lang="en-US" sz="2000" dirty="0">
                <a:latin typeface="Times New Roman" pitchFamily="18" charset="0"/>
                <a:cs typeface="Times New Roman" pitchFamily="18" charset="0"/>
              </a:rPr>
              <a:t>Number of students </a:t>
            </a:r>
          </a:p>
          <a:p>
            <a:pPr marL="800100" lvl="1" indent="-342900">
              <a:buFont typeface="Arial" pitchFamily="34" charset="0"/>
              <a:buChar char="•"/>
            </a:pPr>
            <a:r>
              <a:rPr lang="en-US" sz="2000" dirty="0">
                <a:latin typeface="Times New Roman" pitchFamily="18" charset="0"/>
                <a:cs typeface="Times New Roman" pitchFamily="18" charset="0"/>
              </a:rPr>
              <a:t>Number of courses </a:t>
            </a:r>
          </a:p>
          <a:p>
            <a:endParaRPr lang="en-US" sz="2000" b="1" dirty="0">
              <a:latin typeface="Times New Roman" pitchFamily="18" charset="0"/>
              <a:cs typeface="Times New Roman" pitchFamily="18" charset="0"/>
            </a:endParaRPr>
          </a:p>
          <a:p>
            <a:r>
              <a:rPr lang="en-US" sz="2000" b="1" dirty="0">
                <a:latin typeface="Times New Roman" pitchFamily="18" charset="0"/>
                <a:cs typeface="Times New Roman" pitchFamily="18" charset="0"/>
              </a:rPr>
              <a:t>Continuous</a:t>
            </a:r>
          </a:p>
          <a:p>
            <a:r>
              <a:rPr lang="en-US" sz="2000" dirty="0">
                <a:latin typeface="Times New Roman" pitchFamily="18" charset="0"/>
                <a:cs typeface="Times New Roman" pitchFamily="18" charset="0"/>
              </a:rPr>
              <a:t>Examples:</a:t>
            </a:r>
          </a:p>
          <a:p>
            <a:pPr marL="800100" lvl="1" indent="-342900">
              <a:buFont typeface="Arial" pitchFamily="34" charset="0"/>
              <a:buChar char="•"/>
            </a:pPr>
            <a:r>
              <a:rPr lang="en-US" sz="2000" dirty="0">
                <a:latin typeface="Times New Roman" pitchFamily="18" charset="0"/>
                <a:cs typeface="Times New Roman" pitchFamily="18" charset="0"/>
              </a:rPr>
              <a:t>Height </a:t>
            </a:r>
          </a:p>
          <a:p>
            <a:pPr marL="800100" lvl="1" indent="-342900">
              <a:buFont typeface="Arial" pitchFamily="34" charset="0"/>
              <a:buChar char="•"/>
            </a:pPr>
            <a:r>
              <a:rPr lang="en-US" sz="2000" dirty="0">
                <a:latin typeface="Times New Roman" pitchFamily="18" charset="0"/>
                <a:cs typeface="Times New Roman" pitchFamily="18" charset="0"/>
              </a:rPr>
              <a:t>Weight </a:t>
            </a:r>
          </a:p>
          <a:p>
            <a:pPr marL="800100" lvl="1" indent="-342900">
              <a:buFont typeface="Arial" pitchFamily="34" charset="0"/>
              <a:buChar char="•"/>
            </a:pPr>
            <a:r>
              <a:rPr lang="en-US" sz="2000" dirty="0">
                <a:latin typeface="Times New Roman" pitchFamily="18" charset="0"/>
                <a:cs typeface="Times New Roman" pitchFamily="18" charset="0"/>
              </a:rPr>
              <a:t>Income</a:t>
            </a:r>
          </a:p>
        </p:txBody>
      </p:sp>
      <p:graphicFrame>
        <p:nvGraphicFramePr>
          <p:cNvPr id="9" name="Table 8"/>
          <p:cNvGraphicFramePr>
            <a:graphicFrameLocks noGrp="1"/>
          </p:cNvGraphicFramePr>
          <p:nvPr>
            <p:extLst>
              <p:ext uri="{D42A27DB-BD31-4B8C-83A1-F6EECF244321}">
                <p14:modId xmlns:p14="http://schemas.microsoft.com/office/powerpoint/2010/main" val="2961018461"/>
              </p:ext>
            </p:extLst>
          </p:nvPr>
        </p:nvGraphicFramePr>
        <p:xfrm>
          <a:off x="8156820" y="3366407"/>
          <a:ext cx="2274190" cy="1828800"/>
        </p:xfrm>
        <a:graphic>
          <a:graphicData uri="http://schemas.openxmlformats.org/drawingml/2006/table">
            <a:tbl>
              <a:tblPr>
                <a:tableStyleId>{3C2FFA5D-87B4-456A-9821-1D502468CF0F}</a:tableStyleId>
              </a:tblPr>
              <a:tblGrid>
                <a:gridCol w="1499172">
                  <a:extLst>
                    <a:ext uri="{9D8B030D-6E8A-4147-A177-3AD203B41FA5}">
                      <a16:colId xmlns:a16="http://schemas.microsoft.com/office/drawing/2014/main" val="20000"/>
                    </a:ext>
                  </a:extLst>
                </a:gridCol>
                <a:gridCol w="775018">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Variable</a:t>
                      </a:r>
                    </a:p>
                  </a:txBody>
                  <a:tcPr anchor="ctr"/>
                </a:tc>
                <a:tc>
                  <a:txBody>
                    <a:bodyPr/>
                    <a:lstStyle/>
                    <a:p>
                      <a:r>
                        <a:rPr lang="en-US" sz="1800" b="1" dirty="0">
                          <a:latin typeface="Times New Roman" pitchFamily="18" charset="0"/>
                          <a:cs typeface="Times New Roman" pitchFamily="18" charset="0"/>
                        </a:rPr>
                        <a:t>Type</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Age</a:t>
                      </a:r>
                    </a:p>
                  </a:txBody>
                  <a:tcPr anchor="ctr"/>
                </a:tc>
                <a:tc>
                  <a:txBody>
                    <a:bodyPr/>
                    <a:lstStyle/>
                    <a:p>
                      <a:r>
                        <a:rPr lang="en-US" sz="1800">
                          <a:latin typeface="Times New Roman" pitchFamily="18" charset="0"/>
                          <a:cs typeface="Times New Roman" pitchFamily="18" charset="0"/>
                        </a:rPr>
                        <a:t>?</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CGPA</a:t>
                      </a:r>
                    </a:p>
                  </a:txBody>
                  <a:tcPr anchor="ctr"/>
                </a:tc>
                <a:tc>
                  <a:txBody>
                    <a:bodyPr/>
                    <a:lstStyle/>
                    <a:p>
                      <a:r>
                        <a:rPr lang="en-US" sz="1800">
                          <a:latin typeface="Times New Roman" pitchFamily="18" charset="0"/>
                          <a:cs typeface="Times New Roman" pitchFamily="18" charset="0"/>
                        </a:rPr>
                        <a:t>?</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Department</a:t>
                      </a:r>
                    </a:p>
                  </a:txBody>
                  <a:tcPr anchor="ctr"/>
                </a:tc>
                <a:tc>
                  <a:txBody>
                    <a:bodyPr/>
                    <a:lstStyle/>
                    <a:p>
                      <a:r>
                        <a:rPr lang="en-US" sz="1800">
                          <a:latin typeface="Times New Roman" pitchFamily="18" charset="0"/>
                          <a:cs typeface="Times New Roman" pitchFamily="18" charset="0"/>
                        </a:rPr>
                        <a:t>?</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Rating (1–5)</a:t>
                      </a:r>
                    </a:p>
                  </a:txBody>
                  <a:tcPr anchor="ctr"/>
                </a:tc>
                <a:tc>
                  <a:txBody>
                    <a:bodyPr/>
                    <a:lstStyle/>
                    <a:p>
                      <a:r>
                        <a:rPr lang="en-US" sz="1800" dirty="0">
                          <a:latin typeface="Times New Roman" pitchFamily="18" charset="0"/>
                          <a:cs typeface="Times New Roman" pitchFamily="18" charset="0"/>
                        </a:rPr>
                        <a:t>?</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49948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12</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fontScale="77500" lnSpcReduction="2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Observation</a:t>
            </a:r>
          </a:p>
          <a:p>
            <a:pPr marL="46037" indent="0">
              <a:buNone/>
            </a:pPr>
            <a:r>
              <a:rPr lang="en-US" dirty="0">
                <a:latin typeface="Times New Roman" pitchFamily="18" charset="0"/>
                <a:cs typeface="Times New Roman" pitchFamily="18" charset="0"/>
              </a:rPr>
              <a:t>A row</a:t>
            </a:r>
          </a:p>
          <a:p>
            <a:pPr marL="46037" indent="0">
              <a:buNone/>
            </a:pPr>
            <a:r>
              <a:rPr lang="en-US" b="1" dirty="0">
                <a:latin typeface="Times New Roman" pitchFamily="18" charset="0"/>
                <a:cs typeface="Times New Roman" pitchFamily="18" charset="0"/>
              </a:rPr>
              <a:t>Feature / Attribute</a:t>
            </a:r>
          </a:p>
          <a:p>
            <a:pPr marL="46037" indent="0">
              <a:buNone/>
            </a:pPr>
            <a:r>
              <a:rPr lang="en-US" dirty="0">
                <a:latin typeface="Times New Roman" pitchFamily="18" charset="0"/>
                <a:cs typeface="Times New Roman" pitchFamily="18" charset="0"/>
              </a:rPr>
              <a:t>An input column</a:t>
            </a:r>
          </a:p>
          <a:p>
            <a:pPr marL="46037" indent="0">
              <a:buNone/>
            </a:pPr>
            <a:r>
              <a:rPr lang="en-US" dirty="0">
                <a:latin typeface="Times New Roman" pitchFamily="18" charset="0"/>
                <a:cs typeface="Times New Roman" pitchFamily="18" charset="0"/>
              </a:rPr>
              <a:t>Examples:</a:t>
            </a:r>
          </a:p>
          <a:p>
            <a:pPr lvl="1"/>
            <a:r>
              <a:rPr lang="en-US" dirty="0">
                <a:latin typeface="Times New Roman" pitchFamily="18" charset="0"/>
                <a:cs typeface="Times New Roman" pitchFamily="18" charset="0"/>
              </a:rPr>
              <a:t>Age </a:t>
            </a:r>
          </a:p>
          <a:p>
            <a:pPr lvl="1"/>
            <a:r>
              <a:rPr lang="en-US" dirty="0">
                <a:latin typeface="Times New Roman" pitchFamily="18" charset="0"/>
                <a:cs typeface="Times New Roman" pitchFamily="18" charset="0"/>
              </a:rPr>
              <a:t>CGPA </a:t>
            </a:r>
          </a:p>
          <a:p>
            <a:pPr marL="46037" indent="0">
              <a:buNone/>
            </a:pPr>
            <a:r>
              <a:rPr lang="en-US" b="1" dirty="0">
                <a:latin typeface="Times New Roman" pitchFamily="18" charset="0"/>
                <a:cs typeface="Times New Roman" pitchFamily="18" charset="0"/>
              </a:rPr>
              <a:t>Label / Target</a:t>
            </a:r>
          </a:p>
          <a:p>
            <a:pPr marL="46037" indent="0">
              <a:buNone/>
            </a:pPr>
            <a:r>
              <a:rPr lang="en-US" dirty="0">
                <a:latin typeface="Times New Roman" pitchFamily="18" charset="0"/>
                <a:cs typeface="Times New Roman" pitchFamily="18" charset="0"/>
              </a:rPr>
              <a:t>Output variable</a:t>
            </a:r>
          </a:p>
          <a:p>
            <a:pPr marL="46037" indent="0">
              <a:buNone/>
            </a:pPr>
            <a:r>
              <a:rPr lang="en-US" dirty="0">
                <a:latin typeface="Times New Roman" pitchFamily="18" charset="0"/>
                <a:cs typeface="Times New Roman" pitchFamily="18" charset="0"/>
              </a:rPr>
              <a:t>Example: Pass </a:t>
            </a:r>
          </a:p>
          <a:p>
            <a:pPr marL="46037" indent="0">
              <a:buNone/>
            </a:pPr>
            <a:r>
              <a:rPr lang="en-US" b="1" dirty="0">
                <a:latin typeface="Times New Roman" pitchFamily="18" charset="0"/>
                <a:cs typeface="Times New Roman" pitchFamily="18" charset="0"/>
              </a:rPr>
              <a:t>Dataset Dimensions</a:t>
            </a:r>
          </a:p>
          <a:p>
            <a:pPr marL="46037" indent="0">
              <a:buNone/>
            </a:pPr>
            <a:r>
              <a:rPr lang="en-US" dirty="0">
                <a:latin typeface="Times New Roman" pitchFamily="18" charset="0"/>
                <a:cs typeface="Times New Roman" pitchFamily="18" charset="0"/>
              </a:rPr>
              <a:t>Rows × Columns</a:t>
            </a:r>
          </a:p>
          <a:p>
            <a:pPr marL="46037" indent="0">
              <a:buNone/>
            </a:pPr>
            <a:r>
              <a:rPr lang="en-US" dirty="0">
                <a:latin typeface="Times New Roman" pitchFamily="18" charset="0"/>
                <a:cs typeface="Times New Roman" pitchFamily="18" charset="0"/>
              </a:rPr>
              <a:t>Example: 1000 × 20</a:t>
            </a: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Understanding Datasets</a:t>
            </a:r>
          </a:p>
        </p:txBody>
      </p:sp>
      <p:graphicFrame>
        <p:nvGraphicFramePr>
          <p:cNvPr id="4" name="Table 3"/>
          <p:cNvGraphicFramePr>
            <a:graphicFrameLocks noGrp="1"/>
          </p:cNvGraphicFramePr>
          <p:nvPr>
            <p:extLst>
              <p:ext uri="{D42A27DB-BD31-4B8C-83A1-F6EECF244321}">
                <p14:modId xmlns:p14="http://schemas.microsoft.com/office/powerpoint/2010/main" val="1509436291"/>
              </p:ext>
            </p:extLst>
          </p:nvPr>
        </p:nvGraphicFramePr>
        <p:xfrm>
          <a:off x="6080919" y="2629988"/>
          <a:ext cx="2577465" cy="1097280"/>
        </p:xfrm>
        <a:graphic>
          <a:graphicData uri="http://schemas.openxmlformats.org/drawingml/2006/table">
            <a:tbl>
              <a:tblPr>
                <a:tableStyleId>{3C2FFA5D-87B4-456A-9821-1D502468CF0F}</a:tableStyleId>
              </a:tblPr>
              <a:tblGrid>
                <a:gridCol w="481330">
                  <a:extLst>
                    <a:ext uri="{9D8B030D-6E8A-4147-A177-3AD203B41FA5}">
                      <a16:colId xmlns:a16="http://schemas.microsoft.com/office/drawing/2014/main" val="20000"/>
                    </a:ext>
                  </a:extLst>
                </a:gridCol>
                <a:gridCol w="621030">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tblGrid>
              <a:tr h="365760">
                <a:tc>
                  <a:txBody>
                    <a:bodyPr/>
                    <a:lstStyle/>
                    <a:p>
                      <a:r>
                        <a:rPr lang="en-US" sz="1800" b="1">
                          <a:latin typeface="Times New Roman" pitchFamily="18" charset="0"/>
                          <a:cs typeface="Times New Roman" pitchFamily="18" charset="0"/>
                        </a:rPr>
                        <a:t>ID</a:t>
                      </a:r>
                    </a:p>
                  </a:txBody>
                  <a:tcPr anchor="ctr"/>
                </a:tc>
                <a:tc>
                  <a:txBody>
                    <a:bodyPr/>
                    <a:lstStyle/>
                    <a:p>
                      <a:r>
                        <a:rPr lang="en-US" sz="1800" b="1">
                          <a:latin typeface="Times New Roman" pitchFamily="18" charset="0"/>
                          <a:cs typeface="Times New Roman" pitchFamily="18" charset="0"/>
                        </a:rPr>
                        <a:t>Age</a:t>
                      </a:r>
                    </a:p>
                  </a:txBody>
                  <a:tcPr anchor="ctr"/>
                </a:tc>
                <a:tc>
                  <a:txBody>
                    <a:bodyPr/>
                    <a:lstStyle/>
                    <a:p>
                      <a:r>
                        <a:rPr lang="en-US" sz="1800" b="1">
                          <a:latin typeface="Times New Roman" pitchFamily="18" charset="0"/>
                          <a:cs typeface="Times New Roman" pitchFamily="18" charset="0"/>
                        </a:rPr>
                        <a:t>CGPA</a:t>
                      </a:r>
                    </a:p>
                  </a:txBody>
                  <a:tcPr anchor="ctr"/>
                </a:tc>
                <a:tc>
                  <a:txBody>
                    <a:bodyPr/>
                    <a:lstStyle/>
                    <a:p>
                      <a:r>
                        <a:rPr lang="en-US" sz="1800" b="1" dirty="0">
                          <a:latin typeface="Times New Roman" pitchFamily="18" charset="0"/>
                          <a:cs typeface="Times New Roman" pitchFamily="18" charset="0"/>
                        </a:rPr>
                        <a:t>Pass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a:t>
                      </a:r>
                    </a:p>
                  </a:txBody>
                  <a:tcPr anchor="ctr"/>
                </a:tc>
                <a:tc>
                  <a:txBody>
                    <a:bodyPr/>
                    <a:lstStyle/>
                    <a:p>
                      <a:r>
                        <a:rPr lang="en-US" sz="1800">
                          <a:latin typeface="Times New Roman" pitchFamily="18" charset="0"/>
                          <a:cs typeface="Times New Roman" pitchFamily="18" charset="0"/>
                        </a:rPr>
                        <a:t>20</a:t>
                      </a:r>
                    </a:p>
                  </a:txBody>
                  <a:tcPr anchor="ctr"/>
                </a:tc>
                <a:tc>
                  <a:txBody>
                    <a:bodyPr/>
                    <a:lstStyle/>
                    <a:p>
                      <a:r>
                        <a:rPr lang="en-US" sz="1800">
                          <a:latin typeface="Times New Roman" pitchFamily="18" charset="0"/>
                          <a:cs typeface="Times New Roman" pitchFamily="18" charset="0"/>
                        </a:rPr>
                        <a:t>3.5</a:t>
                      </a:r>
                    </a:p>
                  </a:txBody>
                  <a:tcPr anchor="ctr"/>
                </a:tc>
                <a:tc>
                  <a:txBody>
                    <a:bodyPr/>
                    <a:lstStyle/>
                    <a:p>
                      <a:r>
                        <a:rPr lang="en-US" sz="1800">
                          <a:latin typeface="Times New Roman" pitchFamily="18" charset="0"/>
                          <a:cs typeface="Times New Roman" pitchFamily="18" charset="0"/>
                        </a:rPr>
                        <a:t>Yes</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2</a:t>
                      </a:r>
                    </a:p>
                  </a:txBody>
                  <a:tcPr anchor="ctr"/>
                </a:tc>
                <a:tc>
                  <a:txBody>
                    <a:bodyPr/>
                    <a:lstStyle/>
                    <a:p>
                      <a:r>
                        <a:rPr lang="en-US" sz="1800">
                          <a:latin typeface="Times New Roman" pitchFamily="18" charset="0"/>
                          <a:cs typeface="Times New Roman" pitchFamily="18" charset="0"/>
                        </a:rPr>
                        <a:t>21</a:t>
                      </a:r>
                    </a:p>
                  </a:txBody>
                  <a:tcPr anchor="ctr"/>
                </a:tc>
                <a:tc>
                  <a:txBody>
                    <a:bodyPr/>
                    <a:lstStyle/>
                    <a:p>
                      <a:r>
                        <a:rPr lang="en-US" sz="1800">
                          <a:latin typeface="Times New Roman" pitchFamily="18" charset="0"/>
                          <a:cs typeface="Times New Roman" pitchFamily="18" charset="0"/>
                        </a:rPr>
                        <a:t>3.2</a:t>
                      </a:r>
                    </a:p>
                  </a:txBody>
                  <a:tcPr anchor="ctr"/>
                </a:tc>
                <a:tc>
                  <a:txBody>
                    <a:bodyPr/>
                    <a:lstStyle/>
                    <a:p>
                      <a:r>
                        <a:rPr lang="en-US" sz="1800" dirty="0">
                          <a:latin typeface="Times New Roman" pitchFamily="18" charset="0"/>
                          <a:cs typeface="Times New Roman" pitchFamily="18" charset="0"/>
                        </a:rPr>
                        <a:t>No</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96518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1DDC0F6-81F6-4F00-8B59-D73436E3555A}" type="slidenum">
              <a:rPr lang="en-US" altLang="en-US" smtClean="0"/>
              <a:pPr/>
              <a:t>13</a:t>
            </a:fld>
            <a:endParaRPr lang="en-US" altLang="en-US"/>
          </a:p>
        </p:txBody>
      </p:sp>
      <p:sp>
        <p:nvSpPr>
          <p:cNvPr id="5"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dirty="0">
                <a:latin typeface="Times New Roman" pitchFamily="18" charset="0"/>
                <a:cs typeface="Times New Roman" pitchFamily="18" charset="0"/>
              </a:rPr>
              <a:t>Population: All AIUB students</a:t>
            </a:r>
          </a:p>
          <a:p>
            <a:pPr marL="46037" indent="0">
              <a:buNone/>
            </a:pPr>
            <a:r>
              <a:rPr lang="en-US" dirty="0">
                <a:latin typeface="Times New Roman" pitchFamily="18" charset="0"/>
                <a:cs typeface="Times New Roman" pitchFamily="18" charset="0"/>
              </a:rPr>
              <a:t>Sample: 500 selected students</a:t>
            </a:r>
          </a:p>
          <a:p>
            <a:pPr marL="46037" indent="0">
              <a:buNone/>
            </a:pPr>
            <a:endParaRPr lang="en-US" dirty="0">
              <a:latin typeface="Times New Roman" pitchFamily="18" charset="0"/>
              <a:cs typeface="Times New Roman" pitchFamily="18" charset="0"/>
            </a:endParaRPr>
          </a:p>
          <a:p>
            <a:pPr marL="46037" indent="0">
              <a:buNone/>
            </a:pPr>
            <a:r>
              <a:rPr lang="en-US" b="1" dirty="0">
                <a:latin typeface="Times New Roman" pitchFamily="18" charset="0"/>
                <a:cs typeface="Times New Roman" pitchFamily="18" charset="0"/>
              </a:rPr>
              <a:t>Why Sampling?</a:t>
            </a:r>
          </a:p>
          <a:p>
            <a:pPr lvl="1"/>
            <a:r>
              <a:rPr lang="en-US" dirty="0">
                <a:latin typeface="Times New Roman" pitchFamily="18" charset="0"/>
                <a:cs typeface="Times New Roman" pitchFamily="18" charset="0"/>
              </a:rPr>
              <a:t>Cost</a:t>
            </a:r>
          </a:p>
          <a:p>
            <a:pPr lvl="1"/>
            <a:r>
              <a:rPr lang="en-US" dirty="0">
                <a:latin typeface="Times New Roman" pitchFamily="18" charset="0"/>
                <a:cs typeface="Times New Roman" pitchFamily="18" charset="0"/>
              </a:rPr>
              <a:t>Time</a:t>
            </a:r>
          </a:p>
          <a:p>
            <a:pPr lvl="1"/>
            <a:r>
              <a:rPr lang="en-US" dirty="0">
                <a:latin typeface="Times New Roman" pitchFamily="18" charset="0"/>
                <a:cs typeface="Times New Roman" pitchFamily="18" charset="0"/>
              </a:rPr>
              <a:t>Practicality</a:t>
            </a:r>
          </a:p>
          <a:p>
            <a:pPr lvl="1"/>
            <a:endParaRPr lang="en-US" dirty="0">
              <a:latin typeface="Times New Roman" pitchFamily="18" charset="0"/>
              <a:cs typeface="Times New Roman" pitchFamily="18" charset="0"/>
            </a:endParaRPr>
          </a:p>
          <a:p>
            <a:pPr marL="274637" lvl="1" indent="0">
              <a:buNone/>
            </a:pPr>
            <a:r>
              <a:rPr lang="en-US" dirty="0">
                <a:solidFill>
                  <a:srgbClr val="FF0000"/>
                </a:solidFill>
                <a:latin typeface="Times New Roman" pitchFamily="18" charset="0"/>
                <a:cs typeface="Times New Roman" pitchFamily="18" charset="0"/>
              </a:rPr>
              <a:t>Can conclusions from a sample be trusted? Lead into statistical thinking.</a:t>
            </a:r>
          </a:p>
          <a:p>
            <a:pPr marL="274637" lvl="1" indent="0">
              <a:buNone/>
            </a:pPr>
            <a:endParaRPr lang="en-US" dirty="0">
              <a:latin typeface="Times New Roman" pitchFamily="18" charset="0"/>
              <a:cs typeface="Times New Roman" pitchFamily="18" charset="0"/>
            </a:endParaRPr>
          </a:p>
        </p:txBody>
      </p:sp>
      <p:sp>
        <p:nvSpPr>
          <p:cNvPr id="6" name="Title 1"/>
          <p:cNvSpPr txBox="1">
            <a:spLocks/>
          </p:cNvSpPr>
          <p:nvPr/>
        </p:nvSpPr>
        <p:spPr>
          <a:xfrm>
            <a:off x="1143000" y="346075"/>
            <a:ext cx="9875838" cy="1309688"/>
          </a:xfrm>
          <a:prstGeom prst="rect">
            <a:avLst/>
          </a:prstGeom>
        </p:spPr>
        <p:txBody>
          <a:bodyPr rtlCol="0">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endParaRPr lang="en-US" altLang="en-US" sz="3200" b="1" dirty="0">
              <a:solidFill>
                <a:schemeClr val="tx1">
                  <a:lumMod val="95000"/>
                  <a:lumOff val="5000"/>
                </a:schemeClr>
              </a:solidFill>
              <a:latin typeface="Calibri" panose="020F0502020204030204" pitchFamily="34" charset="0"/>
              <a:cs typeface="Calibri" panose="020F0502020204030204" pitchFamily="34" charset="0"/>
            </a:endParaRPr>
          </a:p>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Population </a:t>
            </a:r>
            <a:r>
              <a:rPr lang="en-US" altLang="en-US" sz="3200" b="1" dirty="0" err="1">
                <a:solidFill>
                  <a:schemeClr val="tx1">
                    <a:lumMod val="95000"/>
                    <a:lumOff val="5000"/>
                  </a:schemeClr>
                </a:solidFill>
                <a:latin typeface="Calibri" panose="020F0502020204030204" pitchFamily="34" charset="0"/>
                <a:cs typeface="Calibri" panose="020F0502020204030204" pitchFamily="34" charset="0"/>
              </a:rPr>
              <a:t>vs</a:t>
            </a: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 Sample</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7095" y="1959995"/>
            <a:ext cx="145732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74069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a:t>
            </a:r>
          </a:p>
        </p:txBody>
      </p:sp>
      <p:sp>
        <p:nvSpPr>
          <p:cNvPr id="4099" name="Content Placeholder 2"/>
          <p:cNvSpPr>
            <a:spLocks noGrp="1"/>
          </p:cNvSpPr>
          <p:nvPr>
            <p:ph idx="1"/>
          </p:nvPr>
        </p:nvSpPr>
        <p:spPr>
          <a:xfrm>
            <a:off x="1143000" y="1655763"/>
            <a:ext cx="9872663" cy="4440237"/>
          </a:xfrm>
        </p:spPr>
        <p:txBody>
          <a:bodyPr rtlCol="0">
            <a:normAutofit/>
          </a:bodyPr>
          <a:lstStyle/>
          <a:p>
            <a:pPr marL="82296" lvl="1" indent="0" eaLnBrk="1" fontAlgn="auto" hangingPunct="1">
              <a:lnSpc>
                <a:spcPct val="150000"/>
              </a:lnSpc>
              <a:buClr>
                <a:srgbClr val="0F6FC6">
                  <a:lumMod val="75000"/>
                </a:srgbClr>
              </a:buClr>
              <a:buNone/>
              <a:defRPr/>
            </a:pPr>
            <a:r>
              <a:rPr lang="en-US" altLang="en-US" sz="2400" dirty="0">
                <a:solidFill>
                  <a:srgbClr val="FF0000"/>
                </a:solidFill>
                <a:latin typeface="Times New Roman" panose="02020603050405020304" pitchFamily="18" charset="0"/>
                <a:cs typeface="Times New Roman" panose="02020603050405020304" pitchFamily="18" charset="0"/>
              </a:rPr>
              <a:t>Descriptive statistics </a:t>
            </a:r>
            <a:r>
              <a:rPr lang="en-US" altLang="en-US" sz="2400" dirty="0">
                <a:latin typeface="Times New Roman" panose="02020603050405020304" pitchFamily="18" charset="0"/>
                <a:cs typeface="Times New Roman" panose="02020603050405020304" pitchFamily="18" charset="0"/>
              </a:rPr>
              <a:t>is the process of condensing key characteristics of the dataset into simple numeric metrics. Some of the common quantitative metrics used are mean, standard deviation, and correlation. </a:t>
            </a:r>
          </a:p>
          <a:p>
            <a:pPr marL="82296" lvl="1" indent="0" eaLnBrk="1" fontAlgn="auto" hangingPunct="1">
              <a:lnSpc>
                <a:spcPct val="150000"/>
              </a:lnSpc>
              <a:buClr>
                <a:srgbClr val="0F6FC6">
                  <a:lumMod val="75000"/>
                </a:srgbClr>
              </a:buClr>
              <a:buNone/>
              <a:defRPr/>
            </a:pPr>
            <a:endParaRPr lang="en-US" altLang="en-US" sz="2400" dirty="0">
              <a:latin typeface="Times New Roman" panose="02020603050405020304" pitchFamily="18" charset="0"/>
              <a:cs typeface="Times New Roman" panose="02020603050405020304" pitchFamily="18" charset="0"/>
            </a:endParaRPr>
          </a:p>
          <a:p>
            <a:pPr marL="82296" lvl="1" indent="0" eaLnBrk="1" fontAlgn="auto" hangingPunct="1">
              <a:lnSpc>
                <a:spcPct val="150000"/>
              </a:lnSpc>
              <a:buClr>
                <a:srgbClr val="0F6FC6">
                  <a:lumMod val="75000"/>
                </a:srgbClr>
              </a:buClr>
              <a:buFont typeface="Corbel" panose="020B0503020204020204" pitchFamily="34" charset="0"/>
              <a:buNone/>
              <a:defRPr/>
            </a:pPr>
            <a:r>
              <a:rPr lang="en-US" altLang="en-US" sz="2400" dirty="0">
                <a:latin typeface="Times New Roman" panose="02020603050405020304" pitchFamily="18" charset="0"/>
                <a:cs typeface="Times New Roman" panose="02020603050405020304" pitchFamily="18" charset="0"/>
              </a:rPr>
              <a:t>Descriptive statistics can be broadly classified into </a:t>
            </a:r>
          </a:p>
          <a:p>
            <a:pPr marL="425196" lvl="1" indent="-342900" eaLnBrk="1" fontAlgn="auto" hangingPunct="1">
              <a:lnSpc>
                <a:spcPct val="150000"/>
              </a:lnSpc>
              <a:buClr>
                <a:srgbClr val="0F6FC6">
                  <a:lumMod val="75000"/>
                </a:srgbClr>
              </a:buClr>
              <a:defRPr/>
            </a:pPr>
            <a:r>
              <a:rPr lang="en-US" altLang="en-US" sz="2400" dirty="0" err="1">
                <a:latin typeface="Times New Roman" panose="02020603050405020304" pitchFamily="18" charset="0"/>
                <a:cs typeface="Times New Roman" panose="02020603050405020304" pitchFamily="18" charset="0"/>
              </a:rPr>
              <a:t>Univariate</a:t>
            </a:r>
            <a:r>
              <a:rPr lang="en-US" altLang="en-US" sz="2400" dirty="0">
                <a:latin typeface="Times New Roman" panose="02020603050405020304" pitchFamily="18" charset="0"/>
                <a:cs typeface="Times New Roman" panose="02020603050405020304" pitchFamily="18" charset="0"/>
              </a:rPr>
              <a:t> Exploration: Involves one variable</a:t>
            </a:r>
          </a:p>
          <a:p>
            <a:pPr marL="425196" lvl="1" indent="-342900" eaLnBrk="1" fontAlgn="auto" hangingPunct="1">
              <a:lnSpc>
                <a:spcPct val="150000"/>
              </a:lnSpc>
              <a:buClr>
                <a:srgbClr val="0F6FC6">
                  <a:lumMod val="75000"/>
                </a:srgbClr>
              </a:buClr>
              <a:defRPr/>
            </a:pPr>
            <a:r>
              <a:rPr lang="en-US" altLang="en-US" sz="2400" dirty="0">
                <a:latin typeface="Times New Roman" panose="02020603050405020304" pitchFamily="18" charset="0"/>
                <a:cs typeface="Times New Roman" panose="02020603050405020304" pitchFamily="18" charset="0"/>
              </a:rPr>
              <a:t>Multivariate Exploration: Involves more than one variable</a:t>
            </a:r>
          </a:p>
          <a:p>
            <a:pPr marL="82296" lvl="1" indent="0" eaLnBrk="1" fontAlgn="auto" hangingPunct="1">
              <a:buClr>
                <a:srgbClr val="0F6FC6">
                  <a:lumMod val="75000"/>
                </a:srgbClr>
              </a:buClr>
              <a:buFont typeface="Corbel" panose="020B0503020204020204" pitchFamily="34" charset="0"/>
              <a:buNone/>
              <a:defRPr/>
            </a:pPr>
            <a:endParaRPr lang="en-US" altLang="en-US" sz="2400" dirty="0">
              <a:latin typeface="Times New Roman" panose="02020603050405020304" pitchFamily="18" charset="0"/>
              <a:cs typeface="Times New Roman" panose="02020603050405020304" pitchFamily="18" charset="0"/>
            </a:endParaRPr>
          </a:p>
        </p:txBody>
      </p:sp>
      <p:sp>
        <p:nvSpPr>
          <p:cNvPr id="6148"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511A1C-B129-4CDB-BF5B-1B14F6409E80}" type="slidenum">
              <a:rPr lang="en-US" altLang="en-US"/>
              <a:pPr/>
              <a:t>14</a:t>
            </a:fld>
            <a:endParaRPr lang="en-US" altLang="en-US"/>
          </a:p>
        </p:txBody>
      </p:sp>
    </p:spTree>
    <p:extLst>
      <p:ext uri="{BB962C8B-B14F-4D97-AF65-F5344CB8AC3E}">
        <p14:creationId xmlns:p14="http://schemas.microsoft.com/office/powerpoint/2010/main" val="3703003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Measures of Central Tendency</a:t>
            </a:r>
          </a:p>
        </p:txBody>
      </p:sp>
      <p:sp>
        <p:nvSpPr>
          <p:cNvPr id="71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3F4A81-D1EB-43DF-9729-712C261D9FE6}" type="slidenum">
              <a:rPr lang="en-US" altLang="en-US"/>
              <a:pPr/>
              <a:t>15</a:t>
            </a:fld>
            <a:endParaRPr lang="en-US" altLang="en-US"/>
          </a:p>
        </p:txBody>
      </p:sp>
      <p:sp>
        <p:nvSpPr>
          <p:cNvPr id="9"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What is Central Tendency?</a:t>
            </a:r>
          </a:p>
          <a:p>
            <a:pPr marL="46037" indent="0">
              <a:buNone/>
            </a:pPr>
            <a:r>
              <a:rPr lang="en-US" dirty="0">
                <a:latin typeface="Times New Roman" pitchFamily="18" charset="0"/>
                <a:cs typeface="Times New Roman" pitchFamily="18" charset="0"/>
              </a:rPr>
              <a:t>Measures of Central Tendency describe the </a:t>
            </a:r>
            <a:r>
              <a:rPr lang="en-US" b="1" dirty="0">
                <a:latin typeface="Times New Roman" pitchFamily="18" charset="0"/>
                <a:cs typeface="Times New Roman" pitchFamily="18" charset="0"/>
              </a:rPr>
              <a:t>center</a:t>
            </a:r>
            <a:r>
              <a:rPr lang="en-US" dirty="0">
                <a:latin typeface="Times New Roman" pitchFamily="18" charset="0"/>
                <a:cs typeface="Times New Roman" pitchFamily="18" charset="0"/>
              </a:rPr>
              <a:t> or </a:t>
            </a:r>
            <a:r>
              <a:rPr lang="en-US" b="1" dirty="0">
                <a:latin typeface="Times New Roman" pitchFamily="18" charset="0"/>
                <a:cs typeface="Times New Roman" pitchFamily="18" charset="0"/>
              </a:rPr>
              <a:t>typical value</a:t>
            </a:r>
            <a:r>
              <a:rPr lang="en-US" dirty="0">
                <a:latin typeface="Times New Roman" pitchFamily="18" charset="0"/>
                <a:cs typeface="Times New Roman" pitchFamily="18" charset="0"/>
              </a:rPr>
              <a:t> of a dataset.</a:t>
            </a:r>
          </a:p>
          <a:p>
            <a:pPr marL="46037" indent="0">
              <a:buNone/>
            </a:pPr>
            <a:r>
              <a:rPr lang="en-US" dirty="0">
                <a:latin typeface="Times New Roman" pitchFamily="18" charset="0"/>
                <a:cs typeface="Times New Roman" pitchFamily="18" charset="0"/>
              </a:rPr>
              <a:t>The three most common measures are:</a:t>
            </a:r>
          </a:p>
          <a:p>
            <a:pPr lvl="1"/>
            <a:r>
              <a:rPr lang="en-US" b="1" dirty="0">
                <a:latin typeface="Times New Roman" pitchFamily="18" charset="0"/>
                <a:cs typeface="Times New Roman" pitchFamily="18" charset="0"/>
              </a:rPr>
              <a:t>Mean</a:t>
            </a:r>
            <a:r>
              <a:rPr lang="en-US" dirty="0">
                <a:latin typeface="Times New Roman" pitchFamily="18" charset="0"/>
                <a:cs typeface="Times New Roman" pitchFamily="18" charset="0"/>
              </a:rPr>
              <a:t> (Average) </a:t>
            </a:r>
          </a:p>
          <a:p>
            <a:pPr lvl="1"/>
            <a:r>
              <a:rPr lang="en-US" b="1" dirty="0">
                <a:latin typeface="Times New Roman" pitchFamily="18" charset="0"/>
                <a:cs typeface="Times New Roman" pitchFamily="18" charset="0"/>
              </a:rPr>
              <a:t>Median</a:t>
            </a:r>
            <a:r>
              <a:rPr lang="en-US" dirty="0">
                <a:latin typeface="Times New Roman" pitchFamily="18" charset="0"/>
                <a:cs typeface="Times New Roman" pitchFamily="18" charset="0"/>
              </a:rPr>
              <a:t> (Middle Value) </a:t>
            </a:r>
          </a:p>
          <a:p>
            <a:pPr lvl="1"/>
            <a:r>
              <a:rPr lang="en-US" b="1" dirty="0">
                <a:latin typeface="Times New Roman" pitchFamily="18" charset="0"/>
                <a:cs typeface="Times New Roman" pitchFamily="18" charset="0"/>
              </a:rPr>
              <a:t>Mode</a:t>
            </a:r>
            <a:r>
              <a:rPr lang="en-US" dirty="0">
                <a:latin typeface="Times New Roman" pitchFamily="18" charset="0"/>
                <a:cs typeface="Times New Roman" pitchFamily="18" charset="0"/>
              </a:rPr>
              <a:t> (Most Frequent Value)</a:t>
            </a:r>
          </a:p>
          <a:p>
            <a:pPr lvl="1"/>
            <a:endParaRPr lang="en-US" dirty="0">
              <a:latin typeface="Times New Roman" pitchFamily="18" charset="0"/>
              <a:cs typeface="Times New Roman" pitchFamily="18" charset="0"/>
            </a:endParaRPr>
          </a:p>
          <a:p>
            <a:pPr marL="46037" indent="0">
              <a:buNone/>
            </a:pPr>
            <a:r>
              <a:rPr lang="en-US" b="1" dirty="0">
                <a:latin typeface="Times New Roman" pitchFamily="18" charset="0"/>
                <a:cs typeface="Times New Roman" pitchFamily="18" charset="0"/>
              </a:rPr>
              <a:t>Example Dataset</a:t>
            </a:r>
          </a:p>
          <a:p>
            <a:pPr marL="274637" lvl="1" indent="0">
              <a:buNone/>
            </a:pPr>
            <a:r>
              <a:rPr lang="en-US" dirty="0">
                <a:latin typeface="Times New Roman" pitchFamily="18" charset="0"/>
                <a:cs typeface="Times New Roman" pitchFamily="18" charset="0"/>
              </a:rPr>
              <a:t>Suppose the quiz marks of 7 students are:</a:t>
            </a:r>
          </a:p>
        </p:txBody>
      </p:sp>
      <p:graphicFrame>
        <p:nvGraphicFramePr>
          <p:cNvPr id="6" name="Table 5"/>
          <p:cNvGraphicFramePr>
            <a:graphicFrameLocks noGrp="1"/>
          </p:cNvGraphicFramePr>
          <p:nvPr>
            <p:extLst>
              <p:ext uri="{D42A27DB-BD31-4B8C-83A1-F6EECF244321}">
                <p14:modId xmlns:p14="http://schemas.microsoft.com/office/powerpoint/2010/main" val="2345162310"/>
              </p:ext>
            </p:extLst>
          </p:nvPr>
        </p:nvGraphicFramePr>
        <p:xfrm>
          <a:off x="9421585" y="2817767"/>
          <a:ext cx="1889760" cy="29260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887730">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Student</a:t>
                      </a:r>
                    </a:p>
                  </a:txBody>
                  <a:tcPr anchor="ctr"/>
                </a:tc>
                <a:tc>
                  <a:txBody>
                    <a:bodyPr/>
                    <a:lstStyle/>
                    <a:p>
                      <a:r>
                        <a:rPr lang="en-US" sz="1800" b="1" dirty="0">
                          <a:latin typeface="Times New Roman" pitchFamily="18" charset="0"/>
                          <a:cs typeface="Times New Roman" pitchFamily="18" charset="0"/>
                        </a:rPr>
                        <a:t>Marks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S1</a:t>
                      </a:r>
                    </a:p>
                  </a:txBody>
                  <a:tcPr anchor="ctr"/>
                </a:tc>
                <a:tc>
                  <a:txBody>
                    <a:bodyPr/>
                    <a:lstStyle/>
                    <a:p>
                      <a:r>
                        <a:rPr lang="en-US" sz="1800">
                          <a:latin typeface="Times New Roman" pitchFamily="18" charset="0"/>
                          <a:cs typeface="Times New Roman" pitchFamily="18" charset="0"/>
                        </a:rPr>
                        <a:t>70</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S2</a:t>
                      </a:r>
                    </a:p>
                  </a:txBody>
                  <a:tcPr anchor="ctr"/>
                </a:tc>
                <a:tc>
                  <a:txBody>
                    <a:bodyPr/>
                    <a:lstStyle/>
                    <a:p>
                      <a:r>
                        <a:rPr lang="en-US" sz="1800">
                          <a:latin typeface="Times New Roman" pitchFamily="18" charset="0"/>
                          <a:cs typeface="Times New Roman" pitchFamily="18" charset="0"/>
                        </a:rPr>
                        <a:t>80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S3</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S4</a:t>
                      </a:r>
                    </a:p>
                  </a:txBody>
                  <a:tcPr anchor="ctr"/>
                </a:tc>
                <a:tc>
                  <a:txBody>
                    <a:bodyPr/>
                    <a:lstStyle/>
                    <a:p>
                      <a:r>
                        <a:rPr lang="en-US" sz="1800">
                          <a:latin typeface="Times New Roman" pitchFamily="18" charset="0"/>
                          <a:cs typeface="Times New Roman" pitchFamily="18" charset="0"/>
                        </a:rPr>
                        <a:t>90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S5</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5"/>
                  </a:ext>
                </a:extLst>
              </a:tr>
              <a:tr h="365760">
                <a:tc>
                  <a:txBody>
                    <a:bodyPr/>
                    <a:lstStyle/>
                    <a:p>
                      <a:r>
                        <a:rPr lang="en-US" sz="1800">
                          <a:latin typeface="Times New Roman" pitchFamily="18" charset="0"/>
                          <a:cs typeface="Times New Roman" pitchFamily="18" charset="0"/>
                        </a:rPr>
                        <a:t>S6</a:t>
                      </a:r>
                    </a:p>
                  </a:txBody>
                  <a:tcPr anchor="ctr"/>
                </a:tc>
                <a:tc>
                  <a:txBody>
                    <a:bodyPr/>
                    <a:lstStyle/>
                    <a:p>
                      <a:r>
                        <a:rPr lang="en-US" sz="1800">
                          <a:latin typeface="Times New Roman" pitchFamily="18" charset="0"/>
                          <a:cs typeface="Times New Roman" pitchFamily="18" charset="0"/>
                        </a:rPr>
                        <a:t>85</a:t>
                      </a:r>
                    </a:p>
                  </a:txBody>
                  <a:tcPr anchor="ctr"/>
                </a:tc>
                <a:extLst>
                  <a:ext uri="{0D108BD9-81ED-4DB2-BD59-A6C34878D82A}">
                    <a16:rowId xmlns:a16="http://schemas.microsoft.com/office/drawing/2014/main" val="10006"/>
                  </a:ext>
                </a:extLst>
              </a:tr>
              <a:tr h="365760">
                <a:tc>
                  <a:txBody>
                    <a:bodyPr/>
                    <a:lstStyle/>
                    <a:p>
                      <a:r>
                        <a:rPr lang="en-US" sz="1800">
                          <a:latin typeface="Times New Roman" pitchFamily="18" charset="0"/>
                          <a:cs typeface="Times New Roman" pitchFamily="18" charset="0"/>
                        </a:rPr>
                        <a:t>S7</a:t>
                      </a:r>
                    </a:p>
                  </a:txBody>
                  <a:tcPr anchor="ctr"/>
                </a:tc>
                <a:tc>
                  <a:txBody>
                    <a:bodyPr/>
                    <a:lstStyle/>
                    <a:p>
                      <a:r>
                        <a:rPr lang="en-US" sz="1800" dirty="0">
                          <a:latin typeface="Times New Roman" pitchFamily="18" charset="0"/>
                          <a:cs typeface="Times New Roman" pitchFamily="18" charset="0"/>
                        </a:rPr>
                        <a:t>75</a:t>
                      </a:r>
                    </a:p>
                  </a:txBody>
                  <a:tcPr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Measures of Central Tendency</a:t>
            </a:r>
          </a:p>
        </p:txBody>
      </p:sp>
      <p:sp>
        <p:nvSpPr>
          <p:cNvPr id="71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3F4A81-D1EB-43DF-9729-712C261D9FE6}" type="slidenum">
              <a:rPr lang="en-US" altLang="en-US"/>
              <a:pPr/>
              <a:t>16</a:t>
            </a:fld>
            <a:endParaRPr lang="en-US" altLang="en-US"/>
          </a:p>
        </p:txBody>
      </p:sp>
      <p:sp>
        <p:nvSpPr>
          <p:cNvPr id="9"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fi-FI" dirty="0">
                <a:latin typeface="Times New Roman" pitchFamily="18" charset="0"/>
                <a:cs typeface="Times New Roman" pitchFamily="18" charset="0"/>
              </a:rPr>
              <a:t>Dataset: 70, 80, 75, 90, 75, 85, 75</a:t>
            </a:r>
          </a:p>
          <a:p>
            <a:pPr marL="46037" indent="0">
              <a:buNone/>
            </a:pPr>
            <a:r>
              <a:rPr lang="en-US" b="1" dirty="0">
                <a:latin typeface="Times New Roman" pitchFamily="18" charset="0"/>
                <a:cs typeface="Times New Roman" pitchFamily="18" charset="0"/>
              </a:rPr>
              <a:t>Mean (Average)</a:t>
            </a:r>
          </a:p>
          <a:p>
            <a:pPr marL="46037" indent="0">
              <a:buNone/>
            </a:pPr>
            <a:r>
              <a:rPr lang="en-US" dirty="0">
                <a:latin typeface="Times New Roman" pitchFamily="18" charset="0"/>
                <a:cs typeface="Times New Roman" pitchFamily="18" charset="0"/>
              </a:rPr>
              <a:t>Sum of all marks: 70 + 80 + 75 + 90 + 75 + 85 + 75 = 550</a:t>
            </a:r>
          </a:p>
          <a:p>
            <a:pPr marL="46037" indent="0">
              <a:buNone/>
            </a:pPr>
            <a:r>
              <a:rPr lang="en-US" dirty="0">
                <a:latin typeface="Times New Roman" pitchFamily="18" charset="0"/>
                <a:cs typeface="Times New Roman" pitchFamily="18" charset="0"/>
              </a:rPr>
              <a:t>Number of students: n = 7</a:t>
            </a:r>
          </a:p>
          <a:p>
            <a:pPr marL="46037" indent="0">
              <a:buNone/>
            </a:pPr>
            <a:r>
              <a:rPr lang="en-US" dirty="0">
                <a:latin typeface="Times New Roman" pitchFamily="18" charset="0"/>
                <a:cs typeface="Times New Roman" pitchFamily="18" charset="0"/>
              </a:rPr>
              <a:t>Mean: 550 / 7 = 78.57</a:t>
            </a:r>
          </a:p>
          <a:p>
            <a:pPr marL="46037" indent="0">
              <a:buNone/>
            </a:pPr>
            <a:endParaRPr lang="en-US" b="1" dirty="0">
              <a:latin typeface="Times New Roman" pitchFamily="18" charset="0"/>
              <a:cs typeface="Times New Roman" pitchFamily="18" charset="0"/>
            </a:endParaRPr>
          </a:p>
          <a:p>
            <a:pPr marL="46037" indent="0">
              <a:buNone/>
            </a:pPr>
            <a:r>
              <a:rPr lang="en-US" b="1" dirty="0">
                <a:latin typeface="Times New Roman" pitchFamily="18" charset="0"/>
                <a:cs typeface="Times New Roman" pitchFamily="18" charset="0"/>
              </a:rPr>
              <a:t>Interpretation</a:t>
            </a:r>
          </a:p>
          <a:p>
            <a:pPr marL="46037" indent="0">
              <a:buNone/>
            </a:pPr>
            <a:r>
              <a:rPr lang="en-US" dirty="0">
                <a:latin typeface="Times New Roman" pitchFamily="18" charset="0"/>
                <a:cs typeface="Times New Roman" pitchFamily="18" charset="0"/>
              </a:rPr>
              <a:t>On average, students scored approximately </a:t>
            </a:r>
            <a:r>
              <a:rPr lang="en-US" b="1" dirty="0">
                <a:latin typeface="Times New Roman" pitchFamily="18" charset="0"/>
                <a:cs typeface="Times New Roman" pitchFamily="18" charset="0"/>
              </a:rPr>
              <a:t>78.57 marks</a:t>
            </a:r>
            <a:r>
              <a:rPr lang="en-US" dirty="0">
                <a:latin typeface="Times New Roman" pitchFamily="18" charset="0"/>
                <a:cs typeface="Times New Roman" pitchFamily="18" charset="0"/>
              </a:rPr>
              <a:t>.</a:t>
            </a:r>
          </a:p>
          <a:p>
            <a:pPr marL="46037" indent="0">
              <a:buNone/>
            </a:pPr>
            <a:endParaRPr lang="fi-FI" dirty="0">
              <a:latin typeface="Times New Roman" pitchFamily="18" charset="0"/>
              <a:cs typeface="Times New Roman"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490927842"/>
              </p:ext>
            </p:extLst>
          </p:nvPr>
        </p:nvGraphicFramePr>
        <p:xfrm>
          <a:off x="9421585" y="2817767"/>
          <a:ext cx="1889760" cy="29260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887730">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Student</a:t>
                      </a:r>
                    </a:p>
                  </a:txBody>
                  <a:tcPr anchor="ctr"/>
                </a:tc>
                <a:tc>
                  <a:txBody>
                    <a:bodyPr/>
                    <a:lstStyle/>
                    <a:p>
                      <a:r>
                        <a:rPr lang="en-US" sz="1800" b="1" dirty="0">
                          <a:latin typeface="Times New Roman" pitchFamily="18" charset="0"/>
                          <a:cs typeface="Times New Roman" pitchFamily="18" charset="0"/>
                        </a:rPr>
                        <a:t>Marks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S1</a:t>
                      </a:r>
                    </a:p>
                  </a:txBody>
                  <a:tcPr anchor="ctr"/>
                </a:tc>
                <a:tc>
                  <a:txBody>
                    <a:bodyPr/>
                    <a:lstStyle/>
                    <a:p>
                      <a:r>
                        <a:rPr lang="en-US" sz="1800">
                          <a:latin typeface="Times New Roman" pitchFamily="18" charset="0"/>
                          <a:cs typeface="Times New Roman" pitchFamily="18" charset="0"/>
                        </a:rPr>
                        <a:t>70</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S2</a:t>
                      </a:r>
                    </a:p>
                  </a:txBody>
                  <a:tcPr anchor="ctr"/>
                </a:tc>
                <a:tc>
                  <a:txBody>
                    <a:bodyPr/>
                    <a:lstStyle/>
                    <a:p>
                      <a:r>
                        <a:rPr lang="en-US" sz="1800">
                          <a:latin typeface="Times New Roman" pitchFamily="18" charset="0"/>
                          <a:cs typeface="Times New Roman" pitchFamily="18" charset="0"/>
                        </a:rPr>
                        <a:t>80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S3</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S4</a:t>
                      </a:r>
                    </a:p>
                  </a:txBody>
                  <a:tcPr anchor="ctr"/>
                </a:tc>
                <a:tc>
                  <a:txBody>
                    <a:bodyPr/>
                    <a:lstStyle/>
                    <a:p>
                      <a:r>
                        <a:rPr lang="en-US" sz="1800">
                          <a:latin typeface="Times New Roman" pitchFamily="18" charset="0"/>
                          <a:cs typeface="Times New Roman" pitchFamily="18" charset="0"/>
                        </a:rPr>
                        <a:t>90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S5</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5"/>
                  </a:ext>
                </a:extLst>
              </a:tr>
              <a:tr h="365760">
                <a:tc>
                  <a:txBody>
                    <a:bodyPr/>
                    <a:lstStyle/>
                    <a:p>
                      <a:r>
                        <a:rPr lang="en-US" sz="1800">
                          <a:latin typeface="Times New Roman" pitchFamily="18" charset="0"/>
                          <a:cs typeface="Times New Roman" pitchFamily="18" charset="0"/>
                        </a:rPr>
                        <a:t>S6</a:t>
                      </a:r>
                    </a:p>
                  </a:txBody>
                  <a:tcPr anchor="ctr"/>
                </a:tc>
                <a:tc>
                  <a:txBody>
                    <a:bodyPr/>
                    <a:lstStyle/>
                    <a:p>
                      <a:r>
                        <a:rPr lang="en-US" sz="1800">
                          <a:latin typeface="Times New Roman" pitchFamily="18" charset="0"/>
                          <a:cs typeface="Times New Roman" pitchFamily="18" charset="0"/>
                        </a:rPr>
                        <a:t>85</a:t>
                      </a:r>
                    </a:p>
                  </a:txBody>
                  <a:tcPr anchor="ctr"/>
                </a:tc>
                <a:extLst>
                  <a:ext uri="{0D108BD9-81ED-4DB2-BD59-A6C34878D82A}">
                    <a16:rowId xmlns:a16="http://schemas.microsoft.com/office/drawing/2014/main" val="10006"/>
                  </a:ext>
                </a:extLst>
              </a:tr>
              <a:tr h="365760">
                <a:tc>
                  <a:txBody>
                    <a:bodyPr/>
                    <a:lstStyle/>
                    <a:p>
                      <a:r>
                        <a:rPr lang="en-US" sz="1800">
                          <a:latin typeface="Times New Roman" pitchFamily="18" charset="0"/>
                          <a:cs typeface="Times New Roman" pitchFamily="18" charset="0"/>
                        </a:rPr>
                        <a:t>S7</a:t>
                      </a:r>
                    </a:p>
                  </a:txBody>
                  <a:tcPr anchor="ctr"/>
                </a:tc>
                <a:tc>
                  <a:txBody>
                    <a:bodyPr/>
                    <a:lstStyle/>
                    <a:p>
                      <a:r>
                        <a:rPr lang="en-US" sz="1800" dirty="0">
                          <a:latin typeface="Times New Roman" pitchFamily="18" charset="0"/>
                          <a:cs typeface="Times New Roman" pitchFamily="18" charset="0"/>
                        </a:rPr>
                        <a:t>75</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764359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Measures of Central Tendency</a:t>
            </a:r>
          </a:p>
        </p:txBody>
      </p:sp>
      <p:sp>
        <p:nvSpPr>
          <p:cNvPr id="71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3F4A81-D1EB-43DF-9729-712C261D9FE6}" type="slidenum">
              <a:rPr lang="en-US" altLang="en-US"/>
              <a:pPr/>
              <a:t>17</a:t>
            </a:fld>
            <a:endParaRPr lang="en-US" altLang="en-US"/>
          </a:p>
        </p:txBody>
      </p:sp>
      <p:sp>
        <p:nvSpPr>
          <p:cNvPr id="9"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Median (Middle Value)</a:t>
            </a:r>
          </a:p>
          <a:p>
            <a:pPr marL="46037" indent="0">
              <a:buNone/>
            </a:pPr>
            <a:r>
              <a:rPr lang="en-US" dirty="0">
                <a:latin typeface="Times New Roman" pitchFamily="18" charset="0"/>
                <a:cs typeface="Times New Roman" pitchFamily="18" charset="0"/>
              </a:rPr>
              <a:t>First, sort the data: 70, 75, 75, </a:t>
            </a:r>
            <a:r>
              <a:rPr lang="en-US" dirty="0">
                <a:solidFill>
                  <a:srgbClr val="FF0000"/>
                </a:solidFill>
                <a:latin typeface="Times New Roman" pitchFamily="18" charset="0"/>
                <a:cs typeface="Times New Roman" pitchFamily="18" charset="0"/>
              </a:rPr>
              <a:t>75</a:t>
            </a:r>
            <a:r>
              <a:rPr lang="en-US" dirty="0">
                <a:latin typeface="Times New Roman" pitchFamily="18" charset="0"/>
                <a:cs typeface="Times New Roman" pitchFamily="18" charset="0"/>
              </a:rPr>
              <a:t>, 80, 85, 90</a:t>
            </a:r>
          </a:p>
          <a:p>
            <a:pPr marL="46037" indent="0">
              <a:buNone/>
            </a:pPr>
            <a:r>
              <a:rPr lang="en-US" dirty="0">
                <a:latin typeface="Times New Roman" pitchFamily="18" charset="0"/>
                <a:cs typeface="Times New Roman" pitchFamily="18" charset="0"/>
              </a:rPr>
              <a:t>The middle observation is: 75</a:t>
            </a:r>
          </a:p>
          <a:p>
            <a:pPr marL="46037" indent="0">
              <a:buNone/>
            </a:pPr>
            <a:r>
              <a:rPr lang="en-US" b="1" dirty="0">
                <a:latin typeface="Times New Roman" pitchFamily="18" charset="0"/>
                <a:cs typeface="Times New Roman" pitchFamily="18" charset="0"/>
              </a:rPr>
              <a:t>Median = 75</a:t>
            </a:r>
          </a:p>
          <a:p>
            <a:pPr marL="46037" indent="0">
              <a:buNone/>
            </a:pPr>
            <a:endParaRPr lang="en-US" b="1" dirty="0">
              <a:latin typeface="Times New Roman" pitchFamily="18" charset="0"/>
              <a:cs typeface="Times New Roman" pitchFamily="18" charset="0"/>
            </a:endParaRPr>
          </a:p>
          <a:p>
            <a:pPr marL="46037" indent="0">
              <a:buNone/>
            </a:pPr>
            <a:r>
              <a:rPr lang="en-US" b="1" dirty="0">
                <a:latin typeface="Times New Roman" pitchFamily="18" charset="0"/>
                <a:cs typeface="Times New Roman" pitchFamily="18" charset="0"/>
              </a:rPr>
              <a:t>Interpretation</a:t>
            </a:r>
          </a:p>
          <a:p>
            <a:pPr marL="46037" indent="0">
              <a:buNone/>
            </a:pPr>
            <a:r>
              <a:rPr lang="en-US" dirty="0">
                <a:latin typeface="Times New Roman" pitchFamily="18" charset="0"/>
                <a:cs typeface="Times New Roman" pitchFamily="18" charset="0"/>
              </a:rPr>
              <a:t>Half of the students scored below 75 and half scored above 75.</a:t>
            </a:r>
          </a:p>
        </p:txBody>
      </p:sp>
      <p:graphicFrame>
        <p:nvGraphicFramePr>
          <p:cNvPr id="6" name="Table 5"/>
          <p:cNvGraphicFramePr>
            <a:graphicFrameLocks noGrp="1"/>
          </p:cNvGraphicFramePr>
          <p:nvPr>
            <p:extLst>
              <p:ext uri="{D42A27DB-BD31-4B8C-83A1-F6EECF244321}">
                <p14:modId xmlns:p14="http://schemas.microsoft.com/office/powerpoint/2010/main" val="3377559389"/>
              </p:ext>
            </p:extLst>
          </p:nvPr>
        </p:nvGraphicFramePr>
        <p:xfrm>
          <a:off x="9421585" y="2817767"/>
          <a:ext cx="1889760" cy="29260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887730">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Student</a:t>
                      </a:r>
                    </a:p>
                  </a:txBody>
                  <a:tcPr anchor="ctr"/>
                </a:tc>
                <a:tc>
                  <a:txBody>
                    <a:bodyPr/>
                    <a:lstStyle/>
                    <a:p>
                      <a:r>
                        <a:rPr lang="en-US" sz="1800" b="1" dirty="0">
                          <a:latin typeface="Times New Roman" pitchFamily="18" charset="0"/>
                          <a:cs typeface="Times New Roman" pitchFamily="18" charset="0"/>
                        </a:rPr>
                        <a:t>Marks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S1</a:t>
                      </a:r>
                    </a:p>
                  </a:txBody>
                  <a:tcPr anchor="ctr"/>
                </a:tc>
                <a:tc>
                  <a:txBody>
                    <a:bodyPr/>
                    <a:lstStyle/>
                    <a:p>
                      <a:r>
                        <a:rPr lang="en-US" sz="1800">
                          <a:latin typeface="Times New Roman" pitchFamily="18" charset="0"/>
                          <a:cs typeface="Times New Roman" pitchFamily="18" charset="0"/>
                        </a:rPr>
                        <a:t>70</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S2</a:t>
                      </a:r>
                    </a:p>
                  </a:txBody>
                  <a:tcPr anchor="ctr"/>
                </a:tc>
                <a:tc>
                  <a:txBody>
                    <a:bodyPr/>
                    <a:lstStyle/>
                    <a:p>
                      <a:r>
                        <a:rPr lang="en-US" sz="1800">
                          <a:latin typeface="Times New Roman" pitchFamily="18" charset="0"/>
                          <a:cs typeface="Times New Roman" pitchFamily="18" charset="0"/>
                        </a:rPr>
                        <a:t>80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S3</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S4</a:t>
                      </a:r>
                    </a:p>
                  </a:txBody>
                  <a:tcPr anchor="ctr"/>
                </a:tc>
                <a:tc>
                  <a:txBody>
                    <a:bodyPr/>
                    <a:lstStyle/>
                    <a:p>
                      <a:r>
                        <a:rPr lang="en-US" sz="1800">
                          <a:latin typeface="Times New Roman" pitchFamily="18" charset="0"/>
                          <a:cs typeface="Times New Roman" pitchFamily="18" charset="0"/>
                        </a:rPr>
                        <a:t>90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S5</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5"/>
                  </a:ext>
                </a:extLst>
              </a:tr>
              <a:tr h="365760">
                <a:tc>
                  <a:txBody>
                    <a:bodyPr/>
                    <a:lstStyle/>
                    <a:p>
                      <a:r>
                        <a:rPr lang="en-US" sz="1800">
                          <a:latin typeface="Times New Roman" pitchFamily="18" charset="0"/>
                          <a:cs typeface="Times New Roman" pitchFamily="18" charset="0"/>
                        </a:rPr>
                        <a:t>S6</a:t>
                      </a:r>
                    </a:p>
                  </a:txBody>
                  <a:tcPr anchor="ctr"/>
                </a:tc>
                <a:tc>
                  <a:txBody>
                    <a:bodyPr/>
                    <a:lstStyle/>
                    <a:p>
                      <a:r>
                        <a:rPr lang="en-US" sz="1800">
                          <a:latin typeface="Times New Roman" pitchFamily="18" charset="0"/>
                          <a:cs typeface="Times New Roman" pitchFamily="18" charset="0"/>
                        </a:rPr>
                        <a:t>85</a:t>
                      </a:r>
                    </a:p>
                  </a:txBody>
                  <a:tcPr anchor="ctr"/>
                </a:tc>
                <a:extLst>
                  <a:ext uri="{0D108BD9-81ED-4DB2-BD59-A6C34878D82A}">
                    <a16:rowId xmlns:a16="http://schemas.microsoft.com/office/drawing/2014/main" val="10006"/>
                  </a:ext>
                </a:extLst>
              </a:tr>
              <a:tr h="365760">
                <a:tc>
                  <a:txBody>
                    <a:bodyPr/>
                    <a:lstStyle/>
                    <a:p>
                      <a:r>
                        <a:rPr lang="en-US" sz="1800">
                          <a:latin typeface="Times New Roman" pitchFamily="18" charset="0"/>
                          <a:cs typeface="Times New Roman" pitchFamily="18" charset="0"/>
                        </a:rPr>
                        <a:t>S7</a:t>
                      </a:r>
                    </a:p>
                  </a:txBody>
                  <a:tcPr anchor="ctr"/>
                </a:tc>
                <a:tc>
                  <a:txBody>
                    <a:bodyPr/>
                    <a:lstStyle/>
                    <a:p>
                      <a:r>
                        <a:rPr lang="en-US" sz="1800" dirty="0">
                          <a:latin typeface="Times New Roman" pitchFamily="18" charset="0"/>
                          <a:cs typeface="Times New Roman" pitchFamily="18" charset="0"/>
                        </a:rPr>
                        <a:t>75</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333263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Measures of Central Tendency</a:t>
            </a:r>
          </a:p>
        </p:txBody>
      </p:sp>
      <p:sp>
        <p:nvSpPr>
          <p:cNvPr id="71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3F4A81-D1EB-43DF-9729-712C261D9FE6}" type="slidenum">
              <a:rPr lang="en-US" altLang="en-US"/>
              <a:pPr/>
              <a:t>18</a:t>
            </a:fld>
            <a:endParaRPr lang="en-US" altLang="en-US"/>
          </a:p>
        </p:txBody>
      </p:sp>
      <p:sp>
        <p:nvSpPr>
          <p:cNvPr id="9" name="Content Placeholder 2"/>
          <p:cNvSpPr txBox="1">
            <a:spLocks/>
          </p:cNvSpPr>
          <p:nvPr/>
        </p:nvSpPr>
        <p:spPr>
          <a:xfrm>
            <a:off x="538797" y="1655763"/>
            <a:ext cx="9617573" cy="4440237"/>
          </a:xfrm>
          <a:prstGeom prst="rect">
            <a:avLst/>
          </a:prstGeom>
        </p:spPr>
        <p:txBody>
          <a:bodyPr rtlCol="0">
            <a:normAutofit lnSpcReduction="10000"/>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6037" indent="0">
              <a:buNone/>
            </a:pPr>
            <a:r>
              <a:rPr lang="en-US" b="1" dirty="0">
                <a:latin typeface="Times New Roman" pitchFamily="18" charset="0"/>
                <a:cs typeface="Times New Roman" pitchFamily="18" charset="0"/>
              </a:rPr>
              <a:t>Mode (Most Frequent Value)</a:t>
            </a:r>
          </a:p>
          <a:p>
            <a:pPr marL="46037" indent="0">
              <a:buNone/>
            </a:pPr>
            <a:r>
              <a:rPr lang="en-US" dirty="0">
                <a:latin typeface="Times New Roman" pitchFamily="18" charset="0"/>
                <a:cs typeface="Times New Roman" pitchFamily="18" charset="0"/>
              </a:rPr>
              <a:t>Count frequencies:</a:t>
            </a:r>
          </a:p>
          <a:p>
            <a:pPr marL="46037" indent="0">
              <a:buNone/>
            </a:pPr>
            <a:endParaRPr lang="en-US" dirty="0">
              <a:latin typeface="Times New Roman" pitchFamily="18" charset="0"/>
              <a:cs typeface="Times New Roman" pitchFamily="18" charset="0"/>
            </a:endParaRPr>
          </a:p>
          <a:p>
            <a:pPr marL="46037" indent="0">
              <a:buNone/>
            </a:pPr>
            <a:endParaRPr lang="en-US" dirty="0">
              <a:latin typeface="Times New Roman" pitchFamily="18" charset="0"/>
              <a:cs typeface="Times New Roman" pitchFamily="18" charset="0"/>
            </a:endParaRPr>
          </a:p>
          <a:p>
            <a:pPr marL="46037" indent="0">
              <a:buNone/>
            </a:pPr>
            <a:endParaRPr lang="en-US" dirty="0">
              <a:latin typeface="Times New Roman" pitchFamily="18" charset="0"/>
              <a:cs typeface="Times New Roman" pitchFamily="18" charset="0"/>
            </a:endParaRPr>
          </a:p>
          <a:p>
            <a:pPr marL="46037" indent="0">
              <a:buNone/>
            </a:pPr>
            <a:r>
              <a:rPr lang="en-US" dirty="0">
                <a:latin typeface="Times New Roman" pitchFamily="18" charset="0"/>
                <a:cs typeface="Times New Roman" pitchFamily="18" charset="0"/>
              </a:rPr>
              <a:t>The most frequent value is:75</a:t>
            </a:r>
          </a:p>
          <a:p>
            <a:pPr marL="46037" indent="0">
              <a:buNone/>
            </a:pPr>
            <a:r>
              <a:rPr lang="en-US" dirty="0">
                <a:latin typeface="Times New Roman" pitchFamily="18" charset="0"/>
                <a:cs typeface="Times New Roman" pitchFamily="18" charset="0"/>
              </a:rPr>
              <a:t>Mode = 75</a:t>
            </a:r>
          </a:p>
          <a:p>
            <a:pPr marL="46037" indent="0">
              <a:buNone/>
            </a:pPr>
            <a:endParaRPr lang="en-US" b="1" dirty="0">
              <a:latin typeface="Times New Roman" pitchFamily="18" charset="0"/>
              <a:cs typeface="Times New Roman" pitchFamily="18" charset="0"/>
            </a:endParaRPr>
          </a:p>
          <a:p>
            <a:pPr marL="46037" indent="0">
              <a:buNone/>
            </a:pPr>
            <a:r>
              <a:rPr lang="en-US" b="1" dirty="0">
                <a:latin typeface="Times New Roman" pitchFamily="18" charset="0"/>
                <a:cs typeface="Times New Roman" pitchFamily="18" charset="0"/>
              </a:rPr>
              <a:t>Interpretation</a:t>
            </a:r>
          </a:p>
          <a:p>
            <a:pPr marL="46037" indent="0">
              <a:buNone/>
            </a:pPr>
            <a:r>
              <a:rPr lang="en-US" dirty="0">
                <a:latin typeface="Times New Roman" pitchFamily="18" charset="0"/>
                <a:cs typeface="Times New Roman" pitchFamily="18" charset="0"/>
              </a:rPr>
              <a:t>The most common score obtained by students is 75.</a:t>
            </a:r>
          </a:p>
        </p:txBody>
      </p:sp>
      <p:graphicFrame>
        <p:nvGraphicFramePr>
          <p:cNvPr id="6" name="Table 5"/>
          <p:cNvGraphicFramePr>
            <a:graphicFrameLocks noGrp="1"/>
          </p:cNvGraphicFramePr>
          <p:nvPr>
            <p:extLst>
              <p:ext uri="{D42A27DB-BD31-4B8C-83A1-F6EECF244321}">
                <p14:modId xmlns:p14="http://schemas.microsoft.com/office/powerpoint/2010/main" val="1106754082"/>
              </p:ext>
            </p:extLst>
          </p:nvPr>
        </p:nvGraphicFramePr>
        <p:xfrm>
          <a:off x="9421585" y="2817767"/>
          <a:ext cx="1889760" cy="292608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887730">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Student</a:t>
                      </a:r>
                    </a:p>
                  </a:txBody>
                  <a:tcPr anchor="ctr"/>
                </a:tc>
                <a:tc>
                  <a:txBody>
                    <a:bodyPr/>
                    <a:lstStyle/>
                    <a:p>
                      <a:r>
                        <a:rPr lang="en-US" sz="1800" b="1" dirty="0">
                          <a:latin typeface="Times New Roman" pitchFamily="18" charset="0"/>
                          <a:cs typeface="Times New Roman" pitchFamily="18" charset="0"/>
                        </a:rPr>
                        <a:t>Marks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S1</a:t>
                      </a:r>
                    </a:p>
                  </a:txBody>
                  <a:tcPr anchor="ctr"/>
                </a:tc>
                <a:tc>
                  <a:txBody>
                    <a:bodyPr/>
                    <a:lstStyle/>
                    <a:p>
                      <a:r>
                        <a:rPr lang="en-US" sz="1800">
                          <a:latin typeface="Times New Roman" pitchFamily="18" charset="0"/>
                          <a:cs typeface="Times New Roman" pitchFamily="18" charset="0"/>
                        </a:rPr>
                        <a:t>70</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S2</a:t>
                      </a:r>
                    </a:p>
                  </a:txBody>
                  <a:tcPr anchor="ctr"/>
                </a:tc>
                <a:tc>
                  <a:txBody>
                    <a:bodyPr/>
                    <a:lstStyle/>
                    <a:p>
                      <a:r>
                        <a:rPr lang="en-US" sz="1800">
                          <a:latin typeface="Times New Roman" pitchFamily="18" charset="0"/>
                          <a:cs typeface="Times New Roman" pitchFamily="18" charset="0"/>
                        </a:rPr>
                        <a:t>80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S3</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S4</a:t>
                      </a:r>
                    </a:p>
                  </a:txBody>
                  <a:tcPr anchor="ctr"/>
                </a:tc>
                <a:tc>
                  <a:txBody>
                    <a:bodyPr/>
                    <a:lstStyle/>
                    <a:p>
                      <a:r>
                        <a:rPr lang="en-US" sz="1800">
                          <a:latin typeface="Times New Roman" pitchFamily="18" charset="0"/>
                          <a:cs typeface="Times New Roman" pitchFamily="18" charset="0"/>
                        </a:rPr>
                        <a:t>90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S5</a:t>
                      </a:r>
                    </a:p>
                  </a:txBody>
                  <a:tcPr anchor="ctr"/>
                </a:tc>
                <a:tc>
                  <a:txBody>
                    <a:bodyPr/>
                    <a:lstStyle/>
                    <a:p>
                      <a:r>
                        <a:rPr lang="en-US" sz="1800">
                          <a:latin typeface="Times New Roman" pitchFamily="18" charset="0"/>
                          <a:cs typeface="Times New Roman" pitchFamily="18" charset="0"/>
                        </a:rPr>
                        <a:t>75</a:t>
                      </a:r>
                    </a:p>
                  </a:txBody>
                  <a:tcPr anchor="ctr"/>
                </a:tc>
                <a:extLst>
                  <a:ext uri="{0D108BD9-81ED-4DB2-BD59-A6C34878D82A}">
                    <a16:rowId xmlns:a16="http://schemas.microsoft.com/office/drawing/2014/main" val="10005"/>
                  </a:ext>
                </a:extLst>
              </a:tr>
              <a:tr h="365760">
                <a:tc>
                  <a:txBody>
                    <a:bodyPr/>
                    <a:lstStyle/>
                    <a:p>
                      <a:r>
                        <a:rPr lang="en-US" sz="1800">
                          <a:latin typeface="Times New Roman" pitchFamily="18" charset="0"/>
                          <a:cs typeface="Times New Roman" pitchFamily="18" charset="0"/>
                        </a:rPr>
                        <a:t>S6</a:t>
                      </a:r>
                    </a:p>
                  </a:txBody>
                  <a:tcPr anchor="ctr"/>
                </a:tc>
                <a:tc>
                  <a:txBody>
                    <a:bodyPr/>
                    <a:lstStyle/>
                    <a:p>
                      <a:r>
                        <a:rPr lang="en-US" sz="1800">
                          <a:latin typeface="Times New Roman" pitchFamily="18" charset="0"/>
                          <a:cs typeface="Times New Roman" pitchFamily="18" charset="0"/>
                        </a:rPr>
                        <a:t>85</a:t>
                      </a:r>
                    </a:p>
                  </a:txBody>
                  <a:tcPr anchor="ctr"/>
                </a:tc>
                <a:extLst>
                  <a:ext uri="{0D108BD9-81ED-4DB2-BD59-A6C34878D82A}">
                    <a16:rowId xmlns:a16="http://schemas.microsoft.com/office/drawing/2014/main" val="10006"/>
                  </a:ext>
                </a:extLst>
              </a:tr>
              <a:tr h="365760">
                <a:tc>
                  <a:txBody>
                    <a:bodyPr/>
                    <a:lstStyle/>
                    <a:p>
                      <a:r>
                        <a:rPr lang="en-US" sz="1800">
                          <a:latin typeface="Times New Roman" pitchFamily="18" charset="0"/>
                          <a:cs typeface="Times New Roman" pitchFamily="18" charset="0"/>
                        </a:rPr>
                        <a:t>S7</a:t>
                      </a:r>
                    </a:p>
                  </a:txBody>
                  <a:tcPr anchor="ctr"/>
                </a:tc>
                <a:tc>
                  <a:txBody>
                    <a:bodyPr/>
                    <a:lstStyle/>
                    <a:p>
                      <a:r>
                        <a:rPr lang="en-US" sz="1800" dirty="0">
                          <a:latin typeface="Times New Roman" pitchFamily="18" charset="0"/>
                          <a:cs typeface="Times New Roman" pitchFamily="18" charset="0"/>
                        </a:rPr>
                        <a:t>75</a:t>
                      </a:r>
                    </a:p>
                  </a:txBody>
                  <a:tcPr anchor="ctr"/>
                </a:tc>
                <a:extLst>
                  <a:ext uri="{0D108BD9-81ED-4DB2-BD59-A6C34878D82A}">
                    <a16:rowId xmlns:a16="http://schemas.microsoft.com/office/drawing/2014/main" val="10007"/>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373830881"/>
              </p:ext>
            </p:extLst>
          </p:nvPr>
        </p:nvGraphicFramePr>
        <p:xfrm>
          <a:off x="4669970" y="2260963"/>
          <a:ext cx="2165033" cy="2194560"/>
        </p:xfrm>
        <a:graphic>
          <a:graphicData uri="http://schemas.openxmlformats.org/drawingml/2006/table">
            <a:tbl>
              <a:tblPr>
                <a:tableStyleId>{3C2FFA5D-87B4-456A-9821-1D502468CF0F}</a:tableStyleId>
              </a:tblPr>
              <a:tblGrid>
                <a:gridCol w="887730">
                  <a:extLst>
                    <a:ext uri="{9D8B030D-6E8A-4147-A177-3AD203B41FA5}">
                      <a16:colId xmlns:a16="http://schemas.microsoft.com/office/drawing/2014/main" val="20000"/>
                    </a:ext>
                  </a:extLst>
                </a:gridCol>
                <a:gridCol w="1277303">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Marks</a:t>
                      </a:r>
                    </a:p>
                  </a:txBody>
                  <a:tcPr anchor="ctr">
                    <a:solidFill>
                      <a:schemeClr val="bg2"/>
                    </a:solidFill>
                  </a:tcPr>
                </a:tc>
                <a:tc>
                  <a:txBody>
                    <a:bodyPr/>
                    <a:lstStyle/>
                    <a:p>
                      <a:r>
                        <a:rPr lang="en-US" sz="1800" b="1" dirty="0">
                          <a:latin typeface="Times New Roman" pitchFamily="18" charset="0"/>
                          <a:cs typeface="Times New Roman" pitchFamily="18" charset="0"/>
                        </a:rPr>
                        <a:t>Frequency</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70</a:t>
                      </a:r>
                    </a:p>
                  </a:txBody>
                  <a:tcPr anchor="ctr">
                    <a:solidFill>
                      <a:schemeClr val="bg2"/>
                    </a:solidFill>
                  </a:tcPr>
                </a:tc>
                <a:tc>
                  <a:txBody>
                    <a:bodyPr/>
                    <a:lstStyle/>
                    <a:p>
                      <a:r>
                        <a:rPr lang="en-US" sz="1800">
                          <a:latin typeface="Times New Roman" pitchFamily="18" charset="0"/>
                          <a:cs typeface="Times New Roman" pitchFamily="18" charset="0"/>
                        </a:rPr>
                        <a:t>1</a:t>
                      </a:r>
                    </a:p>
                  </a:txBody>
                  <a:tcPr anchor="ctr">
                    <a:solidFill>
                      <a:schemeClr val="bg2"/>
                    </a:solidFill>
                  </a:tcPr>
                </a:tc>
                <a:extLst>
                  <a:ext uri="{0D108BD9-81ED-4DB2-BD59-A6C34878D82A}">
                    <a16:rowId xmlns:a16="http://schemas.microsoft.com/office/drawing/2014/main" val="10001"/>
                  </a:ext>
                </a:extLst>
              </a:tr>
              <a:tr h="365760">
                <a:tc>
                  <a:txBody>
                    <a:bodyPr/>
                    <a:lstStyle/>
                    <a:p>
                      <a:r>
                        <a:rPr lang="en-US" sz="1800">
                          <a:solidFill>
                            <a:srgbClr val="FF0000"/>
                          </a:solidFill>
                          <a:latin typeface="Times New Roman" pitchFamily="18" charset="0"/>
                          <a:cs typeface="Times New Roman" pitchFamily="18" charset="0"/>
                        </a:rPr>
                        <a:t>75</a:t>
                      </a:r>
                    </a:p>
                  </a:txBody>
                  <a:tcPr anchor="ctr">
                    <a:solidFill>
                      <a:schemeClr val="bg2"/>
                    </a:solidFill>
                  </a:tcPr>
                </a:tc>
                <a:tc>
                  <a:txBody>
                    <a:bodyPr/>
                    <a:lstStyle/>
                    <a:p>
                      <a:r>
                        <a:rPr lang="en-US" sz="1800" dirty="0">
                          <a:solidFill>
                            <a:srgbClr val="FF0000"/>
                          </a:solidFill>
                          <a:latin typeface="Times New Roman" pitchFamily="18" charset="0"/>
                          <a:cs typeface="Times New Roman" pitchFamily="18" charset="0"/>
                        </a:rPr>
                        <a:t>3</a:t>
                      </a:r>
                    </a:p>
                  </a:txBody>
                  <a:tcPr anchor="ctr">
                    <a:solidFill>
                      <a:schemeClr val="bg2"/>
                    </a:solidFill>
                  </a:tcP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80</a:t>
                      </a:r>
                    </a:p>
                  </a:txBody>
                  <a:tcPr anchor="ctr">
                    <a:solidFill>
                      <a:schemeClr val="bg2"/>
                    </a:solidFill>
                  </a:tcPr>
                </a:tc>
                <a:tc>
                  <a:txBody>
                    <a:bodyPr/>
                    <a:lstStyle/>
                    <a:p>
                      <a:r>
                        <a:rPr lang="en-US" sz="1800">
                          <a:latin typeface="Times New Roman" pitchFamily="18" charset="0"/>
                          <a:cs typeface="Times New Roman" pitchFamily="18" charset="0"/>
                        </a:rPr>
                        <a:t>1</a:t>
                      </a:r>
                    </a:p>
                  </a:txBody>
                  <a:tcPr anchor="ctr">
                    <a:solidFill>
                      <a:schemeClr val="bg2"/>
                    </a:solidFill>
                  </a:tcP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85</a:t>
                      </a:r>
                    </a:p>
                  </a:txBody>
                  <a:tcPr anchor="ctr">
                    <a:solidFill>
                      <a:schemeClr val="bg2"/>
                    </a:solidFill>
                  </a:tcPr>
                </a:tc>
                <a:tc>
                  <a:txBody>
                    <a:bodyPr/>
                    <a:lstStyle/>
                    <a:p>
                      <a:r>
                        <a:rPr lang="en-US" sz="1800">
                          <a:latin typeface="Times New Roman" pitchFamily="18" charset="0"/>
                          <a:cs typeface="Times New Roman" pitchFamily="18" charset="0"/>
                        </a:rPr>
                        <a:t>1</a:t>
                      </a:r>
                    </a:p>
                  </a:txBody>
                  <a:tcPr anchor="ctr">
                    <a:solidFill>
                      <a:schemeClr val="bg2"/>
                    </a:solidFill>
                  </a:tcPr>
                </a:tc>
                <a:extLst>
                  <a:ext uri="{0D108BD9-81ED-4DB2-BD59-A6C34878D82A}">
                    <a16:rowId xmlns:a16="http://schemas.microsoft.com/office/drawing/2014/main" val="10004"/>
                  </a:ext>
                </a:extLst>
              </a:tr>
              <a:tr h="365760">
                <a:tc>
                  <a:txBody>
                    <a:bodyPr/>
                    <a:lstStyle/>
                    <a:p>
                      <a:r>
                        <a:rPr lang="en-US" sz="1800" dirty="0">
                          <a:latin typeface="Times New Roman" pitchFamily="18" charset="0"/>
                          <a:cs typeface="Times New Roman" pitchFamily="18" charset="0"/>
                        </a:rPr>
                        <a:t>90</a:t>
                      </a:r>
                    </a:p>
                  </a:txBody>
                  <a:tcPr anchor="ctr">
                    <a:solidFill>
                      <a:schemeClr val="bg2"/>
                    </a:solidFill>
                  </a:tcPr>
                </a:tc>
                <a:tc>
                  <a:txBody>
                    <a:bodyPr/>
                    <a:lstStyle/>
                    <a:p>
                      <a:r>
                        <a:rPr lang="en-US" sz="1800" dirty="0">
                          <a:latin typeface="Times New Roman" pitchFamily="18" charset="0"/>
                          <a:cs typeface="Times New Roman" pitchFamily="18" charset="0"/>
                        </a:rPr>
                        <a:t>1</a:t>
                      </a:r>
                    </a:p>
                  </a:txBody>
                  <a:tcPr anchor="ctr">
                    <a:solidFill>
                      <a:schemeClr val="bg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04586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 of Spread</a:t>
            </a:r>
          </a:p>
        </p:txBody>
      </p:sp>
      <p:sp>
        <p:nvSpPr>
          <p:cNvPr id="7172"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BB3F4A81-D1EB-43DF-9729-712C261D9FE6}" type="slidenum">
              <a:rPr lang="en-US" altLang="en-US"/>
              <a:pPr/>
              <a:t>19</a:t>
            </a:fld>
            <a:endParaRPr lang="en-US" altLang="en-US"/>
          </a:p>
        </p:txBody>
      </p:sp>
      <p:sp>
        <p:nvSpPr>
          <p:cNvPr id="9" name="Content Placeholder 2"/>
          <p:cNvSpPr txBox="1">
            <a:spLocks/>
          </p:cNvSpPr>
          <p:nvPr/>
        </p:nvSpPr>
        <p:spPr>
          <a:xfrm>
            <a:off x="538797" y="1655763"/>
            <a:ext cx="9617573" cy="4440237"/>
          </a:xfrm>
          <a:prstGeom prst="rect">
            <a:avLst/>
          </a:prstGeom>
        </p:spPr>
        <p:txBody>
          <a:bodyPr rtlCol="0">
            <a:normAutofit/>
          </a:bodyPr>
          <a:lstStyle>
            <a:lvl1pPr marL="228600" indent="-182563" algn="l" rtl="0" eaLnBrk="0" fontAlgn="base" hangingPunct="0">
              <a:lnSpc>
                <a:spcPct val="90000"/>
              </a:lnSpc>
              <a:spcBef>
                <a:spcPts val="1400"/>
              </a:spcBef>
              <a:spcAft>
                <a:spcPct val="0"/>
              </a:spcAft>
              <a:buClr>
                <a:schemeClr val="tx1"/>
              </a:buClr>
              <a:buSzPct val="80000"/>
              <a:buFont typeface="Corbel" panose="020B0503020204020204" pitchFamily="34" charset="0"/>
              <a:buChar char="•"/>
              <a:defRPr sz="2200" kern="1200">
                <a:solidFill>
                  <a:schemeClr val="tx1"/>
                </a:solidFill>
                <a:latin typeface="+mn-lt"/>
                <a:ea typeface="+mn-ea"/>
                <a:cs typeface="+mn-cs"/>
              </a:defRPr>
            </a:lvl1pPr>
            <a:lvl2pPr marL="45720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2000" kern="1200">
                <a:solidFill>
                  <a:schemeClr val="tx1"/>
                </a:solidFill>
                <a:latin typeface="+mn-lt"/>
                <a:ea typeface="+mn-ea"/>
                <a:cs typeface="+mn-cs"/>
              </a:defRPr>
            </a:lvl2pPr>
            <a:lvl3pPr marL="730250"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kern="1200">
                <a:solidFill>
                  <a:schemeClr val="tx1"/>
                </a:solidFill>
                <a:latin typeface="+mn-lt"/>
                <a:ea typeface="+mn-ea"/>
                <a:cs typeface="+mn-cs"/>
              </a:defRPr>
            </a:lvl3pPr>
            <a:lvl4pPr marL="1004888"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4pPr>
            <a:lvl5pPr marL="1279525" indent="-182563" algn="l" rtl="0" eaLnBrk="0" fontAlgn="base" hangingPunct="0">
              <a:lnSpc>
                <a:spcPct val="90000"/>
              </a:lnSpc>
              <a:spcBef>
                <a:spcPts val="200"/>
              </a:spcBef>
              <a:spcAft>
                <a:spcPts val="400"/>
              </a:spcAft>
              <a:buClr>
                <a:schemeClr val="tx1"/>
              </a:buClr>
              <a:buSzPct val="80000"/>
              <a:buFont typeface="Corbel" panose="020B0503020204020204"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366713" lvl="1" indent="-285750" algn="just" eaLnBrk="1" hangingPunct="1">
              <a:lnSpc>
                <a:spcPct val="150000"/>
              </a:lnSpc>
              <a:buClr>
                <a:srgbClr val="0B5395"/>
              </a:buClr>
            </a:pPr>
            <a:r>
              <a:rPr lang="en-US" altLang="en-US" sz="1800" dirty="0">
                <a:latin typeface="Times New Roman" pitchFamily="18" charset="0"/>
                <a:cs typeface="Times New Roman" pitchFamily="18" charset="0"/>
              </a:rPr>
              <a:t>Summarizing the dataset can help us understand the data, especially when the dataset is large. </a:t>
            </a:r>
          </a:p>
          <a:p>
            <a:pPr marL="366713" lvl="1" indent="-285750" algn="just" eaLnBrk="1" hangingPunct="1">
              <a:lnSpc>
                <a:spcPct val="150000"/>
              </a:lnSpc>
              <a:buClr>
                <a:srgbClr val="0B5395"/>
              </a:buClr>
            </a:pPr>
            <a:r>
              <a:rPr lang="en-US" altLang="en-US" sz="1800" dirty="0">
                <a:latin typeface="Times New Roman" pitchFamily="18" charset="0"/>
                <a:cs typeface="Times New Roman" pitchFamily="18" charset="0"/>
              </a:rPr>
              <a:t>The mode, median, and mean </a:t>
            </a:r>
            <a:r>
              <a:rPr lang="en-US" altLang="en-US" sz="1800" dirty="0">
                <a:solidFill>
                  <a:srgbClr val="FF0000"/>
                </a:solidFill>
                <a:latin typeface="Times New Roman" pitchFamily="18" charset="0"/>
                <a:cs typeface="Times New Roman" pitchFamily="18" charset="0"/>
              </a:rPr>
              <a:t>summarize the data into a single value </a:t>
            </a:r>
            <a:r>
              <a:rPr lang="en-US" altLang="en-US" sz="1800" dirty="0">
                <a:latin typeface="Times New Roman" pitchFamily="18" charset="0"/>
                <a:cs typeface="Times New Roman" pitchFamily="18" charset="0"/>
              </a:rPr>
              <a:t>that is typical or representative of all the values in the dataset, but this is only part of the 'picture' that summarizes a dataset.   </a:t>
            </a:r>
          </a:p>
          <a:p>
            <a:pPr marL="366713" lvl="1" indent="-285750" algn="just" eaLnBrk="1" hangingPunct="1">
              <a:lnSpc>
                <a:spcPct val="150000"/>
              </a:lnSpc>
              <a:buClr>
                <a:srgbClr val="0B5395"/>
              </a:buClr>
            </a:pPr>
            <a:r>
              <a:rPr lang="en-US" altLang="en-US" sz="1800" dirty="0">
                <a:solidFill>
                  <a:srgbClr val="FF0000"/>
                </a:solidFill>
                <a:latin typeface="Times New Roman" pitchFamily="18" charset="0"/>
                <a:cs typeface="Times New Roman" pitchFamily="18" charset="0"/>
              </a:rPr>
              <a:t>Measures of spread describe how similar or varied the set of observed values</a:t>
            </a:r>
            <a:r>
              <a:rPr lang="en-US" altLang="en-US" sz="1800" dirty="0">
                <a:latin typeface="Times New Roman" pitchFamily="18" charset="0"/>
                <a:cs typeface="Times New Roman" pitchFamily="18" charset="0"/>
              </a:rPr>
              <a:t> are for a particular variable (data item). </a:t>
            </a:r>
          </a:p>
          <a:p>
            <a:pPr marL="366713" lvl="1" indent="-285750" algn="just" eaLnBrk="1" hangingPunct="1">
              <a:lnSpc>
                <a:spcPct val="150000"/>
              </a:lnSpc>
              <a:buClr>
                <a:srgbClr val="0B5395"/>
              </a:buClr>
            </a:pPr>
            <a:r>
              <a:rPr lang="en-US" altLang="en-US" sz="1800" dirty="0">
                <a:latin typeface="Times New Roman" pitchFamily="18" charset="0"/>
                <a:cs typeface="Times New Roman" pitchFamily="18" charset="0"/>
              </a:rPr>
              <a:t>Measures of spread summarize the data in a way that shows how scattered the values are and how much they differ from the mean value.</a:t>
            </a:r>
          </a:p>
        </p:txBody>
      </p:sp>
    </p:spTree>
    <p:extLst>
      <p:ext uri="{BB962C8B-B14F-4D97-AF65-F5344CB8AC3E}">
        <p14:creationId xmlns:p14="http://schemas.microsoft.com/office/powerpoint/2010/main" val="2042424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Content Placeholder 2"/>
          <p:cNvSpPr>
            <a:spLocks noGrp="1"/>
          </p:cNvSpPr>
          <p:nvPr>
            <p:ph idx="1"/>
          </p:nvPr>
        </p:nvSpPr>
        <p:spPr>
          <a:xfrm>
            <a:off x="579664" y="2506437"/>
            <a:ext cx="7119257" cy="3445328"/>
          </a:xfrm>
        </p:spPr>
        <p:txBody>
          <a:bodyPr/>
          <a:lstStyle/>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 The mode (most frequent value), median (middle value*) and mean (arithmetic average) of both datasets is 6. </a:t>
            </a:r>
            <a:r>
              <a:rPr lang="en-US" altLang="en-US" sz="1800" dirty="0">
                <a:solidFill>
                  <a:srgbClr val="00B0F0"/>
                </a:solidFill>
                <a:latin typeface="Times New Roman" pitchFamily="18" charset="0"/>
                <a:cs typeface="Times New Roman" pitchFamily="18" charset="0"/>
              </a:rPr>
              <a:t>If we just looked at the measures of central tendency, we may assume that the datasets are the same.</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However, if we look at the spread of the values in the following graph, we can see that Dataset B is more dispersed than Dataset A. Used together, </a:t>
            </a:r>
            <a:r>
              <a:rPr lang="en-US" altLang="en-US" sz="1800" dirty="0">
                <a:solidFill>
                  <a:srgbClr val="00B0F0"/>
                </a:solidFill>
                <a:latin typeface="Times New Roman" pitchFamily="18" charset="0"/>
                <a:cs typeface="Times New Roman" pitchFamily="18" charset="0"/>
              </a:rPr>
              <a:t>the measures of central tendency and measures of spread help us to better understand the data.</a:t>
            </a:r>
          </a:p>
          <a:p>
            <a:pPr marL="80963" lvl="1" indent="0" algn="just" eaLnBrk="1" hangingPunct="1">
              <a:lnSpc>
                <a:spcPct val="150000"/>
              </a:lnSpc>
              <a:buClr>
                <a:srgbClr val="0B5395"/>
              </a:buClr>
              <a:buNone/>
            </a:pPr>
            <a:r>
              <a:rPr lang="en-US" altLang="en-US" sz="1800" dirty="0">
                <a:solidFill>
                  <a:srgbClr val="FF0000"/>
                </a:solidFill>
                <a:latin typeface="Times New Roman" pitchFamily="18" charset="0"/>
                <a:cs typeface="Times New Roman" pitchFamily="18" charset="0"/>
              </a:rPr>
              <a:t>Two datasets can have the same mean, median, and mode, yet be very different.</a:t>
            </a:r>
          </a:p>
        </p:txBody>
      </p:sp>
      <p:sp>
        <p:nvSpPr>
          <p:cNvPr id="10245"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0DB820B1-84B9-4C7A-AD25-2B5A787AECFF}" type="slidenum">
              <a:rPr lang="en-US" altLang="en-US"/>
              <a:pPr/>
              <a:t>20</a:t>
            </a:fld>
            <a:endParaRPr lang="en-US" altLang="en-US"/>
          </a:p>
        </p:txBody>
      </p:sp>
      <p:graphicFrame>
        <p:nvGraphicFramePr>
          <p:cNvPr id="2" name="Table 1"/>
          <p:cNvGraphicFramePr>
            <a:graphicFrameLocks noGrp="1"/>
          </p:cNvGraphicFramePr>
          <p:nvPr>
            <p:extLst>
              <p:ext uri="{D42A27DB-BD31-4B8C-83A1-F6EECF244321}">
                <p14:modId xmlns:p14="http://schemas.microsoft.com/office/powerpoint/2010/main" val="503241968"/>
              </p:ext>
            </p:extLst>
          </p:nvPr>
        </p:nvGraphicFramePr>
        <p:xfrm>
          <a:off x="1379764" y="1522912"/>
          <a:ext cx="5957951" cy="731520"/>
        </p:xfrm>
        <a:graphic>
          <a:graphicData uri="http://schemas.openxmlformats.org/drawingml/2006/table">
            <a:tbl>
              <a:tblPr>
                <a:tableStyleId>{3C2FFA5D-87B4-456A-9821-1D502468CF0F}</a:tableStyleId>
              </a:tblPr>
              <a:tblGrid>
                <a:gridCol w="2868930">
                  <a:extLst>
                    <a:ext uri="{9D8B030D-6E8A-4147-A177-3AD203B41FA5}">
                      <a16:colId xmlns:a16="http://schemas.microsoft.com/office/drawing/2014/main" val="20000"/>
                    </a:ext>
                  </a:extLst>
                </a:gridCol>
                <a:gridCol w="3089021">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Dataset A</a:t>
                      </a:r>
                    </a:p>
                  </a:txBody>
                  <a:tcPr anchor="ctr">
                    <a:solidFill>
                      <a:schemeClr val="bg2"/>
                    </a:solidFill>
                  </a:tcPr>
                </a:tc>
                <a:tc>
                  <a:txBody>
                    <a:bodyPr/>
                    <a:lstStyle/>
                    <a:p>
                      <a:r>
                        <a:rPr lang="en-US" sz="1800" b="1" dirty="0">
                          <a:latin typeface="Times New Roman" pitchFamily="18" charset="0"/>
                          <a:cs typeface="Times New Roman" pitchFamily="18" charset="0"/>
                        </a:rPr>
                        <a:t>Dataset B</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4, 5, 5, 5, 6, 6, 6, 6, 7, 7, 7, 8</a:t>
                      </a:r>
                    </a:p>
                  </a:txBody>
                  <a:tcPr anchor="ctr">
                    <a:solidFill>
                      <a:schemeClr val="bg2"/>
                    </a:solidFill>
                  </a:tcPr>
                </a:tc>
                <a:tc>
                  <a:txBody>
                    <a:bodyPr/>
                    <a:lstStyle/>
                    <a:p>
                      <a:r>
                        <a:rPr lang="en-US" sz="1800" dirty="0">
                          <a:latin typeface="Times New Roman" pitchFamily="18" charset="0"/>
                          <a:cs typeface="Times New Roman" pitchFamily="18" charset="0"/>
                        </a:rPr>
                        <a:t>1, 2, 3, 4, 5, 6, 6, 7, 8, 9, 10, 11</a:t>
                      </a:r>
                    </a:p>
                  </a:txBody>
                  <a:tcPr anchor="ctr">
                    <a:solidFill>
                      <a:schemeClr val="bg2"/>
                    </a:solidFill>
                  </a:tcPr>
                </a:tc>
                <a:extLst>
                  <a:ext uri="{0D108BD9-81ED-4DB2-BD59-A6C34878D82A}">
                    <a16:rowId xmlns:a16="http://schemas.microsoft.com/office/drawing/2014/main" val="10001"/>
                  </a:ext>
                </a:extLst>
              </a:tr>
            </a:tbl>
          </a:graphicData>
        </a:graphic>
      </p:graphicFrame>
      <p:sp>
        <p:nvSpPr>
          <p:cNvPr id="8"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 of Spread</a:t>
            </a:r>
          </a:p>
        </p:txBody>
      </p:sp>
      <p:graphicFrame>
        <p:nvGraphicFramePr>
          <p:cNvPr id="9" name="Table 8"/>
          <p:cNvGraphicFramePr>
            <a:graphicFrameLocks noGrp="1"/>
          </p:cNvGraphicFramePr>
          <p:nvPr>
            <p:extLst>
              <p:ext uri="{D42A27DB-BD31-4B8C-83A1-F6EECF244321}">
                <p14:modId xmlns:p14="http://schemas.microsoft.com/office/powerpoint/2010/main" val="1251787901"/>
              </p:ext>
            </p:extLst>
          </p:nvPr>
        </p:nvGraphicFramePr>
        <p:xfrm>
          <a:off x="7976506" y="2832463"/>
          <a:ext cx="3459227" cy="2194560"/>
        </p:xfrm>
        <a:graphic>
          <a:graphicData uri="http://schemas.openxmlformats.org/drawingml/2006/table">
            <a:tbl>
              <a:tblPr>
                <a:tableStyleId>{3C2FFA5D-87B4-456A-9821-1D502468CF0F}</a:tableStyleId>
              </a:tblPr>
              <a:tblGrid>
                <a:gridCol w="1086803">
                  <a:extLst>
                    <a:ext uri="{9D8B030D-6E8A-4147-A177-3AD203B41FA5}">
                      <a16:colId xmlns:a16="http://schemas.microsoft.com/office/drawing/2014/main" val="20000"/>
                    </a:ext>
                  </a:extLst>
                </a:gridCol>
                <a:gridCol w="1186244">
                  <a:extLst>
                    <a:ext uri="{9D8B030D-6E8A-4147-A177-3AD203B41FA5}">
                      <a16:colId xmlns:a16="http://schemas.microsoft.com/office/drawing/2014/main" val="20001"/>
                    </a:ext>
                  </a:extLst>
                </a:gridCol>
                <a:gridCol w="1186180">
                  <a:extLst>
                    <a:ext uri="{9D8B030D-6E8A-4147-A177-3AD203B41FA5}">
                      <a16:colId xmlns:a16="http://schemas.microsoft.com/office/drawing/2014/main" val="20002"/>
                    </a:ext>
                  </a:extLst>
                </a:gridCol>
              </a:tblGrid>
              <a:tr h="365760">
                <a:tc>
                  <a:txBody>
                    <a:bodyPr/>
                    <a:lstStyle/>
                    <a:p>
                      <a:r>
                        <a:rPr lang="en-US" sz="1800" b="1" dirty="0">
                          <a:latin typeface="Times New Roman" pitchFamily="18" charset="0"/>
                          <a:cs typeface="Times New Roman" pitchFamily="18" charset="0"/>
                        </a:rPr>
                        <a:t>Measure</a:t>
                      </a:r>
                    </a:p>
                  </a:txBody>
                  <a:tcPr anchor="ctr"/>
                </a:tc>
                <a:tc>
                  <a:txBody>
                    <a:bodyPr/>
                    <a:lstStyle/>
                    <a:p>
                      <a:r>
                        <a:rPr lang="en-US" sz="1800" b="1" dirty="0">
                          <a:latin typeface="Times New Roman" pitchFamily="18" charset="0"/>
                          <a:cs typeface="Times New Roman" pitchFamily="18" charset="0"/>
                        </a:rPr>
                        <a:t>Dataset A</a:t>
                      </a:r>
                    </a:p>
                  </a:txBody>
                  <a:tcPr anchor="ctr"/>
                </a:tc>
                <a:tc>
                  <a:txBody>
                    <a:bodyPr/>
                    <a:lstStyle/>
                    <a:p>
                      <a:r>
                        <a:rPr lang="en-US" sz="1800" b="1" dirty="0">
                          <a:latin typeface="Times New Roman" pitchFamily="18" charset="0"/>
                          <a:cs typeface="Times New Roman" pitchFamily="18" charset="0"/>
                        </a:rPr>
                        <a:t>Dataset B</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Mean</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Median</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Mode</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Range</a:t>
                      </a:r>
                    </a:p>
                  </a:txBody>
                  <a:tcPr anchor="ctr"/>
                </a:tc>
                <a:tc>
                  <a:txBody>
                    <a:bodyPr/>
                    <a:lstStyle/>
                    <a:p>
                      <a:r>
                        <a:rPr lang="en-US" sz="1800">
                          <a:latin typeface="Times New Roman" pitchFamily="18" charset="0"/>
                          <a:cs typeface="Times New Roman" pitchFamily="18" charset="0"/>
                        </a:rPr>
                        <a:t>4</a:t>
                      </a:r>
                    </a:p>
                  </a:txBody>
                  <a:tcPr anchor="ctr"/>
                </a:tc>
                <a:tc>
                  <a:txBody>
                    <a:bodyPr/>
                    <a:lstStyle/>
                    <a:p>
                      <a:r>
                        <a:rPr lang="en-US" sz="1800">
                          <a:latin typeface="Times New Roman" pitchFamily="18" charset="0"/>
                          <a:cs typeface="Times New Roman" pitchFamily="18" charset="0"/>
                        </a:rPr>
                        <a:t>10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SD</a:t>
                      </a:r>
                    </a:p>
                  </a:txBody>
                  <a:tcPr anchor="ctr"/>
                </a:tc>
                <a:tc>
                  <a:txBody>
                    <a:bodyPr/>
                    <a:lstStyle/>
                    <a:p>
                      <a:r>
                        <a:rPr lang="en-US" sz="1800">
                          <a:latin typeface="Times New Roman" pitchFamily="18" charset="0"/>
                          <a:cs typeface="Times New Roman" pitchFamily="18" charset="0"/>
                        </a:rPr>
                        <a:t>1.13</a:t>
                      </a:r>
                    </a:p>
                  </a:txBody>
                  <a:tcPr anchor="ctr"/>
                </a:tc>
                <a:tc>
                  <a:txBody>
                    <a:bodyPr/>
                    <a:lstStyle/>
                    <a:p>
                      <a:r>
                        <a:rPr lang="en-US" sz="1800" dirty="0">
                          <a:latin typeface="Times New Roman" pitchFamily="18" charset="0"/>
                          <a:cs typeface="Times New Roman" pitchFamily="18" charset="0"/>
                        </a:rPr>
                        <a:t>3.16</a:t>
                      </a:r>
                    </a:p>
                  </a:txBody>
                  <a:tcPr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Content Placeholder 2"/>
          <p:cNvSpPr>
            <a:spLocks noGrp="1"/>
          </p:cNvSpPr>
          <p:nvPr>
            <p:ph idx="1"/>
          </p:nvPr>
        </p:nvSpPr>
        <p:spPr>
          <a:xfrm>
            <a:off x="1143000" y="863600"/>
            <a:ext cx="10104438" cy="5110163"/>
          </a:xfrm>
        </p:spPr>
        <p:txBody>
          <a:bodyPr/>
          <a:lstStyle/>
          <a:p>
            <a:pPr marL="80963" lvl="1" indent="0" algn="just" eaLnBrk="1" hangingPunct="1">
              <a:lnSpc>
                <a:spcPct val="150000"/>
              </a:lnSpc>
              <a:buClr>
                <a:srgbClr val="0B5395"/>
              </a:buClr>
              <a:buFont typeface="Corbel" panose="020B0503020204020204" pitchFamily="34" charset="0"/>
              <a:buNone/>
            </a:pPr>
            <a:endParaRPr lang="en-US" altLang="en-US" sz="1800" b="1">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endParaRPr lang="en-US" altLang="en-US" sz="1800">
              <a:latin typeface="Times New Roman" pitchFamily="18" charset="0"/>
              <a:cs typeface="Times New Roman" pitchFamily="18" charset="0"/>
            </a:endParaRPr>
          </a:p>
        </p:txBody>
      </p:sp>
      <p:sp>
        <p:nvSpPr>
          <p:cNvPr id="11269"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01C8187B-54C1-448B-9EB3-17C7BB28FE2C}" type="slidenum">
              <a:rPr lang="en-US" altLang="en-US"/>
              <a:pPr/>
              <a:t>21</a:t>
            </a:fld>
            <a:endParaRPr lang="en-US" altLang="en-US"/>
          </a:p>
        </p:txBody>
      </p:sp>
      <p:sp>
        <p:nvSpPr>
          <p:cNvPr id="8"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 of Spread</a:t>
            </a:r>
          </a:p>
        </p:txBody>
      </p:sp>
      <p:graphicFrame>
        <p:nvGraphicFramePr>
          <p:cNvPr id="9" name="Table 8"/>
          <p:cNvGraphicFramePr>
            <a:graphicFrameLocks noGrp="1"/>
          </p:cNvGraphicFramePr>
          <p:nvPr>
            <p:extLst>
              <p:ext uri="{D42A27DB-BD31-4B8C-83A1-F6EECF244321}">
                <p14:modId xmlns:p14="http://schemas.microsoft.com/office/powerpoint/2010/main" val="3138171337"/>
              </p:ext>
            </p:extLst>
          </p:nvPr>
        </p:nvGraphicFramePr>
        <p:xfrm>
          <a:off x="1379764" y="1522912"/>
          <a:ext cx="5957951" cy="731520"/>
        </p:xfrm>
        <a:graphic>
          <a:graphicData uri="http://schemas.openxmlformats.org/drawingml/2006/table">
            <a:tbl>
              <a:tblPr>
                <a:tableStyleId>{3C2FFA5D-87B4-456A-9821-1D502468CF0F}</a:tableStyleId>
              </a:tblPr>
              <a:tblGrid>
                <a:gridCol w="2868930">
                  <a:extLst>
                    <a:ext uri="{9D8B030D-6E8A-4147-A177-3AD203B41FA5}">
                      <a16:colId xmlns:a16="http://schemas.microsoft.com/office/drawing/2014/main" val="20000"/>
                    </a:ext>
                  </a:extLst>
                </a:gridCol>
                <a:gridCol w="3089021">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Dataset A</a:t>
                      </a:r>
                    </a:p>
                  </a:txBody>
                  <a:tcPr anchor="ctr">
                    <a:solidFill>
                      <a:schemeClr val="bg2"/>
                    </a:solidFill>
                  </a:tcPr>
                </a:tc>
                <a:tc>
                  <a:txBody>
                    <a:bodyPr/>
                    <a:lstStyle/>
                    <a:p>
                      <a:r>
                        <a:rPr lang="en-US" sz="1800" b="1" dirty="0">
                          <a:latin typeface="Times New Roman" pitchFamily="18" charset="0"/>
                          <a:cs typeface="Times New Roman" pitchFamily="18" charset="0"/>
                        </a:rPr>
                        <a:t>Dataset B</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4, 5, 5, 5, 6, 6, 6, 6, 7, 7, 7, 8</a:t>
                      </a:r>
                    </a:p>
                  </a:txBody>
                  <a:tcPr anchor="ctr">
                    <a:solidFill>
                      <a:schemeClr val="bg2"/>
                    </a:solidFill>
                  </a:tcPr>
                </a:tc>
                <a:tc>
                  <a:txBody>
                    <a:bodyPr/>
                    <a:lstStyle/>
                    <a:p>
                      <a:r>
                        <a:rPr lang="en-US" sz="1800" dirty="0">
                          <a:latin typeface="Times New Roman" pitchFamily="18" charset="0"/>
                          <a:cs typeface="Times New Roman" pitchFamily="18" charset="0"/>
                        </a:rPr>
                        <a:t>1, 2, 3, 4, 5, 6, 6, 7, 8, 9, 10, 11</a:t>
                      </a:r>
                    </a:p>
                  </a:txBody>
                  <a:tcPr anchor="ctr">
                    <a:solidFill>
                      <a:schemeClr val="bg2"/>
                    </a:solidFill>
                  </a:tcPr>
                </a:tc>
                <a:extLst>
                  <a:ext uri="{0D108BD9-81ED-4DB2-BD59-A6C34878D82A}">
                    <a16:rowId xmlns:a16="http://schemas.microsoft.com/office/drawing/2014/main" val="10001"/>
                  </a:ext>
                </a:extLst>
              </a:tr>
            </a:tbl>
          </a:graphicData>
        </a:graphic>
      </p:graphicFrame>
      <p:pic>
        <p:nvPicPr>
          <p:cNvPr id="20481" name="Picture 1" descr="C:\Users\Asus\Downloads\Rpl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2800352"/>
            <a:ext cx="3934940" cy="24411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Table 10"/>
          <p:cNvGraphicFramePr>
            <a:graphicFrameLocks noGrp="1"/>
          </p:cNvGraphicFramePr>
          <p:nvPr>
            <p:extLst>
              <p:ext uri="{D42A27DB-BD31-4B8C-83A1-F6EECF244321}">
                <p14:modId xmlns:p14="http://schemas.microsoft.com/office/powerpoint/2010/main" val="2252044534"/>
              </p:ext>
            </p:extLst>
          </p:nvPr>
        </p:nvGraphicFramePr>
        <p:xfrm>
          <a:off x="7927520" y="1526177"/>
          <a:ext cx="3459227" cy="2194560"/>
        </p:xfrm>
        <a:graphic>
          <a:graphicData uri="http://schemas.openxmlformats.org/drawingml/2006/table">
            <a:tbl>
              <a:tblPr>
                <a:tableStyleId>{3C2FFA5D-87B4-456A-9821-1D502468CF0F}</a:tableStyleId>
              </a:tblPr>
              <a:tblGrid>
                <a:gridCol w="1086803">
                  <a:extLst>
                    <a:ext uri="{9D8B030D-6E8A-4147-A177-3AD203B41FA5}">
                      <a16:colId xmlns:a16="http://schemas.microsoft.com/office/drawing/2014/main" val="20000"/>
                    </a:ext>
                  </a:extLst>
                </a:gridCol>
                <a:gridCol w="1186244">
                  <a:extLst>
                    <a:ext uri="{9D8B030D-6E8A-4147-A177-3AD203B41FA5}">
                      <a16:colId xmlns:a16="http://schemas.microsoft.com/office/drawing/2014/main" val="20001"/>
                    </a:ext>
                  </a:extLst>
                </a:gridCol>
                <a:gridCol w="1186180">
                  <a:extLst>
                    <a:ext uri="{9D8B030D-6E8A-4147-A177-3AD203B41FA5}">
                      <a16:colId xmlns:a16="http://schemas.microsoft.com/office/drawing/2014/main" val="20002"/>
                    </a:ext>
                  </a:extLst>
                </a:gridCol>
              </a:tblGrid>
              <a:tr h="365760">
                <a:tc>
                  <a:txBody>
                    <a:bodyPr/>
                    <a:lstStyle/>
                    <a:p>
                      <a:r>
                        <a:rPr lang="en-US" sz="1800" b="1" dirty="0">
                          <a:latin typeface="Times New Roman" pitchFamily="18" charset="0"/>
                          <a:cs typeface="Times New Roman" pitchFamily="18" charset="0"/>
                        </a:rPr>
                        <a:t>Measure</a:t>
                      </a:r>
                    </a:p>
                  </a:txBody>
                  <a:tcPr anchor="ctr"/>
                </a:tc>
                <a:tc>
                  <a:txBody>
                    <a:bodyPr/>
                    <a:lstStyle/>
                    <a:p>
                      <a:r>
                        <a:rPr lang="en-US" sz="1800" b="1" dirty="0">
                          <a:latin typeface="Times New Roman" pitchFamily="18" charset="0"/>
                          <a:cs typeface="Times New Roman" pitchFamily="18" charset="0"/>
                        </a:rPr>
                        <a:t>Dataset A</a:t>
                      </a:r>
                    </a:p>
                  </a:txBody>
                  <a:tcPr anchor="ctr"/>
                </a:tc>
                <a:tc>
                  <a:txBody>
                    <a:bodyPr/>
                    <a:lstStyle/>
                    <a:p>
                      <a:r>
                        <a:rPr lang="en-US" sz="1800" b="1" dirty="0">
                          <a:latin typeface="Times New Roman" pitchFamily="18" charset="0"/>
                          <a:cs typeface="Times New Roman" pitchFamily="18" charset="0"/>
                        </a:rPr>
                        <a:t>Dataset B</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Mean</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Median</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Mode</a:t>
                      </a:r>
                    </a:p>
                  </a:txBody>
                  <a:tcPr anchor="ctr"/>
                </a:tc>
                <a:tc>
                  <a:txBody>
                    <a:bodyPr/>
                    <a:lstStyle/>
                    <a:p>
                      <a:r>
                        <a:rPr lang="en-US" sz="1800">
                          <a:latin typeface="Times New Roman" pitchFamily="18" charset="0"/>
                          <a:cs typeface="Times New Roman" pitchFamily="18" charset="0"/>
                        </a:rPr>
                        <a:t>6</a:t>
                      </a:r>
                    </a:p>
                  </a:txBody>
                  <a:tcPr anchor="ctr"/>
                </a:tc>
                <a:tc>
                  <a:txBody>
                    <a:bodyPr/>
                    <a:lstStyle/>
                    <a:p>
                      <a:r>
                        <a:rPr lang="en-US" sz="1800">
                          <a:latin typeface="Times New Roman" pitchFamily="18" charset="0"/>
                          <a:cs typeface="Times New Roman" pitchFamily="18" charset="0"/>
                        </a:rPr>
                        <a:t>6</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Range</a:t>
                      </a:r>
                    </a:p>
                  </a:txBody>
                  <a:tcPr anchor="ctr"/>
                </a:tc>
                <a:tc>
                  <a:txBody>
                    <a:bodyPr/>
                    <a:lstStyle/>
                    <a:p>
                      <a:r>
                        <a:rPr lang="en-US" sz="1800">
                          <a:latin typeface="Times New Roman" pitchFamily="18" charset="0"/>
                          <a:cs typeface="Times New Roman" pitchFamily="18" charset="0"/>
                        </a:rPr>
                        <a:t>4</a:t>
                      </a:r>
                    </a:p>
                  </a:txBody>
                  <a:tcPr anchor="ctr"/>
                </a:tc>
                <a:tc>
                  <a:txBody>
                    <a:bodyPr/>
                    <a:lstStyle/>
                    <a:p>
                      <a:r>
                        <a:rPr lang="en-US" sz="1800">
                          <a:latin typeface="Times New Roman" pitchFamily="18" charset="0"/>
                          <a:cs typeface="Times New Roman" pitchFamily="18" charset="0"/>
                        </a:rPr>
                        <a:t>10</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SD</a:t>
                      </a:r>
                    </a:p>
                  </a:txBody>
                  <a:tcPr anchor="ctr"/>
                </a:tc>
                <a:tc>
                  <a:txBody>
                    <a:bodyPr/>
                    <a:lstStyle/>
                    <a:p>
                      <a:r>
                        <a:rPr lang="en-US" sz="1800">
                          <a:latin typeface="Times New Roman" pitchFamily="18" charset="0"/>
                          <a:cs typeface="Times New Roman" pitchFamily="18" charset="0"/>
                        </a:rPr>
                        <a:t>1.13</a:t>
                      </a:r>
                    </a:p>
                  </a:txBody>
                  <a:tcPr anchor="ctr"/>
                </a:tc>
                <a:tc>
                  <a:txBody>
                    <a:bodyPr/>
                    <a:lstStyle/>
                    <a:p>
                      <a:r>
                        <a:rPr lang="en-US" sz="1800" dirty="0">
                          <a:latin typeface="Times New Roman" pitchFamily="18" charset="0"/>
                          <a:cs typeface="Times New Roman" pitchFamily="18" charset="0"/>
                        </a:rPr>
                        <a:t>3.16</a:t>
                      </a:r>
                    </a:p>
                  </a:txBody>
                  <a:tcPr anchor="ctr"/>
                </a:tc>
                <a:extLst>
                  <a:ext uri="{0D108BD9-81ED-4DB2-BD59-A6C34878D82A}">
                    <a16:rowId xmlns:a16="http://schemas.microsoft.com/office/drawing/2014/main" val="10005"/>
                  </a:ext>
                </a:extLst>
              </a:tr>
            </a:tbl>
          </a:graphicData>
        </a:graphic>
      </p:graphicFrame>
      <p:sp>
        <p:nvSpPr>
          <p:cNvPr id="3" name="Rectangle 2"/>
          <p:cNvSpPr/>
          <p:nvPr/>
        </p:nvSpPr>
        <p:spPr>
          <a:xfrm>
            <a:off x="4906736" y="4020912"/>
            <a:ext cx="6866164" cy="2169825"/>
          </a:xfrm>
          <a:prstGeom prst="rect">
            <a:avLst/>
          </a:prstGeom>
        </p:spPr>
        <p:txBody>
          <a:bodyPr wrap="square">
            <a:spAutoFit/>
          </a:bodyPr>
          <a:lstStyle/>
          <a:p>
            <a:pPr marL="80963" lvl="1" indent="0" algn="just" eaLnBrk="1" hangingPunct="1">
              <a:lnSpc>
                <a:spcPct val="150000"/>
              </a:lnSpc>
              <a:buClr>
                <a:srgbClr val="0B5395"/>
              </a:buClr>
              <a:buFont typeface="Corbel" panose="020B0503020204020204" pitchFamily="34" charset="0"/>
              <a:buNone/>
            </a:pPr>
            <a:r>
              <a:rPr lang="en-US" altLang="en-US" dirty="0">
                <a:latin typeface="Times New Roman" pitchFamily="18" charset="0"/>
                <a:cs typeface="Times New Roman" pitchFamily="18" charset="0"/>
              </a:rPr>
              <a:t>Measure of spread, sometimes also called a measure of dispersion, is used to describe the variability in a sample or population .</a:t>
            </a:r>
            <a:r>
              <a:rPr lang="en-US" altLang="en-US" dirty="0">
                <a:solidFill>
                  <a:srgbClr val="FF0000"/>
                </a:solidFill>
                <a:latin typeface="Times New Roman" pitchFamily="18" charset="0"/>
                <a:cs typeface="Times New Roman" pitchFamily="18" charset="0"/>
              </a:rPr>
              <a:t>There are two common metrics to quantify spread: Range and Deviation.</a:t>
            </a:r>
          </a:p>
          <a:p>
            <a:pPr marL="80963" lvl="1" indent="0" algn="just" eaLnBrk="1" hangingPunct="1">
              <a:lnSpc>
                <a:spcPct val="150000"/>
              </a:lnSpc>
              <a:buClr>
                <a:srgbClr val="0B5395"/>
              </a:buClr>
              <a:buFont typeface="Corbel" panose="020B0503020204020204" pitchFamily="34" charset="0"/>
              <a:buNone/>
            </a:pPr>
            <a:r>
              <a:rPr lang="en-US" altLang="en-US" b="1" dirty="0">
                <a:latin typeface="Times New Roman" pitchFamily="18" charset="0"/>
                <a:cs typeface="Times New Roman" pitchFamily="18" charset="0"/>
              </a:rPr>
              <a:t>Range: </a:t>
            </a:r>
            <a:r>
              <a:rPr lang="en-US" altLang="en-US" dirty="0">
                <a:latin typeface="Times New Roman" pitchFamily="18" charset="0"/>
                <a:cs typeface="Times New Roman" pitchFamily="18" charset="0"/>
              </a:rPr>
              <a:t>The range is the difference between the maximum value and the minimum value of the attribute.</a:t>
            </a:r>
          </a:p>
        </p:txBody>
      </p:sp>
    </p:spTree>
    <p:extLst>
      <p:ext uri="{BB962C8B-B14F-4D97-AF65-F5344CB8AC3E}">
        <p14:creationId xmlns:p14="http://schemas.microsoft.com/office/powerpoint/2010/main" val="2593078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339" name="Content Placeholder 2"/>
              <p:cNvSpPr>
                <a:spLocks noGrp="1"/>
              </p:cNvSpPr>
              <p:nvPr>
                <p:ph idx="1"/>
              </p:nvPr>
            </p:nvSpPr>
            <p:spPr>
              <a:xfrm>
                <a:off x="1143000" y="863600"/>
                <a:ext cx="10104438" cy="5110163"/>
              </a:xfrm>
            </p:spPr>
            <p:txBody>
              <a:bodyPr/>
              <a:lstStyle/>
              <a:p>
                <a:pPr marL="80963" lvl="1" indent="0" algn="just" eaLnBrk="1" hangingPunct="1">
                  <a:lnSpc>
                    <a:spcPct val="150000"/>
                  </a:lnSpc>
                  <a:buClr>
                    <a:srgbClr val="0B5395"/>
                  </a:buClr>
                  <a:buFont typeface="Corbel" panose="020B0503020204020204" pitchFamily="34" charset="0"/>
                  <a:buNone/>
                </a:pPr>
                <a:endParaRPr lang="en-US" altLang="en-US" sz="1800" b="1"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Deviation</a:t>
                </a:r>
                <a:r>
                  <a:rPr lang="en-US" altLang="en-US" sz="1800" dirty="0">
                    <a:latin typeface="Times New Roman" pitchFamily="18" charset="0"/>
                    <a:cs typeface="Times New Roman" pitchFamily="18" charset="0"/>
                  </a:rPr>
                  <a:t>: The </a:t>
                </a:r>
                <a:r>
                  <a:rPr lang="en-US" altLang="en-US" sz="1800" dirty="0">
                    <a:solidFill>
                      <a:srgbClr val="FF0000"/>
                    </a:solidFill>
                    <a:latin typeface="Times New Roman" pitchFamily="18" charset="0"/>
                    <a:cs typeface="Times New Roman" pitchFamily="18" charset="0"/>
                  </a:rPr>
                  <a:t>variance</a:t>
                </a:r>
                <a:r>
                  <a:rPr lang="en-US" altLang="en-US" sz="1800" dirty="0">
                    <a:latin typeface="Times New Roman" pitchFamily="18" charset="0"/>
                    <a:cs typeface="Times New Roman" pitchFamily="18" charset="0"/>
                  </a:rPr>
                  <a:t> and </a:t>
                </a:r>
                <a:r>
                  <a:rPr lang="en-US" altLang="en-US" sz="1800" dirty="0">
                    <a:solidFill>
                      <a:srgbClr val="FF0000"/>
                    </a:solidFill>
                    <a:latin typeface="Times New Roman" pitchFamily="18" charset="0"/>
                    <a:cs typeface="Times New Roman" pitchFamily="18" charset="0"/>
                  </a:rPr>
                  <a:t>standard deviation </a:t>
                </a:r>
                <a:r>
                  <a:rPr lang="en-US" altLang="en-US" sz="1800" dirty="0">
                    <a:latin typeface="Times New Roman" pitchFamily="18" charset="0"/>
                    <a:cs typeface="Times New Roman" pitchFamily="18" charset="0"/>
                  </a:rPr>
                  <a:t>measures the spread, by considering all the values of the attribute. Deviation is simply measured as the difference between any given value (</a:t>
                </a:r>
                <a14:m>
                  <m:oMath xmlns:m="http://schemas.openxmlformats.org/officeDocument/2006/math">
                    <m:sSub>
                      <m:sSubPr>
                        <m:ctrlPr>
                          <a:rPr lang="en-US" altLang="en-US" sz="1800" i="1" smtClean="0">
                            <a:latin typeface="Cambria Math" panose="02040503050406030204" pitchFamily="18" charset="0"/>
                            <a:cs typeface="Times New Roman" pitchFamily="18" charset="0"/>
                          </a:rPr>
                        </m:ctrlPr>
                      </m:sSubPr>
                      <m:e>
                        <m:r>
                          <a:rPr lang="en-US" altLang="en-US" sz="1800" b="0" i="1" smtClean="0">
                            <a:latin typeface="Cambria Math"/>
                            <a:cs typeface="Times New Roman" pitchFamily="18" charset="0"/>
                          </a:rPr>
                          <m:t>𝑥</m:t>
                        </m:r>
                      </m:e>
                      <m:sub>
                        <m:r>
                          <a:rPr lang="en-US" altLang="en-US" sz="1800" b="0" i="1" smtClean="0">
                            <a:latin typeface="Cambria Math"/>
                            <a:cs typeface="Times New Roman" pitchFamily="18" charset="0"/>
                          </a:rPr>
                          <m:t>𝑖</m:t>
                        </m:r>
                      </m:sub>
                    </m:sSub>
                  </m:oMath>
                </a14:m>
                <a:r>
                  <a:rPr lang="en-US" altLang="en-US" sz="1800" dirty="0">
                    <a:latin typeface="Times New Roman" pitchFamily="18" charset="0"/>
                    <a:cs typeface="Times New Roman" pitchFamily="18" charset="0"/>
                  </a:rPr>
                  <a:t>) and the mean of the sample (</a:t>
                </a:r>
                <a14:m>
                  <m:oMath xmlns:m="http://schemas.openxmlformats.org/officeDocument/2006/math">
                    <m:r>
                      <a:rPr lang="en-US" altLang="en-US" sz="1800" i="1" dirty="0" smtClean="0">
                        <a:latin typeface="Cambria Math"/>
                        <a:cs typeface="Times New Roman" pitchFamily="18" charset="0"/>
                      </a:rPr>
                      <m:t>𝜇</m:t>
                    </m:r>
                  </m:oMath>
                </a14:m>
                <a:r>
                  <a:rPr lang="en-US" altLang="en-US" sz="1800" dirty="0">
                    <a:latin typeface="Times New Roman" pitchFamily="18" charset="0"/>
                    <a:cs typeface="Times New Roman" pitchFamily="18" charset="0"/>
                  </a:rPr>
                  <a:t>). The </a:t>
                </a:r>
                <a:r>
                  <a:rPr lang="en-US" altLang="en-US" sz="1800" dirty="0">
                    <a:solidFill>
                      <a:srgbClr val="FF0000"/>
                    </a:solidFill>
                    <a:latin typeface="Times New Roman" pitchFamily="18" charset="0"/>
                    <a:cs typeface="Times New Roman" pitchFamily="18" charset="0"/>
                  </a:rPr>
                  <a:t>variance</a:t>
                </a:r>
                <a:r>
                  <a:rPr lang="en-US" altLang="en-US" sz="1800" dirty="0">
                    <a:latin typeface="Times New Roman" pitchFamily="18" charset="0"/>
                    <a:cs typeface="Times New Roman" pitchFamily="18" charset="0"/>
                  </a:rPr>
                  <a:t> is the sum of the squared deviations of all data points divided by the number of data points. For a dataset with </a:t>
                </a:r>
                <a14:m>
                  <m:oMath xmlns:m="http://schemas.openxmlformats.org/officeDocument/2006/math">
                    <m:r>
                      <a:rPr lang="en-US" altLang="en-US" sz="1800" i="1" dirty="0" smtClean="0">
                        <a:latin typeface="Cambria Math"/>
                        <a:cs typeface="Times New Roman" pitchFamily="18" charset="0"/>
                      </a:rPr>
                      <m:t>𝑁</m:t>
                    </m:r>
                  </m:oMath>
                </a14:m>
                <a:r>
                  <a:rPr lang="en-US" altLang="en-US" sz="1800" dirty="0">
                    <a:latin typeface="Times New Roman" pitchFamily="18" charset="0"/>
                    <a:cs typeface="Times New Roman" pitchFamily="18" charset="0"/>
                  </a:rPr>
                  <a:t> observations, the variance is given by the following equation.</a:t>
                </a:r>
              </a:p>
              <a:p>
                <a:pPr marL="80963" lvl="1" indent="0" algn="just" eaLnBrk="1" hangingPunct="1">
                  <a:lnSpc>
                    <a:spcPct val="150000"/>
                  </a:lnSpc>
                  <a:buClr>
                    <a:srgbClr val="0B5395"/>
                  </a:buClr>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None/>
                </a:pPr>
                <a:r>
                  <a:rPr lang="en-US" altLang="en-US" sz="1800" dirty="0">
                    <a:latin typeface="Times New Roman" pitchFamily="18" charset="0"/>
                    <a:cs typeface="Times New Roman" pitchFamily="18" charset="0"/>
                  </a:rPr>
                  <a:t>Standard deviation is the square root of the variance. Standard deviation measures how much your entire data set differs from the mean. </a:t>
                </a:r>
              </a:p>
              <a:p>
                <a:pPr marL="80963" lvl="1" indent="0" algn="just" eaLnBrk="1" hangingPunct="1">
                  <a:lnSpc>
                    <a:spcPct val="150000"/>
                  </a:lnSpc>
                  <a:buClr>
                    <a:srgbClr val="0B5395"/>
                  </a:buClr>
                  <a:buNone/>
                </a:pPr>
                <a:r>
                  <a:rPr lang="en-US" altLang="en-US" sz="1800" dirty="0">
                    <a:latin typeface="Times New Roman" pitchFamily="18" charset="0"/>
                    <a:cs typeface="Times New Roman" pitchFamily="18" charset="0"/>
                  </a:rPr>
                  <a:t>High standard deviation means the data points are spread widely around the central point. Low standard deviation means data points are closer to the central point. </a:t>
                </a: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a:t>
                </a:r>
              </a:p>
            </p:txBody>
          </p:sp>
        </mc:Choice>
        <mc:Fallback xmlns="">
          <p:sp>
            <p:nvSpPr>
              <p:cNvPr id="14339" name="Content Placeholder 2"/>
              <p:cNvSpPr>
                <a:spLocks noGrp="1" noRot="1" noChangeAspect="1" noMove="1" noResize="1" noEditPoints="1" noAdjustHandles="1" noChangeArrowheads="1" noChangeShapeType="1" noTextEdit="1"/>
              </p:cNvSpPr>
              <p:nvPr>
                <p:ph idx="1"/>
              </p:nvPr>
            </p:nvSpPr>
            <p:spPr>
              <a:xfrm>
                <a:off x="1143000" y="863600"/>
                <a:ext cx="10104438" cy="5110163"/>
              </a:xfrm>
              <a:blipFill rotWithShape="1">
                <a:blip r:embed="rId2"/>
                <a:stretch>
                  <a:fillRect r="-483" b="-36993"/>
                </a:stretch>
              </a:blipFill>
            </p:spPr>
            <p:txBody>
              <a:bodyPr/>
              <a:lstStyle/>
              <a:p>
                <a:r>
                  <a:rPr lang="en-US">
                    <a:noFill/>
                  </a:rPr>
                  <a:t> </a:t>
                </a:r>
              </a:p>
            </p:txBody>
          </p:sp>
        </mc:Fallback>
      </mc:AlternateContent>
      <p:pic>
        <p:nvPicPr>
          <p:cNvPr id="143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7929" y="2945039"/>
            <a:ext cx="4096576" cy="1237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1"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AB47E6AF-A288-4D76-9633-452145614FD7}" type="slidenum">
              <a:rPr lang="en-US" altLang="en-US"/>
              <a:pPr/>
              <a:t>22</a:t>
            </a:fld>
            <a:endParaRPr lang="en-US" altLang="en-US"/>
          </a:p>
        </p:txBody>
      </p:sp>
      <p:sp>
        <p:nvSpPr>
          <p:cNvPr id="6" name="Title 1"/>
          <p:cNvSpPr>
            <a:spLocks noGrp="1"/>
          </p:cNvSpPr>
          <p:nvPr>
            <p:ph type="title"/>
          </p:nvPr>
        </p:nvSpPr>
        <p:spPr>
          <a:xfrm>
            <a:off x="1143000" y="346075"/>
            <a:ext cx="9875838" cy="1228725"/>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Measure of Spread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1143000" y="863600"/>
            <a:ext cx="7762558" cy="5110163"/>
          </a:xfrm>
        </p:spPr>
        <p:txBody>
          <a:bodyPr/>
          <a:lstStyle/>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Imagine we have a dataset of exam scores of 10 students: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Descriptive Statistics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Mean</a:t>
            </a:r>
            <a:r>
              <a:rPr lang="en-US" altLang="en-US" sz="1800" dirty="0">
                <a:latin typeface="Times New Roman" pitchFamily="18" charset="0"/>
                <a:cs typeface="Times New Roman" pitchFamily="18" charset="0"/>
              </a:rPr>
              <a:t> (Average):</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(85+78+92+67+88+75+90+82+79+95)/10</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=831/10=83.1</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Median</a:t>
            </a:r>
            <a:r>
              <a:rPr lang="en-US" altLang="en-US" sz="1800" dirty="0">
                <a:latin typeface="Times New Roman" pitchFamily="18" charset="0"/>
                <a:cs typeface="Times New Roman" pitchFamily="18" charset="0"/>
              </a:rPr>
              <a:t>:</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Ordered scores: 67, 75, 78, 79, 82, 85, 88, 90, 92, 95</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Median = Average of 5th and 6th values = (82 + 85) / 2 = 83.5</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Minimum Score: 67, Maximum Score: 95</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Range</a:t>
            </a:r>
            <a:r>
              <a:rPr lang="en-US" altLang="en-US" sz="1800" dirty="0">
                <a:latin typeface="Times New Roman" pitchFamily="18" charset="0"/>
                <a:cs typeface="Times New Roman" pitchFamily="18" charset="0"/>
              </a:rPr>
              <a:t>:95 − 67 = 28</a:t>
            </a:r>
          </a:p>
        </p:txBody>
      </p:sp>
      <p:sp>
        <p:nvSpPr>
          <p:cNvPr id="17414" name="Slide Number Placeholder 1"/>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3ECBC92C-38C8-476D-8364-3903F2170345}" type="slidenum">
              <a:rPr lang="en-US" altLang="en-US"/>
              <a:pPr/>
              <a:t>23</a:t>
            </a:fld>
            <a:endParaRPr lang="en-US" altLang="en-US"/>
          </a:p>
        </p:txBody>
      </p:sp>
      <p:sp>
        <p:nvSpPr>
          <p:cNvPr id="8" name="Title 1"/>
          <p:cNvSpPr txBox="1">
            <a:spLocks/>
          </p:cNvSpPr>
          <p:nvPr/>
        </p:nvSpPr>
        <p:spPr bwMode="auto">
          <a:xfrm>
            <a:off x="1143000" y="346075"/>
            <a:ext cx="98758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An example with details</a:t>
            </a:r>
          </a:p>
        </p:txBody>
      </p:sp>
      <p:graphicFrame>
        <p:nvGraphicFramePr>
          <p:cNvPr id="2" name="Table 1">
            <a:extLst>
              <a:ext uri="{FF2B5EF4-FFF2-40B4-BE49-F238E27FC236}">
                <a16:creationId xmlns:a16="http://schemas.microsoft.com/office/drawing/2014/main" id="{03C07D9F-7D14-CC19-F9AA-CB1ECFB5D588}"/>
              </a:ext>
            </a:extLst>
          </p:cNvPr>
          <p:cNvGraphicFramePr>
            <a:graphicFrameLocks noGrp="1"/>
          </p:cNvGraphicFramePr>
          <p:nvPr>
            <p:extLst>
              <p:ext uri="{D42A27DB-BD31-4B8C-83A1-F6EECF244321}">
                <p14:modId xmlns:p14="http://schemas.microsoft.com/office/powerpoint/2010/main" val="1620702779"/>
              </p:ext>
            </p:extLst>
          </p:nvPr>
        </p:nvGraphicFramePr>
        <p:xfrm>
          <a:off x="9570720" y="863600"/>
          <a:ext cx="2113280" cy="4023360"/>
        </p:xfrm>
        <a:graphic>
          <a:graphicData uri="http://schemas.openxmlformats.org/drawingml/2006/table">
            <a:tbl>
              <a:tblPr>
                <a:tableStyleId>{D7AC3CCA-C797-4891-BE02-D94E43425B78}</a:tableStyleId>
              </a:tblPr>
              <a:tblGrid>
                <a:gridCol w="1224104">
                  <a:extLst>
                    <a:ext uri="{9D8B030D-6E8A-4147-A177-3AD203B41FA5}">
                      <a16:colId xmlns:a16="http://schemas.microsoft.com/office/drawing/2014/main" val="140209054"/>
                    </a:ext>
                  </a:extLst>
                </a:gridCol>
                <a:gridCol w="889176">
                  <a:extLst>
                    <a:ext uri="{9D8B030D-6E8A-4147-A177-3AD203B41FA5}">
                      <a16:colId xmlns:a16="http://schemas.microsoft.com/office/drawing/2014/main" val="602115019"/>
                    </a:ext>
                  </a:extLst>
                </a:gridCol>
              </a:tblGrid>
              <a:tr h="365760">
                <a:tc>
                  <a:txBody>
                    <a:bodyPr/>
                    <a:lstStyle/>
                    <a:p>
                      <a:pPr>
                        <a:buNone/>
                      </a:pPr>
                      <a:r>
                        <a:rPr lang="en-GB" sz="1800" b="1"/>
                        <a:t>Student</a:t>
                      </a:r>
                    </a:p>
                  </a:txBody>
                  <a:tcPr anchor="ctr"/>
                </a:tc>
                <a:tc>
                  <a:txBody>
                    <a:bodyPr/>
                    <a:lstStyle/>
                    <a:p>
                      <a:pPr>
                        <a:buNone/>
                      </a:pPr>
                      <a:r>
                        <a:rPr lang="en-GB" sz="1800" b="1" dirty="0"/>
                        <a:t>Score</a:t>
                      </a:r>
                    </a:p>
                  </a:txBody>
                  <a:tcPr anchor="ctr"/>
                </a:tc>
                <a:extLst>
                  <a:ext uri="{0D108BD9-81ED-4DB2-BD59-A6C34878D82A}">
                    <a16:rowId xmlns:a16="http://schemas.microsoft.com/office/drawing/2014/main" val="1437151648"/>
                  </a:ext>
                </a:extLst>
              </a:tr>
              <a:tr h="365760">
                <a:tc>
                  <a:txBody>
                    <a:bodyPr/>
                    <a:lstStyle/>
                    <a:p>
                      <a:pPr>
                        <a:buNone/>
                      </a:pPr>
                      <a:r>
                        <a:rPr lang="en-GB" sz="1800"/>
                        <a:t>A</a:t>
                      </a:r>
                    </a:p>
                  </a:txBody>
                  <a:tcPr anchor="ctr"/>
                </a:tc>
                <a:tc>
                  <a:txBody>
                    <a:bodyPr/>
                    <a:lstStyle/>
                    <a:p>
                      <a:pPr>
                        <a:buNone/>
                      </a:pPr>
                      <a:r>
                        <a:rPr lang="en-GB" sz="1800" dirty="0"/>
                        <a:t>85</a:t>
                      </a:r>
                    </a:p>
                  </a:txBody>
                  <a:tcPr anchor="ctr"/>
                </a:tc>
                <a:extLst>
                  <a:ext uri="{0D108BD9-81ED-4DB2-BD59-A6C34878D82A}">
                    <a16:rowId xmlns:a16="http://schemas.microsoft.com/office/drawing/2014/main" val="332472531"/>
                  </a:ext>
                </a:extLst>
              </a:tr>
              <a:tr h="365760">
                <a:tc>
                  <a:txBody>
                    <a:bodyPr/>
                    <a:lstStyle/>
                    <a:p>
                      <a:pPr>
                        <a:buNone/>
                      </a:pPr>
                      <a:r>
                        <a:rPr lang="en-GB" sz="1800"/>
                        <a:t>B</a:t>
                      </a:r>
                    </a:p>
                  </a:txBody>
                  <a:tcPr anchor="ctr"/>
                </a:tc>
                <a:tc>
                  <a:txBody>
                    <a:bodyPr/>
                    <a:lstStyle/>
                    <a:p>
                      <a:pPr>
                        <a:buNone/>
                      </a:pPr>
                      <a:r>
                        <a:rPr lang="en-GB" sz="1800"/>
                        <a:t>78</a:t>
                      </a:r>
                    </a:p>
                  </a:txBody>
                  <a:tcPr anchor="ctr"/>
                </a:tc>
                <a:extLst>
                  <a:ext uri="{0D108BD9-81ED-4DB2-BD59-A6C34878D82A}">
                    <a16:rowId xmlns:a16="http://schemas.microsoft.com/office/drawing/2014/main" val="314335985"/>
                  </a:ext>
                </a:extLst>
              </a:tr>
              <a:tr h="365760">
                <a:tc>
                  <a:txBody>
                    <a:bodyPr/>
                    <a:lstStyle/>
                    <a:p>
                      <a:pPr>
                        <a:buNone/>
                      </a:pPr>
                      <a:r>
                        <a:rPr lang="en-GB" sz="1800"/>
                        <a:t>C</a:t>
                      </a:r>
                    </a:p>
                  </a:txBody>
                  <a:tcPr anchor="ctr"/>
                </a:tc>
                <a:tc>
                  <a:txBody>
                    <a:bodyPr/>
                    <a:lstStyle/>
                    <a:p>
                      <a:pPr>
                        <a:buNone/>
                      </a:pPr>
                      <a:r>
                        <a:rPr lang="en-GB" sz="1800"/>
                        <a:t>92</a:t>
                      </a:r>
                    </a:p>
                  </a:txBody>
                  <a:tcPr anchor="ctr"/>
                </a:tc>
                <a:extLst>
                  <a:ext uri="{0D108BD9-81ED-4DB2-BD59-A6C34878D82A}">
                    <a16:rowId xmlns:a16="http://schemas.microsoft.com/office/drawing/2014/main" val="919774006"/>
                  </a:ext>
                </a:extLst>
              </a:tr>
              <a:tr h="365760">
                <a:tc>
                  <a:txBody>
                    <a:bodyPr/>
                    <a:lstStyle/>
                    <a:p>
                      <a:pPr>
                        <a:buNone/>
                      </a:pPr>
                      <a:r>
                        <a:rPr lang="en-GB" sz="1800"/>
                        <a:t>D</a:t>
                      </a:r>
                    </a:p>
                  </a:txBody>
                  <a:tcPr anchor="ctr"/>
                </a:tc>
                <a:tc>
                  <a:txBody>
                    <a:bodyPr/>
                    <a:lstStyle/>
                    <a:p>
                      <a:pPr>
                        <a:buNone/>
                      </a:pPr>
                      <a:r>
                        <a:rPr lang="en-GB" sz="1800"/>
                        <a:t>67</a:t>
                      </a:r>
                    </a:p>
                  </a:txBody>
                  <a:tcPr anchor="ctr"/>
                </a:tc>
                <a:extLst>
                  <a:ext uri="{0D108BD9-81ED-4DB2-BD59-A6C34878D82A}">
                    <a16:rowId xmlns:a16="http://schemas.microsoft.com/office/drawing/2014/main" val="2258521090"/>
                  </a:ext>
                </a:extLst>
              </a:tr>
              <a:tr h="365760">
                <a:tc>
                  <a:txBody>
                    <a:bodyPr/>
                    <a:lstStyle/>
                    <a:p>
                      <a:pPr>
                        <a:buNone/>
                      </a:pPr>
                      <a:r>
                        <a:rPr lang="en-GB" sz="1800"/>
                        <a:t>E</a:t>
                      </a:r>
                    </a:p>
                  </a:txBody>
                  <a:tcPr anchor="ctr"/>
                </a:tc>
                <a:tc>
                  <a:txBody>
                    <a:bodyPr/>
                    <a:lstStyle/>
                    <a:p>
                      <a:pPr>
                        <a:buNone/>
                      </a:pPr>
                      <a:r>
                        <a:rPr lang="en-GB" sz="1800"/>
                        <a:t>88</a:t>
                      </a:r>
                    </a:p>
                  </a:txBody>
                  <a:tcPr anchor="ctr"/>
                </a:tc>
                <a:extLst>
                  <a:ext uri="{0D108BD9-81ED-4DB2-BD59-A6C34878D82A}">
                    <a16:rowId xmlns:a16="http://schemas.microsoft.com/office/drawing/2014/main" val="3338119366"/>
                  </a:ext>
                </a:extLst>
              </a:tr>
              <a:tr h="365760">
                <a:tc>
                  <a:txBody>
                    <a:bodyPr/>
                    <a:lstStyle/>
                    <a:p>
                      <a:pPr>
                        <a:buNone/>
                      </a:pPr>
                      <a:r>
                        <a:rPr lang="en-GB" sz="1800"/>
                        <a:t>F</a:t>
                      </a:r>
                    </a:p>
                  </a:txBody>
                  <a:tcPr anchor="ctr"/>
                </a:tc>
                <a:tc>
                  <a:txBody>
                    <a:bodyPr/>
                    <a:lstStyle/>
                    <a:p>
                      <a:pPr>
                        <a:buNone/>
                      </a:pPr>
                      <a:r>
                        <a:rPr lang="en-GB" sz="1800"/>
                        <a:t>75</a:t>
                      </a:r>
                    </a:p>
                  </a:txBody>
                  <a:tcPr anchor="ctr"/>
                </a:tc>
                <a:extLst>
                  <a:ext uri="{0D108BD9-81ED-4DB2-BD59-A6C34878D82A}">
                    <a16:rowId xmlns:a16="http://schemas.microsoft.com/office/drawing/2014/main" val="1284199150"/>
                  </a:ext>
                </a:extLst>
              </a:tr>
              <a:tr h="365760">
                <a:tc>
                  <a:txBody>
                    <a:bodyPr/>
                    <a:lstStyle/>
                    <a:p>
                      <a:pPr>
                        <a:buNone/>
                      </a:pPr>
                      <a:r>
                        <a:rPr lang="en-GB" sz="1800"/>
                        <a:t>G</a:t>
                      </a:r>
                    </a:p>
                  </a:txBody>
                  <a:tcPr anchor="ctr"/>
                </a:tc>
                <a:tc>
                  <a:txBody>
                    <a:bodyPr/>
                    <a:lstStyle/>
                    <a:p>
                      <a:pPr>
                        <a:buNone/>
                      </a:pPr>
                      <a:r>
                        <a:rPr lang="en-GB" sz="1800"/>
                        <a:t>90</a:t>
                      </a:r>
                    </a:p>
                  </a:txBody>
                  <a:tcPr anchor="ctr"/>
                </a:tc>
                <a:extLst>
                  <a:ext uri="{0D108BD9-81ED-4DB2-BD59-A6C34878D82A}">
                    <a16:rowId xmlns:a16="http://schemas.microsoft.com/office/drawing/2014/main" val="4180192674"/>
                  </a:ext>
                </a:extLst>
              </a:tr>
              <a:tr h="365760">
                <a:tc>
                  <a:txBody>
                    <a:bodyPr/>
                    <a:lstStyle/>
                    <a:p>
                      <a:pPr>
                        <a:buNone/>
                      </a:pPr>
                      <a:r>
                        <a:rPr lang="en-GB" sz="1800"/>
                        <a:t>H</a:t>
                      </a:r>
                    </a:p>
                  </a:txBody>
                  <a:tcPr anchor="ctr"/>
                </a:tc>
                <a:tc>
                  <a:txBody>
                    <a:bodyPr/>
                    <a:lstStyle/>
                    <a:p>
                      <a:pPr>
                        <a:buNone/>
                      </a:pPr>
                      <a:r>
                        <a:rPr lang="en-GB" sz="1800"/>
                        <a:t>82</a:t>
                      </a:r>
                    </a:p>
                  </a:txBody>
                  <a:tcPr anchor="ctr"/>
                </a:tc>
                <a:extLst>
                  <a:ext uri="{0D108BD9-81ED-4DB2-BD59-A6C34878D82A}">
                    <a16:rowId xmlns:a16="http://schemas.microsoft.com/office/drawing/2014/main" val="148162899"/>
                  </a:ext>
                </a:extLst>
              </a:tr>
              <a:tr h="365760">
                <a:tc>
                  <a:txBody>
                    <a:bodyPr/>
                    <a:lstStyle/>
                    <a:p>
                      <a:pPr>
                        <a:buNone/>
                      </a:pPr>
                      <a:r>
                        <a:rPr lang="en-GB" sz="1800"/>
                        <a:t>I</a:t>
                      </a:r>
                    </a:p>
                  </a:txBody>
                  <a:tcPr anchor="ctr"/>
                </a:tc>
                <a:tc>
                  <a:txBody>
                    <a:bodyPr/>
                    <a:lstStyle/>
                    <a:p>
                      <a:pPr>
                        <a:buNone/>
                      </a:pPr>
                      <a:r>
                        <a:rPr lang="en-GB" sz="1800"/>
                        <a:t>79</a:t>
                      </a:r>
                    </a:p>
                  </a:txBody>
                  <a:tcPr anchor="ctr"/>
                </a:tc>
                <a:extLst>
                  <a:ext uri="{0D108BD9-81ED-4DB2-BD59-A6C34878D82A}">
                    <a16:rowId xmlns:a16="http://schemas.microsoft.com/office/drawing/2014/main" val="619140763"/>
                  </a:ext>
                </a:extLst>
              </a:tr>
              <a:tr h="365760">
                <a:tc>
                  <a:txBody>
                    <a:bodyPr/>
                    <a:lstStyle/>
                    <a:p>
                      <a:pPr>
                        <a:buNone/>
                      </a:pPr>
                      <a:r>
                        <a:rPr lang="en-GB" sz="1800"/>
                        <a:t>J</a:t>
                      </a:r>
                    </a:p>
                  </a:txBody>
                  <a:tcPr anchor="ctr"/>
                </a:tc>
                <a:tc>
                  <a:txBody>
                    <a:bodyPr/>
                    <a:lstStyle/>
                    <a:p>
                      <a:pPr>
                        <a:buNone/>
                      </a:pPr>
                      <a:r>
                        <a:rPr lang="en-GB" sz="1800" dirty="0"/>
                        <a:t>95</a:t>
                      </a:r>
                    </a:p>
                  </a:txBody>
                  <a:tcPr anchor="ctr"/>
                </a:tc>
                <a:extLst>
                  <a:ext uri="{0D108BD9-81ED-4DB2-BD59-A6C34878D82A}">
                    <a16:rowId xmlns:a16="http://schemas.microsoft.com/office/drawing/2014/main" val="3900188047"/>
                  </a:ext>
                </a:extLst>
              </a:tr>
            </a:tbl>
          </a:graphicData>
        </a:graphic>
      </p:graphicFrame>
    </p:spTree>
    <p:extLst>
      <p:ext uri="{BB962C8B-B14F-4D97-AF65-F5344CB8AC3E}">
        <p14:creationId xmlns:p14="http://schemas.microsoft.com/office/powerpoint/2010/main" val="2295269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AD8B5-C145-A8B1-C338-34517E766B8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411" name="Content Placeholder 2">
                <a:extLst>
                  <a:ext uri="{FF2B5EF4-FFF2-40B4-BE49-F238E27FC236}">
                    <a16:creationId xmlns:a16="http://schemas.microsoft.com/office/drawing/2014/main" id="{22F14314-77E6-2326-B613-80DD27271202}"/>
                  </a:ext>
                </a:extLst>
              </p:cNvPr>
              <p:cNvSpPr>
                <a:spLocks noGrp="1"/>
              </p:cNvSpPr>
              <p:nvPr>
                <p:ph idx="1"/>
              </p:nvPr>
            </p:nvSpPr>
            <p:spPr>
              <a:xfrm>
                <a:off x="1143000" y="863600"/>
                <a:ext cx="7762558" cy="5110163"/>
              </a:xfrm>
            </p:spPr>
            <p:txBody>
              <a:bodyPr/>
              <a:lstStyle/>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Variance</a:t>
                </a:r>
                <a:r>
                  <a:rPr lang="en-US" altLang="en-US" sz="1800" dirty="0">
                    <a:latin typeface="Times New Roman" pitchFamily="18" charset="0"/>
                    <a:cs typeface="Times New Roman" pitchFamily="18" charset="0"/>
                  </a:rPr>
                  <a:t>:</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First calculate mean = 83.1</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Then compute squared deviations from the mean:</a:t>
                </a:r>
              </a:p>
              <a:p>
                <a:pPr marL="80963" lvl="1" indent="0" algn="just" eaLnBrk="1" hangingPunct="1">
                  <a:lnSpc>
                    <a:spcPct val="150000"/>
                  </a:lnSpc>
                  <a:buClr>
                    <a:srgbClr val="0B5395"/>
                  </a:buClr>
                  <a:buFont typeface="Corbel" panose="020B0503020204020204" pitchFamily="34" charset="0"/>
                  <a:buNone/>
                </a:pP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85−83.1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=3.61</m:t>
                    </m:r>
                  </m:oMath>
                </a14:m>
                <a:r>
                  <a:rPr lang="en-US" altLang="en-US" sz="1800" dirty="0">
                    <a:latin typeface="Times New Roman" pitchFamily="18" charset="0"/>
                    <a:cs typeface="Times New Roman" pitchFamily="18" charset="0"/>
                  </a:rPr>
                  <a:t>,   </a:t>
                </a: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78−83.1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=26.01</m:t>
                    </m:r>
                  </m:oMath>
                </a14:m>
                <a:r>
                  <a:rPr lang="en-US" altLang="en-US" sz="1800" dirty="0">
                    <a:latin typeface="Times New Roman" pitchFamily="18" charset="0"/>
                    <a:cs typeface="Times New Roman" pitchFamily="18" charset="0"/>
                  </a:rPr>
                  <a:t>,  </a:t>
                </a: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92−83.1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=79.21</m:t>
                    </m:r>
                  </m:oMath>
                </a14:m>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67−83.1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=259.21</m:t>
                    </m:r>
                  </m:oMath>
                </a14:m>
                <a:r>
                  <a:rPr lang="en-US" altLang="en-US" sz="1800" dirty="0">
                    <a:latin typeface="Times New Roman" pitchFamily="18" charset="0"/>
                    <a:cs typeface="Times New Roman" pitchFamily="18" charset="0"/>
                  </a:rPr>
                  <a:t>,  </a:t>
                </a: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88−83.1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=24.01</m:t>
                    </m:r>
                  </m:oMath>
                </a14:m>
                <a:r>
                  <a:rPr lang="en-US" altLang="en-US" sz="1800" dirty="0">
                    <a:latin typeface="Times New Roman" pitchFamily="18" charset="0"/>
                    <a:cs typeface="Times New Roman" pitchFamily="18" charset="0"/>
                  </a:rPr>
                  <a:t>,  </a:t>
                </a: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75−83.1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=65.61</m:t>
                    </m:r>
                  </m:oMath>
                </a14:m>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90−83.1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=47.61</m:t>
                    </m:r>
                  </m:oMath>
                </a14:m>
                <a:r>
                  <a:rPr lang="en-US" altLang="en-US" sz="1800" dirty="0">
                    <a:latin typeface="Times New Roman" pitchFamily="18" charset="0"/>
                    <a:cs typeface="Times New Roman" pitchFamily="18" charset="0"/>
                  </a:rPr>
                  <a:t>,  </a:t>
                </a:r>
                <a14:m>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82−83.1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=1.21,  </m:t>
                    </m:r>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79−83.1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=16.81</m:t>
                    </m:r>
                  </m:oMath>
                </a14:m>
                <a:r>
                  <a:rPr lang="en-US" altLang="en-US" sz="1800" dirty="0">
                    <a:latin typeface="Times New Roman" pitchFamily="18" charset="0"/>
                    <a:cs typeface="Times New Roman" pitchFamily="18" charset="0"/>
                  </a:rPr>
                  <a:t>, </a:t>
                </a:r>
              </a:p>
              <a:p>
                <a:pPr marL="80963" lvl="1" indent="0" algn="just" eaLnBrk="1" hangingPunct="1">
                  <a:lnSpc>
                    <a:spcPct val="150000"/>
                  </a:lnSpc>
                  <a:buClr>
                    <a:srgbClr val="0B5395"/>
                  </a:buClr>
                  <a:buFont typeface="Corbel" panose="020B0503020204020204" pitchFamily="34" charset="0"/>
                  <a:buNone/>
                </a:pPr>
                <a14:m>
                  <m:oMathPara xmlns:m="http://schemas.openxmlformats.org/officeDocument/2006/math">
                    <m:oMathParaPr>
                      <m:jc m:val="left"/>
                    </m:oMathParaPr>
                    <m:oMath xmlns:m="http://schemas.openxmlformats.org/officeDocument/2006/math">
                      <m:sSup>
                        <m:sSupPr>
                          <m:ctrlPr>
                            <a:rPr lang="en-US" altLang="en-US" sz="1800" b="0" i="1" dirty="0" smtClean="0">
                              <a:latin typeface="Cambria Math" panose="02040503050406030204" pitchFamily="18" charset="0"/>
                              <a:cs typeface="Times New Roman" pitchFamily="18" charset="0"/>
                            </a:rPr>
                          </m:ctrlPr>
                        </m:sSupPr>
                        <m:e>
                          <m:d>
                            <m:dPr>
                              <m:ctrlPr>
                                <a:rPr lang="en-US" altLang="en-US" sz="1800" i="1" dirty="0" smtClean="0">
                                  <a:latin typeface="Cambria Math" panose="02040503050406030204" pitchFamily="18" charset="0"/>
                                  <a:cs typeface="Times New Roman" pitchFamily="18" charset="0"/>
                                </a:rPr>
                              </m:ctrlPr>
                            </m:dPr>
                            <m:e>
                              <m:r>
                                <a:rPr lang="en-US" altLang="en-US" sz="1800" i="1" dirty="0" smtClean="0">
                                  <a:latin typeface="Cambria Math" panose="02040503050406030204" pitchFamily="18" charset="0"/>
                                  <a:cs typeface="Times New Roman" pitchFamily="18" charset="0"/>
                                </a:rPr>
                                <m:t>95−83.1</m:t>
                              </m:r>
                            </m:e>
                          </m:d>
                        </m:e>
                        <m:sup>
                          <m:r>
                            <a:rPr lang="en-US" altLang="en-US" sz="1800" i="1" dirty="0" smtClean="0">
                              <a:latin typeface="Cambria Math" panose="02040503050406030204" pitchFamily="18" charset="0"/>
                              <a:cs typeface="Times New Roman" pitchFamily="18" charset="0"/>
                            </a:rPr>
                            <m:t>2</m:t>
                          </m:r>
                        </m:sup>
                      </m:sSup>
                      <m:r>
                        <a:rPr lang="en-US" altLang="en-US" sz="1800" i="1" dirty="0" smtClean="0">
                          <a:latin typeface="Cambria Math" panose="02040503050406030204" pitchFamily="18" charset="0"/>
                          <a:cs typeface="Times New Roman" pitchFamily="18" charset="0"/>
                        </a:rPr>
                        <m:t>=141.61</m:t>
                      </m:r>
                    </m:oMath>
                  </m:oMathPara>
                </a14:m>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​Sum = 664.9</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Variance = 664.9 / 9 ≈ 73.88</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Standard Deviation</a:t>
                </a:r>
                <a:r>
                  <a:rPr lang="en-US" altLang="en-US" sz="1800" dirty="0">
                    <a:latin typeface="Times New Roman" pitchFamily="18" charset="0"/>
                    <a:cs typeface="Times New Roman" pitchFamily="18" charset="0"/>
                  </a:rPr>
                  <a:t>:√73.88 ≈ 8.6</a:t>
                </a:r>
              </a:p>
            </p:txBody>
          </p:sp>
        </mc:Choice>
        <mc:Fallback xmlns="">
          <p:sp>
            <p:nvSpPr>
              <p:cNvPr id="17411" name="Content Placeholder 2">
                <a:extLst>
                  <a:ext uri="{FF2B5EF4-FFF2-40B4-BE49-F238E27FC236}">
                    <a16:creationId xmlns:a16="http://schemas.microsoft.com/office/drawing/2014/main" id="{22F14314-77E6-2326-B613-80DD27271202}"/>
                  </a:ext>
                </a:extLst>
              </p:cNvPr>
              <p:cNvSpPr>
                <a:spLocks noGrp="1" noRot="1" noChangeAspect="1" noMove="1" noResize="1" noEditPoints="1" noAdjustHandles="1" noChangeArrowheads="1" noChangeShapeType="1" noTextEdit="1"/>
              </p:cNvSpPr>
              <p:nvPr>
                <p:ph idx="1"/>
              </p:nvPr>
            </p:nvSpPr>
            <p:spPr>
              <a:xfrm>
                <a:off x="1143000" y="863600"/>
                <a:ext cx="7762558" cy="5110163"/>
              </a:xfrm>
              <a:blipFill>
                <a:blip r:embed="rId2"/>
                <a:stretch>
                  <a:fillRect/>
                </a:stretch>
              </a:blipFill>
            </p:spPr>
            <p:txBody>
              <a:bodyPr/>
              <a:lstStyle/>
              <a:p>
                <a:r>
                  <a:rPr lang="en-GB">
                    <a:noFill/>
                  </a:rPr>
                  <a:t> </a:t>
                </a:r>
              </a:p>
            </p:txBody>
          </p:sp>
        </mc:Fallback>
      </mc:AlternateContent>
      <p:sp>
        <p:nvSpPr>
          <p:cNvPr id="17414" name="Slide Number Placeholder 1">
            <a:extLst>
              <a:ext uri="{FF2B5EF4-FFF2-40B4-BE49-F238E27FC236}">
                <a16:creationId xmlns:a16="http://schemas.microsoft.com/office/drawing/2014/main" id="{C9EB4172-EE89-1656-CE8C-7F1B9455CAA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3ECBC92C-38C8-476D-8364-3903F2170345}" type="slidenum">
              <a:rPr lang="en-US" altLang="en-US"/>
              <a:pPr/>
              <a:t>24</a:t>
            </a:fld>
            <a:endParaRPr lang="en-US" altLang="en-US"/>
          </a:p>
        </p:txBody>
      </p:sp>
      <p:sp>
        <p:nvSpPr>
          <p:cNvPr id="8" name="Title 1">
            <a:extLst>
              <a:ext uri="{FF2B5EF4-FFF2-40B4-BE49-F238E27FC236}">
                <a16:creationId xmlns:a16="http://schemas.microsoft.com/office/drawing/2014/main" id="{B2841480-FA20-C6BE-CC1D-633AC8239174}"/>
              </a:ext>
            </a:extLst>
          </p:cNvPr>
          <p:cNvSpPr txBox="1">
            <a:spLocks/>
          </p:cNvSpPr>
          <p:nvPr/>
        </p:nvSpPr>
        <p:spPr bwMode="auto">
          <a:xfrm>
            <a:off x="1143000" y="346075"/>
            <a:ext cx="98758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An example with details</a:t>
            </a:r>
          </a:p>
        </p:txBody>
      </p:sp>
      <p:graphicFrame>
        <p:nvGraphicFramePr>
          <p:cNvPr id="2" name="Table 1">
            <a:extLst>
              <a:ext uri="{FF2B5EF4-FFF2-40B4-BE49-F238E27FC236}">
                <a16:creationId xmlns:a16="http://schemas.microsoft.com/office/drawing/2014/main" id="{D68D0E5A-EBA3-2D9A-2B7E-5EAAF334815C}"/>
              </a:ext>
            </a:extLst>
          </p:cNvPr>
          <p:cNvGraphicFramePr>
            <a:graphicFrameLocks noGrp="1"/>
          </p:cNvGraphicFramePr>
          <p:nvPr/>
        </p:nvGraphicFramePr>
        <p:xfrm>
          <a:off x="9570720" y="863600"/>
          <a:ext cx="2113280" cy="4023360"/>
        </p:xfrm>
        <a:graphic>
          <a:graphicData uri="http://schemas.openxmlformats.org/drawingml/2006/table">
            <a:tbl>
              <a:tblPr>
                <a:tableStyleId>{D7AC3CCA-C797-4891-BE02-D94E43425B78}</a:tableStyleId>
              </a:tblPr>
              <a:tblGrid>
                <a:gridCol w="1224104">
                  <a:extLst>
                    <a:ext uri="{9D8B030D-6E8A-4147-A177-3AD203B41FA5}">
                      <a16:colId xmlns:a16="http://schemas.microsoft.com/office/drawing/2014/main" val="140209054"/>
                    </a:ext>
                  </a:extLst>
                </a:gridCol>
                <a:gridCol w="889176">
                  <a:extLst>
                    <a:ext uri="{9D8B030D-6E8A-4147-A177-3AD203B41FA5}">
                      <a16:colId xmlns:a16="http://schemas.microsoft.com/office/drawing/2014/main" val="602115019"/>
                    </a:ext>
                  </a:extLst>
                </a:gridCol>
              </a:tblGrid>
              <a:tr h="365760">
                <a:tc>
                  <a:txBody>
                    <a:bodyPr/>
                    <a:lstStyle/>
                    <a:p>
                      <a:pPr>
                        <a:buNone/>
                      </a:pPr>
                      <a:r>
                        <a:rPr lang="en-GB" sz="1800" b="1"/>
                        <a:t>Student</a:t>
                      </a:r>
                    </a:p>
                  </a:txBody>
                  <a:tcPr anchor="ctr"/>
                </a:tc>
                <a:tc>
                  <a:txBody>
                    <a:bodyPr/>
                    <a:lstStyle/>
                    <a:p>
                      <a:pPr>
                        <a:buNone/>
                      </a:pPr>
                      <a:r>
                        <a:rPr lang="en-GB" sz="1800" b="1" dirty="0"/>
                        <a:t>Score</a:t>
                      </a:r>
                    </a:p>
                  </a:txBody>
                  <a:tcPr anchor="ctr"/>
                </a:tc>
                <a:extLst>
                  <a:ext uri="{0D108BD9-81ED-4DB2-BD59-A6C34878D82A}">
                    <a16:rowId xmlns:a16="http://schemas.microsoft.com/office/drawing/2014/main" val="1437151648"/>
                  </a:ext>
                </a:extLst>
              </a:tr>
              <a:tr h="365760">
                <a:tc>
                  <a:txBody>
                    <a:bodyPr/>
                    <a:lstStyle/>
                    <a:p>
                      <a:pPr>
                        <a:buNone/>
                      </a:pPr>
                      <a:r>
                        <a:rPr lang="en-GB" sz="1800"/>
                        <a:t>A</a:t>
                      </a:r>
                    </a:p>
                  </a:txBody>
                  <a:tcPr anchor="ctr"/>
                </a:tc>
                <a:tc>
                  <a:txBody>
                    <a:bodyPr/>
                    <a:lstStyle/>
                    <a:p>
                      <a:pPr>
                        <a:buNone/>
                      </a:pPr>
                      <a:r>
                        <a:rPr lang="en-GB" sz="1800" dirty="0"/>
                        <a:t>85</a:t>
                      </a:r>
                    </a:p>
                  </a:txBody>
                  <a:tcPr anchor="ctr"/>
                </a:tc>
                <a:extLst>
                  <a:ext uri="{0D108BD9-81ED-4DB2-BD59-A6C34878D82A}">
                    <a16:rowId xmlns:a16="http://schemas.microsoft.com/office/drawing/2014/main" val="332472531"/>
                  </a:ext>
                </a:extLst>
              </a:tr>
              <a:tr h="365760">
                <a:tc>
                  <a:txBody>
                    <a:bodyPr/>
                    <a:lstStyle/>
                    <a:p>
                      <a:pPr>
                        <a:buNone/>
                      </a:pPr>
                      <a:r>
                        <a:rPr lang="en-GB" sz="1800"/>
                        <a:t>B</a:t>
                      </a:r>
                    </a:p>
                  </a:txBody>
                  <a:tcPr anchor="ctr"/>
                </a:tc>
                <a:tc>
                  <a:txBody>
                    <a:bodyPr/>
                    <a:lstStyle/>
                    <a:p>
                      <a:pPr>
                        <a:buNone/>
                      </a:pPr>
                      <a:r>
                        <a:rPr lang="en-GB" sz="1800"/>
                        <a:t>78</a:t>
                      </a:r>
                    </a:p>
                  </a:txBody>
                  <a:tcPr anchor="ctr"/>
                </a:tc>
                <a:extLst>
                  <a:ext uri="{0D108BD9-81ED-4DB2-BD59-A6C34878D82A}">
                    <a16:rowId xmlns:a16="http://schemas.microsoft.com/office/drawing/2014/main" val="314335985"/>
                  </a:ext>
                </a:extLst>
              </a:tr>
              <a:tr h="365760">
                <a:tc>
                  <a:txBody>
                    <a:bodyPr/>
                    <a:lstStyle/>
                    <a:p>
                      <a:pPr>
                        <a:buNone/>
                      </a:pPr>
                      <a:r>
                        <a:rPr lang="en-GB" sz="1800"/>
                        <a:t>C</a:t>
                      </a:r>
                    </a:p>
                  </a:txBody>
                  <a:tcPr anchor="ctr"/>
                </a:tc>
                <a:tc>
                  <a:txBody>
                    <a:bodyPr/>
                    <a:lstStyle/>
                    <a:p>
                      <a:pPr>
                        <a:buNone/>
                      </a:pPr>
                      <a:r>
                        <a:rPr lang="en-GB" sz="1800"/>
                        <a:t>92</a:t>
                      </a:r>
                    </a:p>
                  </a:txBody>
                  <a:tcPr anchor="ctr"/>
                </a:tc>
                <a:extLst>
                  <a:ext uri="{0D108BD9-81ED-4DB2-BD59-A6C34878D82A}">
                    <a16:rowId xmlns:a16="http://schemas.microsoft.com/office/drawing/2014/main" val="919774006"/>
                  </a:ext>
                </a:extLst>
              </a:tr>
              <a:tr h="365760">
                <a:tc>
                  <a:txBody>
                    <a:bodyPr/>
                    <a:lstStyle/>
                    <a:p>
                      <a:pPr>
                        <a:buNone/>
                      </a:pPr>
                      <a:r>
                        <a:rPr lang="en-GB" sz="1800"/>
                        <a:t>D</a:t>
                      </a:r>
                    </a:p>
                  </a:txBody>
                  <a:tcPr anchor="ctr"/>
                </a:tc>
                <a:tc>
                  <a:txBody>
                    <a:bodyPr/>
                    <a:lstStyle/>
                    <a:p>
                      <a:pPr>
                        <a:buNone/>
                      </a:pPr>
                      <a:r>
                        <a:rPr lang="en-GB" sz="1800"/>
                        <a:t>67</a:t>
                      </a:r>
                    </a:p>
                  </a:txBody>
                  <a:tcPr anchor="ctr"/>
                </a:tc>
                <a:extLst>
                  <a:ext uri="{0D108BD9-81ED-4DB2-BD59-A6C34878D82A}">
                    <a16:rowId xmlns:a16="http://schemas.microsoft.com/office/drawing/2014/main" val="2258521090"/>
                  </a:ext>
                </a:extLst>
              </a:tr>
              <a:tr h="365760">
                <a:tc>
                  <a:txBody>
                    <a:bodyPr/>
                    <a:lstStyle/>
                    <a:p>
                      <a:pPr>
                        <a:buNone/>
                      </a:pPr>
                      <a:r>
                        <a:rPr lang="en-GB" sz="1800"/>
                        <a:t>E</a:t>
                      </a:r>
                    </a:p>
                  </a:txBody>
                  <a:tcPr anchor="ctr"/>
                </a:tc>
                <a:tc>
                  <a:txBody>
                    <a:bodyPr/>
                    <a:lstStyle/>
                    <a:p>
                      <a:pPr>
                        <a:buNone/>
                      </a:pPr>
                      <a:r>
                        <a:rPr lang="en-GB" sz="1800"/>
                        <a:t>88</a:t>
                      </a:r>
                    </a:p>
                  </a:txBody>
                  <a:tcPr anchor="ctr"/>
                </a:tc>
                <a:extLst>
                  <a:ext uri="{0D108BD9-81ED-4DB2-BD59-A6C34878D82A}">
                    <a16:rowId xmlns:a16="http://schemas.microsoft.com/office/drawing/2014/main" val="3338119366"/>
                  </a:ext>
                </a:extLst>
              </a:tr>
              <a:tr h="365760">
                <a:tc>
                  <a:txBody>
                    <a:bodyPr/>
                    <a:lstStyle/>
                    <a:p>
                      <a:pPr>
                        <a:buNone/>
                      </a:pPr>
                      <a:r>
                        <a:rPr lang="en-GB" sz="1800"/>
                        <a:t>F</a:t>
                      </a:r>
                    </a:p>
                  </a:txBody>
                  <a:tcPr anchor="ctr"/>
                </a:tc>
                <a:tc>
                  <a:txBody>
                    <a:bodyPr/>
                    <a:lstStyle/>
                    <a:p>
                      <a:pPr>
                        <a:buNone/>
                      </a:pPr>
                      <a:r>
                        <a:rPr lang="en-GB" sz="1800"/>
                        <a:t>75</a:t>
                      </a:r>
                    </a:p>
                  </a:txBody>
                  <a:tcPr anchor="ctr"/>
                </a:tc>
                <a:extLst>
                  <a:ext uri="{0D108BD9-81ED-4DB2-BD59-A6C34878D82A}">
                    <a16:rowId xmlns:a16="http://schemas.microsoft.com/office/drawing/2014/main" val="1284199150"/>
                  </a:ext>
                </a:extLst>
              </a:tr>
              <a:tr h="365760">
                <a:tc>
                  <a:txBody>
                    <a:bodyPr/>
                    <a:lstStyle/>
                    <a:p>
                      <a:pPr>
                        <a:buNone/>
                      </a:pPr>
                      <a:r>
                        <a:rPr lang="en-GB" sz="1800"/>
                        <a:t>G</a:t>
                      </a:r>
                    </a:p>
                  </a:txBody>
                  <a:tcPr anchor="ctr"/>
                </a:tc>
                <a:tc>
                  <a:txBody>
                    <a:bodyPr/>
                    <a:lstStyle/>
                    <a:p>
                      <a:pPr>
                        <a:buNone/>
                      </a:pPr>
                      <a:r>
                        <a:rPr lang="en-GB" sz="1800"/>
                        <a:t>90</a:t>
                      </a:r>
                    </a:p>
                  </a:txBody>
                  <a:tcPr anchor="ctr"/>
                </a:tc>
                <a:extLst>
                  <a:ext uri="{0D108BD9-81ED-4DB2-BD59-A6C34878D82A}">
                    <a16:rowId xmlns:a16="http://schemas.microsoft.com/office/drawing/2014/main" val="4180192674"/>
                  </a:ext>
                </a:extLst>
              </a:tr>
              <a:tr h="365760">
                <a:tc>
                  <a:txBody>
                    <a:bodyPr/>
                    <a:lstStyle/>
                    <a:p>
                      <a:pPr>
                        <a:buNone/>
                      </a:pPr>
                      <a:r>
                        <a:rPr lang="en-GB" sz="1800"/>
                        <a:t>H</a:t>
                      </a:r>
                    </a:p>
                  </a:txBody>
                  <a:tcPr anchor="ctr"/>
                </a:tc>
                <a:tc>
                  <a:txBody>
                    <a:bodyPr/>
                    <a:lstStyle/>
                    <a:p>
                      <a:pPr>
                        <a:buNone/>
                      </a:pPr>
                      <a:r>
                        <a:rPr lang="en-GB" sz="1800"/>
                        <a:t>82</a:t>
                      </a:r>
                    </a:p>
                  </a:txBody>
                  <a:tcPr anchor="ctr"/>
                </a:tc>
                <a:extLst>
                  <a:ext uri="{0D108BD9-81ED-4DB2-BD59-A6C34878D82A}">
                    <a16:rowId xmlns:a16="http://schemas.microsoft.com/office/drawing/2014/main" val="148162899"/>
                  </a:ext>
                </a:extLst>
              </a:tr>
              <a:tr h="365760">
                <a:tc>
                  <a:txBody>
                    <a:bodyPr/>
                    <a:lstStyle/>
                    <a:p>
                      <a:pPr>
                        <a:buNone/>
                      </a:pPr>
                      <a:r>
                        <a:rPr lang="en-GB" sz="1800"/>
                        <a:t>I</a:t>
                      </a:r>
                    </a:p>
                  </a:txBody>
                  <a:tcPr anchor="ctr"/>
                </a:tc>
                <a:tc>
                  <a:txBody>
                    <a:bodyPr/>
                    <a:lstStyle/>
                    <a:p>
                      <a:pPr>
                        <a:buNone/>
                      </a:pPr>
                      <a:r>
                        <a:rPr lang="en-GB" sz="1800"/>
                        <a:t>79</a:t>
                      </a:r>
                    </a:p>
                  </a:txBody>
                  <a:tcPr anchor="ctr"/>
                </a:tc>
                <a:extLst>
                  <a:ext uri="{0D108BD9-81ED-4DB2-BD59-A6C34878D82A}">
                    <a16:rowId xmlns:a16="http://schemas.microsoft.com/office/drawing/2014/main" val="619140763"/>
                  </a:ext>
                </a:extLst>
              </a:tr>
              <a:tr h="365760">
                <a:tc>
                  <a:txBody>
                    <a:bodyPr/>
                    <a:lstStyle/>
                    <a:p>
                      <a:pPr>
                        <a:buNone/>
                      </a:pPr>
                      <a:r>
                        <a:rPr lang="en-GB" sz="1800"/>
                        <a:t>J</a:t>
                      </a:r>
                    </a:p>
                  </a:txBody>
                  <a:tcPr anchor="ctr"/>
                </a:tc>
                <a:tc>
                  <a:txBody>
                    <a:bodyPr/>
                    <a:lstStyle/>
                    <a:p>
                      <a:pPr>
                        <a:buNone/>
                      </a:pPr>
                      <a:r>
                        <a:rPr lang="en-GB" sz="1800" dirty="0"/>
                        <a:t>95</a:t>
                      </a:r>
                    </a:p>
                  </a:txBody>
                  <a:tcPr anchor="ctr"/>
                </a:tc>
                <a:extLst>
                  <a:ext uri="{0D108BD9-81ED-4DB2-BD59-A6C34878D82A}">
                    <a16:rowId xmlns:a16="http://schemas.microsoft.com/office/drawing/2014/main" val="3900188047"/>
                  </a:ext>
                </a:extLst>
              </a:tr>
            </a:tbl>
          </a:graphicData>
        </a:graphic>
      </p:graphicFrame>
    </p:spTree>
    <p:extLst>
      <p:ext uri="{BB962C8B-B14F-4D97-AF65-F5344CB8AC3E}">
        <p14:creationId xmlns:p14="http://schemas.microsoft.com/office/powerpoint/2010/main" val="1305813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C304A-A801-F2E8-E045-F19B8DDCF9FF}"/>
            </a:ext>
          </a:extLst>
        </p:cNvPr>
        <p:cNvGrpSpPr/>
        <p:nvPr/>
      </p:nvGrpSpPr>
      <p:grpSpPr>
        <a:xfrm>
          <a:off x="0" y="0"/>
          <a:ext cx="0" cy="0"/>
          <a:chOff x="0" y="0"/>
          <a:chExt cx="0" cy="0"/>
        </a:xfrm>
      </p:grpSpPr>
      <p:sp>
        <p:nvSpPr>
          <p:cNvPr id="17411" name="Content Placeholder 2">
            <a:extLst>
              <a:ext uri="{FF2B5EF4-FFF2-40B4-BE49-F238E27FC236}">
                <a16:creationId xmlns:a16="http://schemas.microsoft.com/office/drawing/2014/main" id="{AFFBE2B6-CBE3-7B84-EC1E-210E44842B4F}"/>
              </a:ext>
            </a:extLst>
          </p:cNvPr>
          <p:cNvSpPr>
            <a:spLocks noGrp="1"/>
          </p:cNvSpPr>
          <p:nvPr>
            <p:ph idx="1"/>
          </p:nvPr>
        </p:nvSpPr>
        <p:spPr>
          <a:xfrm>
            <a:off x="1143000" y="863600"/>
            <a:ext cx="10093960" cy="5110163"/>
          </a:xfrm>
        </p:spPr>
        <p:txBody>
          <a:bodyPr/>
          <a:lstStyle/>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You have two datasets representing the monthly test scores (out of 100) for students in two different classes: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Class X: </a:t>
            </a:r>
            <a:r>
              <a:rPr lang="en-US" altLang="en-US" sz="1800" dirty="0">
                <a:latin typeface="Times New Roman" pitchFamily="18" charset="0"/>
                <a:cs typeface="Times New Roman" pitchFamily="18" charset="0"/>
              </a:rPr>
              <a:t>75, 78, 80, 82, 85, 87</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Class Y: </a:t>
            </a:r>
            <a:r>
              <a:rPr lang="en-US" altLang="en-US" sz="1800" dirty="0">
                <a:latin typeface="Times New Roman" pitchFamily="18" charset="0"/>
                <a:cs typeface="Times New Roman" pitchFamily="18" charset="0"/>
              </a:rPr>
              <a:t>60, 65, 75, 80, 90, 95</a:t>
            </a: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Tasks: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1. </a:t>
            </a:r>
            <a:r>
              <a:rPr lang="en-US" altLang="en-US" sz="1800" dirty="0">
                <a:latin typeface="Times New Roman" pitchFamily="18" charset="0"/>
                <a:cs typeface="Times New Roman" pitchFamily="18" charset="0"/>
              </a:rPr>
              <a:t>Calculate the range, variance, and standard deviation for each class.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2. </a:t>
            </a:r>
            <a:r>
              <a:rPr lang="en-US" altLang="en-US" sz="1800" dirty="0">
                <a:latin typeface="Times New Roman" pitchFamily="18" charset="0"/>
                <a:cs typeface="Times New Roman" pitchFamily="18" charset="0"/>
              </a:rPr>
              <a:t>Which class shows more variability in test scores?</a:t>
            </a: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3. </a:t>
            </a:r>
            <a:r>
              <a:rPr lang="en-US" altLang="en-US" sz="1800" dirty="0">
                <a:latin typeface="Times New Roman" pitchFamily="18" charset="0"/>
                <a:cs typeface="Times New Roman" pitchFamily="18" charset="0"/>
              </a:rPr>
              <a:t>What might this indicate about the performance consistency among students in each class?</a:t>
            </a:r>
          </a:p>
        </p:txBody>
      </p:sp>
      <p:sp>
        <p:nvSpPr>
          <p:cNvPr id="17414" name="Slide Number Placeholder 1">
            <a:extLst>
              <a:ext uri="{FF2B5EF4-FFF2-40B4-BE49-F238E27FC236}">
                <a16:creationId xmlns:a16="http://schemas.microsoft.com/office/drawing/2014/main" id="{8FA02889-F84C-6854-11C2-71703EFCF29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3ECBC92C-38C8-476D-8364-3903F2170345}" type="slidenum">
              <a:rPr lang="en-US" altLang="en-US"/>
              <a:pPr/>
              <a:t>25</a:t>
            </a:fld>
            <a:endParaRPr lang="en-US" altLang="en-US"/>
          </a:p>
        </p:txBody>
      </p:sp>
      <p:sp>
        <p:nvSpPr>
          <p:cNvPr id="8" name="Title 1">
            <a:extLst>
              <a:ext uri="{FF2B5EF4-FFF2-40B4-BE49-F238E27FC236}">
                <a16:creationId xmlns:a16="http://schemas.microsoft.com/office/drawing/2014/main" id="{6654B42D-8B1D-8DDB-459D-CD365354970E}"/>
              </a:ext>
            </a:extLst>
          </p:cNvPr>
          <p:cNvSpPr txBox="1">
            <a:spLocks/>
          </p:cNvSpPr>
          <p:nvPr/>
        </p:nvSpPr>
        <p:spPr bwMode="auto">
          <a:xfrm>
            <a:off x="1143000" y="346075"/>
            <a:ext cx="98758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Exercise 1</a:t>
            </a:r>
          </a:p>
        </p:txBody>
      </p:sp>
    </p:spTree>
    <p:extLst>
      <p:ext uri="{BB962C8B-B14F-4D97-AF65-F5344CB8AC3E}">
        <p14:creationId xmlns:p14="http://schemas.microsoft.com/office/powerpoint/2010/main" val="2271786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F32D1-1CFB-FCFC-46C4-51FF5B5370F4}"/>
            </a:ext>
          </a:extLst>
        </p:cNvPr>
        <p:cNvGrpSpPr/>
        <p:nvPr/>
      </p:nvGrpSpPr>
      <p:grpSpPr>
        <a:xfrm>
          <a:off x="0" y="0"/>
          <a:ext cx="0" cy="0"/>
          <a:chOff x="0" y="0"/>
          <a:chExt cx="0" cy="0"/>
        </a:xfrm>
      </p:grpSpPr>
      <p:sp>
        <p:nvSpPr>
          <p:cNvPr id="17411" name="Content Placeholder 2">
            <a:extLst>
              <a:ext uri="{FF2B5EF4-FFF2-40B4-BE49-F238E27FC236}">
                <a16:creationId xmlns:a16="http://schemas.microsoft.com/office/drawing/2014/main" id="{EE0C34F6-F3C9-86AB-B056-B12D0E760C1F}"/>
              </a:ext>
            </a:extLst>
          </p:cNvPr>
          <p:cNvSpPr>
            <a:spLocks noGrp="1"/>
          </p:cNvSpPr>
          <p:nvPr>
            <p:ph idx="1"/>
          </p:nvPr>
        </p:nvSpPr>
        <p:spPr>
          <a:xfrm>
            <a:off x="1143000" y="863600"/>
            <a:ext cx="10093960" cy="5110163"/>
          </a:xfrm>
        </p:spPr>
        <p:txBody>
          <a:bodyPr/>
          <a:lstStyle/>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You are given the following dataset representing the number of hours 10 employees worked</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last week:</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40, 42, 38, 41, 44, 39, 40, 37, 60, 38</a:t>
            </a:r>
          </a:p>
          <a:p>
            <a:pPr marL="80963" lvl="1" indent="0" algn="just" eaLnBrk="1" hangingPunct="1">
              <a:lnSpc>
                <a:spcPct val="150000"/>
              </a:lnSpc>
              <a:buClr>
                <a:srgbClr val="0B5395"/>
              </a:buClr>
              <a:buFont typeface="Corbel" panose="020B0503020204020204" pitchFamily="34" charset="0"/>
              <a:buNone/>
            </a:pPr>
            <a:endParaRPr lang="en-US" altLang="en-US" sz="1800" dirty="0">
              <a:latin typeface="Times New Roman" pitchFamily="18" charset="0"/>
              <a:cs typeface="Times New Roman" pitchFamily="18" charset="0"/>
            </a:endParaRPr>
          </a:p>
          <a:p>
            <a:pPr marL="80963" lvl="1" indent="0" algn="just" eaLnBrk="1" hangingPunct="1">
              <a:lnSpc>
                <a:spcPct val="150000"/>
              </a:lnSpc>
              <a:buClr>
                <a:srgbClr val="0B5395"/>
              </a:buClr>
              <a:buFont typeface="Corbel" panose="020B0503020204020204" pitchFamily="34" charset="0"/>
              <a:buNone/>
            </a:pPr>
            <a:r>
              <a:rPr lang="en-US" altLang="en-US" sz="1800" b="1" dirty="0">
                <a:latin typeface="Times New Roman" pitchFamily="18" charset="0"/>
                <a:cs typeface="Times New Roman" pitchFamily="18" charset="0"/>
              </a:rPr>
              <a:t>Tasks</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1. Calculate the mean and median of the dataset.</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2. Which measure (mean or median) better represents the central tendency of the data?</a:t>
            </a:r>
          </a:p>
          <a:p>
            <a:pPr marL="80963" lvl="1" indent="0" algn="just" eaLnBrk="1" hangingPunct="1">
              <a:lnSpc>
                <a:spcPct val="150000"/>
              </a:lnSpc>
              <a:buClr>
                <a:srgbClr val="0B5395"/>
              </a:buClr>
              <a:buFont typeface="Corbel" panose="020B0503020204020204" pitchFamily="34" charset="0"/>
              <a:buNone/>
            </a:pPr>
            <a:r>
              <a:rPr lang="en-US" altLang="en-US" sz="1800" dirty="0">
                <a:latin typeface="Times New Roman" pitchFamily="18" charset="0"/>
                <a:cs typeface="Times New Roman" pitchFamily="18" charset="0"/>
              </a:rPr>
              <a:t>3. Justify your answer considering the effect of any outlier(s).</a:t>
            </a:r>
          </a:p>
        </p:txBody>
      </p:sp>
      <p:sp>
        <p:nvSpPr>
          <p:cNvPr id="17414" name="Slide Number Placeholder 1">
            <a:extLst>
              <a:ext uri="{FF2B5EF4-FFF2-40B4-BE49-F238E27FC236}">
                <a16:creationId xmlns:a16="http://schemas.microsoft.com/office/drawing/2014/main" id="{06E0C5EB-036F-8BED-907D-F830C136D5F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eaLnBrk="0" fontAlgn="base" hangingPunct="0">
              <a:spcBef>
                <a:spcPct val="0"/>
              </a:spcBef>
              <a:spcAft>
                <a:spcPct val="0"/>
              </a:spcAft>
              <a:defRPr>
                <a:solidFill>
                  <a:schemeClr val="tx1"/>
                </a:solidFill>
                <a:latin typeface="Calibri" pitchFamily="34" charset="0"/>
              </a:defRPr>
            </a:lvl6pPr>
            <a:lvl7pPr marL="2971800" indent="-228600" eaLnBrk="0" fontAlgn="base" hangingPunct="0">
              <a:spcBef>
                <a:spcPct val="0"/>
              </a:spcBef>
              <a:spcAft>
                <a:spcPct val="0"/>
              </a:spcAft>
              <a:defRPr>
                <a:solidFill>
                  <a:schemeClr val="tx1"/>
                </a:solidFill>
                <a:latin typeface="Calibri" pitchFamily="34" charset="0"/>
              </a:defRPr>
            </a:lvl7pPr>
            <a:lvl8pPr marL="3429000" indent="-228600" eaLnBrk="0" fontAlgn="base" hangingPunct="0">
              <a:spcBef>
                <a:spcPct val="0"/>
              </a:spcBef>
              <a:spcAft>
                <a:spcPct val="0"/>
              </a:spcAft>
              <a:defRPr>
                <a:solidFill>
                  <a:schemeClr val="tx1"/>
                </a:solidFill>
                <a:latin typeface="Calibri" pitchFamily="34" charset="0"/>
              </a:defRPr>
            </a:lvl8pPr>
            <a:lvl9pPr marL="3886200" indent="-228600" eaLnBrk="0" fontAlgn="base" hangingPunct="0">
              <a:spcBef>
                <a:spcPct val="0"/>
              </a:spcBef>
              <a:spcAft>
                <a:spcPct val="0"/>
              </a:spcAft>
              <a:defRPr>
                <a:solidFill>
                  <a:schemeClr val="tx1"/>
                </a:solidFill>
                <a:latin typeface="Calibri" pitchFamily="34" charset="0"/>
              </a:defRPr>
            </a:lvl9pPr>
          </a:lstStyle>
          <a:p>
            <a:fld id="{3ECBC92C-38C8-476D-8364-3903F2170345}" type="slidenum">
              <a:rPr lang="en-US" altLang="en-US"/>
              <a:pPr/>
              <a:t>26</a:t>
            </a:fld>
            <a:endParaRPr lang="en-US" altLang="en-US"/>
          </a:p>
        </p:txBody>
      </p:sp>
      <p:sp>
        <p:nvSpPr>
          <p:cNvPr id="8" name="Title 1">
            <a:extLst>
              <a:ext uri="{FF2B5EF4-FFF2-40B4-BE49-F238E27FC236}">
                <a16:creationId xmlns:a16="http://schemas.microsoft.com/office/drawing/2014/main" id="{A8685855-5E96-FD40-BCDC-5AF45FE82B53}"/>
              </a:ext>
            </a:extLst>
          </p:cNvPr>
          <p:cNvSpPr txBox="1">
            <a:spLocks/>
          </p:cNvSpPr>
          <p:nvPr/>
        </p:nvSpPr>
        <p:spPr bwMode="auto">
          <a:xfrm>
            <a:off x="1143000" y="346075"/>
            <a:ext cx="9875838"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rmAutofit/>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Tw Cen MT" pitchFamily="34" charset="0"/>
              </a:defRPr>
            </a:lvl2pPr>
            <a:lvl3pPr algn="l" rtl="0" eaLnBrk="0" fontAlgn="base" hangingPunct="0">
              <a:lnSpc>
                <a:spcPct val="90000"/>
              </a:lnSpc>
              <a:spcBef>
                <a:spcPct val="0"/>
              </a:spcBef>
              <a:spcAft>
                <a:spcPct val="0"/>
              </a:spcAft>
              <a:defRPr sz="4400">
                <a:solidFill>
                  <a:schemeClr val="tx1"/>
                </a:solidFill>
                <a:latin typeface="Tw Cen MT" pitchFamily="34" charset="0"/>
              </a:defRPr>
            </a:lvl3pPr>
            <a:lvl4pPr algn="l" rtl="0" eaLnBrk="0" fontAlgn="base" hangingPunct="0">
              <a:lnSpc>
                <a:spcPct val="90000"/>
              </a:lnSpc>
              <a:spcBef>
                <a:spcPct val="0"/>
              </a:spcBef>
              <a:spcAft>
                <a:spcPct val="0"/>
              </a:spcAft>
              <a:defRPr sz="4400">
                <a:solidFill>
                  <a:schemeClr val="tx1"/>
                </a:solidFill>
                <a:latin typeface="Tw Cen MT" pitchFamily="34" charset="0"/>
              </a:defRPr>
            </a:lvl4pPr>
            <a:lvl5pPr algn="l" rtl="0" eaLnBrk="0" fontAlgn="base" hangingPunct="0">
              <a:lnSpc>
                <a:spcPct val="90000"/>
              </a:lnSpc>
              <a:spcBef>
                <a:spcPct val="0"/>
              </a:spcBef>
              <a:spcAft>
                <a:spcPct val="0"/>
              </a:spcAft>
              <a:defRPr sz="4400">
                <a:solidFill>
                  <a:schemeClr val="tx1"/>
                </a:solidFill>
                <a:latin typeface="Tw Cen MT" pitchFamily="34" charset="0"/>
              </a:defRPr>
            </a:lvl5pPr>
            <a:lvl6pPr marL="457200" algn="l" rtl="0" fontAlgn="base">
              <a:lnSpc>
                <a:spcPct val="90000"/>
              </a:lnSpc>
              <a:spcBef>
                <a:spcPct val="0"/>
              </a:spcBef>
              <a:spcAft>
                <a:spcPct val="0"/>
              </a:spcAft>
              <a:defRPr sz="4400">
                <a:solidFill>
                  <a:schemeClr val="tx1"/>
                </a:solidFill>
                <a:latin typeface="Corbel" panose="020B0503020204020204" pitchFamily="34" charset="0"/>
              </a:defRPr>
            </a:lvl6pPr>
            <a:lvl7pPr marL="914400" algn="l" rtl="0" fontAlgn="base">
              <a:lnSpc>
                <a:spcPct val="90000"/>
              </a:lnSpc>
              <a:spcBef>
                <a:spcPct val="0"/>
              </a:spcBef>
              <a:spcAft>
                <a:spcPct val="0"/>
              </a:spcAft>
              <a:defRPr sz="4400">
                <a:solidFill>
                  <a:schemeClr val="tx1"/>
                </a:solidFill>
                <a:latin typeface="Corbel" panose="020B0503020204020204" pitchFamily="34" charset="0"/>
              </a:defRPr>
            </a:lvl7pPr>
            <a:lvl8pPr marL="1371600" algn="l" rtl="0" fontAlgn="base">
              <a:lnSpc>
                <a:spcPct val="90000"/>
              </a:lnSpc>
              <a:spcBef>
                <a:spcPct val="0"/>
              </a:spcBef>
              <a:spcAft>
                <a:spcPct val="0"/>
              </a:spcAft>
              <a:defRPr sz="4400">
                <a:solidFill>
                  <a:schemeClr val="tx1"/>
                </a:solidFill>
                <a:latin typeface="Corbel" panose="020B0503020204020204" pitchFamily="34" charset="0"/>
              </a:defRPr>
            </a:lvl8pPr>
            <a:lvl9pPr marL="1828800" algn="l" rtl="0" fontAlgn="base">
              <a:lnSpc>
                <a:spcPct val="90000"/>
              </a:lnSpc>
              <a:spcBef>
                <a:spcPct val="0"/>
              </a:spcBef>
              <a:spcAft>
                <a:spcPct val="0"/>
              </a:spcAft>
              <a:defRPr sz="4400">
                <a:solidFill>
                  <a:schemeClr val="tx1"/>
                </a:solidFill>
                <a:latin typeface="Corbel" panose="020B0503020204020204" pitchFamily="34" charset="0"/>
              </a:defRPr>
            </a:lvl9pPr>
          </a:lstStyle>
          <a:p>
            <a:pPr eaLnBrk="1" fontAlgn="auto" hangingPunct="1">
              <a:spcAft>
                <a:spcPts val="0"/>
              </a:spcAft>
              <a:defRPr/>
            </a:pPr>
            <a:r>
              <a:rPr lang="en-US" altLang="en-US" sz="2400" b="1" dirty="0">
                <a:solidFill>
                  <a:schemeClr val="tx1">
                    <a:lumMod val="95000"/>
                    <a:lumOff val="5000"/>
                  </a:schemeClr>
                </a:solidFill>
                <a:latin typeface="Calibri" panose="020F0502020204030204" pitchFamily="34" charset="0"/>
                <a:cs typeface="Calibri" panose="020F0502020204030204" pitchFamily="34" charset="0"/>
              </a:rPr>
              <a:t>Exercise 2</a:t>
            </a:r>
          </a:p>
        </p:txBody>
      </p:sp>
    </p:spTree>
    <p:extLst>
      <p:ext uri="{BB962C8B-B14F-4D97-AF65-F5344CB8AC3E}">
        <p14:creationId xmlns:p14="http://schemas.microsoft.com/office/powerpoint/2010/main" val="2421867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1544638"/>
            <a:ext cx="10104438" cy="4429125"/>
          </a:xfrm>
        </p:spPr>
        <p:txBody>
          <a:bodyPr rtlCol="0">
            <a:normAutofit/>
          </a:bodyPr>
          <a:lstStyle/>
          <a:p>
            <a:pPr marL="82296" lvl="1" indent="0" algn="just" eaLnBrk="1" fontAlgn="auto" hangingPunct="1">
              <a:lnSpc>
                <a:spcPct val="150000"/>
              </a:lnSpc>
              <a:buClr>
                <a:srgbClr val="0F6FC6">
                  <a:lumMod val="75000"/>
                </a:srgbClr>
              </a:buClr>
              <a:buNone/>
              <a:defRPr/>
            </a:pPr>
            <a:r>
              <a:rPr lang="en-US" altLang="en-US" sz="1800" dirty="0">
                <a:latin typeface="Times New Roman" panose="02020603050405020304" pitchFamily="18" charset="0"/>
                <a:cs typeface="Times New Roman" panose="02020603050405020304" pitchFamily="18" charset="0"/>
              </a:rPr>
              <a:t>Multivariate Data Exploration refers to the process of analyzing </a:t>
            </a:r>
            <a:r>
              <a:rPr lang="en-US" altLang="en-US" sz="1800" dirty="0">
                <a:solidFill>
                  <a:srgbClr val="FF0000"/>
                </a:solidFill>
                <a:latin typeface="Times New Roman" panose="02020603050405020304" pitchFamily="18" charset="0"/>
                <a:cs typeface="Times New Roman" panose="02020603050405020304" pitchFamily="18" charset="0"/>
              </a:rPr>
              <a:t>more than two variables simultaneously </a:t>
            </a:r>
            <a:r>
              <a:rPr lang="en-US" altLang="en-US" sz="1800" dirty="0">
                <a:latin typeface="Times New Roman" panose="02020603050405020304" pitchFamily="18" charset="0"/>
                <a:cs typeface="Times New Roman" panose="02020603050405020304" pitchFamily="18" charset="0"/>
              </a:rPr>
              <a:t>to understand relationships, patterns, or structures in a dataset. </a:t>
            </a:r>
          </a:p>
          <a:p>
            <a:pPr marL="82296" lvl="1" indent="0" algn="just" eaLnBrk="1" fontAlgn="auto" hangingPunct="1">
              <a:lnSpc>
                <a:spcPct val="150000"/>
              </a:lnSpc>
              <a:buClr>
                <a:srgbClr val="0F6FC6">
                  <a:lumMod val="75000"/>
                </a:srgbClr>
              </a:buClr>
              <a:buNone/>
              <a:defRPr/>
            </a:pPr>
            <a:r>
              <a:rPr lang="en-US" altLang="en-US" sz="1800" dirty="0">
                <a:latin typeface="Times New Roman" panose="02020603050405020304" pitchFamily="18" charset="0"/>
                <a:cs typeface="Times New Roman" panose="02020603050405020304" pitchFamily="18" charset="0"/>
              </a:rPr>
              <a:t>It's an important step in exploratory data analysis (EDA), especially when working with real-world datasets where multiple features interact.</a:t>
            </a:r>
          </a:p>
          <a:p>
            <a:pPr marL="82296" lvl="1" indent="0" algn="just" eaLnBrk="1" fontAlgn="auto" hangingPunct="1">
              <a:lnSpc>
                <a:spcPct val="150000"/>
              </a:lnSpc>
              <a:buClr>
                <a:srgbClr val="0F6FC6">
                  <a:lumMod val="75000"/>
                </a:srgbClr>
              </a:buClr>
              <a:buNone/>
              <a:defRPr/>
            </a:pPr>
            <a:r>
              <a:rPr lang="en-US" altLang="en-US" sz="1600" b="1" dirty="0">
                <a:latin typeface="Times New Roman" panose="02020603050405020304" pitchFamily="18" charset="0"/>
                <a:cs typeface="Times New Roman" panose="02020603050405020304" pitchFamily="18" charset="0"/>
              </a:rPr>
              <a:t>Why Multivariate Analysis?</a:t>
            </a:r>
          </a:p>
          <a:p>
            <a:pPr marL="368046" lvl="1" indent="-285750" algn="just" eaLnBrk="1" fontAlgn="auto" hangingPunct="1">
              <a:lnSpc>
                <a:spcPct val="150000"/>
              </a:lnSpc>
              <a:buClr>
                <a:srgbClr val="0F6FC6">
                  <a:lumMod val="75000"/>
                </a:srgbClr>
              </a:buClr>
              <a:defRPr/>
            </a:pPr>
            <a:r>
              <a:rPr lang="en-US" altLang="en-US" sz="1600" dirty="0">
                <a:latin typeface="Times New Roman" panose="02020603050405020304" pitchFamily="18" charset="0"/>
                <a:cs typeface="Times New Roman" panose="02020603050405020304" pitchFamily="18" charset="0"/>
              </a:rPr>
              <a:t>To discover interdependencies between variables.</a:t>
            </a:r>
          </a:p>
          <a:p>
            <a:pPr marL="368046" lvl="1" indent="-285750" algn="just" eaLnBrk="1" fontAlgn="auto" hangingPunct="1">
              <a:lnSpc>
                <a:spcPct val="150000"/>
              </a:lnSpc>
              <a:buClr>
                <a:srgbClr val="0F6FC6">
                  <a:lumMod val="75000"/>
                </a:srgbClr>
              </a:buClr>
              <a:defRPr/>
            </a:pPr>
            <a:r>
              <a:rPr lang="en-US" altLang="en-US" sz="1600" dirty="0">
                <a:latin typeface="Times New Roman" panose="02020603050405020304" pitchFamily="18" charset="0"/>
                <a:cs typeface="Times New Roman" panose="02020603050405020304" pitchFamily="18" charset="0"/>
              </a:rPr>
              <a:t>To identify patterns or trends that are not obvious from </a:t>
            </a:r>
            <a:r>
              <a:rPr lang="en-US" altLang="en-US" sz="1600" dirty="0" err="1">
                <a:latin typeface="Times New Roman" panose="02020603050405020304" pitchFamily="18" charset="0"/>
                <a:cs typeface="Times New Roman" panose="02020603050405020304" pitchFamily="18" charset="0"/>
              </a:rPr>
              <a:t>univariate</a:t>
            </a:r>
            <a:r>
              <a:rPr lang="en-US" altLang="en-US" sz="1600" dirty="0">
                <a:latin typeface="Times New Roman" panose="02020603050405020304" pitchFamily="18" charset="0"/>
                <a:cs typeface="Times New Roman" panose="02020603050405020304" pitchFamily="18" charset="0"/>
              </a:rPr>
              <a:t> or bivariate analysis.</a:t>
            </a:r>
          </a:p>
          <a:p>
            <a:pPr marL="368046" lvl="1" indent="-285750" algn="just" eaLnBrk="1" fontAlgn="auto" hangingPunct="1">
              <a:lnSpc>
                <a:spcPct val="150000"/>
              </a:lnSpc>
              <a:buClr>
                <a:srgbClr val="0F6FC6">
                  <a:lumMod val="75000"/>
                </a:srgbClr>
              </a:buClr>
              <a:defRPr/>
            </a:pPr>
            <a:r>
              <a:rPr lang="en-US" altLang="en-US" sz="1600" dirty="0">
                <a:latin typeface="Times New Roman" panose="02020603050405020304" pitchFamily="18" charset="0"/>
                <a:cs typeface="Times New Roman" panose="02020603050405020304" pitchFamily="18" charset="0"/>
              </a:rPr>
              <a:t>To reduce dimensionality or detect redundant or highly correlated features.</a:t>
            </a:r>
          </a:p>
          <a:p>
            <a:pPr marL="368046" lvl="1" indent="-285750" algn="just" eaLnBrk="1" fontAlgn="auto" hangingPunct="1">
              <a:lnSpc>
                <a:spcPct val="150000"/>
              </a:lnSpc>
              <a:buClr>
                <a:srgbClr val="0F6FC6">
                  <a:lumMod val="75000"/>
                </a:srgbClr>
              </a:buClr>
              <a:defRPr/>
            </a:pPr>
            <a:r>
              <a:rPr lang="en-US" altLang="en-US" sz="1600" dirty="0">
                <a:latin typeface="Times New Roman" panose="02020603050405020304" pitchFamily="18" charset="0"/>
                <a:cs typeface="Times New Roman" panose="02020603050405020304" pitchFamily="18" charset="0"/>
              </a:rPr>
              <a:t>To prepare the dataset for predictive modeling.</a:t>
            </a:r>
          </a:p>
        </p:txBody>
      </p:sp>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spTree>
    <p:extLst>
      <p:ext uri="{BB962C8B-B14F-4D97-AF65-F5344CB8AC3E}">
        <p14:creationId xmlns:p14="http://schemas.microsoft.com/office/powerpoint/2010/main" val="2947169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1544638"/>
            <a:ext cx="10104438" cy="4429125"/>
          </a:xfrm>
        </p:spPr>
        <p:txBody>
          <a:bodyPr rtlCol="0">
            <a:normAutofit/>
          </a:bodyPr>
          <a:lstStyle/>
          <a:p>
            <a:pPr marL="82296" lvl="1" indent="0" algn="just" eaLnBrk="1" fontAlgn="auto" hangingPunct="1">
              <a:lnSpc>
                <a:spcPct val="150000"/>
              </a:lnSpc>
              <a:buClr>
                <a:srgbClr val="0F6FC6">
                  <a:lumMod val="75000"/>
                </a:srgbClr>
              </a:buClr>
              <a:buNone/>
              <a:defRPr/>
            </a:pPr>
            <a:r>
              <a:rPr lang="en-US" sz="2200" b="1" dirty="0">
                <a:latin typeface="Times New Roman" pitchFamily="18" charset="0"/>
                <a:cs typeface="Times New Roman" pitchFamily="18" charset="0"/>
              </a:rPr>
              <a:t>Why Multivariate Statistics?</a:t>
            </a:r>
          </a:p>
          <a:p>
            <a:pPr marL="46037" indent="0">
              <a:buNone/>
            </a:pPr>
            <a:r>
              <a:rPr lang="en-US" dirty="0">
                <a:latin typeface="Times New Roman" pitchFamily="18" charset="0"/>
                <a:cs typeface="Times New Roman" pitchFamily="18" charset="0"/>
              </a:rPr>
              <a:t>Many real-world questions involve relationships between variables.</a:t>
            </a:r>
          </a:p>
          <a:p>
            <a:pPr marL="46037" indent="0">
              <a:buNone/>
            </a:pPr>
            <a:r>
              <a:rPr lang="en-US" dirty="0">
                <a:latin typeface="Times New Roman" pitchFamily="18" charset="0"/>
                <a:cs typeface="Times New Roman" pitchFamily="18" charset="0"/>
              </a:rPr>
              <a:t>Examples:</a:t>
            </a:r>
          </a:p>
          <a:p>
            <a:pPr marL="82296" lvl="1" indent="0" algn="just" eaLnBrk="1" fontAlgn="auto" hangingPunct="1">
              <a:lnSpc>
                <a:spcPct val="150000"/>
              </a:lnSpc>
              <a:buClr>
                <a:srgbClr val="0F6FC6">
                  <a:lumMod val="75000"/>
                </a:srgbClr>
              </a:buClr>
              <a:buNone/>
              <a:defRPr/>
            </a:pPr>
            <a:endParaRPr lang="en-US" altLang="en-US" sz="2200" dirty="0">
              <a:latin typeface="Times New Roman" panose="02020603050405020304" pitchFamily="18" charset="0"/>
              <a:cs typeface="Times New Roman" panose="02020603050405020304" pitchFamily="18" charset="0"/>
            </a:endParaRPr>
          </a:p>
        </p:txBody>
      </p:sp>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graphicFrame>
        <p:nvGraphicFramePr>
          <p:cNvPr id="2" name="Table 1"/>
          <p:cNvGraphicFramePr>
            <a:graphicFrameLocks noGrp="1"/>
          </p:cNvGraphicFramePr>
          <p:nvPr>
            <p:extLst>
              <p:ext uri="{D42A27DB-BD31-4B8C-83A1-F6EECF244321}">
                <p14:modId xmlns:p14="http://schemas.microsoft.com/office/powerpoint/2010/main" val="3682045534"/>
              </p:ext>
            </p:extLst>
          </p:nvPr>
        </p:nvGraphicFramePr>
        <p:xfrm>
          <a:off x="1314450" y="3252107"/>
          <a:ext cx="7536117" cy="1828800"/>
        </p:xfrm>
        <a:graphic>
          <a:graphicData uri="http://schemas.openxmlformats.org/drawingml/2006/table">
            <a:tbl>
              <a:tblPr>
                <a:tableStyleId>{3C2FFA5D-87B4-456A-9821-1D502468CF0F}</a:tableStyleId>
              </a:tblPr>
              <a:tblGrid>
                <a:gridCol w="4084003">
                  <a:extLst>
                    <a:ext uri="{9D8B030D-6E8A-4147-A177-3AD203B41FA5}">
                      <a16:colId xmlns:a16="http://schemas.microsoft.com/office/drawing/2014/main" val="20000"/>
                    </a:ext>
                  </a:extLst>
                </a:gridCol>
                <a:gridCol w="3452114">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Question</a:t>
                      </a:r>
                    </a:p>
                  </a:txBody>
                  <a:tcPr anchor="ctr"/>
                </a:tc>
                <a:tc>
                  <a:txBody>
                    <a:bodyPr/>
                    <a:lstStyle/>
                    <a:p>
                      <a:r>
                        <a:rPr lang="en-US" sz="1800" b="1" dirty="0">
                          <a:latin typeface="Times New Roman" pitchFamily="18" charset="0"/>
                          <a:cs typeface="Times New Roman" pitchFamily="18" charset="0"/>
                        </a:rPr>
                        <a:t>Variables</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Does study time affect CGPA?</a:t>
                      </a:r>
                    </a:p>
                  </a:txBody>
                  <a:tcPr anchor="ctr"/>
                </a:tc>
                <a:tc>
                  <a:txBody>
                    <a:bodyPr/>
                    <a:lstStyle/>
                    <a:p>
                      <a:r>
                        <a:rPr lang="en-US" sz="1800">
                          <a:latin typeface="Times New Roman" pitchFamily="18" charset="0"/>
                          <a:cs typeface="Times New Roman" pitchFamily="18" charset="0"/>
                        </a:rPr>
                        <a:t>Study Hours, CGPA</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Does age influence salary?</a:t>
                      </a:r>
                    </a:p>
                  </a:txBody>
                  <a:tcPr anchor="ctr"/>
                </a:tc>
                <a:tc>
                  <a:txBody>
                    <a:bodyPr/>
                    <a:lstStyle/>
                    <a:p>
                      <a:r>
                        <a:rPr lang="en-US" sz="1800">
                          <a:latin typeface="Times New Roman" pitchFamily="18" charset="0"/>
                          <a:cs typeface="Times New Roman" pitchFamily="18" charset="0"/>
                        </a:rPr>
                        <a:t>Age, Salary</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Does advertising affect sales?</a:t>
                      </a:r>
                    </a:p>
                  </a:txBody>
                  <a:tcPr anchor="ctr"/>
                </a:tc>
                <a:tc>
                  <a:txBody>
                    <a:bodyPr/>
                    <a:lstStyle/>
                    <a:p>
                      <a:r>
                        <a:rPr lang="en-US" sz="1800">
                          <a:latin typeface="Times New Roman" pitchFamily="18" charset="0"/>
                          <a:cs typeface="Times New Roman" pitchFamily="18" charset="0"/>
                        </a:rPr>
                        <a:t>Advertising Cost, Sales</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Does temperature affect electricity usage?</a:t>
                      </a:r>
                    </a:p>
                  </a:txBody>
                  <a:tcPr anchor="ctr"/>
                </a:tc>
                <a:tc>
                  <a:txBody>
                    <a:bodyPr/>
                    <a:lstStyle/>
                    <a:p>
                      <a:r>
                        <a:rPr lang="en-US" sz="1800" dirty="0">
                          <a:latin typeface="Times New Roman" pitchFamily="18" charset="0"/>
                          <a:cs typeface="Times New Roman" pitchFamily="18" charset="0"/>
                        </a:rPr>
                        <a:t>Temperature, Energy Consumption</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219113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1544638"/>
            <a:ext cx="10104438" cy="4429125"/>
          </a:xfrm>
        </p:spPr>
        <p:txBody>
          <a:bodyPr rtlCol="0">
            <a:normAutofit/>
          </a:bodyPr>
          <a:lstStyle/>
          <a:p>
            <a:pPr marL="46037" indent="0">
              <a:buNone/>
            </a:pPr>
            <a:r>
              <a:rPr lang="en-US" b="1" dirty="0">
                <a:latin typeface="Times New Roman" pitchFamily="18" charset="0"/>
                <a:cs typeface="Times New Roman" pitchFamily="18" charset="0"/>
              </a:rPr>
              <a:t>Covariance: </a:t>
            </a:r>
            <a:r>
              <a:rPr lang="en-US" dirty="0">
                <a:latin typeface="Times New Roman" pitchFamily="18" charset="0"/>
                <a:cs typeface="Times New Roman" pitchFamily="18" charset="0"/>
              </a:rPr>
              <a:t>Covariance measures whether two variables tend to move together.</a:t>
            </a:r>
          </a:p>
          <a:p>
            <a:pPr marL="46037" indent="0">
              <a:buNone/>
            </a:pPr>
            <a:r>
              <a:rPr lang="en-US" b="1" dirty="0">
                <a:latin typeface="Times New Roman" pitchFamily="18" charset="0"/>
                <a:cs typeface="Times New Roman" pitchFamily="18" charset="0"/>
              </a:rPr>
              <a:t>Interpretation</a:t>
            </a:r>
          </a:p>
          <a:p>
            <a:endParaRPr lang="en-US" b="1" dirty="0">
              <a:latin typeface="Times New Roman" pitchFamily="18" charset="0"/>
              <a:cs typeface="Times New Roman" pitchFamily="18" charset="0"/>
            </a:endParaRPr>
          </a:p>
        </p:txBody>
      </p:sp>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graphicFrame>
        <p:nvGraphicFramePr>
          <p:cNvPr id="3" name="Table 2"/>
          <p:cNvGraphicFramePr>
            <a:graphicFrameLocks noGrp="1"/>
          </p:cNvGraphicFramePr>
          <p:nvPr>
            <p:extLst>
              <p:ext uri="{D42A27DB-BD31-4B8C-83A1-F6EECF244321}">
                <p14:modId xmlns:p14="http://schemas.microsoft.com/office/powerpoint/2010/main" val="3646680163"/>
              </p:ext>
            </p:extLst>
          </p:nvPr>
        </p:nvGraphicFramePr>
        <p:xfrm>
          <a:off x="1338943" y="2514600"/>
          <a:ext cx="5236210" cy="1463040"/>
        </p:xfrm>
        <a:graphic>
          <a:graphicData uri="http://schemas.openxmlformats.org/drawingml/2006/table">
            <a:tbl>
              <a:tblPr>
                <a:tableStyleId>{3C2FFA5D-87B4-456A-9821-1D502468CF0F}</a:tableStyleId>
              </a:tblPr>
              <a:tblGrid>
                <a:gridCol w="1357630">
                  <a:extLst>
                    <a:ext uri="{9D8B030D-6E8A-4147-A177-3AD203B41FA5}">
                      <a16:colId xmlns:a16="http://schemas.microsoft.com/office/drawing/2014/main" val="20000"/>
                    </a:ext>
                  </a:extLst>
                </a:gridCol>
                <a:gridCol w="3878580">
                  <a:extLst>
                    <a:ext uri="{9D8B030D-6E8A-4147-A177-3AD203B41FA5}">
                      <a16:colId xmlns:a16="http://schemas.microsoft.com/office/drawing/2014/main" val="20001"/>
                    </a:ext>
                  </a:extLst>
                </a:gridCol>
              </a:tblGrid>
              <a:tr h="216626">
                <a:tc>
                  <a:txBody>
                    <a:bodyPr/>
                    <a:lstStyle/>
                    <a:p>
                      <a:r>
                        <a:rPr lang="en-US" sz="1800" b="1" dirty="0">
                          <a:latin typeface="Times New Roman" pitchFamily="18" charset="0"/>
                          <a:cs typeface="Times New Roman" pitchFamily="18" charset="0"/>
                        </a:rPr>
                        <a:t>Covariance</a:t>
                      </a:r>
                    </a:p>
                  </a:txBody>
                  <a:tcPr anchor="ctr">
                    <a:solidFill>
                      <a:schemeClr val="bg2"/>
                    </a:solidFill>
                  </a:tcPr>
                </a:tc>
                <a:tc>
                  <a:txBody>
                    <a:bodyPr/>
                    <a:lstStyle/>
                    <a:p>
                      <a:r>
                        <a:rPr lang="en-US" sz="1800" b="1" dirty="0">
                          <a:latin typeface="Times New Roman" pitchFamily="18" charset="0"/>
                          <a:cs typeface="Times New Roman" pitchFamily="18" charset="0"/>
                        </a:rPr>
                        <a:t>Meaning</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Positive</a:t>
                      </a:r>
                    </a:p>
                  </a:txBody>
                  <a:tcPr anchor="ctr">
                    <a:solidFill>
                      <a:schemeClr val="bg2"/>
                    </a:solidFill>
                  </a:tcPr>
                </a:tc>
                <a:tc>
                  <a:txBody>
                    <a:bodyPr/>
                    <a:lstStyle/>
                    <a:p>
                      <a:r>
                        <a:rPr lang="en-US" sz="1800">
                          <a:latin typeface="Times New Roman" pitchFamily="18" charset="0"/>
                          <a:cs typeface="Times New Roman" pitchFamily="18" charset="0"/>
                        </a:rPr>
                        <a:t>Variables increase together</a:t>
                      </a:r>
                    </a:p>
                  </a:txBody>
                  <a:tcPr anchor="ctr">
                    <a:solidFill>
                      <a:schemeClr val="bg2"/>
                    </a:solidFill>
                  </a:tcP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Negative</a:t>
                      </a:r>
                    </a:p>
                  </a:txBody>
                  <a:tcPr anchor="ctr">
                    <a:solidFill>
                      <a:schemeClr val="bg2"/>
                    </a:solidFill>
                  </a:tcPr>
                </a:tc>
                <a:tc>
                  <a:txBody>
                    <a:bodyPr/>
                    <a:lstStyle/>
                    <a:p>
                      <a:r>
                        <a:rPr lang="en-US" sz="1800">
                          <a:latin typeface="Times New Roman" pitchFamily="18" charset="0"/>
                          <a:cs typeface="Times New Roman" pitchFamily="18" charset="0"/>
                        </a:rPr>
                        <a:t>One increases while the other decreases</a:t>
                      </a:r>
                    </a:p>
                  </a:txBody>
                  <a:tcPr anchor="ctr">
                    <a:solidFill>
                      <a:schemeClr val="bg2"/>
                    </a:solidFill>
                  </a:tcPr>
                </a:tc>
                <a:extLst>
                  <a:ext uri="{0D108BD9-81ED-4DB2-BD59-A6C34878D82A}">
                    <a16:rowId xmlns:a16="http://schemas.microsoft.com/office/drawing/2014/main" val="10002"/>
                  </a:ext>
                </a:extLst>
              </a:tr>
              <a:tr h="365760">
                <a:tc>
                  <a:txBody>
                    <a:bodyPr/>
                    <a:lstStyle/>
                    <a:p>
                      <a:r>
                        <a:rPr lang="en-US" sz="1800" dirty="0">
                          <a:latin typeface="Times New Roman" pitchFamily="18" charset="0"/>
                          <a:cs typeface="Times New Roman" pitchFamily="18" charset="0"/>
                        </a:rPr>
                        <a:t>Near Zero</a:t>
                      </a:r>
                    </a:p>
                  </a:txBody>
                  <a:tcPr anchor="ctr">
                    <a:solidFill>
                      <a:schemeClr val="bg2"/>
                    </a:solidFill>
                  </a:tcPr>
                </a:tc>
                <a:tc>
                  <a:txBody>
                    <a:bodyPr/>
                    <a:lstStyle/>
                    <a:p>
                      <a:r>
                        <a:rPr lang="en-US" sz="1800" dirty="0">
                          <a:latin typeface="Times New Roman" pitchFamily="18" charset="0"/>
                          <a:cs typeface="Times New Roman" pitchFamily="18" charset="0"/>
                        </a:rPr>
                        <a:t>Little linear relationship</a:t>
                      </a:r>
                    </a:p>
                  </a:txBody>
                  <a:tcPr anchor="ctr">
                    <a:solidFill>
                      <a:schemeClr val="bg2"/>
                    </a:solidFill>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117117063"/>
              </p:ext>
            </p:extLst>
          </p:nvPr>
        </p:nvGraphicFramePr>
        <p:xfrm>
          <a:off x="6874328" y="3836670"/>
          <a:ext cx="4087749" cy="2194560"/>
        </p:xfrm>
        <a:graphic>
          <a:graphicData uri="http://schemas.openxmlformats.org/drawingml/2006/table">
            <a:tbl>
              <a:tblPr>
                <a:tableStyleId>{3C2FFA5D-87B4-456A-9821-1D502468CF0F}</a:tableStyleId>
              </a:tblPr>
              <a:tblGrid>
                <a:gridCol w="1002030">
                  <a:extLst>
                    <a:ext uri="{9D8B030D-6E8A-4147-A177-3AD203B41FA5}">
                      <a16:colId xmlns:a16="http://schemas.microsoft.com/office/drawing/2014/main" val="20000"/>
                    </a:ext>
                  </a:extLst>
                </a:gridCol>
                <a:gridCol w="1852930">
                  <a:extLst>
                    <a:ext uri="{9D8B030D-6E8A-4147-A177-3AD203B41FA5}">
                      <a16:colId xmlns:a16="http://schemas.microsoft.com/office/drawing/2014/main" val="20001"/>
                    </a:ext>
                  </a:extLst>
                </a:gridCol>
                <a:gridCol w="1232789">
                  <a:extLst>
                    <a:ext uri="{9D8B030D-6E8A-4147-A177-3AD203B41FA5}">
                      <a16:colId xmlns:a16="http://schemas.microsoft.com/office/drawing/2014/main" val="20002"/>
                    </a:ext>
                  </a:extLst>
                </a:gridCol>
              </a:tblGrid>
              <a:tr h="365760">
                <a:tc>
                  <a:txBody>
                    <a:bodyPr/>
                    <a:lstStyle/>
                    <a:p>
                      <a:r>
                        <a:rPr lang="en-US" sz="1800" b="1" dirty="0">
                          <a:latin typeface="Times New Roman" pitchFamily="18" charset="0"/>
                          <a:cs typeface="Times New Roman" pitchFamily="18" charset="0"/>
                        </a:rPr>
                        <a:t>Student</a:t>
                      </a:r>
                    </a:p>
                  </a:txBody>
                  <a:tcPr anchor="ctr"/>
                </a:tc>
                <a:tc>
                  <a:txBody>
                    <a:bodyPr/>
                    <a:lstStyle/>
                    <a:p>
                      <a:r>
                        <a:rPr lang="en-US" sz="1800" b="1">
                          <a:latin typeface="Times New Roman" pitchFamily="18" charset="0"/>
                          <a:cs typeface="Times New Roman" pitchFamily="18" charset="0"/>
                        </a:rPr>
                        <a:t>Study Hours (X)</a:t>
                      </a:r>
                    </a:p>
                  </a:txBody>
                  <a:tcPr anchor="ctr"/>
                </a:tc>
                <a:tc>
                  <a:txBody>
                    <a:bodyPr/>
                    <a:lstStyle/>
                    <a:p>
                      <a:r>
                        <a:rPr lang="en-US" sz="1800" b="1" dirty="0">
                          <a:latin typeface="Times New Roman" pitchFamily="18" charset="0"/>
                          <a:cs typeface="Times New Roman" pitchFamily="18" charset="0"/>
                        </a:rPr>
                        <a:t>CGPA (Y)</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a:t>
                      </a:r>
                    </a:p>
                  </a:txBody>
                  <a:tcPr anchor="ctr"/>
                </a:tc>
                <a:tc>
                  <a:txBody>
                    <a:bodyPr/>
                    <a:lstStyle/>
                    <a:p>
                      <a:r>
                        <a:rPr lang="en-US" sz="1800">
                          <a:latin typeface="Times New Roman" pitchFamily="18" charset="0"/>
                          <a:cs typeface="Times New Roman" pitchFamily="18" charset="0"/>
                        </a:rPr>
                        <a:t>10</a:t>
                      </a:r>
                    </a:p>
                  </a:txBody>
                  <a:tcPr anchor="ctr"/>
                </a:tc>
                <a:tc>
                  <a:txBody>
                    <a:bodyPr/>
                    <a:lstStyle/>
                    <a:p>
                      <a:r>
                        <a:rPr lang="en-US" sz="1800">
                          <a:latin typeface="Times New Roman" pitchFamily="18" charset="0"/>
                          <a:cs typeface="Times New Roman" pitchFamily="18" charset="0"/>
                        </a:rPr>
                        <a:t>2.8</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2</a:t>
                      </a:r>
                    </a:p>
                  </a:txBody>
                  <a:tcPr anchor="ctr"/>
                </a:tc>
                <a:tc>
                  <a:txBody>
                    <a:bodyPr/>
                    <a:lstStyle/>
                    <a:p>
                      <a:r>
                        <a:rPr lang="en-US" sz="1800">
                          <a:latin typeface="Times New Roman" pitchFamily="18" charset="0"/>
                          <a:cs typeface="Times New Roman" pitchFamily="18" charset="0"/>
                        </a:rPr>
                        <a:t>15</a:t>
                      </a:r>
                    </a:p>
                  </a:txBody>
                  <a:tcPr anchor="ctr"/>
                </a:tc>
                <a:tc>
                  <a:txBody>
                    <a:bodyPr/>
                    <a:lstStyle/>
                    <a:p>
                      <a:r>
                        <a:rPr lang="en-US" sz="1800">
                          <a:latin typeface="Times New Roman" pitchFamily="18" charset="0"/>
                          <a:cs typeface="Times New Roman" pitchFamily="18" charset="0"/>
                        </a:rPr>
                        <a:t>3.0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3</a:t>
                      </a:r>
                    </a:p>
                  </a:txBody>
                  <a:tcPr anchor="ctr"/>
                </a:tc>
                <a:tc>
                  <a:txBody>
                    <a:bodyPr/>
                    <a:lstStyle/>
                    <a:p>
                      <a:r>
                        <a:rPr lang="en-US" sz="1800">
                          <a:latin typeface="Times New Roman" pitchFamily="18" charset="0"/>
                          <a:cs typeface="Times New Roman" pitchFamily="18" charset="0"/>
                        </a:rPr>
                        <a:t>20</a:t>
                      </a:r>
                    </a:p>
                  </a:txBody>
                  <a:tcPr anchor="ctr"/>
                </a:tc>
                <a:tc>
                  <a:txBody>
                    <a:bodyPr/>
                    <a:lstStyle/>
                    <a:p>
                      <a:r>
                        <a:rPr lang="en-US" sz="1800">
                          <a:latin typeface="Times New Roman" pitchFamily="18" charset="0"/>
                          <a:cs typeface="Times New Roman" pitchFamily="18" charset="0"/>
                        </a:rPr>
                        <a:t>3.2</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4</a:t>
                      </a:r>
                    </a:p>
                  </a:txBody>
                  <a:tcPr anchor="ctr"/>
                </a:tc>
                <a:tc>
                  <a:txBody>
                    <a:bodyPr/>
                    <a:lstStyle/>
                    <a:p>
                      <a:r>
                        <a:rPr lang="en-US" sz="1800">
                          <a:latin typeface="Times New Roman" pitchFamily="18" charset="0"/>
                          <a:cs typeface="Times New Roman" pitchFamily="18" charset="0"/>
                        </a:rPr>
                        <a:t>25</a:t>
                      </a:r>
                    </a:p>
                  </a:txBody>
                  <a:tcPr anchor="ctr"/>
                </a:tc>
                <a:tc>
                  <a:txBody>
                    <a:bodyPr/>
                    <a:lstStyle/>
                    <a:p>
                      <a:r>
                        <a:rPr lang="en-US" sz="1800">
                          <a:latin typeface="Times New Roman" pitchFamily="18" charset="0"/>
                          <a:cs typeface="Times New Roman" pitchFamily="18" charset="0"/>
                        </a:rPr>
                        <a:t>3.6</a:t>
                      </a:r>
                    </a:p>
                  </a:txBody>
                  <a:tcPr anchor="ctr"/>
                </a:tc>
                <a:extLst>
                  <a:ext uri="{0D108BD9-81ED-4DB2-BD59-A6C34878D82A}">
                    <a16:rowId xmlns:a16="http://schemas.microsoft.com/office/drawing/2014/main" val="10004"/>
                  </a:ext>
                </a:extLst>
              </a:tr>
              <a:tr h="365760">
                <a:tc>
                  <a:txBody>
                    <a:bodyPr/>
                    <a:lstStyle/>
                    <a:p>
                      <a:r>
                        <a:rPr lang="en-US" sz="1800" dirty="0">
                          <a:latin typeface="Times New Roman" pitchFamily="18" charset="0"/>
                          <a:cs typeface="Times New Roman" pitchFamily="18" charset="0"/>
                        </a:rPr>
                        <a:t>5</a:t>
                      </a:r>
                    </a:p>
                  </a:txBody>
                  <a:tcPr anchor="ctr"/>
                </a:tc>
                <a:tc>
                  <a:txBody>
                    <a:bodyPr/>
                    <a:lstStyle/>
                    <a:p>
                      <a:r>
                        <a:rPr lang="en-US" sz="1800">
                          <a:latin typeface="Times New Roman" pitchFamily="18" charset="0"/>
                          <a:cs typeface="Times New Roman" pitchFamily="18" charset="0"/>
                        </a:rPr>
                        <a:t>30</a:t>
                      </a:r>
                    </a:p>
                  </a:txBody>
                  <a:tcPr anchor="ctr"/>
                </a:tc>
                <a:tc>
                  <a:txBody>
                    <a:bodyPr/>
                    <a:lstStyle/>
                    <a:p>
                      <a:r>
                        <a:rPr lang="en-US" sz="1800" dirty="0">
                          <a:latin typeface="Times New Roman" pitchFamily="18" charset="0"/>
                          <a:cs typeface="Times New Roman" pitchFamily="18" charset="0"/>
                        </a:rPr>
                        <a:t>3.9</a:t>
                      </a:r>
                    </a:p>
                  </a:txBody>
                  <a:tcPr anchor="ctr"/>
                </a:tc>
                <a:extLst>
                  <a:ext uri="{0D108BD9-81ED-4DB2-BD59-A6C34878D82A}">
                    <a16:rowId xmlns:a16="http://schemas.microsoft.com/office/drawing/2014/main" val="10005"/>
                  </a:ext>
                </a:extLst>
              </a:tr>
            </a:tbl>
          </a:graphicData>
        </a:graphic>
      </p:graphicFrame>
      <p:sp>
        <p:nvSpPr>
          <p:cNvPr id="6" name="Rectangle 5"/>
          <p:cNvSpPr/>
          <p:nvPr/>
        </p:nvSpPr>
        <p:spPr>
          <a:xfrm>
            <a:off x="1831521" y="4779513"/>
            <a:ext cx="4895850" cy="1200329"/>
          </a:xfrm>
          <a:prstGeom prst="rect">
            <a:avLst/>
          </a:prstGeom>
        </p:spPr>
        <p:txBody>
          <a:bodyPr wrap="square">
            <a:spAutoFit/>
          </a:bodyPr>
          <a:lstStyle/>
          <a:p>
            <a:pPr algn="r"/>
            <a:r>
              <a:rPr lang="en-US" b="1" dirty="0">
                <a:latin typeface="Times New Roman" pitchFamily="18" charset="0"/>
                <a:cs typeface="Times New Roman" pitchFamily="18" charset="0"/>
              </a:rPr>
              <a:t>Example Dataset </a:t>
            </a:r>
            <a:r>
              <a:rPr lang="en-US" b="1" dirty="0">
                <a:latin typeface="Times New Roman" pitchFamily="18" charset="0"/>
                <a:cs typeface="Times New Roman" pitchFamily="18" charset="0"/>
                <a:sym typeface="Wingdings" pitchFamily="2" charset="2"/>
              </a:rPr>
              <a:t></a:t>
            </a:r>
            <a:endParaRPr lang="en-US" b="1" dirty="0">
              <a:latin typeface="Times New Roman" pitchFamily="18" charset="0"/>
              <a:cs typeface="Times New Roman" pitchFamily="18" charset="0"/>
            </a:endParaRPr>
          </a:p>
          <a:p>
            <a:r>
              <a:rPr lang="en-US" b="1" dirty="0">
                <a:latin typeface="Times New Roman" pitchFamily="18" charset="0"/>
                <a:cs typeface="Times New Roman" pitchFamily="18" charset="0"/>
              </a:rPr>
              <a:t>Observation:</a:t>
            </a:r>
          </a:p>
          <a:p>
            <a:r>
              <a:rPr lang="en-US" dirty="0">
                <a:latin typeface="Times New Roman" pitchFamily="18" charset="0"/>
                <a:cs typeface="Times New Roman" pitchFamily="18" charset="0"/>
              </a:rPr>
              <a:t>As Study Hours increase, CGPA also increases.</a:t>
            </a:r>
          </a:p>
          <a:p>
            <a:r>
              <a:rPr lang="en-US" dirty="0">
                <a:latin typeface="Times New Roman" pitchFamily="18" charset="0"/>
                <a:cs typeface="Times New Roman" pitchFamily="18" charset="0"/>
              </a:rPr>
              <a:t>Therefore: Covariance &gt; 0</a:t>
            </a:r>
          </a:p>
        </p:txBody>
      </p:sp>
    </p:spTree>
    <p:extLst>
      <p:ext uri="{BB962C8B-B14F-4D97-AF65-F5344CB8AC3E}">
        <p14:creationId xmlns:p14="http://schemas.microsoft.com/office/powerpoint/2010/main" val="9459300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099" name="Content Placeholder 2"/>
              <p:cNvSpPr>
                <a:spLocks noGrp="1"/>
              </p:cNvSpPr>
              <p:nvPr>
                <p:ph idx="1"/>
              </p:nvPr>
            </p:nvSpPr>
            <p:spPr>
              <a:xfrm>
                <a:off x="1143000" y="1544638"/>
                <a:ext cx="10104438" cy="4429125"/>
              </a:xfrm>
            </p:spPr>
            <p:txBody>
              <a:bodyPr rtlCol="0">
                <a:normAutofit/>
              </a:bodyPr>
              <a:lstStyle/>
              <a:p>
                <a:pPr marL="46037" indent="0">
                  <a:buNone/>
                </a:pPr>
                <a:r>
                  <a:rPr lang="en-US" b="1" dirty="0">
                    <a:latin typeface="Times New Roman" pitchFamily="18" charset="0"/>
                    <a:cs typeface="Times New Roman" pitchFamily="18" charset="0"/>
                  </a:rPr>
                  <a:t>Correlation: </a:t>
                </a:r>
                <a:r>
                  <a:rPr lang="en-US" dirty="0">
                    <a:latin typeface="Times New Roman" pitchFamily="18" charset="0"/>
                    <a:cs typeface="Times New Roman" pitchFamily="18" charset="0"/>
                  </a:rPr>
                  <a:t>Covariance is difficult to interpret because its magnitude depends on units. Correlation solves this problem.</a:t>
                </a:r>
              </a:p>
              <a:p>
                <a:pPr marL="46037" indent="0">
                  <a:buNone/>
                </a:pPr>
                <a:r>
                  <a:rPr lang="en-US" dirty="0">
                    <a:latin typeface="Times New Roman" pitchFamily="18" charset="0"/>
                    <a:cs typeface="Times New Roman" pitchFamily="18" charset="0"/>
                  </a:rPr>
                  <a:t>Correlation measures the strength and direction of a relationship.</a:t>
                </a:r>
              </a:p>
              <a:p>
                <a:pPr marL="46037" indent="0">
                  <a:buNone/>
                </a:pPr>
                <a:r>
                  <a:rPr lang="en-US" dirty="0">
                    <a:latin typeface="Times New Roman" pitchFamily="18" charset="0"/>
                    <a:cs typeface="Times New Roman" pitchFamily="18" charset="0"/>
                  </a:rPr>
                  <a:t>Range: </a:t>
                </a:r>
                <a14:m>
                  <m:oMath xmlns:m="http://schemas.openxmlformats.org/officeDocument/2006/math">
                    <m:r>
                      <a:rPr lang="en-US" i="1" dirty="0" smtClean="0">
                        <a:latin typeface="Cambria Math"/>
                        <a:cs typeface="Times New Roman" pitchFamily="18" charset="0"/>
                      </a:rPr>
                      <m:t>−</m:t>
                    </m:r>
                    <m:r>
                      <a:rPr lang="en-US" i="1" dirty="0">
                        <a:latin typeface="Cambria Math"/>
                        <a:cs typeface="Times New Roman" pitchFamily="18" charset="0"/>
                      </a:rPr>
                      <m:t>1 ≤ </m:t>
                    </m:r>
                    <m:r>
                      <a:rPr lang="en-US" i="1" dirty="0">
                        <a:latin typeface="Cambria Math"/>
                        <a:cs typeface="Times New Roman" pitchFamily="18" charset="0"/>
                      </a:rPr>
                      <m:t>𝑟</m:t>
                    </m:r>
                    <m:r>
                      <a:rPr lang="en-US" i="1" dirty="0">
                        <a:latin typeface="Cambria Math"/>
                        <a:cs typeface="Times New Roman" pitchFamily="18" charset="0"/>
                      </a:rPr>
                      <m:t> ≤ +1</m:t>
                    </m:r>
                  </m:oMath>
                </a14:m>
                <a:endParaRPr lang="en-US" dirty="0">
                  <a:latin typeface="Times New Roman" pitchFamily="18" charset="0"/>
                  <a:cs typeface="Times New Roman" pitchFamily="18" charset="0"/>
                </a:endParaRPr>
              </a:p>
              <a:p>
                <a:pPr marL="46037" indent="0">
                  <a:buNone/>
                </a:pPr>
                <a:endParaRPr lang="en-US" dirty="0">
                  <a:latin typeface="Times New Roman" pitchFamily="18" charset="0"/>
                  <a:cs typeface="Times New Roman" pitchFamily="18" charset="0"/>
                </a:endParaRPr>
              </a:p>
            </p:txBody>
          </p:sp>
        </mc:Choice>
        <mc:Fallback xmlns="">
          <p:sp>
            <p:nvSpPr>
              <p:cNvPr id="4099" name="Content Placeholder 2"/>
              <p:cNvSpPr>
                <a:spLocks noGrp="1" noRot="1" noChangeAspect="1" noMove="1" noResize="1" noEditPoints="1" noAdjustHandles="1" noChangeArrowheads="1" noChangeShapeType="1" noTextEdit="1"/>
              </p:cNvSpPr>
              <p:nvPr>
                <p:ph idx="1"/>
              </p:nvPr>
            </p:nvSpPr>
            <p:spPr>
              <a:xfrm>
                <a:off x="1143000" y="1544638"/>
                <a:ext cx="10104438" cy="4429125"/>
              </a:xfrm>
              <a:blipFill rotWithShape="1">
                <a:blip r:embed="rId2"/>
                <a:stretch>
                  <a:fillRect l="-302" t="-1513"/>
                </a:stretch>
              </a:blipFill>
            </p:spPr>
            <p:txBody>
              <a:bodyPr/>
              <a:lstStyle/>
              <a:p>
                <a:r>
                  <a:rPr lang="en-US">
                    <a:noFill/>
                  </a:rPr>
                  <a:t> </a:t>
                </a:r>
              </a:p>
            </p:txBody>
          </p:sp>
        </mc:Fallback>
      </mc:AlternateContent>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graphicFrame>
        <p:nvGraphicFramePr>
          <p:cNvPr id="2" name="Table 1"/>
          <p:cNvGraphicFramePr>
            <a:graphicFrameLocks noGrp="1"/>
          </p:cNvGraphicFramePr>
          <p:nvPr>
            <p:extLst>
              <p:ext uri="{D42A27DB-BD31-4B8C-83A1-F6EECF244321}">
                <p14:modId xmlns:p14="http://schemas.microsoft.com/office/powerpoint/2010/main" val="627474172"/>
              </p:ext>
            </p:extLst>
          </p:nvPr>
        </p:nvGraphicFramePr>
        <p:xfrm>
          <a:off x="1061357" y="3298371"/>
          <a:ext cx="4463733" cy="2926080"/>
        </p:xfrm>
        <a:graphic>
          <a:graphicData uri="http://schemas.openxmlformats.org/drawingml/2006/table">
            <a:tbl>
              <a:tblPr>
                <a:tableStyleId>{3C2FFA5D-87B4-456A-9821-1D502468CF0F}</a:tableStyleId>
              </a:tblPr>
              <a:tblGrid>
                <a:gridCol w="1378903">
                  <a:extLst>
                    <a:ext uri="{9D8B030D-6E8A-4147-A177-3AD203B41FA5}">
                      <a16:colId xmlns:a16="http://schemas.microsoft.com/office/drawing/2014/main" val="20000"/>
                    </a:ext>
                  </a:extLst>
                </a:gridCol>
                <a:gridCol w="3084830">
                  <a:extLst>
                    <a:ext uri="{9D8B030D-6E8A-4147-A177-3AD203B41FA5}">
                      <a16:colId xmlns:a16="http://schemas.microsoft.com/office/drawing/2014/main" val="20001"/>
                    </a:ext>
                  </a:extLst>
                </a:gridCol>
              </a:tblGrid>
              <a:tr h="154577">
                <a:tc>
                  <a:txBody>
                    <a:bodyPr/>
                    <a:lstStyle/>
                    <a:p>
                      <a:r>
                        <a:rPr lang="en-US" sz="1800" b="1">
                          <a:latin typeface="Times New Roman" pitchFamily="18" charset="0"/>
                          <a:cs typeface="Times New Roman" pitchFamily="18" charset="0"/>
                        </a:rPr>
                        <a:t>Correlation</a:t>
                      </a:r>
                    </a:p>
                  </a:txBody>
                  <a:tcPr anchor="ctr">
                    <a:solidFill>
                      <a:schemeClr val="bg2"/>
                    </a:solidFill>
                  </a:tcPr>
                </a:tc>
                <a:tc>
                  <a:txBody>
                    <a:bodyPr/>
                    <a:lstStyle/>
                    <a:p>
                      <a:r>
                        <a:rPr lang="en-US" sz="1800" b="1" dirty="0">
                          <a:latin typeface="Times New Roman" pitchFamily="18" charset="0"/>
                          <a:cs typeface="Times New Roman" pitchFamily="18" charset="0"/>
                        </a:rPr>
                        <a:t>Interpretation</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a:t>
                      </a:r>
                    </a:p>
                  </a:txBody>
                  <a:tcPr anchor="ctr">
                    <a:solidFill>
                      <a:schemeClr val="bg2"/>
                    </a:solidFill>
                  </a:tcPr>
                </a:tc>
                <a:tc>
                  <a:txBody>
                    <a:bodyPr/>
                    <a:lstStyle/>
                    <a:p>
                      <a:r>
                        <a:rPr lang="en-US" sz="1800">
                          <a:latin typeface="Times New Roman" pitchFamily="18" charset="0"/>
                          <a:cs typeface="Times New Roman" pitchFamily="18" charset="0"/>
                        </a:rPr>
                        <a:t>Perfect positive relationship</a:t>
                      </a:r>
                    </a:p>
                  </a:txBody>
                  <a:tcPr anchor="ctr">
                    <a:solidFill>
                      <a:schemeClr val="bg2"/>
                    </a:solidFill>
                  </a:tcP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+0.8</a:t>
                      </a:r>
                    </a:p>
                  </a:txBody>
                  <a:tcPr anchor="ctr">
                    <a:solidFill>
                      <a:schemeClr val="bg2"/>
                    </a:solidFill>
                  </a:tcPr>
                </a:tc>
                <a:tc>
                  <a:txBody>
                    <a:bodyPr/>
                    <a:lstStyle/>
                    <a:p>
                      <a:r>
                        <a:rPr lang="en-US" sz="1800">
                          <a:latin typeface="Times New Roman" pitchFamily="18" charset="0"/>
                          <a:cs typeface="Times New Roman" pitchFamily="18" charset="0"/>
                        </a:rPr>
                        <a:t>Strong positive relationship</a:t>
                      </a:r>
                    </a:p>
                  </a:txBody>
                  <a:tcPr anchor="ctr">
                    <a:solidFill>
                      <a:schemeClr val="bg2"/>
                    </a:solidFill>
                  </a:tcP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+0.5</a:t>
                      </a:r>
                    </a:p>
                  </a:txBody>
                  <a:tcPr anchor="ctr">
                    <a:solidFill>
                      <a:schemeClr val="bg2"/>
                    </a:solidFill>
                  </a:tcPr>
                </a:tc>
                <a:tc>
                  <a:txBody>
                    <a:bodyPr/>
                    <a:lstStyle/>
                    <a:p>
                      <a:r>
                        <a:rPr lang="en-US" sz="1800">
                          <a:latin typeface="Times New Roman" pitchFamily="18" charset="0"/>
                          <a:cs typeface="Times New Roman" pitchFamily="18" charset="0"/>
                        </a:rPr>
                        <a:t>Moderate positive relationship</a:t>
                      </a:r>
                    </a:p>
                  </a:txBody>
                  <a:tcPr anchor="ctr">
                    <a:solidFill>
                      <a:schemeClr val="bg2"/>
                    </a:solidFill>
                  </a:tcP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0</a:t>
                      </a:r>
                    </a:p>
                  </a:txBody>
                  <a:tcPr anchor="ctr">
                    <a:solidFill>
                      <a:schemeClr val="bg2"/>
                    </a:solidFill>
                  </a:tcPr>
                </a:tc>
                <a:tc>
                  <a:txBody>
                    <a:bodyPr/>
                    <a:lstStyle/>
                    <a:p>
                      <a:r>
                        <a:rPr lang="en-US" sz="1800">
                          <a:latin typeface="Times New Roman" pitchFamily="18" charset="0"/>
                          <a:cs typeface="Times New Roman" pitchFamily="18" charset="0"/>
                        </a:rPr>
                        <a:t>No linear relationship</a:t>
                      </a:r>
                    </a:p>
                  </a:txBody>
                  <a:tcPr anchor="ctr">
                    <a:solidFill>
                      <a:schemeClr val="bg2"/>
                    </a:solidFill>
                  </a:tcP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-0.5</a:t>
                      </a:r>
                    </a:p>
                  </a:txBody>
                  <a:tcPr anchor="ctr">
                    <a:solidFill>
                      <a:schemeClr val="bg2"/>
                    </a:solidFill>
                  </a:tcPr>
                </a:tc>
                <a:tc>
                  <a:txBody>
                    <a:bodyPr/>
                    <a:lstStyle/>
                    <a:p>
                      <a:r>
                        <a:rPr lang="en-US" sz="1800">
                          <a:latin typeface="Times New Roman" pitchFamily="18" charset="0"/>
                          <a:cs typeface="Times New Roman" pitchFamily="18" charset="0"/>
                        </a:rPr>
                        <a:t>Moderate negative relationship</a:t>
                      </a:r>
                    </a:p>
                  </a:txBody>
                  <a:tcPr anchor="ctr">
                    <a:solidFill>
                      <a:schemeClr val="bg2"/>
                    </a:solidFill>
                  </a:tcPr>
                </a:tc>
                <a:extLst>
                  <a:ext uri="{0D108BD9-81ED-4DB2-BD59-A6C34878D82A}">
                    <a16:rowId xmlns:a16="http://schemas.microsoft.com/office/drawing/2014/main" val="10005"/>
                  </a:ext>
                </a:extLst>
              </a:tr>
              <a:tr h="365760">
                <a:tc>
                  <a:txBody>
                    <a:bodyPr/>
                    <a:lstStyle/>
                    <a:p>
                      <a:r>
                        <a:rPr lang="en-US" sz="1800">
                          <a:latin typeface="Times New Roman" pitchFamily="18" charset="0"/>
                          <a:cs typeface="Times New Roman" pitchFamily="18" charset="0"/>
                        </a:rPr>
                        <a:t>-0.8</a:t>
                      </a:r>
                    </a:p>
                  </a:txBody>
                  <a:tcPr anchor="ctr">
                    <a:solidFill>
                      <a:schemeClr val="bg2"/>
                    </a:solidFill>
                  </a:tcPr>
                </a:tc>
                <a:tc>
                  <a:txBody>
                    <a:bodyPr/>
                    <a:lstStyle/>
                    <a:p>
                      <a:r>
                        <a:rPr lang="en-US" sz="1800">
                          <a:latin typeface="Times New Roman" pitchFamily="18" charset="0"/>
                          <a:cs typeface="Times New Roman" pitchFamily="18" charset="0"/>
                        </a:rPr>
                        <a:t>Strong negative relationship</a:t>
                      </a:r>
                    </a:p>
                  </a:txBody>
                  <a:tcPr anchor="ctr">
                    <a:solidFill>
                      <a:schemeClr val="bg2"/>
                    </a:solidFill>
                  </a:tcPr>
                </a:tc>
                <a:extLst>
                  <a:ext uri="{0D108BD9-81ED-4DB2-BD59-A6C34878D82A}">
                    <a16:rowId xmlns:a16="http://schemas.microsoft.com/office/drawing/2014/main" val="10006"/>
                  </a:ext>
                </a:extLst>
              </a:tr>
              <a:tr h="365760">
                <a:tc>
                  <a:txBody>
                    <a:bodyPr/>
                    <a:lstStyle/>
                    <a:p>
                      <a:r>
                        <a:rPr lang="en-US" sz="1800">
                          <a:latin typeface="Times New Roman" pitchFamily="18" charset="0"/>
                          <a:cs typeface="Times New Roman" pitchFamily="18" charset="0"/>
                        </a:rPr>
                        <a:t>-1</a:t>
                      </a:r>
                    </a:p>
                  </a:txBody>
                  <a:tcPr anchor="ctr">
                    <a:solidFill>
                      <a:schemeClr val="bg2"/>
                    </a:solidFill>
                  </a:tcPr>
                </a:tc>
                <a:tc>
                  <a:txBody>
                    <a:bodyPr/>
                    <a:lstStyle/>
                    <a:p>
                      <a:r>
                        <a:rPr lang="en-US" sz="1800" dirty="0">
                          <a:latin typeface="Times New Roman" pitchFamily="18" charset="0"/>
                          <a:cs typeface="Times New Roman" pitchFamily="18" charset="0"/>
                        </a:rPr>
                        <a:t>Perfect negative relationship</a:t>
                      </a:r>
                    </a:p>
                  </a:txBody>
                  <a:tcPr anchor="ctr">
                    <a:solidFill>
                      <a:schemeClr val="bg2"/>
                    </a:solidFill>
                  </a:tcPr>
                </a:tc>
                <a:extLst>
                  <a:ext uri="{0D108BD9-81ED-4DB2-BD59-A6C34878D82A}">
                    <a16:rowId xmlns:a16="http://schemas.microsoft.com/office/drawing/2014/main" val="10007"/>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660287001"/>
              </p:ext>
            </p:extLst>
          </p:nvPr>
        </p:nvGraphicFramePr>
        <p:xfrm>
          <a:off x="8254093" y="2946763"/>
          <a:ext cx="2349056" cy="2194560"/>
        </p:xfrm>
        <a:graphic>
          <a:graphicData uri="http://schemas.openxmlformats.org/drawingml/2006/table">
            <a:tbl>
              <a:tblPr>
                <a:tableStyleId>{3C2FFA5D-87B4-456A-9821-1D502468CF0F}</a:tableStyleId>
              </a:tblPr>
              <a:tblGrid>
                <a:gridCol w="1478280">
                  <a:extLst>
                    <a:ext uri="{9D8B030D-6E8A-4147-A177-3AD203B41FA5}">
                      <a16:colId xmlns:a16="http://schemas.microsoft.com/office/drawing/2014/main" val="20000"/>
                    </a:ext>
                  </a:extLst>
                </a:gridCol>
                <a:gridCol w="870776">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Study Hours</a:t>
                      </a:r>
                    </a:p>
                  </a:txBody>
                  <a:tcPr anchor="ctr"/>
                </a:tc>
                <a:tc>
                  <a:txBody>
                    <a:bodyPr/>
                    <a:lstStyle/>
                    <a:p>
                      <a:r>
                        <a:rPr lang="en-US" sz="1800" b="1" dirty="0">
                          <a:latin typeface="Times New Roman" pitchFamily="18" charset="0"/>
                          <a:cs typeface="Times New Roman" pitchFamily="18" charset="0"/>
                        </a:rPr>
                        <a:t>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10</a:t>
                      </a:r>
                    </a:p>
                  </a:txBody>
                  <a:tcPr anchor="ctr"/>
                </a:tc>
                <a:tc>
                  <a:txBody>
                    <a:bodyPr/>
                    <a:lstStyle/>
                    <a:p>
                      <a:r>
                        <a:rPr lang="en-US" sz="1800">
                          <a:latin typeface="Times New Roman" pitchFamily="18" charset="0"/>
                          <a:cs typeface="Times New Roman" pitchFamily="18" charset="0"/>
                        </a:rPr>
                        <a:t>2.8</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15</a:t>
                      </a:r>
                    </a:p>
                  </a:txBody>
                  <a:tcPr anchor="ctr"/>
                </a:tc>
                <a:tc>
                  <a:txBody>
                    <a:bodyPr/>
                    <a:lstStyle/>
                    <a:p>
                      <a:r>
                        <a:rPr lang="en-US" sz="1800">
                          <a:latin typeface="Times New Roman" pitchFamily="18" charset="0"/>
                          <a:cs typeface="Times New Roman" pitchFamily="18" charset="0"/>
                        </a:rPr>
                        <a:t>3.0</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20</a:t>
                      </a:r>
                    </a:p>
                  </a:txBody>
                  <a:tcPr anchor="ctr"/>
                </a:tc>
                <a:tc>
                  <a:txBody>
                    <a:bodyPr/>
                    <a:lstStyle/>
                    <a:p>
                      <a:r>
                        <a:rPr lang="en-US" sz="1800">
                          <a:latin typeface="Times New Roman" pitchFamily="18" charset="0"/>
                          <a:cs typeface="Times New Roman" pitchFamily="18" charset="0"/>
                        </a:rPr>
                        <a:t>3.2</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25</a:t>
                      </a:r>
                    </a:p>
                  </a:txBody>
                  <a:tcPr anchor="ctr"/>
                </a:tc>
                <a:tc>
                  <a:txBody>
                    <a:bodyPr/>
                    <a:lstStyle/>
                    <a:p>
                      <a:r>
                        <a:rPr lang="en-US" sz="1800">
                          <a:latin typeface="Times New Roman" pitchFamily="18" charset="0"/>
                          <a:cs typeface="Times New Roman" pitchFamily="18" charset="0"/>
                        </a:rPr>
                        <a:t>3.6</a:t>
                      </a:r>
                    </a:p>
                  </a:txBody>
                  <a:tcPr anchor="ctr"/>
                </a:tc>
                <a:extLst>
                  <a:ext uri="{0D108BD9-81ED-4DB2-BD59-A6C34878D82A}">
                    <a16:rowId xmlns:a16="http://schemas.microsoft.com/office/drawing/2014/main" val="10004"/>
                  </a:ext>
                </a:extLst>
              </a:tr>
              <a:tr h="365760">
                <a:tc>
                  <a:txBody>
                    <a:bodyPr/>
                    <a:lstStyle/>
                    <a:p>
                      <a:r>
                        <a:rPr lang="en-US" sz="1800">
                          <a:latin typeface="Times New Roman" pitchFamily="18" charset="0"/>
                          <a:cs typeface="Times New Roman" pitchFamily="18" charset="0"/>
                        </a:rPr>
                        <a:t>30</a:t>
                      </a:r>
                    </a:p>
                  </a:txBody>
                  <a:tcPr anchor="ctr"/>
                </a:tc>
                <a:tc>
                  <a:txBody>
                    <a:bodyPr/>
                    <a:lstStyle/>
                    <a:p>
                      <a:r>
                        <a:rPr lang="en-US" sz="1800" dirty="0">
                          <a:latin typeface="Times New Roman" pitchFamily="18" charset="0"/>
                          <a:cs typeface="Times New Roman" pitchFamily="18" charset="0"/>
                        </a:rPr>
                        <a:t>3.9</a:t>
                      </a:r>
                    </a:p>
                  </a:txBody>
                  <a:tcPr anchor="ctr"/>
                </a:tc>
                <a:extLst>
                  <a:ext uri="{0D108BD9-81ED-4DB2-BD59-A6C34878D82A}">
                    <a16:rowId xmlns:a16="http://schemas.microsoft.com/office/drawing/2014/main" val="10005"/>
                  </a:ext>
                </a:extLst>
              </a:tr>
            </a:tbl>
          </a:graphicData>
        </a:graphic>
      </p:graphicFrame>
      <p:sp>
        <p:nvSpPr>
          <p:cNvPr id="8" name="Rectangle 7"/>
          <p:cNvSpPr/>
          <p:nvPr/>
        </p:nvSpPr>
        <p:spPr>
          <a:xfrm>
            <a:off x="8190083" y="5391541"/>
            <a:ext cx="2862963" cy="369332"/>
          </a:xfrm>
          <a:prstGeom prst="rect">
            <a:avLst/>
          </a:prstGeom>
        </p:spPr>
        <p:txBody>
          <a:bodyPr wrap="none">
            <a:spAutoFit/>
          </a:bodyPr>
          <a:lstStyle/>
          <a:p>
            <a:r>
              <a:rPr lang="en-US" b="1" dirty="0">
                <a:latin typeface="Times New Roman" pitchFamily="18" charset="0"/>
                <a:cs typeface="Times New Roman" pitchFamily="18" charset="0"/>
              </a:rPr>
              <a:t>Strong positive correlation.</a:t>
            </a:r>
          </a:p>
        </p:txBody>
      </p:sp>
    </p:spTree>
    <p:extLst>
      <p:ext uri="{BB962C8B-B14F-4D97-AF65-F5344CB8AC3E}">
        <p14:creationId xmlns:p14="http://schemas.microsoft.com/office/powerpoint/2010/main" val="21510844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3"/>
          <p:cNvSpPr>
            <a:spLocks noGrp="1"/>
          </p:cNvSpPr>
          <p:nvPr>
            <p:ph idx="1"/>
          </p:nvPr>
        </p:nvSpPr>
        <p:spPr>
          <a:xfrm>
            <a:off x="1143000" y="1290638"/>
            <a:ext cx="9872663" cy="4805362"/>
          </a:xfrm>
        </p:spPr>
        <p:txBody>
          <a:bodyPr/>
          <a:lstStyle/>
          <a:p>
            <a:pPr marL="44450" indent="0" algn="just">
              <a:lnSpc>
                <a:spcPct val="150000"/>
              </a:lnSpc>
              <a:buFont typeface="Corbel" panose="020B0503020204020204" pitchFamily="34" charset="0"/>
              <a:buNone/>
            </a:pPr>
            <a:r>
              <a:rPr lang="en-US" altLang="en-US" sz="2400" b="1" dirty="0">
                <a:latin typeface="Times New Roman" pitchFamily="18" charset="0"/>
                <a:cs typeface="Times New Roman" pitchFamily="18" charset="0"/>
              </a:rPr>
              <a:t>Remember: </a:t>
            </a:r>
            <a:r>
              <a:rPr lang="en-US" altLang="en-US" sz="1800" i="1" dirty="0">
                <a:solidFill>
                  <a:srgbClr val="FF0000"/>
                </a:solidFill>
                <a:latin typeface="Calibri" pitchFamily="34" charset="0"/>
                <a:ea typeface="DengXian" pitchFamily="2" charset="-122"/>
                <a:cs typeface="Times New Roman" pitchFamily="18" charset="0"/>
              </a:rPr>
              <a:t>Correlation does not mean causation.</a:t>
            </a:r>
            <a:r>
              <a:rPr lang="en-US" altLang="en-US" sz="1800" i="1" dirty="0">
                <a:latin typeface="Calibri" pitchFamily="34" charset="0"/>
                <a:ea typeface="DengXian" pitchFamily="2" charset="-122"/>
                <a:cs typeface="Times New Roman" pitchFamily="18" charset="0"/>
              </a:rPr>
              <a:t> The phrase “correlation does not imply causation” is often used in statistics to point out that correlation between two variables does not necessarily mean that one variable causes the other to occur.</a:t>
            </a:r>
          </a:p>
          <a:p>
            <a:pPr marL="44450" indent="0">
              <a:buFont typeface="Corbel" panose="020B0503020204020204" pitchFamily="34" charset="0"/>
              <a:buNone/>
            </a:pPr>
            <a:endParaRPr lang="en-US" altLang="en-US" sz="1800" i="1" dirty="0">
              <a:latin typeface="Calibri" pitchFamily="34" charset="0"/>
              <a:ea typeface="DengXian" pitchFamily="2" charset="-122"/>
              <a:cs typeface="Times New Roman" pitchFamily="18" charset="0"/>
            </a:endParaRPr>
          </a:p>
          <a:p>
            <a:pPr marL="44450" indent="0">
              <a:buFont typeface="Corbel" panose="020B0503020204020204" pitchFamily="34" charset="0"/>
              <a:buNone/>
            </a:pPr>
            <a:r>
              <a:rPr lang="en-US" altLang="en-US" sz="1800" i="1" dirty="0">
                <a:latin typeface="Calibri" pitchFamily="34" charset="0"/>
                <a:ea typeface="DengXian" pitchFamily="2" charset="-122"/>
                <a:cs typeface="Times New Roman" pitchFamily="18" charset="0"/>
              </a:rPr>
              <a:t>Example 1: Ice Cream Sales &amp; Shark Attacks ?.</a:t>
            </a:r>
          </a:p>
          <a:p>
            <a:pPr marL="44450" indent="0">
              <a:buFont typeface="Corbel" panose="020B0503020204020204" pitchFamily="34" charset="0"/>
              <a:buNone/>
            </a:pPr>
            <a:r>
              <a:rPr lang="en-US" altLang="en-US" sz="1800" i="1" dirty="0">
                <a:latin typeface="Calibri" pitchFamily="34" charset="0"/>
                <a:ea typeface="DengXian" pitchFamily="2" charset="-122"/>
                <a:cs typeface="Times New Roman" pitchFamily="18" charset="0"/>
              </a:rPr>
              <a:t>Example 2: High School Graduates vs. Pizza Consumption ?</a:t>
            </a:r>
          </a:p>
          <a:p>
            <a:pPr marL="44450" indent="0">
              <a:buFont typeface="Corbel" panose="020B0503020204020204" pitchFamily="34" charset="0"/>
              <a:buNone/>
            </a:pPr>
            <a:r>
              <a:rPr lang="en-US" altLang="en-US" sz="1800" i="1" dirty="0">
                <a:latin typeface="Calibri" pitchFamily="34" charset="0"/>
                <a:ea typeface="DengXian" pitchFamily="2" charset="-122"/>
                <a:cs typeface="Times New Roman" pitchFamily="18" charset="0"/>
              </a:rPr>
              <a:t>Example 3: Master’s Degrees vs. Box Office Revenue ?</a:t>
            </a:r>
          </a:p>
          <a:p>
            <a:pPr marL="44450" indent="0">
              <a:buFont typeface="Corbel" panose="020B0503020204020204" pitchFamily="34" charset="0"/>
              <a:buNone/>
            </a:pPr>
            <a:endParaRPr lang="en-US" altLang="en-US" sz="1800" b="1" dirty="0">
              <a:latin typeface="Times New Roman" pitchFamily="18" charset="0"/>
              <a:cs typeface="Times New Roman" pitchFamily="18" charset="0"/>
            </a:endParaRPr>
          </a:p>
        </p:txBody>
      </p:sp>
      <p:sp>
        <p:nvSpPr>
          <p:cNvPr id="5"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spTree>
    <p:extLst>
      <p:ext uri="{BB962C8B-B14F-4D97-AF65-F5344CB8AC3E}">
        <p14:creationId xmlns:p14="http://schemas.microsoft.com/office/powerpoint/2010/main" val="32631116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1544638"/>
            <a:ext cx="10104438" cy="4429125"/>
          </a:xfrm>
        </p:spPr>
        <p:txBody>
          <a:bodyPr rtlCol="0">
            <a:normAutofit/>
          </a:bodyPr>
          <a:lstStyle/>
          <a:p>
            <a:pPr marL="46037" indent="0">
              <a:buNone/>
            </a:pPr>
            <a:r>
              <a:rPr lang="en-US" b="1" dirty="0">
                <a:latin typeface="Times New Roman" pitchFamily="18" charset="0"/>
                <a:cs typeface="Times New Roman" pitchFamily="18" charset="0"/>
              </a:rPr>
              <a:t>Cross-Tabulation (Categorical Variables)</a:t>
            </a:r>
          </a:p>
          <a:p>
            <a:pPr marL="46037" indent="0">
              <a:buNone/>
            </a:pPr>
            <a:r>
              <a:rPr lang="en-US" dirty="0">
                <a:latin typeface="Times New Roman" pitchFamily="18" charset="0"/>
                <a:cs typeface="Times New Roman" pitchFamily="18" charset="0"/>
              </a:rPr>
              <a:t>Used when both variables are categorical.</a:t>
            </a:r>
          </a:p>
          <a:p>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Which group has higher pass rates? </a:t>
            </a:r>
          </a:p>
          <a:p>
            <a:r>
              <a:rPr lang="en-US" dirty="0">
                <a:latin typeface="Times New Roman" pitchFamily="18" charset="0"/>
                <a:cs typeface="Times New Roman" pitchFamily="18" charset="0"/>
              </a:rPr>
              <a:t>Is there a relationship between Gender and Pass Status?</a:t>
            </a:r>
          </a:p>
        </p:txBody>
      </p:sp>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graphicFrame>
        <p:nvGraphicFramePr>
          <p:cNvPr id="3" name="Table 2"/>
          <p:cNvGraphicFramePr>
            <a:graphicFrameLocks noGrp="1"/>
          </p:cNvGraphicFramePr>
          <p:nvPr>
            <p:extLst>
              <p:ext uri="{D42A27DB-BD31-4B8C-83A1-F6EECF244321}">
                <p14:modId xmlns:p14="http://schemas.microsoft.com/office/powerpoint/2010/main" val="137528357"/>
              </p:ext>
            </p:extLst>
          </p:nvPr>
        </p:nvGraphicFramePr>
        <p:xfrm>
          <a:off x="8539843" y="1668237"/>
          <a:ext cx="1877060" cy="1828800"/>
        </p:xfrm>
        <a:graphic>
          <a:graphicData uri="http://schemas.openxmlformats.org/drawingml/2006/table">
            <a:tbl>
              <a:tblPr>
                <a:tableStyleId>{3C2FFA5D-87B4-456A-9821-1D502468CF0F}</a:tableStyleId>
              </a:tblPr>
              <a:tblGrid>
                <a:gridCol w="976630">
                  <a:extLst>
                    <a:ext uri="{9D8B030D-6E8A-4147-A177-3AD203B41FA5}">
                      <a16:colId xmlns:a16="http://schemas.microsoft.com/office/drawing/2014/main" val="20000"/>
                    </a:ext>
                  </a:extLst>
                </a:gridCol>
                <a:gridCol w="900430">
                  <a:extLst>
                    <a:ext uri="{9D8B030D-6E8A-4147-A177-3AD203B41FA5}">
                      <a16:colId xmlns:a16="http://schemas.microsoft.com/office/drawing/2014/main" val="20001"/>
                    </a:ext>
                  </a:extLst>
                </a:gridCol>
              </a:tblGrid>
              <a:tr h="365760">
                <a:tc>
                  <a:txBody>
                    <a:bodyPr/>
                    <a:lstStyle/>
                    <a:p>
                      <a:r>
                        <a:rPr lang="en-US" sz="1800" b="1" dirty="0">
                          <a:latin typeface="Times New Roman" pitchFamily="18" charset="0"/>
                          <a:cs typeface="Times New Roman" pitchFamily="18" charset="0"/>
                        </a:rPr>
                        <a:t>Gender</a:t>
                      </a:r>
                    </a:p>
                  </a:txBody>
                  <a:tcPr anchor="ctr"/>
                </a:tc>
                <a:tc>
                  <a:txBody>
                    <a:bodyPr/>
                    <a:lstStyle/>
                    <a:p>
                      <a:r>
                        <a:rPr lang="en-US" sz="1800" b="1" dirty="0">
                          <a:latin typeface="Times New Roman" pitchFamily="18" charset="0"/>
                          <a:cs typeface="Times New Roman" pitchFamily="18" charset="0"/>
                        </a:rPr>
                        <a:t>Passed</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Male</a:t>
                      </a:r>
                    </a:p>
                  </a:txBody>
                  <a:tcPr anchor="ctr"/>
                </a:tc>
                <a:tc>
                  <a:txBody>
                    <a:bodyPr/>
                    <a:lstStyle/>
                    <a:p>
                      <a:r>
                        <a:rPr lang="en-US" sz="1800">
                          <a:latin typeface="Times New Roman" pitchFamily="18" charset="0"/>
                          <a:cs typeface="Times New Roman" pitchFamily="18" charset="0"/>
                        </a:rPr>
                        <a:t>Yes</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Female</a:t>
                      </a:r>
                    </a:p>
                  </a:txBody>
                  <a:tcPr anchor="ctr"/>
                </a:tc>
                <a:tc>
                  <a:txBody>
                    <a:bodyPr/>
                    <a:lstStyle/>
                    <a:p>
                      <a:r>
                        <a:rPr lang="en-US" sz="1800">
                          <a:latin typeface="Times New Roman" pitchFamily="18" charset="0"/>
                          <a:cs typeface="Times New Roman" pitchFamily="18" charset="0"/>
                        </a:rPr>
                        <a:t>Yes</a:t>
                      </a:r>
                    </a:p>
                  </a:txBody>
                  <a:tcPr anchor="ct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Male</a:t>
                      </a:r>
                    </a:p>
                  </a:txBody>
                  <a:tcPr anchor="ctr"/>
                </a:tc>
                <a:tc>
                  <a:txBody>
                    <a:bodyPr/>
                    <a:lstStyle/>
                    <a:p>
                      <a:r>
                        <a:rPr lang="en-US" sz="1800">
                          <a:latin typeface="Times New Roman" pitchFamily="18" charset="0"/>
                          <a:cs typeface="Times New Roman" pitchFamily="18" charset="0"/>
                        </a:rPr>
                        <a:t>No</a:t>
                      </a:r>
                    </a:p>
                  </a:txBody>
                  <a:tcPr anchor="ct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Female</a:t>
                      </a:r>
                    </a:p>
                  </a:txBody>
                  <a:tcPr anchor="ctr"/>
                </a:tc>
                <a:tc>
                  <a:txBody>
                    <a:bodyPr/>
                    <a:lstStyle/>
                    <a:p>
                      <a:r>
                        <a:rPr lang="en-US" sz="1800" dirty="0">
                          <a:latin typeface="Times New Roman" pitchFamily="18" charset="0"/>
                          <a:cs typeface="Times New Roman" pitchFamily="18" charset="0"/>
                        </a:rPr>
                        <a:t>Yes</a:t>
                      </a:r>
                    </a:p>
                  </a:txBody>
                  <a:tcPr anchor="ct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83855215"/>
              </p:ext>
            </p:extLst>
          </p:nvPr>
        </p:nvGraphicFramePr>
        <p:xfrm>
          <a:off x="1926771" y="4075067"/>
          <a:ext cx="2066354" cy="1097280"/>
        </p:xfrm>
        <a:graphic>
          <a:graphicData uri="http://schemas.openxmlformats.org/drawingml/2006/table">
            <a:tbl>
              <a:tblPr>
                <a:tableStyleId>{3C2FFA5D-87B4-456A-9821-1D502468CF0F}</a:tableStyleId>
              </a:tblPr>
              <a:tblGrid>
                <a:gridCol w="976630">
                  <a:extLst>
                    <a:ext uri="{9D8B030D-6E8A-4147-A177-3AD203B41FA5}">
                      <a16:colId xmlns:a16="http://schemas.microsoft.com/office/drawing/2014/main" val="20000"/>
                    </a:ext>
                  </a:extLst>
                </a:gridCol>
                <a:gridCol w="570294">
                  <a:extLst>
                    <a:ext uri="{9D8B030D-6E8A-4147-A177-3AD203B41FA5}">
                      <a16:colId xmlns:a16="http://schemas.microsoft.com/office/drawing/2014/main" val="20001"/>
                    </a:ext>
                  </a:extLst>
                </a:gridCol>
                <a:gridCol w="519430">
                  <a:extLst>
                    <a:ext uri="{9D8B030D-6E8A-4147-A177-3AD203B41FA5}">
                      <a16:colId xmlns:a16="http://schemas.microsoft.com/office/drawing/2014/main" val="20002"/>
                    </a:ext>
                  </a:extLst>
                </a:gridCol>
              </a:tblGrid>
              <a:tr h="365760">
                <a:tc>
                  <a:txBody>
                    <a:bodyPr/>
                    <a:lstStyle/>
                    <a:p>
                      <a:r>
                        <a:rPr lang="en-US" sz="1800" b="1">
                          <a:latin typeface="Times New Roman" pitchFamily="18" charset="0"/>
                          <a:cs typeface="Times New Roman" pitchFamily="18" charset="0"/>
                        </a:rPr>
                        <a:t>Gender</a:t>
                      </a:r>
                    </a:p>
                  </a:txBody>
                  <a:tcPr anchor="ctr">
                    <a:solidFill>
                      <a:schemeClr val="bg2"/>
                    </a:solidFill>
                  </a:tcPr>
                </a:tc>
                <a:tc>
                  <a:txBody>
                    <a:bodyPr/>
                    <a:lstStyle/>
                    <a:p>
                      <a:r>
                        <a:rPr lang="en-US" sz="1800" b="1">
                          <a:latin typeface="Times New Roman" pitchFamily="18" charset="0"/>
                          <a:cs typeface="Times New Roman" pitchFamily="18" charset="0"/>
                        </a:rPr>
                        <a:t>Yes</a:t>
                      </a:r>
                    </a:p>
                  </a:txBody>
                  <a:tcPr anchor="ctr">
                    <a:solidFill>
                      <a:schemeClr val="bg2"/>
                    </a:solidFill>
                  </a:tcPr>
                </a:tc>
                <a:tc>
                  <a:txBody>
                    <a:bodyPr/>
                    <a:lstStyle/>
                    <a:p>
                      <a:r>
                        <a:rPr lang="en-US" sz="1800" b="1" dirty="0">
                          <a:latin typeface="Times New Roman" pitchFamily="18" charset="0"/>
                          <a:cs typeface="Times New Roman" pitchFamily="18" charset="0"/>
                        </a:rPr>
                        <a:t>No</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Male</a:t>
                      </a:r>
                    </a:p>
                  </a:txBody>
                  <a:tcPr anchor="ctr">
                    <a:solidFill>
                      <a:schemeClr val="bg2"/>
                    </a:solidFill>
                  </a:tcPr>
                </a:tc>
                <a:tc>
                  <a:txBody>
                    <a:bodyPr/>
                    <a:lstStyle/>
                    <a:p>
                      <a:r>
                        <a:rPr lang="en-US" sz="1800">
                          <a:latin typeface="Times New Roman" pitchFamily="18" charset="0"/>
                          <a:cs typeface="Times New Roman" pitchFamily="18" charset="0"/>
                        </a:rPr>
                        <a:t>1</a:t>
                      </a:r>
                    </a:p>
                  </a:txBody>
                  <a:tcPr anchor="ctr">
                    <a:solidFill>
                      <a:schemeClr val="bg2"/>
                    </a:solidFill>
                  </a:tcPr>
                </a:tc>
                <a:tc>
                  <a:txBody>
                    <a:bodyPr/>
                    <a:lstStyle/>
                    <a:p>
                      <a:r>
                        <a:rPr lang="en-US" sz="1800">
                          <a:latin typeface="Times New Roman" pitchFamily="18" charset="0"/>
                          <a:cs typeface="Times New Roman" pitchFamily="18" charset="0"/>
                        </a:rPr>
                        <a:t>1</a:t>
                      </a:r>
                    </a:p>
                  </a:txBody>
                  <a:tcPr anchor="ctr">
                    <a:solidFill>
                      <a:schemeClr val="bg2"/>
                    </a:solidFill>
                  </a:tcP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Female</a:t>
                      </a:r>
                    </a:p>
                  </a:txBody>
                  <a:tcPr anchor="ctr">
                    <a:solidFill>
                      <a:schemeClr val="bg2"/>
                    </a:solidFill>
                  </a:tcPr>
                </a:tc>
                <a:tc>
                  <a:txBody>
                    <a:bodyPr/>
                    <a:lstStyle/>
                    <a:p>
                      <a:r>
                        <a:rPr lang="en-US" sz="1800">
                          <a:latin typeface="Times New Roman" pitchFamily="18" charset="0"/>
                          <a:cs typeface="Times New Roman" pitchFamily="18" charset="0"/>
                        </a:rPr>
                        <a:t>2</a:t>
                      </a:r>
                    </a:p>
                  </a:txBody>
                  <a:tcPr anchor="ctr">
                    <a:solidFill>
                      <a:schemeClr val="bg2"/>
                    </a:solidFill>
                  </a:tcPr>
                </a:tc>
                <a:tc>
                  <a:txBody>
                    <a:bodyPr/>
                    <a:lstStyle/>
                    <a:p>
                      <a:r>
                        <a:rPr lang="en-US" sz="1800" dirty="0">
                          <a:latin typeface="Times New Roman" pitchFamily="18" charset="0"/>
                          <a:cs typeface="Times New Roman" pitchFamily="18" charset="0"/>
                        </a:rPr>
                        <a:t>0</a:t>
                      </a:r>
                    </a:p>
                  </a:txBody>
                  <a:tcPr anchor="ctr">
                    <a:solidFill>
                      <a:schemeClr val="bg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840972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Content Placeholder 2"/>
          <p:cNvSpPr>
            <a:spLocks noGrp="1"/>
          </p:cNvSpPr>
          <p:nvPr>
            <p:ph idx="1"/>
          </p:nvPr>
        </p:nvSpPr>
        <p:spPr>
          <a:xfrm>
            <a:off x="1143000" y="1544638"/>
            <a:ext cx="10104438" cy="4429125"/>
          </a:xfrm>
        </p:spPr>
        <p:txBody>
          <a:bodyPr rtlCol="0">
            <a:normAutofit/>
          </a:bodyPr>
          <a:lstStyle/>
          <a:p>
            <a:pPr marL="46037" indent="0">
              <a:buNone/>
            </a:pPr>
            <a:r>
              <a:rPr lang="en-US" b="1" dirty="0">
                <a:latin typeface="Times New Roman" pitchFamily="18" charset="0"/>
                <a:cs typeface="Times New Roman" pitchFamily="18" charset="0"/>
              </a:rPr>
              <a:t>Grouped Descriptive Statistics</a:t>
            </a:r>
          </a:p>
          <a:p>
            <a:r>
              <a:rPr lang="en-US" dirty="0">
                <a:latin typeface="Times New Roman" pitchFamily="18" charset="0"/>
                <a:cs typeface="Times New Roman" pitchFamily="18" charset="0"/>
              </a:rPr>
              <a:t>Instead of computing one mean for everyone, compute means for groups.</a:t>
            </a:r>
          </a:p>
          <a:p>
            <a:r>
              <a:rPr lang="en-US" dirty="0">
                <a:latin typeface="Times New Roman" pitchFamily="18" charset="0"/>
                <a:cs typeface="Times New Roman" pitchFamily="18" charset="0"/>
              </a:rPr>
              <a:t>This provides richer information than a single overall mean.</a:t>
            </a:r>
          </a:p>
          <a:p>
            <a:endParaRPr lang="en-US" dirty="0">
              <a:latin typeface="Times New Roman" pitchFamily="18" charset="0"/>
              <a:cs typeface="Times New Roman" pitchFamily="18" charset="0"/>
            </a:endParaRPr>
          </a:p>
        </p:txBody>
      </p:sp>
      <p:sp>
        <p:nvSpPr>
          <p:cNvPr id="4" name="Title 1"/>
          <p:cNvSpPr>
            <a:spLocks noGrp="1"/>
          </p:cNvSpPr>
          <p:nvPr>
            <p:ph type="title"/>
          </p:nvPr>
        </p:nvSpPr>
        <p:spPr>
          <a:xfrm>
            <a:off x="1143000" y="346075"/>
            <a:ext cx="9875838" cy="1309688"/>
          </a:xfrm>
        </p:spPr>
        <p:txBody>
          <a:bodyPr rtlCol="0">
            <a:normAutofit/>
          </a:bodyPr>
          <a:lstStyle/>
          <a:p>
            <a:pPr eaLnBrk="1" fontAlgn="auto" hangingPunct="1">
              <a:spcAft>
                <a:spcPts val="0"/>
              </a:spcAft>
              <a:defRPr/>
            </a:pPr>
            <a:r>
              <a:rPr lang="en-US" altLang="en-US" sz="3200" b="1" dirty="0">
                <a:solidFill>
                  <a:schemeClr val="tx1">
                    <a:lumMod val="95000"/>
                    <a:lumOff val="5000"/>
                  </a:schemeClr>
                </a:solidFill>
                <a:latin typeface="Calibri" panose="020F0502020204030204" pitchFamily="34" charset="0"/>
                <a:cs typeface="Calibri" panose="020F0502020204030204" pitchFamily="34" charset="0"/>
              </a:rPr>
              <a:t>Descriptive Statistics: Multivariate</a:t>
            </a:r>
          </a:p>
        </p:txBody>
      </p:sp>
      <p:graphicFrame>
        <p:nvGraphicFramePr>
          <p:cNvPr id="2" name="Table 1"/>
          <p:cNvGraphicFramePr>
            <a:graphicFrameLocks noGrp="1"/>
          </p:cNvGraphicFramePr>
          <p:nvPr>
            <p:extLst>
              <p:ext uri="{D42A27DB-BD31-4B8C-83A1-F6EECF244321}">
                <p14:modId xmlns:p14="http://schemas.microsoft.com/office/powerpoint/2010/main" val="2826317316"/>
              </p:ext>
            </p:extLst>
          </p:nvPr>
        </p:nvGraphicFramePr>
        <p:xfrm>
          <a:off x="1338943" y="3513364"/>
          <a:ext cx="2291906" cy="1828800"/>
        </p:xfrm>
        <a:graphic>
          <a:graphicData uri="http://schemas.openxmlformats.org/drawingml/2006/table">
            <a:tbl>
              <a:tblPr>
                <a:tableStyleId>{3C2FFA5D-87B4-456A-9821-1D502468CF0F}</a:tableStyleId>
              </a:tblPr>
              <a:tblGrid>
                <a:gridCol w="1421130">
                  <a:extLst>
                    <a:ext uri="{9D8B030D-6E8A-4147-A177-3AD203B41FA5}">
                      <a16:colId xmlns:a16="http://schemas.microsoft.com/office/drawing/2014/main" val="20000"/>
                    </a:ext>
                  </a:extLst>
                </a:gridCol>
                <a:gridCol w="870776">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Department</a:t>
                      </a:r>
                    </a:p>
                  </a:txBody>
                  <a:tcPr anchor="ctr">
                    <a:solidFill>
                      <a:schemeClr val="bg2"/>
                    </a:solidFill>
                  </a:tcPr>
                </a:tc>
                <a:tc>
                  <a:txBody>
                    <a:bodyPr/>
                    <a:lstStyle/>
                    <a:p>
                      <a:r>
                        <a:rPr lang="en-US" sz="1800" b="1" dirty="0">
                          <a:latin typeface="Times New Roman" pitchFamily="18" charset="0"/>
                          <a:cs typeface="Times New Roman" pitchFamily="18" charset="0"/>
                        </a:rPr>
                        <a:t>CGPA</a:t>
                      </a:r>
                    </a:p>
                  </a:txBody>
                  <a:tcPr anchor="ctr">
                    <a:solidFill>
                      <a:schemeClr val="bg2"/>
                    </a:solidFill>
                  </a:tcP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CSE</a:t>
                      </a:r>
                    </a:p>
                  </a:txBody>
                  <a:tcPr anchor="ctr">
                    <a:solidFill>
                      <a:schemeClr val="bg2"/>
                    </a:solidFill>
                  </a:tcPr>
                </a:tc>
                <a:tc>
                  <a:txBody>
                    <a:bodyPr/>
                    <a:lstStyle/>
                    <a:p>
                      <a:r>
                        <a:rPr lang="en-US" sz="1800">
                          <a:latin typeface="Times New Roman" pitchFamily="18" charset="0"/>
                          <a:cs typeface="Times New Roman" pitchFamily="18" charset="0"/>
                        </a:rPr>
                        <a:t>3.7</a:t>
                      </a:r>
                    </a:p>
                  </a:txBody>
                  <a:tcPr anchor="ctr">
                    <a:solidFill>
                      <a:schemeClr val="bg2"/>
                    </a:solidFill>
                  </a:tcP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CSE</a:t>
                      </a:r>
                    </a:p>
                  </a:txBody>
                  <a:tcPr anchor="ctr">
                    <a:solidFill>
                      <a:schemeClr val="bg2"/>
                    </a:solidFill>
                  </a:tcPr>
                </a:tc>
                <a:tc>
                  <a:txBody>
                    <a:bodyPr/>
                    <a:lstStyle/>
                    <a:p>
                      <a:r>
                        <a:rPr lang="en-US" sz="1800">
                          <a:latin typeface="Times New Roman" pitchFamily="18" charset="0"/>
                          <a:cs typeface="Times New Roman" pitchFamily="18" charset="0"/>
                        </a:rPr>
                        <a:t>3.5</a:t>
                      </a:r>
                    </a:p>
                  </a:txBody>
                  <a:tcPr anchor="ctr">
                    <a:solidFill>
                      <a:schemeClr val="bg2"/>
                    </a:solidFill>
                  </a:tcPr>
                </a:tc>
                <a:extLst>
                  <a:ext uri="{0D108BD9-81ED-4DB2-BD59-A6C34878D82A}">
                    <a16:rowId xmlns:a16="http://schemas.microsoft.com/office/drawing/2014/main" val="10002"/>
                  </a:ext>
                </a:extLst>
              </a:tr>
              <a:tr h="365760">
                <a:tc>
                  <a:txBody>
                    <a:bodyPr/>
                    <a:lstStyle/>
                    <a:p>
                      <a:r>
                        <a:rPr lang="en-US" sz="1800">
                          <a:latin typeface="Times New Roman" pitchFamily="18" charset="0"/>
                          <a:cs typeface="Times New Roman" pitchFamily="18" charset="0"/>
                        </a:rPr>
                        <a:t>EEE</a:t>
                      </a:r>
                    </a:p>
                  </a:txBody>
                  <a:tcPr anchor="ctr">
                    <a:solidFill>
                      <a:schemeClr val="bg2"/>
                    </a:solidFill>
                  </a:tcPr>
                </a:tc>
                <a:tc>
                  <a:txBody>
                    <a:bodyPr/>
                    <a:lstStyle/>
                    <a:p>
                      <a:r>
                        <a:rPr lang="en-US" sz="1800">
                          <a:latin typeface="Times New Roman" pitchFamily="18" charset="0"/>
                          <a:cs typeface="Times New Roman" pitchFamily="18" charset="0"/>
                        </a:rPr>
                        <a:t>3.1</a:t>
                      </a:r>
                    </a:p>
                  </a:txBody>
                  <a:tcPr anchor="ctr">
                    <a:solidFill>
                      <a:schemeClr val="bg2"/>
                    </a:solidFill>
                  </a:tcPr>
                </a:tc>
                <a:extLst>
                  <a:ext uri="{0D108BD9-81ED-4DB2-BD59-A6C34878D82A}">
                    <a16:rowId xmlns:a16="http://schemas.microsoft.com/office/drawing/2014/main" val="10003"/>
                  </a:ext>
                </a:extLst>
              </a:tr>
              <a:tr h="365760">
                <a:tc>
                  <a:txBody>
                    <a:bodyPr/>
                    <a:lstStyle/>
                    <a:p>
                      <a:r>
                        <a:rPr lang="en-US" sz="1800">
                          <a:latin typeface="Times New Roman" pitchFamily="18" charset="0"/>
                          <a:cs typeface="Times New Roman" pitchFamily="18" charset="0"/>
                        </a:rPr>
                        <a:t>EEE</a:t>
                      </a:r>
                    </a:p>
                  </a:txBody>
                  <a:tcPr anchor="ctr">
                    <a:solidFill>
                      <a:schemeClr val="bg2"/>
                    </a:solidFill>
                  </a:tcPr>
                </a:tc>
                <a:tc>
                  <a:txBody>
                    <a:bodyPr/>
                    <a:lstStyle/>
                    <a:p>
                      <a:r>
                        <a:rPr lang="en-US" sz="1800" dirty="0">
                          <a:latin typeface="Times New Roman" pitchFamily="18" charset="0"/>
                          <a:cs typeface="Times New Roman" pitchFamily="18" charset="0"/>
                        </a:rPr>
                        <a:t>3.3</a:t>
                      </a:r>
                    </a:p>
                  </a:txBody>
                  <a:tcPr anchor="ctr">
                    <a:solidFill>
                      <a:schemeClr val="bg2"/>
                    </a:solidFill>
                  </a:tcPr>
                </a:tc>
                <a:extLst>
                  <a:ext uri="{0D108BD9-81ED-4DB2-BD59-A6C34878D82A}">
                    <a16:rowId xmlns:a16="http://schemas.microsoft.com/office/drawing/2014/main" val="100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425342261"/>
              </p:ext>
            </p:extLst>
          </p:nvPr>
        </p:nvGraphicFramePr>
        <p:xfrm>
          <a:off x="4833257" y="3846467"/>
          <a:ext cx="3144901" cy="1097280"/>
        </p:xfrm>
        <a:graphic>
          <a:graphicData uri="http://schemas.openxmlformats.org/drawingml/2006/table">
            <a:tbl>
              <a:tblPr>
                <a:tableStyleId>{3C2FFA5D-87B4-456A-9821-1D502468CF0F}</a:tableStyleId>
              </a:tblPr>
              <a:tblGrid>
                <a:gridCol w="1421130">
                  <a:extLst>
                    <a:ext uri="{9D8B030D-6E8A-4147-A177-3AD203B41FA5}">
                      <a16:colId xmlns:a16="http://schemas.microsoft.com/office/drawing/2014/main" val="20000"/>
                    </a:ext>
                  </a:extLst>
                </a:gridCol>
                <a:gridCol w="1723771">
                  <a:extLst>
                    <a:ext uri="{9D8B030D-6E8A-4147-A177-3AD203B41FA5}">
                      <a16:colId xmlns:a16="http://schemas.microsoft.com/office/drawing/2014/main" val="20001"/>
                    </a:ext>
                  </a:extLst>
                </a:gridCol>
              </a:tblGrid>
              <a:tr h="365760">
                <a:tc>
                  <a:txBody>
                    <a:bodyPr/>
                    <a:lstStyle/>
                    <a:p>
                      <a:r>
                        <a:rPr lang="en-US" sz="1800" b="1">
                          <a:latin typeface="Times New Roman" pitchFamily="18" charset="0"/>
                          <a:cs typeface="Times New Roman" pitchFamily="18" charset="0"/>
                        </a:rPr>
                        <a:t>Department</a:t>
                      </a:r>
                    </a:p>
                  </a:txBody>
                  <a:tcPr anchor="ctr"/>
                </a:tc>
                <a:tc>
                  <a:txBody>
                    <a:bodyPr/>
                    <a:lstStyle/>
                    <a:p>
                      <a:r>
                        <a:rPr lang="en-US" sz="1800" b="1" dirty="0">
                          <a:latin typeface="Times New Roman" pitchFamily="18" charset="0"/>
                          <a:cs typeface="Times New Roman" pitchFamily="18" charset="0"/>
                        </a:rPr>
                        <a:t>Average CGPA</a:t>
                      </a:r>
                    </a:p>
                  </a:txBody>
                  <a:tcPr anchor="ctr"/>
                </a:tc>
                <a:extLst>
                  <a:ext uri="{0D108BD9-81ED-4DB2-BD59-A6C34878D82A}">
                    <a16:rowId xmlns:a16="http://schemas.microsoft.com/office/drawing/2014/main" val="10000"/>
                  </a:ext>
                </a:extLst>
              </a:tr>
              <a:tr h="365760">
                <a:tc>
                  <a:txBody>
                    <a:bodyPr/>
                    <a:lstStyle/>
                    <a:p>
                      <a:r>
                        <a:rPr lang="en-US" sz="1800">
                          <a:latin typeface="Times New Roman" pitchFamily="18" charset="0"/>
                          <a:cs typeface="Times New Roman" pitchFamily="18" charset="0"/>
                        </a:rPr>
                        <a:t>CSE</a:t>
                      </a:r>
                    </a:p>
                  </a:txBody>
                  <a:tcPr anchor="ctr"/>
                </a:tc>
                <a:tc>
                  <a:txBody>
                    <a:bodyPr/>
                    <a:lstStyle/>
                    <a:p>
                      <a:r>
                        <a:rPr lang="en-US" sz="1800">
                          <a:latin typeface="Times New Roman" pitchFamily="18" charset="0"/>
                          <a:cs typeface="Times New Roman" pitchFamily="18" charset="0"/>
                        </a:rPr>
                        <a:t>3.6</a:t>
                      </a:r>
                    </a:p>
                  </a:txBody>
                  <a:tcPr anchor="ctr"/>
                </a:tc>
                <a:extLst>
                  <a:ext uri="{0D108BD9-81ED-4DB2-BD59-A6C34878D82A}">
                    <a16:rowId xmlns:a16="http://schemas.microsoft.com/office/drawing/2014/main" val="10001"/>
                  </a:ext>
                </a:extLst>
              </a:tr>
              <a:tr h="365760">
                <a:tc>
                  <a:txBody>
                    <a:bodyPr/>
                    <a:lstStyle/>
                    <a:p>
                      <a:r>
                        <a:rPr lang="en-US" sz="1800">
                          <a:latin typeface="Times New Roman" pitchFamily="18" charset="0"/>
                          <a:cs typeface="Times New Roman" pitchFamily="18" charset="0"/>
                        </a:rPr>
                        <a:t>EEE</a:t>
                      </a:r>
                    </a:p>
                  </a:txBody>
                  <a:tcPr anchor="ctr"/>
                </a:tc>
                <a:tc>
                  <a:txBody>
                    <a:bodyPr/>
                    <a:lstStyle/>
                    <a:p>
                      <a:r>
                        <a:rPr lang="en-US" sz="1800" dirty="0">
                          <a:latin typeface="Times New Roman" pitchFamily="18" charset="0"/>
                          <a:cs typeface="Times New Roman" pitchFamily="18" charset="0"/>
                        </a:rPr>
                        <a:t>3.2</a:t>
                      </a: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92034602"/>
      </p:ext>
    </p:extLst>
  </p:cSld>
  <p:clrMapOvr>
    <a:masterClrMapping/>
  </p:clrMapOvr>
</p:sld>
</file>

<file path=ppt/theme/theme1.xml><?xml version="1.0" encoding="utf-8"?>
<a:theme xmlns:a="http://schemas.openxmlformats.org/drawingml/2006/main" name="Basis">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w Cen MT-Rockwell">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33194</TotalTime>
  <Words>2619</Words>
  <Application>Microsoft Office PowerPoint</Application>
  <PresentationFormat>Widescreen</PresentationFormat>
  <Paragraphs>687</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Cambria Math</vt:lpstr>
      <vt:lpstr>Corbel</vt:lpstr>
      <vt:lpstr>Rockwell</vt:lpstr>
      <vt:lpstr>Times New Roman</vt:lpstr>
      <vt:lpstr>Tw Cen MT</vt:lpstr>
      <vt:lpstr>Basis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Descriptive Statistics </vt:lpstr>
      <vt:lpstr>Descriptive Statistics: Measures of Central Tendency</vt:lpstr>
      <vt:lpstr>Descriptive Statistics: Measures of Central Tendency</vt:lpstr>
      <vt:lpstr>Descriptive Statistics: Measures of Central Tendency</vt:lpstr>
      <vt:lpstr>Descriptive Statistics: Measures of Central Tendency</vt:lpstr>
      <vt:lpstr>Descriptive Statistics: Measure of Spread</vt:lpstr>
      <vt:lpstr>Descriptive Statistics: Measure of Spread</vt:lpstr>
      <vt:lpstr>Descriptive Statistics: Measure of Spread</vt:lpstr>
      <vt:lpstr>Descriptive Statistics: Measure of Spread</vt:lpstr>
      <vt:lpstr>PowerPoint Presentation</vt:lpstr>
      <vt:lpstr>PowerPoint Presentation</vt:lpstr>
      <vt:lpstr>PowerPoint Presentation</vt:lpstr>
      <vt:lpstr>PowerPoint Presentation</vt:lpstr>
      <vt:lpstr>Descriptive Statistics: Multivariate</vt:lpstr>
      <vt:lpstr>Descriptive Statistics: Multivariate</vt:lpstr>
      <vt:lpstr>Descriptive Statistics: Multivariate</vt:lpstr>
      <vt:lpstr>Descriptive Statistics: Multivariate</vt:lpstr>
      <vt:lpstr>Descriptive Statistics: Multivariate</vt:lpstr>
      <vt:lpstr>Descriptive Statistics: Multivariate</vt:lpstr>
      <vt:lpstr>Descriptive Statistics: Multivariate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Mining</dc:title>
  <dc:creator>HP</dc:creator>
  <cp:lastModifiedBy>Ashraf</cp:lastModifiedBy>
  <cp:revision>660</cp:revision>
  <dcterms:created xsi:type="dcterms:W3CDTF">2016-09-26T17:30:27Z</dcterms:created>
  <dcterms:modified xsi:type="dcterms:W3CDTF">2026-06-23T06:54:15Z</dcterms:modified>
</cp:coreProperties>
</file>