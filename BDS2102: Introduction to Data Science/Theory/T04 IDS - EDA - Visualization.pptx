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86" r:id="rId1"/>
  </p:sldMasterIdLst>
  <p:notesMasterIdLst>
    <p:notesMasterId r:id="rId23"/>
  </p:notesMasterIdLst>
  <p:sldIdLst>
    <p:sldId id="279" r:id="rId2"/>
    <p:sldId id="301" r:id="rId3"/>
    <p:sldId id="302" r:id="rId4"/>
    <p:sldId id="310" r:id="rId5"/>
    <p:sldId id="311" r:id="rId6"/>
    <p:sldId id="312" r:id="rId7"/>
    <p:sldId id="291" r:id="rId8"/>
    <p:sldId id="313" r:id="rId9"/>
    <p:sldId id="293" r:id="rId10"/>
    <p:sldId id="308" r:id="rId11"/>
    <p:sldId id="294" r:id="rId12"/>
    <p:sldId id="309" r:id="rId13"/>
    <p:sldId id="316" r:id="rId14"/>
    <p:sldId id="295" r:id="rId15"/>
    <p:sldId id="296" r:id="rId16"/>
    <p:sldId id="297" r:id="rId17"/>
    <p:sldId id="298" r:id="rId18"/>
    <p:sldId id="300" r:id="rId19"/>
    <p:sldId id="305" r:id="rId20"/>
    <p:sldId id="306" r:id="rId21"/>
    <p:sldId id="307" r:id="rId2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0305" autoAdjust="0"/>
  </p:normalViewPr>
  <p:slideViewPr>
    <p:cSldViewPr snapToGrid="0">
      <p:cViewPr varScale="1">
        <p:scale>
          <a:sx n="117" d="100"/>
          <a:sy n="117" d="100"/>
        </p:scale>
        <p:origin x="-324"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F444EB8C-BCD4-D335-BBC3-4C05DCBECBE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xmlns="" id="{6B0F6FBB-72F9-E2AC-2320-A45D0D49E579}"/>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3796C85F-7122-4051-9E84-6F294BEA690D}" type="datetimeFigureOut">
              <a:rPr lang="en-US"/>
              <a:pPr>
                <a:defRPr/>
              </a:pPr>
              <a:t>10-Jun-26</a:t>
            </a:fld>
            <a:endParaRPr lang="en-US"/>
          </a:p>
        </p:txBody>
      </p:sp>
      <p:sp>
        <p:nvSpPr>
          <p:cNvPr id="4" name="Slide Image Placeholder 3">
            <a:extLst>
              <a:ext uri="{FF2B5EF4-FFF2-40B4-BE49-F238E27FC236}">
                <a16:creationId xmlns:a16="http://schemas.microsoft.com/office/drawing/2014/main" xmlns="" id="{ED1D3AD1-784E-D7AA-3231-D301177297CC}"/>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xmlns="" id="{2CD05756-675C-3DFF-7354-8CAFDCFB641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xmlns="" id="{BBEA6493-9DB1-7A46-F3BE-B19B4A03715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xmlns="" id="{CC15B99B-CEC7-FAF0-A83B-27ADEE28F4B2}"/>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83D60920-D402-4C4B-9E71-3C7856700F0D}" type="slidenum">
              <a:rPr lang="en-US" altLang="en-US"/>
              <a:pPr/>
              <a:t>‹#›</a:t>
            </a:fld>
            <a:endParaRPr lang="en-US" altLang="en-US"/>
          </a:p>
        </p:txBody>
      </p:sp>
    </p:spTree>
    <p:extLst>
      <p:ext uri="{BB962C8B-B14F-4D97-AF65-F5344CB8AC3E}">
        <p14:creationId xmlns:p14="http://schemas.microsoft.com/office/powerpoint/2010/main" val="286199945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9CE3DE04-6E4A-C78B-9896-F7DBEDAA8485}"/>
              </a:ext>
            </a:extLst>
          </p:cNvPr>
          <p:cNvSpPr>
            <a:spLocks noChangeAspect="1"/>
          </p:cNvSpPr>
          <p:nvPr/>
        </p:nvSpPr>
        <p:spPr>
          <a:xfrm>
            <a:off x="231775" y="244475"/>
            <a:ext cx="11723688" cy="637698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cxnSp>
        <p:nvCxnSpPr>
          <p:cNvPr id="5" name="Straight Connector 4">
            <a:extLst>
              <a:ext uri="{FF2B5EF4-FFF2-40B4-BE49-F238E27FC236}">
                <a16:creationId xmlns:a16="http://schemas.microsoft.com/office/drawing/2014/main" xmlns="" id="{99B3F464-0EC7-0157-1139-6132BEFBBB59}"/>
              </a:ext>
            </a:extLst>
          </p:cNvPr>
          <p:cNvCxnSpPr/>
          <p:nvPr/>
        </p:nvCxnSpPr>
        <p:spPr>
          <a:xfrm>
            <a:off x="1978025" y="37338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6" name="Date Placeholder 3">
            <a:extLst>
              <a:ext uri="{FF2B5EF4-FFF2-40B4-BE49-F238E27FC236}">
                <a16:creationId xmlns:a16="http://schemas.microsoft.com/office/drawing/2014/main" xmlns="" id="{0EF270E8-E0A7-203B-D149-9D12223E7FCD}"/>
              </a:ext>
            </a:extLst>
          </p:cNvPr>
          <p:cNvSpPr>
            <a:spLocks noGrp="1"/>
          </p:cNvSpPr>
          <p:nvPr>
            <p:ph type="dt" sz="half" idx="10"/>
          </p:nvPr>
        </p:nvSpPr>
        <p:spPr/>
        <p:txBody>
          <a:bodyPr/>
          <a:lstStyle>
            <a:lvl1pPr>
              <a:defRPr>
                <a:solidFill>
                  <a:schemeClr val="tx1"/>
                </a:solidFill>
              </a:defRPr>
            </a:lvl1pPr>
          </a:lstStyle>
          <a:p>
            <a:pPr>
              <a:defRPr/>
            </a:pPr>
            <a:fld id="{22DAB958-0B89-453E-95EC-F2FAE8DEC15F}" type="datetimeFigureOut">
              <a:rPr lang="en-US"/>
              <a:pPr>
                <a:defRPr/>
              </a:pPr>
              <a:t>10-Jun-26</a:t>
            </a:fld>
            <a:endParaRPr lang="en-US"/>
          </a:p>
        </p:txBody>
      </p:sp>
      <p:sp>
        <p:nvSpPr>
          <p:cNvPr id="7" name="Footer Placeholder 4">
            <a:extLst>
              <a:ext uri="{FF2B5EF4-FFF2-40B4-BE49-F238E27FC236}">
                <a16:creationId xmlns:a16="http://schemas.microsoft.com/office/drawing/2014/main" xmlns="" id="{3C8C7AF6-E9EB-BFF1-DE6A-D8A42EF9520E}"/>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8" name="Slide Number Placeholder 5">
            <a:extLst>
              <a:ext uri="{FF2B5EF4-FFF2-40B4-BE49-F238E27FC236}">
                <a16:creationId xmlns:a16="http://schemas.microsoft.com/office/drawing/2014/main" xmlns="" id="{B9A98101-F462-8BE8-771E-A20EDE106007}"/>
              </a:ext>
            </a:extLst>
          </p:cNvPr>
          <p:cNvSpPr>
            <a:spLocks noGrp="1"/>
          </p:cNvSpPr>
          <p:nvPr>
            <p:ph type="sldNum" sz="quarter" idx="12"/>
          </p:nvPr>
        </p:nvSpPr>
        <p:spPr/>
        <p:txBody>
          <a:bodyPr/>
          <a:lstStyle>
            <a:lvl1pPr>
              <a:defRPr/>
            </a:lvl1pPr>
          </a:lstStyle>
          <a:p>
            <a:fld id="{8D11381E-CDCF-4A96-886A-0F57A0806CC7}" type="slidenum">
              <a:rPr lang="en-US" altLang="en-US"/>
              <a:pPr/>
              <a:t>‹#›</a:t>
            </a:fld>
            <a:endParaRPr lang="en-US" altLang="en-US"/>
          </a:p>
        </p:txBody>
      </p:sp>
    </p:spTree>
    <p:extLst>
      <p:ext uri="{BB962C8B-B14F-4D97-AF65-F5344CB8AC3E}">
        <p14:creationId xmlns:p14="http://schemas.microsoft.com/office/powerpoint/2010/main" val="4036957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686F5071-A5E3-03C0-F2A7-B7B2749AE047}"/>
              </a:ext>
            </a:extLst>
          </p:cNvPr>
          <p:cNvSpPr>
            <a:spLocks noGrp="1"/>
          </p:cNvSpPr>
          <p:nvPr>
            <p:ph type="dt" sz="half" idx="10"/>
          </p:nvPr>
        </p:nvSpPr>
        <p:spPr/>
        <p:txBody>
          <a:bodyPr/>
          <a:lstStyle>
            <a:lvl1pPr>
              <a:defRPr/>
            </a:lvl1pPr>
          </a:lstStyle>
          <a:p>
            <a:pPr>
              <a:defRPr/>
            </a:pPr>
            <a:fld id="{F2DB2F25-35E8-409D-A1F3-FDC200FD1F5C}" type="datetimeFigureOut">
              <a:rPr lang="en-US"/>
              <a:pPr>
                <a:defRPr/>
              </a:pPr>
              <a:t>10-Jun-26</a:t>
            </a:fld>
            <a:endParaRPr lang="en-US"/>
          </a:p>
        </p:txBody>
      </p:sp>
      <p:sp>
        <p:nvSpPr>
          <p:cNvPr id="5" name="Footer Placeholder 4">
            <a:extLst>
              <a:ext uri="{FF2B5EF4-FFF2-40B4-BE49-F238E27FC236}">
                <a16:creationId xmlns:a16="http://schemas.microsoft.com/office/drawing/2014/main" xmlns="" id="{F28BC42D-4B2F-1903-EA79-C18A5E80841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CDDEB1F7-EA57-6335-7C56-3F4288590AE9}"/>
              </a:ext>
            </a:extLst>
          </p:cNvPr>
          <p:cNvSpPr>
            <a:spLocks noGrp="1"/>
          </p:cNvSpPr>
          <p:nvPr>
            <p:ph type="sldNum" sz="quarter" idx="12"/>
          </p:nvPr>
        </p:nvSpPr>
        <p:spPr/>
        <p:txBody>
          <a:bodyPr/>
          <a:lstStyle>
            <a:lvl1pPr>
              <a:defRPr/>
            </a:lvl1pPr>
          </a:lstStyle>
          <a:p>
            <a:fld id="{00477025-EC77-4486-83E1-1B90294FCF0E}" type="slidenum">
              <a:rPr lang="en-US" altLang="en-US"/>
              <a:pPr/>
              <a:t>‹#›</a:t>
            </a:fld>
            <a:endParaRPr lang="en-US" altLang="en-US"/>
          </a:p>
        </p:txBody>
      </p:sp>
    </p:spTree>
    <p:extLst>
      <p:ext uri="{BB962C8B-B14F-4D97-AF65-F5344CB8AC3E}">
        <p14:creationId xmlns:p14="http://schemas.microsoft.com/office/powerpoint/2010/main" val="4056541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579DA801-82D0-C5D0-F8FD-37074034D5C6}"/>
              </a:ext>
            </a:extLst>
          </p:cNvPr>
          <p:cNvCxnSpPr/>
          <p:nvPr/>
        </p:nvCxnSpPr>
        <p:spPr>
          <a:xfrm>
            <a:off x="1981200" y="402113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xmlns="" id="{BFD6DC2F-BFFC-A766-0848-B29766C48F0A}"/>
              </a:ext>
            </a:extLst>
          </p:cNvPr>
          <p:cNvSpPr>
            <a:spLocks noGrp="1"/>
          </p:cNvSpPr>
          <p:nvPr>
            <p:ph type="dt" sz="half" idx="10"/>
          </p:nvPr>
        </p:nvSpPr>
        <p:spPr/>
        <p:txBody>
          <a:bodyPr/>
          <a:lstStyle>
            <a:lvl1pPr>
              <a:defRPr/>
            </a:lvl1pPr>
          </a:lstStyle>
          <a:p>
            <a:pPr>
              <a:defRPr/>
            </a:pPr>
            <a:fld id="{18EF3B6D-16CF-4EE5-8651-7D39040DF942}" type="datetimeFigureOut">
              <a:rPr lang="en-US"/>
              <a:pPr>
                <a:defRPr/>
              </a:pPr>
              <a:t>10-Jun-26</a:t>
            </a:fld>
            <a:endParaRPr lang="en-US"/>
          </a:p>
        </p:txBody>
      </p:sp>
      <p:sp>
        <p:nvSpPr>
          <p:cNvPr id="6" name="Footer Placeholder 4">
            <a:extLst>
              <a:ext uri="{FF2B5EF4-FFF2-40B4-BE49-F238E27FC236}">
                <a16:creationId xmlns:a16="http://schemas.microsoft.com/office/drawing/2014/main" xmlns="" id="{FA665213-88B0-BE10-B715-3CC67897BDF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7B556D75-8684-D39A-D496-E5299A00C48B}"/>
              </a:ext>
            </a:extLst>
          </p:cNvPr>
          <p:cNvSpPr>
            <a:spLocks noGrp="1"/>
          </p:cNvSpPr>
          <p:nvPr>
            <p:ph type="sldNum" sz="quarter" idx="12"/>
          </p:nvPr>
        </p:nvSpPr>
        <p:spPr/>
        <p:txBody>
          <a:bodyPr/>
          <a:lstStyle>
            <a:lvl1pPr>
              <a:defRPr/>
            </a:lvl1pPr>
          </a:lstStyle>
          <a:p>
            <a:fld id="{CA6161FF-C6B9-49A1-9C66-049A5BC4816E}" type="slidenum">
              <a:rPr lang="en-US" altLang="en-US"/>
              <a:pPr/>
              <a:t>‹#›</a:t>
            </a:fld>
            <a:endParaRPr lang="en-US" altLang="en-US"/>
          </a:p>
        </p:txBody>
      </p:sp>
    </p:spTree>
    <p:extLst>
      <p:ext uri="{BB962C8B-B14F-4D97-AF65-F5344CB8AC3E}">
        <p14:creationId xmlns:p14="http://schemas.microsoft.com/office/powerpoint/2010/main" val="2605082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xmlns="" id="{B15A6998-7FB9-C19E-D24A-7CC7FE4BA9C4}"/>
              </a:ext>
            </a:extLst>
          </p:cNvPr>
          <p:cNvSpPr>
            <a:spLocks noGrp="1"/>
          </p:cNvSpPr>
          <p:nvPr>
            <p:ph type="dt" sz="half" idx="10"/>
          </p:nvPr>
        </p:nvSpPr>
        <p:spPr/>
        <p:txBody>
          <a:bodyPr/>
          <a:lstStyle>
            <a:lvl1pPr>
              <a:defRPr/>
            </a:lvl1pPr>
          </a:lstStyle>
          <a:p>
            <a:pPr>
              <a:defRPr/>
            </a:pPr>
            <a:fld id="{24B92AAF-ED7F-4B9D-9703-42060870588E}" type="datetimeFigureOut">
              <a:rPr lang="en-US"/>
              <a:pPr>
                <a:defRPr/>
              </a:pPr>
              <a:t>10-Jun-26</a:t>
            </a:fld>
            <a:endParaRPr lang="en-US"/>
          </a:p>
        </p:txBody>
      </p:sp>
      <p:sp>
        <p:nvSpPr>
          <p:cNvPr id="5" name="Footer Placeholder 4">
            <a:extLst>
              <a:ext uri="{FF2B5EF4-FFF2-40B4-BE49-F238E27FC236}">
                <a16:creationId xmlns:a16="http://schemas.microsoft.com/office/drawing/2014/main" xmlns="" id="{2A40D8CF-691E-8A64-CC74-5EDF258B48A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B2D3A4D9-925F-61F1-ECD7-686C2CE96933}"/>
              </a:ext>
            </a:extLst>
          </p:cNvPr>
          <p:cNvSpPr>
            <a:spLocks noGrp="1"/>
          </p:cNvSpPr>
          <p:nvPr>
            <p:ph type="sldNum" sz="quarter" idx="12"/>
          </p:nvPr>
        </p:nvSpPr>
        <p:spPr/>
        <p:txBody>
          <a:bodyPr/>
          <a:lstStyle>
            <a:lvl1pPr>
              <a:defRPr/>
            </a:lvl1pPr>
          </a:lstStyle>
          <a:p>
            <a:fld id="{5A8199B2-DF1A-489E-8D87-4AB24B22F7AB}" type="slidenum">
              <a:rPr lang="en-US" altLang="en-US"/>
              <a:pPr/>
              <a:t>‹#›</a:t>
            </a:fld>
            <a:endParaRPr lang="en-US" altLang="en-US"/>
          </a:p>
        </p:txBody>
      </p:sp>
    </p:spTree>
    <p:extLst>
      <p:ext uri="{BB962C8B-B14F-4D97-AF65-F5344CB8AC3E}">
        <p14:creationId xmlns:p14="http://schemas.microsoft.com/office/powerpoint/2010/main" val="234845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xmlns="" id="{E959F8E1-3866-9DB6-3518-3224124596D6}"/>
              </a:ext>
            </a:extLst>
          </p:cNvPr>
          <p:cNvSpPr>
            <a:spLocks noGrp="1"/>
          </p:cNvSpPr>
          <p:nvPr>
            <p:ph type="dt" sz="half" idx="10"/>
          </p:nvPr>
        </p:nvSpPr>
        <p:spPr/>
        <p:txBody>
          <a:bodyPr/>
          <a:lstStyle>
            <a:lvl1pPr>
              <a:defRPr/>
            </a:lvl1pPr>
          </a:lstStyle>
          <a:p>
            <a:pPr>
              <a:defRPr/>
            </a:pPr>
            <a:fld id="{7FD6F942-6157-4FB7-B627-46FE132E64A9}" type="datetimeFigureOut">
              <a:rPr lang="en-US"/>
              <a:pPr>
                <a:defRPr/>
              </a:pPr>
              <a:t>10-Jun-26</a:t>
            </a:fld>
            <a:endParaRPr lang="en-US"/>
          </a:p>
        </p:txBody>
      </p:sp>
      <p:sp>
        <p:nvSpPr>
          <p:cNvPr id="7" name="Footer Placeholder 4">
            <a:extLst>
              <a:ext uri="{FF2B5EF4-FFF2-40B4-BE49-F238E27FC236}">
                <a16:creationId xmlns:a16="http://schemas.microsoft.com/office/drawing/2014/main" xmlns="" id="{44C1148C-F3E6-9F13-F22B-B6F7ED286D2E}"/>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xmlns="" id="{494AE7EC-0F5B-8238-3092-7897ADB8F5EC}"/>
              </a:ext>
            </a:extLst>
          </p:cNvPr>
          <p:cNvSpPr>
            <a:spLocks noGrp="1"/>
          </p:cNvSpPr>
          <p:nvPr>
            <p:ph type="sldNum" sz="quarter" idx="12"/>
          </p:nvPr>
        </p:nvSpPr>
        <p:spPr/>
        <p:txBody>
          <a:bodyPr/>
          <a:lstStyle>
            <a:lvl1pPr>
              <a:defRPr/>
            </a:lvl1pPr>
          </a:lstStyle>
          <a:p>
            <a:fld id="{1CDE9628-AB5B-4AF6-9613-CF0128A409E6}" type="slidenum">
              <a:rPr lang="en-US" altLang="en-US"/>
              <a:pPr/>
              <a:t>‹#›</a:t>
            </a:fld>
            <a:endParaRPr lang="en-US" altLang="en-US"/>
          </a:p>
        </p:txBody>
      </p:sp>
    </p:spTree>
    <p:extLst>
      <p:ext uri="{BB962C8B-B14F-4D97-AF65-F5344CB8AC3E}">
        <p14:creationId xmlns:p14="http://schemas.microsoft.com/office/powerpoint/2010/main" val="2397667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xmlns="" id="{BC3A41CA-CF37-955C-92A3-506DA8CB19B4}"/>
              </a:ext>
            </a:extLst>
          </p:cNvPr>
          <p:cNvSpPr>
            <a:spLocks noGrp="1"/>
          </p:cNvSpPr>
          <p:nvPr>
            <p:ph type="dt" sz="half" idx="10"/>
          </p:nvPr>
        </p:nvSpPr>
        <p:spPr/>
        <p:txBody>
          <a:bodyPr/>
          <a:lstStyle>
            <a:lvl1pPr>
              <a:defRPr/>
            </a:lvl1pPr>
          </a:lstStyle>
          <a:p>
            <a:pPr>
              <a:defRPr/>
            </a:pPr>
            <a:fld id="{5EB42605-F8C4-44AE-B3E9-0D5621028675}" type="datetimeFigureOut">
              <a:rPr lang="en-US"/>
              <a:pPr>
                <a:defRPr/>
              </a:pPr>
              <a:t>10-Jun-26</a:t>
            </a:fld>
            <a:endParaRPr lang="en-US"/>
          </a:p>
        </p:txBody>
      </p:sp>
      <p:sp>
        <p:nvSpPr>
          <p:cNvPr id="4" name="Footer Placeholder 4">
            <a:extLst>
              <a:ext uri="{FF2B5EF4-FFF2-40B4-BE49-F238E27FC236}">
                <a16:creationId xmlns:a16="http://schemas.microsoft.com/office/drawing/2014/main" xmlns="" id="{5981A4B9-A218-16B1-8448-FC862D2AC3B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xmlns="" id="{BD518262-B988-8453-1CEA-8BB61F724D01}"/>
              </a:ext>
            </a:extLst>
          </p:cNvPr>
          <p:cNvSpPr>
            <a:spLocks noGrp="1"/>
          </p:cNvSpPr>
          <p:nvPr>
            <p:ph type="sldNum" sz="quarter" idx="12"/>
          </p:nvPr>
        </p:nvSpPr>
        <p:spPr/>
        <p:txBody>
          <a:bodyPr/>
          <a:lstStyle>
            <a:lvl1pPr>
              <a:defRPr/>
            </a:lvl1pPr>
          </a:lstStyle>
          <a:p>
            <a:fld id="{12844813-35B6-496F-BD48-7E6D12F21917}" type="slidenum">
              <a:rPr lang="en-US" altLang="en-US"/>
              <a:pPr/>
              <a:t>‹#›</a:t>
            </a:fld>
            <a:endParaRPr lang="en-US" altLang="en-US"/>
          </a:p>
        </p:txBody>
      </p:sp>
    </p:spTree>
    <p:extLst>
      <p:ext uri="{BB962C8B-B14F-4D97-AF65-F5344CB8AC3E}">
        <p14:creationId xmlns:p14="http://schemas.microsoft.com/office/powerpoint/2010/main" val="856413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xmlns="" id="{267C0F8D-FBAA-8E09-9878-D8625ED22D6D}"/>
              </a:ext>
            </a:extLst>
          </p:cNvPr>
          <p:cNvSpPr>
            <a:spLocks noGrp="1"/>
          </p:cNvSpPr>
          <p:nvPr>
            <p:ph type="dt" sz="half" idx="10"/>
          </p:nvPr>
        </p:nvSpPr>
        <p:spPr/>
        <p:txBody>
          <a:bodyPr/>
          <a:lstStyle>
            <a:lvl1pPr>
              <a:defRPr/>
            </a:lvl1pPr>
          </a:lstStyle>
          <a:p>
            <a:pPr>
              <a:defRPr/>
            </a:pPr>
            <a:fld id="{722291A4-FDC2-4324-9804-3E96F8299BF7}" type="datetimeFigureOut">
              <a:rPr lang="en-US"/>
              <a:pPr>
                <a:defRPr/>
              </a:pPr>
              <a:t>10-Jun-26</a:t>
            </a:fld>
            <a:endParaRPr lang="en-US"/>
          </a:p>
        </p:txBody>
      </p:sp>
      <p:sp>
        <p:nvSpPr>
          <p:cNvPr id="3" name="Footer Placeholder 4">
            <a:extLst>
              <a:ext uri="{FF2B5EF4-FFF2-40B4-BE49-F238E27FC236}">
                <a16:creationId xmlns:a16="http://schemas.microsoft.com/office/drawing/2014/main" xmlns="" id="{2F4C19FE-AB45-04BE-4150-3009F8E053C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xmlns="" id="{236B21BD-6A29-FB59-7D69-FF2D097635A3}"/>
              </a:ext>
            </a:extLst>
          </p:cNvPr>
          <p:cNvSpPr>
            <a:spLocks noGrp="1"/>
          </p:cNvSpPr>
          <p:nvPr>
            <p:ph type="sldNum" sz="quarter" idx="12"/>
          </p:nvPr>
        </p:nvSpPr>
        <p:spPr/>
        <p:txBody>
          <a:bodyPr/>
          <a:lstStyle>
            <a:lvl1pPr>
              <a:defRPr/>
            </a:lvl1pPr>
          </a:lstStyle>
          <a:p>
            <a:fld id="{B9643C02-F451-4DC3-A62C-C5F7274DB4DB}" type="slidenum">
              <a:rPr lang="en-US" altLang="en-US"/>
              <a:pPr/>
              <a:t>‹#›</a:t>
            </a:fld>
            <a:endParaRPr lang="en-US" altLang="en-US"/>
          </a:p>
        </p:txBody>
      </p:sp>
    </p:spTree>
    <p:extLst>
      <p:ext uri="{BB962C8B-B14F-4D97-AF65-F5344CB8AC3E}">
        <p14:creationId xmlns:p14="http://schemas.microsoft.com/office/powerpoint/2010/main" val="2275594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xmlns="" id="{8E18FE97-D430-CBDC-47B2-B8F6218C43B3}"/>
              </a:ext>
            </a:extLst>
          </p:cNvPr>
          <p:cNvSpPr>
            <a:spLocks noGrp="1"/>
          </p:cNvSpPr>
          <p:nvPr>
            <p:ph type="dt" sz="half" idx="10"/>
          </p:nvPr>
        </p:nvSpPr>
        <p:spPr/>
        <p:txBody>
          <a:bodyPr/>
          <a:lstStyle>
            <a:lvl1pPr>
              <a:defRPr/>
            </a:lvl1pPr>
          </a:lstStyle>
          <a:p>
            <a:pPr>
              <a:defRPr/>
            </a:pPr>
            <a:fld id="{52323F0A-AE9A-47B4-9024-99A686C676EE}" type="datetimeFigureOut">
              <a:rPr lang="en-US"/>
              <a:pPr>
                <a:defRPr/>
              </a:pPr>
              <a:t>10-Jun-26</a:t>
            </a:fld>
            <a:endParaRPr lang="en-US"/>
          </a:p>
        </p:txBody>
      </p:sp>
      <p:sp>
        <p:nvSpPr>
          <p:cNvPr id="6" name="Footer Placeholder 4">
            <a:extLst>
              <a:ext uri="{FF2B5EF4-FFF2-40B4-BE49-F238E27FC236}">
                <a16:creationId xmlns:a16="http://schemas.microsoft.com/office/drawing/2014/main" xmlns="" id="{1241039D-3D2F-8579-62EC-35B73CE026B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279F39DE-797E-995B-DF3B-AA5D83B15C87}"/>
              </a:ext>
            </a:extLst>
          </p:cNvPr>
          <p:cNvSpPr>
            <a:spLocks noGrp="1"/>
          </p:cNvSpPr>
          <p:nvPr>
            <p:ph type="sldNum" sz="quarter" idx="12"/>
          </p:nvPr>
        </p:nvSpPr>
        <p:spPr/>
        <p:txBody>
          <a:bodyPr/>
          <a:lstStyle>
            <a:lvl1pPr>
              <a:defRPr/>
            </a:lvl1pPr>
          </a:lstStyle>
          <a:p>
            <a:fld id="{351FB6B8-9A1D-4498-8F17-8E9BFA0D5B5A}" type="slidenum">
              <a:rPr lang="en-US" altLang="en-US"/>
              <a:pPr/>
              <a:t>‹#›</a:t>
            </a:fld>
            <a:endParaRPr lang="en-US" altLang="en-US"/>
          </a:p>
        </p:txBody>
      </p:sp>
    </p:spTree>
    <p:extLst>
      <p:ext uri="{BB962C8B-B14F-4D97-AF65-F5344CB8AC3E}">
        <p14:creationId xmlns:p14="http://schemas.microsoft.com/office/powerpoint/2010/main" val="3936013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rtlCol="0">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xmlns="" id="{9414395E-C544-DB28-AF28-DB3D32169EA0}"/>
              </a:ext>
            </a:extLst>
          </p:cNvPr>
          <p:cNvSpPr>
            <a:spLocks noGrp="1"/>
          </p:cNvSpPr>
          <p:nvPr>
            <p:ph type="dt" sz="half" idx="10"/>
          </p:nvPr>
        </p:nvSpPr>
        <p:spPr/>
        <p:txBody>
          <a:bodyPr/>
          <a:lstStyle>
            <a:lvl1pPr>
              <a:defRPr/>
            </a:lvl1pPr>
          </a:lstStyle>
          <a:p>
            <a:pPr>
              <a:defRPr/>
            </a:pPr>
            <a:fld id="{68748D31-FFF5-467F-A8D7-E7C7BF468FCB}" type="datetimeFigureOut">
              <a:rPr lang="en-US"/>
              <a:pPr>
                <a:defRPr/>
              </a:pPr>
              <a:t>10-Jun-26</a:t>
            </a:fld>
            <a:endParaRPr lang="en-US"/>
          </a:p>
        </p:txBody>
      </p:sp>
      <p:sp>
        <p:nvSpPr>
          <p:cNvPr id="6" name="Footer Placeholder 4">
            <a:extLst>
              <a:ext uri="{FF2B5EF4-FFF2-40B4-BE49-F238E27FC236}">
                <a16:creationId xmlns:a16="http://schemas.microsoft.com/office/drawing/2014/main" xmlns="" id="{B93D9344-779D-CF58-950D-F9D2C3737A3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57EA84DF-C10B-F4CE-649F-C394822235D4}"/>
              </a:ext>
            </a:extLst>
          </p:cNvPr>
          <p:cNvSpPr>
            <a:spLocks noGrp="1"/>
          </p:cNvSpPr>
          <p:nvPr>
            <p:ph type="sldNum" sz="quarter" idx="12"/>
          </p:nvPr>
        </p:nvSpPr>
        <p:spPr/>
        <p:txBody>
          <a:bodyPr/>
          <a:lstStyle>
            <a:lvl1pPr>
              <a:defRPr/>
            </a:lvl1pPr>
          </a:lstStyle>
          <a:p>
            <a:fld id="{EE008CEA-B752-4DF8-9C0C-FFA6773394BA}" type="slidenum">
              <a:rPr lang="en-US" altLang="en-US"/>
              <a:pPr/>
              <a:t>‹#›</a:t>
            </a:fld>
            <a:endParaRPr lang="en-US" altLang="en-US"/>
          </a:p>
        </p:txBody>
      </p:sp>
    </p:spTree>
    <p:extLst>
      <p:ext uri="{BB962C8B-B14F-4D97-AF65-F5344CB8AC3E}">
        <p14:creationId xmlns:p14="http://schemas.microsoft.com/office/powerpoint/2010/main" val="3962113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A249C1F7-B10C-B45C-7935-691A2FF8C01F}"/>
              </a:ext>
            </a:extLst>
          </p:cNvPr>
          <p:cNvSpPr>
            <a:spLocks noGrp="1"/>
          </p:cNvSpPr>
          <p:nvPr>
            <p:ph type="dt" sz="half" idx="10"/>
          </p:nvPr>
        </p:nvSpPr>
        <p:spPr/>
        <p:txBody>
          <a:bodyPr/>
          <a:lstStyle>
            <a:lvl1pPr>
              <a:defRPr/>
            </a:lvl1pPr>
          </a:lstStyle>
          <a:p>
            <a:pPr>
              <a:defRPr/>
            </a:pPr>
            <a:fld id="{F5B2CABD-941B-4AD1-B60F-2DCD3E6DF067}" type="datetimeFigureOut">
              <a:rPr lang="en-US"/>
              <a:pPr>
                <a:defRPr/>
              </a:pPr>
              <a:t>10-Jun-26</a:t>
            </a:fld>
            <a:endParaRPr lang="en-US"/>
          </a:p>
        </p:txBody>
      </p:sp>
      <p:sp>
        <p:nvSpPr>
          <p:cNvPr id="5" name="Footer Placeholder 4">
            <a:extLst>
              <a:ext uri="{FF2B5EF4-FFF2-40B4-BE49-F238E27FC236}">
                <a16:creationId xmlns:a16="http://schemas.microsoft.com/office/drawing/2014/main" xmlns="" id="{D0F0AD6D-5A2E-7796-F557-7859170BB05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07457BD9-5825-1911-6C9F-862388479A05}"/>
              </a:ext>
            </a:extLst>
          </p:cNvPr>
          <p:cNvSpPr>
            <a:spLocks noGrp="1"/>
          </p:cNvSpPr>
          <p:nvPr>
            <p:ph type="sldNum" sz="quarter" idx="12"/>
          </p:nvPr>
        </p:nvSpPr>
        <p:spPr/>
        <p:txBody>
          <a:bodyPr/>
          <a:lstStyle>
            <a:lvl1pPr>
              <a:defRPr/>
            </a:lvl1pPr>
          </a:lstStyle>
          <a:p>
            <a:fld id="{C697DE00-7340-49C8-8C13-3B29421C64F0}" type="slidenum">
              <a:rPr lang="en-US" altLang="en-US"/>
              <a:pPr/>
              <a:t>‹#›</a:t>
            </a:fld>
            <a:endParaRPr lang="en-US" altLang="en-US"/>
          </a:p>
        </p:txBody>
      </p:sp>
    </p:spTree>
    <p:extLst>
      <p:ext uri="{BB962C8B-B14F-4D97-AF65-F5344CB8AC3E}">
        <p14:creationId xmlns:p14="http://schemas.microsoft.com/office/powerpoint/2010/main" val="750895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162789D5-B580-67E7-FD0B-97E43FE02368}"/>
              </a:ext>
            </a:extLst>
          </p:cNvPr>
          <p:cNvSpPr>
            <a:spLocks noGrp="1"/>
          </p:cNvSpPr>
          <p:nvPr>
            <p:ph type="dt" sz="half" idx="10"/>
          </p:nvPr>
        </p:nvSpPr>
        <p:spPr/>
        <p:txBody>
          <a:bodyPr/>
          <a:lstStyle>
            <a:lvl1pPr>
              <a:defRPr/>
            </a:lvl1pPr>
          </a:lstStyle>
          <a:p>
            <a:pPr>
              <a:defRPr/>
            </a:pPr>
            <a:fld id="{630609E7-F74F-41E9-B967-556C675811BD}" type="datetimeFigureOut">
              <a:rPr lang="en-US"/>
              <a:pPr>
                <a:defRPr/>
              </a:pPr>
              <a:t>10-Jun-26</a:t>
            </a:fld>
            <a:endParaRPr lang="en-US"/>
          </a:p>
        </p:txBody>
      </p:sp>
      <p:sp>
        <p:nvSpPr>
          <p:cNvPr id="5" name="Footer Placeholder 4">
            <a:extLst>
              <a:ext uri="{FF2B5EF4-FFF2-40B4-BE49-F238E27FC236}">
                <a16:creationId xmlns:a16="http://schemas.microsoft.com/office/drawing/2014/main" xmlns="" id="{996503BE-CE23-F4AB-7B7E-CC3DF990DF4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001BCF72-DF93-D9C4-B52D-59EF29AE7E28}"/>
              </a:ext>
            </a:extLst>
          </p:cNvPr>
          <p:cNvSpPr>
            <a:spLocks noGrp="1"/>
          </p:cNvSpPr>
          <p:nvPr>
            <p:ph type="sldNum" sz="quarter" idx="12"/>
          </p:nvPr>
        </p:nvSpPr>
        <p:spPr/>
        <p:txBody>
          <a:bodyPr/>
          <a:lstStyle>
            <a:lvl1pPr>
              <a:defRPr/>
            </a:lvl1pPr>
          </a:lstStyle>
          <a:p>
            <a:fld id="{31758980-6216-4239-A91B-D2F44ADE13A7}" type="slidenum">
              <a:rPr lang="en-US" altLang="en-US"/>
              <a:pPr/>
              <a:t>‹#›</a:t>
            </a:fld>
            <a:endParaRPr lang="en-US" altLang="en-US"/>
          </a:p>
        </p:txBody>
      </p:sp>
    </p:spTree>
    <p:extLst>
      <p:ext uri="{BB962C8B-B14F-4D97-AF65-F5344CB8AC3E}">
        <p14:creationId xmlns:p14="http://schemas.microsoft.com/office/powerpoint/2010/main" val="1776471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20DBF0B6-B173-50C4-250A-E43ABE5CFE71}"/>
              </a:ext>
            </a:extLst>
          </p:cNvPr>
          <p:cNvSpPr>
            <a:spLocks noChangeAspect="1"/>
          </p:cNvSpPr>
          <p:nvPr/>
        </p:nvSpPr>
        <p:spPr>
          <a:xfrm>
            <a:off x="231775" y="244475"/>
            <a:ext cx="11723688" cy="637698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27" name="Title Placeholder 1">
            <a:extLst>
              <a:ext uri="{FF2B5EF4-FFF2-40B4-BE49-F238E27FC236}">
                <a16:creationId xmlns:a16="http://schemas.microsoft.com/office/drawing/2014/main" xmlns="" id="{C00348F9-2C2E-85C3-45EF-3D27AF1C1396}"/>
              </a:ext>
            </a:extLst>
          </p:cNvPr>
          <p:cNvSpPr>
            <a:spLocks noGrp="1"/>
          </p:cNvSpPr>
          <p:nvPr>
            <p:ph type="title"/>
          </p:nvPr>
        </p:nvSpPr>
        <p:spPr bwMode="auto">
          <a:xfrm>
            <a:off x="1143000" y="609600"/>
            <a:ext cx="9875838"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xmlns="" id="{6540C20C-79F5-33CE-1AC0-61812FD1461E}"/>
              </a:ext>
            </a:extLst>
          </p:cNvPr>
          <p:cNvSpPr>
            <a:spLocks noGrp="1"/>
          </p:cNvSpPr>
          <p:nvPr>
            <p:ph type="body" idx="1"/>
          </p:nvPr>
        </p:nvSpPr>
        <p:spPr bwMode="auto">
          <a:xfrm>
            <a:off x="1143000" y="2057400"/>
            <a:ext cx="987266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xmlns="" id="{B83510BF-ADA0-9DE9-DFE0-823187C8C9A8}"/>
              </a:ext>
            </a:extLst>
          </p:cNvPr>
          <p:cNvSpPr>
            <a:spLocks noGrp="1"/>
          </p:cNvSpPr>
          <p:nvPr>
            <p:ph type="dt" sz="half" idx="2"/>
          </p:nvPr>
        </p:nvSpPr>
        <p:spPr>
          <a:xfrm>
            <a:off x="1143000" y="6224588"/>
            <a:ext cx="2328863" cy="365125"/>
          </a:xfrm>
          <a:prstGeom prst="rect">
            <a:avLst/>
          </a:prstGeom>
        </p:spPr>
        <p:txBody>
          <a:bodyPr vert="horz" lIns="91440" tIns="45720" rIns="91440" bIns="45720" rtlCol="0" anchor="ctr"/>
          <a:lstStyle>
            <a:lvl1pPr algn="l">
              <a:defRPr sz="1200">
                <a:solidFill>
                  <a:schemeClr val="tx1"/>
                </a:solidFill>
              </a:defRPr>
            </a:lvl1pPr>
          </a:lstStyle>
          <a:p>
            <a:pPr>
              <a:defRPr/>
            </a:pPr>
            <a:fld id="{EC7B1DF1-7C51-4F06-BDDB-582C55A3AF29}" type="datetimeFigureOut">
              <a:rPr lang="en-US"/>
              <a:pPr>
                <a:defRPr/>
              </a:pPr>
              <a:t>10-Jun-26</a:t>
            </a:fld>
            <a:endParaRPr lang="en-US"/>
          </a:p>
        </p:txBody>
      </p:sp>
      <p:sp>
        <p:nvSpPr>
          <p:cNvPr id="5" name="Footer Placeholder 4">
            <a:extLst>
              <a:ext uri="{FF2B5EF4-FFF2-40B4-BE49-F238E27FC236}">
                <a16:creationId xmlns:a16="http://schemas.microsoft.com/office/drawing/2014/main" xmlns="" id="{B99613F9-BA2F-F0E1-A9E4-04B8795FA94D}"/>
              </a:ext>
            </a:extLst>
          </p:cNvPr>
          <p:cNvSpPr>
            <a:spLocks noGrp="1"/>
          </p:cNvSpPr>
          <p:nvPr>
            <p:ph type="ftr" sz="quarter" idx="3"/>
          </p:nvPr>
        </p:nvSpPr>
        <p:spPr>
          <a:xfrm>
            <a:off x="3949700" y="6224588"/>
            <a:ext cx="4716463" cy="365125"/>
          </a:xfrm>
          <a:prstGeom prst="rect">
            <a:avLst/>
          </a:prstGeom>
        </p:spPr>
        <p:txBody>
          <a:bodyPr vert="horz" lIns="91440" tIns="45720" rIns="91440" bIns="45720" rtlCol="0" anchor="ctr"/>
          <a:lstStyle>
            <a:lvl1pPr algn="ctr">
              <a:defRPr sz="1200">
                <a:solidFill>
                  <a:schemeClr val="tx1"/>
                </a:solidFill>
              </a:defRPr>
            </a:lvl1pPr>
          </a:lstStyle>
          <a:p>
            <a:pPr>
              <a:defRPr/>
            </a:pPr>
            <a:endParaRPr lang="en-US"/>
          </a:p>
        </p:txBody>
      </p:sp>
      <p:sp>
        <p:nvSpPr>
          <p:cNvPr id="6" name="Slide Number Placeholder 5">
            <a:extLst>
              <a:ext uri="{FF2B5EF4-FFF2-40B4-BE49-F238E27FC236}">
                <a16:creationId xmlns:a16="http://schemas.microsoft.com/office/drawing/2014/main" xmlns="" id="{E2A40660-4525-A077-6278-F48B5F44ED1C}"/>
              </a:ext>
            </a:extLst>
          </p:cNvPr>
          <p:cNvSpPr>
            <a:spLocks noGrp="1"/>
          </p:cNvSpPr>
          <p:nvPr>
            <p:ph type="sldNum" sz="quarter" idx="4"/>
          </p:nvPr>
        </p:nvSpPr>
        <p:spPr>
          <a:xfrm>
            <a:off x="9329738" y="6224588"/>
            <a:ext cx="1706562" cy="365125"/>
          </a:xfrm>
          <a:prstGeom prst="rect">
            <a:avLst/>
          </a:prstGeom>
        </p:spPr>
        <p:txBody>
          <a:bodyPr vert="horz" wrap="square" lIns="91440" tIns="45720" rIns="91440" bIns="45720" numCol="1" anchor="ctr" anchorCtr="0" compatLnSpc="1">
            <a:prstTxWarp prst="textNoShape">
              <a:avLst/>
            </a:prstTxWarp>
          </a:bodyPr>
          <a:lstStyle>
            <a:lvl1pPr algn="r">
              <a:defRPr sz="1200"/>
            </a:lvl1pPr>
          </a:lstStyle>
          <a:p>
            <a:fld id="{4E81B99A-C428-4879-B430-38068232E29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5048" r:id="rId1"/>
    <p:sldLayoutId id="2147485039" r:id="rId2"/>
    <p:sldLayoutId id="2147485049" r:id="rId3"/>
    <p:sldLayoutId id="2147485040" r:id="rId4"/>
    <p:sldLayoutId id="2147485041" r:id="rId5"/>
    <p:sldLayoutId id="2147485042" r:id="rId6"/>
    <p:sldLayoutId id="2147485043" r:id="rId7"/>
    <p:sldLayoutId id="2147485044" r:id="rId8"/>
    <p:sldLayoutId id="2147485045" r:id="rId9"/>
    <p:sldLayoutId id="2147485046" r:id="rId10"/>
    <p:sldLayoutId id="2147485047"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orbel" panose="020B0503020204020204" pitchFamily="34" charset="0"/>
        </a:defRPr>
      </a:lvl2pPr>
      <a:lvl3pPr algn="l" rtl="0" eaLnBrk="0" fontAlgn="base" hangingPunct="0">
        <a:lnSpc>
          <a:spcPct val="90000"/>
        </a:lnSpc>
        <a:spcBef>
          <a:spcPct val="0"/>
        </a:spcBef>
        <a:spcAft>
          <a:spcPct val="0"/>
        </a:spcAft>
        <a:defRPr sz="4400">
          <a:solidFill>
            <a:schemeClr val="tx1"/>
          </a:solidFill>
          <a:latin typeface="Corbel" panose="020B0503020204020204" pitchFamily="34" charset="0"/>
        </a:defRPr>
      </a:lvl3pPr>
      <a:lvl4pPr algn="l" rtl="0" eaLnBrk="0" fontAlgn="base" hangingPunct="0">
        <a:lnSpc>
          <a:spcPct val="90000"/>
        </a:lnSpc>
        <a:spcBef>
          <a:spcPct val="0"/>
        </a:spcBef>
        <a:spcAft>
          <a:spcPct val="0"/>
        </a:spcAft>
        <a:defRPr sz="4400">
          <a:solidFill>
            <a:schemeClr val="tx1"/>
          </a:solidFill>
          <a:latin typeface="Corbel" panose="020B0503020204020204" pitchFamily="34" charset="0"/>
        </a:defRPr>
      </a:lvl4pPr>
      <a:lvl5pPr algn="l" rtl="0" eaLnBrk="0" fontAlgn="base" hangingPunct="0">
        <a:lnSpc>
          <a:spcPct val="90000"/>
        </a:lnSpc>
        <a:spcBef>
          <a:spcPct val="0"/>
        </a:spcBef>
        <a:spcAft>
          <a:spcPct val="0"/>
        </a:spcAft>
        <a:defRPr sz="4400">
          <a:solidFill>
            <a:schemeClr val="tx1"/>
          </a:solidFill>
          <a:latin typeface="Corbel" panose="020B0503020204020204"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p:titleStyle>
    <p:body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8875280B-69B0-B098-0B65-11E9F6407C2E}"/>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EDA: Visualization</a:t>
            </a: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156" y="2143760"/>
            <a:ext cx="3335338"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xmlns="" id="{996FD85E-4DC5-C40F-CB2B-8C65A94662DE}"/>
              </a:ext>
            </a:extLst>
          </p:cNvPr>
          <p:cNvSpPr txBox="1"/>
          <p:nvPr/>
        </p:nvSpPr>
        <p:spPr>
          <a:xfrm>
            <a:off x="5806668" y="606604"/>
            <a:ext cx="4297680" cy="5909310"/>
          </a:xfrm>
          <a:prstGeom prst="rect">
            <a:avLst/>
          </a:prstGeom>
          <a:solidFill>
            <a:schemeClr val="accent1">
              <a:lumMod val="20000"/>
              <a:lumOff val="80000"/>
            </a:schemeClr>
          </a:solidFill>
          <a:ln>
            <a:solidFill>
              <a:schemeClr val="accent1"/>
            </a:solidFill>
          </a:ln>
        </p:spPr>
        <p:txBody>
          <a:bodyPr wrap="square">
            <a:spAutoFit/>
          </a:bodyPr>
          <a:lstStyle/>
          <a:p>
            <a:r>
              <a:rPr lang="en-US" dirty="0">
                <a:latin typeface="Times New Roman" panose="02020603050405020304" pitchFamily="18" charset="0"/>
                <a:cs typeface="Times New Roman" panose="02020603050405020304" pitchFamily="18" charset="0"/>
              </a:rPr>
              <a:t>1. Load Dataset</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2. Understand Structure</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3. Check Variable Types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4. Compute Summary Statistics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5. Identify Missing Values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6. Detect Duplicates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7. Detect Outliers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8. Visualize Distributions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9. Examine Relationships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10. Generate Insights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11. Prepare for Data Cleaning/Modeling</a:t>
            </a:r>
          </a:p>
        </p:txBody>
      </p:sp>
      <p:sp>
        <p:nvSpPr>
          <p:cNvPr id="5" name="Oval 4">
            <a:extLst>
              <a:ext uri="{FF2B5EF4-FFF2-40B4-BE49-F238E27FC236}">
                <a16:creationId xmlns:a16="http://schemas.microsoft.com/office/drawing/2014/main" xmlns="" id="{D212EF0A-2A72-96D6-CD89-847579CAB968}"/>
              </a:ext>
            </a:extLst>
          </p:cNvPr>
          <p:cNvSpPr/>
          <p:nvPr/>
        </p:nvSpPr>
        <p:spPr>
          <a:xfrm>
            <a:off x="5351462" y="3759200"/>
            <a:ext cx="3335338" cy="1818640"/>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455F5362-4849-8AE6-2322-BCD40455E245}"/>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a:t>
            </a:r>
          </a:p>
        </p:txBody>
      </p:sp>
      <p:sp>
        <p:nvSpPr>
          <p:cNvPr id="4" name="Content Placeholder 3">
            <a:extLst>
              <a:ext uri="{FF2B5EF4-FFF2-40B4-BE49-F238E27FC236}">
                <a16:creationId xmlns:a16="http://schemas.microsoft.com/office/drawing/2014/main" xmlns="" id="{9ECE059D-F0EC-91F4-6B94-7C8D09A4B51F}"/>
              </a:ext>
            </a:extLst>
          </p:cNvPr>
          <p:cNvSpPr>
            <a:spLocks noGrp="1"/>
          </p:cNvSpPr>
          <p:nvPr>
            <p:ph idx="1"/>
          </p:nvPr>
        </p:nvSpPr>
        <p:spPr>
          <a:xfrm>
            <a:off x="1041400" y="1558925"/>
            <a:ext cx="9872663" cy="4038600"/>
          </a:xfrm>
        </p:spPr>
        <p:txBody>
          <a:bodyPr/>
          <a:lstStyle/>
          <a:p>
            <a:pPr marL="46037" indent="0" algn="just">
              <a:buNone/>
              <a:defRPr/>
            </a:pPr>
            <a:r>
              <a:rPr lang="en-US" altLang="en-US" sz="2000" dirty="0">
                <a:solidFill>
                  <a:srgbClr val="FF0000"/>
                </a:solidFill>
                <a:latin typeface="Times New Roman" panose="02020603050405020304" pitchFamily="18" charset="0"/>
                <a:cs typeface="Times New Roman" panose="02020603050405020304" pitchFamily="18" charset="0"/>
              </a:rPr>
              <a:t>Visualization</a:t>
            </a:r>
            <a:r>
              <a:rPr lang="en-US" altLang="en-US" sz="2000" dirty="0">
                <a:latin typeface="Times New Roman" panose="02020603050405020304" pitchFamily="18" charset="0"/>
                <a:cs typeface="Times New Roman" panose="02020603050405020304" pitchFamily="18" charset="0"/>
              </a:rPr>
              <a:t> is the process of projecting the data, or parts of it, into multi-dimensional space or abstract images. All the useful (and adorable) charts fall under this category. </a:t>
            </a:r>
          </a:p>
          <a:p>
            <a:pPr marL="46037" indent="0" algn="just">
              <a:buFont typeface="Corbel" panose="020B0503020204020204" pitchFamily="34" charset="0"/>
              <a:buNone/>
              <a:defRPr/>
            </a:pPr>
            <a:r>
              <a:rPr lang="en-US" sz="2000" dirty="0">
                <a:latin typeface="Times New Roman" panose="02020603050405020304" pitchFamily="18" charset="0"/>
                <a:cs typeface="Times New Roman" panose="02020603050405020304" pitchFamily="18" charset="0"/>
              </a:rPr>
              <a:t>Data visualization techniques are essential in data science for exploring, understanding, and communicating insights from data. </a:t>
            </a:r>
          </a:p>
          <a:p>
            <a:pPr marL="46037" indent="0" algn="just">
              <a:buFont typeface="Corbel" panose="020B0503020204020204" pitchFamily="34" charset="0"/>
              <a:buNone/>
              <a:defRPr/>
            </a:pPr>
            <a:r>
              <a:rPr lang="en-US" sz="2000" dirty="0">
                <a:latin typeface="Times New Roman" panose="02020603050405020304" pitchFamily="18" charset="0"/>
                <a:cs typeface="Times New Roman" panose="02020603050405020304" pitchFamily="18" charset="0"/>
              </a:rPr>
              <a:t>They translate complex data into visual stories, making it easier to identify trends, patterns, outliers, and correlations.</a:t>
            </a:r>
          </a:p>
          <a:p>
            <a:pPr marL="46037" indent="0" algn="just">
              <a:lnSpc>
                <a:spcPct val="150000"/>
              </a:lnSpc>
              <a:buFont typeface="Corbel" panose="020B0503020204020204" pitchFamily="34" charset="0"/>
              <a:buNone/>
              <a:defRPr/>
            </a:pPr>
            <a:r>
              <a:rPr lang="en-US" sz="2000" dirty="0">
                <a:latin typeface="Times New Roman" panose="02020603050405020304" pitchFamily="18" charset="0"/>
                <a:cs typeface="Times New Roman" panose="02020603050405020304" pitchFamily="18" charset="0"/>
              </a:rPr>
              <a:t>The purpose of visualization are:</a:t>
            </a:r>
          </a:p>
          <a:p>
            <a:pPr algn="just">
              <a:lnSpc>
                <a:spcPct val="100000"/>
              </a:lnSpc>
              <a:defRPr/>
            </a:pPr>
            <a:r>
              <a:rPr lang="en-US" sz="2000" dirty="0">
                <a:latin typeface="Times New Roman" panose="02020603050405020304" pitchFamily="18" charset="0"/>
                <a:cs typeface="Times New Roman" panose="02020603050405020304" pitchFamily="18" charset="0"/>
              </a:rPr>
              <a:t>For Showing Relationships and Correlation</a:t>
            </a:r>
          </a:p>
          <a:p>
            <a:pPr algn="just">
              <a:lnSpc>
                <a:spcPct val="100000"/>
              </a:lnSpc>
              <a:defRPr/>
            </a:pPr>
            <a:r>
              <a:rPr lang="en-US" sz="2000" dirty="0">
                <a:latin typeface="Times New Roman" panose="02020603050405020304" pitchFamily="18" charset="0"/>
                <a:cs typeface="Times New Roman" panose="02020603050405020304" pitchFamily="18" charset="0"/>
              </a:rPr>
              <a:t>For Comparing Values</a:t>
            </a:r>
          </a:p>
          <a:p>
            <a:pPr algn="just">
              <a:lnSpc>
                <a:spcPct val="100000"/>
              </a:lnSpc>
              <a:defRPr/>
            </a:pPr>
            <a:r>
              <a:rPr lang="en-US" sz="2000" dirty="0">
                <a:latin typeface="Times New Roman" panose="02020603050405020304" pitchFamily="18" charset="0"/>
                <a:cs typeface="Times New Roman" panose="02020603050405020304" pitchFamily="18" charset="0"/>
              </a:rPr>
              <a:t>For Showing Composition (Part-to-Whole)</a:t>
            </a:r>
          </a:p>
          <a:p>
            <a:pPr algn="just">
              <a:lnSpc>
                <a:spcPct val="100000"/>
              </a:lnSpc>
              <a:defRPr/>
            </a:pPr>
            <a:r>
              <a:rPr lang="en-US" sz="2000" dirty="0">
                <a:latin typeface="Times New Roman" panose="02020603050405020304" pitchFamily="18" charset="0"/>
                <a:cs typeface="Times New Roman" panose="02020603050405020304" pitchFamily="18" charset="0"/>
              </a:rPr>
              <a:t>For Understanding Distribution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169A375A-8D68-10E6-597D-C3AF7395B161}"/>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a:t>
            </a:r>
            <a:r>
              <a:rPr lang="en-US" altLang="en-US" sz="2400" b="1" dirty="0" smtClean="0">
                <a:solidFill>
                  <a:schemeClr val="tx1">
                    <a:lumMod val="95000"/>
                    <a:lumOff val="5000"/>
                  </a:schemeClr>
                </a:solidFill>
                <a:latin typeface="Calibri" panose="020F0502020204030204" pitchFamily="34" charset="0"/>
                <a:cs typeface="Calibri" panose="020F0502020204030204" pitchFamily="34" charset="0"/>
              </a:rPr>
              <a:t>Visualization: </a:t>
            </a: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Understanding </a:t>
            </a: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Distributions</a:t>
            </a:r>
          </a:p>
        </p:txBody>
      </p:sp>
      <p:sp>
        <p:nvSpPr>
          <p:cNvPr id="4" name="Content Placeholder 3">
            <a:extLst>
              <a:ext uri="{FF2B5EF4-FFF2-40B4-BE49-F238E27FC236}">
                <a16:creationId xmlns:a16="http://schemas.microsoft.com/office/drawing/2014/main" xmlns="" id="{3D51ED97-305C-EFB3-E49A-F6DFA5F5A820}"/>
              </a:ext>
            </a:extLst>
          </p:cNvPr>
          <p:cNvSpPr>
            <a:spLocks noGrp="1"/>
          </p:cNvSpPr>
          <p:nvPr>
            <p:ph idx="1"/>
          </p:nvPr>
        </p:nvSpPr>
        <p:spPr>
          <a:xfrm>
            <a:off x="1041400" y="1558924"/>
            <a:ext cx="4871719" cy="4679315"/>
          </a:xfrm>
        </p:spPr>
        <p:txBody>
          <a:bodyPr/>
          <a:lstStyle/>
          <a:p>
            <a:pPr marL="46037" indent="0" algn="just">
              <a:buFont typeface="Corbel" panose="020B0503020204020204" pitchFamily="34" charset="0"/>
              <a:buNone/>
              <a:defRPr/>
            </a:pPr>
            <a:r>
              <a:rPr lang="en-US" sz="2000" b="1" dirty="0">
                <a:latin typeface="Times New Roman" panose="02020603050405020304" pitchFamily="18" charset="0"/>
                <a:cs typeface="Times New Roman" panose="02020603050405020304" pitchFamily="18" charset="0"/>
              </a:rPr>
              <a:t>What is a Distribution?</a:t>
            </a:r>
          </a:p>
          <a:p>
            <a:pPr marL="46037" indent="0" algn="just">
              <a:buNone/>
              <a:defRPr/>
            </a:pPr>
            <a:r>
              <a:rPr lang="en-US" sz="2000" dirty="0">
                <a:latin typeface="Times New Roman" panose="02020603050405020304" pitchFamily="18" charset="0"/>
                <a:cs typeface="Times New Roman" panose="02020603050405020304" pitchFamily="18" charset="0"/>
              </a:rPr>
              <a:t>Distribution skewness describes the asymmetry of a dataset's shape around its peak (mode). When a distribution is perfectly symmetrical (like a </a:t>
            </a:r>
            <a:r>
              <a:rPr lang="en-US" sz="2000" dirty="0">
                <a:solidFill>
                  <a:srgbClr val="FF0000"/>
                </a:solidFill>
                <a:latin typeface="Times New Roman" panose="02020603050405020304" pitchFamily="18" charset="0"/>
                <a:cs typeface="Times New Roman" panose="02020603050405020304" pitchFamily="18" charset="0"/>
              </a:rPr>
              <a:t>standard normal distribution</a:t>
            </a:r>
            <a:r>
              <a:rPr lang="en-US" sz="2000" dirty="0">
                <a:latin typeface="Times New Roman" panose="02020603050405020304" pitchFamily="18" charset="0"/>
                <a:cs typeface="Times New Roman" panose="02020603050405020304" pitchFamily="18" charset="0"/>
              </a:rPr>
              <a:t>), the left and right halves are mirror images.</a:t>
            </a:r>
          </a:p>
          <a:p>
            <a:pPr marL="46037" indent="0" algn="just">
              <a:buNone/>
              <a:defRPr/>
            </a:pPr>
            <a:r>
              <a:rPr lang="en-US" sz="2000" dirty="0">
                <a:latin typeface="Times New Roman" panose="02020603050405020304" pitchFamily="18" charset="0"/>
                <a:cs typeface="Times New Roman" panose="02020603050405020304" pitchFamily="18" charset="0"/>
              </a:rPr>
              <a:t>However, real-world data often leans or stretches in one direction. This stretch is referred to as a </a:t>
            </a:r>
            <a:r>
              <a:rPr lang="en-US" sz="2000" dirty="0">
                <a:solidFill>
                  <a:srgbClr val="FF0000"/>
                </a:solidFill>
                <a:latin typeface="Times New Roman" panose="02020603050405020304" pitchFamily="18" charset="0"/>
                <a:cs typeface="Times New Roman" panose="02020603050405020304" pitchFamily="18" charset="0"/>
              </a:rPr>
              <a:t>positive</a:t>
            </a:r>
            <a:r>
              <a:rPr lang="en-US" sz="2000" dirty="0">
                <a:latin typeface="Times New Roman" panose="02020603050405020304" pitchFamily="18" charset="0"/>
                <a:cs typeface="Times New Roman" panose="02020603050405020304" pitchFamily="18" charset="0"/>
              </a:rPr>
              <a:t> or </a:t>
            </a:r>
            <a:r>
              <a:rPr lang="en-US" sz="2000" dirty="0">
                <a:solidFill>
                  <a:srgbClr val="FF0000"/>
                </a:solidFill>
                <a:latin typeface="Times New Roman" panose="02020603050405020304" pitchFamily="18" charset="0"/>
                <a:cs typeface="Times New Roman" panose="02020603050405020304" pitchFamily="18" charset="0"/>
              </a:rPr>
              <a:t>negative</a:t>
            </a:r>
            <a:r>
              <a:rPr lang="en-US" sz="2000" dirty="0">
                <a:latin typeface="Times New Roman" panose="02020603050405020304" pitchFamily="18" charset="0"/>
                <a:cs typeface="Times New Roman" panose="02020603050405020304" pitchFamily="18" charset="0"/>
              </a:rPr>
              <a:t> skew.</a:t>
            </a:r>
          </a:p>
        </p:txBody>
      </p:sp>
      <p:pic>
        <p:nvPicPr>
          <p:cNvPr id="3" name="Picture 2">
            <a:extLst>
              <a:ext uri="{FF2B5EF4-FFF2-40B4-BE49-F238E27FC236}">
                <a16:creationId xmlns:a16="http://schemas.microsoft.com/office/drawing/2014/main" xmlns="" id="{C495088E-0D6D-DC2B-3BB2-E9D1B1985D05}"/>
              </a:ext>
            </a:extLst>
          </p:cNvPr>
          <p:cNvPicPr>
            <a:picLocks noChangeAspect="1"/>
          </p:cNvPicPr>
          <p:nvPr/>
        </p:nvPicPr>
        <p:blipFill>
          <a:blip r:embed="rId2"/>
          <a:stretch>
            <a:fillRect/>
          </a:stretch>
        </p:blipFill>
        <p:spPr>
          <a:xfrm>
            <a:off x="6096000" y="1223644"/>
            <a:ext cx="5675915" cy="49332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2553A1C-CA42-08F6-7E4B-DDC0EE61384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xmlns="" id="{5F396C4E-0DF0-97E9-4D70-4D8C0C5CA3FF}"/>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Understanding </a:t>
            </a: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Distributions</a:t>
            </a:r>
          </a:p>
        </p:txBody>
      </p:sp>
      <p:sp>
        <p:nvSpPr>
          <p:cNvPr id="4" name="Content Placeholder 3">
            <a:extLst>
              <a:ext uri="{FF2B5EF4-FFF2-40B4-BE49-F238E27FC236}">
                <a16:creationId xmlns:a16="http://schemas.microsoft.com/office/drawing/2014/main" xmlns="" id="{04D43F3E-4EBA-A5FC-DD87-F01983EAB246}"/>
              </a:ext>
            </a:extLst>
          </p:cNvPr>
          <p:cNvSpPr>
            <a:spLocks noGrp="1"/>
          </p:cNvSpPr>
          <p:nvPr>
            <p:ph idx="1"/>
          </p:nvPr>
        </p:nvSpPr>
        <p:spPr>
          <a:xfrm>
            <a:off x="1041400" y="1558924"/>
            <a:ext cx="9977437" cy="4679315"/>
          </a:xfrm>
        </p:spPr>
        <p:txBody>
          <a:bodyPr/>
          <a:lstStyle/>
          <a:p>
            <a:pPr marL="46037" indent="0" algn="just">
              <a:buNone/>
              <a:defRPr/>
            </a:pPr>
            <a:r>
              <a:rPr lang="en-US" sz="2000" b="1" dirty="0">
                <a:latin typeface="Times New Roman" panose="02020603050405020304" pitchFamily="18" charset="0"/>
                <a:cs typeface="Times New Roman" panose="02020603050405020304" pitchFamily="18" charset="0"/>
              </a:rPr>
              <a:t>Positive Skewness (Right-Skewed Distribution)</a:t>
            </a:r>
          </a:p>
          <a:p>
            <a:pPr marL="46037" indent="0" algn="just">
              <a:buNone/>
              <a:defRPr/>
            </a:pPr>
            <a:r>
              <a:rPr lang="en-US" sz="2000" dirty="0">
                <a:latin typeface="Times New Roman" panose="02020603050405020304" pitchFamily="18" charset="0"/>
                <a:cs typeface="Times New Roman" panose="02020603050405020304" pitchFamily="18" charset="0"/>
              </a:rPr>
              <a:t>A positively skewed distribution has a long tail that extends toward the right side (larger values). The mass of the data is concentrated on the left side of the graph, representing lower values.</a:t>
            </a:r>
          </a:p>
          <a:p>
            <a:pPr marL="46037" indent="0" algn="just">
              <a:buNone/>
              <a:defRPr/>
            </a:pPr>
            <a:r>
              <a:rPr lang="en-US" sz="2000" dirty="0">
                <a:latin typeface="Times New Roman" panose="02020603050405020304" pitchFamily="18" charset="0"/>
                <a:cs typeface="Times New Roman" panose="02020603050405020304" pitchFamily="18" charset="0"/>
              </a:rPr>
              <a:t>Mathematical Relationship of Central Tendency: In a strongly positive skew, the metrics of central tendency split apart and always follow this predictable order: </a:t>
            </a:r>
            <a:r>
              <a:rPr lang="en-US" sz="2000" b="1" dirty="0">
                <a:latin typeface="Times New Roman" panose="02020603050405020304" pitchFamily="18" charset="0"/>
                <a:cs typeface="Times New Roman" panose="02020603050405020304" pitchFamily="18" charset="0"/>
              </a:rPr>
              <a:t>Mode &lt; Median &lt; Mean</a:t>
            </a:r>
          </a:p>
          <a:p>
            <a:pPr marL="46037" indent="0" algn="just">
              <a:buFont typeface="Corbel" panose="020B0503020204020204" pitchFamily="34" charset="0"/>
              <a:buNone/>
              <a:defRPr/>
            </a:pPr>
            <a:r>
              <a:rPr lang="en-US" sz="2000" b="1" dirty="0">
                <a:latin typeface="Times New Roman" panose="02020603050405020304" pitchFamily="18" charset="0"/>
                <a:cs typeface="Times New Roman" panose="02020603050405020304" pitchFamily="18" charset="0"/>
              </a:rPr>
              <a:t>Real-World Examples:</a:t>
            </a:r>
          </a:p>
          <a:p>
            <a:pPr marL="46037" indent="0" algn="just">
              <a:buFont typeface="Corbel" panose="020B0503020204020204" pitchFamily="34" charset="0"/>
              <a:buNone/>
              <a:defRPr/>
            </a:pPr>
            <a:r>
              <a:rPr lang="en-US" sz="2000" b="1" dirty="0">
                <a:latin typeface="Times New Roman" panose="02020603050405020304" pitchFamily="18" charset="0"/>
                <a:cs typeface="Times New Roman" panose="02020603050405020304" pitchFamily="18" charset="0"/>
              </a:rPr>
              <a:t>Household Income: </a:t>
            </a:r>
            <a:r>
              <a:rPr lang="en-US" sz="2000" dirty="0">
                <a:latin typeface="Times New Roman" panose="02020603050405020304" pitchFamily="18" charset="0"/>
                <a:cs typeface="Times New Roman" panose="02020603050405020304" pitchFamily="18" charset="0"/>
              </a:rPr>
              <a:t>The vast majority of citizens earn below or around the national average, clustering on the left. A tiny fraction of billionaires create a massive, elongated right tail.</a:t>
            </a:r>
          </a:p>
          <a:p>
            <a:pPr marL="46037" indent="0" algn="just">
              <a:buFont typeface="Corbel" panose="020B0503020204020204" pitchFamily="34" charset="0"/>
              <a:buNone/>
              <a:defRPr/>
            </a:pPr>
            <a:r>
              <a:rPr lang="en-US" sz="2000" b="1" dirty="0">
                <a:latin typeface="Times New Roman" panose="02020603050405020304" pitchFamily="18" charset="0"/>
                <a:cs typeface="Times New Roman" panose="02020603050405020304" pitchFamily="18" charset="0"/>
              </a:rPr>
              <a:t>Webpage View Counts: </a:t>
            </a:r>
            <a:r>
              <a:rPr lang="en-US" sz="2000" dirty="0">
                <a:latin typeface="Times New Roman" panose="02020603050405020304" pitchFamily="18" charset="0"/>
                <a:cs typeface="Times New Roman" panose="02020603050405020304" pitchFamily="18" charset="0"/>
              </a:rPr>
              <a:t>Most blog posts or videos get a few dozen hits, while a rare handful of viral posts pull the distribution infinitely to the right.</a:t>
            </a:r>
          </a:p>
        </p:txBody>
      </p:sp>
    </p:spTree>
    <p:extLst>
      <p:ext uri="{BB962C8B-B14F-4D97-AF65-F5344CB8AC3E}">
        <p14:creationId xmlns:p14="http://schemas.microsoft.com/office/powerpoint/2010/main" val="1666068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8183A16-E8A5-594F-B96F-C3481AA47DB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xmlns="" id="{D89472EE-FC51-1DCF-B7FE-4F7D0F47BC5E}"/>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Understanding </a:t>
            </a: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Distributions</a:t>
            </a:r>
          </a:p>
        </p:txBody>
      </p:sp>
      <p:sp>
        <p:nvSpPr>
          <p:cNvPr id="4" name="Content Placeholder 3">
            <a:extLst>
              <a:ext uri="{FF2B5EF4-FFF2-40B4-BE49-F238E27FC236}">
                <a16:creationId xmlns:a16="http://schemas.microsoft.com/office/drawing/2014/main" xmlns="" id="{06158982-7364-AFDE-0813-5FDBE2EBAF43}"/>
              </a:ext>
            </a:extLst>
          </p:cNvPr>
          <p:cNvSpPr>
            <a:spLocks noGrp="1"/>
          </p:cNvSpPr>
          <p:nvPr>
            <p:ph idx="1"/>
          </p:nvPr>
        </p:nvSpPr>
        <p:spPr>
          <a:xfrm>
            <a:off x="1041400" y="1558924"/>
            <a:ext cx="9872663" cy="4679315"/>
          </a:xfrm>
        </p:spPr>
        <p:txBody>
          <a:bodyPr/>
          <a:lstStyle/>
          <a:p>
            <a:pPr marL="46037" indent="0" algn="just">
              <a:buFont typeface="Corbel" panose="020B0503020204020204" pitchFamily="34" charset="0"/>
              <a:buNone/>
              <a:defRPr/>
            </a:pPr>
            <a:r>
              <a:rPr lang="en-US" sz="2000" b="1" dirty="0">
                <a:latin typeface="Times New Roman" panose="02020603050405020304" pitchFamily="18" charset="0"/>
                <a:cs typeface="Times New Roman" panose="02020603050405020304" pitchFamily="18" charset="0"/>
              </a:rPr>
              <a:t>Negative Skewness (Left-Skewed Distribution)</a:t>
            </a:r>
          </a:p>
          <a:p>
            <a:pPr marL="46037" indent="0" algn="just">
              <a:buFont typeface="Corbel" panose="020B0503020204020204" pitchFamily="34" charset="0"/>
              <a:buNone/>
              <a:defRPr/>
            </a:pPr>
            <a:r>
              <a:rPr lang="en-US" sz="2000" dirty="0">
                <a:latin typeface="Times New Roman" panose="02020603050405020304" pitchFamily="18" charset="0"/>
                <a:cs typeface="Times New Roman" panose="02020603050405020304" pitchFamily="18" charset="0"/>
              </a:rPr>
              <a:t>A negatively skewed distribution is the exact opposite. It features a long, thin tail extending toward the left side (smaller or negative values), while the bulk of the data points cluster tightly on the right side.</a:t>
            </a:r>
          </a:p>
          <a:p>
            <a:pPr marL="46037" indent="0" algn="just">
              <a:buFont typeface="Corbel" panose="020B0503020204020204" pitchFamily="34" charset="0"/>
              <a:buNone/>
              <a:defRPr/>
            </a:pPr>
            <a:r>
              <a:rPr lang="en-US" sz="2000" dirty="0">
                <a:latin typeface="Times New Roman" panose="02020603050405020304" pitchFamily="18" charset="0"/>
                <a:cs typeface="Times New Roman" panose="02020603050405020304" pitchFamily="18" charset="0"/>
              </a:rPr>
              <a:t>Mathematical Relationship of Central Tendency: In a strongly negative skew, the directional pull reverses: </a:t>
            </a:r>
            <a:r>
              <a:rPr lang="en-US" sz="2000" b="1" dirty="0">
                <a:latin typeface="Times New Roman" panose="02020603050405020304" pitchFamily="18" charset="0"/>
                <a:cs typeface="Times New Roman" panose="02020603050405020304" pitchFamily="18" charset="0"/>
              </a:rPr>
              <a:t>Mean &lt; Median &lt; Mode</a:t>
            </a:r>
          </a:p>
          <a:p>
            <a:pPr marL="46037" indent="0" algn="just">
              <a:buFont typeface="Corbel" panose="020B0503020204020204" pitchFamily="34" charset="0"/>
              <a:buNone/>
              <a:defRPr/>
            </a:pPr>
            <a:r>
              <a:rPr lang="en-US" sz="2000" b="1" dirty="0">
                <a:latin typeface="Times New Roman" panose="02020603050405020304" pitchFamily="18" charset="0"/>
                <a:cs typeface="Times New Roman" panose="02020603050405020304" pitchFamily="18" charset="0"/>
              </a:rPr>
              <a:t>Real-World Examples:</a:t>
            </a:r>
          </a:p>
          <a:p>
            <a:pPr marL="46037" indent="0" algn="just">
              <a:buFont typeface="Corbel" panose="020B0503020204020204" pitchFamily="34" charset="0"/>
              <a:buNone/>
              <a:defRPr/>
            </a:pPr>
            <a:r>
              <a:rPr lang="en-US" sz="2000" b="1" dirty="0">
                <a:latin typeface="Times New Roman" panose="02020603050405020304" pitchFamily="18" charset="0"/>
                <a:cs typeface="Times New Roman" panose="02020603050405020304" pitchFamily="18" charset="0"/>
              </a:rPr>
              <a:t>Age of Retirement: </a:t>
            </a:r>
            <a:r>
              <a:rPr lang="en-US" sz="2000" dirty="0">
                <a:latin typeface="Times New Roman" panose="02020603050405020304" pitchFamily="18" charset="0"/>
                <a:cs typeface="Times New Roman" panose="02020603050405020304" pitchFamily="18" charset="0"/>
              </a:rPr>
              <a:t>Most individuals retire in their late 50s to late 60s, creating a steep cliff on the right side. However, a small minority of people forced to stop working early due to illness or other factors stretches the tail out to the left.</a:t>
            </a:r>
          </a:p>
          <a:p>
            <a:pPr marL="46037" indent="0" algn="just">
              <a:buFont typeface="Corbel" panose="020B0503020204020204" pitchFamily="34" charset="0"/>
              <a:buNone/>
              <a:defRPr/>
            </a:pPr>
            <a:r>
              <a:rPr lang="en-US" sz="2000" b="1" dirty="0">
                <a:latin typeface="Times New Roman" panose="02020603050405020304" pitchFamily="18" charset="0"/>
                <a:cs typeface="Times New Roman" panose="02020603050405020304" pitchFamily="18" charset="0"/>
              </a:rPr>
              <a:t>University Exam Scores (on an easy test): </a:t>
            </a:r>
            <a:r>
              <a:rPr lang="en-US" sz="2000" dirty="0">
                <a:latin typeface="Times New Roman" panose="02020603050405020304" pitchFamily="18" charset="0"/>
                <a:cs typeface="Times New Roman" panose="02020603050405020304" pitchFamily="18" charset="0"/>
              </a:rPr>
              <a:t>If an exam is straightforward, the vast majority of students will score high marks (As and Bs), clustering on the right. A few students who missed classes or ran out of time will score very low, creating a left-side tail.</a:t>
            </a:r>
          </a:p>
        </p:txBody>
      </p:sp>
    </p:spTree>
    <p:extLst>
      <p:ext uri="{BB962C8B-B14F-4D97-AF65-F5344CB8AC3E}">
        <p14:creationId xmlns:p14="http://schemas.microsoft.com/office/powerpoint/2010/main" val="1487538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76E0AD3-3FFD-85DB-5158-8F70DBCBFAD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xmlns="" id="{3699ED02-EB00-8104-E904-48225A978C83}"/>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Understanding </a:t>
            </a: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Distributions</a:t>
            </a:r>
          </a:p>
        </p:txBody>
      </p:sp>
      <p:pic>
        <p:nvPicPr>
          <p:cNvPr id="7" name="Picture 6">
            <a:extLst>
              <a:ext uri="{FF2B5EF4-FFF2-40B4-BE49-F238E27FC236}">
                <a16:creationId xmlns:a16="http://schemas.microsoft.com/office/drawing/2014/main" xmlns="" id="{BB3FC53D-2575-9845-D12C-82D677F030F2}"/>
              </a:ext>
            </a:extLst>
          </p:cNvPr>
          <p:cNvPicPr>
            <a:picLocks noChangeAspect="1"/>
          </p:cNvPicPr>
          <p:nvPr/>
        </p:nvPicPr>
        <p:blipFill>
          <a:blip r:embed="rId2"/>
          <a:stretch>
            <a:fillRect/>
          </a:stretch>
        </p:blipFill>
        <p:spPr>
          <a:xfrm>
            <a:off x="975360" y="1143000"/>
            <a:ext cx="9753600" cy="5324475"/>
          </a:xfrm>
          <a:prstGeom prst="rect">
            <a:avLst/>
          </a:prstGeom>
        </p:spPr>
      </p:pic>
    </p:spTree>
    <p:extLst>
      <p:ext uri="{BB962C8B-B14F-4D97-AF65-F5344CB8AC3E}">
        <p14:creationId xmlns:p14="http://schemas.microsoft.com/office/powerpoint/2010/main" val="3176143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E537199D-F3D2-5C6E-CC4B-06EB8FE12390}"/>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Scatter </a:t>
            </a:r>
            <a:r>
              <a:rPr lang="en-US" altLang="en-US" sz="2400" b="1" dirty="0" smtClean="0">
                <a:solidFill>
                  <a:schemeClr val="tx1">
                    <a:lumMod val="95000"/>
                    <a:lumOff val="5000"/>
                  </a:schemeClr>
                </a:solidFill>
                <a:latin typeface="Calibri" panose="020F0502020204030204" pitchFamily="34" charset="0"/>
                <a:cs typeface="Calibri" panose="020F0502020204030204" pitchFamily="34" charset="0"/>
              </a:rPr>
              <a:t>Plot</a:t>
            </a:r>
            <a:endParaRPr lang="en-US" altLang="en-US" sz="24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xmlns="" id="{CE5F436F-1A96-4325-02BD-81CE88A78B88}"/>
              </a:ext>
            </a:extLst>
          </p:cNvPr>
          <p:cNvSpPr>
            <a:spLocks noGrp="1"/>
          </p:cNvSpPr>
          <p:nvPr>
            <p:ph idx="1"/>
          </p:nvPr>
        </p:nvSpPr>
        <p:spPr>
          <a:xfrm>
            <a:off x="449035" y="1558925"/>
            <a:ext cx="5878285" cy="4532313"/>
          </a:xfrm>
        </p:spPr>
        <p:txBody>
          <a:bodyPr/>
          <a:lstStyle/>
          <a:p>
            <a:pPr marL="46037" indent="0" algn="just">
              <a:buNone/>
              <a:defRPr/>
            </a:pPr>
            <a:r>
              <a:rPr lang="en-US" sz="1800" dirty="0">
                <a:latin typeface="Times New Roman" panose="02020603050405020304" pitchFamily="18" charset="0"/>
                <a:cs typeface="Times New Roman" panose="02020603050405020304" pitchFamily="18" charset="0"/>
              </a:rPr>
              <a:t>A Scatter Plot is a fundamental two-dimensional data visualization tool used to analyze the relationship between two continuous numerical variables. </a:t>
            </a:r>
            <a:endParaRPr lang="en-US" sz="1800" dirty="0" smtClean="0">
              <a:latin typeface="Times New Roman" panose="02020603050405020304" pitchFamily="18" charset="0"/>
              <a:cs typeface="Times New Roman" panose="02020603050405020304" pitchFamily="18" charset="0"/>
            </a:endParaRPr>
          </a:p>
          <a:p>
            <a:pPr marL="46037" indent="0" algn="just">
              <a:buNone/>
              <a:defRPr/>
            </a:pPr>
            <a:r>
              <a:rPr lang="en-US" sz="1800" dirty="0" smtClean="0">
                <a:latin typeface="Times New Roman" panose="02020603050405020304" pitchFamily="18" charset="0"/>
                <a:cs typeface="Times New Roman" panose="02020603050405020304" pitchFamily="18" charset="0"/>
              </a:rPr>
              <a:t>By </a:t>
            </a:r>
            <a:r>
              <a:rPr lang="en-US" sz="1800" dirty="0">
                <a:latin typeface="Times New Roman" panose="02020603050405020304" pitchFamily="18" charset="0"/>
                <a:cs typeface="Times New Roman" panose="02020603050405020304" pitchFamily="18" charset="0"/>
              </a:rPr>
              <a:t>plotting individual data points along a horizontal </a:t>
            </a:r>
            <a:r>
              <a:rPr lang="en-US" sz="1800" dirty="0" smtClean="0">
                <a:latin typeface="Times New Roman" panose="02020603050405020304" pitchFamily="18" charset="0"/>
                <a:cs typeface="Times New Roman" panose="02020603050405020304" pitchFamily="18" charset="0"/>
              </a:rPr>
              <a:t>(</a:t>
            </a:r>
            <a:r>
              <a:rPr lang="en-US" sz="1800" b="1" dirty="0" smtClean="0">
                <a:latin typeface="Times New Roman" panose="02020603050405020304" pitchFamily="18" charset="0"/>
                <a:cs typeface="Times New Roman" panose="02020603050405020304" pitchFamily="18" charset="0"/>
              </a:rPr>
              <a:t>X</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and a vertical </a:t>
            </a:r>
            <a:r>
              <a:rPr lang="en-US" sz="1800" dirty="0" smtClean="0">
                <a:latin typeface="Times New Roman" panose="02020603050405020304" pitchFamily="18" charset="0"/>
                <a:cs typeface="Times New Roman" panose="02020603050405020304" pitchFamily="18" charset="0"/>
              </a:rPr>
              <a:t>(</a:t>
            </a:r>
            <a:r>
              <a:rPr lang="en-US" sz="1800" b="1" dirty="0" smtClean="0">
                <a:latin typeface="Times New Roman" panose="02020603050405020304" pitchFamily="18" charset="0"/>
                <a:cs typeface="Times New Roman" panose="02020603050405020304" pitchFamily="18" charset="0"/>
              </a:rPr>
              <a:t>Y</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axis, it allows data scientists to visually inspect the data for patterns, trends, correlations, and anomalies</a:t>
            </a:r>
            <a:r>
              <a:rPr lang="en-US" sz="1800" dirty="0" smtClean="0">
                <a:latin typeface="Times New Roman" panose="02020603050405020304" pitchFamily="18" charset="0"/>
                <a:cs typeface="Times New Roman" panose="02020603050405020304" pitchFamily="18" charset="0"/>
              </a:rPr>
              <a:t>.</a:t>
            </a:r>
          </a:p>
          <a:p>
            <a:pPr marL="46037" indent="0" algn="just">
              <a:buNone/>
              <a:defRPr/>
            </a:pPr>
            <a:r>
              <a:rPr lang="en-US" sz="1800" dirty="0">
                <a:latin typeface="Times New Roman" panose="02020603050405020304" pitchFamily="18" charset="0"/>
                <a:cs typeface="Times New Roman" panose="02020603050405020304" pitchFamily="18" charset="0"/>
              </a:rPr>
              <a:t>The Core </a:t>
            </a:r>
            <a:r>
              <a:rPr lang="en-US" sz="1800" dirty="0" smtClean="0">
                <a:latin typeface="Times New Roman" panose="02020603050405020304" pitchFamily="18" charset="0"/>
                <a:cs typeface="Times New Roman" panose="02020603050405020304" pitchFamily="18" charset="0"/>
              </a:rPr>
              <a:t>Components:</a:t>
            </a:r>
          </a:p>
          <a:p>
            <a:pPr marL="46037" indent="0" algn="just">
              <a:buNone/>
              <a:defRPr/>
            </a:pPr>
            <a:r>
              <a:rPr lang="en-US" sz="1800" b="1" dirty="0" smtClean="0">
                <a:latin typeface="Times New Roman" panose="02020603050405020304" pitchFamily="18" charset="0"/>
                <a:cs typeface="Times New Roman" panose="02020603050405020304" pitchFamily="18" charset="0"/>
              </a:rPr>
              <a:t>X-Axis </a:t>
            </a:r>
            <a:r>
              <a:rPr lang="en-US" sz="1800" b="1" dirty="0">
                <a:latin typeface="Times New Roman" panose="02020603050405020304" pitchFamily="18" charset="0"/>
                <a:cs typeface="Times New Roman" panose="02020603050405020304" pitchFamily="18" charset="0"/>
              </a:rPr>
              <a:t>(Horizontal): </a:t>
            </a:r>
            <a:r>
              <a:rPr lang="en-US" sz="1800" dirty="0">
                <a:latin typeface="Times New Roman" panose="02020603050405020304" pitchFamily="18" charset="0"/>
                <a:cs typeface="Times New Roman" panose="02020603050405020304" pitchFamily="18" charset="0"/>
              </a:rPr>
              <a:t>Typically represents the independent variable (predictor or explanatory variable</a:t>
            </a:r>
            <a:r>
              <a:rPr lang="en-US" sz="1800" dirty="0" smtClean="0">
                <a:latin typeface="Times New Roman" panose="02020603050405020304" pitchFamily="18" charset="0"/>
                <a:cs typeface="Times New Roman" panose="02020603050405020304" pitchFamily="18" charset="0"/>
              </a:rPr>
              <a:t>).</a:t>
            </a:r>
          </a:p>
          <a:p>
            <a:pPr marL="46037" indent="0" algn="just">
              <a:buNone/>
              <a:defRPr/>
            </a:pPr>
            <a:r>
              <a:rPr lang="en-US" sz="1800" b="1" dirty="0" smtClean="0">
                <a:latin typeface="Times New Roman" panose="02020603050405020304" pitchFamily="18" charset="0"/>
                <a:cs typeface="Times New Roman" panose="02020603050405020304" pitchFamily="18" charset="0"/>
              </a:rPr>
              <a:t>Y-Axis </a:t>
            </a:r>
            <a:r>
              <a:rPr lang="en-US" sz="1800" b="1" dirty="0">
                <a:latin typeface="Times New Roman" panose="02020603050405020304" pitchFamily="18" charset="0"/>
                <a:cs typeface="Times New Roman" panose="02020603050405020304" pitchFamily="18" charset="0"/>
              </a:rPr>
              <a:t>(Vertical): </a:t>
            </a:r>
            <a:r>
              <a:rPr lang="en-US" sz="1800" dirty="0">
                <a:latin typeface="Times New Roman" panose="02020603050405020304" pitchFamily="18" charset="0"/>
                <a:cs typeface="Times New Roman" panose="02020603050405020304" pitchFamily="18" charset="0"/>
              </a:rPr>
              <a:t>Typically represents the dependent variable (outcome or response variable</a:t>
            </a:r>
            <a:r>
              <a:rPr lang="en-US" sz="1800" dirty="0" smtClean="0">
                <a:latin typeface="Times New Roman" panose="02020603050405020304" pitchFamily="18" charset="0"/>
                <a:cs typeface="Times New Roman" panose="02020603050405020304" pitchFamily="18" charset="0"/>
              </a:rPr>
              <a:t>).</a:t>
            </a:r>
          </a:p>
          <a:p>
            <a:pPr marL="46037" indent="0" algn="just">
              <a:buNone/>
              <a:defRPr/>
            </a:pPr>
            <a:r>
              <a:rPr lang="en-US" sz="1800" b="1" dirty="0" smtClean="0">
                <a:latin typeface="Times New Roman" panose="02020603050405020304" pitchFamily="18" charset="0"/>
                <a:cs typeface="Times New Roman" panose="02020603050405020304" pitchFamily="18" charset="0"/>
              </a:rPr>
              <a:t>Data </a:t>
            </a:r>
            <a:r>
              <a:rPr lang="en-US" sz="1800" b="1" dirty="0">
                <a:latin typeface="Times New Roman" panose="02020603050405020304" pitchFamily="18" charset="0"/>
                <a:cs typeface="Times New Roman" panose="02020603050405020304" pitchFamily="18" charset="0"/>
              </a:rPr>
              <a:t>Points (Dots): </a:t>
            </a:r>
            <a:r>
              <a:rPr lang="en-US" sz="1800" dirty="0">
                <a:latin typeface="Times New Roman" panose="02020603050405020304" pitchFamily="18" charset="0"/>
                <a:cs typeface="Times New Roman" panose="02020603050405020304" pitchFamily="18" charset="0"/>
              </a:rPr>
              <a:t>Each marker on the graph represents a single observation in the dataset, uniquely positioned based on its coordinate pair </a:t>
            </a:r>
            <a:r>
              <a:rPr lang="en-US" sz="1800" dirty="0" smtClean="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x, y</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pic>
        <p:nvPicPr>
          <p:cNvPr id="9220" name="Picture 2" descr="Simple Linear Regression Using Python: Analysis of Years of Experience on  Salary Earned | by Wisnu Purnomo | Medium">
            <a:extLst>
              <a:ext uri="{FF2B5EF4-FFF2-40B4-BE49-F238E27FC236}">
                <a16:creationId xmlns:a16="http://schemas.microsoft.com/office/drawing/2014/main" xmlns="" id="{6B90F6D2-116F-33A9-64A6-D27C7ADC34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75" y="1333500"/>
            <a:ext cx="5149850" cy="392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Box 2">
            <a:extLst>
              <a:ext uri="{FF2B5EF4-FFF2-40B4-BE49-F238E27FC236}">
                <a16:creationId xmlns:a16="http://schemas.microsoft.com/office/drawing/2014/main" xmlns="" id="{D183074D-77EC-97E4-D65C-FAE720F20093}"/>
              </a:ext>
            </a:extLst>
          </p:cNvPr>
          <p:cNvSpPr txBox="1">
            <a:spLocks noChangeArrowheads="1"/>
          </p:cNvSpPr>
          <p:nvPr/>
        </p:nvSpPr>
        <p:spPr bwMode="auto">
          <a:xfrm>
            <a:off x="7159625" y="5413375"/>
            <a:ext cx="4357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000"/>
              <a:t>https://medium.com/@wisnupo/simple-linear-regression-using-python-analysis-of-years-of-experience-on-salary-earned-192ce4bdf78c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E537199D-F3D2-5C6E-CC4B-06EB8FE12390}"/>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Scatter </a:t>
            </a:r>
            <a:r>
              <a:rPr lang="en-US" altLang="en-US" sz="2400" b="1" dirty="0" smtClean="0">
                <a:solidFill>
                  <a:schemeClr val="tx1">
                    <a:lumMod val="95000"/>
                    <a:lumOff val="5000"/>
                  </a:schemeClr>
                </a:solidFill>
                <a:latin typeface="Calibri" panose="020F0502020204030204" pitchFamily="34" charset="0"/>
                <a:cs typeface="Calibri" panose="020F0502020204030204" pitchFamily="34" charset="0"/>
              </a:rPr>
              <a:t>Plot</a:t>
            </a:r>
            <a:endParaRPr lang="en-US" altLang="en-US" sz="24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xmlns="" id="{CE5F436F-1A96-4325-02BD-81CE88A78B88}"/>
              </a:ext>
            </a:extLst>
          </p:cNvPr>
          <p:cNvSpPr>
            <a:spLocks noGrp="1"/>
          </p:cNvSpPr>
          <p:nvPr>
            <p:ph idx="1"/>
          </p:nvPr>
        </p:nvSpPr>
        <p:spPr>
          <a:xfrm>
            <a:off x="449035" y="1265465"/>
            <a:ext cx="10572751" cy="4825774"/>
          </a:xfrm>
        </p:spPr>
        <p:txBody>
          <a:bodyPr/>
          <a:lstStyle/>
          <a:p>
            <a:pPr marL="46037" indent="0">
              <a:buNone/>
            </a:pPr>
            <a:r>
              <a:rPr lang="en-US" sz="1800" b="1" dirty="0">
                <a:latin typeface="Times New Roman" pitchFamily="18" charset="0"/>
                <a:cs typeface="Times New Roman" pitchFamily="18" charset="0"/>
              </a:rPr>
              <a:t>What Can a Scatter Plot Reveal?</a:t>
            </a:r>
          </a:p>
          <a:p>
            <a:pPr marL="46037" indent="0">
              <a:buNone/>
            </a:pPr>
            <a:r>
              <a:rPr lang="en-US" sz="1800" b="1" dirty="0">
                <a:latin typeface="Times New Roman" pitchFamily="18" charset="0"/>
                <a:cs typeface="Times New Roman" pitchFamily="18" charset="0"/>
              </a:rPr>
              <a:t>Direction of Relationship</a:t>
            </a:r>
            <a:r>
              <a:rPr lang="en-US" sz="1800" dirty="0">
                <a:latin typeface="Times New Roman" pitchFamily="18" charset="0"/>
                <a:cs typeface="Times New Roman" pitchFamily="18" charset="0"/>
              </a:rPr>
              <a:t> </a:t>
            </a:r>
          </a:p>
          <a:p>
            <a:pPr lvl="1"/>
            <a:r>
              <a:rPr lang="en-US" b="1" dirty="0">
                <a:latin typeface="Times New Roman" pitchFamily="18" charset="0"/>
                <a:cs typeface="Times New Roman" pitchFamily="18" charset="0"/>
              </a:rPr>
              <a:t>Positive Correlation:</a:t>
            </a:r>
            <a:r>
              <a:rPr lang="en-US" dirty="0">
                <a:latin typeface="Times New Roman" pitchFamily="18" charset="0"/>
                <a:cs typeface="Times New Roman" pitchFamily="18" charset="0"/>
              </a:rPr>
              <a:t> Both variables increase together. </a:t>
            </a:r>
          </a:p>
          <a:p>
            <a:pPr lvl="1"/>
            <a:r>
              <a:rPr lang="en-US" b="1" dirty="0">
                <a:latin typeface="Times New Roman" pitchFamily="18" charset="0"/>
                <a:cs typeface="Times New Roman" pitchFamily="18" charset="0"/>
              </a:rPr>
              <a:t>Negative Correlation:</a:t>
            </a:r>
            <a:r>
              <a:rPr lang="en-US" dirty="0">
                <a:latin typeface="Times New Roman" pitchFamily="18" charset="0"/>
                <a:cs typeface="Times New Roman" pitchFamily="18" charset="0"/>
              </a:rPr>
              <a:t> One variable increases while the other decreases. </a:t>
            </a:r>
          </a:p>
          <a:p>
            <a:pPr lvl="1"/>
            <a:r>
              <a:rPr lang="en-US" b="1" dirty="0">
                <a:latin typeface="Times New Roman" pitchFamily="18" charset="0"/>
                <a:cs typeface="Times New Roman" pitchFamily="18" charset="0"/>
              </a:rPr>
              <a:t>No Correlation:</a:t>
            </a:r>
            <a:r>
              <a:rPr lang="en-US" dirty="0">
                <a:latin typeface="Times New Roman" pitchFamily="18" charset="0"/>
                <a:cs typeface="Times New Roman" pitchFamily="18" charset="0"/>
              </a:rPr>
              <a:t> No clear relationship between variables. </a:t>
            </a:r>
          </a:p>
          <a:p>
            <a:pPr marL="46037" indent="0">
              <a:buNone/>
            </a:pPr>
            <a:r>
              <a:rPr lang="en-US" sz="1800" b="1" dirty="0">
                <a:latin typeface="Times New Roman" pitchFamily="18" charset="0"/>
                <a:cs typeface="Times New Roman" pitchFamily="18" charset="0"/>
              </a:rPr>
              <a:t>Strength of Relationship</a:t>
            </a:r>
            <a:r>
              <a:rPr lang="en-US" sz="1800" dirty="0">
                <a:latin typeface="Times New Roman" pitchFamily="18" charset="0"/>
                <a:cs typeface="Times New Roman" pitchFamily="18" charset="0"/>
              </a:rPr>
              <a:t> </a:t>
            </a:r>
          </a:p>
          <a:p>
            <a:pPr lvl="1"/>
            <a:r>
              <a:rPr lang="en-US" sz="1800" b="1" dirty="0">
                <a:latin typeface="Times New Roman" pitchFamily="18" charset="0"/>
                <a:cs typeface="Times New Roman" pitchFamily="18" charset="0"/>
              </a:rPr>
              <a:t>Strong:</a:t>
            </a:r>
            <a:r>
              <a:rPr lang="en-US" sz="1800" dirty="0">
                <a:latin typeface="Times New Roman" pitchFamily="18" charset="0"/>
                <a:cs typeface="Times New Roman" pitchFamily="18" charset="0"/>
              </a:rPr>
              <a:t> Data points are closely clustered around a trend. </a:t>
            </a:r>
          </a:p>
          <a:p>
            <a:pPr lvl="1"/>
            <a:r>
              <a:rPr lang="en-US" sz="1800" b="1" dirty="0">
                <a:latin typeface="Times New Roman" pitchFamily="18" charset="0"/>
                <a:cs typeface="Times New Roman" pitchFamily="18" charset="0"/>
              </a:rPr>
              <a:t>Weak:</a:t>
            </a:r>
            <a:r>
              <a:rPr lang="en-US" sz="1800" dirty="0">
                <a:latin typeface="Times New Roman" pitchFamily="18" charset="0"/>
                <a:cs typeface="Times New Roman" pitchFamily="18" charset="0"/>
              </a:rPr>
              <a:t> Data points are widely scattered. </a:t>
            </a:r>
          </a:p>
          <a:p>
            <a:pPr marL="46037" indent="0">
              <a:buNone/>
            </a:pPr>
            <a:r>
              <a:rPr lang="en-US" sz="1800" b="1" dirty="0">
                <a:latin typeface="Times New Roman" pitchFamily="18" charset="0"/>
                <a:cs typeface="Times New Roman" pitchFamily="18" charset="0"/>
              </a:rPr>
              <a:t>Type of Relationship</a:t>
            </a:r>
            <a:r>
              <a:rPr lang="en-US" sz="1800" dirty="0">
                <a:latin typeface="Times New Roman" pitchFamily="18" charset="0"/>
                <a:cs typeface="Times New Roman" pitchFamily="18" charset="0"/>
              </a:rPr>
              <a:t> </a:t>
            </a:r>
          </a:p>
          <a:p>
            <a:pPr lvl="1"/>
            <a:r>
              <a:rPr lang="en-US" sz="1800" b="1" dirty="0">
                <a:latin typeface="Times New Roman" pitchFamily="18" charset="0"/>
                <a:cs typeface="Times New Roman" pitchFamily="18" charset="0"/>
              </a:rPr>
              <a:t>Linear:</a:t>
            </a:r>
            <a:r>
              <a:rPr lang="en-US" sz="1800" dirty="0">
                <a:latin typeface="Times New Roman" pitchFamily="18" charset="0"/>
                <a:cs typeface="Times New Roman" pitchFamily="18" charset="0"/>
              </a:rPr>
              <a:t> Relationship follows a straight-line pattern. </a:t>
            </a:r>
          </a:p>
          <a:p>
            <a:pPr lvl="1"/>
            <a:r>
              <a:rPr lang="en-US" sz="1800" b="1" dirty="0">
                <a:latin typeface="Times New Roman" pitchFamily="18" charset="0"/>
                <a:cs typeface="Times New Roman" pitchFamily="18" charset="0"/>
              </a:rPr>
              <a:t>Non-Linear:</a:t>
            </a:r>
            <a:r>
              <a:rPr lang="en-US" sz="1800" dirty="0">
                <a:latin typeface="Times New Roman" pitchFamily="18" charset="0"/>
                <a:cs typeface="Times New Roman" pitchFamily="18" charset="0"/>
              </a:rPr>
              <a:t> Relationship follows a curve or other pattern. </a:t>
            </a:r>
          </a:p>
          <a:p>
            <a:r>
              <a:rPr lang="en-US" sz="1800" b="1" dirty="0">
                <a:latin typeface="Times New Roman" pitchFamily="18" charset="0"/>
                <a:cs typeface="Times New Roman" pitchFamily="18" charset="0"/>
              </a:rPr>
              <a:t>Anomalies and Hidden Patterns</a:t>
            </a:r>
            <a:r>
              <a:rPr lang="en-US" sz="1800" dirty="0">
                <a:latin typeface="Times New Roman" pitchFamily="18" charset="0"/>
                <a:cs typeface="Times New Roman" pitchFamily="18" charset="0"/>
              </a:rPr>
              <a:t> </a:t>
            </a:r>
          </a:p>
          <a:p>
            <a:pPr lvl="1"/>
            <a:r>
              <a:rPr lang="en-US" sz="1800" b="1" dirty="0">
                <a:latin typeface="Times New Roman" pitchFamily="18" charset="0"/>
                <a:cs typeface="Times New Roman" pitchFamily="18" charset="0"/>
              </a:rPr>
              <a:t>Outliers:</a:t>
            </a:r>
            <a:r>
              <a:rPr lang="en-US" sz="1800" dirty="0">
                <a:latin typeface="Times New Roman" pitchFamily="18" charset="0"/>
                <a:cs typeface="Times New Roman" pitchFamily="18" charset="0"/>
              </a:rPr>
              <a:t> Unusual observations far from the main data cluster. </a:t>
            </a:r>
          </a:p>
          <a:p>
            <a:pPr lvl="1"/>
            <a:r>
              <a:rPr lang="en-US" sz="1800" b="1" dirty="0">
                <a:latin typeface="Times New Roman" pitchFamily="18" charset="0"/>
                <a:cs typeface="Times New Roman" pitchFamily="18" charset="0"/>
              </a:rPr>
              <a:t>Clusters/Subgroups:</a:t>
            </a:r>
            <a:r>
              <a:rPr lang="en-US" sz="1800" dirty="0">
                <a:latin typeface="Times New Roman" pitchFamily="18" charset="0"/>
                <a:cs typeface="Times New Roman" pitchFamily="18" charset="0"/>
              </a:rPr>
              <a:t> Distinct groups of observations that may indicate different categories or behaviors.</a:t>
            </a:r>
          </a:p>
        </p:txBody>
      </p:sp>
    </p:spTree>
    <p:extLst>
      <p:ext uri="{BB962C8B-B14F-4D97-AF65-F5344CB8AC3E}">
        <p14:creationId xmlns:p14="http://schemas.microsoft.com/office/powerpoint/2010/main" val="3041521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8FCA4636-A836-B1C4-82C3-AFAE745ABCED}"/>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a:t>
            </a:r>
            <a:r>
              <a:rPr lang="en-US" altLang="en-US" sz="2400" b="1" dirty="0" smtClean="0">
                <a:solidFill>
                  <a:schemeClr val="tx1">
                    <a:lumMod val="95000"/>
                    <a:lumOff val="5000"/>
                  </a:schemeClr>
                </a:solidFill>
                <a:latin typeface="Calibri" panose="020F0502020204030204" pitchFamily="34" charset="0"/>
                <a:cs typeface="Calibri" panose="020F0502020204030204" pitchFamily="34" charset="0"/>
              </a:rPr>
              <a:t>Bubble Chart</a:t>
            </a:r>
            <a:endParaRPr lang="en-US" altLang="en-US" sz="24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xmlns="" id="{6650D00E-8C12-62D9-E950-330AE48AC7CF}"/>
              </a:ext>
            </a:extLst>
          </p:cNvPr>
          <p:cNvSpPr>
            <a:spLocks noGrp="1"/>
          </p:cNvSpPr>
          <p:nvPr>
            <p:ph idx="1"/>
          </p:nvPr>
        </p:nvSpPr>
        <p:spPr>
          <a:xfrm>
            <a:off x="685801" y="1426844"/>
            <a:ext cx="10472056" cy="5095876"/>
          </a:xfrm>
        </p:spPr>
        <p:txBody>
          <a:bodyPr/>
          <a:lstStyle/>
          <a:p>
            <a:pPr marL="46037" indent="0" algn="just">
              <a:buFont typeface="Corbel" panose="020B0503020204020204" pitchFamily="34" charset="0"/>
              <a:buNone/>
              <a:defRPr/>
            </a:pPr>
            <a:r>
              <a:rPr lang="en-US" sz="1800" dirty="0" smtClean="0">
                <a:latin typeface="Times New Roman" panose="02020603050405020304" pitchFamily="18" charset="0"/>
                <a:cs typeface="Times New Roman" panose="02020603050405020304" pitchFamily="18" charset="0"/>
              </a:rPr>
              <a:t>A </a:t>
            </a:r>
            <a:r>
              <a:rPr lang="en-US" sz="1800" dirty="0">
                <a:latin typeface="Times New Roman" panose="02020603050405020304" pitchFamily="18" charset="0"/>
                <a:cs typeface="Times New Roman" panose="02020603050405020304" pitchFamily="18" charset="0"/>
              </a:rPr>
              <a:t>Bubble Chart is an extension of the classic scatter plot. While a standard scatter plot compares two numerical variables on the X and Y axes, a bubble chart introduces a third (and sometimes fourth) variable by adjusting the size and color of the data points.</a:t>
            </a:r>
          </a:p>
          <a:p>
            <a:pPr marL="46037" indent="0" algn="just">
              <a:buFont typeface="Corbel" panose="020B0503020204020204" pitchFamily="34" charset="0"/>
              <a:buNone/>
              <a:defRPr/>
            </a:pPr>
            <a:r>
              <a:rPr lang="en-US" sz="1800" dirty="0">
                <a:latin typeface="Times New Roman" panose="02020603050405020304" pitchFamily="18" charset="0"/>
                <a:cs typeface="Times New Roman" panose="02020603050405020304" pitchFamily="18" charset="0"/>
              </a:rPr>
              <a:t>This allows to visualize three-dimensional or four-dimensional data on a flat, two-dimensional surface, making it an excellent tool for identifying complex relationships and clusters within your data.</a:t>
            </a:r>
          </a:p>
          <a:p>
            <a:pPr marL="46037" indent="0" algn="just">
              <a:buFont typeface="Corbel" panose="020B0503020204020204" pitchFamily="34" charset="0"/>
              <a:buNone/>
              <a:defRPr/>
            </a:pPr>
            <a:r>
              <a:rPr lang="en-US" sz="1800" dirty="0">
                <a:latin typeface="Times New Roman" panose="02020603050405020304" pitchFamily="18" charset="0"/>
                <a:cs typeface="Times New Roman" panose="02020603050405020304" pitchFamily="18" charset="0"/>
              </a:rPr>
              <a:t>A bubble chart maps variables to four specific visual attributes:</a:t>
            </a:r>
          </a:p>
          <a:p>
            <a:pPr algn="just">
              <a:defRPr/>
            </a:pPr>
            <a:r>
              <a:rPr lang="en-US" sz="1800" dirty="0">
                <a:latin typeface="Times New Roman" panose="02020603050405020304" pitchFamily="18" charset="0"/>
                <a:cs typeface="Times New Roman" panose="02020603050405020304" pitchFamily="18" charset="0"/>
              </a:rPr>
              <a:t>X-Axis (Horizontal): Represents the first continuous numerical variable (e.g., a country's GDP).</a:t>
            </a:r>
          </a:p>
          <a:p>
            <a:pPr algn="just">
              <a:defRPr/>
            </a:pPr>
            <a:r>
              <a:rPr lang="en-US" sz="1800" dirty="0">
                <a:latin typeface="Times New Roman" panose="02020603050405020304" pitchFamily="18" charset="0"/>
                <a:cs typeface="Times New Roman" panose="02020603050405020304" pitchFamily="18" charset="0"/>
              </a:rPr>
              <a:t>Y-Axis (Vertical): Represents the second continuous numerical variable (e.g., life expectancy).</a:t>
            </a:r>
          </a:p>
          <a:p>
            <a:pPr algn="just">
              <a:defRPr/>
            </a:pPr>
            <a:r>
              <a:rPr lang="en-US" sz="1800" dirty="0">
                <a:latin typeface="Times New Roman" panose="02020603050405020304" pitchFamily="18" charset="0"/>
                <a:cs typeface="Times New Roman" panose="02020603050405020304" pitchFamily="18" charset="0"/>
              </a:rPr>
              <a:t>Bubble Size (Area): Represents the third numerical variable (e.g., total population). Crucial Rule: The area of the bubble must be proportional to the value, not the radius or diameter, to prevent visually exaggerating the differences.</a:t>
            </a:r>
          </a:p>
          <a:p>
            <a:pPr algn="just">
              <a:defRPr/>
            </a:pPr>
            <a:r>
              <a:rPr lang="en-US" sz="1800" dirty="0">
                <a:latin typeface="Times New Roman" panose="02020603050405020304" pitchFamily="18" charset="0"/>
                <a:cs typeface="Times New Roman" panose="02020603050405020304" pitchFamily="18" charset="0"/>
              </a:rPr>
              <a:t>Bubble Color/Hue (Optional): Represents a fourth variable. This is often a categorical variable used to group the bubbles (e.g., Continent) or another continuous metric.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357E551-7AE5-851C-EC97-88D3F6E6923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xmlns="" id="{2D3A0060-6F22-BC11-C4B7-815E90EC8717}"/>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smtClean="0">
                <a:solidFill>
                  <a:schemeClr val="tx1">
                    <a:lumMod val="95000"/>
                    <a:lumOff val="5000"/>
                  </a:schemeClr>
                </a:solidFill>
                <a:latin typeface="Calibri" panose="020F0502020204030204" pitchFamily="34" charset="0"/>
                <a:cs typeface="Calibri" panose="020F0502020204030204" pitchFamily="34" charset="0"/>
              </a:rPr>
              <a:t>Data </a:t>
            </a: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Visualization: Bubble Chart</a:t>
            </a:r>
            <a:endParaRPr lang="en-US" altLang="en-US" sz="2400" b="1" dirty="0">
              <a:solidFill>
                <a:schemeClr val="tx1">
                  <a:lumMod val="95000"/>
                  <a:lumOff val="5000"/>
                </a:schemeClr>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xmlns="" id="{59D4CA16-63CA-1E84-C7BB-417E9E0658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104" y="1236471"/>
            <a:ext cx="10142734" cy="5284808"/>
          </a:xfrm>
          <a:prstGeom prst="rect">
            <a:avLst/>
          </a:prstGeom>
        </p:spPr>
      </p:pic>
    </p:spTree>
    <p:extLst>
      <p:ext uri="{BB962C8B-B14F-4D97-AF65-F5344CB8AC3E}">
        <p14:creationId xmlns:p14="http://schemas.microsoft.com/office/powerpoint/2010/main" val="3983358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F0AC6414-631D-8794-EC5D-FF73DDD3E348}"/>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a:t>
            </a:r>
            <a:r>
              <a:rPr lang="en-US" altLang="en-US" sz="2400" b="1" dirty="0" smtClean="0">
                <a:solidFill>
                  <a:schemeClr val="tx1">
                    <a:lumMod val="95000"/>
                    <a:lumOff val="5000"/>
                  </a:schemeClr>
                </a:solidFill>
                <a:latin typeface="Calibri" panose="020F0502020204030204" pitchFamily="34" charset="0"/>
                <a:cs typeface="Calibri" panose="020F0502020204030204" pitchFamily="34" charset="0"/>
              </a:rPr>
              <a:t>Heat Map</a:t>
            </a:r>
            <a:endParaRPr lang="en-US" altLang="en-US" sz="24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xmlns="" id="{1F8B2135-087C-7742-9301-E92097F8D334}"/>
              </a:ext>
            </a:extLst>
          </p:cNvPr>
          <p:cNvSpPr>
            <a:spLocks noGrp="1"/>
          </p:cNvSpPr>
          <p:nvPr>
            <p:ph idx="1"/>
          </p:nvPr>
        </p:nvSpPr>
        <p:spPr>
          <a:xfrm>
            <a:off x="1041401" y="1558924"/>
            <a:ext cx="8884920" cy="4506596"/>
          </a:xfrm>
        </p:spPr>
        <p:txBody>
          <a:bodyPr/>
          <a:lstStyle/>
          <a:p>
            <a:pPr marL="46037" indent="0" algn="just">
              <a:buFont typeface="Corbel" panose="020B0503020204020204" pitchFamily="34" charset="0"/>
              <a:buNone/>
              <a:defRPr/>
            </a:pPr>
            <a:r>
              <a:rPr lang="en-US" sz="1800" dirty="0" smtClean="0">
                <a:latin typeface="Times New Roman" panose="02020603050405020304" pitchFamily="18" charset="0"/>
                <a:cs typeface="Times New Roman" panose="02020603050405020304" pitchFamily="18" charset="0"/>
              </a:rPr>
              <a:t>A </a:t>
            </a:r>
            <a:r>
              <a:rPr lang="en-US" sz="1800" dirty="0">
                <a:latin typeface="Times New Roman" panose="02020603050405020304" pitchFamily="18" charset="0"/>
                <a:cs typeface="Times New Roman" panose="02020603050405020304" pitchFamily="18" charset="0"/>
              </a:rPr>
              <a:t>Heatmap is a two-dimensional visual representation of data where individual values contained in a matrix are represented as colors.</a:t>
            </a:r>
          </a:p>
          <a:p>
            <a:pPr marL="46037" indent="0" algn="just">
              <a:buFont typeface="Corbel" panose="020B0503020204020204" pitchFamily="34" charset="0"/>
              <a:buNone/>
              <a:defRPr/>
            </a:pPr>
            <a:r>
              <a:rPr lang="en-US" sz="1800" dirty="0">
                <a:latin typeface="Times New Roman" panose="02020603050405020304" pitchFamily="18" charset="0"/>
                <a:cs typeface="Times New Roman" panose="02020603050405020304" pitchFamily="18" charset="0"/>
              </a:rPr>
              <a:t>In data science and statistics, heatmaps are primarily used to plot Correlation Matrices during Exploratory Data Analysis (EDA) or to visualize cross-tabulated frequencies between categorical variables. </a:t>
            </a:r>
          </a:p>
          <a:p>
            <a:pPr marL="46037" indent="0" algn="just">
              <a:buFont typeface="Corbel" panose="020B0503020204020204" pitchFamily="34" charset="0"/>
              <a:buNone/>
              <a:defRPr/>
            </a:pPr>
            <a:r>
              <a:rPr lang="en-US" sz="1800" dirty="0">
                <a:latin typeface="Times New Roman" panose="02020603050405020304" pitchFamily="18" charset="0"/>
                <a:cs typeface="Times New Roman" panose="02020603050405020304" pitchFamily="18" charset="0"/>
              </a:rPr>
              <a:t>The primary goal is to provide an immediate visual summary of dense numerical tables, leveraging human color perception to spot hot spots, cold spots, and trends at a glance.</a:t>
            </a:r>
          </a:p>
          <a:p>
            <a:pPr marL="46037" indent="0" algn="just">
              <a:buFont typeface="Corbel" panose="020B0503020204020204" pitchFamily="34" charset="0"/>
              <a:buNone/>
              <a:defRPr/>
            </a:pPr>
            <a:r>
              <a:rPr lang="en-US" sz="1800" dirty="0">
                <a:latin typeface="Times New Roman" panose="02020603050405020304" pitchFamily="18" charset="0"/>
                <a:cs typeface="Times New Roman" panose="02020603050405020304" pitchFamily="18" charset="0"/>
              </a:rPr>
              <a:t>The shading or saturation of a cell indicates the magnitude of its value. Usually, a clear color scale gradient (e.g., dark blue for low values to bright red for high values) is provided as a reference.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2121BB-40DE-7883-8897-90185804FBF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xmlns="" id="{1C897077-543C-E8F1-5865-D1829F8E2173}"/>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Heat Map</a:t>
            </a:r>
            <a:endParaRPr lang="en-US" altLang="en-US" sz="2400" b="1" dirty="0">
              <a:solidFill>
                <a:schemeClr val="tx1">
                  <a:lumMod val="95000"/>
                  <a:lumOff val="5000"/>
                </a:schemeClr>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xmlns="" id="{C06517DA-C828-B822-84A8-4C59E00CED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550659"/>
            <a:ext cx="6798276" cy="4675703"/>
          </a:xfrm>
          <a:prstGeom prst="rect">
            <a:avLst/>
          </a:prstGeom>
        </p:spPr>
      </p:pic>
    </p:spTree>
    <p:extLst>
      <p:ext uri="{BB962C8B-B14F-4D97-AF65-F5344CB8AC3E}">
        <p14:creationId xmlns:p14="http://schemas.microsoft.com/office/powerpoint/2010/main" val="764149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BBBC3C50-8770-2DBA-3284-250B71AE559A}"/>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a:t>
            </a:r>
            <a:r>
              <a:rPr lang="en-US" altLang="en-US" sz="2400" b="1" dirty="0" smtClean="0">
                <a:solidFill>
                  <a:schemeClr val="tx1">
                    <a:lumMod val="95000"/>
                    <a:lumOff val="5000"/>
                  </a:schemeClr>
                </a:solidFill>
                <a:latin typeface="Calibri" panose="020F0502020204030204" pitchFamily="34" charset="0"/>
                <a:cs typeface="Calibri" panose="020F0502020204030204" pitchFamily="34" charset="0"/>
              </a:rPr>
              <a:t>Histogram</a:t>
            </a:r>
            <a:endParaRPr lang="en-US" altLang="en-US" sz="24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16387" name="Content Placeholder 3">
            <a:extLst>
              <a:ext uri="{FF2B5EF4-FFF2-40B4-BE49-F238E27FC236}">
                <a16:creationId xmlns:a16="http://schemas.microsoft.com/office/drawing/2014/main" xmlns="" id="{8113A449-828B-AEE8-D544-32EF38B4FF9A}"/>
              </a:ext>
            </a:extLst>
          </p:cNvPr>
          <p:cNvSpPr>
            <a:spLocks noGrp="1"/>
          </p:cNvSpPr>
          <p:nvPr>
            <p:ph idx="1"/>
          </p:nvPr>
        </p:nvSpPr>
        <p:spPr>
          <a:xfrm>
            <a:off x="400050" y="1558925"/>
            <a:ext cx="5772151" cy="2490562"/>
          </a:xfrm>
        </p:spPr>
        <p:txBody>
          <a:bodyPr/>
          <a:lstStyle/>
          <a:p>
            <a:pPr marL="44450" indent="0" algn="just">
              <a:buNone/>
            </a:pPr>
            <a:r>
              <a:rPr lang="en-US" altLang="en-US" sz="1800" dirty="0">
                <a:latin typeface="Times New Roman" panose="02020603050405020304" pitchFamily="18" charset="0"/>
                <a:cs typeface="Times New Roman" panose="02020603050405020304" pitchFamily="18" charset="0"/>
              </a:rPr>
              <a:t>A Histogram is a fundamental data visualization tool used in statistics and data science to show the distribution of a continuous, numerical variable</a:t>
            </a:r>
            <a:r>
              <a:rPr lang="en-US" altLang="en-US" sz="1800" dirty="0" smtClean="0">
                <a:latin typeface="Times New Roman" panose="02020603050405020304" pitchFamily="18" charset="0"/>
                <a:cs typeface="Times New Roman" panose="02020603050405020304" pitchFamily="18" charset="0"/>
              </a:rPr>
              <a:t>.</a:t>
            </a:r>
          </a:p>
          <a:p>
            <a:pPr marL="44450" indent="0" algn="just">
              <a:buNone/>
            </a:pPr>
            <a:r>
              <a:rPr lang="en-US" altLang="en-US" sz="1800" dirty="0" smtClean="0">
                <a:latin typeface="Times New Roman" panose="02020603050405020304" pitchFamily="18" charset="0"/>
                <a:cs typeface="Times New Roman" panose="02020603050405020304" pitchFamily="18" charset="0"/>
              </a:rPr>
              <a:t>At </a:t>
            </a:r>
            <a:r>
              <a:rPr lang="en-US" altLang="en-US" sz="1800" dirty="0">
                <a:latin typeface="Times New Roman" panose="02020603050405020304" pitchFamily="18" charset="0"/>
                <a:cs typeface="Times New Roman" panose="02020603050405020304" pitchFamily="18" charset="0"/>
              </a:rPr>
              <a:t>first glance, a histogram looks very similar to a bar chart. However, while a bar chart compares discrete, categorical groups (like countries or products), a histogram takes a continuous range of numbers (like heights, weights, or exam scores) and splits them into consecutive, non-overlapping intervals called bins.</a:t>
            </a:r>
            <a:endParaRPr lang="en-US" altLang="en-US" sz="1600" dirty="0">
              <a:latin typeface="Times New Roman" panose="02020603050405020304" pitchFamily="18" charset="0"/>
              <a:cs typeface="Times New Roman" panose="02020603050405020304" pitchFamily="18" charset="0"/>
            </a:endParaRPr>
          </a:p>
        </p:txBody>
      </p:sp>
      <p:pic>
        <p:nvPicPr>
          <p:cNvPr id="16388" name="Picture 2" descr="What is a Histogram Chart? A Comprehensive Guide">
            <a:extLst>
              <a:ext uri="{FF2B5EF4-FFF2-40B4-BE49-F238E27FC236}">
                <a16:creationId xmlns:a16="http://schemas.microsoft.com/office/drawing/2014/main" xmlns="" id="{F6DD39FA-0FA6-55FC-1041-C88296D31F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27370" y="593954"/>
            <a:ext cx="4727121" cy="302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Rectangle 2">
            <a:extLst>
              <a:ext uri="{FF2B5EF4-FFF2-40B4-BE49-F238E27FC236}">
                <a16:creationId xmlns:a16="http://schemas.microsoft.com/office/drawing/2014/main" xmlns="" id="{23034011-C411-DE4E-5B8C-3F8D4395DA15}"/>
              </a:ext>
            </a:extLst>
          </p:cNvPr>
          <p:cNvSpPr>
            <a:spLocks noChangeArrowheads="1"/>
          </p:cNvSpPr>
          <p:nvPr/>
        </p:nvSpPr>
        <p:spPr bwMode="auto">
          <a:xfrm>
            <a:off x="7731124" y="3618010"/>
            <a:ext cx="28733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000" dirty="0"/>
              <a:t>https://www.appliedaicourse.com/blog/historgam/</a:t>
            </a:r>
          </a:p>
        </p:txBody>
      </p:sp>
      <p:sp>
        <p:nvSpPr>
          <p:cNvPr id="2" name="Rectangle 1"/>
          <p:cNvSpPr/>
          <p:nvPr/>
        </p:nvSpPr>
        <p:spPr>
          <a:xfrm>
            <a:off x="427262" y="4087897"/>
            <a:ext cx="11027229" cy="2031325"/>
          </a:xfrm>
          <a:prstGeom prst="rect">
            <a:avLst/>
          </a:prstGeom>
        </p:spPr>
        <p:txBody>
          <a:bodyPr wrap="square">
            <a:spAutoFit/>
          </a:bodyPr>
          <a:lstStyle/>
          <a:p>
            <a:pPr algn="just"/>
            <a:r>
              <a:rPr lang="en-US" b="1" dirty="0">
                <a:latin typeface="Times New Roman" pitchFamily="18" charset="0"/>
                <a:cs typeface="Times New Roman" pitchFamily="18" charset="0"/>
              </a:rPr>
              <a:t>Core Components of a </a:t>
            </a:r>
            <a:r>
              <a:rPr lang="en-US" b="1" dirty="0" smtClean="0">
                <a:latin typeface="Times New Roman" pitchFamily="18" charset="0"/>
                <a:cs typeface="Times New Roman" pitchFamily="18" charset="0"/>
              </a:rPr>
              <a:t>Histogram</a:t>
            </a:r>
          </a:p>
          <a:p>
            <a:pPr algn="just"/>
            <a:r>
              <a:rPr lang="en-US" b="1" dirty="0" smtClean="0">
                <a:latin typeface="Times New Roman" pitchFamily="18" charset="0"/>
                <a:cs typeface="Times New Roman" pitchFamily="18" charset="0"/>
              </a:rPr>
              <a:t>The </a:t>
            </a:r>
            <a:r>
              <a:rPr lang="en-US" b="1" dirty="0">
                <a:latin typeface="Times New Roman" pitchFamily="18" charset="0"/>
                <a:cs typeface="Times New Roman" pitchFamily="18" charset="0"/>
              </a:rPr>
              <a:t>X-Axis </a:t>
            </a:r>
            <a:r>
              <a:rPr lang="en-US" dirty="0">
                <a:latin typeface="Times New Roman" pitchFamily="18" charset="0"/>
                <a:cs typeface="Times New Roman" pitchFamily="18" charset="0"/>
              </a:rPr>
              <a:t>(Continuous Scale): Represents the range of the numerical feature being analyzed. This axis is divided into equal-sized intervals (bins</a:t>
            </a:r>
            <a:r>
              <a:rPr lang="en-US"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The </a:t>
            </a:r>
            <a:r>
              <a:rPr lang="en-US" b="1" dirty="0">
                <a:latin typeface="Times New Roman" pitchFamily="18" charset="0"/>
                <a:cs typeface="Times New Roman" pitchFamily="18" charset="0"/>
              </a:rPr>
              <a:t>Y-Axis </a:t>
            </a:r>
            <a:r>
              <a:rPr lang="en-US" dirty="0">
                <a:latin typeface="Times New Roman" pitchFamily="18" charset="0"/>
                <a:cs typeface="Times New Roman" pitchFamily="18" charset="0"/>
              </a:rPr>
              <a:t>(Frequency/Count): Represents the number of data points or observations that fall within each specific bin. Alternatively, it can display density or percentages</a:t>
            </a:r>
            <a:r>
              <a:rPr lang="en-US"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The </a:t>
            </a:r>
            <a:r>
              <a:rPr lang="en-US" b="1" dirty="0">
                <a:latin typeface="Times New Roman" pitchFamily="18" charset="0"/>
                <a:cs typeface="Times New Roman" pitchFamily="18" charset="0"/>
              </a:rPr>
              <a:t>Bars: </a:t>
            </a:r>
            <a:r>
              <a:rPr lang="en-US" dirty="0">
                <a:latin typeface="Times New Roman" pitchFamily="18" charset="0"/>
                <a:cs typeface="Times New Roman" pitchFamily="18" charset="0"/>
              </a:rPr>
              <a:t>The height of each bar corresponds to the frequency of data points within that bin. Crucially, there are no gaps between the bars of a histogram. This lack of space visually signifies that the underlying data scale is continuous.</a:t>
            </a:r>
          </a:p>
        </p:txBody>
      </p:sp>
    </p:spTree>
    <p:extLst>
      <p:ext uri="{BB962C8B-B14F-4D97-AF65-F5344CB8AC3E}">
        <p14:creationId xmlns:p14="http://schemas.microsoft.com/office/powerpoint/2010/main" val="3035444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5ABCA0FE-8A0D-9A28-512F-C95775A2E6F7}"/>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a:t>
            </a:r>
            <a:r>
              <a:rPr lang="en-US" altLang="en-US" sz="2400" b="1" dirty="0" smtClean="0">
                <a:solidFill>
                  <a:schemeClr val="tx1">
                    <a:lumMod val="95000"/>
                    <a:lumOff val="5000"/>
                  </a:schemeClr>
                </a:solidFill>
                <a:latin typeface="Calibri" panose="020F0502020204030204" pitchFamily="34" charset="0"/>
                <a:cs typeface="Calibri" panose="020F0502020204030204" pitchFamily="34" charset="0"/>
              </a:rPr>
              <a:t>Bar Chart</a:t>
            </a:r>
            <a:endParaRPr lang="en-US" altLang="en-US" sz="24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12291" name="Content Placeholder 3">
            <a:extLst>
              <a:ext uri="{FF2B5EF4-FFF2-40B4-BE49-F238E27FC236}">
                <a16:creationId xmlns:a16="http://schemas.microsoft.com/office/drawing/2014/main" xmlns="" id="{01671E2E-180C-54A9-084E-8CB975DCD4C6}"/>
              </a:ext>
            </a:extLst>
          </p:cNvPr>
          <p:cNvSpPr>
            <a:spLocks noGrp="1"/>
          </p:cNvSpPr>
          <p:nvPr>
            <p:ph idx="1"/>
          </p:nvPr>
        </p:nvSpPr>
        <p:spPr>
          <a:xfrm>
            <a:off x="334735" y="1313997"/>
            <a:ext cx="5363935" cy="2621189"/>
          </a:xfrm>
        </p:spPr>
        <p:txBody>
          <a:bodyPr/>
          <a:lstStyle/>
          <a:p>
            <a:pPr marL="44450" indent="0" algn="just">
              <a:buNone/>
            </a:pPr>
            <a:r>
              <a:rPr lang="en-US" altLang="en-US" sz="1800" dirty="0">
                <a:latin typeface="Times New Roman" panose="02020603050405020304" pitchFamily="18" charset="0"/>
                <a:cs typeface="Times New Roman" panose="02020603050405020304" pitchFamily="18" charset="0"/>
              </a:rPr>
              <a:t>A Bar Chart (or bar graph) is one of the most widely used visual tools in data science and statistics. It represents categorical data using rectangular bars, where the length or height of each bar is proportional to the value it represents</a:t>
            </a:r>
            <a:r>
              <a:rPr lang="en-US" altLang="en-US" sz="1800" dirty="0" smtClean="0">
                <a:latin typeface="Times New Roman" panose="02020603050405020304" pitchFamily="18" charset="0"/>
                <a:cs typeface="Times New Roman" panose="02020603050405020304" pitchFamily="18" charset="0"/>
              </a:rPr>
              <a:t>.</a:t>
            </a:r>
          </a:p>
          <a:p>
            <a:pPr marL="44450" indent="0" algn="just">
              <a:buNone/>
            </a:pPr>
            <a:r>
              <a:rPr lang="en-US" altLang="en-US" sz="1800" dirty="0" smtClean="0">
                <a:latin typeface="Times New Roman" panose="02020603050405020304" pitchFamily="18" charset="0"/>
                <a:cs typeface="Times New Roman" panose="02020603050405020304" pitchFamily="18" charset="0"/>
              </a:rPr>
              <a:t>While </a:t>
            </a:r>
            <a:r>
              <a:rPr lang="en-US" altLang="en-US" sz="1800" dirty="0">
                <a:latin typeface="Times New Roman" panose="02020603050405020304" pitchFamily="18" charset="0"/>
                <a:cs typeface="Times New Roman" panose="02020603050405020304" pitchFamily="18" charset="0"/>
              </a:rPr>
              <a:t>a histogram is used to visualize the distribution of continuous numerical data, a bar chart is specifically designed to compare discrete quantities across different distinct groups or categories</a:t>
            </a:r>
            <a:r>
              <a:rPr lang="en-US" altLang="en-US" sz="1800" dirty="0" smtClean="0">
                <a:latin typeface="Times New Roman" panose="02020603050405020304" pitchFamily="18" charset="0"/>
                <a:cs typeface="Times New Roman" panose="02020603050405020304" pitchFamily="18" charset="0"/>
              </a:rPr>
              <a:t>.</a:t>
            </a:r>
            <a:endParaRPr lang="en-US" altLang="en-US" sz="1600" dirty="0">
              <a:latin typeface="Times New Roman" panose="02020603050405020304" pitchFamily="18" charset="0"/>
              <a:cs typeface="Times New Roman" panose="02020603050405020304" pitchFamily="18" charset="0"/>
            </a:endParaRPr>
          </a:p>
        </p:txBody>
      </p:sp>
      <p:pic>
        <p:nvPicPr>
          <p:cNvPr id="12292" name="Picture 2">
            <a:extLst>
              <a:ext uri="{FF2B5EF4-FFF2-40B4-BE49-F238E27FC236}">
                <a16:creationId xmlns:a16="http://schemas.microsoft.com/office/drawing/2014/main" xmlns="" id="{A9829D11-316C-F01C-9BD1-B50AA587BC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2798" y="702129"/>
            <a:ext cx="5555291" cy="3069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Content Placeholder 3">
            <a:extLst>
              <a:ext uri="{FF2B5EF4-FFF2-40B4-BE49-F238E27FC236}">
                <a16:creationId xmlns:a16="http://schemas.microsoft.com/office/drawing/2014/main" xmlns="" id="{01671E2E-180C-54A9-084E-8CB975DCD4C6}"/>
              </a:ext>
            </a:extLst>
          </p:cNvPr>
          <p:cNvSpPr txBox="1">
            <a:spLocks/>
          </p:cNvSpPr>
          <p:nvPr/>
        </p:nvSpPr>
        <p:spPr bwMode="auto">
          <a:xfrm>
            <a:off x="339272" y="3853090"/>
            <a:ext cx="11384642" cy="2082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4450" indent="0" algn="just">
              <a:buFont typeface="Corbel" panose="020B0503020204020204" pitchFamily="34" charset="0"/>
              <a:buNone/>
            </a:pPr>
            <a:r>
              <a:rPr lang="en-US" altLang="en-US" sz="1800" b="1" dirty="0" smtClean="0">
                <a:latin typeface="Times New Roman" panose="02020603050405020304" pitchFamily="18" charset="0"/>
                <a:cs typeface="Times New Roman" panose="02020603050405020304" pitchFamily="18" charset="0"/>
              </a:rPr>
              <a:t>Core Components of a Bar Chart</a:t>
            </a:r>
          </a:p>
          <a:p>
            <a:pPr marL="44450" indent="0" algn="just">
              <a:buFont typeface="Corbel" panose="020B0503020204020204" pitchFamily="34" charset="0"/>
              <a:buNone/>
            </a:pPr>
            <a:r>
              <a:rPr lang="en-US" altLang="en-US" sz="1800" b="1" dirty="0" smtClean="0">
                <a:latin typeface="Times New Roman" panose="02020603050405020304" pitchFamily="18" charset="0"/>
                <a:cs typeface="Times New Roman" panose="02020603050405020304" pitchFamily="18" charset="0"/>
              </a:rPr>
              <a:t>Categorical Axis </a:t>
            </a:r>
            <a:r>
              <a:rPr lang="en-US" altLang="en-US" sz="1800" dirty="0" smtClean="0">
                <a:latin typeface="Times New Roman" panose="02020603050405020304" pitchFamily="18" charset="0"/>
                <a:cs typeface="Times New Roman" panose="02020603050405020304" pitchFamily="18" charset="0"/>
              </a:rPr>
              <a:t>(Usually X-Axis): Displays the discrete groups, labels, or time periods being compared (e.g., countries, departments, fruit types).</a:t>
            </a:r>
          </a:p>
          <a:p>
            <a:pPr marL="44450" indent="0" algn="just">
              <a:buFont typeface="Corbel" panose="020B0503020204020204" pitchFamily="34" charset="0"/>
              <a:buNone/>
            </a:pPr>
            <a:r>
              <a:rPr lang="en-US" altLang="en-US" sz="1800" b="1" dirty="0" smtClean="0">
                <a:latin typeface="Times New Roman" panose="02020603050405020304" pitchFamily="18" charset="0"/>
                <a:cs typeface="Times New Roman" panose="02020603050405020304" pitchFamily="18" charset="0"/>
              </a:rPr>
              <a:t>Numerical Axis </a:t>
            </a:r>
            <a:r>
              <a:rPr lang="en-US" altLang="en-US" sz="1800" dirty="0" smtClean="0">
                <a:latin typeface="Times New Roman" panose="02020603050405020304" pitchFamily="18" charset="0"/>
                <a:cs typeface="Times New Roman" panose="02020603050405020304" pitchFamily="18" charset="0"/>
              </a:rPr>
              <a:t>(Usually Y-Axis): Displays the metric value, such as frequencies, counts, percentages, or averages. </a:t>
            </a:r>
          </a:p>
          <a:p>
            <a:pPr marL="44450" indent="0" algn="just">
              <a:buFont typeface="Corbel" panose="020B0503020204020204" pitchFamily="34" charset="0"/>
              <a:buNone/>
            </a:pPr>
            <a:r>
              <a:rPr lang="en-US" altLang="en-US" sz="1800" b="1" dirty="0" smtClean="0">
                <a:latin typeface="Times New Roman" panose="02020603050405020304" pitchFamily="18" charset="0"/>
                <a:cs typeface="Times New Roman" panose="02020603050405020304" pitchFamily="18" charset="0"/>
              </a:rPr>
              <a:t>Bars: </a:t>
            </a:r>
            <a:r>
              <a:rPr lang="en-US" altLang="en-US" sz="1800" dirty="0" smtClean="0">
                <a:latin typeface="Times New Roman" panose="02020603050405020304" pitchFamily="18" charset="0"/>
                <a:cs typeface="Times New Roman" panose="02020603050405020304" pitchFamily="18" charset="0"/>
              </a:rPr>
              <a:t>The individual rectangular elements. The widths of the bars should be uniform, and they should be separated by small gaps to emphasize that the categories are discrete, independent groups.</a:t>
            </a: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08F32158-2D29-DAF2-760E-3593889FE941}"/>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a:t>
            </a:r>
            <a:r>
              <a:rPr lang="en-US" altLang="en-US" sz="2400" b="1" dirty="0" smtClean="0">
                <a:solidFill>
                  <a:schemeClr val="tx1">
                    <a:lumMod val="95000"/>
                    <a:lumOff val="5000"/>
                  </a:schemeClr>
                </a:solidFill>
                <a:latin typeface="Calibri" panose="020F0502020204030204" pitchFamily="34" charset="0"/>
                <a:cs typeface="Calibri" panose="020F0502020204030204" pitchFamily="34" charset="0"/>
              </a:rPr>
              <a:t>Line Chart</a:t>
            </a:r>
            <a:endParaRPr lang="en-US" altLang="en-US" sz="24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13315" name="Content Placeholder 3">
            <a:extLst>
              <a:ext uri="{FF2B5EF4-FFF2-40B4-BE49-F238E27FC236}">
                <a16:creationId xmlns:a16="http://schemas.microsoft.com/office/drawing/2014/main" xmlns="" id="{678F7509-EEAD-D5F5-0383-576E18C089F1}"/>
              </a:ext>
            </a:extLst>
          </p:cNvPr>
          <p:cNvSpPr>
            <a:spLocks noGrp="1"/>
          </p:cNvSpPr>
          <p:nvPr>
            <p:ph idx="1"/>
          </p:nvPr>
        </p:nvSpPr>
        <p:spPr>
          <a:xfrm>
            <a:off x="1016908" y="1545091"/>
            <a:ext cx="5514522" cy="3802516"/>
          </a:xfrm>
        </p:spPr>
        <p:txBody>
          <a:bodyPr/>
          <a:lstStyle/>
          <a:p>
            <a:pPr marL="44450" indent="0" algn="just">
              <a:buFont typeface="Corbel" panose="020B0503020204020204" pitchFamily="34" charset="0"/>
              <a:buNone/>
            </a:pPr>
            <a:r>
              <a:rPr lang="en-US" altLang="en-US" sz="1800" dirty="0" smtClean="0">
                <a:latin typeface="Times New Roman" panose="02020603050405020304" pitchFamily="18" charset="0"/>
                <a:cs typeface="Times New Roman" panose="02020603050405020304" pitchFamily="18" charset="0"/>
              </a:rPr>
              <a:t>Best </a:t>
            </a:r>
            <a:r>
              <a:rPr lang="en-US" altLang="en-US" sz="1800" dirty="0">
                <a:latin typeface="Times New Roman" panose="02020603050405020304" pitchFamily="18" charset="0"/>
                <a:cs typeface="Times New Roman" panose="02020603050405020304" pitchFamily="18" charset="0"/>
              </a:rPr>
              <a:t>for showing trends over a continuous interval, most often time. It connects a series of data points with a line</a:t>
            </a:r>
            <a:r>
              <a:rPr lang="en-US" altLang="en-US" sz="1800" dirty="0" smtClean="0">
                <a:latin typeface="Times New Roman" panose="02020603050405020304" pitchFamily="18" charset="0"/>
                <a:cs typeface="Times New Roman" panose="02020603050405020304" pitchFamily="18" charset="0"/>
              </a:rPr>
              <a:t>.</a:t>
            </a:r>
          </a:p>
          <a:p>
            <a:pPr marL="46037" indent="0">
              <a:buNone/>
            </a:pPr>
            <a:r>
              <a:rPr lang="en-US" sz="1800" b="1" dirty="0">
                <a:latin typeface="Times New Roman" pitchFamily="18" charset="0"/>
                <a:cs typeface="Times New Roman" pitchFamily="18" charset="0"/>
              </a:rPr>
              <a:t>What Does a Line Chart Reveal?</a:t>
            </a:r>
          </a:p>
          <a:p>
            <a:pPr marL="46037" indent="0">
              <a:buNone/>
            </a:pPr>
            <a:r>
              <a:rPr lang="en-US" sz="1800" b="1" dirty="0">
                <a:latin typeface="Times New Roman" pitchFamily="18" charset="0"/>
                <a:cs typeface="Times New Roman" pitchFamily="18" charset="0"/>
              </a:rPr>
              <a:t>Trends Over Time</a:t>
            </a:r>
            <a:r>
              <a:rPr lang="en-US" sz="1800" dirty="0">
                <a:latin typeface="Times New Roman" pitchFamily="18" charset="0"/>
                <a:cs typeface="Times New Roman" pitchFamily="18" charset="0"/>
              </a:rPr>
              <a:t> </a:t>
            </a:r>
          </a:p>
          <a:p>
            <a:pPr lvl="1"/>
            <a:r>
              <a:rPr lang="en-US" sz="1800" dirty="0">
                <a:latin typeface="Times New Roman" pitchFamily="18" charset="0"/>
                <a:cs typeface="Times New Roman" pitchFamily="18" charset="0"/>
              </a:rPr>
              <a:t>Increasing trend </a:t>
            </a:r>
          </a:p>
          <a:p>
            <a:pPr lvl="1"/>
            <a:r>
              <a:rPr lang="en-US" sz="1800" dirty="0">
                <a:latin typeface="Times New Roman" pitchFamily="18" charset="0"/>
                <a:cs typeface="Times New Roman" pitchFamily="18" charset="0"/>
              </a:rPr>
              <a:t>Decreasing trend </a:t>
            </a:r>
          </a:p>
          <a:p>
            <a:pPr lvl="1"/>
            <a:r>
              <a:rPr lang="en-US" sz="1800" dirty="0">
                <a:latin typeface="Times New Roman" pitchFamily="18" charset="0"/>
                <a:cs typeface="Times New Roman" pitchFamily="18" charset="0"/>
              </a:rPr>
              <a:t>Stable trend </a:t>
            </a:r>
          </a:p>
          <a:p>
            <a:pPr marL="46037" indent="0">
              <a:buNone/>
            </a:pPr>
            <a:r>
              <a:rPr lang="en-US" sz="1800" b="1" dirty="0">
                <a:latin typeface="Times New Roman" pitchFamily="18" charset="0"/>
                <a:cs typeface="Times New Roman" pitchFamily="18" charset="0"/>
              </a:rPr>
              <a:t>Rate of Change</a:t>
            </a:r>
            <a:r>
              <a:rPr lang="en-US" sz="1800" dirty="0">
                <a:latin typeface="Times New Roman" pitchFamily="18" charset="0"/>
                <a:cs typeface="Times New Roman" pitchFamily="18" charset="0"/>
              </a:rPr>
              <a:t> </a:t>
            </a:r>
          </a:p>
          <a:p>
            <a:pPr lvl="1"/>
            <a:r>
              <a:rPr lang="en-US" sz="1800" dirty="0">
                <a:latin typeface="Times New Roman" pitchFamily="18" charset="0"/>
                <a:cs typeface="Times New Roman" pitchFamily="18" charset="0"/>
              </a:rPr>
              <a:t>Rapid growth or decline </a:t>
            </a:r>
          </a:p>
          <a:p>
            <a:pPr lvl="1"/>
            <a:r>
              <a:rPr lang="en-US" sz="1800" dirty="0">
                <a:latin typeface="Times New Roman" pitchFamily="18" charset="0"/>
                <a:cs typeface="Times New Roman" pitchFamily="18" charset="0"/>
              </a:rPr>
              <a:t>Gradual changes </a:t>
            </a:r>
          </a:p>
          <a:p>
            <a:pPr marL="46037" indent="0">
              <a:buNone/>
            </a:pPr>
            <a:endParaRPr lang="en-US" sz="1800" dirty="0">
              <a:latin typeface="Times New Roman" pitchFamily="18" charset="0"/>
              <a:cs typeface="Times New Roman" pitchFamily="18" charset="0"/>
            </a:endParaRPr>
          </a:p>
          <a:p>
            <a:pPr marL="44450" indent="0" algn="just">
              <a:buFont typeface="Corbel" panose="020B0503020204020204" pitchFamily="34" charset="0"/>
              <a:buNone/>
            </a:pPr>
            <a:endParaRPr lang="en-US" altLang="en-US" sz="1800" dirty="0">
              <a:latin typeface="Times New Roman" panose="02020603050405020304" pitchFamily="18" charset="0"/>
              <a:cs typeface="Times New Roman" panose="02020603050405020304" pitchFamily="18" charset="0"/>
            </a:endParaRPr>
          </a:p>
        </p:txBody>
      </p:sp>
      <p:pic>
        <p:nvPicPr>
          <p:cNvPr id="13316" name="Picture 2">
            <a:extLst>
              <a:ext uri="{FF2B5EF4-FFF2-40B4-BE49-F238E27FC236}">
                <a16:creationId xmlns:a16="http://schemas.microsoft.com/office/drawing/2014/main" xmlns="" id="{49993347-EE92-F39B-64F5-23E7C02658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7701" y="1269547"/>
            <a:ext cx="4959526"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914900" y="3440507"/>
            <a:ext cx="6441622" cy="2585323"/>
          </a:xfrm>
          <a:prstGeom prst="rect">
            <a:avLst/>
          </a:prstGeom>
        </p:spPr>
        <p:txBody>
          <a:bodyPr wrap="square">
            <a:spAutoFit/>
          </a:bodyPr>
          <a:lstStyle/>
          <a:p>
            <a:pPr marL="46037" indent="0">
              <a:buNone/>
            </a:pPr>
            <a:r>
              <a:rPr lang="en-US" b="1" dirty="0">
                <a:latin typeface="Times New Roman" pitchFamily="18" charset="0"/>
                <a:cs typeface="Times New Roman" pitchFamily="18" charset="0"/>
              </a:rPr>
              <a:t>Patterns</a:t>
            </a:r>
            <a:r>
              <a:rPr lang="en-US" dirty="0">
                <a:latin typeface="Times New Roman" pitchFamily="18" charset="0"/>
                <a:cs typeface="Times New Roman" pitchFamily="18" charset="0"/>
              </a:rPr>
              <a:t> </a:t>
            </a:r>
          </a:p>
          <a:p>
            <a:pPr lvl="1"/>
            <a:r>
              <a:rPr lang="en-US" dirty="0">
                <a:latin typeface="Times New Roman" pitchFamily="18" charset="0"/>
                <a:cs typeface="Times New Roman" pitchFamily="18" charset="0"/>
              </a:rPr>
              <a:t>Seasonal patterns </a:t>
            </a:r>
          </a:p>
          <a:p>
            <a:pPr lvl="1"/>
            <a:r>
              <a:rPr lang="en-US" dirty="0">
                <a:latin typeface="Times New Roman" pitchFamily="18" charset="0"/>
                <a:cs typeface="Times New Roman" pitchFamily="18" charset="0"/>
              </a:rPr>
              <a:t>Cyclical fluctuations </a:t>
            </a:r>
          </a:p>
          <a:p>
            <a:pPr lvl="1"/>
            <a:r>
              <a:rPr lang="en-US" dirty="0">
                <a:latin typeface="Times New Roman" pitchFamily="18" charset="0"/>
                <a:cs typeface="Times New Roman" pitchFamily="18" charset="0"/>
              </a:rPr>
              <a:t>Repeated behaviors </a:t>
            </a:r>
          </a:p>
          <a:p>
            <a:r>
              <a:rPr lang="en-US" b="1" dirty="0">
                <a:latin typeface="Times New Roman" pitchFamily="18" charset="0"/>
                <a:cs typeface="Times New Roman" pitchFamily="18" charset="0"/>
              </a:rPr>
              <a:t>Peaks and Troughs</a:t>
            </a:r>
            <a:r>
              <a:rPr lang="en-US" dirty="0">
                <a:latin typeface="Times New Roman" pitchFamily="18" charset="0"/>
                <a:cs typeface="Times New Roman" pitchFamily="18" charset="0"/>
              </a:rPr>
              <a:t> </a:t>
            </a:r>
          </a:p>
          <a:p>
            <a:pPr lvl="1"/>
            <a:r>
              <a:rPr lang="en-US" dirty="0">
                <a:latin typeface="Times New Roman" pitchFamily="18" charset="0"/>
                <a:cs typeface="Times New Roman" pitchFamily="18" charset="0"/>
              </a:rPr>
              <a:t>Highest and lowest values </a:t>
            </a:r>
          </a:p>
          <a:p>
            <a:pPr lvl="1"/>
            <a:r>
              <a:rPr lang="en-US" dirty="0">
                <a:latin typeface="Times New Roman" pitchFamily="18" charset="0"/>
                <a:cs typeface="Times New Roman" pitchFamily="18" charset="0"/>
              </a:rPr>
              <a:t>Significant events or anomalies </a:t>
            </a:r>
          </a:p>
          <a:p>
            <a:r>
              <a:rPr lang="en-US" b="1" dirty="0">
                <a:latin typeface="Times New Roman" pitchFamily="18" charset="0"/>
                <a:cs typeface="Times New Roman" pitchFamily="18" charset="0"/>
              </a:rPr>
              <a:t>Comparisons</a:t>
            </a:r>
            <a:r>
              <a:rPr lang="en-US" dirty="0">
                <a:latin typeface="Times New Roman" pitchFamily="18" charset="0"/>
                <a:cs typeface="Times New Roman" pitchFamily="18" charset="0"/>
              </a:rPr>
              <a:t> </a:t>
            </a:r>
          </a:p>
          <a:p>
            <a:pPr lvl="1"/>
            <a:r>
              <a:rPr lang="en-US" dirty="0">
                <a:latin typeface="Times New Roman" pitchFamily="18" charset="0"/>
                <a:cs typeface="Times New Roman" pitchFamily="18" charset="0"/>
              </a:rPr>
              <a:t>Multiple lines can compare trends across groups or categories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E7AEDC91-8B44-A6F2-1693-E9E513837C5D}"/>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a:t>
            </a:r>
            <a:r>
              <a:rPr lang="en-US" altLang="en-US" sz="2400" b="1" dirty="0" smtClean="0">
                <a:solidFill>
                  <a:schemeClr val="tx1">
                    <a:lumMod val="95000"/>
                    <a:lumOff val="5000"/>
                  </a:schemeClr>
                </a:solidFill>
                <a:latin typeface="Calibri" panose="020F0502020204030204" pitchFamily="34" charset="0"/>
                <a:cs typeface="Calibri" panose="020F0502020204030204" pitchFamily="34" charset="0"/>
              </a:rPr>
              <a:t>Pie Chart</a:t>
            </a:r>
            <a:endParaRPr lang="en-US" altLang="en-US" sz="24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14339" name="Content Placeholder 3">
            <a:extLst>
              <a:ext uri="{FF2B5EF4-FFF2-40B4-BE49-F238E27FC236}">
                <a16:creationId xmlns:a16="http://schemas.microsoft.com/office/drawing/2014/main" xmlns="" id="{2D041CF7-92ED-D174-13A0-F170DD0C9633}"/>
              </a:ext>
            </a:extLst>
          </p:cNvPr>
          <p:cNvSpPr>
            <a:spLocks noGrp="1"/>
          </p:cNvSpPr>
          <p:nvPr>
            <p:ph idx="1"/>
          </p:nvPr>
        </p:nvSpPr>
        <p:spPr>
          <a:xfrm>
            <a:off x="747487" y="1346654"/>
            <a:ext cx="6510564" cy="4523468"/>
          </a:xfrm>
        </p:spPr>
        <p:txBody>
          <a:bodyPr/>
          <a:lstStyle/>
          <a:p>
            <a:pPr marL="44450" indent="0" algn="just">
              <a:buFont typeface="Corbel" panose="020B0503020204020204" pitchFamily="34" charset="0"/>
              <a:buNone/>
            </a:pPr>
            <a:r>
              <a:rPr lang="en-US" altLang="en-US" sz="1800" dirty="0" smtClean="0">
                <a:latin typeface="Times New Roman" panose="02020603050405020304" pitchFamily="18" charset="0"/>
                <a:cs typeface="Times New Roman" panose="02020603050405020304" pitchFamily="18" charset="0"/>
              </a:rPr>
              <a:t>A </a:t>
            </a:r>
            <a:r>
              <a:rPr lang="en-US" altLang="en-US" sz="1800" dirty="0">
                <a:latin typeface="Times New Roman" panose="02020603050405020304" pitchFamily="18" charset="0"/>
                <a:cs typeface="Times New Roman" panose="02020603050405020304" pitchFamily="18" charset="0"/>
              </a:rPr>
              <a:t>circular chart that shows the percentage contribution of different categories to a whole. It's best used for a small number of categories</a:t>
            </a:r>
            <a:r>
              <a:rPr lang="en-US" altLang="en-US" sz="1800" dirty="0" smtClean="0">
                <a:latin typeface="Times New Roman" panose="02020603050405020304" pitchFamily="18" charset="0"/>
                <a:cs typeface="Times New Roman" panose="02020603050405020304" pitchFamily="18" charset="0"/>
              </a:rPr>
              <a:t>.</a:t>
            </a:r>
          </a:p>
          <a:p>
            <a:pPr marL="46037" indent="0">
              <a:buNone/>
            </a:pPr>
            <a:r>
              <a:rPr lang="en-US" sz="1800" b="1" dirty="0" smtClean="0">
                <a:latin typeface="Times New Roman" pitchFamily="18" charset="0"/>
                <a:cs typeface="Times New Roman" pitchFamily="18" charset="0"/>
              </a:rPr>
              <a:t>What </a:t>
            </a:r>
            <a:r>
              <a:rPr lang="en-US" sz="1800" b="1" dirty="0">
                <a:latin typeface="Times New Roman" pitchFamily="18" charset="0"/>
                <a:cs typeface="Times New Roman" pitchFamily="18" charset="0"/>
              </a:rPr>
              <a:t>Does a Pie Chart Reveal?</a:t>
            </a:r>
          </a:p>
          <a:p>
            <a:pPr marL="46037" indent="0">
              <a:buNone/>
            </a:pPr>
            <a:r>
              <a:rPr lang="en-US" sz="1800" b="1" dirty="0">
                <a:latin typeface="Times New Roman" pitchFamily="18" charset="0"/>
                <a:cs typeface="Times New Roman" pitchFamily="18" charset="0"/>
              </a:rPr>
              <a:t>Part-to-Whole Relationship</a:t>
            </a:r>
            <a:r>
              <a:rPr lang="en-US" sz="1800" dirty="0">
                <a:latin typeface="Times New Roman" pitchFamily="18" charset="0"/>
                <a:cs typeface="Times New Roman" pitchFamily="18" charset="0"/>
              </a:rPr>
              <a:t> </a:t>
            </a:r>
          </a:p>
          <a:p>
            <a:pPr lvl="1"/>
            <a:r>
              <a:rPr lang="en-US" sz="1800" dirty="0">
                <a:latin typeface="Times New Roman" pitchFamily="18" charset="0"/>
                <a:cs typeface="Times New Roman" pitchFamily="18" charset="0"/>
              </a:rPr>
              <a:t>Shows how much each category contributes to the total. </a:t>
            </a:r>
          </a:p>
          <a:p>
            <a:pPr marL="46037" indent="0">
              <a:buNone/>
            </a:pPr>
            <a:r>
              <a:rPr lang="en-US" sz="1800" b="1" dirty="0">
                <a:latin typeface="Times New Roman" pitchFamily="18" charset="0"/>
                <a:cs typeface="Times New Roman" pitchFamily="18" charset="0"/>
              </a:rPr>
              <a:t>Relative Proportions</a:t>
            </a:r>
            <a:r>
              <a:rPr lang="en-US" sz="1800" dirty="0">
                <a:latin typeface="Times New Roman" pitchFamily="18" charset="0"/>
                <a:cs typeface="Times New Roman" pitchFamily="18" charset="0"/>
              </a:rPr>
              <a:t> </a:t>
            </a:r>
          </a:p>
          <a:p>
            <a:pPr lvl="1"/>
            <a:r>
              <a:rPr lang="en-US" sz="1800" dirty="0">
                <a:latin typeface="Times New Roman" pitchFamily="18" charset="0"/>
                <a:cs typeface="Times New Roman" pitchFamily="18" charset="0"/>
              </a:rPr>
              <a:t>Easily identifies the largest and smallest categories. </a:t>
            </a:r>
          </a:p>
          <a:p>
            <a:pPr marL="46037" indent="0">
              <a:buNone/>
            </a:pPr>
            <a:r>
              <a:rPr lang="en-US" sz="1800" b="1" dirty="0">
                <a:latin typeface="Times New Roman" pitchFamily="18" charset="0"/>
                <a:cs typeface="Times New Roman" pitchFamily="18" charset="0"/>
              </a:rPr>
              <a:t>Percentage Distribution</a:t>
            </a:r>
            <a:r>
              <a:rPr lang="en-US" sz="1800" dirty="0">
                <a:latin typeface="Times New Roman" pitchFamily="18" charset="0"/>
                <a:cs typeface="Times New Roman" pitchFamily="18" charset="0"/>
              </a:rPr>
              <a:t> </a:t>
            </a:r>
          </a:p>
          <a:p>
            <a:pPr lvl="1"/>
            <a:r>
              <a:rPr lang="en-US" sz="1800" dirty="0">
                <a:latin typeface="Times New Roman" pitchFamily="18" charset="0"/>
                <a:cs typeface="Times New Roman" pitchFamily="18" charset="0"/>
              </a:rPr>
              <a:t>Displays the share of each category as a percentage of the whole. </a:t>
            </a:r>
          </a:p>
          <a:p>
            <a:pPr marL="46037" indent="0">
              <a:buNone/>
            </a:pPr>
            <a:r>
              <a:rPr lang="en-US" sz="1800" b="1" dirty="0">
                <a:latin typeface="Times New Roman" pitchFamily="18" charset="0"/>
                <a:cs typeface="Times New Roman" pitchFamily="18" charset="0"/>
              </a:rPr>
              <a:t>Category Comparison</a:t>
            </a:r>
            <a:r>
              <a:rPr lang="en-US" sz="1800" dirty="0">
                <a:latin typeface="Times New Roman" pitchFamily="18" charset="0"/>
                <a:cs typeface="Times New Roman" pitchFamily="18" charset="0"/>
              </a:rPr>
              <a:t> </a:t>
            </a:r>
          </a:p>
          <a:p>
            <a:pPr lvl="1"/>
            <a:r>
              <a:rPr lang="en-US" sz="1800" dirty="0">
                <a:latin typeface="Times New Roman" pitchFamily="18" charset="0"/>
                <a:cs typeface="Times New Roman" pitchFamily="18" charset="0"/>
              </a:rPr>
              <a:t>Useful when there are only a few categories (typically 3–6).</a:t>
            </a:r>
          </a:p>
          <a:p>
            <a:pPr marL="44450" indent="0" algn="just">
              <a:buFont typeface="Corbel" panose="020B0503020204020204" pitchFamily="34" charset="0"/>
              <a:buNone/>
            </a:pPr>
            <a:endParaRPr lang="en-US" altLang="en-US" sz="1800" dirty="0" smtClean="0">
              <a:latin typeface="Times New Roman" panose="02020603050405020304" pitchFamily="18" charset="0"/>
              <a:cs typeface="Times New Roman" panose="02020603050405020304" pitchFamily="18" charset="0"/>
            </a:endParaRPr>
          </a:p>
          <a:p>
            <a:pPr marL="44450" indent="0" algn="just">
              <a:buFont typeface="Corbel" panose="020B0503020204020204" pitchFamily="34" charset="0"/>
              <a:buNone/>
            </a:pPr>
            <a:endParaRPr lang="en-US" altLang="en-US" sz="1600" dirty="0">
              <a:latin typeface="Times New Roman" panose="02020603050405020304" pitchFamily="18" charset="0"/>
              <a:cs typeface="Times New Roman" panose="02020603050405020304" pitchFamily="18" charset="0"/>
            </a:endParaRPr>
          </a:p>
        </p:txBody>
      </p:sp>
      <p:pic>
        <p:nvPicPr>
          <p:cNvPr id="1026" name="Picture 2" descr="C:\Users\Asus\Downloads\Rplo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2093" y="2280558"/>
            <a:ext cx="4114800" cy="2819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840AEF2C-AB62-482F-7C82-7A86D415038F}"/>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a:t>
            </a:r>
            <a:r>
              <a:rPr lang="en-US" altLang="en-US" sz="2400" b="1" dirty="0" smtClean="0">
                <a:solidFill>
                  <a:schemeClr val="tx1">
                    <a:lumMod val="95000"/>
                    <a:lumOff val="5000"/>
                  </a:schemeClr>
                </a:solidFill>
                <a:latin typeface="Calibri" panose="020F0502020204030204" pitchFamily="34" charset="0"/>
                <a:cs typeface="Calibri" panose="020F0502020204030204" pitchFamily="34" charset="0"/>
              </a:rPr>
              <a:t>Tree Map</a:t>
            </a:r>
            <a:endParaRPr lang="en-US" altLang="en-US" sz="24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15363" name="Content Placeholder 3">
            <a:extLst>
              <a:ext uri="{FF2B5EF4-FFF2-40B4-BE49-F238E27FC236}">
                <a16:creationId xmlns:a16="http://schemas.microsoft.com/office/drawing/2014/main" xmlns="" id="{CE0FC7A4-E6A9-AE91-6099-39F163244B80}"/>
              </a:ext>
            </a:extLst>
          </p:cNvPr>
          <p:cNvSpPr>
            <a:spLocks noGrp="1"/>
          </p:cNvSpPr>
          <p:nvPr>
            <p:ph idx="1"/>
          </p:nvPr>
        </p:nvSpPr>
        <p:spPr>
          <a:xfrm>
            <a:off x="486229" y="1567089"/>
            <a:ext cx="4526643" cy="4443185"/>
          </a:xfrm>
        </p:spPr>
        <p:txBody>
          <a:bodyPr/>
          <a:lstStyle/>
          <a:p>
            <a:pPr marL="44450" indent="0" algn="just">
              <a:buNone/>
            </a:pPr>
            <a:r>
              <a:rPr lang="en-US" altLang="en-US" sz="1800" dirty="0">
                <a:latin typeface="Times New Roman" panose="02020603050405020304" pitchFamily="18" charset="0"/>
                <a:cs typeface="Times New Roman" panose="02020603050405020304" pitchFamily="18" charset="0"/>
              </a:rPr>
              <a:t>A </a:t>
            </a:r>
            <a:r>
              <a:rPr lang="en-US" altLang="en-US" sz="1800" dirty="0" err="1">
                <a:latin typeface="Times New Roman" panose="02020603050405020304" pitchFamily="18" charset="0"/>
                <a:cs typeface="Times New Roman" panose="02020603050405020304" pitchFamily="18" charset="0"/>
              </a:rPr>
              <a:t>treemap</a:t>
            </a:r>
            <a:r>
              <a:rPr lang="en-US" altLang="en-US" sz="1800" dirty="0">
                <a:latin typeface="Times New Roman" panose="02020603050405020304" pitchFamily="18" charset="0"/>
                <a:cs typeface="Times New Roman" panose="02020603050405020304" pitchFamily="18" charset="0"/>
              </a:rPr>
              <a:t> is an alternative to pie charts for showing parts of a whole, using nested rectangles. Each category is a rectangle whose area is proportional to its value. </a:t>
            </a:r>
            <a:endParaRPr lang="en-US" altLang="en-US" sz="1800" dirty="0" smtClean="0">
              <a:latin typeface="Times New Roman" panose="02020603050405020304" pitchFamily="18" charset="0"/>
              <a:cs typeface="Times New Roman" panose="02020603050405020304" pitchFamily="18" charset="0"/>
            </a:endParaRPr>
          </a:p>
          <a:p>
            <a:pPr marL="44450" indent="0" algn="just">
              <a:buNone/>
            </a:pPr>
            <a:r>
              <a:rPr lang="en-US" altLang="en-US" sz="1800" dirty="0" err="1" smtClean="0">
                <a:latin typeface="Times New Roman" panose="02020603050405020304" pitchFamily="18" charset="0"/>
                <a:cs typeface="Times New Roman" panose="02020603050405020304" pitchFamily="18" charset="0"/>
              </a:rPr>
              <a:t>Treemaps</a:t>
            </a:r>
            <a:r>
              <a:rPr lang="en-US" altLang="en-US" sz="1800" dirty="0">
                <a:latin typeface="Times New Roman" panose="02020603050405020304" pitchFamily="18" charset="0"/>
                <a:cs typeface="Times New Roman" panose="02020603050405020304" pitchFamily="18" charset="0"/>
              </a:rPr>
              <a:t> </a:t>
            </a:r>
            <a:r>
              <a:rPr lang="en-US" altLang="en-US" sz="1800" dirty="0" smtClean="0">
                <a:latin typeface="Times New Roman" panose="02020603050405020304" pitchFamily="18" charset="0"/>
                <a:cs typeface="Times New Roman" panose="02020603050405020304" pitchFamily="18" charset="0"/>
              </a:rPr>
              <a:t>handle </a:t>
            </a:r>
            <a:r>
              <a:rPr lang="en-US" altLang="en-US" sz="1800" dirty="0">
                <a:latin typeface="Times New Roman" panose="02020603050405020304" pitchFamily="18" charset="0"/>
                <a:cs typeface="Times New Roman" panose="02020603050405020304" pitchFamily="18" charset="0"/>
              </a:rPr>
              <a:t>many categories and hierarchical data much better than pie charts</a:t>
            </a:r>
            <a:r>
              <a:rPr lang="en-US" altLang="en-US" sz="1800" dirty="0" smtClean="0">
                <a:latin typeface="Times New Roman" panose="02020603050405020304" pitchFamily="18" charset="0"/>
                <a:cs typeface="Times New Roman" panose="02020603050405020304" pitchFamily="18" charset="0"/>
              </a:rPr>
              <a:t>.</a:t>
            </a:r>
          </a:p>
          <a:p>
            <a:pPr marL="44450" indent="0" algn="just">
              <a:buNone/>
            </a:pPr>
            <a:endParaRPr lang="en-US" altLang="en-US" sz="1800" dirty="0">
              <a:latin typeface="Times New Roman" panose="02020603050405020304" pitchFamily="18" charset="0"/>
              <a:cs typeface="Times New Roman" panose="02020603050405020304" pitchFamily="18" charset="0"/>
            </a:endParaRPr>
          </a:p>
          <a:p>
            <a:pPr marL="44450" indent="0" algn="just">
              <a:buNone/>
            </a:pPr>
            <a:r>
              <a:rPr lang="en-US" altLang="en-US" sz="1600" dirty="0" err="1">
                <a:latin typeface="Times New Roman" panose="02020603050405020304" pitchFamily="18" charset="0"/>
                <a:cs typeface="Times New Roman" panose="02020603050405020304" pitchFamily="18" charset="0"/>
              </a:rPr>
              <a:t>Treemaps</a:t>
            </a:r>
            <a:r>
              <a:rPr lang="en-US" altLang="en-US" sz="1600" dirty="0">
                <a:latin typeface="Times New Roman" panose="02020603050405020304" pitchFamily="18" charset="0"/>
                <a:cs typeface="Times New Roman" panose="02020603050405020304" pitchFamily="18" charset="0"/>
              </a:rPr>
              <a:t> are useful for visualizing part-to-whole relationships when there are many categories or hierarchical structures. The area of each rectangle is proportional to the value it represents.</a:t>
            </a:r>
            <a:endParaRPr lang="en-US" altLang="en-US" sz="1600" dirty="0">
              <a:latin typeface="Times New Roman" panose="02020603050405020304" pitchFamily="18" charset="0"/>
              <a:cs typeface="Times New Roman" panose="02020603050405020304" pitchFamily="18" charset="0"/>
            </a:endParaRPr>
          </a:p>
        </p:txBody>
      </p:sp>
      <p:pic>
        <p:nvPicPr>
          <p:cNvPr id="2051" name="Picture 3" descr="C:\Users\Asus\Downloads\Rplot0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8221" y="1333500"/>
            <a:ext cx="5810765" cy="3981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C1862307-8D4D-A51D-74EC-ED8AB64A4326}"/>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a:t>
            </a:r>
            <a:r>
              <a:rPr lang="en-US" altLang="en-US" sz="2400" b="1" dirty="0" smtClean="0">
                <a:solidFill>
                  <a:schemeClr val="tx1">
                    <a:lumMod val="95000"/>
                    <a:lumOff val="5000"/>
                  </a:schemeClr>
                </a:solidFill>
                <a:latin typeface="Calibri" panose="020F0502020204030204" pitchFamily="34" charset="0"/>
                <a:cs typeface="Calibri" panose="020F0502020204030204" pitchFamily="34" charset="0"/>
              </a:rPr>
              <a:t>Box Plot</a:t>
            </a:r>
            <a:endParaRPr lang="en-US" altLang="en-US" sz="24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17411" name="Content Placeholder 3">
            <a:extLst>
              <a:ext uri="{FF2B5EF4-FFF2-40B4-BE49-F238E27FC236}">
                <a16:creationId xmlns:a16="http://schemas.microsoft.com/office/drawing/2014/main" xmlns="" id="{003E597F-A307-A2C8-D223-159CCFDC3F1F}"/>
              </a:ext>
            </a:extLst>
          </p:cNvPr>
          <p:cNvSpPr>
            <a:spLocks noGrp="1"/>
          </p:cNvSpPr>
          <p:nvPr>
            <p:ph idx="1"/>
          </p:nvPr>
        </p:nvSpPr>
        <p:spPr>
          <a:xfrm>
            <a:off x="1041400" y="1558925"/>
            <a:ext cx="10944225" cy="1085850"/>
          </a:xfrm>
        </p:spPr>
        <p:txBody>
          <a:bodyPr/>
          <a:lstStyle/>
          <a:p>
            <a:pPr marL="44450" indent="0" algn="just">
              <a:buFont typeface="Corbel" panose="020B0503020204020204" pitchFamily="34" charset="0"/>
              <a:buNone/>
            </a:pPr>
            <a:r>
              <a:rPr lang="en-US" altLang="en-US" sz="1800" dirty="0">
                <a:latin typeface="Times New Roman" panose="02020603050405020304" pitchFamily="18" charset="0"/>
                <a:cs typeface="Times New Roman" panose="02020603050405020304" pitchFamily="18" charset="0"/>
              </a:rPr>
              <a:t>A Box Plot (also known as a box-and-whisker plot) is a standardized visual tool used in Exploratory Data Analysis (EDA) to display the distribution of a continuous numerical dataset based on a five-number summary.</a:t>
            </a:r>
            <a:endParaRPr lang="en-US" altLang="en-US" sz="1600" dirty="0">
              <a:latin typeface="Times New Roman" panose="02020603050405020304" pitchFamily="18" charset="0"/>
              <a:cs typeface="Times New Roman" panose="02020603050405020304" pitchFamily="18" charset="0"/>
            </a:endParaRPr>
          </a:p>
        </p:txBody>
      </p:sp>
      <p:pic>
        <p:nvPicPr>
          <p:cNvPr id="17412" name="Picture 2" descr="This image has an empty alt attribute; its file name is box-whisker-plot-1024x562.jpg">
            <a:extLst>
              <a:ext uri="{FF2B5EF4-FFF2-40B4-BE49-F238E27FC236}">
                <a16:creationId xmlns:a16="http://schemas.microsoft.com/office/drawing/2014/main" xmlns="" id="{B1C0E090-F73E-132D-4A3E-025703FEE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5334"/>
          <a:stretch>
            <a:fillRect/>
          </a:stretch>
        </p:blipFill>
        <p:spPr bwMode="auto">
          <a:xfrm>
            <a:off x="2662238" y="2636838"/>
            <a:ext cx="63452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Rectangle 1">
            <a:extLst>
              <a:ext uri="{FF2B5EF4-FFF2-40B4-BE49-F238E27FC236}">
                <a16:creationId xmlns:a16="http://schemas.microsoft.com/office/drawing/2014/main" xmlns="" id="{8827EBB7-0410-BADD-9D01-D9F8772EEB5E}"/>
              </a:ext>
            </a:extLst>
          </p:cNvPr>
          <p:cNvSpPr>
            <a:spLocks noChangeArrowheads="1"/>
          </p:cNvSpPr>
          <p:nvPr/>
        </p:nvSpPr>
        <p:spPr bwMode="auto">
          <a:xfrm>
            <a:off x="4441825" y="5816600"/>
            <a:ext cx="27860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000"/>
              <a:t>https://www.simplypsychology.org/boxplots.html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EDAD89D-F3E4-BE4E-D1FA-D9FB3F71826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xmlns="" id="{4025F10B-20EC-0AFA-F860-F9C44F89FE29}"/>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Box Plot: </a:t>
            </a: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For Understanding Distribution</a:t>
            </a:r>
          </a:p>
        </p:txBody>
      </p:sp>
      <p:sp>
        <p:nvSpPr>
          <p:cNvPr id="17411" name="Content Placeholder 3">
            <a:extLst>
              <a:ext uri="{FF2B5EF4-FFF2-40B4-BE49-F238E27FC236}">
                <a16:creationId xmlns:a16="http://schemas.microsoft.com/office/drawing/2014/main" xmlns="" id="{294D0979-F5FC-CF3F-920A-134C6E42F58E}"/>
              </a:ext>
            </a:extLst>
          </p:cNvPr>
          <p:cNvSpPr>
            <a:spLocks noGrp="1"/>
          </p:cNvSpPr>
          <p:nvPr>
            <p:ph idx="1"/>
          </p:nvPr>
        </p:nvSpPr>
        <p:spPr>
          <a:xfrm>
            <a:off x="1041401" y="1143000"/>
            <a:ext cx="6883400" cy="3470275"/>
          </a:xfrm>
        </p:spPr>
        <p:txBody>
          <a:bodyPr/>
          <a:lstStyle/>
          <a:p>
            <a:pPr marL="44450" indent="0" algn="just">
              <a:buFont typeface="Corbel" panose="020B0503020204020204" pitchFamily="34" charset="0"/>
              <a:buNone/>
            </a:pPr>
            <a:r>
              <a:rPr lang="en-US" altLang="en-US" sz="1800" dirty="0">
                <a:latin typeface="Times New Roman" panose="02020603050405020304" pitchFamily="18" charset="0"/>
                <a:cs typeface="Times New Roman" panose="02020603050405020304" pitchFamily="18" charset="0"/>
              </a:rPr>
              <a:t>A box plot breaks down a dataset into quartiles (quarters), where each major component represents a specific statistical boundary:</a:t>
            </a:r>
          </a:p>
          <a:p>
            <a:pPr marL="330200" indent="-285750" algn="just"/>
            <a:r>
              <a:rPr lang="en-US" altLang="en-US" sz="1800" b="1" dirty="0">
                <a:latin typeface="Times New Roman" panose="02020603050405020304" pitchFamily="18" charset="0"/>
                <a:cs typeface="Times New Roman" panose="02020603050405020304" pitchFamily="18" charset="0"/>
              </a:rPr>
              <a:t>The Median </a:t>
            </a:r>
            <a:r>
              <a:rPr lang="en-US" altLang="en-US" sz="1800" dirty="0">
                <a:latin typeface="Times New Roman" panose="02020603050405020304" pitchFamily="18" charset="0"/>
                <a:cs typeface="Times New Roman" panose="02020603050405020304" pitchFamily="18" charset="0"/>
              </a:rPr>
              <a:t>(Q2/ 50th Percentile): The line that cuts through the center of the box. Half of the data points fall below this line, and half fall above it.</a:t>
            </a:r>
          </a:p>
          <a:p>
            <a:pPr marL="330200" indent="-285750" algn="just"/>
            <a:r>
              <a:rPr lang="en-US" altLang="en-US" sz="1800" b="1" dirty="0">
                <a:latin typeface="Times New Roman" panose="02020603050405020304" pitchFamily="18" charset="0"/>
                <a:cs typeface="Times New Roman" panose="02020603050405020304" pitchFamily="18" charset="0"/>
              </a:rPr>
              <a:t>The Box </a:t>
            </a:r>
            <a:r>
              <a:rPr lang="en-US" altLang="en-US" sz="1800" dirty="0">
                <a:latin typeface="Times New Roman" panose="02020603050405020304" pitchFamily="18" charset="0"/>
                <a:cs typeface="Times New Roman" panose="02020603050405020304" pitchFamily="18" charset="0"/>
              </a:rPr>
              <a:t>(Interquartile Range / IQR): The main body of the plot represents the middle 50% of the data.</a:t>
            </a:r>
          </a:p>
          <a:p>
            <a:pPr marL="558800" lvl="1" indent="-285750" algn="just"/>
            <a:r>
              <a:rPr lang="en-US" altLang="en-US" sz="1600" b="1" dirty="0">
                <a:latin typeface="Times New Roman" panose="02020603050405020304" pitchFamily="18" charset="0"/>
                <a:cs typeface="Times New Roman" panose="02020603050405020304" pitchFamily="18" charset="0"/>
              </a:rPr>
              <a:t>Lower Quartile </a:t>
            </a:r>
            <a:r>
              <a:rPr lang="en-US" altLang="en-US" sz="1600" dirty="0">
                <a:latin typeface="Times New Roman" panose="02020603050405020304" pitchFamily="18" charset="0"/>
                <a:cs typeface="Times New Roman" panose="02020603050405020304" pitchFamily="18" charset="0"/>
              </a:rPr>
              <a:t>(Q1 / 25th Percentile): The bottom/left edge of the box. 25% of the data falls below this point.</a:t>
            </a:r>
          </a:p>
          <a:p>
            <a:pPr marL="558800" lvl="1" indent="-285750" algn="just"/>
            <a:r>
              <a:rPr lang="en-US" altLang="en-US" sz="1600" dirty="0">
                <a:latin typeface="Times New Roman" panose="02020603050405020304" pitchFamily="18" charset="0"/>
                <a:cs typeface="Times New Roman" panose="02020603050405020304" pitchFamily="18" charset="0"/>
              </a:rPr>
              <a:t>Upper Quartile (Q3 / 75th Percentile): The top/right edge of the box. 75% of the data falls below this point. </a:t>
            </a:r>
          </a:p>
          <a:p>
            <a:pPr marL="558800" lvl="1" indent="-285750" algn="just"/>
            <a:r>
              <a:rPr lang="en-US" altLang="en-US" sz="1600" b="1" dirty="0">
                <a:latin typeface="Times New Roman" panose="02020603050405020304" pitchFamily="18" charset="0"/>
                <a:cs typeface="Times New Roman" panose="02020603050405020304" pitchFamily="18" charset="0"/>
              </a:rPr>
              <a:t>IQR = Q3 - Q1</a:t>
            </a:r>
          </a:p>
        </p:txBody>
      </p:sp>
      <p:pic>
        <p:nvPicPr>
          <p:cNvPr id="17412" name="Picture 2" descr="This image has an empty alt attribute; its file name is box-whisker-plot-1024x562.jpg">
            <a:extLst>
              <a:ext uri="{FF2B5EF4-FFF2-40B4-BE49-F238E27FC236}">
                <a16:creationId xmlns:a16="http://schemas.microsoft.com/office/drawing/2014/main" xmlns="" id="{8B9B5DCD-CD87-B086-AA68-6B622AB6CB5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15334"/>
          <a:stretch>
            <a:fillRect/>
          </a:stretch>
        </p:blipFill>
        <p:spPr bwMode="auto">
          <a:xfrm>
            <a:off x="7924801" y="1961356"/>
            <a:ext cx="3944428" cy="1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xmlns="" id="{70F8563C-7225-DF4D-46F2-DDE0D6FB8975}"/>
              </a:ext>
            </a:extLst>
          </p:cNvPr>
          <p:cNvSpPr txBox="1"/>
          <p:nvPr/>
        </p:nvSpPr>
        <p:spPr>
          <a:xfrm>
            <a:off x="1143000" y="4613274"/>
            <a:ext cx="10337799" cy="923330"/>
          </a:xfrm>
          <a:prstGeom prst="rect">
            <a:avLst/>
          </a:prstGeom>
          <a:noFill/>
        </p:spPr>
        <p:txBody>
          <a:bodyPr wrap="square">
            <a:spAutoFit/>
          </a:bodyPr>
          <a:lstStyle/>
          <a:p>
            <a:pPr marL="330200" indent="-285750" algn="just">
              <a:buFont typeface="Arial" panose="020B0604020202020204" pitchFamily="34" charset="0"/>
              <a:buChar char="•"/>
            </a:pPr>
            <a:r>
              <a:rPr lang="en-US" altLang="en-US" sz="1800" b="1" dirty="0">
                <a:latin typeface="Times New Roman" panose="02020603050405020304" pitchFamily="18" charset="0"/>
                <a:cs typeface="Times New Roman" panose="02020603050405020304" pitchFamily="18" charset="0"/>
              </a:rPr>
              <a:t>The Whiskers: </a:t>
            </a:r>
            <a:r>
              <a:rPr lang="en-US" altLang="en-US" sz="1800" dirty="0">
                <a:latin typeface="Times New Roman" panose="02020603050405020304" pitchFamily="18" charset="0"/>
                <a:cs typeface="Times New Roman" panose="02020603050405020304" pitchFamily="18" charset="0"/>
              </a:rPr>
              <a:t>The lines extending outside the box. They represent the data points that fall within a "normal" expected range. They extend out to the minimum and maximum data points that are not outliers.</a:t>
            </a:r>
          </a:p>
          <a:p>
            <a:pPr marL="330200" indent="-285750" algn="just">
              <a:buFont typeface="Arial" panose="020B0604020202020204" pitchFamily="34" charset="0"/>
              <a:buChar char="•"/>
            </a:pPr>
            <a:r>
              <a:rPr lang="en-US" altLang="en-US" sz="1800" b="1" dirty="0">
                <a:latin typeface="Times New Roman" panose="02020603050405020304" pitchFamily="18" charset="0"/>
                <a:cs typeface="Times New Roman" panose="02020603050405020304" pitchFamily="18" charset="0"/>
              </a:rPr>
              <a:t>Outliers: </a:t>
            </a:r>
            <a:r>
              <a:rPr lang="en-US" altLang="en-US" sz="1800" dirty="0">
                <a:latin typeface="Times New Roman" panose="02020603050405020304" pitchFamily="18" charset="0"/>
                <a:cs typeface="Times New Roman" panose="02020603050405020304" pitchFamily="18" charset="0"/>
              </a:rPr>
              <a:t>Individual data points plotted as isolated dots or asterisks beyond the ends of the whiskers.</a:t>
            </a:r>
            <a:endParaRPr lang="en-US"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4314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6715BB8-7742-DC0F-4624-0DD678231F7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xmlns="" id="{6D06C802-B5D8-5FF2-959D-0D8E0E20F69B}"/>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Box Plot: </a:t>
            </a: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For Understanding Distribution</a:t>
            </a:r>
          </a:p>
        </p:txBody>
      </p:sp>
      <mc:AlternateContent xmlns:mc="http://schemas.openxmlformats.org/markup-compatibility/2006" xmlns:a14="http://schemas.microsoft.com/office/drawing/2010/main">
        <mc:Choice Requires="a14">
          <p:sp>
            <p:nvSpPr>
              <p:cNvPr id="17411" name="Content Placeholder 3">
                <a:extLst>
                  <a:ext uri="{FF2B5EF4-FFF2-40B4-BE49-F238E27FC236}">
                    <a16:creationId xmlns:a16="http://schemas.microsoft.com/office/drawing/2014/main" xmlns="" id="{8F2B2497-9624-CDC0-EFD0-87F43B51D54F}"/>
                  </a:ext>
                </a:extLst>
              </p:cNvPr>
              <p:cNvSpPr>
                <a:spLocks noGrp="1"/>
              </p:cNvSpPr>
              <p:nvPr>
                <p:ph idx="1"/>
              </p:nvPr>
            </p:nvSpPr>
            <p:spPr>
              <a:xfrm>
                <a:off x="1041401" y="1143000"/>
                <a:ext cx="6883400" cy="3470275"/>
              </a:xfrm>
            </p:spPr>
            <p:txBody>
              <a:bodyPr/>
              <a:lstStyle/>
              <a:p>
                <a:pPr marL="44450" indent="0" algn="just">
                  <a:buNone/>
                </a:pPr>
                <a:r>
                  <a:rPr lang="en-US" sz="2000" b="1" dirty="0">
                    <a:latin typeface="Times New Roman" panose="02020603050405020304" pitchFamily="18" charset="0"/>
                    <a:cs typeface="Times New Roman" panose="02020603050405020304" pitchFamily="18" charset="0"/>
                  </a:rPr>
                  <a:t>How Outliers are Determined Mathematically</a:t>
                </a:r>
              </a:p>
              <a:p>
                <a:pPr marL="44450" indent="0" algn="just">
                  <a:buNone/>
                </a:pPr>
                <a:r>
                  <a:rPr lang="en-US" altLang="en-US" sz="2000" dirty="0">
                    <a:latin typeface="Times New Roman" panose="02020603050405020304" pitchFamily="18" charset="0"/>
                    <a:cs typeface="Times New Roman" panose="02020603050405020304" pitchFamily="18" charset="0"/>
                  </a:rPr>
                  <a:t>Box plots use a strict mathematical rule (developed by statistician John Tukey) to identify anomalies. </a:t>
                </a:r>
              </a:p>
              <a:p>
                <a:pPr marL="44450" indent="0" algn="just">
                  <a:buNone/>
                </a:pPr>
                <a:r>
                  <a:rPr lang="en-US" altLang="en-US" sz="2000" dirty="0">
                    <a:latin typeface="Times New Roman" panose="02020603050405020304" pitchFamily="18" charset="0"/>
                    <a:cs typeface="Times New Roman" panose="02020603050405020304" pitchFamily="18" charset="0"/>
                  </a:rPr>
                  <a:t>A data point is flagged as an outlier if it falls outside the upper or lower fence:</a:t>
                </a:r>
              </a:p>
              <a:p>
                <a:pPr marL="44450" indent="0" algn="just">
                  <a:buNone/>
                </a:pPr>
                <a:r>
                  <a:rPr lang="en-US" altLang="en-US" sz="2000" dirty="0">
                    <a:latin typeface="Times New Roman" panose="02020603050405020304" pitchFamily="18" charset="0"/>
                    <a:cs typeface="Times New Roman" panose="02020603050405020304" pitchFamily="18" charset="0"/>
                  </a:rPr>
                  <a:t>Lower Fence: </a:t>
                </a:r>
                <a14:m>
                  <m:oMath xmlns:m="http://schemas.openxmlformats.org/officeDocument/2006/math">
                    <m:r>
                      <a:rPr lang="en-US" altLang="en-US" sz="2000" i="1" dirty="0" smtClean="0">
                        <a:latin typeface="Cambria Math" panose="02040503050406030204" pitchFamily="18" charset="0"/>
                        <a:cs typeface="Times New Roman" panose="02020603050405020304" pitchFamily="18" charset="0"/>
                      </a:rPr>
                      <m:t>𝑄</m:t>
                    </m:r>
                    <m:r>
                      <a:rPr lang="en-US" altLang="en-US" sz="2000" i="1" dirty="0" smtClean="0">
                        <a:latin typeface="Cambria Math" panose="02040503050406030204" pitchFamily="18" charset="0"/>
                        <a:cs typeface="Times New Roman" panose="02020603050405020304" pitchFamily="18" charset="0"/>
                      </a:rPr>
                      <m:t>1 − (1.5 × </m:t>
                    </m:r>
                    <m:r>
                      <a:rPr lang="en-US" altLang="en-US" sz="2000" i="1" dirty="0" smtClean="0">
                        <a:latin typeface="Cambria Math" panose="02040503050406030204" pitchFamily="18" charset="0"/>
                        <a:cs typeface="Times New Roman" panose="02020603050405020304" pitchFamily="18" charset="0"/>
                      </a:rPr>
                      <m:t>𝐼𝑄𝑅</m:t>
                    </m:r>
                    <m:r>
                      <a:rPr lang="en-US" altLang="en-US" sz="2000" i="1" dirty="0" smtClean="0">
                        <a:latin typeface="Cambria Math" panose="02040503050406030204" pitchFamily="18" charset="0"/>
                        <a:cs typeface="Times New Roman" panose="02020603050405020304" pitchFamily="18" charset="0"/>
                      </a:rPr>
                      <m:t>)</m:t>
                    </m:r>
                  </m:oMath>
                </a14:m>
                <a:endParaRPr lang="en-US" altLang="en-US" sz="2000" dirty="0">
                  <a:latin typeface="Times New Roman" panose="02020603050405020304" pitchFamily="18" charset="0"/>
                  <a:cs typeface="Times New Roman" panose="02020603050405020304" pitchFamily="18" charset="0"/>
                </a:endParaRPr>
              </a:p>
              <a:p>
                <a:pPr marL="44450" indent="0" algn="just">
                  <a:buNone/>
                </a:pPr>
                <a:r>
                  <a:rPr lang="en-US" altLang="en-US" sz="2000" dirty="0">
                    <a:latin typeface="Times New Roman" panose="02020603050405020304" pitchFamily="18" charset="0"/>
                    <a:cs typeface="Times New Roman" panose="02020603050405020304" pitchFamily="18" charset="0"/>
                  </a:rPr>
                  <a:t>Upper Fence: </a:t>
                </a:r>
                <a14:m>
                  <m:oMath xmlns:m="http://schemas.openxmlformats.org/officeDocument/2006/math">
                    <m:r>
                      <a:rPr lang="en-US" altLang="en-US" sz="2000" i="1" dirty="0" smtClean="0">
                        <a:latin typeface="Cambria Math" panose="02040503050406030204" pitchFamily="18" charset="0"/>
                        <a:cs typeface="Times New Roman" panose="02020603050405020304" pitchFamily="18" charset="0"/>
                      </a:rPr>
                      <m:t>𝑄</m:t>
                    </m:r>
                    <m:r>
                      <a:rPr lang="en-US" altLang="en-US" sz="2000" i="1" dirty="0" smtClean="0">
                        <a:latin typeface="Cambria Math" panose="02040503050406030204" pitchFamily="18" charset="0"/>
                        <a:cs typeface="Times New Roman" panose="02020603050405020304" pitchFamily="18" charset="0"/>
                      </a:rPr>
                      <m:t>3 + (1.5  × </m:t>
                    </m:r>
                    <m:r>
                      <a:rPr lang="en-US" altLang="en-US" sz="2000" i="1" dirty="0" smtClean="0">
                        <a:latin typeface="Cambria Math" panose="02040503050406030204" pitchFamily="18" charset="0"/>
                        <a:cs typeface="Times New Roman" panose="02020603050405020304" pitchFamily="18" charset="0"/>
                      </a:rPr>
                      <m:t>𝐼𝑄𝑅</m:t>
                    </m:r>
                    <m:r>
                      <a:rPr lang="en-US" altLang="en-US" sz="2000" i="1" dirty="0" smtClean="0">
                        <a:latin typeface="Cambria Math" panose="02040503050406030204" pitchFamily="18" charset="0"/>
                        <a:cs typeface="Times New Roman" panose="02020603050405020304" pitchFamily="18" charset="0"/>
                      </a:rPr>
                      <m:t>)</m:t>
                    </m:r>
                  </m:oMath>
                </a14:m>
                <a:endParaRPr lang="en-US" altLang="en-US" sz="2000" dirty="0">
                  <a:latin typeface="Times New Roman" panose="02020603050405020304" pitchFamily="18" charset="0"/>
                  <a:cs typeface="Times New Roman" panose="02020603050405020304" pitchFamily="18" charset="0"/>
                </a:endParaRPr>
              </a:p>
              <a:p>
                <a:pPr marL="44450" indent="0" algn="just">
                  <a:buNone/>
                </a:pPr>
                <a:r>
                  <a:rPr lang="en-US" altLang="en-US" sz="2000" dirty="0">
                    <a:latin typeface="Times New Roman" panose="02020603050405020304" pitchFamily="18" charset="0"/>
                    <a:cs typeface="Times New Roman" panose="02020603050405020304" pitchFamily="18" charset="0"/>
                  </a:rPr>
                  <a:t>Any data point smaller than the lower fence or larger than the upper fence is plotted individually as an outlier.</a:t>
                </a:r>
              </a:p>
            </p:txBody>
          </p:sp>
        </mc:Choice>
        <mc:Fallback xmlns="">
          <p:sp>
            <p:nvSpPr>
              <p:cNvPr id="17411" name="Content Placeholder 3">
                <a:extLst>
                  <a:ext uri="{FF2B5EF4-FFF2-40B4-BE49-F238E27FC236}">
                    <a16:creationId xmlns:a16="http://schemas.microsoft.com/office/drawing/2014/main" id="{8F2B2497-9624-CDC0-EFD0-87F43B51D54F}"/>
                  </a:ext>
                </a:extLst>
              </p:cNvPr>
              <p:cNvSpPr>
                <a:spLocks noGrp="1" noRot="1" noChangeAspect="1" noMove="1" noResize="1" noEditPoints="1" noAdjustHandles="1" noChangeArrowheads="1" noChangeShapeType="1" noTextEdit="1"/>
              </p:cNvSpPr>
              <p:nvPr>
                <p:ph idx="1"/>
              </p:nvPr>
            </p:nvSpPr>
            <p:spPr>
              <a:xfrm>
                <a:off x="1041401" y="1143000"/>
                <a:ext cx="6883400" cy="3470275"/>
              </a:xfrm>
              <a:blipFill>
                <a:blip r:embed="rId2"/>
                <a:stretch>
                  <a:fillRect l="-354" t="-1933" r="-886" b="-2460"/>
                </a:stretch>
              </a:blipFill>
            </p:spPr>
            <p:txBody>
              <a:bodyPr/>
              <a:lstStyle/>
              <a:p>
                <a:r>
                  <a:rPr lang="en-US">
                    <a:noFill/>
                  </a:rPr>
                  <a:t> </a:t>
                </a:r>
              </a:p>
            </p:txBody>
          </p:sp>
        </mc:Fallback>
      </mc:AlternateContent>
      <p:pic>
        <p:nvPicPr>
          <p:cNvPr id="17412" name="Picture 2" descr="This image has an empty alt attribute; its file name is box-whisker-plot-1024x562.jpg">
            <a:extLst>
              <a:ext uri="{FF2B5EF4-FFF2-40B4-BE49-F238E27FC236}">
                <a16:creationId xmlns:a16="http://schemas.microsoft.com/office/drawing/2014/main" xmlns="" id="{62B32FAC-8737-0031-8EDE-265FEF5987B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t="15334"/>
          <a:stretch>
            <a:fillRect/>
          </a:stretch>
        </p:blipFill>
        <p:spPr bwMode="auto">
          <a:xfrm>
            <a:off x="7924801" y="1961356"/>
            <a:ext cx="3944428" cy="1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4305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5152C5D-101F-2C63-B36D-19B1B7C6BA8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xmlns="" id="{571D752C-373A-5959-4392-EFA8B68BD96A}"/>
              </a:ext>
            </a:extLst>
          </p:cNvPr>
          <p:cNvSpPr>
            <a:spLocks noGrp="1"/>
          </p:cNvSpPr>
          <p:nvPr>
            <p:ph type="title"/>
          </p:nvPr>
        </p:nvSpPr>
        <p:spPr>
          <a:xfrm>
            <a:off x="1143000" y="523875"/>
            <a:ext cx="9875838" cy="6191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Data Visualization: Box Plot: </a:t>
            </a: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For Understanding Distribution</a:t>
            </a:r>
          </a:p>
        </p:txBody>
      </p:sp>
      <p:sp>
        <p:nvSpPr>
          <p:cNvPr id="17411" name="Content Placeholder 3">
            <a:extLst>
              <a:ext uri="{FF2B5EF4-FFF2-40B4-BE49-F238E27FC236}">
                <a16:creationId xmlns:a16="http://schemas.microsoft.com/office/drawing/2014/main" xmlns="" id="{3458F6D0-705E-CB75-C860-AE0412301B88}"/>
              </a:ext>
            </a:extLst>
          </p:cNvPr>
          <p:cNvSpPr>
            <a:spLocks noGrp="1"/>
          </p:cNvSpPr>
          <p:nvPr>
            <p:ph idx="1"/>
          </p:nvPr>
        </p:nvSpPr>
        <p:spPr>
          <a:xfrm>
            <a:off x="1041401" y="1143001"/>
            <a:ext cx="6883400" cy="2326640"/>
          </a:xfrm>
        </p:spPr>
        <p:txBody>
          <a:bodyPr/>
          <a:lstStyle/>
          <a:p>
            <a:pPr marL="44450" indent="0" algn="just">
              <a:buNone/>
            </a:pPr>
            <a:r>
              <a:rPr lang="en-US" sz="2000" b="1" dirty="0">
                <a:latin typeface="Times New Roman" panose="02020603050405020304" pitchFamily="18" charset="0"/>
                <a:cs typeface="Times New Roman" panose="02020603050405020304" pitchFamily="18" charset="0"/>
              </a:rPr>
              <a:t>What a Box Plot Tells You at a Glance</a:t>
            </a:r>
          </a:p>
          <a:p>
            <a:pPr marL="44450" indent="0" algn="just">
              <a:buNone/>
            </a:pPr>
            <a:r>
              <a:rPr lang="en-US" altLang="en-US" sz="2000" b="1" dirty="0">
                <a:latin typeface="Times New Roman" panose="02020603050405020304" pitchFamily="18" charset="0"/>
                <a:cs typeface="Times New Roman" panose="02020603050405020304" pitchFamily="18" charset="0"/>
              </a:rPr>
              <a:t>1. Variability and Spread: </a:t>
            </a:r>
            <a:r>
              <a:rPr lang="en-US" altLang="en-US" sz="1800" dirty="0">
                <a:latin typeface="Times New Roman" panose="02020603050405020304" pitchFamily="18" charset="0"/>
                <a:cs typeface="Times New Roman" panose="02020603050405020304" pitchFamily="18" charset="0"/>
              </a:rPr>
              <a:t>A long box means the data is highly spread out and has high variance. A short box means the middle 50% of the data points are highly clustered together (low variance)</a:t>
            </a:r>
          </a:p>
          <a:p>
            <a:pPr marL="44450" indent="0" algn="just">
              <a:buNone/>
            </a:pPr>
            <a:r>
              <a:rPr lang="en-US" altLang="en-US" sz="2000" b="1" dirty="0">
                <a:latin typeface="Times New Roman" panose="02020603050405020304" pitchFamily="18" charset="0"/>
                <a:cs typeface="Times New Roman" panose="02020603050405020304" pitchFamily="18" charset="0"/>
              </a:rPr>
              <a:t>2. Identifying Skewness: </a:t>
            </a:r>
            <a:r>
              <a:rPr lang="en-US" altLang="en-US" sz="2000" dirty="0">
                <a:latin typeface="Times New Roman" panose="02020603050405020304" pitchFamily="18" charset="0"/>
                <a:cs typeface="Times New Roman" panose="02020603050405020304" pitchFamily="18" charset="0"/>
              </a:rPr>
              <a:t>By looking at the position of the median line inside the box, you can determine the distribution's shape without looking at a histogram:</a:t>
            </a:r>
          </a:p>
        </p:txBody>
      </p:sp>
      <p:pic>
        <p:nvPicPr>
          <p:cNvPr id="17412" name="Picture 2" descr="This image has an empty alt attribute; its file name is box-whisker-plot-1024x562.jpg">
            <a:extLst>
              <a:ext uri="{FF2B5EF4-FFF2-40B4-BE49-F238E27FC236}">
                <a16:creationId xmlns:a16="http://schemas.microsoft.com/office/drawing/2014/main" xmlns="" id="{F6271B9F-A6F5-3890-C9FD-4898A151457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15334"/>
          <a:stretch>
            <a:fillRect/>
          </a:stretch>
        </p:blipFill>
        <p:spPr bwMode="auto">
          <a:xfrm>
            <a:off x="7924801" y="1587181"/>
            <a:ext cx="3944428" cy="1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a:extLst>
              <a:ext uri="{FF2B5EF4-FFF2-40B4-BE49-F238E27FC236}">
                <a16:creationId xmlns:a16="http://schemas.microsoft.com/office/drawing/2014/main" xmlns="" id="{1427B174-5957-669D-6958-CD365168B39E}"/>
              </a:ext>
            </a:extLst>
          </p:cNvPr>
          <p:cNvGraphicFramePr>
            <a:graphicFrameLocks noGrp="1"/>
          </p:cNvGraphicFramePr>
          <p:nvPr>
            <p:extLst>
              <p:ext uri="{D42A27DB-BD31-4B8C-83A1-F6EECF244321}">
                <p14:modId xmlns:p14="http://schemas.microsoft.com/office/powerpoint/2010/main" val="3133198692"/>
              </p:ext>
            </p:extLst>
          </p:nvPr>
        </p:nvGraphicFramePr>
        <p:xfrm>
          <a:off x="2253343" y="3889329"/>
          <a:ext cx="8111331" cy="2326640"/>
        </p:xfrm>
        <a:graphic>
          <a:graphicData uri="http://schemas.openxmlformats.org/drawingml/2006/table">
            <a:tbl>
              <a:tblPr>
                <a:tableStyleId>{3C2FFA5D-87B4-456A-9821-1D502468CF0F}</a:tableStyleId>
              </a:tblPr>
              <a:tblGrid>
                <a:gridCol w="3175000">
                  <a:extLst>
                    <a:ext uri="{9D8B030D-6E8A-4147-A177-3AD203B41FA5}">
                      <a16:colId xmlns:a16="http://schemas.microsoft.com/office/drawing/2014/main" xmlns="" val="3273320979"/>
                    </a:ext>
                  </a:extLst>
                </a:gridCol>
                <a:gridCol w="4936331">
                  <a:extLst>
                    <a:ext uri="{9D8B030D-6E8A-4147-A177-3AD203B41FA5}">
                      <a16:colId xmlns:a16="http://schemas.microsoft.com/office/drawing/2014/main" xmlns="" val="2202592044"/>
                    </a:ext>
                  </a:extLst>
                </a:gridCol>
              </a:tblGrid>
              <a:tr h="375920">
                <a:tc>
                  <a:txBody>
                    <a:bodyPr/>
                    <a:lstStyle/>
                    <a:p>
                      <a:pPr rtl="0">
                        <a:buNone/>
                      </a:pPr>
                      <a:r>
                        <a:rPr lang="en-US" sz="1800" b="1" dirty="0">
                          <a:solidFill>
                            <a:srgbClr val="1F1F1F"/>
                          </a:solidFill>
                          <a:effectLst/>
                          <a:latin typeface="Times New Roman" panose="02020603050405020304" pitchFamily="18" charset="0"/>
                          <a:cs typeface="Times New Roman" panose="02020603050405020304" pitchFamily="18" charset="0"/>
                        </a:rPr>
                        <a:t>Visual Indicator</a:t>
                      </a:r>
                    </a:p>
                  </a:txBody>
                  <a:tcPr marL="76200" marR="76200" marT="50800" marB="50800" anchor="ctr"/>
                </a:tc>
                <a:tc>
                  <a:txBody>
                    <a:bodyPr/>
                    <a:lstStyle/>
                    <a:p>
                      <a:pPr rtl="0">
                        <a:buNone/>
                      </a:pPr>
                      <a:r>
                        <a:rPr lang="en-US" sz="1800" b="1" dirty="0">
                          <a:solidFill>
                            <a:srgbClr val="1F1F1F"/>
                          </a:solidFill>
                          <a:effectLst/>
                          <a:latin typeface="Times New Roman" panose="02020603050405020304" pitchFamily="18" charset="0"/>
                          <a:cs typeface="Times New Roman" panose="02020603050405020304" pitchFamily="18" charset="0"/>
                        </a:rPr>
                        <a:t>Statistical Meaning</a:t>
                      </a:r>
                    </a:p>
                  </a:txBody>
                  <a:tcPr marL="76200" marR="76200" marT="50800" marB="50800" anchor="ctr"/>
                </a:tc>
                <a:extLst>
                  <a:ext uri="{0D108BD9-81ED-4DB2-BD59-A6C34878D82A}">
                    <a16:rowId xmlns:a16="http://schemas.microsoft.com/office/drawing/2014/main" xmlns="" val="1190674208"/>
                  </a:ext>
                </a:extLst>
              </a:tr>
              <a:tr h="650240">
                <a:tc>
                  <a:txBody>
                    <a:bodyPr/>
                    <a:lstStyle/>
                    <a:p>
                      <a:pPr rtl="0">
                        <a:buNone/>
                      </a:pPr>
                      <a:r>
                        <a:rPr lang="en-US" sz="1800" b="0">
                          <a:solidFill>
                            <a:srgbClr val="1F1F1F"/>
                          </a:solidFill>
                          <a:effectLst/>
                          <a:latin typeface="Times New Roman" panose="02020603050405020304" pitchFamily="18" charset="0"/>
                          <a:cs typeface="Times New Roman" panose="02020603050405020304" pitchFamily="18" charset="0"/>
                        </a:rPr>
                        <a:t>Median is perfectly in the center</a:t>
                      </a:r>
                    </a:p>
                  </a:txBody>
                  <a:tcPr marL="76200" marR="76200" marT="50800" marB="50800" anchor="ctr"/>
                </a:tc>
                <a:tc>
                  <a:txBody>
                    <a:bodyPr/>
                    <a:lstStyle/>
                    <a:p>
                      <a:pPr rtl="0">
                        <a:buNone/>
                      </a:pPr>
                      <a:r>
                        <a:rPr lang="en-US" sz="1800" b="0">
                          <a:solidFill>
                            <a:srgbClr val="1F1F1F"/>
                          </a:solidFill>
                          <a:effectLst/>
                          <a:latin typeface="Times New Roman" panose="02020603050405020304" pitchFamily="18" charset="0"/>
                          <a:cs typeface="Times New Roman" panose="02020603050405020304" pitchFamily="18" charset="0"/>
                        </a:rPr>
                        <a:t>The distribution is symmetrical (e.g., normal distribution).</a:t>
                      </a:r>
                    </a:p>
                  </a:txBody>
                  <a:tcPr marL="76200" marR="76200" marT="50800" marB="50800" anchor="ctr"/>
                </a:tc>
                <a:extLst>
                  <a:ext uri="{0D108BD9-81ED-4DB2-BD59-A6C34878D82A}">
                    <a16:rowId xmlns:a16="http://schemas.microsoft.com/office/drawing/2014/main" xmlns="" val="878638668"/>
                  </a:ext>
                </a:extLst>
              </a:tr>
              <a:tr h="650240">
                <a:tc>
                  <a:txBody>
                    <a:bodyPr/>
                    <a:lstStyle/>
                    <a:p>
                      <a:pPr rtl="0">
                        <a:buNone/>
                      </a:pPr>
                      <a:r>
                        <a:rPr lang="en-US" sz="1800" b="0" dirty="0">
                          <a:solidFill>
                            <a:srgbClr val="1F1F1F"/>
                          </a:solidFill>
                          <a:effectLst/>
                          <a:latin typeface="Times New Roman" panose="02020603050405020304" pitchFamily="18" charset="0"/>
                          <a:cs typeface="Times New Roman" panose="02020603050405020304" pitchFamily="18" charset="0"/>
                        </a:rPr>
                        <a:t>Median is closer to </a:t>
                      </a:r>
                      <a:r>
                        <a:rPr lang="en-US" sz="1800" b="0" dirty="0" smtClean="0">
                          <a:solidFill>
                            <a:srgbClr val="1F1F1F"/>
                          </a:solidFill>
                          <a:effectLst/>
                          <a:latin typeface="Times New Roman" panose="02020603050405020304" pitchFamily="18" charset="0"/>
                          <a:cs typeface="Times New Roman" panose="02020603050405020304" pitchFamily="18" charset="0"/>
                        </a:rPr>
                        <a:t>Q1</a:t>
                      </a:r>
                      <a:endParaRPr lang="en-US" sz="1800" b="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tc>
                  <a:txBody>
                    <a:bodyPr/>
                    <a:lstStyle/>
                    <a:p>
                      <a:pPr rtl="0">
                        <a:buNone/>
                      </a:pPr>
                      <a:r>
                        <a:rPr lang="en-US" sz="1800" b="0">
                          <a:solidFill>
                            <a:srgbClr val="1F1F1F"/>
                          </a:solidFill>
                          <a:effectLst/>
                          <a:latin typeface="Times New Roman" panose="02020603050405020304" pitchFamily="18" charset="0"/>
                          <a:cs typeface="Times New Roman" panose="02020603050405020304" pitchFamily="18" charset="0"/>
                        </a:rPr>
                        <a:t>The data is positively skewed (right-skewed). A few high values are pulling the tail.</a:t>
                      </a:r>
                    </a:p>
                  </a:txBody>
                  <a:tcPr marL="76200" marR="76200" marT="50800" marB="50800" anchor="ctr"/>
                </a:tc>
                <a:extLst>
                  <a:ext uri="{0D108BD9-81ED-4DB2-BD59-A6C34878D82A}">
                    <a16:rowId xmlns:a16="http://schemas.microsoft.com/office/drawing/2014/main" xmlns="" val="3949000136"/>
                  </a:ext>
                </a:extLst>
              </a:tr>
              <a:tr h="650240">
                <a:tc>
                  <a:txBody>
                    <a:bodyPr/>
                    <a:lstStyle/>
                    <a:p>
                      <a:pPr rtl="0">
                        <a:buNone/>
                      </a:pPr>
                      <a:r>
                        <a:rPr lang="en-US" sz="1800" b="0" dirty="0">
                          <a:solidFill>
                            <a:srgbClr val="1F1F1F"/>
                          </a:solidFill>
                          <a:effectLst/>
                          <a:latin typeface="Times New Roman" panose="02020603050405020304" pitchFamily="18" charset="0"/>
                          <a:cs typeface="Times New Roman" panose="02020603050405020304" pitchFamily="18" charset="0"/>
                        </a:rPr>
                        <a:t>Median is closer to </a:t>
                      </a:r>
                      <a:r>
                        <a:rPr lang="en-US" sz="1800" b="0" dirty="0" smtClean="0">
                          <a:solidFill>
                            <a:srgbClr val="1F1F1F"/>
                          </a:solidFill>
                          <a:effectLst/>
                          <a:latin typeface="Times New Roman" panose="02020603050405020304" pitchFamily="18" charset="0"/>
                          <a:cs typeface="Times New Roman" panose="02020603050405020304" pitchFamily="18" charset="0"/>
                        </a:rPr>
                        <a:t>Q3</a:t>
                      </a:r>
                      <a:endParaRPr lang="en-US" sz="1800" b="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tc>
                  <a:txBody>
                    <a:bodyPr/>
                    <a:lstStyle/>
                    <a:p>
                      <a:pPr rtl="0">
                        <a:buNone/>
                      </a:pPr>
                      <a:r>
                        <a:rPr lang="en-US" sz="1800" b="0" dirty="0">
                          <a:solidFill>
                            <a:srgbClr val="1F1F1F"/>
                          </a:solidFill>
                          <a:effectLst/>
                          <a:latin typeface="Times New Roman" panose="02020603050405020304" pitchFamily="18" charset="0"/>
                          <a:cs typeface="Times New Roman" panose="02020603050405020304" pitchFamily="18" charset="0"/>
                        </a:rPr>
                        <a:t>The data is negatively skewed (left-skewed). A few low values are pulling the tail.</a:t>
                      </a:r>
                    </a:p>
                  </a:txBody>
                  <a:tcPr marL="76200" marR="76200" marT="50800" marB="50800" anchor="ctr"/>
                </a:tc>
                <a:extLst>
                  <a:ext uri="{0D108BD9-81ED-4DB2-BD59-A6C34878D82A}">
                    <a16:rowId xmlns:a16="http://schemas.microsoft.com/office/drawing/2014/main" xmlns="" val="2083423102"/>
                  </a:ext>
                </a:extLst>
              </a:tr>
            </a:tbl>
          </a:graphicData>
        </a:graphic>
      </p:graphicFrame>
    </p:spTree>
    <p:extLst>
      <p:ext uri="{BB962C8B-B14F-4D97-AF65-F5344CB8AC3E}">
        <p14:creationId xmlns:p14="http://schemas.microsoft.com/office/powerpoint/2010/main" val="2881036276"/>
      </p:ext>
    </p:extLst>
  </p:cSld>
  <p:clrMapOvr>
    <a:masterClrMapping/>
  </p:clrMapOvr>
</p:sld>
</file>

<file path=ppt/theme/theme1.xml><?xml version="1.0" encoding="utf-8"?>
<a:theme xmlns:a="http://schemas.openxmlformats.org/drawingml/2006/main" name="Basis">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xmlns=""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33136</TotalTime>
  <Words>2287</Words>
  <Application>Microsoft Office PowerPoint</Application>
  <PresentationFormat>Custom</PresentationFormat>
  <Paragraphs>169</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Basis</vt:lpstr>
      <vt:lpstr>EDA: Visualization</vt:lpstr>
      <vt:lpstr>Data Visualization </vt:lpstr>
      <vt:lpstr>Data Visualization: Understanding Distributions</vt:lpstr>
      <vt:lpstr>Data Visualization: Understanding Distributions</vt:lpstr>
      <vt:lpstr>Data Visualization: Understanding Distributions</vt:lpstr>
      <vt:lpstr>Data Visualization: Understanding Distributions</vt:lpstr>
      <vt:lpstr>Data Visualization: Scatter Plot</vt:lpstr>
      <vt:lpstr>Data Visualization: Scatter Plot</vt:lpstr>
      <vt:lpstr>Data Visualization: Bubble Chart</vt:lpstr>
      <vt:lpstr>Data Visualization: Bubble Chart</vt:lpstr>
      <vt:lpstr>Data Visualization: Heat Map</vt:lpstr>
      <vt:lpstr>Data Visualization: Heat Map</vt:lpstr>
      <vt:lpstr>Data Visualization: Histogram</vt:lpstr>
      <vt:lpstr>Data Visualization: Bar Chart</vt:lpstr>
      <vt:lpstr>Data Visualization: Line Chart</vt:lpstr>
      <vt:lpstr>Data Visualization: Pie Chart</vt:lpstr>
      <vt:lpstr>Data Visualization: Tree Map</vt:lpstr>
      <vt:lpstr>Data Visualization: Box Plot</vt:lpstr>
      <vt:lpstr>Data Visualization: Box Plot: For Understanding Distribution</vt:lpstr>
      <vt:lpstr>Data Visualization: Box Plot: For Understanding Distribution</vt:lpstr>
      <vt:lpstr>Data Visualization: Box Plot: For Understanding Distribution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Mining</dc:title>
  <dc:creator>HP</dc:creator>
  <cp:lastModifiedBy>Ashraf</cp:lastModifiedBy>
  <cp:revision>590</cp:revision>
  <dcterms:created xsi:type="dcterms:W3CDTF">2016-09-26T17:30:27Z</dcterms:created>
  <dcterms:modified xsi:type="dcterms:W3CDTF">2026-06-10T14:37:24Z</dcterms:modified>
</cp:coreProperties>
</file>