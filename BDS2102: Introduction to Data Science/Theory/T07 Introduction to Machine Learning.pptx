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92" r:id="rId3"/>
    <p:sldId id="277" r:id="rId4"/>
    <p:sldId id="278" r:id="rId5"/>
    <p:sldId id="279" r:id="rId6"/>
    <p:sldId id="280" r:id="rId7"/>
    <p:sldId id="281" r:id="rId8"/>
    <p:sldId id="282" r:id="rId9"/>
    <p:sldId id="283" r:id="rId10"/>
    <p:sldId id="258" r:id="rId11"/>
    <p:sldId id="284" r:id="rId12"/>
    <p:sldId id="291" r:id="rId13"/>
    <p:sldId id="293" r:id="rId14"/>
    <p:sldId id="294" r:id="rId15"/>
    <p:sldId id="285" r:id="rId16"/>
    <p:sldId id="295" r:id="rId17"/>
    <p:sldId id="259" r:id="rId18"/>
    <p:sldId id="260" r:id="rId19"/>
    <p:sldId id="261" r:id="rId20"/>
    <p:sldId id="262" r:id="rId2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18" d="100"/>
          <a:sy n="118" d="100"/>
        </p:scale>
        <p:origin x="-1398" y="-18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2C4CB-14E1-43EC-9E25-77CFC75FDBE0}" type="datetimeFigureOut">
              <a:rPr lang="en-US" smtClean="0"/>
              <a:t>14-Apr-26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02EF3-4937-48F5-B6FA-9356B5FF02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830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2C4CB-14E1-43EC-9E25-77CFC75FDBE0}" type="datetimeFigureOut">
              <a:rPr lang="en-US" smtClean="0"/>
              <a:t>14-Apr-26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02EF3-4937-48F5-B6FA-9356B5FF02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76326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2C4CB-14E1-43EC-9E25-77CFC75FDBE0}" type="datetimeFigureOut">
              <a:rPr lang="en-US" smtClean="0"/>
              <a:t>14-Apr-26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02EF3-4937-48F5-B6FA-9356B5FF02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6480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2C4CB-14E1-43EC-9E25-77CFC75FDBE0}" type="datetimeFigureOut">
              <a:rPr lang="en-US" smtClean="0"/>
              <a:t>14-Apr-26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02EF3-4937-48F5-B6FA-9356B5FF02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13926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2C4CB-14E1-43EC-9E25-77CFC75FDBE0}" type="datetimeFigureOut">
              <a:rPr lang="en-US" smtClean="0"/>
              <a:t>14-Apr-26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02EF3-4937-48F5-B6FA-9356B5FF02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68835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2C4CB-14E1-43EC-9E25-77CFC75FDBE0}" type="datetimeFigureOut">
              <a:rPr lang="en-US" smtClean="0"/>
              <a:t>14-Apr-26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02EF3-4937-48F5-B6FA-9356B5FF02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32534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2C4CB-14E1-43EC-9E25-77CFC75FDBE0}" type="datetimeFigureOut">
              <a:rPr lang="en-US" smtClean="0"/>
              <a:t>14-Apr-26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02EF3-4937-48F5-B6FA-9356B5FF02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63629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2C4CB-14E1-43EC-9E25-77CFC75FDBE0}" type="datetimeFigureOut">
              <a:rPr lang="en-US" smtClean="0"/>
              <a:t>14-Apr-26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02EF3-4937-48F5-B6FA-9356B5FF02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90970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2C4CB-14E1-43EC-9E25-77CFC75FDBE0}" type="datetimeFigureOut">
              <a:rPr lang="en-US" smtClean="0"/>
              <a:t>14-Apr-26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02EF3-4937-48F5-B6FA-9356B5FF02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2356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2C4CB-14E1-43EC-9E25-77CFC75FDBE0}" type="datetimeFigureOut">
              <a:rPr lang="en-US" smtClean="0"/>
              <a:t>14-Apr-26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02EF3-4937-48F5-B6FA-9356B5FF02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82788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E2C4CB-14E1-43EC-9E25-77CFC75FDBE0}" type="datetimeFigureOut">
              <a:rPr lang="en-US" smtClean="0"/>
              <a:t>14-Apr-26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F02EF3-4937-48F5-B6FA-9356B5FF02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26273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E2C4CB-14E1-43EC-9E25-77CFC75FDBE0}" type="datetimeFigureOut">
              <a:rPr lang="en-US" smtClean="0"/>
              <a:t>14-Apr-26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F02EF3-4937-48F5-B6FA-9356B5FF02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72516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0200" y="381000"/>
            <a:ext cx="6096000" cy="708025"/>
          </a:xfrm>
        </p:spPr>
        <p:txBody>
          <a:bodyPr>
            <a:normAutofit/>
          </a:bodyPr>
          <a:lstStyle/>
          <a:p>
            <a:r>
              <a:rPr lang="en-US" sz="3200">
                <a:latin typeface="Times New Roman" pitchFamily="18" charset="0"/>
                <a:cs typeface="Times New Roman" pitchFamily="18" charset="0"/>
              </a:rPr>
              <a:t>Introduction to Machine Learning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6" name="Picture 8">
            <a:extLst>
              <a:ext uri="{FF2B5EF4-FFF2-40B4-BE49-F238E27FC236}">
                <a16:creationId xmlns="" xmlns:a16="http://schemas.microsoft.com/office/drawing/2014/main" id="{143F21B7-750E-957F-E6C6-C2D97215E6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150" y="1295400"/>
            <a:ext cx="8420100" cy="4772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Oval 6">
            <a:extLst>
              <a:ext uri="{FF2B5EF4-FFF2-40B4-BE49-F238E27FC236}">
                <a16:creationId xmlns="" xmlns:a16="http://schemas.microsoft.com/office/drawing/2014/main" id="{45E63A0E-6125-F74E-106F-FF8D037473CF}"/>
              </a:ext>
            </a:extLst>
          </p:cNvPr>
          <p:cNvSpPr/>
          <p:nvPr/>
        </p:nvSpPr>
        <p:spPr>
          <a:xfrm>
            <a:off x="3124200" y="3148013"/>
            <a:ext cx="2362200" cy="152400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55751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1D4E70C7-A0A1-DE4E-AC00-7010F73D01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0C5084B1-1EF7-37D4-30C7-7BF0CE690A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00200" y="381000"/>
            <a:ext cx="6096000" cy="708025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Introduction to Machine Learning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8CA79F35-16AA-64B9-F4A0-AA81B16B62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5800" y="1371600"/>
            <a:ext cx="7467600" cy="4343400"/>
          </a:xfrm>
        </p:spPr>
        <p:txBody>
          <a:bodyPr>
            <a:normAutofit/>
          </a:bodyPr>
          <a:lstStyle/>
          <a:p>
            <a:pPr algn="just"/>
            <a:r>
              <a:rPr lang="en-US" sz="1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Definition of Machine Learning (ML)</a:t>
            </a:r>
          </a:p>
          <a:p>
            <a:pPr algn="just"/>
            <a:r>
              <a:rPr lang="en-US" sz="1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Differences between AI, ML, and Deep Learning</a:t>
            </a:r>
          </a:p>
          <a:p>
            <a:pPr algn="just"/>
            <a:r>
              <a:rPr lang="en-US" sz="1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Real-world applications of ML (e.g., image recognition, natural language processing, recommendation systems)</a:t>
            </a:r>
          </a:p>
        </p:txBody>
      </p:sp>
    </p:spTree>
    <p:extLst>
      <p:ext uri="{BB962C8B-B14F-4D97-AF65-F5344CB8AC3E}">
        <p14:creationId xmlns:p14="http://schemas.microsoft.com/office/powerpoint/2010/main" val="18700481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0200" y="381000"/>
            <a:ext cx="6096000" cy="708025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Machine Learning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1371600"/>
            <a:ext cx="7467600" cy="4343400"/>
          </a:xfrm>
        </p:spPr>
        <p:txBody>
          <a:bodyPr>
            <a:normAutofit/>
          </a:bodyPr>
          <a:lstStyle/>
          <a:p>
            <a:pPr algn="just"/>
            <a:r>
              <a:rPr lang="en-US" sz="1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Machine Learning (ML) is a branch of artificial intelligence (AI) that focuses on building systems that can </a:t>
            </a:r>
            <a:r>
              <a:rPr lang="en-US" sz="18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learn from data, identify patterns, and make decisions</a:t>
            </a:r>
            <a:r>
              <a:rPr lang="en-US" sz="1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with minimal human intervention. </a:t>
            </a:r>
          </a:p>
          <a:p>
            <a:pPr algn="just"/>
            <a:r>
              <a:rPr lang="en-US" sz="1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In essence, machine learning allows computers to "learn" from past experiences (</a:t>
            </a:r>
            <a:r>
              <a:rPr lang="en-US" sz="18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data</a:t>
            </a:r>
            <a:r>
              <a:rPr lang="en-US" sz="1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) and improve their performance over time without being explicitly programmed for every possible scenario.</a:t>
            </a:r>
          </a:p>
        </p:txBody>
      </p:sp>
      <p:pic>
        <p:nvPicPr>
          <p:cNvPr id="1026" name="Picture 2" descr="What is Machine Learning? The Ultimate Beginner's Guide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3271510"/>
            <a:ext cx="3428999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>
            <a:off x="5715000" y="4648200"/>
            <a:ext cx="29718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/>
              <a:t>https://www.v7labs.com/blog/machine-learning-guide</a:t>
            </a:r>
          </a:p>
        </p:txBody>
      </p:sp>
    </p:spTree>
    <p:extLst>
      <p:ext uri="{BB962C8B-B14F-4D97-AF65-F5344CB8AC3E}">
        <p14:creationId xmlns:p14="http://schemas.microsoft.com/office/powerpoint/2010/main" val="34922260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0200" y="381000"/>
            <a:ext cx="6096000" cy="708025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Machine Learning: Applications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1371600"/>
            <a:ext cx="7467600" cy="4343400"/>
          </a:xfrm>
        </p:spPr>
        <p:txBody>
          <a:bodyPr>
            <a:normAutofit/>
          </a:bodyPr>
          <a:lstStyle/>
          <a:p>
            <a:pPr algn="just"/>
            <a:r>
              <a:rPr lang="en-US" sz="18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Image Recognition:</a:t>
            </a:r>
          </a:p>
          <a:p>
            <a:pPr algn="just"/>
            <a:endParaRPr lang="en-US" sz="18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18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Facial Recognition: </a:t>
            </a:r>
            <a:r>
              <a:rPr lang="en-US" sz="1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Used in smartphones, social media platforms (e.g., Facebook photo tagging), and security systems. ML algorithms can detect and recognize human faces in images or videos.</a:t>
            </a:r>
          </a:p>
          <a:p>
            <a:pPr algn="just"/>
            <a:endParaRPr lang="en-US" sz="18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18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Medical Imaging: </a:t>
            </a:r>
            <a:r>
              <a:rPr lang="en-US" sz="1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ML is used in analyzing X-rays, MRIs, and CT scans to identify abnormalities such as tumors, fractures, or other diseases.</a:t>
            </a:r>
          </a:p>
          <a:p>
            <a:pPr algn="just"/>
            <a:endParaRPr lang="en-US" sz="18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18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Object Detection: </a:t>
            </a:r>
            <a:r>
              <a:rPr lang="en-US" sz="1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Used in autonomous vehicles, retail (e.g., Amazon Go stores), and security surveillance systems.</a:t>
            </a:r>
          </a:p>
        </p:txBody>
      </p:sp>
    </p:spTree>
    <p:extLst>
      <p:ext uri="{BB962C8B-B14F-4D97-AF65-F5344CB8AC3E}">
        <p14:creationId xmlns:p14="http://schemas.microsoft.com/office/powerpoint/2010/main" val="17200805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0200" y="381000"/>
            <a:ext cx="6096000" cy="708025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Machine Learning: Applications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1371600"/>
            <a:ext cx="7467600" cy="4343400"/>
          </a:xfrm>
        </p:spPr>
        <p:txBody>
          <a:bodyPr>
            <a:normAutofit/>
          </a:bodyPr>
          <a:lstStyle/>
          <a:p>
            <a:pPr algn="just"/>
            <a:r>
              <a:rPr lang="en-US" sz="18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Speech and Voice Recognition:</a:t>
            </a:r>
          </a:p>
          <a:p>
            <a:pPr algn="just"/>
            <a:endParaRPr lang="en-US" sz="18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18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Virtual Assistants: </a:t>
            </a:r>
            <a:r>
              <a:rPr lang="en-US" sz="1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ML powers virtual assistants like </a:t>
            </a:r>
            <a:r>
              <a:rPr lang="en-US" sz="18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Siri</a:t>
            </a:r>
            <a:r>
              <a:rPr lang="en-US" sz="1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18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Alexa</a:t>
            </a:r>
            <a:r>
              <a:rPr lang="en-US" sz="1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, and Google Assistant, enabling them to recognize and respond to voice commands.</a:t>
            </a:r>
          </a:p>
          <a:p>
            <a:pPr algn="just"/>
            <a:endParaRPr lang="en-US" sz="18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18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Speech-to-Text: </a:t>
            </a:r>
            <a:r>
              <a:rPr lang="en-US" sz="1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Applications like Google Voice Typing and automated transcription services convert spoken words into written text.</a:t>
            </a:r>
          </a:p>
          <a:p>
            <a:pPr algn="just"/>
            <a:endParaRPr lang="en-US" sz="18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18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Voice Biometrics:</a:t>
            </a:r>
            <a:r>
              <a:rPr lang="en-US" sz="1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Used in security systems for identifying individuals based on their voice.</a:t>
            </a:r>
          </a:p>
        </p:txBody>
      </p:sp>
    </p:spTree>
    <p:extLst>
      <p:ext uri="{BB962C8B-B14F-4D97-AF65-F5344CB8AC3E}">
        <p14:creationId xmlns:p14="http://schemas.microsoft.com/office/powerpoint/2010/main" val="25813549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0200" y="381000"/>
            <a:ext cx="6096000" cy="708025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Machine Learning: Applications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1371600"/>
            <a:ext cx="7467600" cy="4343400"/>
          </a:xfrm>
        </p:spPr>
        <p:txBody>
          <a:bodyPr>
            <a:normAutofit/>
          </a:bodyPr>
          <a:lstStyle/>
          <a:p>
            <a:pPr algn="just"/>
            <a:r>
              <a:rPr lang="en-US" sz="18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Natural Language Processing (NLP):</a:t>
            </a:r>
          </a:p>
          <a:p>
            <a:pPr algn="just"/>
            <a:endParaRPr lang="en-US" sz="18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1800" b="1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Chatbots</a:t>
            </a:r>
            <a:r>
              <a:rPr lang="en-US" sz="18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and Customer Support: </a:t>
            </a:r>
            <a:r>
              <a:rPr lang="en-US" sz="1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ML-driven </a:t>
            </a:r>
            <a:r>
              <a:rPr lang="en-US" sz="18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chatbots</a:t>
            </a:r>
            <a:r>
              <a:rPr lang="en-US" sz="1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can understand and respond to customer queries, improving customer service for companies like banks, e-commerce platforms, and service providers.</a:t>
            </a:r>
          </a:p>
          <a:p>
            <a:pPr algn="just"/>
            <a:endParaRPr lang="en-US" sz="18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18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Language Translation: </a:t>
            </a:r>
            <a:r>
              <a:rPr lang="en-US" sz="1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Google Translate and other language translation apps use ML models to translate text and speech between different languages.</a:t>
            </a:r>
          </a:p>
          <a:p>
            <a:pPr algn="just"/>
            <a:endParaRPr lang="en-US" sz="18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18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Sentiment Analysis: </a:t>
            </a:r>
            <a:r>
              <a:rPr lang="en-US" sz="1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Businesses use ML to analyze customer reviews, social media posts, and other text data to determine public sentiment or opinions about products or services.</a:t>
            </a:r>
          </a:p>
        </p:txBody>
      </p:sp>
    </p:spTree>
    <p:extLst>
      <p:ext uri="{BB962C8B-B14F-4D97-AF65-F5344CB8AC3E}">
        <p14:creationId xmlns:p14="http://schemas.microsoft.com/office/powerpoint/2010/main" val="30931785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0200" y="381000"/>
            <a:ext cx="6096000" cy="708025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Machine Learning: Applications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1371600"/>
            <a:ext cx="7467600" cy="4343400"/>
          </a:xfrm>
        </p:spPr>
        <p:txBody>
          <a:bodyPr>
            <a:normAutofit/>
          </a:bodyPr>
          <a:lstStyle/>
          <a:p>
            <a:pPr algn="just"/>
            <a:r>
              <a:rPr lang="en-US" sz="18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Recommendation Systems:</a:t>
            </a:r>
          </a:p>
          <a:p>
            <a:pPr algn="just"/>
            <a:endParaRPr lang="en-US" sz="18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18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E-commerce: </a:t>
            </a:r>
            <a:r>
              <a:rPr lang="en-US" sz="1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Platforms like Amazon and </a:t>
            </a:r>
            <a:r>
              <a:rPr lang="en-US" sz="18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Alibaba</a:t>
            </a:r>
            <a:r>
              <a:rPr lang="en-US" sz="1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use ML to recommend products based on a user’s browsing history, purchase behavior, and preferences.</a:t>
            </a:r>
          </a:p>
          <a:p>
            <a:pPr algn="just"/>
            <a:endParaRPr lang="en-US" sz="18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18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Streaming Services: </a:t>
            </a:r>
            <a:r>
              <a:rPr lang="en-US" sz="1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Netflix, </a:t>
            </a:r>
            <a:r>
              <a:rPr lang="en-US" sz="18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Spotify</a:t>
            </a:r>
            <a:r>
              <a:rPr lang="en-US" sz="1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, and YouTube recommend movies, music, and videos by analyzing user interactions, viewing history, and preferences.</a:t>
            </a:r>
          </a:p>
          <a:p>
            <a:pPr algn="just"/>
            <a:endParaRPr lang="en-US" sz="18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18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Social Media:</a:t>
            </a:r>
            <a:r>
              <a:rPr lang="en-US" sz="1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Facebook, Twitter, and </a:t>
            </a:r>
            <a:r>
              <a:rPr lang="en-US" sz="18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Instagram</a:t>
            </a:r>
            <a:r>
              <a:rPr lang="en-US" sz="1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use recommendation algorithms to suggest friends, posts, or content that align with a user’s interests.</a:t>
            </a:r>
          </a:p>
        </p:txBody>
      </p:sp>
    </p:spTree>
    <p:extLst>
      <p:ext uri="{BB962C8B-B14F-4D97-AF65-F5344CB8AC3E}">
        <p14:creationId xmlns:p14="http://schemas.microsoft.com/office/powerpoint/2010/main" val="10380373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0200" y="381000"/>
            <a:ext cx="6096000" cy="708025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Machine Learning: Applications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1371600"/>
            <a:ext cx="7467600" cy="4343400"/>
          </a:xfrm>
        </p:spPr>
        <p:txBody>
          <a:bodyPr>
            <a:normAutofit/>
          </a:bodyPr>
          <a:lstStyle/>
          <a:p>
            <a:pPr algn="just"/>
            <a:r>
              <a:rPr lang="en-US" sz="18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Fraud Detection:</a:t>
            </a:r>
          </a:p>
          <a:p>
            <a:pPr algn="just"/>
            <a:r>
              <a:rPr lang="en-US" sz="18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Banking and Finance: </a:t>
            </a:r>
            <a:r>
              <a:rPr lang="en-US" sz="1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ML algorithms analyze transaction patterns to detect fraudulent activities, such as credit card fraud, money laundering, or account takeovers.</a:t>
            </a:r>
          </a:p>
          <a:p>
            <a:pPr algn="just"/>
            <a:r>
              <a:rPr lang="en-US" sz="18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Insurance: </a:t>
            </a:r>
            <a:r>
              <a:rPr lang="en-US" sz="1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Insurers use ML to detect fraudulent insurance claims by spotting unusual patterns or behaviors in claim submissions.</a:t>
            </a:r>
          </a:p>
          <a:p>
            <a:pPr algn="just"/>
            <a:endParaRPr lang="en-US" sz="18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18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Autonomous Vehicles:</a:t>
            </a:r>
          </a:p>
          <a:p>
            <a:pPr algn="just"/>
            <a:r>
              <a:rPr lang="en-US" sz="18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Self-Driving Cars: </a:t>
            </a:r>
            <a:r>
              <a:rPr lang="en-US" sz="1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Companies like Tesla, </a:t>
            </a:r>
            <a:r>
              <a:rPr lang="en-US" sz="18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Waymo</a:t>
            </a:r>
            <a:r>
              <a:rPr lang="en-US" sz="1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, and </a:t>
            </a:r>
            <a:r>
              <a:rPr lang="en-US" sz="18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Uber</a:t>
            </a:r>
            <a:r>
              <a:rPr lang="en-US" sz="1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use ML to help autonomous vehicles interpret their surroundings (e.g., detecting pedestrians, road signs, and other cars), make driving decisions, and navigate safely.</a:t>
            </a:r>
          </a:p>
          <a:p>
            <a:pPr algn="just"/>
            <a:r>
              <a:rPr lang="en-US" sz="18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Drone Navigation: </a:t>
            </a:r>
            <a:r>
              <a:rPr lang="en-US" sz="1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ML is used in drones for route planning, object detection, and collision avoidance.</a:t>
            </a:r>
          </a:p>
        </p:txBody>
      </p:sp>
    </p:spTree>
    <p:extLst>
      <p:ext uri="{BB962C8B-B14F-4D97-AF65-F5344CB8AC3E}">
        <p14:creationId xmlns:p14="http://schemas.microsoft.com/office/powerpoint/2010/main" val="13411243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0200" y="381000"/>
            <a:ext cx="6096000" cy="708025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Machine Learning: Applications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1371600"/>
            <a:ext cx="7467600" cy="4343400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en-US" sz="18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Healthcare and Medical Diagnosis:</a:t>
            </a:r>
          </a:p>
          <a:p>
            <a:pPr algn="just"/>
            <a:r>
              <a:rPr lang="en-US" sz="18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Disease Prediction: </a:t>
            </a:r>
            <a:r>
              <a:rPr lang="en-US" sz="1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ML models help predict the likelihood of diseases such as diabetes, heart disease, or cancer by analyzing patient data.</a:t>
            </a:r>
          </a:p>
          <a:p>
            <a:pPr algn="just"/>
            <a:r>
              <a:rPr lang="en-US" sz="18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Personalized Medicine: </a:t>
            </a:r>
            <a:r>
              <a:rPr lang="en-US" sz="1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Machine learning enables the development of personalized treatment plans based on a patient's genetics, medical history, and current health data.</a:t>
            </a:r>
          </a:p>
          <a:p>
            <a:pPr algn="just"/>
            <a:r>
              <a:rPr lang="en-US" sz="18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Drug Discovery: </a:t>
            </a:r>
            <a:r>
              <a:rPr lang="en-US" sz="1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ML accelerates the process of discovering new drugs by analyzing data from clinical trials and identifying potential drug candidates.</a:t>
            </a:r>
          </a:p>
          <a:p>
            <a:pPr algn="just"/>
            <a:endParaRPr lang="en-US" sz="18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18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More….</a:t>
            </a:r>
          </a:p>
          <a:p>
            <a:pPr algn="just"/>
            <a:endParaRPr lang="en-US" sz="18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285750" indent="-285750" algn="just">
              <a:buFont typeface="Arial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Finance and Stock Market Analysis</a:t>
            </a:r>
          </a:p>
          <a:p>
            <a:pPr marL="285750" indent="-285750" algn="just">
              <a:buFont typeface="Arial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Marketing and Advertising</a:t>
            </a:r>
          </a:p>
          <a:p>
            <a:pPr marL="285750" indent="-285750" algn="just">
              <a:buFont typeface="Arial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Supply Chain Optimization</a:t>
            </a:r>
          </a:p>
          <a:p>
            <a:pPr marL="285750" indent="-285750" algn="just">
              <a:buFont typeface="Arial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Gaming, Robotics, </a:t>
            </a:r>
            <a:r>
              <a:rPr lang="en-US" sz="18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Cybersecurity</a:t>
            </a:r>
            <a:endParaRPr lang="en-US" sz="18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285750" indent="-285750" algn="just">
              <a:buFont typeface="Arial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Personalization</a:t>
            </a:r>
          </a:p>
          <a:p>
            <a:pPr marL="285750" indent="-285750" algn="just">
              <a:buFont typeface="Arial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Energy Efficiency</a:t>
            </a:r>
          </a:p>
        </p:txBody>
      </p:sp>
    </p:spTree>
    <p:extLst>
      <p:ext uri="{BB962C8B-B14F-4D97-AF65-F5344CB8AC3E}">
        <p14:creationId xmlns:p14="http://schemas.microsoft.com/office/powerpoint/2010/main" val="19187532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0200" y="381000"/>
            <a:ext cx="6096000" cy="708025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Types of Machine Learning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1371600"/>
            <a:ext cx="7467600" cy="4343400"/>
          </a:xfrm>
        </p:spPr>
        <p:txBody>
          <a:bodyPr>
            <a:normAutofit/>
          </a:bodyPr>
          <a:lstStyle/>
          <a:p>
            <a:pPr algn="just"/>
            <a:r>
              <a:rPr lang="en-US" sz="18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Supervised Learning</a:t>
            </a:r>
            <a:endParaRPr lang="en-US" sz="18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sz="18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18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Unsupervised Learning</a:t>
            </a:r>
            <a:endParaRPr lang="en-US" sz="18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sz="18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01410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0200" y="381000"/>
            <a:ext cx="6096000" cy="708025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Types of Machine Learning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1371600"/>
            <a:ext cx="3048000" cy="4343400"/>
          </a:xfrm>
        </p:spPr>
        <p:txBody>
          <a:bodyPr>
            <a:normAutofit/>
          </a:bodyPr>
          <a:lstStyle/>
          <a:p>
            <a:pPr algn="just"/>
            <a:r>
              <a:rPr lang="en-US" sz="18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Supervised Learning</a:t>
            </a:r>
            <a:endParaRPr lang="en-US" sz="18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1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In supervised learning, the model is trained on </a:t>
            </a:r>
            <a:r>
              <a:rPr lang="en-US" sz="18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labeled data</a:t>
            </a:r>
            <a:r>
              <a:rPr lang="en-US" sz="1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, meaning that each training example has both </a:t>
            </a:r>
            <a:r>
              <a:rPr lang="en-US" sz="18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input data </a:t>
            </a:r>
            <a:r>
              <a:rPr lang="en-US" sz="1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and a corresponding correct output (</a:t>
            </a:r>
            <a:r>
              <a:rPr lang="en-US" sz="18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label</a:t>
            </a:r>
            <a:r>
              <a:rPr lang="en-US" sz="1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). </a:t>
            </a:r>
          </a:p>
          <a:p>
            <a:pPr algn="just"/>
            <a:endParaRPr lang="en-US" sz="18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1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The goal is for the model to learn the mapping from inputs to outputs so that it can </a:t>
            </a:r>
            <a:r>
              <a:rPr lang="en-US" sz="18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predict the output for new, unseen data</a:t>
            </a:r>
            <a:r>
              <a:rPr lang="en-US" sz="1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  <p:sp>
        <p:nvSpPr>
          <p:cNvPr id="4" name="AutoShape 2" descr="Image of 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4" descr="image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8600" y="1447800"/>
            <a:ext cx="4505671" cy="3886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900197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0200" y="381000"/>
            <a:ext cx="6096000" cy="708025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Types of Machine Learning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1371600"/>
            <a:ext cx="7772400" cy="4343400"/>
          </a:xfrm>
        </p:spPr>
        <p:txBody>
          <a:bodyPr>
            <a:normAutofit/>
          </a:bodyPr>
          <a:lstStyle/>
          <a:p>
            <a:pPr algn="just"/>
            <a:r>
              <a:rPr lang="en-US" sz="18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Supervised Learning</a:t>
            </a:r>
            <a:endParaRPr lang="en-US" sz="18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1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In supervised learning, the model is trained on </a:t>
            </a:r>
            <a:r>
              <a:rPr lang="en-US" sz="18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labeled data</a:t>
            </a:r>
            <a:r>
              <a:rPr lang="en-US" sz="1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, meaning that each training example has both </a:t>
            </a:r>
            <a:r>
              <a:rPr lang="en-US" sz="18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input data </a:t>
            </a:r>
            <a:r>
              <a:rPr lang="en-US" sz="1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and a corresponding correct output (</a:t>
            </a:r>
            <a:r>
              <a:rPr lang="en-US" sz="18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label</a:t>
            </a:r>
            <a:r>
              <a:rPr lang="en-US" sz="1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). </a:t>
            </a:r>
          </a:p>
          <a:p>
            <a:pPr algn="just"/>
            <a:r>
              <a:rPr lang="en-US" sz="1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The goal is for the model to learn the mapping from inputs to outputs so that it can predict the output for new, unseen data.</a:t>
            </a:r>
          </a:p>
          <a:p>
            <a:pPr algn="just"/>
            <a:r>
              <a:rPr lang="en-US" sz="18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Example:</a:t>
            </a:r>
            <a:r>
              <a:rPr lang="en-US" sz="1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Spam detection in emails, where the model is trained on labeled emails (spam or not spam).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3581400"/>
            <a:ext cx="6629400" cy="28770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501401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0200" y="381000"/>
            <a:ext cx="6096000" cy="708025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Types of Machine Learning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1371600"/>
            <a:ext cx="7772400" cy="4343400"/>
          </a:xfrm>
        </p:spPr>
        <p:txBody>
          <a:bodyPr>
            <a:normAutofit/>
          </a:bodyPr>
          <a:lstStyle/>
          <a:p>
            <a:pPr algn="just"/>
            <a:r>
              <a:rPr lang="en-US" sz="18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Supervised </a:t>
            </a:r>
            <a:r>
              <a:rPr lang="en-US" sz="18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Learning: Classification</a:t>
            </a:r>
            <a:endParaRPr lang="en-US" sz="18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AutoShape 2" descr="supervised-data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4" descr="supervised-data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AutoShape 6" descr="supervised-data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31" name="Picture 7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3153" b="8329"/>
          <a:stretch/>
        </p:blipFill>
        <p:spPr bwMode="auto">
          <a:xfrm>
            <a:off x="2286000" y="2372264"/>
            <a:ext cx="4297093" cy="3579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Rectangle 6"/>
          <p:cNvSpPr/>
          <p:nvPr/>
        </p:nvSpPr>
        <p:spPr>
          <a:xfrm>
            <a:off x="2297502" y="6400800"/>
            <a:ext cx="486529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dirty="0">
                <a:solidFill>
                  <a:schemeClr val="bg1">
                    <a:lumMod val="75000"/>
                  </a:schemeClr>
                </a:solidFill>
              </a:rPr>
              <a:t>https://www.geeksforgeeks.org/machine-learning/supervised-machine-learning/</a:t>
            </a:r>
          </a:p>
        </p:txBody>
      </p:sp>
    </p:spTree>
    <p:extLst>
      <p:ext uri="{BB962C8B-B14F-4D97-AF65-F5344CB8AC3E}">
        <p14:creationId xmlns:p14="http://schemas.microsoft.com/office/powerpoint/2010/main" val="22923894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0200" y="381000"/>
            <a:ext cx="6096000" cy="708025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Types of Machine Learning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1371600"/>
            <a:ext cx="7772400" cy="4343400"/>
          </a:xfrm>
        </p:spPr>
        <p:txBody>
          <a:bodyPr>
            <a:normAutofit/>
          </a:bodyPr>
          <a:lstStyle/>
          <a:p>
            <a:pPr algn="just"/>
            <a:r>
              <a:rPr lang="en-US" sz="18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Supervised </a:t>
            </a:r>
            <a:r>
              <a:rPr lang="en-US" sz="18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Learning: Regression</a:t>
            </a:r>
            <a:endParaRPr lang="en-US" sz="18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AutoShape 2" descr="supervised-data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4" descr="supervised-data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AutoShape 6" descr="supervised-data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8" name="Picture 7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486" t="810" r="1037" b="7519"/>
          <a:stretch/>
        </p:blipFill>
        <p:spPr bwMode="auto">
          <a:xfrm>
            <a:off x="2380890" y="2372264"/>
            <a:ext cx="4813539" cy="3579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Rectangle 8"/>
          <p:cNvSpPr/>
          <p:nvPr/>
        </p:nvSpPr>
        <p:spPr>
          <a:xfrm>
            <a:off x="2297502" y="6400800"/>
            <a:ext cx="486529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dirty="0">
                <a:solidFill>
                  <a:schemeClr val="bg1">
                    <a:lumMod val="75000"/>
                  </a:schemeClr>
                </a:solidFill>
              </a:rPr>
              <a:t>https://www.geeksforgeeks.org/machine-learning/supervised-machine-learning/</a:t>
            </a:r>
          </a:p>
        </p:txBody>
      </p:sp>
    </p:spTree>
    <p:extLst>
      <p:ext uri="{BB962C8B-B14F-4D97-AF65-F5344CB8AC3E}">
        <p14:creationId xmlns:p14="http://schemas.microsoft.com/office/powerpoint/2010/main" val="11201422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0200" y="381000"/>
            <a:ext cx="6096000" cy="708025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Types of Machine Learning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1371600"/>
            <a:ext cx="7467600" cy="4343400"/>
          </a:xfrm>
        </p:spPr>
        <p:txBody>
          <a:bodyPr>
            <a:normAutofit/>
          </a:bodyPr>
          <a:lstStyle/>
          <a:p>
            <a:pPr algn="just"/>
            <a:r>
              <a:rPr lang="en-US" sz="18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Unsupervised Learning</a:t>
            </a:r>
          </a:p>
          <a:p>
            <a:pPr algn="just"/>
            <a:r>
              <a:rPr lang="en-US" sz="1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In unsupervised learning, the model is given data </a:t>
            </a:r>
            <a:r>
              <a:rPr lang="en-US" sz="18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without explicit labels</a:t>
            </a:r>
            <a:r>
              <a:rPr lang="en-US" sz="1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. It tries to learn the structure of the data and discover </a:t>
            </a:r>
            <a:r>
              <a:rPr lang="en-US" sz="18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hidden patterns </a:t>
            </a:r>
            <a:r>
              <a:rPr lang="en-US" sz="1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or groupings.</a:t>
            </a:r>
          </a:p>
          <a:p>
            <a:pPr algn="just"/>
            <a:r>
              <a:rPr lang="en-US" sz="18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Example:</a:t>
            </a:r>
            <a:r>
              <a:rPr lang="en-US" sz="1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Customer segmentation, where the goal is to group customers based on purchasing behavior without knowing any predefined categories.</a:t>
            </a:r>
          </a:p>
        </p:txBody>
      </p:sp>
      <p:pic>
        <p:nvPicPr>
          <p:cNvPr id="9218" name="Picture 2" descr="Supervised Machine learni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3048000"/>
            <a:ext cx="5715000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>
            <a:off x="2438400" y="5914452"/>
            <a:ext cx="4572000" cy="27699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https://www.javatpoint.com/unsupervised-machine-learning</a:t>
            </a:r>
          </a:p>
        </p:txBody>
      </p:sp>
    </p:spTree>
    <p:extLst>
      <p:ext uri="{BB962C8B-B14F-4D97-AF65-F5344CB8AC3E}">
        <p14:creationId xmlns:p14="http://schemas.microsoft.com/office/powerpoint/2010/main" val="38197127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7" name="Picture 9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04" t="37015" r="3868" b="9911"/>
          <a:stretch/>
        </p:blipFill>
        <p:spPr bwMode="auto">
          <a:xfrm>
            <a:off x="575394" y="4827417"/>
            <a:ext cx="5867400" cy="17278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0200" y="381000"/>
            <a:ext cx="6096000" cy="708025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Types of Machine Learning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1371600"/>
            <a:ext cx="7467600" cy="4343400"/>
          </a:xfrm>
        </p:spPr>
        <p:txBody>
          <a:bodyPr>
            <a:normAutofit/>
          </a:bodyPr>
          <a:lstStyle/>
          <a:p>
            <a:pPr algn="just"/>
            <a:r>
              <a:rPr lang="en-US" sz="18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Unsupervised </a:t>
            </a:r>
            <a:r>
              <a:rPr lang="en-US" sz="18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Learning</a:t>
            </a:r>
          </a:p>
          <a:p>
            <a:pPr marL="285750" indent="-285750" algn="just">
              <a:buFont typeface="Arial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Works with unlabeled </a:t>
            </a:r>
            <a:r>
              <a:rPr lang="en-US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data</a:t>
            </a:r>
          </a:p>
          <a:p>
            <a:pPr marL="285750" indent="-285750" algn="just">
              <a:buFont typeface="Arial" pitchFamily="34" charset="0"/>
              <a:buChar char="•"/>
            </a:pPr>
            <a:r>
              <a:rPr lang="en-US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Discovers </a:t>
            </a:r>
            <a:r>
              <a:rPr lang="en-US" sz="1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hidden </a:t>
            </a:r>
            <a:r>
              <a:rPr lang="en-US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patterns</a:t>
            </a:r>
          </a:p>
          <a:p>
            <a:pPr marL="285750" indent="-285750" algn="just">
              <a:buFont typeface="Arial" pitchFamily="34" charset="0"/>
              <a:buChar char="•"/>
            </a:pPr>
            <a:r>
              <a:rPr lang="en-US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Used </a:t>
            </a:r>
            <a:r>
              <a:rPr lang="en-US" sz="1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for exploration and pattern </a:t>
            </a:r>
            <a:r>
              <a:rPr lang="en-US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detection</a:t>
            </a:r>
          </a:p>
          <a:p>
            <a:pPr marL="285750" indent="-285750" algn="just">
              <a:buFont typeface="Arial" pitchFamily="34" charset="0"/>
              <a:buChar char="•"/>
            </a:pPr>
            <a:r>
              <a:rPr lang="en-US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No </a:t>
            </a:r>
            <a:r>
              <a:rPr lang="en-US" sz="1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supervision (no correct answers provided</a:t>
            </a:r>
            <a:r>
              <a:rPr lang="en-US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 marL="285750" indent="-285750" algn="just">
              <a:buFont typeface="Arial" pitchFamily="34" charset="0"/>
              <a:buChar char="•"/>
            </a:pPr>
            <a:endParaRPr lang="en-US" sz="18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18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Main Types of Unsupervised Learning</a:t>
            </a:r>
          </a:p>
          <a:p>
            <a:pPr marL="285750" indent="-285750" algn="just">
              <a:buFont typeface="Arial" pitchFamily="34" charset="0"/>
              <a:buChar char="•"/>
            </a:pPr>
            <a:r>
              <a:rPr lang="en-US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Clustering</a:t>
            </a:r>
          </a:p>
          <a:p>
            <a:pPr marL="285750" indent="-285750" algn="just">
              <a:buFont typeface="Arial" pitchFamily="34" charset="0"/>
              <a:buChar char="•"/>
            </a:pPr>
            <a:r>
              <a:rPr lang="en-US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Association </a:t>
            </a:r>
            <a:r>
              <a:rPr lang="en-US" sz="1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Rule </a:t>
            </a:r>
            <a:r>
              <a:rPr lang="en-US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Learning</a:t>
            </a:r>
          </a:p>
          <a:p>
            <a:pPr marL="285750" indent="-285750" algn="just">
              <a:buFont typeface="Arial" pitchFamily="34" charset="0"/>
              <a:buChar char="•"/>
            </a:pPr>
            <a:r>
              <a:rPr lang="en-US" sz="1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Dimensionality </a:t>
            </a:r>
            <a:r>
              <a:rPr lang="en-US" sz="1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Reduction</a:t>
            </a:r>
            <a:endParaRPr lang="en-US" sz="18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050" name="Picture 2" descr="Clustering in Machine Learning - GeeksforGeeks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5400" y="1295400"/>
            <a:ext cx="3594100" cy="13842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Association Rule Learning with Apriori Algorithm | by Muhammed Ali Şahin |  Medium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14" t="7972" r="8067" b="8255"/>
          <a:stretch/>
        </p:blipFill>
        <p:spPr bwMode="auto">
          <a:xfrm>
            <a:off x="5410200" y="3048000"/>
            <a:ext cx="2780581" cy="20942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AutoShape 6" descr="Dimensionality Reduction Techniques - GeeksforGeek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AutoShape 8" descr="Dimensionality Reduction Techniques - GeeksforGeeks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727794" y="6580113"/>
            <a:ext cx="55626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dirty="0">
                <a:solidFill>
                  <a:schemeClr val="bg1">
                    <a:lumMod val="75000"/>
                  </a:schemeClr>
                </a:solidFill>
              </a:rPr>
              <a:t>https://www.geeksforgeeks.org/data-science/dimensionality-reduction-techniques/</a:t>
            </a:r>
          </a:p>
        </p:txBody>
      </p:sp>
      <p:sp>
        <p:nvSpPr>
          <p:cNvPr id="8" name="Rectangle 7"/>
          <p:cNvSpPr/>
          <p:nvPr/>
        </p:nvSpPr>
        <p:spPr>
          <a:xfrm>
            <a:off x="6628681" y="5257800"/>
            <a:ext cx="2286719" cy="5770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50" dirty="0">
                <a:solidFill>
                  <a:schemeClr val="bg1">
                    <a:lumMod val="75000"/>
                  </a:schemeClr>
                </a:solidFill>
              </a:rPr>
              <a:t>https://medium.com/@sahinn.muhammed.alii/association-rule-learning-with-apriori-algorithm-649ba26b93b7</a:t>
            </a:r>
          </a:p>
        </p:txBody>
      </p:sp>
      <p:sp>
        <p:nvSpPr>
          <p:cNvPr id="9" name="Rectangle 8"/>
          <p:cNvSpPr/>
          <p:nvPr/>
        </p:nvSpPr>
        <p:spPr>
          <a:xfrm>
            <a:off x="5715000" y="2518911"/>
            <a:ext cx="2576423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dirty="0">
                <a:solidFill>
                  <a:schemeClr val="bg1">
                    <a:lumMod val="75000"/>
                  </a:schemeClr>
                </a:solidFill>
              </a:rPr>
              <a:t>https://www.geeksforgeeks.org/machine-learning/clustering-in-machine-learning/</a:t>
            </a:r>
          </a:p>
        </p:txBody>
      </p:sp>
    </p:spTree>
    <p:extLst>
      <p:ext uri="{BB962C8B-B14F-4D97-AF65-F5344CB8AC3E}">
        <p14:creationId xmlns:p14="http://schemas.microsoft.com/office/powerpoint/2010/main" val="2735544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0200" y="381000"/>
            <a:ext cx="6096000" cy="708025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Key Concepts in Machine Learning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1371600"/>
            <a:ext cx="7467600" cy="4343400"/>
          </a:xfrm>
        </p:spPr>
        <p:txBody>
          <a:bodyPr>
            <a:normAutofit/>
          </a:bodyPr>
          <a:lstStyle/>
          <a:p>
            <a:pPr algn="just"/>
            <a:r>
              <a:rPr lang="en-US" sz="1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Data and Features: input data, features, labels</a:t>
            </a:r>
          </a:p>
          <a:p>
            <a:pPr algn="just"/>
            <a:r>
              <a:rPr lang="en-US" sz="1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Model and Algorithm: what is a model, common ML algorithms</a:t>
            </a:r>
          </a:p>
          <a:p>
            <a:pPr algn="just"/>
            <a:r>
              <a:rPr lang="en-US" sz="1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Training and Testing: data splitting (train-test-validation sets)</a:t>
            </a:r>
          </a:p>
          <a:p>
            <a:pPr algn="just"/>
            <a:r>
              <a:rPr lang="en-US" sz="1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Loss Function: error measurement, cost function</a:t>
            </a:r>
          </a:p>
          <a:p>
            <a:pPr algn="just"/>
            <a:r>
              <a:rPr lang="en-US" sz="1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Optimization: gradient descent basics</a:t>
            </a:r>
          </a:p>
        </p:txBody>
      </p:sp>
    </p:spTree>
    <p:extLst>
      <p:ext uri="{BB962C8B-B14F-4D97-AF65-F5344CB8AC3E}">
        <p14:creationId xmlns:p14="http://schemas.microsoft.com/office/powerpoint/2010/main" val="21839368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0200" y="381000"/>
            <a:ext cx="6096000" cy="708025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Learning Process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1371600"/>
            <a:ext cx="7467600" cy="4343400"/>
          </a:xfrm>
        </p:spPr>
        <p:txBody>
          <a:bodyPr>
            <a:normAutofit/>
          </a:bodyPr>
          <a:lstStyle/>
          <a:p>
            <a:pPr algn="just"/>
            <a:r>
              <a:rPr lang="en-US" sz="1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How a model learns: data → algorithm → model</a:t>
            </a:r>
          </a:p>
          <a:p>
            <a:pPr algn="just"/>
            <a:r>
              <a:rPr lang="en-US" sz="1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Model evaluation metrics: accuracy, precision, recall, F1 score</a:t>
            </a:r>
          </a:p>
          <a:p>
            <a:pPr algn="just"/>
            <a:r>
              <a:rPr lang="en-US" sz="18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Overfitting</a:t>
            </a:r>
            <a:r>
              <a:rPr lang="en-US" sz="1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and </a:t>
            </a:r>
            <a:r>
              <a:rPr lang="en-US" sz="18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underfitting</a:t>
            </a:r>
            <a:r>
              <a:rPr lang="en-US" sz="1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: bias-variance tradeoff</a:t>
            </a:r>
          </a:p>
        </p:txBody>
      </p:sp>
    </p:spTree>
    <p:extLst>
      <p:ext uri="{BB962C8B-B14F-4D97-AF65-F5344CB8AC3E}">
        <p14:creationId xmlns:p14="http://schemas.microsoft.com/office/powerpoint/2010/main" val="31077092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0200" y="381000"/>
            <a:ext cx="6096000" cy="708025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Fundamental Algorithms Overview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1371600"/>
            <a:ext cx="7467600" cy="4343400"/>
          </a:xfrm>
        </p:spPr>
        <p:txBody>
          <a:bodyPr>
            <a:normAutofit/>
          </a:bodyPr>
          <a:lstStyle/>
          <a:p>
            <a:pPr algn="just"/>
            <a:r>
              <a:rPr lang="en-US" sz="1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Linear Regression</a:t>
            </a:r>
          </a:p>
          <a:p>
            <a:pPr algn="just"/>
            <a:r>
              <a:rPr lang="en-US" sz="1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Logistic Regression</a:t>
            </a:r>
          </a:p>
          <a:p>
            <a:pPr algn="just"/>
            <a:r>
              <a:rPr lang="en-US" sz="1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Decision Trees</a:t>
            </a:r>
          </a:p>
          <a:p>
            <a:pPr algn="just"/>
            <a:r>
              <a:rPr lang="en-US" sz="1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k-Nearest Neighbors (k-NN)</a:t>
            </a:r>
          </a:p>
          <a:p>
            <a:pPr algn="just"/>
            <a:r>
              <a:rPr lang="en-US" sz="1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Briefly introduce more advanced methods (e.g., Neural Networks, Support Vector Machines)</a:t>
            </a:r>
          </a:p>
        </p:txBody>
      </p:sp>
    </p:spTree>
    <p:extLst>
      <p:ext uri="{BB962C8B-B14F-4D97-AF65-F5344CB8AC3E}">
        <p14:creationId xmlns:p14="http://schemas.microsoft.com/office/powerpoint/2010/main" val="3433937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0200" y="381000"/>
            <a:ext cx="6096000" cy="708025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Challenges in Machine Learning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1371600"/>
            <a:ext cx="7467600" cy="4343400"/>
          </a:xfrm>
        </p:spPr>
        <p:txBody>
          <a:bodyPr>
            <a:normAutofit/>
          </a:bodyPr>
          <a:lstStyle/>
          <a:p>
            <a:pPr algn="just"/>
            <a:r>
              <a:rPr lang="en-US" sz="1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Data quality and quantity</a:t>
            </a:r>
          </a:p>
          <a:p>
            <a:pPr algn="just"/>
            <a:r>
              <a:rPr lang="en-US" sz="1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Feature engineering and selection</a:t>
            </a:r>
          </a:p>
          <a:p>
            <a:pPr algn="just"/>
            <a:r>
              <a:rPr lang="en-US" sz="1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Interpretability and </a:t>
            </a:r>
            <a:r>
              <a:rPr lang="en-US" sz="18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explainability</a:t>
            </a:r>
            <a:r>
              <a:rPr lang="en-US" sz="1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of models</a:t>
            </a:r>
          </a:p>
          <a:p>
            <a:pPr algn="just"/>
            <a:r>
              <a:rPr lang="en-US" sz="18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Scalability and performance</a:t>
            </a:r>
          </a:p>
        </p:txBody>
      </p:sp>
    </p:spTree>
    <p:extLst>
      <p:ext uri="{BB962C8B-B14F-4D97-AF65-F5344CB8AC3E}">
        <p14:creationId xmlns:p14="http://schemas.microsoft.com/office/powerpoint/2010/main" val="10737892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192</TotalTime>
  <Words>1088</Words>
  <Application>Microsoft Office PowerPoint</Application>
  <PresentationFormat>On-screen Show (4:3)</PresentationFormat>
  <Paragraphs>123</Paragraphs>
  <Slides>20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Office Theme</vt:lpstr>
      <vt:lpstr>Introduction to Machine Learning</vt:lpstr>
      <vt:lpstr>Introduction to Machine Learning</vt:lpstr>
      <vt:lpstr>Machine Learning</vt:lpstr>
      <vt:lpstr>Machine Learning: Applications</vt:lpstr>
      <vt:lpstr>Machine Learning: Applications</vt:lpstr>
      <vt:lpstr>Machine Learning: Applications</vt:lpstr>
      <vt:lpstr>Machine Learning: Applications</vt:lpstr>
      <vt:lpstr>Machine Learning: Applications</vt:lpstr>
      <vt:lpstr>Machine Learning: Applications</vt:lpstr>
      <vt:lpstr>Types of Machine Learning</vt:lpstr>
      <vt:lpstr>Types of Machine Learning</vt:lpstr>
      <vt:lpstr>Types of Machine Learning</vt:lpstr>
      <vt:lpstr>Types of Machine Learning</vt:lpstr>
      <vt:lpstr>Types of Machine Learning</vt:lpstr>
      <vt:lpstr>Types of Machine Learning</vt:lpstr>
      <vt:lpstr>Types of Machine Learning</vt:lpstr>
      <vt:lpstr>Key Concepts in Machine Learning</vt:lpstr>
      <vt:lpstr>Learning Process</vt:lpstr>
      <vt:lpstr>Fundamental Algorithms Overview</vt:lpstr>
      <vt:lpstr>Challenges in Machine Learning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Ashraf</dc:creator>
  <cp:lastModifiedBy>Ashraf</cp:lastModifiedBy>
  <cp:revision>140</cp:revision>
  <dcterms:created xsi:type="dcterms:W3CDTF">2024-10-19T07:49:00Z</dcterms:created>
  <dcterms:modified xsi:type="dcterms:W3CDTF">2026-04-14T07:18:59Z</dcterms:modified>
</cp:coreProperties>
</file>