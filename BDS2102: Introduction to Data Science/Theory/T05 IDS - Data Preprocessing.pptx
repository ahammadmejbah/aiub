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686" r:id="rId1"/>
  </p:sldMasterIdLst>
  <p:notesMasterIdLst>
    <p:notesMasterId r:id="rId60"/>
  </p:notesMasterIdLst>
  <p:sldIdLst>
    <p:sldId id="271" r:id="rId2"/>
    <p:sldId id="324" r:id="rId3"/>
    <p:sldId id="275" r:id="rId4"/>
    <p:sldId id="276" r:id="rId5"/>
    <p:sldId id="277" r:id="rId6"/>
    <p:sldId id="278" r:id="rId7"/>
    <p:sldId id="279" r:id="rId8"/>
    <p:sldId id="280" r:id="rId9"/>
    <p:sldId id="281" r:id="rId10"/>
    <p:sldId id="282" r:id="rId11"/>
    <p:sldId id="325" r:id="rId12"/>
    <p:sldId id="283" r:id="rId13"/>
    <p:sldId id="284" r:id="rId14"/>
    <p:sldId id="285" r:id="rId15"/>
    <p:sldId id="286" r:id="rId16"/>
    <p:sldId id="287" r:id="rId17"/>
    <p:sldId id="289" r:id="rId18"/>
    <p:sldId id="288" r:id="rId19"/>
    <p:sldId id="292" r:id="rId20"/>
    <p:sldId id="293" r:id="rId21"/>
    <p:sldId id="323" r:id="rId22"/>
    <p:sldId id="294" r:id="rId23"/>
    <p:sldId id="295" r:id="rId24"/>
    <p:sldId id="326" r:id="rId25"/>
    <p:sldId id="350" r:id="rId26"/>
    <p:sldId id="349" r:id="rId27"/>
    <p:sldId id="351" r:id="rId28"/>
    <p:sldId id="352" r:id="rId29"/>
    <p:sldId id="353" r:id="rId30"/>
    <p:sldId id="348" r:id="rId31"/>
    <p:sldId id="327" r:id="rId32"/>
    <p:sldId id="328" r:id="rId33"/>
    <p:sldId id="329" r:id="rId34"/>
    <p:sldId id="297" r:id="rId35"/>
    <p:sldId id="298" r:id="rId36"/>
    <p:sldId id="299" r:id="rId37"/>
    <p:sldId id="300" r:id="rId38"/>
    <p:sldId id="301" r:id="rId39"/>
    <p:sldId id="308" r:id="rId40"/>
    <p:sldId id="331" r:id="rId41"/>
    <p:sldId id="332" r:id="rId42"/>
    <p:sldId id="333" r:id="rId43"/>
    <p:sldId id="334" r:id="rId44"/>
    <p:sldId id="335" r:id="rId45"/>
    <p:sldId id="314" r:id="rId46"/>
    <p:sldId id="336" r:id="rId47"/>
    <p:sldId id="337" r:id="rId48"/>
    <p:sldId id="338" r:id="rId49"/>
    <p:sldId id="339" r:id="rId50"/>
    <p:sldId id="340" r:id="rId51"/>
    <p:sldId id="274" r:id="rId52"/>
    <p:sldId id="315" r:id="rId53"/>
    <p:sldId id="342" r:id="rId54"/>
    <p:sldId id="343" r:id="rId55"/>
    <p:sldId id="344" r:id="rId56"/>
    <p:sldId id="345" r:id="rId57"/>
    <p:sldId id="347" r:id="rId58"/>
    <p:sldId id="346" r:id="rId5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0305" autoAdjust="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67EF9875-2DB4-4C6F-B83C-C76708619D1E}" type="datetimeFigureOut">
              <a:rPr lang="en-US"/>
              <a:pPr>
                <a:defRPr/>
              </a:pPr>
              <a:t>6/11/2026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F988E72-CD23-49C4-B2A0-C33710F52C24}" type="slidenum">
              <a:rPr lang="en-US" altLang="en-US"/>
              <a:pPr/>
              <a:t>‹#›</a:t>
            </a:fld>
            <a:endParaRPr lang="en-US" altLang="en-US"/>
          </a:p>
        </p:txBody>
      </p:sp>
    </p:spTree>
    <p:extLst>
      <p:ext uri="{BB962C8B-B14F-4D97-AF65-F5344CB8AC3E}">
        <p14:creationId xmlns:p14="http://schemas.microsoft.com/office/powerpoint/2010/main" val="34687478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p:cNvCxnSpPr/>
          <p:nvPr/>
        </p:nvCxnSpPr>
        <p:spPr>
          <a:xfrm>
            <a:off x="1978025" y="37338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smtClean="0">
                <a:solidFill>
                  <a:schemeClr val="tx1"/>
                </a:solidFill>
              </a:defRPr>
            </a:lvl1pPr>
          </a:lstStyle>
          <a:p>
            <a:pPr>
              <a:defRPr/>
            </a:pPr>
            <a:fld id="{D4E545B9-CBBD-4805-BC31-184291741C21}" type="datetime1">
              <a:rPr lang="en-US"/>
              <a:pPr>
                <a:defRPr/>
              </a:pPr>
              <a:t>6/11/2026</a:t>
            </a:fld>
            <a:endParaRPr lang="en-US"/>
          </a:p>
        </p:txBody>
      </p:sp>
      <p:sp>
        <p:nvSpPr>
          <p:cNvPr id="7" name="Footer Placeholder 4"/>
          <p:cNvSpPr>
            <a:spLocks noGrp="1"/>
          </p:cNvSpPr>
          <p:nvPr>
            <p:ph type="ftr" sz="quarter" idx="11"/>
          </p:nvPr>
        </p:nvSpPr>
        <p:spPr/>
        <p:txBody>
          <a:bodyPr/>
          <a:lstStyle>
            <a:lvl1pPr>
              <a:defRPr>
                <a:solidFill>
                  <a:schemeClr val="tx1"/>
                </a:solidFill>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fld id="{9F2D0695-B42D-4CAC-8357-3ABCF9C05796}" type="slidenum">
              <a:rPr lang="en-US" altLang="en-US"/>
              <a:pPr/>
              <a:t>‹#›</a:t>
            </a:fld>
            <a:endParaRPr lang="en-US" altLang="en-US"/>
          </a:p>
        </p:txBody>
      </p:sp>
    </p:spTree>
    <p:extLst>
      <p:ext uri="{BB962C8B-B14F-4D97-AF65-F5344CB8AC3E}">
        <p14:creationId xmlns:p14="http://schemas.microsoft.com/office/powerpoint/2010/main" val="57111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4751505-161F-44B9-A77C-2FEC0FEA1A96}" type="datetime1">
              <a:rPr lang="en-US"/>
              <a:pPr>
                <a:defRPr/>
              </a:pPr>
              <a:t>6/11/2026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09723EA-68F5-47AF-83F8-4C789BBDAC23}" type="slidenum">
              <a:rPr lang="en-US" altLang="en-US"/>
              <a:pPr/>
              <a:t>‹#›</a:t>
            </a:fld>
            <a:endParaRPr lang="en-US" altLang="en-US"/>
          </a:p>
        </p:txBody>
      </p:sp>
    </p:spTree>
    <p:extLst>
      <p:ext uri="{BB962C8B-B14F-4D97-AF65-F5344CB8AC3E}">
        <p14:creationId xmlns:p14="http://schemas.microsoft.com/office/powerpoint/2010/main" val="1864717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p:nvCxnSpPr>
        <p:spPr>
          <a:xfrm>
            <a:off x="1981200" y="402113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smtClean="0"/>
            </a:lvl1pPr>
          </a:lstStyle>
          <a:p>
            <a:pPr>
              <a:defRPr/>
            </a:pPr>
            <a:fld id="{9DDEBD24-68CB-421F-AA48-E6C482B1F835}" type="datetime1">
              <a:rPr lang="en-US"/>
              <a:pPr>
                <a:defRPr/>
              </a:pPr>
              <a:t>6/11/2026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544D6293-2754-4839-9BD3-391E97B979D2}" type="slidenum">
              <a:rPr lang="en-US" altLang="en-US"/>
              <a:pPr/>
              <a:t>‹#›</a:t>
            </a:fld>
            <a:endParaRPr lang="en-US" altLang="en-US"/>
          </a:p>
        </p:txBody>
      </p:sp>
    </p:spTree>
    <p:extLst>
      <p:ext uri="{BB962C8B-B14F-4D97-AF65-F5344CB8AC3E}">
        <p14:creationId xmlns:p14="http://schemas.microsoft.com/office/powerpoint/2010/main" val="3226701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1630732D-9C63-4EF6-907B-F7193327C476}" type="datetime1">
              <a:rPr lang="en-US"/>
              <a:pPr>
                <a:defRPr/>
              </a:pPr>
              <a:t>6/11/2026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AF948B56-E040-4F76-ABC2-AD11023B2065}" type="slidenum">
              <a:rPr lang="en-US" altLang="en-US"/>
              <a:pPr/>
              <a:t>‹#›</a:t>
            </a:fld>
            <a:endParaRPr lang="en-US" altLang="en-US"/>
          </a:p>
        </p:txBody>
      </p:sp>
    </p:spTree>
    <p:extLst>
      <p:ext uri="{BB962C8B-B14F-4D97-AF65-F5344CB8AC3E}">
        <p14:creationId xmlns:p14="http://schemas.microsoft.com/office/powerpoint/2010/main" val="1465879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62F4038E-0008-4599-BBC6-EA7CE43C636B}" type="datetime1">
              <a:rPr lang="en-US"/>
              <a:pPr>
                <a:defRPr/>
              </a:pPr>
              <a:t>6/11/2026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DE7377CA-94F6-447E-BE71-FA40451CCF34}" type="slidenum">
              <a:rPr lang="en-US" altLang="en-US"/>
              <a:pPr/>
              <a:t>‹#›</a:t>
            </a:fld>
            <a:endParaRPr lang="en-US" altLang="en-US"/>
          </a:p>
        </p:txBody>
      </p:sp>
    </p:spTree>
    <p:extLst>
      <p:ext uri="{BB962C8B-B14F-4D97-AF65-F5344CB8AC3E}">
        <p14:creationId xmlns:p14="http://schemas.microsoft.com/office/powerpoint/2010/main" val="3985186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B8B5D5F0-A319-4935-A42A-C042ED4D6D20}" type="datetime1">
              <a:rPr lang="en-US"/>
              <a:pPr>
                <a:defRPr/>
              </a:pPr>
              <a:t>6/11/2026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A33B55A3-95FD-40D6-97F1-5E2DC7D15DF6}" type="slidenum">
              <a:rPr lang="en-US" altLang="en-US"/>
              <a:pPr/>
              <a:t>‹#›</a:t>
            </a:fld>
            <a:endParaRPr lang="en-US" altLang="en-US"/>
          </a:p>
        </p:txBody>
      </p:sp>
    </p:spTree>
    <p:extLst>
      <p:ext uri="{BB962C8B-B14F-4D97-AF65-F5344CB8AC3E}">
        <p14:creationId xmlns:p14="http://schemas.microsoft.com/office/powerpoint/2010/main" val="584256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4327C2E-86AC-4299-A9C5-C7D25810AD9B}" type="datetime1">
              <a:rPr lang="en-US"/>
              <a:pPr>
                <a:defRPr/>
              </a:pPr>
              <a:t>6/11/2026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71DDC0F6-81F6-4F00-8B59-D73436E3555A}" type="slidenum">
              <a:rPr lang="en-US" altLang="en-US"/>
              <a:pPr/>
              <a:t>‹#›</a:t>
            </a:fld>
            <a:endParaRPr lang="en-US" altLang="en-US"/>
          </a:p>
        </p:txBody>
      </p:sp>
    </p:spTree>
    <p:extLst>
      <p:ext uri="{BB962C8B-B14F-4D97-AF65-F5344CB8AC3E}">
        <p14:creationId xmlns:p14="http://schemas.microsoft.com/office/powerpoint/2010/main" val="2287692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0691584-EBD0-44AA-A8C0-DC56304C1B2F}" type="datetime1">
              <a:rPr lang="en-US"/>
              <a:pPr>
                <a:defRPr/>
              </a:pPr>
              <a:t>6/11/2026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2F2836B-FAD4-4B18-AB2B-763F93A733DD}" type="slidenum">
              <a:rPr lang="en-US" altLang="en-US"/>
              <a:pPr/>
              <a:t>‹#›</a:t>
            </a:fld>
            <a:endParaRPr lang="en-US" altLang="en-US"/>
          </a:p>
        </p:txBody>
      </p:sp>
    </p:spTree>
    <p:extLst>
      <p:ext uri="{BB962C8B-B14F-4D97-AF65-F5344CB8AC3E}">
        <p14:creationId xmlns:p14="http://schemas.microsoft.com/office/powerpoint/2010/main" val="459701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rtlCol="0">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69E928B-4594-4CCC-BEE7-52C331627A50}" type="datetime1">
              <a:rPr lang="en-US"/>
              <a:pPr>
                <a:defRPr/>
              </a:pPr>
              <a:t>6/11/2026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5EB44517-74B9-4B76-BF8F-65954CF7D30E}" type="slidenum">
              <a:rPr lang="en-US" altLang="en-US"/>
              <a:pPr/>
              <a:t>‹#›</a:t>
            </a:fld>
            <a:endParaRPr lang="en-US" altLang="en-US"/>
          </a:p>
        </p:txBody>
      </p:sp>
    </p:spTree>
    <p:extLst>
      <p:ext uri="{BB962C8B-B14F-4D97-AF65-F5344CB8AC3E}">
        <p14:creationId xmlns:p14="http://schemas.microsoft.com/office/powerpoint/2010/main" val="2335357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494D5753-074A-47F3-9801-6A409ECF4411}" type="datetime1">
              <a:rPr lang="en-US"/>
              <a:pPr>
                <a:defRPr/>
              </a:pPr>
              <a:t>6/11/2026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56869A35-BB42-4C43-904B-9701C8B0AE06}" type="slidenum">
              <a:rPr lang="en-US" altLang="en-US"/>
              <a:pPr/>
              <a:t>‹#›</a:t>
            </a:fld>
            <a:endParaRPr lang="en-US" altLang="en-US"/>
          </a:p>
        </p:txBody>
      </p:sp>
    </p:spTree>
    <p:extLst>
      <p:ext uri="{BB962C8B-B14F-4D97-AF65-F5344CB8AC3E}">
        <p14:creationId xmlns:p14="http://schemas.microsoft.com/office/powerpoint/2010/main" val="3188814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C27D0F4-DFA9-44DF-A419-68F3F7180314}" type="datetime1">
              <a:rPr lang="en-US"/>
              <a:pPr>
                <a:defRPr/>
              </a:pPr>
              <a:t>6/11/2026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897C926-65E1-4015-B207-1B494B411635}" type="slidenum">
              <a:rPr lang="en-US" altLang="en-US"/>
              <a:pPr/>
              <a:t>‹#›</a:t>
            </a:fld>
            <a:endParaRPr lang="en-US" altLang="en-US"/>
          </a:p>
        </p:txBody>
      </p:sp>
    </p:spTree>
    <p:extLst>
      <p:ext uri="{BB962C8B-B14F-4D97-AF65-F5344CB8AC3E}">
        <p14:creationId xmlns:p14="http://schemas.microsoft.com/office/powerpoint/2010/main" val="3595851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27" name="Title Placeholder 1"/>
          <p:cNvSpPr>
            <a:spLocks noGrp="1"/>
          </p:cNvSpPr>
          <p:nvPr>
            <p:ph type="title"/>
          </p:nvPr>
        </p:nvSpPr>
        <p:spPr bwMode="auto">
          <a:xfrm>
            <a:off x="1143000" y="609600"/>
            <a:ext cx="9875838"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1143000" y="2057400"/>
            <a:ext cx="987266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1143000" y="6224588"/>
            <a:ext cx="2328863" cy="365125"/>
          </a:xfrm>
          <a:prstGeom prst="rect">
            <a:avLst/>
          </a:prstGeom>
        </p:spPr>
        <p:txBody>
          <a:bodyPr vert="horz" lIns="91440" tIns="45720" rIns="91440" bIns="45720" rtlCol="0" anchor="ctr"/>
          <a:lstStyle>
            <a:lvl1pPr algn="l">
              <a:defRPr sz="1200" smtClean="0">
                <a:solidFill>
                  <a:schemeClr val="tx1"/>
                </a:solidFill>
              </a:defRPr>
            </a:lvl1pPr>
          </a:lstStyle>
          <a:p>
            <a:pPr>
              <a:defRPr/>
            </a:pPr>
            <a:fld id="{BE98B124-CCEF-4FAF-B3C0-870B99E3B09B}" type="datetime1">
              <a:rPr lang="en-US"/>
              <a:pPr>
                <a:defRPr/>
              </a:pPr>
              <a:t>6/11/2026</a:t>
            </a:fld>
            <a:endParaRPr lang="en-US"/>
          </a:p>
        </p:txBody>
      </p:sp>
      <p:sp>
        <p:nvSpPr>
          <p:cNvPr id="5" name="Footer Placeholder 4"/>
          <p:cNvSpPr>
            <a:spLocks noGrp="1"/>
          </p:cNvSpPr>
          <p:nvPr>
            <p:ph type="ftr" sz="quarter" idx="3"/>
          </p:nvPr>
        </p:nvSpPr>
        <p:spPr>
          <a:xfrm>
            <a:off x="3949700" y="6224588"/>
            <a:ext cx="4716463" cy="365125"/>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p:cNvSpPr>
            <a:spLocks noGrp="1"/>
          </p:cNvSpPr>
          <p:nvPr>
            <p:ph type="sldNum" sz="quarter" idx="4"/>
          </p:nvPr>
        </p:nvSpPr>
        <p:spPr>
          <a:xfrm>
            <a:off x="9329738" y="6224588"/>
            <a:ext cx="1706562" cy="365125"/>
          </a:xfrm>
          <a:prstGeom prst="rect">
            <a:avLst/>
          </a:prstGeom>
        </p:spPr>
        <p:txBody>
          <a:bodyPr vert="horz" wrap="square" lIns="91440" tIns="45720" rIns="91440" bIns="45720" numCol="1" anchor="ctr" anchorCtr="0" compatLnSpc="1">
            <a:prstTxWarp prst="textNoShape">
              <a:avLst/>
            </a:prstTxWarp>
          </a:bodyPr>
          <a:lstStyle>
            <a:lvl1pPr algn="r">
              <a:defRPr sz="1200"/>
            </a:lvl1pPr>
          </a:lstStyle>
          <a:p>
            <a:fld id="{B434C5DA-6621-4F04-8146-1B72F6F8881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5035" r:id="rId1"/>
    <p:sldLayoutId id="2147485026" r:id="rId2"/>
    <p:sldLayoutId id="2147485036" r:id="rId3"/>
    <p:sldLayoutId id="2147485027" r:id="rId4"/>
    <p:sldLayoutId id="2147485028" r:id="rId5"/>
    <p:sldLayoutId id="2147485029" r:id="rId6"/>
    <p:sldLayoutId id="2147485030" r:id="rId7"/>
    <p:sldLayoutId id="2147485031" r:id="rId8"/>
    <p:sldLayoutId id="2147485032" r:id="rId9"/>
    <p:sldLayoutId id="2147485033" r:id="rId10"/>
    <p:sldLayoutId id="2147485034"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p:titleStyle>
    <p:body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a:t>
            </a:r>
            <a:endParaRPr lang="en-US" altLang="en-US" sz="3200"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0" y="1655763"/>
            <a:ext cx="9872663" cy="4440237"/>
          </a:xfrm>
        </p:spPr>
        <p:txBody>
          <a:bodyPr/>
          <a:lstStyle/>
          <a:p>
            <a:pPr marL="538163" lvl="1" indent="-457200" algn="just" eaLnBrk="1" hangingPunct="1">
              <a:buClr>
                <a:srgbClr val="0B5395"/>
              </a:buClr>
            </a:pPr>
            <a:r>
              <a:rPr lang="en-US" altLang="en-US" sz="2800" dirty="0">
                <a:latin typeface="Times New Roman" pitchFamily="18" charset="0"/>
                <a:cs typeface="Times New Roman" pitchFamily="18" charset="0"/>
              </a:rPr>
              <a:t>Raw data is often noisy, inconsistent, and incomplete.</a:t>
            </a:r>
          </a:p>
          <a:p>
            <a:pPr marL="538163" lvl="1" indent="-457200" algn="just" eaLnBrk="1" hangingPunct="1">
              <a:buClr>
                <a:srgbClr val="0B5395"/>
              </a:buClr>
            </a:pPr>
            <a:r>
              <a:rPr lang="en-US" altLang="en-US" sz="2800" dirty="0">
                <a:latin typeface="Times New Roman" pitchFamily="18" charset="0"/>
                <a:cs typeface="Times New Roman" pitchFamily="18" charset="0"/>
              </a:rPr>
              <a:t>Preprocessing improves data quality and model performance.</a:t>
            </a:r>
          </a:p>
          <a:p>
            <a:pPr marL="538163" lvl="1" indent="-457200" algn="just" eaLnBrk="1" hangingPunct="1">
              <a:buClr>
                <a:srgbClr val="0B5395"/>
              </a:buClr>
            </a:pPr>
            <a:r>
              <a:rPr lang="en-US" altLang="en-US" sz="2800" dirty="0">
                <a:latin typeface="Times New Roman" pitchFamily="18" charset="0"/>
                <a:cs typeface="Times New Roman" pitchFamily="18" charset="0"/>
              </a:rPr>
              <a:t>Essential step before data analysis or machine learning.</a:t>
            </a:r>
          </a:p>
          <a:p>
            <a:pPr marL="80963" lvl="1" indent="0" algn="just" eaLnBrk="1" hangingPunct="1">
              <a:buClr>
                <a:srgbClr val="0B5395"/>
              </a:buClr>
              <a:buNone/>
            </a:pPr>
            <a:endParaRPr lang="en-US" altLang="en-US" sz="2800" dirty="0">
              <a:latin typeface="Times New Roman" pitchFamily="18" charset="0"/>
              <a:cs typeface="Times New Roman" pitchFamily="18" charset="0"/>
            </a:endParaRPr>
          </a:p>
          <a:p>
            <a:pPr marL="80963" lvl="1" indent="0" algn="just" eaLnBrk="1" hangingPunct="1">
              <a:buClr>
                <a:srgbClr val="0B5395"/>
              </a:buClr>
              <a:buNone/>
            </a:pPr>
            <a:r>
              <a:rPr lang="en-US" altLang="en-US" sz="2800" dirty="0">
                <a:latin typeface="Times New Roman" pitchFamily="18" charset="0"/>
                <a:cs typeface="Times New Roman" pitchFamily="18" charset="0"/>
              </a:rPr>
              <a:t>Data preprocessing </a:t>
            </a:r>
            <a:r>
              <a:rPr lang="en-US" altLang="en-US" sz="2800" dirty="0">
                <a:solidFill>
                  <a:srgbClr val="FF0000"/>
                </a:solidFill>
                <a:latin typeface="Times New Roman" pitchFamily="18" charset="0"/>
                <a:cs typeface="Times New Roman" pitchFamily="18" charset="0"/>
              </a:rPr>
              <a:t>transforms raw data into a clean and usable format</a:t>
            </a:r>
            <a:r>
              <a:rPr lang="en-US" altLang="en-US" sz="2800" dirty="0">
                <a:latin typeface="Times New Roman" pitchFamily="18" charset="0"/>
                <a:cs typeface="Times New Roman" pitchFamily="18" charset="0"/>
              </a:rPr>
              <a:t> for analysis and machine learning models. </a:t>
            </a:r>
          </a:p>
          <a:p>
            <a:pPr marL="80963" lvl="1" indent="0" algn="just" eaLnBrk="1" hangingPunct="1">
              <a:buClr>
                <a:srgbClr val="0B5395"/>
              </a:buClr>
              <a:buNone/>
            </a:pPr>
            <a:endParaRPr lang="en-US" altLang="en-US" sz="2800" dirty="0">
              <a:latin typeface="Times New Roman" pitchFamily="18" charset="0"/>
              <a:cs typeface="Times New Roman" pitchFamily="18" charset="0"/>
            </a:endParaRPr>
          </a:p>
          <a:p>
            <a:pPr marL="80963" lvl="1" indent="0" algn="just" eaLnBrk="1" hangingPunct="1">
              <a:buClr>
                <a:srgbClr val="0B5395"/>
              </a:buClr>
              <a:buNone/>
            </a:pPr>
            <a:r>
              <a:rPr lang="en-US" altLang="en-US" sz="2800" dirty="0">
                <a:latin typeface="Times New Roman" pitchFamily="18" charset="0"/>
                <a:cs typeface="Times New Roman" pitchFamily="18" charset="0"/>
              </a:rPr>
              <a:t>It's a crucial first step that involves cleaning, transforming, integrating, and reducing data to improve </a:t>
            </a:r>
            <a:r>
              <a:rPr lang="en-US" altLang="en-US" sz="2800" dirty="0">
                <a:solidFill>
                  <a:srgbClr val="FF0000"/>
                </a:solidFill>
                <a:latin typeface="Times New Roman" pitchFamily="18" charset="0"/>
                <a:cs typeface="Times New Roman" pitchFamily="18" charset="0"/>
              </a:rPr>
              <a:t>quality and efficiency</a:t>
            </a:r>
            <a:r>
              <a:rPr lang="en-US" altLang="en-US" sz="2800" dirty="0">
                <a:latin typeface="Times New Roman" pitchFamily="18" charset="0"/>
                <a:cs typeface="Times New Roman" pitchFamily="18" charset="0"/>
              </a:rPr>
              <a:t>.</a:t>
            </a:r>
          </a:p>
          <a:p>
            <a:pPr marL="80963" lvl="1" indent="0" algn="just" eaLnBrk="1" hangingPunct="1">
              <a:buClr>
                <a:srgbClr val="0B5395"/>
              </a:buClr>
              <a:buNone/>
            </a:pPr>
            <a:endParaRPr lang="en-US" altLang="en-US" sz="2800" dirty="0">
              <a:latin typeface="Times New Roman" pitchFamily="18" charset="0"/>
              <a:cs typeface="Times New Roman" pitchFamily="18" charset="0"/>
            </a:endParaRP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1</a:t>
            </a:fld>
            <a:endParaRPr lang="en-US" altLang="en-US"/>
          </a:p>
        </p:txBody>
      </p:sp>
    </p:spTree>
    <p:extLst>
      <p:ext uri="{BB962C8B-B14F-4D97-AF65-F5344CB8AC3E}">
        <p14:creationId xmlns:p14="http://schemas.microsoft.com/office/powerpoint/2010/main" val="158216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2</a:t>
            </a:fld>
            <a:endParaRPr lang="en-US" altLang="en-US"/>
          </a:p>
        </p:txBody>
      </p:sp>
      <p:sp>
        <p:nvSpPr>
          <p:cNvPr id="3" name="Rectangle 2"/>
          <p:cNvSpPr/>
          <p:nvPr/>
        </p:nvSpPr>
        <p:spPr>
          <a:xfrm>
            <a:off x="7383234" y="1313317"/>
            <a:ext cx="3344637" cy="5047536"/>
          </a:xfrm>
          <a:prstGeom prst="rect">
            <a:avLst/>
          </a:prstGeom>
          <a:solidFill>
            <a:schemeClr val="accent2">
              <a:lumMod val="20000"/>
              <a:lumOff val="80000"/>
            </a:schemeClr>
          </a:solidFill>
          <a:ln>
            <a:solidFill>
              <a:schemeClr val="accent1"/>
            </a:solidFill>
          </a:ln>
        </p:spPr>
        <p:txBody>
          <a:bodyPr wrap="square">
            <a:spAutoFit/>
          </a:bodyPr>
          <a:lstStyle/>
          <a:p>
            <a:r>
              <a:rPr lang="en-US" sz="1400" b="1" dirty="0">
                <a:latin typeface="Times New Roman" pitchFamily="18" charset="0"/>
                <a:cs typeface="Times New Roman" pitchFamily="18" charset="0"/>
              </a:rPr>
              <a:t>Data Preprocessing</a:t>
            </a:r>
          </a:p>
          <a:p>
            <a:r>
              <a:rPr lang="en-US" sz="1400" dirty="0">
                <a:latin typeface="Times New Roman" pitchFamily="18" charset="0"/>
                <a:cs typeface="Times New Roman" pitchFamily="18" charset="0"/>
              </a:rPr>
              <a:t>│</a:t>
            </a:r>
          </a:p>
          <a:p>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Data Cleaning</a:t>
            </a:r>
          </a:p>
          <a:p>
            <a:r>
              <a:rPr lang="en-US" sz="1400" dirty="0">
                <a:latin typeface="Times New Roman" pitchFamily="18" charset="0"/>
                <a:cs typeface="Times New Roman" pitchFamily="18" charset="0"/>
              </a:rPr>
              <a:t>│   ├── Missing Values</a:t>
            </a:r>
          </a:p>
          <a:p>
            <a:r>
              <a:rPr lang="en-US" sz="1400" dirty="0">
                <a:latin typeface="Times New Roman" pitchFamily="18" charset="0"/>
                <a:cs typeface="Times New Roman" pitchFamily="18" charset="0"/>
              </a:rPr>
              <a:t>│   ├── Duplicate Records</a:t>
            </a:r>
          </a:p>
          <a:p>
            <a:r>
              <a:rPr lang="en-US" sz="1400" dirty="0">
                <a:latin typeface="Times New Roman" pitchFamily="18" charset="0"/>
                <a:cs typeface="Times New Roman" pitchFamily="18" charset="0"/>
              </a:rPr>
              <a:t>│   ├── Inconsistent Data</a:t>
            </a:r>
          </a:p>
          <a:p>
            <a:r>
              <a:rPr lang="en-US" sz="1400" dirty="0">
                <a:latin typeface="Times New Roman" pitchFamily="18" charset="0"/>
                <a:cs typeface="Times New Roman" pitchFamily="18" charset="0"/>
              </a:rPr>
              <a:t>│   └── Outliers and Noise</a:t>
            </a:r>
          </a:p>
          <a:p>
            <a:r>
              <a:rPr lang="en-US" sz="1400" dirty="0">
                <a:latin typeface="Times New Roman" pitchFamily="18" charset="0"/>
                <a:cs typeface="Times New Roman" pitchFamily="18" charset="0"/>
              </a:rPr>
              <a:t>│</a:t>
            </a:r>
          </a:p>
          <a:p>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Data Transformation</a:t>
            </a:r>
          </a:p>
          <a:p>
            <a:r>
              <a:rPr lang="en-US" sz="1400" dirty="0">
                <a:latin typeface="Times New Roman" pitchFamily="18" charset="0"/>
                <a:cs typeface="Times New Roman" pitchFamily="18" charset="0"/>
              </a:rPr>
              <a:t>│   ├── Data Wrangling</a:t>
            </a:r>
          </a:p>
          <a:p>
            <a:r>
              <a:rPr lang="en-US" sz="1400" dirty="0">
                <a:latin typeface="Times New Roman" pitchFamily="18" charset="0"/>
                <a:cs typeface="Times New Roman" pitchFamily="18" charset="0"/>
              </a:rPr>
              <a:t>│   │   ├── Tidy Data</a:t>
            </a:r>
          </a:p>
          <a:p>
            <a:r>
              <a:rPr lang="en-US" sz="1400" dirty="0">
                <a:latin typeface="Times New Roman" pitchFamily="18" charset="0"/>
                <a:cs typeface="Times New Roman" pitchFamily="18" charset="0"/>
              </a:rPr>
              <a:t>│   │   ├── Filtering &amp; Sorting</a:t>
            </a:r>
          </a:p>
          <a:p>
            <a:r>
              <a:rPr lang="en-US" sz="1400" dirty="0">
                <a:latin typeface="Times New Roman" pitchFamily="18" charset="0"/>
                <a:cs typeface="Times New Roman" pitchFamily="18" charset="0"/>
              </a:rPr>
              <a:t>│   │   ├── Joins &amp; Merges</a:t>
            </a:r>
          </a:p>
          <a:p>
            <a:r>
              <a:rPr lang="en-US" sz="1400" dirty="0">
                <a:latin typeface="Times New Roman" pitchFamily="18" charset="0"/>
                <a:cs typeface="Times New Roman" pitchFamily="18" charset="0"/>
              </a:rPr>
              <a:t>│   │   └── Reshaping</a:t>
            </a:r>
          </a:p>
          <a:p>
            <a:r>
              <a:rPr lang="en-US" sz="1400" dirty="0">
                <a:latin typeface="Times New Roman" pitchFamily="18" charset="0"/>
                <a:cs typeface="Times New Roman" pitchFamily="18" charset="0"/>
              </a:rPr>
              <a:t>│   │</a:t>
            </a:r>
          </a:p>
          <a:p>
            <a:r>
              <a:rPr lang="en-US" sz="1400" dirty="0">
                <a:latin typeface="Times New Roman" pitchFamily="18" charset="0"/>
                <a:cs typeface="Times New Roman" pitchFamily="18" charset="0"/>
              </a:rPr>
              <a:t>│   ├── Encoding Categorical Data</a:t>
            </a:r>
          </a:p>
          <a:p>
            <a:r>
              <a:rPr lang="en-US" sz="1400" dirty="0">
                <a:latin typeface="Times New Roman" pitchFamily="18" charset="0"/>
                <a:cs typeface="Times New Roman" pitchFamily="18" charset="0"/>
              </a:rPr>
              <a:t>│   ├── Normalization / Standardization</a:t>
            </a:r>
          </a:p>
          <a:p>
            <a:r>
              <a:rPr lang="en-US" sz="1400" dirty="0">
                <a:latin typeface="Times New Roman" pitchFamily="18" charset="0"/>
                <a:cs typeface="Times New Roman" pitchFamily="18" charset="0"/>
              </a:rPr>
              <a:t>│   └── Feature Engineering</a:t>
            </a:r>
          </a:p>
          <a:p>
            <a:r>
              <a:rPr lang="en-US" sz="1400" dirty="0">
                <a:latin typeface="Times New Roman" pitchFamily="18" charset="0"/>
                <a:cs typeface="Times New Roman" pitchFamily="18" charset="0"/>
              </a:rPr>
              <a:t>│</a:t>
            </a:r>
          </a:p>
          <a:p>
            <a:r>
              <a:rPr lang="en-US" sz="1400" dirty="0">
                <a:latin typeface="Times New Roman" pitchFamily="18" charset="0"/>
                <a:cs typeface="Times New Roman" pitchFamily="18" charset="0"/>
              </a:rPr>
              <a:t>└── </a:t>
            </a:r>
            <a:r>
              <a:rPr lang="en-US" sz="1400" b="1" dirty="0">
                <a:latin typeface="Times New Roman" pitchFamily="18" charset="0"/>
                <a:cs typeface="Times New Roman" pitchFamily="18" charset="0"/>
              </a:rPr>
              <a:t>Data Reduction</a:t>
            </a:r>
          </a:p>
          <a:p>
            <a:r>
              <a:rPr lang="en-US" sz="1400" dirty="0">
                <a:latin typeface="Times New Roman" pitchFamily="18" charset="0"/>
                <a:cs typeface="Times New Roman" pitchFamily="18" charset="0"/>
              </a:rPr>
              <a:t>    ├── Feature Selection</a:t>
            </a:r>
          </a:p>
          <a:p>
            <a:r>
              <a:rPr lang="en-US" sz="1400" dirty="0">
                <a:latin typeface="Times New Roman" pitchFamily="18" charset="0"/>
                <a:cs typeface="Times New Roman" pitchFamily="18" charset="0"/>
              </a:rPr>
              <a:t>    ├── Dimensionality Reduction</a:t>
            </a:r>
          </a:p>
          <a:p>
            <a:r>
              <a:rPr lang="en-US" sz="1400" dirty="0">
                <a:latin typeface="Times New Roman" pitchFamily="18" charset="0"/>
                <a:cs typeface="Times New Roman" pitchFamily="18" charset="0"/>
              </a:rPr>
              <a:t>    └── </a:t>
            </a:r>
            <a:r>
              <a:rPr lang="en-US" sz="1400" dirty="0" err="1">
                <a:latin typeface="Times New Roman" pitchFamily="18" charset="0"/>
                <a:cs typeface="Times New Roman" pitchFamily="18" charset="0"/>
              </a:rPr>
              <a:t>Numerosity</a:t>
            </a:r>
            <a:r>
              <a:rPr lang="en-US" sz="1400" dirty="0">
                <a:latin typeface="Times New Roman" pitchFamily="18" charset="0"/>
                <a:cs typeface="Times New Roman" pitchFamily="18" charset="0"/>
              </a:rPr>
              <a:t> Reduction</a:t>
            </a:r>
          </a:p>
        </p:txBody>
      </p:sp>
      <p:sp>
        <p:nvSpPr>
          <p:cNvPr id="4" name="Title 1"/>
          <p:cNvSpPr txBox="1">
            <a:spLocks/>
          </p:cNvSpPr>
          <p:nvPr/>
        </p:nvSpPr>
        <p:spPr>
          <a:xfrm>
            <a:off x="1143000" y="447676"/>
            <a:ext cx="9875838" cy="677862"/>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algn="ctr" eaLnBrk="1" fontAlgn="auto" hangingPunct="1">
              <a:spcAft>
                <a:spcPts val="0"/>
              </a:spcAft>
              <a:defRPr/>
            </a:pPr>
            <a:r>
              <a:rPr lang="en-US" altLang="en-US" sz="3200" b="1">
                <a:solidFill>
                  <a:schemeClr val="tx1">
                    <a:lumMod val="95000"/>
                    <a:lumOff val="5000"/>
                  </a:schemeClr>
                </a:solidFill>
                <a:latin typeface="Calibri" panose="020F0502020204030204" pitchFamily="34" charset="0"/>
                <a:cs typeface="Calibri" panose="020F0502020204030204" pitchFamily="34" charset="0"/>
              </a:rPr>
              <a:t>Data Preprocessing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 name="Rectangle 4"/>
          <p:cNvSpPr/>
          <p:nvPr/>
        </p:nvSpPr>
        <p:spPr>
          <a:xfrm>
            <a:off x="590550" y="1514616"/>
            <a:ext cx="6096000" cy="3170099"/>
          </a:xfrm>
          <a:prstGeom prst="rect">
            <a:avLst/>
          </a:prstGeom>
        </p:spPr>
        <p:txBody>
          <a:bodyPr>
            <a:spAutoFit/>
          </a:bodyPr>
          <a:lstStyle/>
          <a:p>
            <a:pPr marL="80963" lvl="1" indent="0" algn="just" eaLnBrk="1" hangingPunct="1">
              <a:buClr>
                <a:srgbClr val="0B5395"/>
              </a:buClr>
              <a:buNone/>
            </a:pPr>
            <a:r>
              <a:rPr lang="en-US" altLang="en-US" sz="2000" dirty="0">
                <a:latin typeface="Times New Roman" pitchFamily="18" charset="0"/>
                <a:cs typeface="Times New Roman" pitchFamily="18" charset="0"/>
              </a:rPr>
              <a:t>The main steps are </a:t>
            </a:r>
          </a:p>
          <a:p>
            <a:pPr marL="538163" lvl="1" indent="-457200" algn="just" eaLnBrk="1" hangingPunct="1">
              <a:buClr>
                <a:srgbClr val="0B5395"/>
              </a:buClr>
            </a:pPr>
            <a:r>
              <a:rPr lang="en-US" altLang="en-US" sz="2000" b="1" dirty="0">
                <a:latin typeface="Times New Roman" pitchFamily="18" charset="0"/>
                <a:cs typeface="Times New Roman" pitchFamily="18" charset="0"/>
              </a:rPr>
              <a:t>Data Cleaning: </a:t>
            </a:r>
            <a:r>
              <a:rPr lang="en-US" altLang="en-US" sz="2000" dirty="0">
                <a:latin typeface="Times New Roman" pitchFamily="18" charset="0"/>
                <a:cs typeface="Times New Roman" pitchFamily="18" charset="0"/>
              </a:rPr>
              <a:t>This step focuses on </a:t>
            </a:r>
            <a:r>
              <a:rPr lang="en-US" altLang="en-US" sz="2000" dirty="0">
                <a:solidFill>
                  <a:srgbClr val="FF0000"/>
                </a:solidFill>
                <a:latin typeface="Times New Roman" pitchFamily="18" charset="0"/>
                <a:cs typeface="Times New Roman" pitchFamily="18" charset="0"/>
              </a:rPr>
              <a:t>fixing issues within the data</a:t>
            </a:r>
            <a:r>
              <a:rPr lang="en-US" altLang="en-US" sz="2000" dirty="0">
                <a:latin typeface="Times New Roman" pitchFamily="18" charset="0"/>
                <a:cs typeface="Times New Roman" pitchFamily="18" charset="0"/>
              </a:rPr>
              <a:t> to improve its quality. Think of it as tidying up your dataset.</a:t>
            </a:r>
          </a:p>
          <a:p>
            <a:pPr marL="538163" lvl="1" indent="-457200" algn="just" eaLnBrk="1" hangingPunct="1">
              <a:buClr>
                <a:srgbClr val="0B5395"/>
              </a:buClr>
            </a:pPr>
            <a:r>
              <a:rPr lang="en-US" altLang="en-US" sz="2000" b="1" dirty="0">
                <a:latin typeface="Times New Roman" pitchFamily="18" charset="0"/>
                <a:cs typeface="Times New Roman" pitchFamily="18" charset="0"/>
              </a:rPr>
              <a:t>Data Transformation: </a:t>
            </a:r>
            <a:r>
              <a:rPr lang="en-US" altLang="en-US" sz="2000" dirty="0">
                <a:latin typeface="Times New Roman" pitchFamily="18" charset="0"/>
                <a:cs typeface="Times New Roman" pitchFamily="18" charset="0"/>
              </a:rPr>
              <a:t>This step involves </a:t>
            </a:r>
            <a:r>
              <a:rPr lang="en-US" altLang="en-US" sz="2000" dirty="0">
                <a:solidFill>
                  <a:srgbClr val="FF0000"/>
                </a:solidFill>
                <a:latin typeface="Times New Roman" pitchFamily="18" charset="0"/>
                <a:cs typeface="Times New Roman" pitchFamily="18" charset="0"/>
              </a:rPr>
              <a:t>modifying the data's structure or format</a:t>
            </a:r>
            <a:r>
              <a:rPr lang="en-US" altLang="en-US" sz="2000" dirty="0">
                <a:latin typeface="Times New Roman" pitchFamily="18" charset="0"/>
                <a:cs typeface="Times New Roman" pitchFamily="18" charset="0"/>
              </a:rPr>
              <a:t> to make it more suitable for machine learning algorithms.</a:t>
            </a:r>
          </a:p>
          <a:p>
            <a:pPr marL="538163" lvl="1" indent="-457200" algn="just" eaLnBrk="1" hangingPunct="1">
              <a:buClr>
                <a:srgbClr val="0B5395"/>
              </a:buClr>
            </a:pPr>
            <a:r>
              <a:rPr lang="en-US" altLang="en-US" sz="2000" b="1" dirty="0">
                <a:latin typeface="Times New Roman" pitchFamily="18" charset="0"/>
                <a:cs typeface="Times New Roman" pitchFamily="18" charset="0"/>
              </a:rPr>
              <a:t>Data Reduction: </a:t>
            </a:r>
            <a:r>
              <a:rPr lang="en-US" altLang="en-US" sz="2000" dirty="0">
                <a:latin typeface="Times New Roman" pitchFamily="18" charset="0"/>
                <a:cs typeface="Times New Roman" pitchFamily="18" charset="0"/>
              </a:rPr>
              <a:t>This step aims to </a:t>
            </a:r>
            <a:r>
              <a:rPr lang="en-US" altLang="en-US" sz="2000" dirty="0">
                <a:solidFill>
                  <a:srgbClr val="FF0000"/>
                </a:solidFill>
                <a:latin typeface="Times New Roman" pitchFamily="18" charset="0"/>
                <a:cs typeface="Times New Roman" pitchFamily="18" charset="0"/>
              </a:rPr>
              <a:t>reduce the size of the dataset</a:t>
            </a:r>
            <a:r>
              <a:rPr lang="en-US" altLang="en-US" sz="2000" dirty="0">
                <a:latin typeface="Times New Roman" pitchFamily="18" charset="0"/>
                <a:cs typeface="Times New Roman" pitchFamily="18" charset="0"/>
              </a:rPr>
              <a:t> without sacrificing important information, making the analysis faster and more efficient.</a:t>
            </a:r>
          </a:p>
        </p:txBody>
      </p:sp>
    </p:spTree>
    <p:extLst>
      <p:ext uri="{BB962C8B-B14F-4D97-AF65-F5344CB8AC3E}">
        <p14:creationId xmlns:p14="http://schemas.microsoft.com/office/powerpoint/2010/main" val="2552516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036864" y="1802720"/>
            <a:ext cx="6433457"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Handling Missing Values</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Handling missing values is a crucial data cleaning step because most machine learning algorithms </a:t>
            </a:r>
            <a:r>
              <a:rPr lang="en-US" altLang="en-US" dirty="0">
                <a:solidFill>
                  <a:srgbClr val="FF0000"/>
                </a:solidFill>
                <a:latin typeface="Times New Roman" pitchFamily="18" charset="0"/>
                <a:cs typeface="Times New Roman" pitchFamily="18" charset="0"/>
              </a:rPr>
              <a:t>cannot work with empty or null data points</a:t>
            </a:r>
            <a:r>
              <a:rPr lang="en-US" altLang="en-US" dirty="0">
                <a:latin typeface="Times New Roman" pitchFamily="18" charset="0"/>
                <a:cs typeface="Times New Roman" pitchFamily="18" charset="0"/>
              </a:rPr>
              <a:t>.</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Choosing the right method depends on the </a:t>
            </a:r>
            <a:r>
              <a:rPr lang="en-US" altLang="en-US" dirty="0">
                <a:solidFill>
                  <a:srgbClr val="FF0000"/>
                </a:solidFill>
                <a:latin typeface="Times New Roman" pitchFamily="18" charset="0"/>
                <a:cs typeface="Times New Roman" pitchFamily="18" charset="0"/>
              </a:rPr>
              <a:t>nature of the data and the amount of missing information</a:t>
            </a:r>
            <a:r>
              <a:rPr lang="en-US" altLang="en-US" dirty="0">
                <a:latin typeface="Times New Roman" pitchFamily="18" charset="0"/>
                <a:cs typeface="Times New Roman" pitchFamily="18" charset="0"/>
              </a:rPr>
              <a:t>. </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Let's use a simple example dataset to discuss the </a:t>
            </a:r>
            <a:r>
              <a:rPr lang="en-US" altLang="en-US" dirty="0">
                <a:solidFill>
                  <a:srgbClr val="FF0000"/>
                </a:solidFill>
                <a:latin typeface="Times New Roman" pitchFamily="18" charset="0"/>
                <a:cs typeface="Times New Roman" pitchFamily="18" charset="0"/>
              </a:rPr>
              <a:t>common techniques</a:t>
            </a:r>
            <a:r>
              <a:rPr lang="en-US" altLang="en-US" dirty="0">
                <a:latin typeface="Times New Roman" pitchFamily="18" charset="0"/>
                <a:cs typeface="Times New Roman" pitchFamily="18" charset="0"/>
              </a:rPr>
              <a:t>.</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3</a:t>
            </a:fld>
            <a:endParaRPr lang="en-US"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8215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0" y="1655763"/>
            <a:ext cx="9872663"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Handling Missing Values</a:t>
            </a:r>
          </a:p>
          <a:p>
            <a:pPr marL="80963" lvl="1" indent="0" algn="just" eaLnBrk="1" hangingPunct="1">
              <a:buClr>
                <a:srgbClr val="0B5395"/>
              </a:buClr>
              <a:buNone/>
            </a:pPr>
            <a:endParaRPr lang="en-US" altLang="en-US" sz="2400" b="1" dirty="0">
              <a:latin typeface="Times New Roman" pitchFamily="18" charset="0"/>
              <a:cs typeface="Times New Roman" pitchFamily="18" charset="0"/>
            </a:endParaRPr>
          </a:p>
          <a:p>
            <a:pPr marL="80963" lvl="1" indent="0" algn="just" eaLnBrk="1" hangingPunct="1">
              <a:buClr>
                <a:srgbClr val="0B5395"/>
              </a:buClr>
              <a:buNone/>
            </a:pPr>
            <a:r>
              <a:rPr lang="en-US" altLang="en-US" sz="2400" b="1" dirty="0">
                <a:latin typeface="Times New Roman" pitchFamily="18" charset="0"/>
                <a:cs typeface="Times New Roman" pitchFamily="18" charset="0"/>
              </a:rPr>
              <a:t>Example Dataset: Employee Info</a:t>
            </a:r>
          </a:p>
          <a:p>
            <a:pPr marL="80963" lvl="1" indent="0" algn="just" eaLnBrk="1" hangingPunct="1">
              <a:buClr>
                <a:srgbClr val="0B5395"/>
              </a:buClr>
              <a:buNone/>
            </a:pPr>
            <a:r>
              <a:rPr lang="en-US" altLang="en-US" sz="2400" dirty="0">
                <a:latin typeface="Times New Roman" pitchFamily="18" charset="0"/>
                <a:cs typeface="Times New Roman" pitchFamily="18" charset="0"/>
              </a:rPr>
              <a:t>Imagine we have the following data about employees. The </a:t>
            </a:r>
            <a:r>
              <a:rPr lang="en-US" altLang="en-US" sz="2400" b="1" dirty="0" err="1">
                <a:latin typeface="Times New Roman" pitchFamily="18" charset="0"/>
                <a:cs typeface="Times New Roman" pitchFamily="18" charset="0"/>
              </a:rPr>
              <a:t>NaN</a:t>
            </a:r>
            <a:r>
              <a:rPr lang="en-US" altLang="en-US" sz="2400" dirty="0">
                <a:latin typeface="Times New Roman" pitchFamily="18" charset="0"/>
                <a:cs typeface="Times New Roman" pitchFamily="18" charset="0"/>
              </a:rPr>
              <a:t> values represent missing data.</a:t>
            </a:r>
          </a:p>
          <a:p>
            <a:pPr marL="80963" lvl="1" indent="0" algn="just" eaLnBrk="1" hangingPunct="1">
              <a:buClr>
                <a:srgbClr val="0B5395"/>
              </a:buClr>
              <a:buNone/>
            </a:pPr>
            <a:endParaRPr lang="en-US" altLang="en-US" sz="2400" dirty="0">
              <a:latin typeface="Times New Roman" pitchFamily="18" charset="0"/>
              <a:cs typeface="Times New Roman" pitchFamily="18" charset="0"/>
            </a:endParaRP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4</a:t>
            </a:fld>
            <a:endParaRPr lang="en-US" altLang="en-US"/>
          </a:p>
        </p:txBody>
      </p:sp>
      <p:graphicFrame>
        <p:nvGraphicFramePr>
          <p:cNvPr id="2" name="Table 1"/>
          <p:cNvGraphicFramePr>
            <a:graphicFrameLocks noGrp="1"/>
          </p:cNvGraphicFramePr>
          <p:nvPr>
            <p:extLst>
              <p:ext uri="{D42A27DB-BD31-4B8C-83A1-F6EECF244321}">
                <p14:modId xmlns:p14="http://schemas.microsoft.com/office/powerpoint/2010/main" val="3040243933"/>
              </p:ext>
            </p:extLst>
          </p:nvPr>
        </p:nvGraphicFramePr>
        <p:xfrm>
          <a:off x="3112974" y="4040777"/>
          <a:ext cx="5294885" cy="1874520"/>
        </p:xfrm>
        <a:graphic>
          <a:graphicData uri="http://schemas.openxmlformats.org/drawingml/2006/table">
            <a:tbl>
              <a:tblPr>
                <a:tableStyleId>{D7AC3CCA-C797-4891-BE02-D94E43425B78}</a:tableStyleId>
              </a:tblPr>
              <a:tblGrid>
                <a:gridCol w="1571054">
                  <a:extLst>
                    <a:ext uri="{9D8B030D-6E8A-4147-A177-3AD203B41FA5}">
                      <a16:colId xmlns:a16="http://schemas.microsoft.com/office/drawing/2014/main" val="20000"/>
                    </a:ext>
                  </a:extLst>
                </a:gridCol>
                <a:gridCol w="544703">
                  <a:extLst>
                    <a:ext uri="{9D8B030D-6E8A-4147-A177-3AD203B41FA5}">
                      <a16:colId xmlns:a16="http://schemas.microsoft.com/office/drawing/2014/main" val="20001"/>
                    </a:ext>
                  </a:extLst>
                </a:gridCol>
                <a:gridCol w="2226628">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00025">
                <a:tc>
                  <a:txBody>
                    <a:bodyPr/>
                    <a:lstStyle/>
                    <a:p>
                      <a:pPr rtl="0" fontAlgn="b"/>
                      <a:r>
                        <a:rPr lang="en-US" b="1">
                          <a:effectLst/>
                        </a:rPr>
                        <a:t>Employee ID</a:t>
                      </a:r>
                    </a:p>
                  </a:txBody>
                  <a:tcPr marL="28575" marR="28575" marT="19050" marB="19050" anchor="b"/>
                </a:tc>
                <a:tc>
                  <a:txBody>
                    <a:bodyPr/>
                    <a:lstStyle/>
                    <a:p>
                      <a:pPr rtl="0" fontAlgn="b"/>
                      <a:r>
                        <a:rPr lang="en-US" b="1">
                          <a:effectLst/>
                        </a:rPr>
                        <a:t>Age</a:t>
                      </a:r>
                    </a:p>
                  </a:txBody>
                  <a:tcPr marL="28575" marR="28575" marT="19050" marB="19050" anchor="b"/>
                </a:tc>
                <a:tc>
                  <a:txBody>
                    <a:bodyPr/>
                    <a:lstStyle/>
                    <a:p>
                      <a:pPr rtl="0" fontAlgn="b"/>
                      <a:r>
                        <a:rPr lang="en-US" b="1">
                          <a:effectLst/>
                        </a:rPr>
                        <a:t>Experience (Years)</a:t>
                      </a:r>
                    </a:p>
                  </a:txBody>
                  <a:tcPr marL="28575" marR="28575" marT="19050" marB="19050" anchor="b"/>
                </a:tc>
                <a:tc>
                  <a:txBody>
                    <a:bodyPr/>
                    <a:lstStyle/>
                    <a:p>
                      <a:pPr rtl="0" fontAlgn="b"/>
                      <a:r>
                        <a:rPr lang="en-US" b="1" dirty="0">
                          <a:effectLst/>
                        </a:rPr>
                        <a:t>Salary</a:t>
                      </a:r>
                    </a:p>
                  </a:txBody>
                  <a:tcPr marL="28575" marR="28575" marT="19050" marB="19050" anchor="b"/>
                </a:tc>
                <a:extLst>
                  <a:ext uri="{0D108BD9-81ED-4DB2-BD59-A6C34878D82A}">
                    <a16:rowId xmlns:a16="http://schemas.microsoft.com/office/drawing/2014/main" val="10000"/>
                  </a:ext>
                </a:extLst>
              </a:tr>
              <a:tr h="200025">
                <a:tc>
                  <a:txBody>
                    <a:bodyPr/>
                    <a:lstStyle/>
                    <a:p>
                      <a:pPr algn="ctr" rtl="0" fontAlgn="b"/>
                      <a:r>
                        <a:rPr lang="en-US" dirty="0">
                          <a:effectLst/>
                        </a:rPr>
                        <a:t>101</a:t>
                      </a:r>
                    </a:p>
                  </a:txBody>
                  <a:tcPr marL="28575" marR="28575" marT="19050" marB="19050" anchor="b"/>
                </a:tc>
                <a:tc>
                  <a:txBody>
                    <a:bodyPr/>
                    <a:lstStyle/>
                    <a:p>
                      <a:pPr algn="ctr" rtl="0" fontAlgn="b"/>
                      <a:r>
                        <a:rPr lang="en-US" dirty="0">
                          <a:effectLst/>
                        </a:rPr>
                        <a:t>25</a:t>
                      </a:r>
                    </a:p>
                  </a:txBody>
                  <a:tcPr marL="28575" marR="28575" marT="19050" marB="19050" anchor="b"/>
                </a:tc>
                <a:tc>
                  <a:txBody>
                    <a:bodyPr/>
                    <a:lstStyle/>
                    <a:p>
                      <a:pPr algn="ctr" rtl="0" fontAlgn="b"/>
                      <a:r>
                        <a:rPr lang="en-US" dirty="0">
                          <a:effectLst/>
                        </a:rPr>
                        <a:t>2</a:t>
                      </a:r>
                    </a:p>
                  </a:txBody>
                  <a:tcPr marL="28575" marR="28575" marT="19050" marB="19050" anchor="b"/>
                </a:tc>
                <a:tc>
                  <a:txBody>
                    <a:bodyPr/>
                    <a:lstStyle/>
                    <a:p>
                      <a:pPr algn="ctr" rtl="0" fontAlgn="b"/>
                      <a:r>
                        <a:rPr lang="en-US">
                          <a:effectLst/>
                        </a:rPr>
                        <a:t>50,000</a:t>
                      </a:r>
                    </a:p>
                  </a:txBody>
                  <a:tcPr marL="28575" marR="28575" marT="19050" marB="19050" anchor="b"/>
                </a:tc>
                <a:extLst>
                  <a:ext uri="{0D108BD9-81ED-4DB2-BD59-A6C34878D82A}">
                    <a16:rowId xmlns:a16="http://schemas.microsoft.com/office/drawing/2014/main" val="10001"/>
                  </a:ext>
                </a:extLst>
              </a:tr>
              <a:tr h="200025">
                <a:tc>
                  <a:txBody>
                    <a:bodyPr/>
                    <a:lstStyle/>
                    <a:p>
                      <a:pPr algn="ctr" rtl="0" fontAlgn="b"/>
                      <a:r>
                        <a:rPr lang="en-US">
                          <a:effectLst/>
                        </a:rPr>
                        <a:t>102</a:t>
                      </a:r>
                    </a:p>
                  </a:txBody>
                  <a:tcPr marL="28575" marR="28575" marT="19050" marB="19050" anchor="b"/>
                </a:tc>
                <a:tc>
                  <a:txBody>
                    <a:bodyPr/>
                    <a:lstStyle/>
                    <a:p>
                      <a:pPr algn="ctr" rtl="0" fontAlgn="b"/>
                      <a:r>
                        <a:rPr lang="en-US">
                          <a:effectLst/>
                        </a:rPr>
                        <a:t>30</a:t>
                      </a:r>
                    </a:p>
                  </a:txBody>
                  <a:tcPr marL="28575" marR="28575" marT="19050" marB="19050" anchor="b"/>
                </a:tc>
                <a:tc>
                  <a:txBody>
                    <a:bodyPr/>
                    <a:lstStyle/>
                    <a:p>
                      <a:pPr algn="ctr" rtl="0" fontAlgn="b"/>
                      <a:r>
                        <a:rPr lang="en-US" dirty="0" err="1">
                          <a:effectLst/>
                        </a:rPr>
                        <a:t>NaN</a:t>
                      </a:r>
                      <a:endParaRPr lang="en-US" dirty="0">
                        <a:effectLst/>
                      </a:endParaRPr>
                    </a:p>
                  </a:txBody>
                  <a:tcPr marL="28575" marR="28575" marT="19050" marB="19050" anchor="b"/>
                </a:tc>
                <a:tc>
                  <a:txBody>
                    <a:bodyPr/>
                    <a:lstStyle/>
                    <a:p>
                      <a:pPr algn="ctr" rtl="0" fontAlgn="b"/>
                      <a:r>
                        <a:rPr lang="en-US">
                          <a:effectLst/>
                        </a:rPr>
                        <a:t>65,000</a:t>
                      </a:r>
                    </a:p>
                  </a:txBody>
                  <a:tcPr marL="28575" marR="28575" marT="19050" marB="19050" anchor="b"/>
                </a:tc>
                <a:extLst>
                  <a:ext uri="{0D108BD9-81ED-4DB2-BD59-A6C34878D82A}">
                    <a16:rowId xmlns:a16="http://schemas.microsoft.com/office/drawing/2014/main" val="10002"/>
                  </a:ext>
                </a:extLst>
              </a:tr>
              <a:tr h="200025">
                <a:tc>
                  <a:txBody>
                    <a:bodyPr/>
                    <a:lstStyle/>
                    <a:p>
                      <a:pPr algn="ctr" rtl="0" fontAlgn="b"/>
                      <a:r>
                        <a:rPr lang="en-US">
                          <a:effectLst/>
                        </a:rPr>
                        <a:t>103</a:t>
                      </a:r>
                    </a:p>
                  </a:txBody>
                  <a:tcPr marL="28575" marR="28575" marT="19050" marB="19050" anchor="b"/>
                </a:tc>
                <a:tc>
                  <a:txBody>
                    <a:bodyPr/>
                    <a:lstStyle/>
                    <a:p>
                      <a:pPr algn="ctr" rtl="0" fontAlgn="b"/>
                      <a:r>
                        <a:rPr lang="en-US">
                          <a:effectLst/>
                        </a:rPr>
                        <a:t>45</a:t>
                      </a:r>
                    </a:p>
                  </a:txBody>
                  <a:tcPr marL="28575" marR="28575" marT="19050" marB="19050" anchor="b"/>
                </a:tc>
                <a:tc>
                  <a:txBody>
                    <a:bodyPr/>
                    <a:lstStyle/>
                    <a:p>
                      <a:pPr algn="ctr" rtl="0" fontAlgn="b"/>
                      <a:r>
                        <a:rPr lang="en-US" dirty="0">
                          <a:effectLst/>
                        </a:rPr>
                        <a:t>20</a:t>
                      </a:r>
                    </a:p>
                  </a:txBody>
                  <a:tcPr marL="28575" marR="28575" marT="19050" marB="19050" anchor="b"/>
                </a:tc>
                <a:tc>
                  <a:txBody>
                    <a:bodyPr/>
                    <a:lstStyle/>
                    <a:p>
                      <a:pPr algn="ctr" rtl="0" fontAlgn="b"/>
                      <a:r>
                        <a:rPr lang="en-US">
                          <a:effectLst/>
                        </a:rPr>
                        <a:t>120,000</a:t>
                      </a:r>
                    </a:p>
                  </a:txBody>
                  <a:tcPr marL="28575" marR="28575" marT="19050" marB="19050" anchor="b"/>
                </a:tc>
                <a:extLst>
                  <a:ext uri="{0D108BD9-81ED-4DB2-BD59-A6C34878D82A}">
                    <a16:rowId xmlns:a16="http://schemas.microsoft.com/office/drawing/2014/main" val="10003"/>
                  </a:ext>
                </a:extLst>
              </a:tr>
              <a:tr h="200025">
                <a:tc>
                  <a:txBody>
                    <a:bodyPr/>
                    <a:lstStyle/>
                    <a:p>
                      <a:pPr algn="ctr" rtl="0" fontAlgn="b"/>
                      <a:r>
                        <a:rPr lang="en-US">
                          <a:effectLst/>
                        </a:rPr>
                        <a:t>104</a:t>
                      </a:r>
                    </a:p>
                  </a:txBody>
                  <a:tcPr marL="28575" marR="28575" marT="19050" marB="19050" anchor="b"/>
                </a:tc>
                <a:tc>
                  <a:txBody>
                    <a:bodyPr/>
                    <a:lstStyle/>
                    <a:p>
                      <a:pPr algn="ctr" rtl="0" fontAlgn="b"/>
                      <a:r>
                        <a:rPr lang="en-US">
                          <a:effectLst/>
                        </a:rPr>
                        <a:t>28</a:t>
                      </a:r>
                    </a:p>
                  </a:txBody>
                  <a:tcPr marL="28575" marR="28575" marT="19050" marB="19050" anchor="b"/>
                </a:tc>
                <a:tc>
                  <a:txBody>
                    <a:bodyPr/>
                    <a:lstStyle/>
                    <a:p>
                      <a:pPr algn="ctr" rtl="0" fontAlgn="b"/>
                      <a:r>
                        <a:rPr lang="en-US" dirty="0">
                          <a:effectLst/>
                        </a:rPr>
                        <a:t>5</a:t>
                      </a:r>
                    </a:p>
                  </a:txBody>
                  <a:tcPr marL="28575" marR="28575" marT="19050" marB="19050" anchor="b"/>
                </a:tc>
                <a:tc>
                  <a:txBody>
                    <a:bodyPr/>
                    <a:lstStyle/>
                    <a:p>
                      <a:pPr algn="ctr" rtl="0" fontAlgn="b"/>
                      <a:r>
                        <a:rPr lang="en-US" dirty="0" err="1">
                          <a:effectLst/>
                        </a:rPr>
                        <a:t>NaN</a:t>
                      </a:r>
                      <a:endParaRPr lang="en-US" dirty="0">
                        <a:effectLst/>
                      </a:endParaRPr>
                    </a:p>
                  </a:txBody>
                  <a:tcPr marL="28575" marR="28575" marT="19050" marB="19050" anchor="b"/>
                </a:tc>
                <a:extLst>
                  <a:ext uri="{0D108BD9-81ED-4DB2-BD59-A6C34878D82A}">
                    <a16:rowId xmlns:a16="http://schemas.microsoft.com/office/drawing/2014/main" val="10004"/>
                  </a:ext>
                </a:extLst>
              </a:tr>
              <a:tr h="200025">
                <a:tc>
                  <a:txBody>
                    <a:bodyPr/>
                    <a:lstStyle/>
                    <a:p>
                      <a:pPr algn="ctr" rtl="0" fontAlgn="b"/>
                      <a:r>
                        <a:rPr lang="en-US">
                          <a:effectLst/>
                        </a:rPr>
                        <a:t>105</a:t>
                      </a:r>
                    </a:p>
                  </a:txBody>
                  <a:tcPr marL="28575" marR="28575" marT="19050" marB="19050" anchor="b"/>
                </a:tc>
                <a:tc>
                  <a:txBody>
                    <a:bodyPr/>
                    <a:lstStyle/>
                    <a:p>
                      <a:pPr algn="ctr" rtl="0" fontAlgn="b"/>
                      <a:r>
                        <a:rPr lang="en-US">
                          <a:effectLst/>
                        </a:rPr>
                        <a:t>50</a:t>
                      </a:r>
                    </a:p>
                  </a:txBody>
                  <a:tcPr marL="28575" marR="28575" marT="19050" marB="19050" anchor="b"/>
                </a:tc>
                <a:tc>
                  <a:txBody>
                    <a:bodyPr/>
                    <a:lstStyle/>
                    <a:p>
                      <a:pPr algn="ctr" rtl="0" fontAlgn="b"/>
                      <a:r>
                        <a:rPr lang="en-US">
                          <a:effectLst/>
                        </a:rPr>
                        <a:t>25</a:t>
                      </a:r>
                    </a:p>
                  </a:txBody>
                  <a:tcPr marL="28575" marR="28575" marT="19050" marB="19050" anchor="b"/>
                </a:tc>
                <a:tc>
                  <a:txBody>
                    <a:bodyPr/>
                    <a:lstStyle/>
                    <a:p>
                      <a:pPr algn="ctr" rtl="0" fontAlgn="b"/>
                      <a:r>
                        <a:rPr lang="en-US" dirty="0">
                          <a:effectLst/>
                        </a:rPr>
                        <a:t>140,000</a:t>
                      </a:r>
                    </a:p>
                  </a:txBody>
                  <a:tcPr marL="28575" marR="28575" marT="19050" marB="19050" anchor="b"/>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65261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800100" y="1655763"/>
            <a:ext cx="4988379"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Handling Missing Values</a:t>
            </a:r>
          </a:p>
          <a:p>
            <a:pPr marL="80963" lvl="1" indent="0" algn="just" eaLnBrk="1" hangingPunct="1">
              <a:buClr>
                <a:srgbClr val="0B5395"/>
              </a:buClr>
              <a:buNone/>
            </a:pPr>
            <a:r>
              <a:rPr lang="en-US" altLang="en-US" sz="2400" b="1" dirty="0">
                <a:latin typeface="Times New Roman" pitchFamily="18" charset="0"/>
                <a:cs typeface="Times New Roman" pitchFamily="18" charset="0"/>
              </a:rPr>
              <a:t>1. Deletion Methods </a:t>
            </a:r>
          </a:p>
          <a:p>
            <a:pPr marL="80963" lvl="1" indent="0" algn="just" eaLnBrk="1" hangingPunct="1">
              <a:buClr>
                <a:srgbClr val="0B5395"/>
              </a:buClr>
              <a:buNone/>
            </a:pPr>
            <a:r>
              <a:rPr lang="en-US" altLang="en-US" sz="2400" dirty="0">
                <a:latin typeface="Times New Roman" pitchFamily="18" charset="0"/>
                <a:cs typeface="Times New Roman" pitchFamily="18" charset="0"/>
              </a:rPr>
              <a:t>The simplest approach is to just remove the missing data.</a:t>
            </a:r>
          </a:p>
          <a:p>
            <a:pPr marL="423863" lvl="1" indent="-342900" algn="just" eaLnBrk="1" hangingPunct="1">
              <a:buClr>
                <a:srgbClr val="0B5395"/>
              </a:buClr>
            </a:pPr>
            <a:r>
              <a:rPr lang="en-US" altLang="en-US" sz="2400" b="1" dirty="0" err="1">
                <a:latin typeface="Times New Roman" pitchFamily="18" charset="0"/>
                <a:cs typeface="Times New Roman" pitchFamily="18" charset="0"/>
              </a:rPr>
              <a:t>Listwise</a:t>
            </a:r>
            <a:r>
              <a:rPr lang="en-US" altLang="en-US" sz="2400" b="1" dirty="0">
                <a:latin typeface="Times New Roman" pitchFamily="18" charset="0"/>
                <a:cs typeface="Times New Roman" pitchFamily="18" charset="0"/>
              </a:rPr>
              <a:t> Deletion: </a:t>
            </a:r>
            <a:r>
              <a:rPr lang="en-US" altLang="en-US" sz="2400" dirty="0">
                <a:latin typeface="Times New Roman" pitchFamily="18" charset="0"/>
                <a:cs typeface="Times New Roman" pitchFamily="18" charset="0"/>
              </a:rPr>
              <a:t>This involves deleting the entire row that contains a missing value. In our example, we would remove the rows for Employee </a:t>
            </a:r>
            <a:r>
              <a:rPr lang="en-US" altLang="en-US" sz="2400" b="1" dirty="0">
                <a:latin typeface="Times New Roman" pitchFamily="18" charset="0"/>
                <a:cs typeface="Times New Roman" pitchFamily="18" charset="0"/>
              </a:rPr>
              <a:t>ID 102 and 104</a:t>
            </a:r>
            <a:r>
              <a:rPr lang="en-US" altLang="en-US" sz="2400" dirty="0">
                <a:latin typeface="Times New Roman" pitchFamily="18" charset="0"/>
                <a:cs typeface="Times New Roman" pitchFamily="18" charset="0"/>
              </a:rPr>
              <a:t>.</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5</a:t>
            </a:fld>
            <a:endParaRPr lang="en-US" altLang="en-US"/>
          </a:p>
        </p:txBody>
      </p:sp>
      <p:graphicFrame>
        <p:nvGraphicFramePr>
          <p:cNvPr id="2" name="Table 1"/>
          <p:cNvGraphicFramePr>
            <a:graphicFrameLocks noGrp="1"/>
          </p:cNvGraphicFramePr>
          <p:nvPr>
            <p:extLst>
              <p:ext uri="{D42A27DB-BD31-4B8C-83A1-F6EECF244321}">
                <p14:modId xmlns:p14="http://schemas.microsoft.com/office/powerpoint/2010/main" val="2569236385"/>
              </p:ext>
            </p:extLst>
          </p:nvPr>
        </p:nvGraphicFramePr>
        <p:xfrm>
          <a:off x="6166416" y="1551214"/>
          <a:ext cx="5294885" cy="1874520"/>
        </p:xfrm>
        <a:graphic>
          <a:graphicData uri="http://schemas.openxmlformats.org/drawingml/2006/table">
            <a:tbl>
              <a:tblPr>
                <a:tableStyleId>{D7AC3CCA-C797-4891-BE02-D94E43425B78}</a:tableStyleId>
              </a:tblPr>
              <a:tblGrid>
                <a:gridCol w="1571054">
                  <a:extLst>
                    <a:ext uri="{9D8B030D-6E8A-4147-A177-3AD203B41FA5}">
                      <a16:colId xmlns:a16="http://schemas.microsoft.com/office/drawing/2014/main" val="20000"/>
                    </a:ext>
                  </a:extLst>
                </a:gridCol>
                <a:gridCol w="544703">
                  <a:extLst>
                    <a:ext uri="{9D8B030D-6E8A-4147-A177-3AD203B41FA5}">
                      <a16:colId xmlns:a16="http://schemas.microsoft.com/office/drawing/2014/main" val="20001"/>
                    </a:ext>
                  </a:extLst>
                </a:gridCol>
                <a:gridCol w="2226628">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79218">
                <a:tc>
                  <a:txBody>
                    <a:bodyPr/>
                    <a:lstStyle/>
                    <a:p>
                      <a:pPr rtl="0" fontAlgn="b"/>
                      <a:r>
                        <a:rPr lang="en-US" b="1" dirty="0">
                          <a:effectLst/>
                        </a:rPr>
                        <a:t>Employee ID</a:t>
                      </a:r>
                    </a:p>
                  </a:txBody>
                  <a:tcPr marL="28575" marR="28575" marT="19050" marB="19050" anchor="b"/>
                </a:tc>
                <a:tc>
                  <a:txBody>
                    <a:bodyPr/>
                    <a:lstStyle/>
                    <a:p>
                      <a:pPr rtl="0" fontAlgn="b"/>
                      <a:r>
                        <a:rPr lang="en-US" b="1">
                          <a:effectLst/>
                        </a:rPr>
                        <a:t>Age</a:t>
                      </a:r>
                    </a:p>
                  </a:txBody>
                  <a:tcPr marL="28575" marR="28575" marT="19050" marB="19050" anchor="b"/>
                </a:tc>
                <a:tc>
                  <a:txBody>
                    <a:bodyPr/>
                    <a:lstStyle/>
                    <a:p>
                      <a:pPr rtl="0" fontAlgn="b"/>
                      <a:r>
                        <a:rPr lang="en-US" b="1">
                          <a:effectLst/>
                        </a:rPr>
                        <a:t>Experience (Years)</a:t>
                      </a:r>
                    </a:p>
                  </a:txBody>
                  <a:tcPr marL="28575" marR="28575" marT="19050" marB="19050" anchor="b"/>
                </a:tc>
                <a:tc>
                  <a:txBody>
                    <a:bodyPr/>
                    <a:lstStyle/>
                    <a:p>
                      <a:pPr rtl="0" fontAlgn="b"/>
                      <a:r>
                        <a:rPr lang="en-US" b="1" dirty="0">
                          <a:effectLst/>
                        </a:rPr>
                        <a:t>Salary</a:t>
                      </a:r>
                    </a:p>
                  </a:txBody>
                  <a:tcPr marL="28575" marR="28575" marT="19050" marB="19050" anchor="b"/>
                </a:tc>
                <a:extLst>
                  <a:ext uri="{0D108BD9-81ED-4DB2-BD59-A6C34878D82A}">
                    <a16:rowId xmlns:a16="http://schemas.microsoft.com/office/drawing/2014/main" val="10000"/>
                  </a:ext>
                </a:extLst>
              </a:tr>
              <a:tr h="200025">
                <a:tc>
                  <a:txBody>
                    <a:bodyPr/>
                    <a:lstStyle/>
                    <a:p>
                      <a:pPr algn="ctr" rtl="0" fontAlgn="b"/>
                      <a:r>
                        <a:rPr lang="en-US" dirty="0">
                          <a:effectLst/>
                        </a:rPr>
                        <a:t>101</a:t>
                      </a:r>
                    </a:p>
                  </a:txBody>
                  <a:tcPr marL="28575" marR="28575" marT="19050" marB="19050" anchor="b"/>
                </a:tc>
                <a:tc>
                  <a:txBody>
                    <a:bodyPr/>
                    <a:lstStyle/>
                    <a:p>
                      <a:pPr algn="ctr" rtl="0" fontAlgn="b"/>
                      <a:r>
                        <a:rPr lang="en-US" dirty="0">
                          <a:effectLst/>
                        </a:rPr>
                        <a:t>25</a:t>
                      </a:r>
                    </a:p>
                  </a:txBody>
                  <a:tcPr marL="28575" marR="28575" marT="19050" marB="19050" anchor="b"/>
                </a:tc>
                <a:tc>
                  <a:txBody>
                    <a:bodyPr/>
                    <a:lstStyle/>
                    <a:p>
                      <a:pPr algn="ctr" rtl="0" fontAlgn="b"/>
                      <a:r>
                        <a:rPr lang="en-US" dirty="0">
                          <a:effectLst/>
                        </a:rPr>
                        <a:t>2</a:t>
                      </a:r>
                    </a:p>
                  </a:txBody>
                  <a:tcPr marL="28575" marR="28575" marT="19050" marB="19050" anchor="b"/>
                </a:tc>
                <a:tc>
                  <a:txBody>
                    <a:bodyPr/>
                    <a:lstStyle/>
                    <a:p>
                      <a:pPr algn="ctr" rtl="0" fontAlgn="b"/>
                      <a:r>
                        <a:rPr lang="en-US">
                          <a:effectLst/>
                        </a:rPr>
                        <a:t>50,000</a:t>
                      </a:r>
                    </a:p>
                  </a:txBody>
                  <a:tcPr marL="28575" marR="28575" marT="19050" marB="19050" anchor="b"/>
                </a:tc>
                <a:extLst>
                  <a:ext uri="{0D108BD9-81ED-4DB2-BD59-A6C34878D82A}">
                    <a16:rowId xmlns:a16="http://schemas.microsoft.com/office/drawing/2014/main" val="10001"/>
                  </a:ext>
                </a:extLst>
              </a:tr>
              <a:tr h="200025">
                <a:tc>
                  <a:txBody>
                    <a:bodyPr/>
                    <a:lstStyle/>
                    <a:p>
                      <a:pPr algn="ctr" rtl="0" fontAlgn="b"/>
                      <a:r>
                        <a:rPr lang="en-US">
                          <a:effectLst/>
                        </a:rPr>
                        <a:t>102</a:t>
                      </a:r>
                    </a:p>
                  </a:txBody>
                  <a:tcPr marL="28575" marR="28575" marT="19050" marB="19050" anchor="b">
                    <a:solidFill>
                      <a:srgbClr val="FF0000"/>
                    </a:solidFill>
                  </a:tcPr>
                </a:tc>
                <a:tc>
                  <a:txBody>
                    <a:bodyPr/>
                    <a:lstStyle/>
                    <a:p>
                      <a:pPr algn="ctr" rtl="0" fontAlgn="b"/>
                      <a:r>
                        <a:rPr lang="en-US">
                          <a:effectLst/>
                        </a:rPr>
                        <a:t>30</a:t>
                      </a:r>
                    </a:p>
                  </a:txBody>
                  <a:tcPr marL="28575" marR="28575" marT="19050" marB="19050" anchor="b">
                    <a:solidFill>
                      <a:srgbClr val="FF0000"/>
                    </a:solidFill>
                  </a:tcPr>
                </a:tc>
                <a:tc>
                  <a:txBody>
                    <a:bodyPr/>
                    <a:lstStyle/>
                    <a:p>
                      <a:pPr algn="ctr" rtl="0" fontAlgn="b"/>
                      <a:r>
                        <a:rPr lang="en-US" dirty="0" err="1">
                          <a:effectLst/>
                        </a:rPr>
                        <a:t>NaN</a:t>
                      </a:r>
                      <a:endParaRPr lang="en-US" dirty="0">
                        <a:effectLst/>
                      </a:endParaRPr>
                    </a:p>
                  </a:txBody>
                  <a:tcPr marL="28575" marR="28575" marT="19050" marB="19050" anchor="b">
                    <a:solidFill>
                      <a:srgbClr val="FF0000"/>
                    </a:solidFill>
                  </a:tcPr>
                </a:tc>
                <a:tc>
                  <a:txBody>
                    <a:bodyPr/>
                    <a:lstStyle/>
                    <a:p>
                      <a:pPr algn="ctr" rtl="0" fontAlgn="b"/>
                      <a:r>
                        <a:rPr lang="en-US" dirty="0">
                          <a:effectLst/>
                        </a:rPr>
                        <a:t>65,000</a:t>
                      </a:r>
                    </a:p>
                  </a:txBody>
                  <a:tcPr marL="28575" marR="28575" marT="19050" marB="19050" anchor="b">
                    <a:solidFill>
                      <a:srgbClr val="FF0000"/>
                    </a:solidFill>
                  </a:tcPr>
                </a:tc>
                <a:extLst>
                  <a:ext uri="{0D108BD9-81ED-4DB2-BD59-A6C34878D82A}">
                    <a16:rowId xmlns:a16="http://schemas.microsoft.com/office/drawing/2014/main" val="10002"/>
                  </a:ext>
                </a:extLst>
              </a:tr>
              <a:tr h="200025">
                <a:tc>
                  <a:txBody>
                    <a:bodyPr/>
                    <a:lstStyle/>
                    <a:p>
                      <a:pPr algn="ctr" rtl="0" fontAlgn="b"/>
                      <a:r>
                        <a:rPr lang="en-US" dirty="0">
                          <a:effectLst/>
                        </a:rPr>
                        <a:t>103</a:t>
                      </a:r>
                    </a:p>
                  </a:txBody>
                  <a:tcPr marL="28575" marR="28575" marT="19050" marB="19050" anchor="b"/>
                </a:tc>
                <a:tc>
                  <a:txBody>
                    <a:bodyPr/>
                    <a:lstStyle/>
                    <a:p>
                      <a:pPr algn="ctr" rtl="0" fontAlgn="b"/>
                      <a:r>
                        <a:rPr lang="en-US">
                          <a:effectLst/>
                        </a:rPr>
                        <a:t>45</a:t>
                      </a:r>
                    </a:p>
                  </a:txBody>
                  <a:tcPr marL="28575" marR="28575" marT="19050" marB="19050" anchor="b"/>
                </a:tc>
                <a:tc>
                  <a:txBody>
                    <a:bodyPr/>
                    <a:lstStyle/>
                    <a:p>
                      <a:pPr algn="ctr" rtl="0" fontAlgn="b"/>
                      <a:r>
                        <a:rPr lang="en-US" dirty="0">
                          <a:effectLst/>
                        </a:rPr>
                        <a:t>20</a:t>
                      </a:r>
                    </a:p>
                  </a:txBody>
                  <a:tcPr marL="28575" marR="28575" marT="19050" marB="19050" anchor="b"/>
                </a:tc>
                <a:tc>
                  <a:txBody>
                    <a:bodyPr/>
                    <a:lstStyle/>
                    <a:p>
                      <a:pPr algn="ctr" rtl="0" fontAlgn="b"/>
                      <a:r>
                        <a:rPr lang="en-US">
                          <a:effectLst/>
                        </a:rPr>
                        <a:t>120,000</a:t>
                      </a:r>
                    </a:p>
                  </a:txBody>
                  <a:tcPr marL="28575" marR="28575" marT="19050" marB="19050" anchor="b"/>
                </a:tc>
                <a:extLst>
                  <a:ext uri="{0D108BD9-81ED-4DB2-BD59-A6C34878D82A}">
                    <a16:rowId xmlns:a16="http://schemas.microsoft.com/office/drawing/2014/main" val="10003"/>
                  </a:ext>
                </a:extLst>
              </a:tr>
              <a:tr h="200025">
                <a:tc>
                  <a:txBody>
                    <a:bodyPr/>
                    <a:lstStyle/>
                    <a:p>
                      <a:pPr algn="ctr" rtl="0" fontAlgn="b"/>
                      <a:r>
                        <a:rPr lang="en-US">
                          <a:effectLst/>
                        </a:rPr>
                        <a:t>104</a:t>
                      </a:r>
                    </a:p>
                  </a:txBody>
                  <a:tcPr marL="28575" marR="28575" marT="19050" marB="19050" anchor="b">
                    <a:solidFill>
                      <a:srgbClr val="FF0000"/>
                    </a:solidFill>
                  </a:tcPr>
                </a:tc>
                <a:tc>
                  <a:txBody>
                    <a:bodyPr/>
                    <a:lstStyle/>
                    <a:p>
                      <a:pPr algn="ctr" rtl="0" fontAlgn="b"/>
                      <a:r>
                        <a:rPr lang="en-US">
                          <a:effectLst/>
                        </a:rPr>
                        <a:t>28</a:t>
                      </a:r>
                    </a:p>
                  </a:txBody>
                  <a:tcPr marL="28575" marR="28575" marT="19050" marB="19050" anchor="b">
                    <a:solidFill>
                      <a:srgbClr val="FF0000"/>
                    </a:solidFill>
                  </a:tcPr>
                </a:tc>
                <a:tc>
                  <a:txBody>
                    <a:bodyPr/>
                    <a:lstStyle/>
                    <a:p>
                      <a:pPr algn="ctr" rtl="0" fontAlgn="b"/>
                      <a:r>
                        <a:rPr lang="en-US" dirty="0">
                          <a:effectLst/>
                        </a:rPr>
                        <a:t>5</a:t>
                      </a:r>
                    </a:p>
                  </a:txBody>
                  <a:tcPr marL="28575" marR="28575" marT="19050" marB="19050" anchor="b">
                    <a:solidFill>
                      <a:srgbClr val="FF0000"/>
                    </a:solidFill>
                  </a:tcPr>
                </a:tc>
                <a:tc>
                  <a:txBody>
                    <a:bodyPr/>
                    <a:lstStyle/>
                    <a:p>
                      <a:pPr algn="ctr" rtl="0" fontAlgn="b"/>
                      <a:r>
                        <a:rPr lang="en-US" dirty="0" err="1">
                          <a:effectLst/>
                        </a:rPr>
                        <a:t>NaN</a:t>
                      </a:r>
                      <a:endParaRPr lang="en-US" dirty="0">
                        <a:effectLst/>
                      </a:endParaRPr>
                    </a:p>
                  </a:txBody>
                  <a:tcPr marL="28575" marR="28575" marT="19050" marB="19050" anchor="b">
                    <a:solidFill>
                      <a:srgbClr val="FF0000"/>
                    </a:solidFill>
                  </a:tcPr>
                </a:tc>
                <a:extLst>
                  <a:ext uri="{0D108BD9-81ED-4DB2-BD59-A6C34878D82A}">
                    <a16:rowId xmlns:a16="http://schemas.microsoft.com/office/drawing/2014/main" val="10004"/>
                  </a:ext>
                </a:extLst>
              </a:tr>
              <a:tr h="200025">
                <a:tc>
                  <a:txBody>
                    <a:bodyPr/>
                    <a:lstStyle/>
                    <a:p>
                      <a:pPr algn="ctr" rtl="0" fontAlgn="b"/>
                      <a:r>
                        <a:rPr lang="en-US">
                          <a:effectLst/>
                        </a:rPr>
                        <a:t>105</a:t>
                      </a:r>
                    </a:p>
                  </a:txBody>
                  <a:tcPr marL="28575" marR="28575" marT="19050" marB="19050" anchor="b"/>
                </a:tc>
                <a:tc>
                  <a:txBody>
                    <a:bodyPr/>
                    <a:lstStyle/>
                    <a:p>
                      <a:pPr algn="ctr" rtl="0" fontAlgn="b"/>
                      <a:r>
                        <a:rPr lang="en-US">
                          <a:effectLst/>
                        </a:rPr>
                        <a:t>50</a:t>
                      </a:r>
                    </a:p>
                  </a:txBody>
                  <a:tcPr marL="28575" marR="28575" marT="19050" marB="19050" anchor="b"/>
                </a:tc>
                <a:tc>
                  <a:txBody>
                    <a:bodyPr/>
                    <a:lstStyle/>
                    <a:p>
                      <a:pPr algn="ctr" rtl="0" fontAlgn="b"/>
                      <a:r>
                        <a:rPr lang="en-US">
                          <a:effectLst/>
                        </a:rPr>
                        <a:t>25</a:t>
                      </a:r>
                    </a:p>
                  </a:txBody>
                  <a:tcPr marL="28575" marR="28575" marT="19050" marB="19050" anchor="b"/>
                </a:tc>
                <a:tc>
                  <a:txBody>
                    <a:bodyPr/>
                    <a:lstStyle/>
                    <a:p>
                      <a:pPr algn="ctr" rtl="0" fontAlgn="b"/>
                      <a:r>
                        <a:rPr lang="en-US" dirty="0">
                          <a:effectLst/>
                        </a:rPr>
                        <a:t>140,000</a:t>
                      </a:r>
                    </a:p>
                  </a:txBody>
                  <a:tcPr marL="28575" marR="28575" marT="19050" marB="19050" anchor="b"/>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97251125"/>
              </p:ext>
            </p:extLst>
          </p:nvPr>
        </p:nvGraphicFramePr>
        <p:xfrm>
          <a:off x="6171858" y="4365171"/>
          <a:ext cx="5294885" cy="1249680"/>
        </p:xfrm>
        <a:graphic>
          <a:graphicData uri="http://schemas.openxmlformats.org/drawingml/2006/table">
            <a:tbl>
              <a:tblPr>
                <a:tableStyleId>{D7AC3CCA-C797-4891-BE02-D94E43425B78}</a:tableStyleId>
              </a:tblPr>
              <a:tblGrid>
                <a:gridCol w="1571054">
                  <a:extLst>
                    <a:ext uri="{9D8B030D-6E8A-4147-A177-3AD203B41FA5}">
                      <a16:colId xmlns:a16="http://schemas.microsoft.com/office/drawing/2014/main" val="20000"/>
                    </a:ext>
                  </a:extLst>
                </a:gridCol>
                <a:gridCol w="544703">
                  <a:extLst>
                    <a:ext uri="{9D8B030D-6E8A-4147-A177-3AD203B41FA5}">
                      <a16:colId xmlns:a16="http://schemas.microsoft.com/office/drawing/2014/main" val="20001"/>
                    </a:ext>
                  </a:extLst>
                </a:gridCol>
                <a:gridCol w="2226628">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79218">
                <a:tc>
                  <a:txBody>
                    <a:bodyPr/>
                    <a:lstStyle/>
                    <a:p>
                      <a:pPr rtl="0" fontAlgn="b"/>
                      <a:r>
                        <a:rPr lang="en-US" b="1" dirty="0">
                          <a:effectLst/>
                        </a:rPr>
                        <a:t>Employee ID</a:t>
                      </a:r>
                    </a:p>
                  </a:txBody>
                  <a:tcPr marL="28575" marR="28575" marT="19050" marB="19050" anchor="b"/>
                </a:tc>
                <a:tc>
                  <a:txBody>
                    <a:bodyPr/>
                    <a:lstStyle/>
                    <a:p>
                      <a:pPr rtl="0" fontAlgn="b"/>
                      <a:r>
                        <a:rPr lang="en-US" b="1">
                          <a:effectLst/>
                        </a:rPr>
                        <a:t>Age</a:t>
                      </a:r>
                    </a:p>
                  </a:txBody>
                  <a:tcPr marL="28575" marR="28575" marT="19050" marB="19050" anchor="b"/>
                </a:tc>
                <a:tc>
                  <a:txBody>
                    <a:bodyPr/>
                    <a:lstStyle/>
                    <a:p>
                      <a:pPr rtl="0" fontAlgn="b"/>
                      <a:r>
                        <a:rPr lang="en-US" b="1">
                          <a:effectLst/>
                        </a:rPr>
                        <a:t>Experience (Years)</a:t>
                      </a:r>
                    </a:p>
                  </a:txBody>
                  <a:tcPr marL="28575" marR="28575" marT="19050" marB="19050" anchor="b"/>
                </a:tc>
                <a:tc>
                  <a:txBody>
                    <a:bodyPr/>
                    <a:lstStyle/>
                    <a:p>
                      <a:pPr rtl="0" fontAlgn="b"/>
                      <a:r>
                        <a:rPr lang="en-US" b="1" dirty="0">
                          <a:effectLst/>
                        </a:rPr>
                        <a:t>Salary</a:t>
                      </a:r>
                    </a:p>
                  </a:txBody>
                  <a:tcPr marL="28575" marR="28575" marT="19050" marB="19050" anchor="b"/>
                </a:tc>
                <a:extLst>
                  <a:ext uri="{0D108BD9-81ED-4DB2-BD59-A6C34878D82A}">
                    <a16:rowId xmlns:a16="http://schemas.microsoft.com/office/drawing/2014/main" val="10000"/>
                  </a:ext>
                </a:extLst>
              </a:tr>
              <a:tr h="200025">
                <a:tc>
                  <a:txBody>
                    <a:bodyPr/>
                    <a:lstStyle/>
                    <a:p>
                      <a:pPr algn="ctr" rtl="0" fontAlgn="b"/>
                      <a:r>
                        <a:rPr lang="en-US" dirty="0">
                          <a:effectLst/>
                        </a:rPr>
                        <a:t>101</a:t>
                      </a:r>
                    </a:p>
                  </a:txBody>
                  <a:tcPr marL="28575" marR="28575" marT="19050" marB="19050" anchor="b"/>
                </a:tc>
                <a:tc>
                  <a:txBody>
                    <a:bodyPr/>
                    <a:lstStyle/>
                    <a:p>
                      <a:pPr algn="ctr" rtl="0" fontAlgn="b"/>
                      <a:r>
                        <a:rPr lang="en-US" dirty="0">
                          <a:effectLst/>
                        </a:rPr>
                        <a:t>25</a:t>
                      </a:r>
                    </a:p>
                  </a:txBody>
                  <a:tcPr marL="28575" marR="28575" marT="19050" marB="19050" anchor="b"/>
                </a:tc>
                <a:tc>
                  <a:txBody>
                    <a:bodyPr/>
                    <a:lstStyle/>
                    <a:p>
                      <a:pPr algn="ctr" rtl="0" fontAlgn="b"/>
                      <a:r>
                        <a:rPr lang="en-US" dirty="0">
                          <a:effectLst/>
                        </a:rPr>
                        <a:t>2</a:t>
                      </a:r>
                    </a:p>
                  </a:txBody>
                  <a:tcPr marL="28575" marR="28575" marT="19050" marB="19050" anchor="b"/>
                </a:tc>
                <a:tc>
                  <a:txBody>
                    <a:bodyPr/>
                    <a:lstStyle/>
                    <a:p>
                      <a:pPr algn="ctr" rtl="0" fontAlgn="b"/>
                      <a:r>
                        <a:rPr lang="en-US">
                          <a:effectLst/>
                        </a:rPr>
                        <a:t>50,000</a:t>
                      </a:r>
                    </a:p>
                  </a:txBody>
                  <a:tcPr marL="28575" marR="28575" marT="19050" marB="19050" anchor="b"/>
                </a:tc>
                <a:extLst>
                  <a:ext uri="{0D108BD9-81ED-4DB2-BD59-A6C34878D82A}">
                    <a16:rowId xmlns:a16="http://schemas.microsoft.com/office/drawing/2014/main" val="10001"/>
                  </a:ext>
                </a:extLst>
              </a:tr>
              <a:tr h="200025">
                <a:tc>
                  <a:txBody>
                    <a:bodyPr/>
                    <a:lstStyle/>
                    <a:p>
                      <a:pPr algn="ctr" rtl="0" fontAlgn="b"/>
                      <a:r>
                        <a:rPr lang="en-US" dirty="0">
                          <a:effectLst/>
                        </a:rPr>
                        <a:t>103</a:t>
                      </a:r>
                    </a:p>
                  </a:txBody>
                  <a:tcPr marL="28575" marR="28575" marT="19050" marB="19050" anchor="b"/>
                </a:tc>
                <a:tc>
                  <a:txBody>
                    <a:bodyPr/>
                    <a:lstStyle/>
                    <a:p>
                      <a:pPr algn="ctr" rtl="0" fontAlgn="b"/>
                      <a:r>
                        <a:rPr lang="en-US">
                          <a:effectLst/>
                        </a:rPr>
                        <a:t>45</a:t>
                      </a:r>
                    </a:p>
                  </a:txBody>
                  <a:tcPr marL="28575" marR="28575" marT="19050" marB="19050" anchor="b"/>
                </a:tc>
                <a:tc>
                  <a:txBody>
                    <a:bodyPr/>
                    <a:lstStyle/>
                    <a:p>
                      <a:pPr algn="ctr" rtl="0" fontAlgn="b"/>
                      <a:r>
                        <a:rPr lang="en-US" dirty="0">
                          <a:effectLst/>
                        </a:rPr>
                        <a:t>20</a:t>
                      </a:r>
                    </a:p>
                  </a:txBody>
                  <a:tcPr marL="28575" marR="28575" marT="19050" marB="19050" anchor="b"/>
                </a:tc>
                <a:tc>
                  <a:txBody>
                    <a:bodyPr/>
                    <a:lstStyle/>
                    <a:p>
                      <a:pPr algn="ctr" rtl="0" fontAlgn="b"/>
                      <a:r>
                        <a:rPr lang="en-US">
                          <a:effectLst/>
                        </a:rPr>
                        <a:t>120,000</a:t>
                      </a:r>
                    </a:p>
                  </a:txBody>
                  <a:tcPr marL="28575" marR="28575" marT="19050" marB="19050" anchor="b"/>
                </a:tc>
                <a:extLst>
                  <a:ext uri="{0D108BD9-81ED-4DB2-BD59-A6C34878D82A}">
                    <a16:rowId xmlns:a16="http://schemas.microsoft.com/office/drawing/2014/main" val="10002"/>
                  </a:ext>
                </a:extLst>
              </a:tr>
              <a:tr h="200025">
                <a:tc>
                  <a:txBody>
                    <a:bodyPr/>
                    <a:lstStyle/>
                    <a:p>
                      <a:pPr algn="ctr" rtl="0" fontAlgn="b"/>
                      <a:r>
                        <a:rPr lang="en-US" dirty="0">
                          <a:effectLst/>
                        </a:rPr>
                        <a:t>105</a:t>
                      </a:r>
                    </a:p>
                  </a:txBody>
                  <a:tcPr marL="28575" marR="28575" marT="19050" marB="19050" anchor="b"/>
                </a:tc>
                <a:tc>
                  <a:txBody>
                    <a:bodyPr/>
                    <a:lstStyle/>
                    <a:p>
                      <a:pPr algn="ctr" rtl="0" fontAlgn="b"/>
                      <a:r>
                        <a:rPr lang="en-US">
                          <a:effectLst/>
                        </a:rPr>
                        <a:t>50</a:t>
                      </a:r>
                    </a:p>
                  </a:txBody>
                  <a:tcPr marL="28575" marR="28575" marT="19050" marB="19050" anchor="b"/>
                </a:tc>
                <a:tc>
                  <a:txBody>
                    <a:bodyPr/>
                    <a:lstStyle/>
                    <a:p>
                      <a:pPr algn="ctr" rtl="0" fontAlgn="b"/>
                      <a:r>
                        <a:rPr lang="en-US">
                          <a:effectLst/>
                        </a:rPr>
                        <a:t>25</a:t>
                      </a:r>
                    </a:p>
                  </a:txBody>
                  <a:tcPr marL="28575" marR="28575" marT="19050" marB="19050" anchor="b"/>
                </a:tc>
                <a:tc>
                  <a:txBody>
                    <a:bodyPr/>
                    <a:lstStyle/>
                    <a:p>
                      <a:pPr algn="ctr" rtl="0" fontAlgn="b"/>
                      <a:r>
                        <a:rPr lang="en-US" dirty="0">
                          <a:effectLst/>
                        </a:rPr>
                        <a:t>140,000</a:t>
                      </a:r>
                    </a:p>
                  </a:txBody>
                  <a:tcPr marL="28575" marR="28575" marT="19050" marB="19050" anchor="b"/>
                </a:tc>
                <a:extLst>
                  <a:ext uri="{0D108BD9-81ED-4DB2-BD59-A6C34878D82A}">
                    <a16:rowId xmlns:a16="http://schemas.microsoft.com/office/drawing/2014/main" val="10003"/>
                  </a:ext>
                </a:extLst>
              </a:tr>
            </a:tbl>
          </a:graphicData>
        </a:graphic>
      </p:graphicFrame>
      <p:sp>
        <p:nvSpPr>
          <p:cNvPr id="3" name="Down Arrow 2"/>
          <p:cNvSpPr/>
          <p:nvPr/>
        </p:nvSpPr>
        <p:spPr>
          <a:xfrm>
            <a:off x="8482693" y="3592286"/>
            <a:ext cx="514350" cy="6449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90760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710294" y="1655763"/>
            <a:ext cx="5078186"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Handling Missing Values</a:t>
            </a:r>
          </a:p>
          <a:p>
            <a:pPr marL="80963" lvl="1" indent="0" algn="just" eaLnBrk="1" hangingPunct="1">
              <a:buClr>
                <a:srgbClr val="0B5395"/>
              </a:buClr>
              <a:buNone/>
            </a:pPr>
            <a:r>
              <a:rPr lang="en-US" altLang="en-US" sz="2400" b="1" dirty="0">
                <a:latin typeface="Times New Roman" pitchFamily="18" charset="0"/>
                <a:cs typeface="Times New Roman" pitchFamily="18" charset="0"/>
              </a:rPr>
              <a:t>1. Deletion Methods </a:t>
            </a:r>
          </a:p>
          <a:p>
            <a:pPr marL="80963" lvl="1" indent="0" algn="just" eaLnBrk="1" hangingPunct="1">
              <a:buClr>
                <a:srgbClr val="0B5395"/>
              </a:buClr>
              <a:buNone/>
            </a:pPr>
            <a:r>
              <a:rPr lang="en-US" altLang="en-US" sz="2400" dirty="0">
                <a:solidFill>
                  <a:srgbClr val="00B050"/>
                </a:solidFill>
                <a:latin typeface="Times New Roman" pitchFamily="18" charset="0"/>
                <a:cs typeface="Times New Roman" pitchFamily="18" charset="0"/>
              </a:rPr>
              <a:t>Pros: </a:t>
            </a:r>
            <a:r>
              <a:rPr lang="en-US" altLang="en-US" sz="2400" dirty="0">
                <a:latin typeface="Times New Roman" pitchFamily="18" charset="0"/>
                <a:cs typeface="Times New Roman" pitchFamily="18" charset="0"/>
              </a:rPr>
              <a:t>Easy and fast.</a:t>
            </a:r>
          </a:p>
          <a:p>
            <a:pPr marL="80963" lvl="1" indent="0" algn="just" eaLnBrk="1" hangingPunct="1">
              <a:buClr>
                <a:srgbClr val="0B5395"/>
              </a:buClr>
              <a:buNone/>
            </a:pPr>
            <a:r>
              <a:rPr lang="en-US" altLang="en-US" sz="2400" dirty="0">
                <a:solidFill>
                  <a:srgbClr val="FF0000"/>
                </a:solidFill>
                <a:latin typeface="Times New Roman" pitchFamily="18" charset="0"/>
                <a:cs typeface="Times New Roman" pitchFamily="18" charset="0"/>
              </a:rPr>
              <a:t>Cons: </a:t>
            </a:r>
          </a:p>
          <a:p>
            <a:pPr marL="423863" lvl="1" indent="-342900" algn="just" eaLnBrk="1" hangingPunct="1">
              <a:buClr>
                <a:srgbClr val="0B5395"/>
              </a:buClr>
            </a:pPr>
            <a:r>
              <a:rPr lang="en-US" altLang="en-US" sz="2400" dirty="0">
                <a:latin typeface="Times New Roman" pitchFamily="18" charset="0"/>
                <a:cs typeface="Times New Roman" pitchFamily="18" charset="0"/>
              </a:rPr>
              <a:t>You lose a lot of data, which can lead to a biased model if the missing values aren't random. </a:t>
            </a:r>
          </a:p>
          <a:p>
            <a:pPr marL="423863" lvl="1" indent="-342900" algn="just" eaLnBrk="1" hangingPunct="1">
              <a:buClr>
                <a:srgbClr val="0B5395"/>
              </a:buClr>
            </a:pPr>
            <a:r>
              <a:rPr lang="en-US" altLang="en-US" sz="2400" dirty="0">
                <a:latin typeface="Times New Roman" pitchFamily="18" charset="0"/>
                <a:cs typeface="Times New Roman" pitchFamily="18" charset="0"/>
              </a:rPr>
              <a:t>This is only recommended if you have a very large dataset and only a few rows with missing values.</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6</a:t>
            </a:fld>
            <a:endParaRPr lang="en-US" altLang="en-US"/>
          </a:p>
        </p:txBody>
      </p:sp>
      <p:graphicFrame>
        <p:nvGraphicFramePr>
          <p:cNvPr id="2" name="Table 1"/>
          <p:cNvGraphicFramePr>
            <a:graphicFrameLocks noGrp="1"/>
          </p:cNvGraphicFramePr>
          <p:nvPr>
            <p:extLst>
              <p:ext uri="{D42A27DB-BD31-4B8C-83A1-F6EECF244321}">
                <p14:modId xmlns:p14="http://schemas.microsoft.com/office/powerpoint/2010/main" val="313582487"/>
              </p:ext>
            </p:extLst>
          </p:nvPr>
        </p:nvGraphicFramePr>
        <p:xfrm>
          <a:off x="6166416" y="1551214"/>
          <a:ext cx="5294885" cy="1874520"/>
        </p:xfrm>
        <a:graphic>
          <a:graphicData uri="http://schemas.openxmlformats.org/drawingml/2006/table">
            <a:tbl>
              <a:tblPr>
                <a:tableStyleId>{D7AC3CCA-C797-4891-BE02-D94E43425B78}</a:tableStyleId>
              </a:tblPr>
              <a:tblGrid>
                <a:gridCol w="1571054">
                  <a:extLst>
                    <a:ext uri="{9D8B030D-6E8A-4147-A177-3AD203B41FA5}">
                      <a16:colId xmlns:a16="http://schemas.microsoft.com/office/drawing/2014/main" val="20000"/>
                    </a:ext>
                  </a:extLst>
                </a:gridCol>
                <a:gridCol w="544703">
                  <a:extLst>
                    <a:ext uri="{9D8B030D-6E8A-4147-A177-3AD203B41FA5}">
                      <a16:colId xmlns:a16="http://schemas.microsoft.com/office/drawing/2014/main" val="20001"/>
                    </a:ext>
                  </a:extLst>
                </a:gridCol>
                <a:gridCol w="2226628">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79218">
                <a:tc>
                  <a:txBody>
                    <a:bodyPr/>
                    <a:lstStyle/>
                    <a:p>
                      <a:pPr rtl="0" fontAlgn="b"/>
                      <a:r>
                        <a:rPr lang="en-US" b="1" dirty="0">
                          <a:effectLst/>
                        </a:rPr>
                        <a:t>Employee ID</a:t>
                      </a:r>
                    </a:p>
                  </a:txBody>
                  <a:tcPr marL="28575" marR="28575" marT="19050" marB="19050" anchor="b"/>
                </a:tc>
                <a:tc>
                  <a:txBody>
                    <a:bodyPr/>
                    <a:lstStyle/>
                    <a:p>
                      <a:pPr rtl="0" fontAlgn="b"/>
                      <a:r>
                        <a:rPr lang="en-US" b="1">
                          <a:effectLst/>
                        </a:rPr>
                        <a:t>Age</a:t>
                      </a:r>
                    </a:p>
                  </a:txBody>
                  <a:tcPr marL="28575" marR="28575" marT="19050" marB="19050" anchor="b"/>
                </a:tc>
                <a:tc>
                  <a:txBody>
                    <a:bodyPr/>
                    <a:lstStyle/>
                    <a:p>
                      <a:pPr rtl="0" fontAlgn="b"/>
                      <a:r>
                        <a:rPr lang="en-US" b="1">
                          <a:effectLst/>
                        </a:rPr>
                        <a:t>Experience (Years)</a:t>
                      </a:r>
                    </a:p>
                  </a:txBody>
                  <a:tcPr marL="28575" marR="28575" marT="19050" marB="19050" anchor="b"/>
                </a:tc>
                <a:tc>
                  <a:txBody>
                    <a:bodyPr/>
                    <a:lstStyle/>
                    <a:p>
                      <a:pPr rtl="0" fontAlgn="b"/>
                      <a:r>
                        <a:rPr lang="en-US" b="1" dirty="0">
                          <a:effectLst/>
                        </a:rPr>
                        <a:t>Salary</a:t>
                      </a:r>
                    </a:p>
                  </a:txBody>
                  <a:tcPr marL="28575" marR="28575" marT="19050" marB="19050" anchor="b"/>
                </a:tc>
                <a:extLst>
                  <a:ext uri="{0D108BD9-81ED-4DB2-BD59-A6C34878D82A}">
                    <a16:rowId xmlns:a16="http://schemas.microsoft.com/office/drawing/2014/main" val="10000"/>
                  </a:ext>
                </a:extLst>
              </a:tr>
              <a:tr h="200025">
                <a:tc>
                  <a:txBody>
                    <a:bodyPr/>
                    <a:lstStyle/>
                    <a:p>
                      <a:pPr algn="ctr" rtl="0" fontAlgn="b"/>
                      <a:r>
                        <a:rPr lang="en-US" dirty="0">
                          <a:effectLst/>
                        </a:rPr>
                        <a:t>101</a:t>
                      </a:r>
                    </a:p>
                  </a:txBody>
                  <a:tcPr marL="28575" marR="28575" marT="19050" marB="19050" anchor="b"/>
                </a:tc>
                <a:tc>
                  <a:txBody>
                    <a:bodyPr/>
                    <a:lstStyle/>
                    <a:p>
                      <a:pPr algn="ctr" rtl="0" fontAlgn="b"/>
                      <a:r>
                        <a:rPr lang="en-US" dirty="0">
                          <a:effectLst/>
                        </a:rPr>
                        <a:t>25</a:t>
                      </a:r>
                    </a:p>
                  </a:txBody>
                  <a:tcPr marL="28575" marR="28575" marT="19050" marB="19050" anchor="b"/>
                </a:tc>
                <a:tc>
                  <a:txBody>
                    <a:bodyPr/>
                    <a:lstStyle/>
                    <a:p>
                      <a:pPr algn="ctr" rtl="0" fontAlgn="b"/>
                      <a:r>
                        <a:rPr lang="en-US" dirty="0">
                          <a:effectLst/>
                        </a:rPr>
                        <a:t>2</a:t>
                      </a:r>
                    </a:p>
                  </a:txBody>
                  <a:tcPr marL="28575" marR="28575" marT="19050" marB="19050" anchor="b"/>
                </a:tc>
                <a:tc>
                  <a:txBody>
                    <a:bodyPr/>
                    <a:lstStyle/>
                    <a:p>
                      <a:pPr algn="ctr" rtl="0" fontAlgn="b"/>
                      <a:r>
                        <a:rPr lang="en-US">
                          <a:effectLst/>
                        </a:rPr>
                        <a:t>50,000</a:t>
                      </a:r>
                    </a:p>
                  </a:txBody>
                  <a:tcPr marL="28575" marR="28575" marT="19050" marB="19050" anchor="b"/>
                </a:tc>
                <a:extLst>
                  <a:ext uri="{0D108BD9-81ED-4DB2-BD59-A6C34878D82A}">
                    <a16:rowId xmlns:a16="http://schemas.microsoft.com/office/drawing/2014/main" val="10001"/>
                  </a:ext>
                </a:extLst>
              </a:tr>
              <a:tr h="200025">
                <a:tc>
                  <a:txBody>
                    <a:bodyPr/>
                    <a:lstStyle/>
                    <a:p>
                      <a:pPr algn="ctr" rtl="0" fontAlgn="b"/>
                      <a:r>
                        <a:rPr lang="en-US">
                          <a:effectLst/>
                        </a:rPr>
                        <a:t>102</a:t>
                      </a:r>
                    </a:p>
                  </a:txBody>
                  <a:tcPr marL="28575" marR="28575" marT="19050" marB="19050" anchor="b">
                    <a:solidFill>
                      <a:srgbClr val="FF0000"/>
                    </a:solidFill>
                  </a:tcPr>
                </a:tc>
                <a:tc>
                  <a:txBody>
                    <a:bodyPr/>
                    <a:lstStyle/>
                    <a:p>
                      <a:pPr algn="ctr" rtl="0" fontAlgn="b"/>
                      <a:r>
                        <a:rPr lang="en-US">
                          <a:effectLst/>
                        </a:rPr>
                        <a:t>30</a:t>
                      </a:r>
                    </a:p>
                  </a:txBody>
                  <a:tcPr marL="28575" marR="28575" marT="19050" marB="19050" anchor="b">
                    <a:solidFill>
                      <a:srgbClr val="FF0000"/>
                    </a:solidFill>
                  </a:tcPr>
                </a:tc>
                <a:tc>
                  <a:txBody>
                    <a:bodyPr/>
                    <a:lstStyle/>
                    <a:p>
                      <a:pPr algn="ctr" rtl="0" fontAlgn="b"/>
                      <a:r>
                        <a:rPr lang="en-US" dirty="0" err="1">
                          <a:effectLst/>
                        </a:rPr>
                        <a:t>NaN</a:t>
                      </a:r>
                      <a:endParaRPr lang="en-US" dirty="0">
                        <a:effectLst/>
                      </a:endParaRPr>
                    </a:p>
                  </a:txBody>
                  <a:tcPr marL="28575" marR="28575" marT="19050" marB="19050" anchor="b">
                    <a:solidFill>
                      <a:srgbClr val="FF0000"/>
                    </a:solidFill>
                  </a:tcPr>
                </a:tc>
                <a:tc>
                  <a:txBody>
                    <a:bodyPr/>
                    <a:lstStyle/>
                    <a:p>
                      <a:pPr algn="ctr" rtl="0" fontAlgn="b"/>
                      <a:r>
                        <a:rPr lang="en-US" dirty="0">
                          <a:effectLst/>
                        </a:rPr>
                        <a:t>65,000</a:t>
                      </a:r>
                    </a:p>
                  </a:txBody>
                  <a:tcPr marL="28575" marR="28575" marT="19050" marB="19050" anchor="b">
                    <a:solidFill>
                      <a:srgbClr val="FF0000"/>
                    </a:solidFill>
                  </a:tcPr>
                </a:tc>
                <a:extLst>
                  <a:ext uri="{0D108BD9-81ED-4DB2-BD59-A6C34878D82A}">
                    <a16:rowId xmlns:a16="http://schemas.microsoft.com/office/drawing/2014/main" val="10002"/>
                  </a:ext>
                </a:extLst>
              </a:tr>
              <a:tr h="200025">
                <a:tc>
                  <a:txBody>
                    <a:bodyPr/>
                    <a:lstStyle/>
                    <a:p>
                      <a:pPr algn="ctr" rtl="0" fontAlgn="b"/>
                      <a:r>
                        <a:rPr lang="en-US" dirty="0">
                          <a:effectLst/>
                        </a:rPr>
                        <a:t>103</a:t>
                      </a:r>
                    </a:p>
                  </a:txBody>
                  <a:tcPr marL="28575" marR="28575" marT="19050" marB="19050" anchor="b"/>
                </a:tc>
                <a:tc>
                  <a:txBody>
                    <a:bodyPr/>
                    <a:lstStyle/>
                    <a:p>
                      <a:pPr algn="ctr" rtl="0" fontAlgn="b"/>
                      <a:r>
                        <a:rPr lang="en-US">
                          <a:effectLst/>
                        </a:rPr>
                        <a:t>45</a:t>
                      </a:r>
                    </a:p>
                  </a:txBody>
                  <a:tcPr marL="28575" marR="28575" marT="19050" marB="19050" anchor="b"/>
                </a:tc>
                <a:tc>
                  <a:txBody>
                    <a:bodyPr/>
                    <a:lstStyle/>
                    <a:p>
                      <a:pPr algn="ctr" rtl="0" fontAlgn="b"/>
                      <a:r>
                        <a:rPr lang="en-US" dirty="0">
                          <a:effectLst/>
                        </a:rPr>
                        <a:t>20</a:t>
                      </a:r>
                    </a:p>
                  </a:txBody>
                  <a:tcPr marL="28575" marR="28575" marT="19050" marB="19050" anchor="b"/>
                </a:tc>
                <a:tc>
                  <a:txBody>
                    <a:bodyPr/>
                    <a:lstStyle/>
                    <a:p>
                      <a:pPr algn="ctr" rtl="0" fontAlgn="b"/>
                      <a:r>
                        <a:rPr lang="en-US">
                          <a:effectLst/>
                        </a:rPr>
                        <a:t>120,000</a:t>
                      </a:r>
                    </a:p>
                  </a:txBody>
                  <a:tcPr marL="28575" marR="28575" marT="19050" marB="19050" anchor="b"/>
                </a:tc>
                <a:extLst>
                  <a:ext uri="{0D108BD9-81ED-4DB2-BD59-A6C34878D82A}">
                    <a16:rowId xmlns:a16="http://schemas.microsoft.com/office/drawing/2014/main" val="10003"/>
                  </a:ext>
                </a:extLst>
              </a:tr>
              <a:tr h="200025">
                <a:tc>
                  <a:txBody>
                    <a:bodyPr/>
                    <a:lstStyle/>
                    <a:p>
                      <a:pPr algn="ctr" rtl="0" fontAlgn="b"/>
                      <a:r>
                        <a:rPr lang="en-US">
                          <a:effectLst/>
                        </a:rPr>
                        <a:t>104</a:t>
                      </a:r>
                    </a:p>
                  </a:txBody>
                  <a:tcPr marL="28575" marR="28575" marT="19050" marB="19050" anchor="b">
                    <a:solidFill>
                      <a:srgbClr val="FF0000"/>
                    </a:solidFill>
                  </a:tcPr>
                </a:tc>
                <a:tc>
                  <a:txBody>
                    <a:bodyPr/>
                    <a:lstStyle/>
                    <a:p>
                      <a:pPr algn="ctr" rtl="0" fontAlgn="b"/>
                      <a:r>
                        <a:rPr lang="en-US">
                          <a:effectLst/>
                        </a:rPr>
                        <a:t>28</a:t>
                      </a:r>
                    </a:p>
                  </a:txBody>
                  <a:tcPr marL="28575" marR="28575" marT="19050" marB="19050" anchor="b">
                    <a:solidFill>
                      <a:srgbClr val="FF0000"/>
                    </a:solidFill>
                  </a:tcPr>
                </a:tc>
                <a:tc>
                  <a:txBody>
                    <a:bodyPr/>
                    <a:lstStyle/>
                    <a:p>
                      <a:pPr algn="ctr" rtl="0" fontAlgn="b"/>
                      <a:r>
                        <a:rPr lang="en-US" dirty="0">
                          <a:effectLst/>
                        </a:rPr>
                        <a:t>5</a:t>
                      </a:r>
                    </a:p>
                  </a:txBody>
                  <a:tcPr marL="28575" marR="28575" marT="19050" marB="19050" anchor="b">
                    <a:solidFill>
                      <a:srgbClr val="FF0000"/>
                    </a:solidFill>
                  </a:tcPr>
                </a:tc>
                <a:tc>
                  <a:txBody>
                    <a:bodyPr/>
                    <a:lstStyle/>
                    <a:p>
                      <a:pPr algn="ctr" rtl="0" fontAlgn="b"/>
                      <a:r>
                        <a:rPr lang="en-US" dirty="0" err="1">
                          <a:effectLst/>
                        </a:rPr>
                        <a:t>NaN</a:t>
                      </a:r>
                      <a:endParaRPr lang="en-US" dirty="0">
                        <a:effectLst/>
                      </a:endParaRPr>
                    </a:p>
                  </a:txBody>
                  <a:tcPr marL="28575" marR="28575" marT="19050" marB="19050" anchor="b">
                    <a:solidFill>
                      <a:srgbClr val="FF0000"/>
                    </a:solidFill>
                  </a:tcPr>
                </a:tc>
                <a:extLst>
                  <a:ext uri="{0D108BD9-81ED-4DB2-BD59-A6C34878D82A}">
                    <a16:rowId xmlns:a16="http://schemas.microsoft.com/office/drawing/2014/main" val="10004"/>
                  </a:ext>
                </a:extLst>
              </a:tr>
              <a:tr h="200025">
                <a:tc>
                  <a:txBody>
                    <a:bodyPr/>
                    <a:lstStyle/>
                    <a:p>
                      <a:pPr algn="ctr" rtl="0" fontAlgn="b"/>
                      <a:r>
                        <a:rPr lang="en-US">
                          <a:effectLst/>
                        </a:rPr>
                        <a:t>105</a:t>
                      </a:r>
                    </a:p>
                  </a:txBody>
                  <a:tcPr marL="28575" marR="28575" marT="19050" marB="19050" anchor="b"/>
                </a:tc>
                <a:tc>
                  <a:txBody>
                    <a:bodyPr/>
                    <a:lstStyle/>
                    <a:p>
                      <a:pPr algn="ctr" rtl="0" fontAlgn="b"/>
                      <a:r>
                        <a:rPr lang="en-US">
                          <a:effectLst/>
                        </a:rPr>
                        <a:t>50</a:t>
                      </a:r>
                    </a:p>
                  </a:txBody>
                  <a:tcPr marL="28575" marR="28575" marT="19050" marB="19050" anchor="b"/>
                </a:tc>
                <a:tc>
                  <a:txBody>
                    <a:bodyPr/>
                    <a:lstStyle/>
                    <a:p>
                      <a:pPr algn="ctr" rtl="0" fontAlgn="b"/>
                      <a:r>
                        <a:rPr lang="en-US">
                          <a:effectLst/>
                        </a:rPr>
                        <a:t>25</a:t>
                      </a:r>
                    </a:p>
                  </a:txBody>
                  <a:tcPr marL="28575" marR="28575" marT="19050" marB="19050" anchor="b"/>
                </a:tc>
                <a:tc>
                  <a:txBody>
                    <a:bodyPr/>
                    <a:lstStyle/>
                    <a:p>
                      <a:pPr algn="ctr" rtl="0" fontAlgn="b"/>
                      <a:r>
                        <a:rPr lang="en-US" dirty="0">
                          <a:effectLst/>
                        </a:rPr>
                        <a:t>140,000</a:t>
                      </a:r>
                    </a:p>
                  </a:txBody>
                  <a:tcPr marL="28575" marR="28575" marT="19050" marB="19050" anchor="b"/>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932458681"/>
              </p:ext>
            </p:extLst>
          </p:nvPr>
        </p:nvGraphicFramePr>
        <p:xfrm>
          <a:off x="6171858" y="4365171"/>
          <a:ext cx="5294885" cy="1249680"/>
        </p:xfrm>
        <a:graphic>
          <a:graphicData uri="http://schemas.openxmlformats.org/drawingml/2006/table">
            <a:tbl>
              <a:tblPr>
                <a:tableStyleId>{D7AC3CCA-C797-4891-BE02-D94E43425B78}</a:tableStyleId>
              </a:tblPr>
              <a:tblGrid>
                <a:gridCol w="1571054">
                  <a:extLst>
                    <a:ext uri="{9D8B030D-6E8A-4147-A177-3AD203B41FA5}">
                      <a16:colId xmlns:a16="http://schemas.microsoft.com/office/drawing/2014/main" val="20000"/>
                    </a:ext>
                  </a:extLst>
                </a:gridCol>
                <a:gridCol w="544703">
                  <a:extLst>
                    <a:ext uri="{9D8B030D-6E8A-4147-A177-3AD203B41FA5}">
                      <a16:colId xmlns:a16="http://schemas.microsoft.com/office/drawing/2014/main" val="20001"/>
                    </a:ext>
                  </a:extLst>
                </a:gridCol>
                <a:gridCol w="2226628">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79218">
                <a:tc>
                  <a:txBody>
                    <a:bodyPr/>
                    <a:lstStyle/>
                    <a:p>
                      <a:pPr rtl="0" fontAlgn="b"/>
                      <a:r>
                        <a:rPr lang="en-US" b="1" dirty="0">
                          <a:effectLst/>
                        </a:rPr>
                        <a:t>Employee ID</a:t>
                      </a:r>
                    </a:p>
                  </a:txBody>
                  <a:tcPr marL="28575" marR="28575" marT="19050" marB="19050" anchor="b"/>
                </a:tc>
                <a:tc>
                  <a:txBody>
                    <a:bodyPr/>
                    <a:lstStyle/>
                    <a:p>
                      <a:pPr rtl="0" fontAlgn="b"/>
                      <a:r>
                        <a:rPr lang="en-US" b="1">
                          <a:effectLst/>
                        </a:rPr>
                        <a:t>Age</a:t>
                      </a:r>
                    </a:p>
                  </a:txBody>
                  <a:tcPr marL="28575" marR="28575" marT="19050" marB="19050" anchor="b"/>
                </a:tc>
                <a:tc>
                  <a:txBody>
                    <a:bodyPr/>
                    <a:lstStyle/>
                    <a:p>
                      <a:pPr rtl="0" fontAlgn="b"/>
                      <a:r>
                        <a:rPr lang="en-US" b="1">
                          <a:effectLst/>
                        </a:rPr>
                        <a:t>Experience (Years)</a:t>
                      </a:r>
                    </a:p>
                  </a:txBody>
                  <a:tcPr marL="28575" marR="28575" marT="19050" marB="19050" anchor="b"/>
                </a:tc>
                <a:tc>
                  <a:txBody>
                    <a:bodyPr/>
                    <a:lstStyle/>
                    <a:p>
                      <a:pPr rtl="0" fontAlgn="b"/>
                      <a:r>
                        <a:rPr lang="en-US" b="1" dirty="0">
                          <a:effectLst/>
                        </a:rPr>
                        <a:t>Salary</a:t>
                      </a:r>
                    </a:p>
                  </a:txBody>
                  <a:tcPr marL="28575" marR="28575" marT="19050" marB="19050" anchor="b"/>
                </a:tc>
                <a:extLst>
                  <a:ext uri="{0D108BD9-81ED-4DB2-BD59-A6C34878D82A}">
                    <a16:rowId xmlns:a16="http://schemas.microsoft.com/office/drawing/2014/main" val="10000"/>
                  </a:ext>
                </a:extLst>
              </a:tr>
              <a:tr h="200025">
                <a:tc>
                  <a:txBody>
                    <a:bodyPr/>
                    <a:lstStyle/>
                    <a:p>
                      <a:pPr algn="ctr" rtl="0" fontAlgn="b"/>
                      <a:r>
                        <a:rPr lang="en-US" dirty="0">
                          <a:effectLst/>
                        </a:rPr>
                        <a:t>101</a:t>
                      </a:r>
                    </a:p>
                  </a:txBody>
                  <a:tcPr marL="28575" marR="28575" marT="19050" marB="19050" anchor="b"/>
                </a:tc>
                <a:tc>
                  <a:txBody>
                    <a:bodyPr/>
                    <a:lstStyle/>
                    <a:p>
                      <a:pPr algn="ctr" rtl="0" fontAlgn="b"/>
                      <a:r>
                        <a:rPr lang="en-US" dirty="0">
                          <a:effectLst/>
                        </a:rPr>
                        <a:t>25</a:t>
                      </a:r>
                    </a:p>
                  </a:txBody>
                  <a:tcPr marL="28575" marR="28575" marT="19050" marB="19050" anchor="b"/>
                </a:tc>
                <a:tc>
                  <a:txBody>
                    <a:bodyPr/>
                    <a:lstStyle/>
                    <a:p>
                      <a:pPr algn="ctr" rtl="0" fontAlgn="b"/>
                      <a:r>
                        <a:rPr lang="en-US" dirty="0">
                          <a:effectLst/>
                        </a:rPr>
                        <a:t>2</a:t>
                      </a:r>
                    </a:p>
                  </a:txBody>
                  <a:tcPr marL="28575" marR="28575" marT="19050" marB="19050" anchor="b"/>
                </a:tc>
                <a:tc>
                  <a:txBody>
                    <a:bodyPr/>
                    <a:lstStyle/>
                    <a:p>
                      <a:pPr algn="ctr" rtl="0" fontAlgn="b"/>
                      <a:r>
                        <a:rPr lang="en-US">
                          <a:effectLst/>
                        </a:rPr>
                        <a:t>50,000</a:t>
                      </a:r>
                    </a:p>
                  </a:txBody>
                  <a:tcPr marL="28575" marR="28575" marT="19050" marB="19050" anchor="b"/>
                </a:tc>
                <a:extLst>
                  <a:ext uri="{0D108BD9-81ED-4DB2-BD59-A6C34878D82A}">
                    <a16:rowId xmlns:a16="http://schemas.microsoft.com/office/drawing/2014/main" val="10001"/>
                  </a:ext>
                </a:extLst>
              </a:tr>
              <a:tr h="200025">
                <a:tc>
                  <a:txBody>
                    <a:bodyPr/>
                    <a:lstStyle/>
                    <a:p>
                      <a:pPr algn="ctr" rtl="0" fontAlgn="b"/>
                      <a:r>
                        <a:rPr lang="en-US" dirty="0">
                          <a:effectLst/>
                        </a:rPr>
                        <a:t>103</a:t>
                      </a:r>
                    </a:p>
                  </a:txBody>
                  <a:tcPr marL="28575" marR="28575" marT="19050" marB="19050" anchor="b"/>
                </a:tc>
                <a:tc>
                  <a:txBody>
                    <a:bodyPr/>
                    <a:lstStyle/>
                    <a:p>
                      <a:pPr algn="ctr" rtl="0" fontAlgn="b"/>
                      <a:r>
                        <a:rPr lang="en-US">
                          <a:effectLst/>
                        </a:rPr>
                        <a:t>45</a:t>
                      </a:r>
                    </a:p>
                  </a:txBody>
                  <a:tcPr marL="28575" marR="28575" marT="19050" marB="19050" anchor="b"/>
                </a:tc>
                <a:tc>
                  <a:txBody>
                    <a:bodyPr/>
                    <a:lstStyle/>
                    <a:p>
                      <a:pPr algn="ctr" rtl="0" fontAlgn="b"/>
                      <a:r>
                        <a:rPr lang="en-US" dirty="0">
                          <a:effectLst/>
                        </a:rPr>
                        <a:t>20</a:t>
                      </a:r>
                    </a:p>
                  </a:txBody>
                  <a:tcPr marL="28575" marR="28575" marT="19050" marB="19050" anchor="b"/>
                </a:tc>
                <a:tc>
                  <a:txBody>
                    <a:bodyPr/>
                    <a:lstStyle/>
                    <a:p>
                      <a:pPr algn="ctr" rtl="0" fontAlgn="b"/>
                      <a:r>
                        <a:rPr lang="en-US">
                          <a:effectLst/>
                        </a:rPr>
                        <a:t>120,000</a:t>
                      </a:r>
                    </a:p>
                  </a:txBody>
                  <a:tcPr marL="28575" marR="28575" marT="19050" marB="19050" anchor="b"/>
                </a:tc>
                <a:extLst>
                  <a:ext uri="{0D108BD9-81ED-4DB2-BD59-A6C34878D82A}">
                    <a16:rowId xmlns:a16="http://schemas.microsoft.com/office/drawing/2014/main" val="10002"/>
                  </a:ext>
                </a:extLst>
              </a:tr>
              <a:tr h="200025">
                <a:tc>
                  <a:txBody>
                    <a:bodyPr/>
                    <a:lstStyle/>
                    <a:p>
                      <a:pPr algn="ctr" rtl="0" fontAlgn="b"/>
                      <a:r>
                        <a:rPr lang="en-US" dirty="0">
                          <a:effectLst/>
                        </a:rPr>
                        <a:t>105</a:t>
                      </a:r>
                    </a:p>
                  </a:txBody>
                  <a:tcPr marL="28575" marR="28575" marT="19050" marB="19050" anchor="b"/>
                </a:tc>
                <a:tc>
                  <a:txBody>
                    <a:bodyPr/>
                    <a:lstStyle/>
                    <a:p>
                      <a:pPr algn="ctr" rtl="0" fontAlgn="b"/>
                      <a:r>
                        <a:rPr lang="en-US">
                          <a:effectLst/>
                        </a:rPr>
                        <a:t>50</a:t>
                      </a:r>
                    </a:p>
                  </a:txBody>
                  <a:tcPr marL="28575" marR="28575" marT="19050" marB="19050" anchor="b"/>
                </a:tc>
                <a:tc>
                  <a:txBody>
                    <a:bodyPr/>
                    <a:lstStyle/>
                    <a:p>
                      <a:pPr algn="ctr" rtl="0" fontAlgn="b"/>
                      <a:r>
                        <a:rPr lang="en-US">
                          <a:effectLst/>
                        </a:rPr>
                        <a:t>25</a:t>
                      </a:r>
                    </a:p>
                  </a:txBody>
                  <a:tcPr marL="28575" marR="28575" marT="19050" marB="19050" anchor="b"/>
                </a:tc>
                <a:tc>
                  <a:txBody>
                    <a:bodyPr/>
                    <a:lstStyle/>
                    <a:p>
                      <a:pPr algn="ctr" rtl="0" fontAlgn="b"/>
                      <a:r>
                        <a:rPr lang="en-US" dirty="0">
                          <a:effectLst/>
                        </a:rPr>
                        <a:t>140,000</a:t>
                      </a:r>
                    </a:p>
                  </a:txBody>
                  <a:tcPr marL="28575" marR="28575" marT="19050" marB="19050" anchor="b"/>
                </a:tc>
                <a:extLst>
                  <a:ext uri="{0D108BD9-81ED-4DB2-BD59-A6C34878D82A}">
                    <a16:rowId xmlns:a16="http://schemas.microsoft.com/office/drawing/2014/main" val="10003"/>
                  </a:ext>
                </a:extLst>
              </a:tr>
            </a:tbl>
          </a:graphicData>
        </a:graphic>
      </p:graphicFrame>
      <p:sp>
        <p:nvSpPr>
          <p:cNvPr id="3" name="Down Arrow 2"/>
          <p:cNvSpPr/>
          <p:nvPr/>
        </p:nvSpPr>
        <p:spPr>
          <a:xfrm>
            <a:off x="8482693" y="3592286"/>
            <a:ext cx="514350" cy="6449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9901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710293" y="1655763"/>
            <a:ext cx="10123713"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Handling Missing Values</a:t>
            </a:r>
          </a:p>
          <a:p>
            <a:pPr marL="80963" lvl="1" indent="0" algn="just" eaLnBrk="1" hangingPunct="1">
              <a:buClr>
                <a:srgbClr val="0B5395"/>
              </a:buClr>
              <a:buNone/>
            </a:pPr>
            <a:r>
              <a:rPr lang="en-US" altLang="en-US" sz="2400" b="1" dirty="0">
                <a:latin typeface="Times New Roman" pitchFamily="18" charset="0"/>
                <a:cs typeface="Times New Roman" pitchFamily="18" charset="0"/>
              </a:rPr>
              <a:t>2. Imputation with a Single Value</a:t>
            </a:r>
          </a:p>
          <a:p>
            <a:pPr marL="80963" lvl="1" indent="0" algn="just" eaLnBrk="1" hangingPunct="1">
              <a:buClr>
                <a:srgbClr val="0B5395"/>
              </a:buClr>
              <a:buNone/>
            </a:pPr>
            <a:r>
              <a:rPr lang="en-US" altLang="en-US" sz="2400" dirty="0">
                <a:latin typeface="Times New Roman" pitchFamily="18" charset="0"/>
                <a:cs typeface="Times New Roman" pitchFamily="18" charset="0"/>
              </a:rPr>
              <a:t>Imputation means filling in the missing values. The most common way is to use a statistical measure from the column.</a:t>
            </a:r>
          </a:p>
          <a:p>
            <a:pPr marL="423863" lvl="1" indent="-342900" algn="just" eaLnBrk="1" hangingPunct="1">
              <a:buClr>
                <a:srgbClr val="0B5395"/>
              </a:buClr>
            </a:pPr>
            <a:r>
              <a:rPr lang="en-US" altLang="en-US" sz="2400" b="1" dirty="0">
                <a:latin typeface="Times New Roman" pitchFamily="18" charset="0"/>
                <a:cs typeface="Times New Roman" pitchFamily="18" charset="0"/>
              </a:rPr>
              <a:t>Mean/Median Imputation: </a:t>
            </a:r>
            <a:r>
              <a:rPr lang="en-US" altLang="en-US" sz="2400" dirty="0">
                <a:latin typeface="Times New Roman" pitchFamily="18" charset="0"/>
                <a:cs typeface="Times New Roman" pitchFamily="18" charset="0"/>
              </a:rPr>
              <a:t>You can replace missing numerical data with the mean (average) or median (middle value) of the column. </a:t>
            </a:r>
            <a:r>
              <a:rPr lang="en-US" altLang="en-US" sz="2400" dirty="0">
                <a:solidFill>
                  <a:srgbClr val="00B0F0"/>
                </a:solidFill>
                <a:latin typeface="Times New Roman" pitchFamily="18" charset="0"/>
                <a:cs typeface="Times New Roman" pitchFamily="18" charset="0"/>
              </a:rPr>
              <a:t>The median is often preferred because it's less sensitive to outliers</a:t>
            </a:r>
            <a:r>
              <a:rPr lang="en-US" altLang="en-US" sz="2400" dirty="0">
                <a:latin typeface="Times New Roman" pitchFamily="18" charset="0"/>
                <a:cs typeface="Times New Roman" pitchFamily="18" charset="0"/>
              </a:rPr>
              <a:t>.</a:t>
            </a:r>
          </a:p>
          <a:p>
            <a:pPr marL="423863" lvl="1" indent="-342900" algn="just" eaLnBrk="1" hangingPunct="1">
              <a:buClr>
                <a:srgbClr val="0B5395"/>
              </a:buClr>
            </a:pPr>
            <a:r>
              <a:rPr lang="en-US" altLang="en-US" sz="2400" b="1" dirty="0">
                <a:latin typeface="Times New Roman" pitchFamily="18" charset="0"/>
                <a:cs typeface="Times New Roman" pitchFamily="18" charset="0"/>
              </a:rPr>
              <a:t>Mode Imputation: </a:t>
            </a:r>
            <a:r>
              <a:rPr lang="en-US" altLang="en-US" sz="2400" dirty="0">
                <a:latin typeface="Times New Roman" pitchFamily="18" charset="0"/>
                <a:cs typeface="Times New Roman" pitchFamily="18" charset="0"/>
              </a:rPr>
              <a:t>For categorical data (e.g., a 'Department' column), you'd use the mode (the most frequent value).</a:t>
            </a:r>
          </a:p>
          <a:p>
            <a:pPr marL="80963" lvl="1" indent="0" algn="just" eaLnBrk="1" hangingPunct="1">
              <a:buClr>
                <a:srgbClr val="0B5395"/>
              </a:buClr>
              <a:buNone/>
            </a:pPr>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dirty="0">
                <a:latin typeface="Times New Roman" pitchFamily="18" charset="0"/>
                <a:cs typeface="Times New Roman" pitchFamily="18" charset="0"/>
              </a:rPr>
              <a:t>Let's apply this to our original dataset.</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7</a:t>
            </a:fld>
            <a:endParaRPr lang="en-US" altLang="en-US"/>
          </a:p>
        </p:txBody>
      </p:sp>
    </p:spTree>
    <p:extLst>
      <p:ext uri="{BB962C8B-B14F-4D97-AF65-F5344CB8AC3E}">
        <p14:creationId xmlns:p14="http://schemas.microsoft.com/office/powerpoint/2010/main" val="3079374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710292" y="1655763"/>
            <a:ext cx="7527471"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Handling Missing Values</a:t>
            </a:r>
          </a:p>
          <a:p>
            <a:pPr marL="80963" lvl="1" indent="0" algn="just" eaLnBrk="1" hangingPunct="1">
              <a:buClr>
                <a:srgbClr val="0B5395"/>
              </a:buClr>
              <a:buNone/>
            </a:pPr>
            <a:r>
              <a:rPr lang="en-US" altLang="en-US" sz="2400" b="1" dirty="0">
                <a:latin typeface="Times New Roman" pitchFamily="18" charset="0"/>
                <a:cs typeface="Times New Roman" pitchFamily="18" charset="0"/>
              </a:rPr>
              <a:t>2. Imputation with a Single Value</a:t>
            </a:r>
          </a:p>
          <a:p>
            <a:pPr marL="80963" lvl="1" indent="0" eaLnBrk="1" hangingPunct="1">
              <a:buClr>
                <a:srgbClr val="0B5395"/>
              </a:buClr>
              <a:buNone/>
            </a:pPr>
            <a:r>
              <a:rPr lang="en-US" altLang="en-US" sz="2400" dirty="0">
                <a:latin typeface="Times New Roman" pitchFamily="18" charset="0"/>
                <a:cs typeface="Times New Roman" pitchFamily="18" charset="0"/>
              </a:rPr>
              <a:t>Step 1: Calculate the mean for 'Experience' and 'Salary'.</a:t>
            </a:r>
          </a:p>
          <a:p>
            <a:pPr marL="80963" lvl="1" indent="0" eaLnBrk="1" hangingPunct="1">
              <a:buClr>
                <a:srgbClr val="0B5395"/>
              </a:buClr>
              <a:buNone/>
            </a:pPr>
            <a:endParaRPr lang="en-US" altLang="en-US" sz="2400" dirty="0">
              <a:latin typeface="Times New Roman" pitchFamily="18" charset="0"/>
              <a:cs typeface="Times New Roman" pitchFamily="18" charset="0"/>
            </a:endParaRPr>
          </a:p>
          <a:p>
            <a:pPr marL="80963" lvl="1" indent="0" eaLnBrk="1" hangingPunct="1">
              <a:buClr>
                <a:srgbClr val="0B5395"/>
              </a:buClr>
              <a:buNone/>
            </a:pPr>
            <a:r>
              <a:rPr lang="en-US" altLang="en-US" sz="2400" dirty="0">
                <a:latin typeface="Times New Roman" pitchFamily="18" charset="0"/>
                <a:cs typeface="Times New Roman" pitchFamily="18" charset="0"/>
              </a:rPr>
              <a:t>Known 'Experience' values: 2, 20, 5, 25.</a:t>
            </a:r>
          </a:p>
          <a:p>
            <a:pPr marL="80963" lvl="1" indent="0" eaLnBrk="1" hangingPunct="1">
              <a:buClr>
                <a:srgbClr val="0B5395"/>
              </a:buClr>
              <a:buNone/>
            </a:pPr>
            <a:r>
              <a:rPr lang="en-US" altLang="en-US" sz="2400" dirty="0">
                <a:latin typeface="Times New Roman" pitchFamily="18" charset="0"/>
                <a:cs typeface="Times New Roman" pitchFamily="18" charset="0"/>
              </a:rPr>
              <a:t>Mean Experience = (2+20+5+25)/4=</a:t>
            </a:r>
            <a:r>
              <a:rPr lang="en-US" altLang="en-US" sz="2400" dirty="0">
                <a:solidFill>
                  <a:srgbClr val="00B0F0"/>
                </a:solidFill>
                <a:latin typeface="Times New Roman" pitchFamily="18" charset="0"/>
                <a:cs typeface="Times New Roman" pitchFamily="18" charset="0"/>
              </a:rPr>
              <a:t>13 years</a:t>
            </a:r>
            <a:r>
              <a:rPr lang="en-US" altLang="en-US" sz="2400" dirty="0">
                <a:latin typeface="Times New Roman" pitchFamily="18" charset="0"/>
                <a:cs typeface="Times New Roman" pitchFamily="18" charset="0"/>
              </a:rPr>
              <a:t>.</a:t>
            </a:r>
          </a:p>
          <a:p>
            <a:pPr marL="80963" lvl="1" indent="0" eaLnBrk="1" hangingPunct="1">
              <a:buClr>
                <a:srgbClr val="0B5395"/>
              </a:buClr>
              <a:buNone/>
            </a:pPr>
            <a:endParaRPr lang="en-US" altLang="en-US" sz="2400" dirty="0">
              <a:latin typeface="Times New Roman" pitchFamily="18" charset="0"/>
              <a:cs typeface="Times New Roman" pitchFamily="18" charset="0"/>
            </a:endParaRPr>
          </a:p>
          <a:p>
            <a:pPr marL="80963" lvl="1" indent="0" eaLnBrk="1" hangingPunct="1">
              <a:buClr>
                <a:srgbClr val="0B5395"/>
              </a:buClr>
              <a:buNone/>
            </a:pPr>
            <a:r>
              <a:rPr lang="en-US" altLang="en-US" sz="2400" dirty="0">
                <a:latin typeface="Times New Roman" pitchFamily="18" charset="0"/>
                <a:cs typeface="Times New Roman" pitchFamily="18" charset="0"/>
              </a:rPr>
              <a:t>Known 'Salary' values: 50000, 65000, 120000, 140000.</a:t>
            </a:r>
          </a:p>
          <a:p>
            <a:pPr marL="80963" lvl="1" indent="0" eaLnBrk="1" hangingPunct="1">
              <a:buClr>
                <a:srgbClr val="0B5395"/>
              </a:buClr>
              <a:buNone/>
            </a:pPr>
            <a:r>
              <a:rPr lang="en-US" altLang="en-US" sz="2400" dirty="0">
                <a:latin typeface="Times New Roman" pitchFamily="18" charset="0"/>
                <a:cs typeface="Times New Roman" pitchFamily="18" charset="0"/>
              </a:rPr>
              <a:t>Mean Salary = 50000+65000+120000+140000)/4=</a:t>
            </a:r>
            <a:r>
              <a:rPr lang="en-US" altLang="en-US" sz="2400" dirty="0">
                <a:solidFill>
                  <a:srgbClr val="00B0F0"/>
                </a:solidFill>
                <a:latin typeface="Times New Roman" pitchFamily="18" charset="0"/>
                <a:cs typeface="Times New Roman" pitchFamily="18" charset="0"/>
              </a:rPr>
              <a:t>93,750</a:t>
            </a:r>
            <a:r>
              <a:rPr lang="en-US" altLang="en-US" sz="2400" dirty="0">
                <a:latin typeface="Times New Roman" pitchFamily="18" charset="0"/>
                <a:cs typeface="Times New Roman" pitchFamily="18" charset="0"/>
              </a:rPr>
              <a:t>.</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8</a:t>
            </a:fld>
            <a:endParaRPr lang="en-US" altLang="en-US"/>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9786" y="1675267"/>
            <a:ext cx="3516178" cy="13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86582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590550" y="1655764"/>
            <a:ext cx="7647213" cy="3340780"/>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Handling Missing Values</a:t>
            </a:r>
          </a:p>
          <a:p>
            <a:pPr marL="80963" lvl="1" indent="0" algn="just" eaLnBrk="1" hangingPunct="1">
              <a:buClr>
                <a:srgbClr val="0B5395"/>
              </a:buClr>
              <a:buNone/>
            </a:pPr>
            <a:r>
              <a:rPr lang="en-US" altLang="en-US" sz="2400" b="1" dirty="0">
                <a:latin typeface="Times New Roman" pitchFamily="18" charset="0"/>
                <a:cs typeface="Times New Roman" pitchFamily="18" charset="0"/>
              </a:rPr>
              <a:t>2. Imputation with a Single Value</a:t>
            </a:r>
          </a:p>
          <a:p>
            <a:pPr marL="80963" lvl="1" indent="0" eaLnBrk="1" hangingPunct="1">
              <a:buClr>
                <a:srgbClr val="0B5395"/>
              </a:buClr>
              <a:buNone/>
            </a:pPr>
            <a:r>
              <a:rPr lang="en-US" altLang="en-US" sz="2400" dirty="0">
                <a:latin typeface="Times New Roman" pitchFamily="18" charset="0"/>
                <a:cs typeface="Times New Roman" pitchFamily="18" charset="0"/>
              </a:rPr>
              <a:t>Step 2: Fill in the </a:t>
            </a:r>
            <a:r>
              <a:rPr lang="en-US" altLang="en-US" sz="2400" dirty="0" err="1">
                <a:latin typeface="Times New Roman" pitchFamily="18" charset="0"/>
                <a:cs typeface="Times New Roman" pitchFamily="18" charset="0"/>
              </a:rPr>
              <a:t>NaN</a:t>
            </a:r>
            <a:r>
              <a:rPr lang="en-US" altLang="en-US" sz="2400" dirty="0">
                <a:latin typeface="Times New Roman" pitchFamily="18" charset="0"/>
                <a:cs typeface="Times New Roman" pitchFamily="18" charset="0"/>
              </a:rPr>
              <a:t> values.</a:t>
            </a:r>
          </a:p>
          <a:p>
            <a:pPr marL="423863" lvl="1" indent="-342900" eaLnBrk="1" hangingPunct="1">
              <a:buClr>
                <a:srgbClr val="0B5395"/>
              </a:buClr>
            </a:pPr>
            <a:r>
              <a:rPr lang="en-US" altLang="en-US" sz="2400" dirty="0">
                <a:latin typeface="Times New Roman" pitchFamily="18" charset="0"/>
                <a:cs typeface="Times New Roman" pitchFamily="18" charset="0"/>
              </a:rPr>
              <a:t>The missing 'Experience' for employee 102 becomes </a:t>
            </a:r>
            <a:r>
              <a:rPr lang="en-US" altLang="en-US" sz="2400" dirty="0">
                <a:solidFill>
                  <a:srgbClr val="00B050"/>
                </a:solidFill>
                <a:latin typeface="Times New Roman" pitchFamily="18" charset="0"/>
                <a:cs typeface="Times New Roman" pitchFamily="18" charset="0"/>
              </a:rPr>
              <a:t>13</a:t>
            </a:r>
            <a:r>
              <a:rPr lang="en-US" altLang="en-US" sz="2400" dirty="0">
                <a:latin typeface="Times New Roman" pitchFamily="18" charset="0"/>
                <a:cs typeface="Times New Roman" pitchFamily="18" charset="0"/>
              </a:rPr>
              <a:t>.</a:t>
            </a:r>
          </a:p>
          <a:p>
            <a:pPr marL="423863" lvl="1" indent="-342900" eaLnBrk="1" hangingPunct="1">
              <a:buClr>
                <a:srgbClr val="0B5395"/>
              </a:buClr>
            </a:pPr>
            <a:r>
              <a:rPr lang="en-US" altLang="en-US" sz="2400" dirty="0">
                <a:latin typeface="Times New Roman" pitchFamily="18" charset="0"/>
                <a:cs typeface="Times New Roman" pitchFamily="18" charset="0"/>
              </a:rPr>
              <a:t>The missing 'Salary' for employee 104 becomes </a:t>
            </a:r>
            <a:r>
              <a:rPr lang="en-US" altLang="en-US" sz="2400" dirty="0">
                <a:solidFill>
                  <a:srgbClr val="00B050"/>
                </a:solidFill>
                <a:latin typeface="Times New Roman" pitchFamily="18" charset="0"/>
                <a:cs typeface="Times New Roman" pitchFamily="18" charset="0"/>
              </a:rPr>
              <a:t>93,750</a:t>
            </a:r>
            <a:r>
              <a:rPr lang="en-US" altLang="en-US" sz="2400" dirty="0">
                <a:latin typeface="Times New Roman" pitchFamily="18" charset="0"/>
                <a:cs typeface="Times New Roman" pitchFamily="18" charset="0"/>
              </a:rPr>
              <a:t>.</a:t>
            </a:r>
          </a:p>
          <a:p>
            <a:pPr marL="80963" lvl="1" indent="0" eaLnBrk="1" hangingPunct="1">
              <a:buClr>
                <a:srgbClr val="0B5395"/>
              </a:buClr>
              <a:buNone/>
            </a:pPr>
            <a:r>
              <a:rPr lang="en-US" altLang="en-US" sz="2400" dirty="0">
                <a:solidFill>
                  <a:srgbClr val="00B050"/>
                </a:solidFill>
                <a:latin typeface="Times New Roman" pitchFamily="18" charset="0"/>
                <a:cs typeface="Times New Roman" pitchFamily="18" charset="0"/>
              </a:rPr>
              <a:t>Pros: </a:t>
            </a:r>
          </a:p>
          <a:p>
            <a:pPr marL="80963" lvl="1" indent="0" eaLnBrk="1" hangingPunct="1">
              <a:buClr>
                <a:srgbClr val="0B5395"/>
              </a:buClr>
              <a:buNone/>
            </a:pPr>
            <a:r>
              <a:rPr lang="en-US" altLang="en-US" sz="2400" dirty="0">
                <a:latin typeface="Times New Roman" pitchFamily="18" charset="0"/>
                <a:cs typeface="Times New Roman" pitchFamily="18" charset="0"/>
              </a:rPr>
              <a:t>Simple to implement and retains all data rows.</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9</a:t>
            </a:fld>
            <a:endParaRPr lang="en-US" altLang="en-US"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89786" y="1471160"/>
            <a:ext cx="3516178" cy="136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2373" y="3323651"/>
            <a:ext cx="3628484" cy="1729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Down Arrow 7"/>
          <p:cNvSpPr/>
          <p:nvPr/>
        </p:nvSpPr>
        <p:spPr>
          <a:xfrm>
            <a:off x="9863268" y="2833009"/>
            <a:ext cx="257175" cy="4245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590550" y="4686293"/>
            <a:ext cx="11508921" cy="1569660"/>
          </a:xfrm>
          <a:prstGeom prst="rect">
            <a:avLst/>
          </a:prstGeom>
        </p:spPr>
        <p:txBody>
          <a:bodyPr wrap="square">
            <a:spAutoFit/>
          </a:bodyPr>
          <a:lstStyle/>
          <a:p>
            <a:pPr marL="80963" lvl="1" indent="0" eaLnBrk="1" hangingPunct="1">
              <a:buClr>
                <a:srgbClr val="0B5395"/>
              </a:buClr>
              <a:buNone/>
            </a:pPr>
            <a:r>
              <a:rPr lang="en-US" altLang="en-US" sz="2400" dirty="0">
                <a:solidFill>
                  <a:srgbClr val="FF0000"/>
                </a:solidFill>
                <a:latin typeface="Times New Roman" pitchFamily="18" charset="0"/>
                <a:cs typeface="Times New Roman" pitchFamily="18" charset="0"/>
              </a:rPr>
              <a:t>Cons: </a:t>
            </a:r>
          </a:p>
          <a:p>
            <a:pPr marL="80963" lvl="1" indent="0" eaLnBrk="1" hangingPunct="1">
              <a:buClr>
                <a:srgbClr val="0B5395"/>
              </a:buClr>
              <a:buNone/>
            </a:pPr>
            <a:r>
              <a:rPr lang="en-US" altLang="en-US" sz="2400" dirty="0">
                <a:latin typeface="Times New Roman" pitchFamily="18" charset="0"/>
                <a:cs typeface="Times New Roman" pitchFamily="18" charset="0"/>
              </a:rPr>
              <a:t>Can reduce the natural variance in the data and weaken the relationships between variables, as it doesn't account for correlations. </a:t>
            </a:r>
          </a:p>
          <a:p>
            <a:pPr marL="80963" lvl="1" indent="0" eaLnBrk="1" hangingPunct="1">
              <a:buClr>
                <a:srgbClr val="0B5395"/>
              </a:buClr>
              <a:buNone/>
            </a:pPr>
            <a:r>
              <a:rPr lang="en-US" altLang="en-US" sz="2400" dirty="0">
                <a:latin typeface="Times New Roman" pitchFamily="18" charset="0"/>
                <a:cs typeface="Times New Roman" pitchFamily="18" charset="0"/>
              </a:rPr>
              <a:t>For instance, a 28-year-old is now assigned the average salary, which might not be realistic.</a:t>
            </a:r>
          </a:p>
        </p:txBody>
      </p:sp>
    </p:spTree>
    <p:extLst>
      <p:ext uri="{BB962C8B-B14F-4D97-AF65-F5344CB8AC3E}">
        <p14:creationId xmlns:p14="http://schemas.microsoft.com/office/powerpoint/2010/main" val="957713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590550" y="1655763"/>
            <a:ext cx="10863943" cy="4777693"/>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Handling Missing Values</a:t>
            </a:r>
          </a:p>
          <a:p>
            <a:pPr marL="80963" lvl="1" indent="0" algn="just" eaLnBrk="1" hangingPunct="1">
              <a:buClr>
                <a:srgbClr val="0B5395"/>
              </a:buClr>
              <a:buNone/>
            </a:pPr>
            <a:r>
              <a:rPr lang="en-US" altLang="en-US" sz="2400" b="1" dirty="0">
                <a:latin typeface="Times New Roman" pitchFamily="18" charset="0"/>
                <a:cs typeface="Times New Roman" pitchFamily="18" charset="0"/>
              </a:rPr>
              <a:t>3. Advanced Imputation Method</a:t>
            </a:r>
          </a:p>
          <a:p>
            <a:pPr marL="80963" lvl="1" indent="0" algn="just" eaLnBrk="1" hangingPunct="1">
              <a:buClr>
                <a:srgbClr val="0B5395"/>
              </a:buClr>
              <a:buNone/>
            </a:pPr>
            <a:r>
              <a:rPr lang="en-US" altLang="en-US" sz="2400" dirty="0">
                <a:latin typeface="Times New Roman" pitchFamily="18" charset="0"/>
                <a:cs typeface="Times New Roman" pitchFamily="18" charset="0"/>
              </a:rPr>
              <a:t>More sophisticated techniques use other features to predict the missing values.</a:t>
            </a:r>
          </a:p>
          <a:p>
            <a:pPr marL="423863" lvl="1" indent="-342900" algn="just" eaLnBrk="1" hangingPunct="1">
              <a:buClr>
                <a:srgbClr val="0B5395"/>
              </a:buClr>
            </a:pPr>
            <a:r>
              <a:rPr lang="en-US" altLang="en-US" sz="2400" b="1" dirty="0">
                <a:latin typeface="Times New Roman" pitchFamily="18" charset="0"/>
                <a:cs typeface="Times New Roman" pitchFamily="18" charset="0"/>
              </a:rPr>
              <a:t>Regression Imputation: </a:t>
            </a:r>
            <a:r>
              <a:rPr lang="en-US" altLang="en-US" sz="2400" dirty="0">
                <a:latin typeface="Times New Roman" pitchFamily="18" charset="0"/>
                <a:cs typeface="Times New Roman" pitchFamily="18" charset="0"/>
              </a:rPr>
              <a:t>This method builds a regression model to predict the missing value. For example, we could create a model to predict 'Salary' based on 'Age' and 'Experience'. We would train this model on the complete rows (101, 103, 105) and then use it to predict the salary for employee 104.</a:t>
            </a:r>
          </a:p>
          <a:p>
            <a:pPr marL="423863" lvl="1" indent="-342900" algn="just" eaLnBrk="1" hangingPunct="1">
              <a:buClr>
                <a:srgbClr val="0B5395"/>
              </a:buClr>
            </a:pPr>
            <a:r>
              <a:rPr lang="en-US" altLang="en-US" sz="2400" b="1" dirty="0">
                <a:latin typeface="Times New Roman" pitchFamily="18" charset="0"/>
                <a:cs typeface="Times New Roman" pitchFamily="18" charset="0"/>
              </a:rPr>
              <a:t>K-Nearest Neighbors (KNN) Imputation: </a:t>
            </a:r>
            <a:r>
              <a:rPr lang="en-US" altLang="en-US" sz="2400" dirty="0">
                <a:latin typeface="Times New Roman" pitchFamily="18" charset="0"/>
                <a:cs typeface="Times New Roman" pitchFamily="18" charset="0"/>
              </a:rPr>
              <a:t>This method finds the 'k' most similar data points (neighbors) to the one with the missing value and then imputes the missing value based on the average of its neighbors.</a:t>
            </a:r>
          </a:p>
          <a:p>
            <a:pPr marL="80963" lvl="1" indent="0" algn="just" eaLnBrk="1" hangingPunct="1">
              <a:buClr>
                <a:srgbClr val="0B5395"/>
              </a:buClr>
              <a:buNone/>
            </a:pPr>
            <a:r>
              <a:rPr lang="en-US" altLang="en-US" sz="2400" dirty="0">
                <a:solidFill>
                  <a:srgbClr val="00B050"/>
                </a:solidFill>
                <a:latin typeface="Times New Roman" pitchFamily="18" charset="0"/>
                <a:cs typeface="Times New Roman" pitchFamily="18" charset="0"/>
              </a:rPr>
              <a:t>Pros: </a:t>
            </a:r>
            <a:r>
              <a:rPr lang="en-US" altLang="en-US" sz="2400" dirty="0">
                <a:latin typeface="Times New Roman" pitchFamily="18" charset="0"/>
                <a:cs typeface="Times New Roman" pitchFamily="18" charset="0"/>
              </a:rPr>
              <a:t>Usually more accurate than simple imputation and better at preserving relationships between variables.</a:t>
            </a:r>
          </a:p>
          <a:p>
            <a:pPr marL="80963" lvl="1" indent="0" algn="just" eaLnBrk="1" hangingPunct="1">
              <a:buClr>
                <a:srgbClr val="0B5395"/>
              </a:buClr>
              <a:buNone/>
            </a:pPr>
            <a:r>
              <a:rPr lang="en-US" altLang="en-US" sz="2400" dirty="0">
                <a:solidFill>
                  <a:srgbClr val="00B050"/>
                </a:solidFill>
                <a:latin typeface="Times New Roman" pitchFamily="18" charset="0"/>
                <a:cs typeface="Times New Roman" pitchFamily="18" charset="0"/>
              </a:rPr>
              <a:t>Cons: </a:t>
            </a:r>
            <a:r>
              <a:rPr lang="en-US" altLang="en-US" sz="2400" dirty="0">
                <a:latin typeface="Times New Roman" pitchFamily="18" charset="0"/>
                <a:cs typeface="Times New Roman" pitchFamily="18" charset="0"/>
              </a:rPr>
              <a:t>Much more complex to implement and computationally expensive.</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10</a:t>
            </a:fld>
            <a:endParaRPr lang="en-US" altLang="en-US" dirty="0"/>
          </a:p>
        </p:txBody>
      </p:sp>
    </p:spTree>
    <p:extLst>
      <p:ext uri="{BB962C8B-B14F-4D97-AF65-F5344CB8AC3E}">
        <p14:creationId xmlns:p14="http://schemas.microsoft.com/office/powerpoint/2010/main" val="4198432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590550" y="1655763"/>
            <a:ext cx="7671707" cy="4777693"/>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Handling Duplicate Records</a:t>
            </a:r>
          </a:p>
          <a:p>
            <a:pPr marL="80963" lvl="1" indent="0" algn="just" eaLnBrk="1" hangingPunct="1">
              <a:buClr>
                <a:srgbClr val="0B5395"/>
              </a:buClr>
              <a:buNone/>
            </a:pPr>
            <a:r>
              <a:rPr lang="en-US" altLang="en-US" dirty="0">
                <a:latin typeface="Times New Roman" pitchFamily="18" charset="0"/>
                <a:cs typeface="Times New Roman" pitchFamily="18" charset="0"/>
              </a:rPr>
              <a:t>Duplicate records occur when the same observation appears more than once in a dataset.</a:t>
            </a:r>
          </a:p>
          <a:p>
            <a:pPr marL="46037" indent="0">
              <a:buNone/>
            </a:pPr>
            <a:r>
              <a:rPr lang="en-US" sz="2000" b="1" dirty="0">
                <a:latin typeface="Times New Roman" pitchFamily="18" charset="0"/>
                <a:cs typeface="Times New Roman" pitchFamily="18" charset="0"/>
              </a:rPr>
              <a:t>Why Are Duplicate Records a Problem?</a:t>
            </a:r>
          </a:p>
          <a:p>
            <a:r>
              <a:rPr lang="en-US" sz="2000" dirty="0">
                <a:latin typeface="Times New Roman" pitchFamily="18" charset="0"/>
                <a:cs typeface="Times New Roman" pitchFamily="18" charset="0"/>
              </a:rPr>
              <a:t>Duplicate records can:</a:t>
            </a:r>
          </a:p>
          <a:p>
            <a:r>
              <a:rPr lang="en-US" sz="2000" dirty="0">
                <a:latin typeface="Times New Roman" pitchFamily="18" charset="0"/>
                <a:cs typeface="Times New Roman" pitchFamily="18" charset="0"/>
              </a:rPr>
              <a:t>Inflate dataset size </a:t>
            </a:r>
          </a:p>
          <a:p>
            <a:r>
              <a:rPr lang="en-US" sz="2000" dirty="0">
                <a:latin typeface="Times New Roman" pitchFamily="18" charset="0"/>
                <a:cs typeface="Times New Roman" pitchFamily="18" charset="0"/>
              </a:rPr>
              <a:t>Produce incorrect statistics </a:t>
            </a:r>
          </a:p>
          <a:p>
            <a:r>
              <a:rPr lang="en-US" sz="2000" dirty="0">
                <a:latin typeface="Times New Roman" pitchFamily="18" charset="0"/>
                <a:cs typeface="Times New Roman" pitchFamily="18" charset="0"/>
              </a:rPr>
              <a:t>Bias machine learning models </a:t>
            </a:r>
          </a:p>
          <a:p>
            <a:r>
              <a:rPr lang="en-US" sz="2000" dirty="0">
                <a:latin typeface="Times New Roman" pitchFamily="18" charset="0"/>
                <a:cs typeface="Times New Roman" pitchFamily="18" charset="0"/>
              </a:rPr>
              <a:t>Lead to incorrect business decisions</a:t>
            </a:r>
          </a:p>
          <a:p>
            <a:pPr marL="80963" lvl="1" indent="0" algn="just" eaLnBrk="1" hangingPunct="1">
              <a:buClr>
                <a:srgbClr val="0B5395"/>
              </a:buClr>
              <a:buNone/>
            </a:pPr>
            <a:endParaRPr lang="en-US" altLang="en-US" dirty="0">
              <a:latin typeface="Times New Roman" pitchFamily="18" charset="0"/>
              <a:cs typeface="Times New Roman" pitchFamily="18" charset="0"/>
            </a:endParaRP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11</a:t>
            </a:fld>
            <a:endParaRPr lang="en-US" alt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p:cNvGraphicFramePr>
            <a:graphicFrameLocks noGrp="1"/>
          </p:cNvGraphicFramePr>
          <p:nvPr>
            <p:extLst>
              <p:ext uri="{D42A27DB-BD31-4B8C-83A1-F6EECF244321}">
                <p14:modId xmlns:p14="http://schemas.microsoft.com/office/powerpoint/2010/main" val="439020316"/>
              </p:ext>
            </p:extLst>
          </p:nvPr>
        </p:nvGraphicFramePr>
        <p:xfrm>
          <a:off x="5215291" y="2521405"/>
          <a:ext cx="2976436" cy="1828800"/>
        </p:xfrm>
        <a:graphic>
          <a:graphicData uri="http://schemas.openxmlformats.org/drawingml/2006/table">
            <a:tbl>
              <a:tblPr>
                <a:tableStyleId>{3C2FFA5D-87B4-456A-9821-1D502468CF0F}</a:tableStyleId>
              </a:tblPr>
              <a:tblGrid>
                <a:gridCol w="1256030">
                  <a:extLst>
                    <a:ext uri="{9D8B030D-6E8A-4147-A177-3AD203B41FA5}">
                      <a16:colId xmlns:a16="http://schemas.microsoft.com/office/drawing/2014/main" val="20000"/>
                    </a:ext>
                  </a:extLst>
                </a:gridCol>
                <a:gridCol w="849630">
                  <a:extLst>
                    <a:ext uri="{9D8B030D-6E8A-4147-A177-3AD203B41FA5}">
                      <a16:colId xmlns:a16="http://schemas.microsoft.com/office/drawing/2014/main" val="20001"/>
                    </a:ext>
                  </a:extLst>
                </a:gridCol>
                <a:gridCol w="870776">
                  <a:extLst>
                    <a:ext uri="{9D8B030D-6E8A-4147-A177-3AD203B41FA5}">
                      <a16:colId xmlns:a16="http://schemas.microsoft.com/office/drawing/2014/main" val="20002"/>
                    </a:ext>
                  </a:extLst>
                </a:gridCol>
              </a:tblGrid>
              <a:tr h="365760">
                <a:tc>
                  <a:txBody>
                    <a:bodyPr/>
                    <a:lstStyle/>
                    <a:p>
                      <a:r>
                        <a:rPr lang="en-US" sz="1800" b="1" dirty="0" err="1">
                          <a:latin typeface="Times New Roman" pitchFamily="18" charset="0"/>
                          <a:cs typeface="Times New Roman" pitchFamily="18" charset="0"/>
                        </a:rPr>
                        <a:t>StudentID</a:t>
                      </a:r>
                      <a:endParaRPr lang="en-US" sz="1800" b="1" dirty="0">
                        <a:latin typeface="Times New Roman" pitchFamily="18" charset="0"/>
                        <a:cs typeface="Times New Roman" pitchFamily="18" charset="0"/>
                      </a:endParaRPr>
                    </a:p>
                  </a:txBody>
                  <a:tcPr anchor="ctr"/>
                </a:tc>
                <a:tc>
                  <a:txBody>
                    <a:bodyPr/>
                    <a:lstStyle/>
                    <a:p>
                      <a:r>
                        <a:rPr lang="en-US" sz="1800" b="1">
                          <a:latin typeface="Times New Roman" pitchFamily="18" charset="0"/>
                          <a:cs typeface="Times New Roman" pitchFamily="18" charset="0"/>
                        </a:rPr>
                        <a:t>Name</a:t>
                      </a:r>
                    </a:p>
                  </a:txBody>
                  <a:tcPr anchor="ctr"/>
                </a:tc>
                <a:tc>
                  <a:txBody>
                    <a:bodyPr/>
                    <a:lstStyle/>
                    <a:p>
                      <a:r>
                        <a:rPr lang="en-US" sz="1800" b="1" dirty="0">
                          <a:latin typeface="Times New Roman" pitchFamily="18" charset="0"/>
                          <a:cs typeface="Times New Roman" pitchFamily="18" charset="0"/>
                        </a:rPr>
                        <a:t>CGPA</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101</a:t>
                      </a:r>
                    </a:p>
                  </a:txBody>
                  <a:tcPr anchor="ctr"/>
                </a:tc>
                <a:tc>
                  <a:txBody>
                    <a:bodyPr/>
                    <a:lstStyle/>
                    <a:p>
                      <a:r>
                        <a:rPr lang="en-US" sz="1800">
                          <a:latin typeface="Times New Roman" pitchFamily="18" charset="0"/>
                          <a:cs typeface="Times New Roman" pitchFamily="18" charset="0"/>
                        </a:rPr>
                        <a:t>Rahim</a:t>
                      </a:r>
                    </a:p>
                  </a:txBody>
                  <a:tcPr anchor="ctr"/>
                </a:tc>
                <a:tc>
                  <a:txBody>
                    <a:bodyPr/>
                    <a:lstStyle/>
                    <a:p>
                      <a:r>
                        <a:rPr lang="en-US" sz="1800">
                          <a:latin typeface="Times New Roman" pitchFamily="18" charset="0"/>
                          <a:cs typeface="Times New Roman" pitchFamily="18" charset="0"/>
                        </a:rPr>
                        <a:t>3.75</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102</a:t>
                      </a:r>
                    </a:p>
                  </a:txBody>
                  <a:tcPr anchor="ctr"/>
                </a:tc>
                <a:tc>
                  <a:txBody>
                    <a:bodyPr/>
                    <a:lstStyle/>
                    <a:p>
                      <a:r>
                        <a:rPr lang="en-US" sz="1800">
                          <a:latin typeface="Times New Roman" pitchFamily="18" charset="0"/>
                          <a:cs typeface="Times New Roman" pitchFamily="18" charset="0"/>
                        </a:rPr>
                        <a:t>Karim</a:t>
                      </a:r>
                    </a:p>
                  </a:txBody>
                  <a:tcPr anchor="ctr"/>
                </a:tc>
                <a:tc>
                  <a:txBody>
                    <a:bodyPr/>
                    <a:lstStyle/>
                    <a:p>
                      <a:r>
                        <a:rPr lang="en-US" sz="1800">
                          <a:latin typeface="Times New Roman" pitchFamily="18" charset="0"/>
                          <a:cs typeface="Times New Roman" pitchFamily="18" charset="0"/>
                        </a:rPr>
                        <a:t>3.40</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102</a:t>
                      </a:r>
                    </a:p>
                  </a:txBody>
                  <a:tcPr anchor="ctr"/>
                </a:tc>
                <a:tc>
                  <a:txBody>
                    <a:bodyPr/>
                    <a:lstStyle/>
                    <a:p>
                      <a:r>
                        <a:rPr lang="en-US" sz="1800">
                          <a:latin typeface="Times New Roman" pitchFamily="18" charset="0"/>
                          <a:cs typeface="Times New Roman" pitchFamily="18" charset="0"/>
                        </a:rPr>
                        <a:t>Karim</a:t>
                      </a:r>
                    </a:p>
                  </a:txBody>
                  <a:tcPr anchor="ctr"/>
                </a:tc>
                <a:tc>
                  <a:txBody>
                    <a:bodyPr/>
                    <a:lstStyle/>
                    <a:p>
                      <a:r>
                        <a:rPr lang="en-US" sz="1800">
                          <a:latin typeface="Times New Roman" pitchFamily="18" charset="0"/>
                          <a:cs typeface="Times New Roman" pitchFamily="18" charset="0"/>
                        </a:rPr>
                        <a:t>3.40</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103</a:t>
                      </a:r>
                    </a:p>
                  </a:txBody>
                  <a:tcPr anchor="ctr"/>
                </a:tc>
                <a:tc>
                  <a:txBody>
                    <a:bodyPr/>
                    <a:lstStyle/>
                    <a:p>
                      <a:r>
                        <a:rPr lang="en-US" sz="1800">
                          <a:latin typeface="Times New Roman" pitchFamily="18" charset="0"/>
                          <a:cs typeface="Times New Roman" pitchFamily="18" charset="0"/>
                        </a:rPr>
                        <a:t>Nabila</a:t>
                      </a:r>
                    </a:p>
                  </a:txBody>
                  <a:tcPr anchor="ctr"/>
                </a:tc>
                <a:tc>
                  <a:txBody>
                    <a:bodyPr/>
                    <a:lstStyle/>
                    <a:p>
                      <a:r>
                        <a:rPr lang="en-US" sz="1800" dirty="0">
                          <a:latin typeface="Times New Roman" pitchFamily="18" charset="0"/>
                          <a:cs typeface="Times New Roman" pitchFamily="18" charset="0"/>
                        </a:rPr>
                        <a:t>3.90</a:t>
                      </a:r>
                    </a:p>
                  </a:txBody>
                  <a:tcPr anchor="ct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910280032"/>
              </p:ext>
            </p:extLst>
          </p:nvPr>
        </p:nvGraphicFramePr>
        <p:xfrm>
          <a:off x="5206094" y="4845504"/>
          <a:ext cx="2976436" cy="1463040"/>
        </p:xfrm>
        <a:graphic>
          <a:graphicData uri="http://schemas.openxmlformats.org/drawingml/2006/table">
            <a:tbl>
              <a:tblPr>
                <a:tableStyleId>{3C2FFA5D-87B4-456A-9821-1D502468CF0F}</a:tableStyleId>
              </a:tblPr>
              <a:tblGrid>
                <a:gridCol w="1256030">
                  <a:extLst>
                    <a:ext uri="{9D8B030D-6E8A-4147-A177-3AD203B41FA5}">
                      <a16:colId xmlns:a16="http://schemas.microsoft.com/office/drawing/2014/main" val="20000"/>
                    </a:ext>
                  </a:extLst>
                </a:gridCol>
                <a:gridCol w="849630">
                  <a:extLst>
                    <a:ext uri="{9D8B030D-6E8A-4147-A177-3AD203B41FA5}">
                      <a16:colId xmlns:a16="http://schemas.microsoft.com/office/drawing/2014/main" val="20001"/>
                    </a:ext>
                  </a:extLst>
                </a:gridCol>
                <a:gridCol w="870776">
                  <a:extLst>
                    <a:ext uri="{9D8B030D-6E8A-4147-A177-3AD203B41FA5}">
                      <a16:colId xmlns:a16="http://schemas.microsoft.com/office/drawing/2014/main" val="20002"/>
                    </a:ext>
                  </a:extLst>
                </a:gridCol>
              </a:tblGrid>
              <a:tr h="365760">
                <a:tc>
                  <a:txBody>
                    <a:bodyPr/>
                    <a:lstStyle/>
                    <a:p>
                      <a:r>
                        <a:rPr lang="en-US" sz="1800" b="1" dirty="0" err="1">
                          <a:latin typeface="Times New Roman" pitchFamily="18" charset="0"/>
                          <a:cs typeface="Times New Roman" pitchFamily="18" charset="0"/>
                        </a:rPr>
                        <a:t>StudentID</a:t>
                      </a:r>
                      <a:endParaRPr lang="en-US" sz="1800" b="1" dirty="0">
                        <a:latin typeface="Times New Roman" pitchFamily="18" charset="0"/>
                        <a:cs typeface="Times New Roman" pitchFamily="18" charset="0"/>
                      </a:endParaRPr>
                    </a:p>
                  </a:txBody>
                  <a:tcPr anchor="ctr"/>
                </a:tc>
                <a:tc>
                  <a:txBody>
                    <a:bodyPr/>
                    <a:lstStyle/>
                    <a:p>
                      <a:r>
                        <a:rPr lang="en-US" sz="1800" b="1">
                          <a:latin typeface="Times New Roman" pitchFamily="18" charset="0"/>
                          <a:cs typeface="Times New Roman" pitchFamily="18" charset="0"/>
                        </a:rPr>
                        <a:t>Name</a:t>
                      </a:r>
                    </a:p>
                  </a:txBody>
                  <a:tcPr anchor="ctr"/>
                </a:tc>
                <a:tc>
                  <a:txBody>
                    <a:bodyPr/>
                    <a:lstStyle/>
                    <a:p>
                      <a:r>
                        <a:rPr lang="en-US" sz="1800" b="1" dirty="0">
                          <a:latin typeface="Times New Roman" pitchFamily="18" charset="0"/>
                          <a:cs typeface="Times New Roman" pitchFamily="18" charset="0"/>
                        </a:rPr>
                        <a:t>CGPA</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101</a:t>
                      </a:r>
                    </a:p>
                  </a:txBody>
                  <a:tcPr anchor="ctr"/>
                </a:tc>
                <a:tc>
                  <a:txBody>
                    <a:bodyPr/>
                    <a:lstStyle/>
                    <a:p>
                      <a:r>
                        <a:rPr lang="en-US" sz="1800">
                          <a:latin typeface="Times New Roman" pitchFamily="18" charset="0"/>
                          <a:cs typeface="Times New Roman" pitchFamily="18" charset="0"/>
                        </a:rPr>
                        <a:t>Rahim</a:t>
                      </a:r>
                    </a:p>
                  </a:txBody>
                  <a:tcPr anchor="ctr"/>
                </a:tc>
                <a:tc>
                  <a:txBody>
                    <a:bodyPr/>
                    <a:lstStyle/>
                    <a:p>
                      <a:r>
                        <a:rPr lang="en-US" sz="1800">
                          <a:latin typeface="Times New Roman" pitchFamily="18" charset="0"/>
                          <a:cs typeface="Times New Roman" pitchFamily="18" charset="0"/>
                        </a:rPr>
                        <a:t>3.75</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102</a:t>
                      </a:r>
                    </a:p>
                  </a:txBody>
                  <a:tcPr anchor="ctr"/>
                </a:tc>
                <a:tc>
                  <a:txBody>
                    <a:bodyPr/>
                    <a:lstStyle/>
                    <a:p>
                      <a:r>
                        <a:rPr lang="en-US" sz="1800">
                          <a:latin typeface="Times New Roman" pitchFamily="18" charset="0"/>
                          <a:cs typeface="Times New Roman" pitchFamily="18" charset="0"/>
                        </a:rPr>
                        <a:t>Karim</a:t>
                      </a:r>
                    </a:p>
                  </a:txBody>
                  <a:tcPr anchor="ctr"/>
                </a:tc>
                <a:tc>
                  <a:txBody>
                    <a:bodyPr/>
                    <a:lstStyle/>
                    <a:p>
                      <a:r>
                        <a:rPr lang="en-US" sz="1800">
                          <a:latin typeface="Times New Roman" pitchFamily="18" charset="0"/>
                          <a:cs typeface="Times New Roman" pitchFamily="18" charset="0"/>
                        </a:rPr>
                        <a:t>3.40</a:t>
                      </a:r>
                    </a:p>
                  </a:txBody>
                  <a:tcPr anchor="ctr"/>
                </a:tc>
                <a:extLst>
                  <a:ext uri="{0D108BD9-81ED-4DB2-BD59-A6C34878D82A}">
                    <a16:rowId xmlns:a16="http://schemas.microsoft.com/office/drawing/2014/main" val="10002"/>
                  </a:ext>
                </a:extLst>
              </a:tr>
              <a:tr h="365760">
                <a:tc>
                  <a:txBody>
                    <a:bodyPr/>
                    <a:lstStyle/>
                    <a:p>
                      <a:r>
                        <a:rPr lang="en-US" sz="1800" dirty="0">
                          <a:latin typeface="Times New Roman" pitchFamily="18" charset="0"/>
                          <a:cs typeface="Times New Roman" pitchFamily="18" charset="0"/>
                        </a:rPr>
                        <a:t>103</a:t>
                      </a:r>
                    </a:p>
                  </a:txBody>
                  <a:tcPr anchor="ctr"/>
                </a:tc>
                <a:tc>
                  <a:txBody>
                    <a:bodyPr/>
                    <a:lstStyle/>
                    <a:p>
                      <a:r>
                        <a:rPr lang="en-US" sz="1800">
                          <a:latin typeface="Times New Roman" pitchFamily="18" charset="0"/>
                          <a:cs typeface="Times New Roman" pitchFamily="18" charset="0"/>
                        </a:rPr>
                        <a:t>Nabila</a:t>
                      </a:r>
                    </a:p>
                  </a:txBody>
                  <a:tcPr anchor="ctr"/>
                </a:tc>
                <a:tc>
                  <a:txBody>
                    <a:bodyPr/>
                    <a:lstStyle/>
                    <a:p>
                      <a:r>
                        <a:rPr lang="en-US" sz="1800" dirty="0">
                          <a:latin typeface="Times New Roman" pitchFamily="18" charset="0"/>
                          <a:cs typeface="Times New Roman" pitchFamily="18" charset="0"/>
                        </a:rPr>
                        <a:t>3.90</a:t>
                      </a:r>
                    </a:p>
                  </a:txBody>
                  <a:tcPr anchor="ctr"/>
                </a:tc>
                <a:extLst>
                  <a:ext uri="{0D108BD9-81ED-4DB2-BD59-A6C34878D82A}">
                    <a16:rowId xmlns:a16="http://schemas.microsoft.com/office/drawing/2014/main" val="10003"/>
                  </a:ext>
                </a:extLst>
              </a:tr>
            </a:tbl>
          </a:graphicData>
        </a:graphic>
      </p:graphicFrame>
      <p:sp>
        <p:nvSpPr>
          <p:cNvPr id="3" name="Down Arrow 2"/>
          <p:cNvSpPr/>
          <p:nvPr/>
        </p:nvSpPr>
        <p:spPr>
          <a:xfrm>
            <a:off x="6441621" y="4400550"/>
            <a:ext cx="293914" cy="3837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432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0" y="1655763"/>
            <a:ext cx="7102929"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Correcting Inaccurate or Inconsistent Data</a:t>
            </a: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Correcting inaccurate or inconsistent data is the process of identifying and </a:t>
            </a:r>
            <a:r>
              <a:rPr lang="en-US" altLang="en-US" dirty="0">
                <a:solidFill>
                  <a:srgbClr val="FF0000"/>
                </a:solidFill>
                <a:latin typeface="Times New Roman" pitchFamily="18" charset="0"/>
                <a:cs typeface="Times New Roman" pitchFamily="18" charset="0"/>
              </a:rPr>
              <a:t>fixing errors, contradictions, and structural issues </a:t>
            </a:r>
            <a:r>
              <a:rPr lang="en-US" altLang="en-US" dirty="0">
                <a:latin typeface="Times New Roman" pitchFamily="18" charset="0"/>
                <a:cs typeface="Times New Roman" pitchFamily="18" charset="0"/>
              </a:rPr>
              <a:t>to ensure your dataset is reliable and uniform. </a:t>
            </a:r>
          </a:p>
          <a:p>
            <a:pPr marL="80963" lvl="1" indent="0" algn="just" eaLnBrk="1" hangingPunct="1">
              <a:buClr>
                <a:srgbClr val="0B5395"/>
              </a:buClr>
              <a:buNone/>
            </a:pPr>
            <a:r>
              <a:rPr lang="en-US" altLang="en-US" dirty="0">
                <a:latin typeface="Times New Roman" pitchFamily="18" charset="0"/>
                <a:cs typeface="Times New Roman" pitchFamily="18" charset="0"/>
              </a:rPr>
              <a:t>Think of it as proofreading your data to make sure every entry is accurate and follows the same set of rules.</a:t>
            </a:r>
          </a:p>
          <a:p>
            <a:pPr marL="80963" lvl="1" indent="0" algn="just" eaLnBrk="1" hangingPunct="1">
              <a:buClr>
                <a:srgbClr val="0B5395"/>
              </a:buClr>
              <a:buNone/>
            </a:pPr>
            <a:r>
              <a:rPr lang="en-US" altLang="en-US" dirty="0">
                <a:latin typeface="Times New Roman" pitchFamily="18" charset="0"/>
                <a:cs typeface="Times New Roman" pitchFamily="18" charset="0"/>
              </a:rPr>
              <a:t>This process is vital because inconsistencies can lead to incorrect analysis, biased models, and flawed conclusions. </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Next is how to do it, broken down by common types of errors.</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12</a:t>
            </a:fld>
            <a:endParaRPr lang="en-US"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8694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0" y="1655763"/>
            <a:ext cx="9872663"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Correcting Inaccurate or Inconsistent Data</a:t>
            </a:r>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b="1" dirty="0">
                <a:latin typeface="Times New Roman" pitchFamily="18" charset="0"/>
                <a:cs typeface="Times New Roman" pitchFamily="18" charset="0"/>
              </a:rPr>
              <a:t>1. Correcting Inconsistent Categorical Data</a:t>
            </a:r>
          </a:p>
          <a:p>
            <a:pPr marL="80963" lvl="1" indent="0" algn="just" eaLnBrk="1" hangingPunct="1">
              <a:buClr>
                <a:srgbClr val="0B5395"/>
              </a:buClr>
              <a:buNone/>
            </a:pPr>
            <a:r>
              <a:rPr lang="en-US" altLang="en-US" sz="2400" dirty="0">
                <a:latin typeface="Times New Roman" pitchFamily="18" charset="0"/>
                <a:cs typeface="Times New Roman" pitchFamily="18" charset="0"/>
              </a:rPr>
              <a:t>This happens when the same category is represented in multiple ways.</a:t>
            </a:r>
          </a:p>
          <a:p>
            <a:pPr marL="80963" lvl="1" indent="0" algn="just" eaLnBrk="1" hangingPunct="1">
              <a:buClr>
                <a:srgbClr val="0B5395"/>
              </a:buClr>
              <a:buNone/>
            </a:pPr>
            <a:r>
              <a:rPr lang="en-US" altLang="en-US" sz="2400" b="1" dirty="0">
                <a:latin typeface="Times New Roman" pitchFamily="18" charset="0"/>
                <a:cs typeface="Times New Roman" pitchFamily="18" charset="0"/>
              </a:rPr>
              <a:t>The Problem: </a:t>
            </a:r>
            <a:r>
              <a:rPr lang="en-US" altLang="en-US" sz="2400" dirty="0">
                <a:latin typeface="Times New Roman" pitchFamily="18" charset="0"/>
                <a:cs typeface="Times New Roman" pitchFamily="18" charset="0"/>
              </a:rPr>
              <a:t>A 'Country' column might contain "USA," "U.S.A.," "United States," and "America." A data analysis tool would treat these as four different countries.</a:t>
            </a:r>
          </a:p>
          <a:p>
            <a:pPr marL="80963" lvl="1" indent="0" algn="just" eaLnBrk="1" hangingPunct="1">
              <a:buClr>
                <a:srgbClr val="0B5395"/>
              </a:buClr>
              <a:buNone/>
            </a:pPr>
            <a:r>
              <a:rPr lang="en-US" altLang="en-US" sz="2400" b="1" dirty="0">
                <a:latin typeface="Times New Roman" pitchFamily="18" charset="0"/>
                <a:cs typeface="Times New Roman" pitchFamily="18" charset="0"/>
              </a:rPr>
              <a:t>How to Fix It (Standardization):</a:t>
            </a:r>
          </a:p>
          <a:p>
            <a:pPr marL="423863" lvl="1" indent="-342900" algn="just" eaLnBrk="1" hangingPunct="1">
              <a:buClr>
                <a:srgbClr val="0B5395"/>
              </a:buClr>
            </a:pPr>
            <a:r>
              <a:rPr lang="en-US" altLang="en-US" sz="2400" i="1" dirty="0">
                <a:latin typeface="Times New Roman" pitchFamily="18" charset="0"/>
                <a:cs typeface="Times New Roman" pitchFamily="18" charset="0"/>
              </a:rPr>
              <a:t>Explore Unique Values</a:t>
            </a:r>
            <a:r>
              <a:rPr lang="en-US" altLang="en-US" sz="2400" dirty="0">
                <a:latin typeface="Times New Roman" pitchFamily="18" charset="0"/>
                <a:cs typeface="Times New Roman" pitchFamily="18" charset="0"/>
              </a:rPr>
              <a:t>: First, identify all the unique entries in the column</a:t>
            </a:r>
          </a:p>
          <a:p>
            <a:pPr marL="423863" lvl="1" indent="-342900" algn="just" eaLnBrk="1" hangingPunct="1">
              <a:buClr>
                <a:srgbClr val="0B5395"/>
              </a:buClr>
            </a:pPr>
            <a:r>
              <a:rPr lang="en-US" altLang="en-US" sz="2400" i="1" dirty="0">
                <a:latin typeface="Times New Roman" pitchFamily="18" charset="0"/>
                <a:cs typeface="Times New Roman" pitchFamily="18" charset="0"/>
              </a:rPr>
              <a:t>Define a Standard: </a:t>
            </a:r>
            <a:r>
              <a:rPr lang="en-US" altLang="en-US" sz="2400" dirty="0">
                <a:latin typeface="Times New Roman" pitchFamily="18" charset="0"/>
                <a:cs typeface="Times New Roman" pitchFamily="18" charset="0"/>
              </a:rPr>
              <a:t>Decide on a single, standard representation. </a:t>
            </a:r>
          </a:p>
          <a:p>
            <a:pPr marL="423863" lvl="1" indent="-342900" algn="just" eaLnBrk="1" hangingPunct="1">
              <a:buClr>
                <a:srgbClr val="0B5395"/>
              </a:buClr>
            </a:pPr>
            <a:r>
              <a:rPr lang="en-US" altLang="en-US" sz="2400" i="1" dirty="0">
                <a:latin typeface="Times New Roman" pitchFamily="18" charset="0"/>
                <a:cs typeface="Times New Roman" pitchFamily="18" charset="0"/>
              </a:rPr>
              <a:t>Create a Mapping: </a:t>
            </a:r>
            <a:r>
              <a:rPr lang="en-US" altLang="en-US" sz="2400" dirty="0">
                <a:latin typeface="Times New Roman" pitchFamily="18" charset="0"/>
                <a:cs typeface="Times New Roman" pitchFamily="18" charset="0"/>
              </a:rPr>
              <a:t>Create a dictionary to map the variations to your chosen standard. Use the map to replace the inconsistent values.</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13</a:t>
            </a:fld>
            <a:endParaRPr lang="en-US" altLang="en-US"/>
          </a:p>
        </p:txBody>
      </p:sp>
    </p:spTree>
    <p:extLst>
      <p:ext uri="{BB962C8B-B14F-4D97-AF65-F5344CB8AC3E}">
        <p14:creationId xmlns:p14="http://schemas.microsoft.com/office/powerpoint/2010/main" val="4250188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0" y="1655763"/>
            <a:ext cx="9872663"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Correcting Inaccurate or Inconsistent Data</a:t>
            </a:r>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b="1" dirty="0">
                <a:latin typeface="Times New Roman" pitchFamily="18" charset="0"/>
                <a:cs typeface="Times New Roman" pitchFamily="18" charset="0"/>
              </a:rPr>
              <a:t>2. Fixing Structural Errors</a:t>
            </a:r>
          </a:p>
          <a:p>
            <a:pPr marL="80963" lvl="1" indent="0" algn="just" eaLnBrk="1" hangingPunct="1">
              <a:buClr>
                <a:srgbClr val="0B5395"/>
              </a:buClr>
              <a:buNone/>
            </a:pPr>
            <a:r>
              <a:rPr lang="en-US" altLang="en-US" sz="2400" dirty="0">
                <a:latin typeface="Times New Roman" pitchFamily="18" charset="0"/>
                <a:cs typeface="Times New Roman" pitchFamily="18" charset="0"/>
              </a:rPr>
              <a:t>These are typos, unwanted characters, or inconsistent capitalization that affect data quality.</a:t>
            </a:r>
          </a:p>
          <a:p>
            <a:pPr marL="80963" lvl="1" indent="0" algn="just" eaLnBrk="1" hangingPunct="1">
              <a:buClr>
                <a:srgbClr val="0B5395"/>
              </a:buClr>
              <a:buNone/>
            </a:pPr>
            <a:r>
              <a:rPr lang="en-US" altLang="en-US" sz="2400" b="1" dirty="0">
                <a:latin typeface="Times New Roman" pitchFamily="18" charset="0"/>
                <a:cs typeface="Times New Roman" pitchFamily="18" charset="0"/>
              </a:rPr>
              <a:t>The Problem: </a:t>
            </a:r>
            <a:r>
              <a:rPr lang="en-US" altLang="en-US" sz="2400" dirty="0">
                <a:latin typeface="Times New Roman" pitchFamily="18" charset="0"/>
                <a:cs typeface="Times New Roman" pitchFamily="18" charset="0"/>
              </a:rPr>
              <a:t>A 'Name' column might have entries like " John Smith ", "john smith", or "</a:t>
            </a:r>
            <a:r>
              <a:rPr lang="en-US" altLang="en-US" sz="2400" dirty="0" err="1">
                <a:latin typeface="Times New Roman" pitchFamily="18" charset="0"/>
                <a:cs typeface="Times New Roman" pitchFamily="18" charset="0"/>
              </a:rPr>
              <a:t>John_Smith</a:t>
            </a:r>
            <a:r>
              <a:rPr lang="en-US" altLang="en-US" sz="2400" dirty="0">
                <a:latin typeface="Times New Roman" pitchFamily="18" charset="0"/>
                <a:cs typeface="Times New Roman" pitchFamily="18" charset="0"/>
              </a:rPr>
              <a:t>".</a:t>
            </a:r>
          </a:p>
          <a:p>
            <a:pPr marL="80963" lvl="1" indent="0" algn="just" eaLnBrk="1" hangingPunct="1">
              <a:buClr>
                <a:srgbClr val="0B5395"/>
              </a:buClr>
              <a:buNone/>
            </a:pPr>
            <a:r>
              <a:rPr lang="en-US" altLang="en-US" sz="2400" b="1" dirty="0">
                <a:latin typeface="Times New Roman" pitchFamily="18" charset="0"/>
                <a:cs typeface="Times New Roman" pitchFamily="18" charset="0"/>
              </a:rPr>
              <a:t>How to Fix It (Cleaning and Formatting):</a:t>
            </a:r>
          </a:p>
          <a:p>
            <a:pPr marL="423863" lvl="1" indent="-342900" algn="just" eaLnBrk="1" hangingPunct="1">
              <a:buClr>
                <a:srgbClr val="0B5395"/>
              </a:buClr>
            </a:pPr>
            <a:r>
              <a:rPr lang="en-US" altLang="en-US" sz="2400" i="1" dirty="0">
                <a:latin typeface="Times New Roman" pitchFamily="18" charset="0"/>
                <a:cs typeface="Times New Roman" pitchFamily="18" charset="0"/>
              </a:rPr>
              <a:t>Trim Whitespace: </a:t>
            </a:r>
            <a:r>
              <a:rPr lang="en-US" altLang="en-US" sz="2400" dirty="0">
                <a:latin typeface="Times New Roman" pitchFamily="18" charset="0"/>
                <a:cs typeface="Times New Roman" pitchFamily="18" charset="0"/>
              </a:rPr>
              <a:t>Remove any leading or trailing spaces. Most programming languages have a trim() or strip() function.</a:t>
            </a:r>
          </a:p>
          <a:p>
            <a:pPr marL="423863" lvl="1" indent="-342900" algn="just" eaLnBrk="1" hangingPunct="1">
              <a:buClr>
                <a:srgbClr val="0B5395"/>
              </a:buClr>
            </a:pPr>
            <a:r>
              <a:rPr lang="en-US" altLang="en-US" sz="2400" i="1" dirty="0">
                <a:latin typeface="Times New Roman" pitchFamily="18" charset="0"/>
                <a:cs typeface="Times New Roman" pitchFamily="18" charset="0"/>
              </a:rPr>
              <a:t>Standardize Case: </a:t>
            </a:r>
            <a:r>
              <a:rPr lang="en-US" altLang="en-US" sz="2400" dirty="0">
                <a:latin typeface="Times New Roman" pitchFamily="18" charset="0"/>
                <a:cs typeface="Times New Roman" pitchFamily="18" charset="0"/>
              </a:rPr>
              <a:t>Convert all text to a single case (usually lowercase) to ensure consistency. Use a lower() function.</a:t>
            </a:r>
          </a:p>
          <a:p>
            <a:pPr marL="423863" lvl="1" indent="-342900" algn="just" eaLnBrk="1" hangingPunct="1">
              <a:buClr>
                <a:srgbClr val="0B5395"/>
              </a:buClr>
            </a:pPr>
            <a:r>
              <a:rPr lang="en-US" altLang="en-US" sz="2400" i="1" dirty="0">
                <a:latin typeface="Times New Roman" pitchFamily="18" charset="0"/>
                <a:cs typeface="Times New Roman" pitchFamily="18" charset="0"/>
              </a:rPr>
              <a:t>Remove Unwanted Characters: </a:t>
            </a:r>
            <a:r>
              <a:rPr lang="en-US" altLang="en-US" sz="2400" dirty="0">
                <a:latin typeface="Times New Roman" pitchFamily="18" charset="0"/>
                <a:cs typeface="Times New Roman" pitchFamily="18" charset="0"/>
              </a:rPr>
              <a:t>Use a replace() function to remove special characters like underscores or dashes if they don't belong.</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14</a:t>
            </a:fld>
            <a:endParaRPr lang="en-US" altLang="en-US"/>
          </a:p>
        </p:txBody>
      </p:sp>
    </p:spTree>
    <p:extLst>
      <p:ext uri="{BB962C8B-B14F-4D97-AF65-F5344CB8AC3E}">
        <p14:creationId xmlns:p14="http://schemas.microsoft.com/office/powerpoint/2010/main" val="2779133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0" y="1655763"/>
            <a:ext cx="9872663"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Correcting Inaccurate or Inconsistent Data</a:t>
            </a:r>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b="1" dirty="0">
                <a:latin typeface="Times New Roman" pitchFamily="18" charset="0"/>
                <a:cs typeface="Times New Roman" pitchFamily="18" charset="0"/>
              </a:rPr>
              <a:t>3. Resolving Logical Errors and Contradictions</a:t>
            </a:r>
          </a:p>
          <a:p>
            <a:pPr marL="80963" lvl="1" indent="0" algn="just" eaLnBrk="1" hangingPunct="1">
              <a:buClr>
                <a:srgbClr val="0B5395"/>
              </a:buClr>
              <a:buNone/>
            </a:pPr>
            <a:r>
              <a:rPr lang="en-US" altLang="en-US" sz="2400" dirty="0">
                <a:latin typeface="Times New Roman" pitchFamily="18" charset="0"/>
                <a:cs typeface="Times New Roman" pitchFamily="18" charset="0"/>
              </a:rPr>
              <a:t>This involves finding data points that are logically impossible or contradict other information in the dataset.</a:t>
            </a:r>
          </a:p>
          <a:p>
            <a:pPr marL="80963" lvl="1" indent="0" algn="just" eaLnBrk="1" hangingPunct="1">
              <a:buClr>
                <a:srgbClr val="0B5395"/>
              </a:buClr>
              <a:buNone/>
            </a:pPr>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b="1" dirty="0">
                <a:latin typeface="Times New Roman" pitchFamily="18" charset="0"/>
                <a:cs typeface="Times New Roman" pitchFamily="18" charset="0"/>
              </a:rPr>
              <a:t>The Problem: </a:t>
            </a:r>
          </a:p>
          <a:p>
            <a:pPr marL="423863" lvl="1" indent="-342900" algn="just" eaLnBrk="1" hangingPunct="1">
              <a:buClr>
                <a:srgbClr val="0B5395"/>
              </a:buClr>
            </a:pPr>
            <a:r>
              <a:rPr lang="en-US" altLang="en-US" sz="2400" dirty="0">
                <a:latin typeface="Times New Roman" pitchFamily="18" charset="0"/>
                <a:cs typeface="Times New Roman" pitchFamily="18" charset="0"/>
              </a:rPr>
              <a:t>A person's Date of Death is earlier than their Date of Birth.</a:t>
            </a:r>
          </a:p>
          <a:p>
            <a:pPr marL="423863" lvl="1" indent="-342900" algn="just" eaLnBrk="1" hangingPunct="1">
              <a:buClr>
                <a:srgbClr val="0B5395"/>
              </a:buClr>
            </a:pPr>
            <a:r>
              <a:rPr lang="en-US" altLang="en-US" sz="2400" dirty="0">
                <a:latin typeface="Times New Roman" pitchFamily="18" charset="0"/>
                <a:cs typeface="Times New Roman" pitchFamily="18" charset="0"/>
              </a:rPr>
              <a:t>An 'Age' column shows 15, but the 'Employment Status' column says Full-Time Employee.</a:t>
            </a:r>
          </a:p>
          <a:p>
            <a:pPr marL="423863" lvl="1" indent="-342900" algn="just" eaLnBrk="1" hangingPunct="1">
              <a:buClr>
                <a:srgbClr val="0B5395"/>
              </a:buClr>
            </a:pPr>
            <a:r>
              <a:rPr lang="en-US" altLang="en-US" sz="2400" dirty="0">
                <a:latin typeface="Times New Roman" pitchFamily="18" charset="0"/>
                <a:cs typeface="Times New Roman" pitchFamily="18" charset="0"/>
              </a:rPr>
              <a:t>An </a:t>
            </a:r>
            <a:r>
              <a:rPr lang="en-US" altLang="en-US" sz="2400" dirty="0" err="1">
                <a:latin typeface="Times New Roman" pitchFamily="18" charset="0"/>
                <a:cs typeface="Times New Roman" pitchFamily="18" charset="0"/>
              </a:rPr>
              <a:t>Order_Date</a:t>
            </a:r>
            <a:r>
              <a:rPr lang="en-US" altLang="en-US" sz="2400" dirty="0">
                <a:latin typeface="Times New Roman" pitchFamily="18" charset="0"/>
                <a:cs typeface="Times New Roman" pitchFamily="18" charset="0"/>
              </a:rPr>
              <a:t> is later than the </a:t>
            </a:r>
            <a:r>
              <a:rPr lang="en-US" altLang="en-US" sz="2400" dirty="0" err="1">
                <a:latin typeface="Times New Roman" pitchFamily="18" charset="0"/>
                <a:cs typeface="Times New Roman" pitchFamily="18" charset="0"/>
              </a:rPr>
              <a:t>Shipping_Date</a:t>
            </a:r>
            <a:r>
              <a:rPr lang="en-US" altLang="en-US" sz="2400" dirty="0">
                <a:latin typeface="Times New Roman" pitchFamily="18" charset="0"/>
                <a:cs typeface="Times New Roman" pitchFamily="18" charset="0"/>
              </a:rPr>
              <a:t>.</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15</a:t>
            </a:fld>
            <a:endParaRPr lang="en-US" altLang="en-US"/>
          </a:p>
        </p:txBody>
      </p:sp>
    </p:spTree>
    <p:extLst>
      <p:ext uri="{BB962C8B-B14F-4D97-AF65-F5344CB8AC3E}">
        <p14:creationId xmlns:p14="http://schemas.microsoft.com/office/powerpoint/2010/main" val="2353755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0" y="1655763"/>
            <a:ext cx="9872663"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Correcting Inaccurate or Inconsistent Data</a:t>
            </a:r>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b="1" dirty="0">
                <a:latin typeface="Times New Roman" pitchFamily="18" charset="0"/>
                <a:cs typeface="Times New Roman" pitchFamily="18" charset="0"/>
              </a:rPr>
              <a:t>3. Resolving Logical Errors and Contradictions</a:t>
            </a:r>
          </a:p>
          <a:p>
            <a:pPr marL="80963" lvl="1" indent="0" algn="just" eaLnBrk="1" hangingPunct="1">
              <a:buClr>
                <a:srgbClr val="0B5395"/>
              </a:buClr>
              <a:buNone/>
            </a:pPr>
            <a:r>
              <a:rPr lang="en-US" altLang="en-US" sz="2400" b="1" dirty="0">
                <a:latin typeface="Times New Roman" pitchFamily="18" charset="0"/>
                <a:cs typeface="Times New Roman" pitchFamily="18" charset="0"/>
              </a:rPr>
              <a:t>How to Fix It (Validation Rules):</a:t>
            </a:r>
          </a:p>
          <a:p>
            <a:pPr marL="80963" lvl="1" indent="0" algn="just" eaLnBrk="1" hangingPunct="1">
              <a:buClr>
                <a:srgbClr val="0B5395"/>
              </a:buClr>
              <a:buNone/>
            </a:pPr>
            <a:r>
              <a:rPr lang="en-US" altLang="en-US" sz="2400" i="1" dirty="0">
                <a:latin typeface="Times New Roman" pitchFamily="18" charset="0"/>
                <a:cs typeface="Times New Roman" pitchFamily="18" charset="0"/>
              </a:rPr>
              <a:t>Define Rules: </a:t>
            </a:r>
            <a:r>
              <a:rPr lang="en-US" altLang="en-US" sz="2400" dirty="0">
                <a:latin typeface="Times New Roman" pitchFamily="18" charset="0"/>
                <a:cs typeface="Times New Roman" pitchFamily="18" charset="0"/>
              </a:rPr>
              <a:t>Establish logical rules that your data must follow (e.g., Age must be greater than 18 for Employment Status == 'Full-Time Employee').</a:t>
            </a:r>
          </a:p>
          <a:p>
            <a:pPr marL="80963" lvl="1" indent="0" algn="just" eaLnBrk="1" hangingPunct="1">
              <a:buClr>
                <a:srgbClr val="0B5395"/>
              </a:buClr>
              <a:buNone/>
            </a:pPr>
            <a:r>
              <a:rPr lang="en-US" altLang="en-US" sz="2400" i="1" dirty="0">
                <a:latin typeface="Times New Roman" pitchFamily="18" charset="0"/>
                <a:cs typeface="Times New Roman" pitchFamily="18" charset="0"/>
              </a:rPr>
              <a:t>Flag Violations: </a:t>
            </a:r>
            <a:r>
              <a:rPr lang="en-US" altLang="en-US" sz="2400" dirty="0">
                <a:latin typeface="Times New Roman" pitchFamily="18" charset="0"/>
                <a:cs typeface="Times New Roman" pitchFamily="18" charset="0"/>
              </a:rPr>
              <a:t>Write a script to check each row against your rules and flag the ones that fail.</a:t>
            </a:r>
          </a:p>
          <a:p>
            <a:pPr marL="80963" lvl="1" indent="0" algn="just" eaLnBrk="1" hangingPunct="1">
              <a:buClr>
                <a:srgbClr val="0B5395"/>
              </a:buClr>
              <a:buNone/>
            </a:pPr>
            <a:r>
              <a:rPr lang="en-US" altLang="en-US" sz="2400" i="1" dirty="0">
                <a:latin typeface="Times New Roman" pitchFamily="18" charset="0"/>
                <a:cs typeface="Times New Roman" pitchFamily="18" charset="0"/>
              </a:rPr>
              <a:t>Correct Manually or Programmatically: </a:t>
            </a:r>
            <a:r>
              <a:rPr lang="en-US" altLang="en-US" sz="2400" dirty="0">
                <a:latin typeface="Times New Roman" pitchFamily="18" charset="0"/>
                <a:cs typeface="Times New Roman" pitchFamily="18" charset="0"/>
              </a:rPr>
              <a:t>For some errors, you might need to </a:t>
            </a:r>
            <a:r>
              <a:rPr lang="en-US" altLang="en-US" sz="2400" dirty="0">
                <a:solidFill>
                  <a:srgbClr val="FF0000"/>
                </a:solidFill>
                <a:latin typeface="Times New Roman" pitchFamily="18" charset="0"/>
                <a:cs typeface="Times New Roman" pitchFamily="18" charset="0"/>
              </a:rPr>
              <a:t>investigate the original source </a:t>
            </a:r>
            <a:r>
              <a:rPr lang="en-US" altLang="en-US" sz="2400" dirty="0">
                <a:latin typeface="Times New Roman" pitchFamily="18" charset="0"/>
                <a:cs typeface="Times New Roman" pitchFamily="18" charset="0"/>
              </a:rPr>
              <a:t>to find the correct data. For others, you might set the problematic entry </a:t>
            </a:r>
            <a:r>
              <a:rPr lang="en-US" altLang="en-US" sz="2400" dirty="0">
                <a:solidFill>
                  <a:srgbClr val="FF0000"/>
                </a:solidFill>
                <a:latin typeface="Times New Roman" pitchFamily="18" charset="0"/>
                <a:cs typeface="Times New Roman" pitchFamily="18" charset="0"/>
              </a:rPr>
              <a:t>to </a:t>
            </a:r>
            <a:r>
              <a:rPr lang="en-US" altLang="en-US" sz="2400" dirty="0" err="1">
                <a:solidFill>
                  <a:srgbClr val="FF0000"/>
                </a:solidFill>
                <a:latin typeface="Times New Roman" pitchFamily="18" charset="0"/>
                <a:cs typeface="Times New Roman" pitchFamily="18" charset="0"/>
              </a:rPr>
              <a:t>NaN</a:t>
            </a:r>
            <a:r>
              <a:rPr lang="en-US" altLang="en-US" sz="2400" dirty="0">
                <a:solidFill>
                  <a:srgbClr val="FF0000"/>
                </a:solidFill>
                <a:latin typeface="Times New Roman" pitchFamily="18" charset="0"/>
                <a:cs typeface="Times New Roman" pitchFamily="18" charset="0"/>
              </a:rPr>
              <a:t> </a:t>
            </a:r>
            <a:r>
              <a:rPr lang="en-US" altLang="en-US" sz="2400" dirty="0">
                <a:latin typeface="Times New Roman" pitchFamily="18" charset="0"/>
                <a:cs typeface="Times New Roman" pitchFamily="18" charset="0"/>
              </a:rPr>
              <a:t>(missing) and handle it later. If a Date of Birth is "1992" and Age is "20", you could write a rule to </a:t>
            </a:r>
            <a:r>
              <a:rPr lang="en-US" altLang="en-US" sz="2400" dirty="0">
                <a:solidFill>
                  <a:srgbClr val="FF0000"/>
                </a:solidFill>
                <a:latin typeface="Times New Roman" pitchFamily="18" charset="0"/>
                <a:cs typeface="Times New Roman" pitchFamily="18" charset="0"/>
              </a:rPr>
              <a:t>recalculate</a:t>
            </a:r>
            <a:r>
              <a:rPr lang="en-US" altLang="en-US" sz="2400" dirty="0">
                <a:latin typeface="Times New Roman" pitchFamily="18" charset="0"/>
                <a:cs typeface="Times New Roman" pitchFamily="18" charset="0"/>
              </a:rPr>
              <a:t> the age based on the current date.</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16</a:t>
            </a:fld>
            <a:endParaRPr lang="en-US" altLang="en-US"/>
          </a:p>
        </p:txBody>
      </p:sp>
    </p:spTree>
    <p:extLst>
      <p:ext uri="{BB962C8B-B14F-4D97-AF65-F5344CB8AC3E}">
        <p14:creationId xmlns:p14="http://schemas.microsoft.com/office/powerpoint/2010/main" val="2509701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0" y="1655763"/>
            <a:ext cx="9872663"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Correcting Inaccurate or Inconsistent Data</a:t>
            </a:r>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b="1" dirty="0">
                <a:latin typeface="Times New Roman" pitchFamily="18" charset="0"/>
                <a:cs typeface="Times New Roman" pitchFamily="18" charset="0"/>
              </a:rPr>
              <a:t>4. Standardizing Units and Formats </a:t>
            </a:r>
          </a:p>
          <a:p>
            <a:pPr marL="80963" lvl="1" indent="0" algn="just" eaLnBrk="1" hangingPunct="1">
              <a:buClr>
                <a:srgbClr val="0B5395"/>
              </a:buClr>
              <a:buNone/>
            </a:pPr>
            <a:r>
              <a:rPr lang="en-US" altLang="en-US" sz="2400" dirty="0">
                <a:latin typeface="Times New Roman" pitchFamily="18" charset="0"/>
                <a:cs typeface="Times New Roman" pitchFamily="18" charset="0"/>
              </a:rPr>
              <a:t>This ensures all numerical data and dates are comparable.</a:t>
            </a:r>
          </a:p>
          <a:p>
            <a:pPr marL="80963" lvl="1" indent="0" algn="just" eaLnBrk="1" hangingPunct="1">
              <a:buClr>
                <a:srgbClr val="0B5395"/>
              </a:buClr>
              <a:buNone/>
            </a:pPr>
            <a:r>
              <a:rPr lang="en-US" altLang="en-US" sz="2400" b="1" dirty="0">
                <a:latin typeface="Times New Roman" pitchFamily="18" charset="0"/>
                <a:cs typeface="Times New Roman" pitchFamily="18" charset="0"/>
              </a:rPr>
              <a:t>The Problem: </a:t>
            </a:r>
          </a:p>
          <a:p>
            <a:pPr marL="423863" lvl="1" indent="-342900" algn="just" eaLnBrk="1" hangingPunct="1">
              <a:buClr>
                <a:srgbClr val="0B5395"/>
              </a:buClr>
            </a:pPr>
            <a:r>
              <a:rPr lang="en-US" altLang="en-US" sz="2400" dirty="0">
                <a:latin typeface="Times New Roman" pitchFamily="18" charset="0"/>
                <a:cs typeface="Times New Roman" pitchFamily="18" charset="0"/>
              </a:rPr>
              <a:t>A 'Weight' column contains values in both pounds (</a:t>
            </a:r>
            <a:r>
              <a:rPr lang="en-US" altLang="en-US" sz="2400" dirty="0" err="1">
                <a:latin typeface="Times New Roman" pitchFamily="18" charset="0"/>
                <a:cs typeface="Times New Roman" pitchFamily="18" charset="0"/>
              </a:rPr>
              <a:t>lbs</a:t>
            </a:r>
            <a:r>
              <a:rPr lang="en-US" altLang="en-US" sz="2400" dirty="0">
                <a:latin typeface="Times New Roman" pitchFamily="18" charset="0"/>
                <a:cs typeface="Times New Roman" pitchFamily="18" charset="0"/>
              </a:rPr>
              <a:t>) and kilograms (kg).</a:t>
            </a:r>
          </a:p>
          <a:p>
            <a:pPr marL="423863" lvl="1" indent="-342900" algn="just" eaLnBrk="1" hangingPunct="1">
              <a:buClr>
                <a:srgbClr val="0B5395"/>
              </a:buClr>
            </a:pPr>
            <a:r>
              <a:rPr lang="en-US" altLang="en-US" sz="2400" dirty="0">
                <a:latin typeface="Times New Roman" pitchFamily="18" charset="0"/>
                <a:cs typeface="Times New Roman" pitchFamily="18" charset="0"/>
              </a:rPr>
              <a:t>A 'Date' column has multiple formats like "07-25-2025," "25/Jul/2025.</a:t>
            </a:r>
          </a:p>
          <a:p>
            <a:pPr marL="80963" lvl="1" indent="0" algn="just" eaLnBrk="1" hangingPunct="1">
              <a:buClr>
                <a:srgbClr val="0B5395"/>
              </a:buClr>
              <a:buNone/>
            </a:pPr>
            <a:r>
              <a:rPr lang="en-US" altLang="en-US" sz="2400" b="1" dirty="0">
                <a:latin typeface="Times New Roman" pitchFamily="18" charset="0"/>
                <a:cs typeface="Times New Roman" pitchFamily="18" charset="0"/>
              </a:rPr>
              <a:t>How to Fix It (Conversion and Parsing):</a:t>
            </a:r>
          </a:p>
          <a:p>
            <a:pPr marL="423863" lvl="1" indent="-342900" algn="just" eaLnBrk="1" hangingPunct="1">
              <a:buClr>
                <a:srgbClr val="0B5395"/>
              </a:buClr>
            </a:pPr>
            <a:r>
              <a:rPr lang="en-US" altLang="en-US" sz="2400" i="1" dirty="0">
                <a:latin typeface="Times New Roman" pitchFamily="18" charset="0"/>
                <a:cs typeface="Times New Roman" pitchFamily="18" charset="0"/>
              </a:rPr>
              <a:t>For Numerical Units: </a:t>
            </a:r>
            <a:r>
              <a:rPr lang="en-US" altLang="en-US" sz="2400" dirty="0">
                <a:latin typeface="Times New Roman" pitchFamily="18" charset="0"/>
                <a:cs typeface="Times New Roman" pitchFamily="18" charset="0"/>
              </a:rPr>
              <a:t>Identify the different units present. Choose a standard unit (e.g., kg) and apply a conversion formula to all non-standard entries (e.g., </a:t>
            </a:r>
            <a:r>
              <a:rPr lang="en-US" altLang="en-US" sz="2400" dirty="0" err="1">
                <a:latin typeface="Times New Roman" pitchFamily="18" charset="0"/>
                <a:cs typeface="Times New Roman" pitchFamily="18" charset="0"/>
              </a:rPr>
              <a:t>weight_in_kg</a:t>
            </a:r>
            <a:r>
              <a:rPr lang="en-US" altLang="en-US" sz="2400" dirty="0">
                <a:latin typeface="Times New Roman" pitchFamily="18" charset="0"/>
                <a:cs typeface="Times New Roman" pitchFamily="18" charset="0"/>
              </a:rPr>
              <a:t> = </a:t>
            </a:r>
            <a:r>
              <a:rPr lang="en-US" altLang="en-US" sz="2400" dirty="0" err="1">
                <a:latin typeface="Times New Roman" pitchFamily="18" charset="0"/>
                <a:cs typeface="Times New Roman" pitchFamily="18" charset="0"/>
              </a:rPr>
              <a:t>weight_in_lbs</a:t>
            </a:r>
            <a:r>
              <a:rPr lang="en-US" altLang="en-US" sz="2400" dirty="0">
                <a:latin typeface="Times New Roman" pitchFamily="18" charset="0"/>
                <a:cs typeface="Times New Roman" pitchFamily="18" charset="0"/>
              </a:rPr>
              <a:t> * 0.453592).</a:t>
            </a:r>
          </a:p>
          <a:p>
            <a:pPr marL="423863" lvl="1" indent="-342900" algn="just" eaLnBrk="1" hangingPunct="1">
              <a:buClr>
                <a:srgbClr val="0B5395"/>
              </a:buClr>
            </a:pPr>
            <a:r>
              <a:rPr lang="en-US" altLang="en-US" sz="2400" i="1" dirty="0">
                <a:latin typeface="Times New Roman" pitchFamily="18" charset="0"/>
                <a:cs typeface="Times New Roman" pitchFamily="18" charset="0"/>
              </a:rPr>
              <a:t>For Dates: </a:t>
            </a:r>
            <a:r>
              <a:rPr lang="en-US" altLang="en-US" sz="2400" dirty="0">
                <a:latin typeface="Times New Roman" pitchFamily="18" charset="0"/>
                <a:cs typeface="Times New Roman" pitchFamily="18" charset="0"/>
              </a:rPr>
              <a:t>Use a robust date-parsing function to automatically recognize and convert all date formats into a single, standard format, like YYYY-MM-DD.</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17</a:t>
            </a:fld>
            <a:endParaRPr lang="en-US" altLang="en-US"/>
          </a:p>
        </p:txBody>
      </p:sp>
    </p:spTree>
    <p:extLst>
      <p:ext uri="{BB962C8B-B14F-4D97-AF65-F5344CB8AC3E}">
        <p14:creationId xmlns:p14="http://schemas.microsoft.com/office/powerpoint/2010/main" val="1417846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0" y="1655763"/>
            <a:ext cx="6882493"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Handling Outliers and Noise</a:t>
            </a:r>
          </a:p>
          <a:p>
            <a:pPr marL="80963" lvl="1" indent="0" algn="just" eaLnBrk="1" hangingPunct="1">
              <a:buClr>
                <a:srgbClr val="0B5395"/>
              </a:buClr>
              <a:buNone/>
            </a:pPr>
            <a:r>
              <a:rPr lang="en-US" altLang="en-US" dirty="0">
                <a:latin typeface="Times New Roman" pitchFamily="18" charset="0"/>
                <a:cs typeface="Times New Roman" pitchFamily="18" charset="0"/>
              </a:rPr>
              <a:t>Handling outliers and noise is a critical data cleaning step to prevent skewed results and improve model accuracy. While related, they are different:</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423863" lvl="1" indent="-342900" algn="just" eaLnBrk="1" hangingPunct="1">
              <a:buClr>
                <a:srgbClr val="0B5395"/>
              </a:buClr>
            </a:pPr>
            <a:r>
              <a:rPr lang="en-US" altLang="en-US" dirty="0">
                <a:latin typeface="Times New Roman" pitchFamily="18" charset="0"/>
                <a:cs typeface="Times New Roman" pitchFamily="18" charset="0"/>
              </a:rPr>
              <a:t>Outliers are legitimate data points that are unusually far from the rest of the data. Think of the net worth of a billionaire in a sample of regular citizens.</a:t>
            </a:r>
          </a:p>
          <a:p>
            <a:pPr marL="423863" lvl="1" indent="-342900" algn="just" eaLnBrk="1" hangingPunct="1">
              <a:buClr>
                <a:srgbClr val="0B5395"/>
              </a:buClr>
            </a:pPr>
            <a:endParaRPr lang="en-US" altLang="en-US" dirty="0">
              <a:latin typeface="Times New Roman" pitchFamily="18" charset="0"/>
              <a:cs typeface="Times New Roman" pitchFamily="18" charset="0"/>
            </a:endParaRPr>
          </a:p>
          <a:p>
            <a:pPr marL="423863" lvl="1" indent="-342900" algn="just" eaLnBrk="1" hangingPunct="1">
              <a:buClr>
                <a:srgbClr val="0B5395"/>
              </a:buClr>
            </a:pPr>
            <a:r>
              <a:rPr lang="en-US" altLang="en-US" dirty="0">
                <a:latin typeface="Times New Roman" pitchFamily="18" charset="0"/>
                <a:cs typeface="Times New Roman" pitchFamily="18" charset="0"/>
              </a:rPr>
              <a:t>Noise is random error or variance in the data, like a slight fluctuation in a sensor reading.</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18</a:t>
            </a:fld>
            <a:endParaRPr lang="en-US"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2585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704C4-031E-275B-0FCE-6DA34E08DCB7}"/>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BA229FC-07B9-771F-0EBB-83C7FC0B9707}"/>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455DF52A-95EC-7986-5C5C-DD78BCB57E8A}"/>
              </a:ext>
            </a:extLst>
          </p:cNvPr>
          <p:cNvSpPr>
            <a:spLocks noGrp="1"/>
          </p:cNvSpPr>
          <p:nvPr>
            <p:ph idx="1"/>
          </p:nvPr>
        </p:nvSpPr>
        <p:spPr>
          <a:xfrm>
            <a:off x="1143001" y="1655763"/>
            <a:ext cx="4445000"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Outliers Detection</a:t>
            </a:r>
          </a:p>
          <a:p>
            <a:pPr marL="80963" lvl="1" indent="0" algn="just" eaLnBrk="1" hangingPunct="1">
              <a:buClr>
                <a:srgbClr val="0B5395"/>
              </a:buClr>
              <a:buNone/>
            </a:pPr>
            <a:r>
              <a:rPr lang="en-US" altLang="en-US" sz="2400" dirty="0">
                <a:latin typeface="Times New Roman" pitchFamily="18" charset="0"/>
                <a:cs typeface="Times New Roman" pitchFamily="18" charset="0"/>
              </a:rPr>
              <a:t>The first step is to find the outliers, and then you can decide what to do with them.</a:t>
            </a:r>
          </a:p>
          <a:p>
            <a:pPr marL="80963" lvl="1" indent="0" algn="just" eaLnBrk="1" hangingPunct="1">
              <a:buClr>
                <a:srgbClr val="0B5395"/>
              </a:buClr>
              <a:buNone/>
            </a:pPr>
            <a:r>
              <a:rPr lang="en-US" altLang="en-US" sz="2400" i="1" dirty="0">
                <a:latin typeface="Times New Roman" pitchFamily="18" charset="0"/>
                <a:cs typeface="Times New Roman" pitchFamily="18" charset="0"/>
              </a:rPr>
              <a:t>Visual Method (Box Plots): </a:t>
            </a:r>
          </a:p>
          <a:p>
            <a:pPr marL="80963" lvl="1" indent="0" algn="just" eaLnBrk="1" hangingPunct="1">
              <a:buClr>
                <a:srgbClr val="0B5395"/>
              </a:buClr>
              <a:buNone/>
            </a:pPr>
            <a:r>
              <a:rPr lang="en-US" altLang="en-US" sz="2400" dirty="0">
                <a:latin typeface="Times New Roman" pitchFamily="18" charset="0"/>
                <a:cs typeface="Times New Roman" pitchFamily="18" charset="0"/>
              </a:rPr>
              <a:t>This is the easiest way to "see" outliers. A box plot visualizes the distribution of data. Any data point that falls outside the "whiskers" of the plot is typically considered an outlier.</a:t>
            </a:r>
          </a:p>
        </p:txBody>
      </p:sp>
      <p:sp>
        <p:nvSpPr>
          <p:cNvPr id="5124" name="Slide Number Placeholder 1">
            <a:extLst>
              <a:ext uri="{FF2B5EF4-FFF2-40B4-BE49-F238E27FC236}">
                <a16:creationId xmlns:a16="http://schemas.microsoft.com/office/drawing/2014/main" id="{C334BE0F-0F66-E0BC-D768-CA83E426F5F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19</a:t>
            </a:fld>
            <a:endParaRPr lang="en-US" altLang="en-US"/>
          </a:p>
        </p:txBody>
      </p:sp>
      <p:pic>
        <p:nvPicPr>
          <p:cNvPr id="1030" name="Picture 6" descr="Outlier detection with Boxplots. In descriptive statistics, a box plot… |  by Vishal Agarwal | Medium">
            <a:extLst>
              <a:ext uri="{FF2B5EF4-FFF2-40B4-BE49-F238E27FC236}">
                <a16:creationId xmlns:a16="http://schemas.microsoft.com/office/drawing/2014/main" id="{6BBBB5F5-3A37-D871-578C-08A8D1822A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8006" y="1655763"/>
            <a:ext cx="6320154" cy="3281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2630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CBEA2-0FB7-494F-A40B-B952E78F011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093B784-AC0C-B955-55C2-771EF743101B}"/>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E72243F0-59B7-2DA3-5670-0C95233F623E}"/>
              </a:ext>
            </a:extLst>
          </p:cNvPr>
          <p:cNvSpPr>
            <a:spLocks noGrp="1"/>
          </p:cNvSpPr>
          <p:nvPr>
            <p:ph idx="1"/>
          </p:nvPr>
        </p:nvSpPr>
        <p:spPr>
          <a:xfrm>
            <a:off x="1143000" y="1655763"/>
            <a:ext cx="9872663"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Outliers Detection</a:t>
            </a:r>
          </a:p>
          <a:p>
            <a:pPr marL="80963" lvl="1" indent="0" algn="just" eaLnBrk="1" hangingPunct="1">
              <a:buClr>
                <a:srgbClr val="0B5395"/>
              </a:buClr>
              <a:buNone/>
            </a:pPr>
            <a:r>
              <a:rPr lang="en-US" altLang="en-US" sz="2400" b="1" dirty="0">
                <a:latin typeface="Times New Roman" pitchFamily="18" charset="0"/>
                <a:cs typeface="Times New Roman" pitchFamily="18" charset="0"/>
              </a:rPr>
              <a:t>Statistical Method (Interquartile Range - IQR):</a:t>
            </a:r>
          </a:p>
          <a:p>
            <a:pPr marL="80963" lvl="1" indent="0" algn="just" eaLnBrk="1" hangingPunct="1">
              <a:buClr>
                <a:srgbClr val="0B5395"/>
              </a:buClr>
              <a:buNone/>
            </a:pPr>
            <a:r>
              <a:rPr lang="en-US" altLang="en-US" sz="2400" dirty="0">
                <a:latin typeface="Times New Roman" pitchFamily="18" charset="0"/>
                <a:cs typeface="Times New Roman" pitchFamily="18" charset="0"/>
              </a:rPr>
              <a:t>The IQR method provides a numerical way to identify outliers.</a:t>
            </a:r>
          </a:p>
          <a:p>
            <a:pPr marL="696913" lvl="2" indent="-342900" algn="just" eaLnBrk="1" hangingPunct="1">
              <a:buClr>
                <a:srgbClr val="0B5395"/>
              </a:buClr>
            </a:pPr>
            <a:r>
              <a:rPr lang="en-US" altLang="en-US" sz="2200" dirty="0">
                <a:latin typeface="Times New Roman" pitchFamily="18" charset="0"/>
                <a:cs typeface="Times New Roman" pitchFamily="18" charset="0"/>
              </a:rPr>
              <a:t>Calculate the first quartile (Q1, the 25th percentile) and the third quartile (Q3, the 75th percentile).</a:t>
            </a:r>
          </a:p>
          <a:p>
            <a:pPr marL="696913" lvl="2" indent="-342900" algn="just" eaLnBrk="1" hangingPunct="1">
              <a:buClr>
                <a:srgbClr val="0B5395"/>
              </a:buClr>
            </a:pPr>
            <a:r>
              <a:rPr lang="en-US" altLang="en-US" sz="2200" dirty="0">
                <a:latin typeface="Times New Roman" pitchFamily="18" charset="0"/>
                <a:cs typeface="Times New Roman" pitchFamily="18" charset="0"/>
              </a:rPr>
              <a:t>Calculate the IQR: IQR=Q3−Q1.</a:t>
            </a:r>
          </a:p>
          <a:p>
            <a:pPr marL="696913" lvl="2" indent="-342900" algn="just" eaLnBrk="1" hangingPunct="1">
              <a:buClr>
                <a:srgbClr val="0B5395"/>
              </a:buClr>
            </a:pPr>
            <a:r>
              <a:rPr lang="en-US" altLang="en-US" sz="2200" dirty="0">
                <a:latin typeface="Times New Roman" pitchFamily="18" charset="0"/>
                <a:cs typeface="Times New Roman" pitchFamily="18" charset="0"/>
              </a:rPr>
              <a:t>Define the outlier boundaries. A data point is considered an outlier if it falls below </a:t>
            </a:r>
            <a:r>
              <a:rPr lang="en-US" altLang="en-US" sz="2200" dirty="0">
                <a:solidFill>
                  <a:srgbClr val="FF0000"/>
                </a:solidFill>
                <a:latin typeface="Times New Roman" pitchFamily="18" charset="0"/>
                <a:cs typeface="Times New Roman" pitchFamily="18" charset="0"/>
              </a:rPr>
              <a:t>Q1−1.5 times IQR </a:t>
            </a:r>
            <a:r>
              <a:rPr lang="en-US" altLang="en-US" sz="2200" dirty="0">
                <a:latin typeface="Times New Roman" pitchFamily="18" charset="0"/>
                <a:cs typeface="Times New Roman" pitchFamily="18" charset="0"/>
              </a:rPr>
              <a:t>or above </a:t>
            </a:r>
            <a:r>
              <a:rPr lang="en-US" altLang="en-US" sz="2200" dirty="0">
                <a:solidFill>
                  <a:srgbClr val="FF0000"/>
                </a:solidFill>
                <a:latin typeface="Times New Roman" pitchFamily="18" charset="0"/>
                <a:cs typeface="Times New Roman" pitchFamily="18" charset="0"/>
              </a:rPr>
              <a:t>Q3+1.5 times IQR</a:t>
            </a:r>
            <a:r>
              <a:rPr lang="en-US" altLang="en-US" sz="2200" dirty="0">
                <a:latin typeface="Times New Roman" pitchFamily="18" charset="0"/>
                <a:cs typeface="Times New Roman" pitchFamily="18" charset="0"/>
              </a:rPr>
              <a:t>.</a:t>
            </a:r>
          </a:p>
          <a:p>
            <a:pPr marL="80963" lvl="1" indent="0" algn="just" eaLnBrk="1" hangingPunct="1">
              <a:buClr>
                <a:srgbClr val="0B5395"/>
              </a:buClr>
              <a:buNone/>
            </a:pPr>
            <a:r>
              <a:rPr lang="en-US" altLang="en-US" sz="2400" b="1" i="1" dirty="0">
                <a:latin typeface="Times New Roman" pitchFamily="18" charset="0"/>
                <a:cs typeface="Times New Roman" pitchFamily="18" charset="0"/>
              </a:rPr>
              <a:t>Z-Score Method: </a:t>
            </a:r>
          </a:p>
          <a:p>
            <a:pPr marL="80963" lvl="1" indent="0" algn="just" eaLnBrk="1" hangingPunct="1">
              <a:buClr>
                <a:srgbClr val="0B5395"/>
              </a:buClr>
              <a:buNone/>
            </a:pPr>
            <a:r>
              <a:rPr lang="en-US" altLang="en-US" sz="2400" dirty="0">
                <a:latin typeface="Times New Roman" pitchFamily="18" charset="0"/>
                <a:cs typeface="Times New Roman" pitchFamily="18" charset="0"/>
              </a:rPr>
              <a:t>The Z-score tells you how many standard deviations a data point is from the mean. A common rule of thumb is that any point with a Z-score greater than 3 or less than -3 is an outlier.</a:t>
            </a:r>
          </a:p>
        </p:txBody>
      </p:sp>
      <p:sp>
        <p:nvSpPr>
          <p:cNvPr id="5124" name="Slide Number Placeholder 1">
            <a:extLst>
              <a:ext uri="{FF2B5EF4-FFF2-40B4-BE49-F238E27FC236}">
                <a16:creationId xmlns:a16="http://schemas.microsoft.com/office/drawing/2014/main" id="{BCE8A887-E689-62BF-3C4A-730B3D44A58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20</a:t>
            </a:fld>
            <a:endParaRPr lang="en-US" altLang="en-US"/>
          </a:p>
        </p:txBody>
      </p:sp>
    </p:spTree>
    <p:extLst>
      <p:ext uri="{BB962C8B-B14F-4D97-AF65-F5344CB8AC3E}">
        <p14:creationId xmlns:p14="http://schemas.microsoft.com/office/powerpoint/2010/main" val="1241330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CBEA2-0FB7-494F-A40B-B952E78F011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9093B784-AC0C-B955-55C2-771EF743101B}"/>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4" name="Slide Number Placeholder 1">
            <a:extLst>
              <a:ext uri="{FF2B5EF4-FFF2-40B4-BE49-F238E27FC236}">
                <a16:creationId xmlns:a16="http://schemas.microsoft.com/office/drawing/2014/main" id="{BCE8A887-E689-62BF-3C4A-730B3D44A58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21</a:t>
            </a:fld>
            <a:endParaRPr lang="en-US" altLang="en-US"/>
          </a:p>
        </p:txBody>
      </p:sp>
      <p:graphicFrame>
        <p:nvGraphicFramePr>
          <p:cNvPr id="2" name="Table 1"/>
          <p:cNvGraphicFramePr>
            <a:graphicFrameLocks noGrp="1"/>
          </p:cNvGraphicFramePr>
          <p:nvPr>
            <p:extLst>
              <p:ext uri="{D42A27DB-BD31-4B8C-83A1-F6EECF244321}">
                <p14:modId xmlns:p14="http://schemas.microsoft.com/office/powerpoint/2010/main" val="420354735"/>
              </p:ext>
            </p:extLst>
          </p:nvPr>
        </p:nvGraphicFramePr>
        <p:xfrm>
          <a:off x="1732645" y="2454635"/>
          <a:ext cx="8177313" cy="3497130"/>
        </p:xfrm>
        <a:graphic>
          <a:graphicData uri="http://schemas.openxmlformats.org/drawingml/2006/table">
            <a:tbl>
              <a:tblPr>
                <a:tableStyleId>{3C2FFA5D-87B4-456A-9821-1D502468CF0F}</a:tableStyleId>
              </a:tblPr>
              <a:tblGrid>
                <a:gridCol w="1675249">
                  <a:extLst>
                    <a:ext uri="{9D8B030D-6E8A-4147-A177-3AD203B41FA5}">
                      <a16:colId xmlns:a16="http://schemas.microsoft.com/office/drawing/2014/main" val="20000"/>
                    </a:ext>
                  </a:extLst>
                </a:gridCol>
                <a:gridCol w="4230201">
                  <a:extLst>
                    <a:ext uri="{9D8B030D-6E8A-4147-A177-3AD203B41FA5}">
                      <a16:colId xmlns:a16="http://schemas.microsoft.com/office/drawing/2014/main" val="20001"/>
                    </a:ext>
                  </a:extLst>
                </a:gridCol>
                <a:gridCol w="2271863">
                  <a:extLst>
                    <a:ext uri="{9D8B030D-6E8A-4147-A177-3AD203B41FA5}">
                      <a16:colId xmlns:a16="http://schemas.microsoft.com/office/drawing/2014/main" val="20002"/>
                    </a:ext>
                  </a:extLst>
                </a:gridCol>
              </a:tblGrid>
              <a:tr h="394590">
                <a:tc>
                  <a:txBody>
                    <a:bodyPr/>
                    <a:lstStyle/>
                    <a:p>
                      <a:pPr algn="l"/>
                      <a:r>
                        <a:rPr lang="en-US" sz="1700" b="1">
                          <a:solidFill>
                            <a:sysClr val="windowText" lastClr="000000"/>
                          </a:solidFill>
                          <a:effectLst/>
                          <a:latin typeface="Times New Roman" pitchFamily="18" charset="0"/>
                          <a:cs typeface="Times New Roman" pitchFamily="18" charset="0"/>
                        </a:rPr>
                        <a:t>Method</a:t>
                      </a:r>
                    </a:p>
                  </a:txBody>
                  <a:tcPr marL="87008" marR="145013" marT="90633" marB="90633" anchor="ctr"/>
                </a:tc>
                <a:tc>
                  <a:txBody>
                    <a:bodyPr/>
                    <a:lstStyle/>
                    <a:p>
                      <a:pPr algn="l"/>
                      <a:r>
                        <a:rPr lang="en-US" sz="1700" b="1">
                          <a:solidFill>
                            <a:sysClr val="windowText" lastClr="000000"/>
                          </a:solidFill>
                          <a:effectLst/>
                          <a:latin typeface="Times New Roman" pitchFamily="18" charset="0"/>
                          <a:cs typeface="Times New Roman" pitchFamily="18" charset="0"/>
                        </a:rPr>
                        <a:t>Description</a:t>
                      </a:r>
                    </a:p>
                  </a:txBody>
                  <a:tcPr marL="145013" marR="145013" marT="90633" marB="90633" anchor="ctr"/>
                </a:tc>
                <a:tc>
                  <a:txBody>
                    <a:bodyPr/>
                    <a:lstStyle/>
                    <a:p>
                      <a:pPr algn="l"/>
                      <a:r>
                        <a:rPr lang="en-US" sz="1700" b="1" dirty="0">
                          <a:solidFill>
                            <a:sysClr val="windowText" lastClr="000000"/>
                          </a:solidFill>
                          <a:effectLst/>
                          <a:latin typeface="Times New Roman" pitchFamily="18" charset="0"/>
                          <a:cs typeface="Times New Roman" pitchFamily="18" charset="0"/>
                        </a:rPr>
                        <a:t>When to use</a:t>
                      </a:r>
                    </a:p>
                  </a:txBody>
                  <a:tcPr marL="145013" marR="145013" marT="90633" marB="90633" anchor="ctr"/>
                </a:tc>
                <a:extLst>
                  <a:ext uri="{0D108BD9-81ED-4DB2-BD59-A6C34878D82A}">
                    <a16:rowId xmlns:a16="http://schemas.microsoft.com/office/drawing/2014/main" val="10000"/>
                  </a:ext>
                </a:extLst>
              </a:tr>
              <a:tr h="623998">
                <a:tc>
                  <a:txBody>
                    <a:bodyPr/>
                    <a:lstStyle/>
                    <a:p>
                      <a:r>
                        <a:rPr lang="en-US" sz="1700">
                          <a:effectLst/>
                          <a:latin typeface="Times New Roman" pitchFamily="18" charset="0"/>
                          <a:cs typeface="Times New Roman" pitchFamily="18" charset="0"/>
                        </a:rPr>
                        <a:t>Remove</a:t>
                      </a:r>
                      <a:endParaRPr lang="en-US" sz="1700" b="0">
                        <a:effectLst/>
                        <a:latin typeface="Times New Roman" pitchFamily="18" charset="0"/>
                        <a:cs typeface="Times New Roman" pitchFamily="18" charset="0"/>
                      </a:endParaRPr>
                    </a:p>
                  </a:txBody>
                  <a:tcPr marL="87008" marR="145013" marT="90633" marB="90633" anchor="ctr"/>
                </a:tc>
                <a:tc>
                  <a:txBody>
                    <a:bodyPr/>
                    <a:lstStyle/>
                    <a:p>
                      <a:r>
                        <a:rPr lang="en-US" sz="1700">
                          <a:effectLst/>
                          <a:latin typeface="Times New Roman" pitchFamily="18" charset="0"/>
                          <a:cs typeface="Times New Roman" pitchFamily="18" charset="0"/>
                        </a:rPr>
                        <a:t>Delete outlier rows</a:t>
                      </a:r>
                      <a:endParaRPr lang="en-US" sz="1700" b="0">
                        <a:effectLst/>
                        <a:latin typeface="Times New Roman" pitchFamily="18" charset="0"/>
                        <a:cs typeface="Times New Roman" pitchFamily="18" charset="0"/>
                      </a:endParaRPr>
                    </a:p>
                  </a:txBody>
                  <a:tcPr marL="145013" marR="145013" marT="90633" marB="90633" anchor="ctr"/>
                </a:tc>
                <a:tc>
                  <a:txBody>
                    <a:bodyPr/>
                    <a:lstStyle/>
                    <a:p>
                      <a:r>
                        <a:rPr lang="en-US" sz="1700">
                          <a:effectLst/>
                          <a:latin typeface="Times New Roman" pitchFamily="18" charset="0"/>
                          <a:cs typeface="Times New Roman" pitchFamily="18" charset="0"/>
                        </a:rPr>
                        <a:t>Small number; known data entry errors</a:t>
                      </a:r>
                      <a:endParaRPr lang="en-US" sz="1700" b="0">
                        <a:effectLst/>
                        <a:latin typeface="Times New Roman" pitchFamily="18" charset="0"/>
                        <a:cs typeface="Times New Roman" pitchFamily="18" charset="0"/>
                      </a:endParaRPr>
                    </a:p>
                  </a:txBody>
                  <a:tcPr marL="145013" marR="87008" marT="90633" marB="90633" anchor="ctr"/>
                </a:tc>
                <a:extLst>
                  <a:ext uri="{0D108BD9-81ED-4DB2-BD59-A6C34878D82A}">
                    <a16:rowId xmlns:a16="http://schemas.microsoft.com/office/drawing/2014/main" val="10001"/>
                  </a:ext>
                </a:extLst>
              </a:tr>
              <a:tr h="623998">
                <a:tc>
                  <a:txBody>
                    <a:bodyPr/>
                    <a:lstStyle/>
                    <a:p>
                      <a:r>
                        <a:rPr lang="en-US" sz="1700">
                          <a:effectLst/>
                          <a:latin typeface="Times New Roman" pitchFamily="18" charset="0"/>
                          <a:cs typeface="Times New Roman" pitchFamily="18" charset="0"/>
                        </a:rPr>
                        <a:t>Cap / Winsorize</a:t>
                      </a:r>
                      <a:endParaRPr lang="en-US" sz="1700" b="0">
                        <a:effectLst/>
                        <a:latin typeface="Times New Roman" pitchFamily="18" charset="0"/>
                        <a:cs typeface="Times New Roman" pitchFamily="18" charset="0"/>
                      </a:endParaRPr>
                    </a:p>
                  </a:txBody>
                  <a:tcPr marL="87008" marR="145013" marT="90633" marB="90633" anchor="ctr"/>
                </a:tc>
                <a:tc>
                  <a:txBody>
                    <a:bodyPr/>
                    <a:lstStyle/>
                    <a:p>
                      <a:r>
                        <a:rPr lang="en-US" sz="1700">
                          <a:effectLst/>
                          <a:latin typeface="Times New Roman" pitchFamily="18" charset="0"/>
                          <a:cs typeface="Times New Roman" pitchFamily="18" charset="0"/>
                        </a:rPr>
                        <a:t>Replace outliers with nearest boundary value</a:t>
                      </a:r>
                      <a:endParaRPr lang="en-US" sz="1700" b="0">
                        <a:effectLst/>
                        <a:latin typeface="Times New Roman" pitchFamily="18" charset="0"/>
                        <a:cs typeface="Times New Roman" pitchFamily="18" charset="0"/>
                      </a:endParaRPr>
                    </a:p>
                  </a:txBody>
                  <a:tcPr marL="145013" marR="145013" marT="90633" marB="90633" anchor="ctr"/>
                </a:tc>
                <a:tc>
                  <a:txBody>
                    <a:bodyPr/>
                    <a:lstStyle/>
                    <a:p>
                      <a:r>
                        <a:rPr lang="en-US" sz="1700">
                          <a:effectLst/>
                          <a:latin typeface="Times New Roman" pitchFamily="18" charset="0"/>
                          <a:cs typeface="Times New Roman" pitchFamily="18" charset="0"/>
                        </a:rPr>
                        <a:t>Preserve sample size; mild outliers</a:t>
                      </a:r>
                      <a:endParaRPr lang="en-US" sz="1700" b="0">
                        <a:effectLst/>
                        <a:latin typeface="Times New Roman" pitchFamily="18" charset="0"/>
                        <a:cs typeface="Times New Roman" pitchFamily="18" charset="0"/>
                      </a:endParaRPr>
                    </a:p>
                  </a:txBody>
                  <a:tcPr marL="145013" marR="87008" marT="90633" marB="90633" anchor="ctr"/>
                </a:tc>
                <a:extLst>
                  <a:ext uri="{0D108BD9-81ED-4DB2-BD59-A6C34878D82A}">
                    <a16:rowId xmlns:a16="http://schemas.microsoft.com/office/drawing/2014/main" val="10002"/>
                  </a:ext>
                </a:extLst>
              </a:tr>
              <a:tr h="438638">
                <a:tc>
                  <a:txBody>
                    <a:bodyPr/>
                    <a:lstStyle/>
                    <a:p>
                      <a:r>
                        <a:rPr lang="en-US" sz="1700">
                          <a:effectLst/>
                          <a:latin typeface="Times New Roman" pitchFamily="18" charset="0"/>
                          <a:cs typeface="Times New Roman" pitchFamily="18" charset="0"/>
                        </a:rPr>
                        <a:t>Transform</a:t>
                      </a:r>
                      <a:endParaRPr lang="en-US" sz="1700" b="0">
                        <a:effectLst/>
                        <a:latin typeface="Times New Roman" pitchFamily="18" charset="0"/>
                        <a:cs typeface="Times New Roman" pitchFamily="18" charset="0"/>
                      </a:endParaRPr>
                    </a:p>
                  </a:txBody>
                  <a:tcPr marL="87008" marR="145013" marT="90633" marB="90633" anchor="ctr"/>
                </a:tc>
                <a:tc>
                  <a:txBody>
                    <a:bodyPr/>
                    <a:lstStyle/>
                    <a:p>
                      <a:r>
                        <a:rPr lang="en-US" sz="1700">
                          <a:effectLst/>
                          <a:latin typeface="Times New Roman" pitchFamily="18" charset="0"/>
                          <a:cs typeface="Times New Roman" pitchFamily="18" charset="0"/>
                        </a:rPr>
                        <a:t>Log, Box-Cox, etc.</a:t>
                      </a:r>
                      <a:endParaRPr lang="en-US" sz="1700" b="0">
                        <a:effectLst/>
                        <a:latin typeface="Times New Roman" pitchFamily="18" charset="0"/>
                        <a:cs typeface="Times New Roman" pitchFamily="18" charset="0"/>
                      </a:endParaRPr>
                    </a:p>
                  </a:txBody>
                  <a:tcPr marL="145013" marR="145013" marT="90633" marB="90633" anchor="ctr"/>
                </a:tc>
                <a:tc>
                  <a:txBody>
                    <a:bodyPr/>
                    <a:lstStyle/>
                    <a:p>
                      <a:r>
                        <a:rPr lang="en-US" sz="1700">
                          <a:effectLst/>
                          <a:latin typeface="Times New Roman" pitchFamily="18" charset="0"/>
                          <a:cs typeface="Times New Roman" pitchFamily="18" charset="0"/>
                        </a:rPr>
                        <a:t>Reduce skewness; keep all data</a:t>
                      </a:r>
                      <a:endParaRPr lang="en-US" sz="1700" b="0">
                        <a:effectLst/>
                        <a:latin typeface="Times New Roman" pitchFamily="18" charset="0"/>
                        <a:cs typeface="Times New Roman" pitchFamily="18" charset="0"/>
                      </a:endParaRPr>
                    </a:p>
                  </a:txBody>
                  <a:tcPr marL="145013" marR="87008" marT="90633" marB="90633" anchor="ctr"/>
                </a:tc>
                <a:extLst>
                  <a:ext uri="{0D108BD9-81ED-4DB2-BD59-A6C34878D82A}">
                    <a16:rowId xmlns:a16="http://schemas.microsoft.com/office/drawing/2014/main" val="10003"/>
                  </a:ext>
                </a:extLst>
              </a:tr>
              <a:tr h="580133">
                <a:tc>
                  <a:txBody>
                    <a:bodyPr/>
                    <a:lstStyle/>
                    <a:p>
                      <a:r>
                        <a:rPr lang="en-US" sz="1700">
                          <a:effectLst/>
                          <a:latin typeface="Times New Roman" pitchFamily="18" charset="0"/>
                          <a:cs typeface="Times New Roman" pitchFamily="18" charset="0"/>
                        </a:rPr>
                        <a:t>Treat separately</a:t>
                      </a:r>
                      <a:endParaRPr lang="en-US" sz="1700" b="0">
                        <a:effectLst/>
                        <a:latin typeface="Times New Roman" pitchFamily="18" charset="0"/>
                        <a:cs typeface="Times New Roman" pitchFamily="18" charset="0"/>
                      </a:endParaRPr>
                    </a:p>
                  </a:txBody>
                  <a:tcPr marL="87008" marR="145013" marT="90633" marB="90633" anchor="ctr"/>
                </a:tc>
                <a:tc>
                  <a:txBody>
                    <a:bodyPr/>
                    <a:lstStyle/>
                    <a:p>
                      <a:r>
                        <a:rPr lang="en-US" sz="1700">
                          <a:effectLst/>
                          <a:latin typeface="Times New Roman" pitchFamily="18" charset="0"/>
                          <a:cs typeface="Times New Roman" pitchFamily="18" charset="0"/>
                        </a:rPr>
                        <a:t>Keep as a separate category</a:t>
                      </a:r>
                      <a:endParaRPr lang="en-US" sz="1700" b="0">
                        <a:effectLst/>
                        <a:latin typeface="Times New Roman" pitchFamily="18" charset="0"/>
                        <a:cs typeface="Times New Roman" pitchFamily="18" charset="0"/>
                      </a:endParaRPr>
                    </a:p>
                  </a:txBody>
                  <a:tcPr marL="145013" marR="145013" marT="90633" marB="90633" anchor="ctr"/>
                </a:tc>
                <a:tc>
                  <a:txBody>
                    <a:bodyPr/>
                    <a:lstStyle/>
                    <a:p>
                      <a:r>
                        <a:rPr lang="en-US" sz="1700" dirty="0">
                          <a:effectLst/>
                          <a:latin typeface="Times New Roman" pitchFamily="18" charset="0"/>
                          <a:cs typeface="Times New Roman" pitchFamily="18" charset="0"/>
                        </a:rPr>
                        <a:t>Meaningful outliers (e.g., fraud, extreme events)</a:t>
                      </a:r>
                      <a:endParaRPr lang="en-US" sz="1700" b="0" dirty="0">
                        <a:effectLst/>
                        <a:latin typeface="Times New Roman" pitchFamily="18" charset="0"/>
                        <a:cs typeface="Times New Roman" pitchFamily="18" charset="0"/>
                      </a:endParaRPr>
                    </a:p>
                  </a:txBody>
                  <a:tcPr marL="145013" marR="87008" marT="90633" marB="90633" anchor="ctr"/>
                </a:tc>
                <a:extLst>
                  <a:ext uri="{0D108BD9-81ED-4DB2-BD59-A6C34878D82A}">
                    <a16:rowId xmlns:a16="http://schemas.microsoft.com/office/drawing/2014/main" val="10004"/>
                  </a:ext>
                </a:extLst>
              </a:tr>
            </a:tbl>
          </a:graphicData>
        </a:graphic>
      </p:graphicFrame>
      <p:sp>
        <p:nvSpPr>
          <p:cNvPr id="3" name="Rectangle 2"/>
          <p:cNvSpPr/>
          <p:nvPr/>
        </p:nvSpPr>
        <p:spPr>
          <a:xfrm>
            <a:off x="1121364" y="1663283"/>
            <a:ext cx="2650406" cy="461665"/>
          </a:xfrm>
          <a:prstGeom prst="rect">
            <a:avLst/>
          </a:prstGeom>
        </p:spPr>
        <p:txBody>
          <a:bodyPr wrap="none">
            <a:spAutoFit/>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Outliers Handling</a:t>
            </a:r>
          </a:p>
        </p:txBody>
      </p:sp>
    </p:spTree>
    <p:extLst>
      <p:ext uri="{BB962C8B-B14F-4D97-AF65-F5344CB8AC3E}">
        <p14:creationId xmlns:p14="http://schemas.microsoft.com/office/powerpoint/2010/main" val="1986422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47131-CA0A-EC73-6057-C4E9D633D6CD}"/>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0B9075FF-6E7D-DF28-B3F3-932ABBB418BF}"/>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2EC3C862-1EBA-727B-5AFC-C743BDA01474}"/>
              </a:ext>
            </a:extLst>
          </p:cNvPr>
          <p:cNvSpPr>
            <a:spLocks noGrp="1"/>
          </p:cNvSpPr>
          <p:nvPr>
            <p:ph idx="1"/>
          </p:nvPr>
        </p:nvSpPr>
        <p:spPr>
          <a:xfrm>
            <a:off x="1143000" y="1655763"/>
            <a:ext cx="9872663"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Handling Noise</a:t>
            </a:r>
          </a:p>
          <a:p>
            <a:pPr marL="80963" lvl="1" indent="0" algn="just" eaLnBrk="1" hangingPunct="1">
              <a:buClr>
                <a:srgbClr val="0B5395"/>
              </a:buClr>
              <a:buNone/>
            </a:pPr>
            <a:r>
              <a:rPr lang="en-US" altLang="en-US" sz="2400" dirty="0">
                <a:latin typeface="Times New Roman" pitchFamily="18" charset="0"/>
                <a:cs typeface="Times New Roman" pitchFamily="18" charset="0"/>
              </a:rPr>
              <a:t>Handling noise involves using "smoothing" techniques to remove random fluctuations and reveal the underlying trend.</a:t>
            </a:r>
          </a:p>
          <a:p>
            <a:pPr marL="80963" lvl="1" indent="0" algn="just" eaLnBrk="1" hangingPunct="1">
              <a:buClr>
                <a:srgbClr val="0B5395"/>
              </a:buClr>
              <a:buNone/>
            </a:pPr>
            <a:r>
              <a:rPr lang="en-US" altLang="en-US" sz="2400" i="1" dirty="0">
                <a:latin typeface="Times New Roman" pitchFamily="18" charset="0"/>
                <a:cs typeface="Times New Roman" pitchFamily="18" charset="0"/>
              </a:rPr>
              <a:t>1. Binning: </a:t>
            </a:r>
          </a:p>
          <a:p>
            <a:pPr marL="80963" lvl="1" indent="0" algn="just" eaLnBrk="1" hangingPunct="1">
              <a:buClr>
                <a:srgbClr val="0B5395"/>
              </a:buClr>
              <a:buNone/>
            </a:pPr>
            <a:r>
              <a:rPr lang="en-US" altLang="en-US" sz="2400" dirty="0">
                <a:latin typeface="Times New Roman" pitchFamily="18" charset="0"/>
                <a:cs typeface="Times New Roman" pitchFamily="18" charset="0"/>
              </a:rPr>
              <a:t>This method groups a range of continuous values into "bins" or intervals. After creating the bins, you can smooth the data by replacing every value in a bin with the bin's mean, median, or boundary value.</a:t>
            </a:r>
          </a:p>
          <a:p>
            <a:pPr marL="423863" lvl="1" indent="-342900" algn="just" eaLnBrk="1" hangingPunct="1">
              <a:buClr>
                <a:srgbClr val="0B5395"/>
              </a:buClr>
            </a:pPr>
            <a:r>
              <a:rPr lang="en-US" altLang="en-US" sz="2400" dirty="0">
                <a:latin typeface="Times New Roman" pitchFamily="18" charset="0"/>
                <a:cs typeface="Times New Roman" pitchFamily="18" charset="0"/>
              </a:rPr>
              <a:t>Example: Imagine the sorted price data: [3, 5, 8, 15, 16, 17, 25, 26, 30]. </a:t>
            </a:r>
          </a:p>
          <a:p>
            <a:pPr marL="423863" lvl="1" indent="-342900" algn="just" eaLnBrk="1" hangingPunct="1">
              <a:buClr>
                <a:srgbClr val="0B5395"/>
              </a:buClr>
            </a:pPr>
            <a:r>
              <a:rPr lang="en-US" altLang="en-US" sz="2400" dirty="0">
                <a:latin typeface="Times New Roman" pitchFamily="18" charset="0"/>
                <a:cs typeface="Times New Roman" pitchFamily="18" charset="0"/>
              </a:rPr>
              <a:t>You could create 3 bins: [3, 5, 8], [15, 16, 17], and [25, 26, 30]. </a:t>
            </a:r>
          </a:p>
          <a:p>
            <a:pPr marL="423863" lvl="1" indent="-342900" algn="just" eaLnBrk="1" hangingPunct="1">
              <a:buClr>
                <a:srgbClr val="0B5395"/>
              </a:buClr>
            </a:pPr>
            <a:r>
              <a:rPr lang="en-US" altLang="en-US" sz="2400" dirty="0">
                <a:latin typeface="Times New Roman" pitchFamily="18" charset="0"/>
                <a:cs typeface="Times New Roman" pitchFamily="18" charset="0"/>
              </a:rPr>
              <a:t>If you smooth by the mean, the data becomes [5.3, 5.3, 5.3], [16, 16, 16], and [27, 27, 27].</a:t>
            </a:r>
          </a:p>
        </p:txBody>
      </p:sp>
      <p:sp>
        <p:nvSpPr>
          <p:cNvPr id="5124" name="Slide Number Placeholder 1">
            <a:extLst>
              <a:ext uri="{FF2B5EF4-FFF2-40B4-BE49-F238E27FC236}">
                <a16:creationId xmlns:a16="http://schemas.microsoft.com/office/drawing/2014/main" id="{950C8815-F087-4820-096D-832C3F83FA6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22</a:t>
            </a:fld>
            <a:endParaRPr lang="en-US" altLang="en-US"/>
          </a:p>
        </p:txBody>
      </p:sp>
    </p:spTree>
    <p:extLst>
      <p:ext uri="{BB962C8B-B14F-4D97-AF65-F5344CB8AC3E}">
        <p14:creationId xmlns:p14="http://schemas.microsoft.com/office/powerpoint/2010/main" val="14283667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FCD3E-8563-75F7-CE55-BBA08F93056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640D6957-D754-3161-EB8D-CF4201639F2D}"/>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Cleaning</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B83762EC-CD10-22F8-A541-C3F5F2FA9B1A}"/>
              </a:ext>
            </a:extLst>
          </p:cNvPr>
          <p:cNvSpPr>
            <a:spLocks noGrp="1"/>
          </p:cNvSpPr>
          <p:nvPr>
            <p:ph idx="1"/>
          </p:nvPr>
        </p:nvSpPr>
        <p:spPr>
          <a:xfrm>
            <a:off x="1143000" y="1655763"/>
            <a:ext cx="9872663"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Handling Noise</a:t>
            </a:r>
          </a:p>
          <a:p>
            <a:pPr marL="80963" lvl="1" indent="0" algn="just" eaLnBrk="1" hangingPunct="1">
              <a:buClr>
                <a:srgbClr val="0B5395"/>
              </a:buClr>
              <a:buNone/>
            </a:pPr>
            <a:r>
              <a:rPr lang="en-US" altLang="en-US" sz="2400" i="1" dirty="0">
                <a:latin typeface="Times New Roman" pitchFamily="18" charset="0"/>
                <a:cs typeface="Times New Roman" pitchFamily="18" charset="0"/>
              </a:rPr>
              <a:t>2. Regression: </a:t>
            </a:r>
          </a:p>
          <a:p>
            <a:pPr marL="80963" lvl="1" indent="0" algn="just" eaLnBrk="1" hangingPunct="1">
              <a:buClr>
                <a:srgbClr val="0B5395"/>
              </a:buClr>
              <a:buNone/>
            </a:pPr>
            <a:r>
              <a:rPr lang="en-US" altLang="en-US" sz="2400" dirty="0">
                <a:latin typeface="Times New Roman" pitchFamily="18" charset="0"/>
                <a:cs typeface="Times New Roman" pitchFamily="18" charset="0"/>
              </a:rPr>
              <a:t>You can fit a regression line (or curve) to the data. The data points on this line are considered the "smoothed," noise-free values. The original data points are then replaced with their corresponding values on the regression line.</a:t>
            </a:r>
          </a:p>
          <a:p>
            <a:pPr marL="80963" lvl="1" indent="0" algn="just" eaLnBrk="1" hangingPunct="1">
              <a:buClr>
                <a:srgbClr val="0B5395"/>
              </a:buClr>
              <a:buNone/>
            </a:pPr>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dirty="0">
                <a:latin typeface="Times New Roman" pitchFamily="18" charset="0"/>
                <a:cs typeface="Times New Roman" pitchFamily="18" charset="0"/>
              </a:rPr>
              <a:t>3. Moving Averages: </a:t>
            </a:r>
          </a:p>
          <a:p>
            <a:pPr marL="80963" lvl="1" indent="0" algn="just" eaLnBrk="1" hangingPunct="1">
              <a:buClr>
                <a:srgbClr val="0B5395"/>
              </a:buClr>
              <a:buNone/>
            </a:pPr>
            <a:r>
              <a:rPr lang="en-US" altLang="en-US" sz="2400" dirty="0">
                <a:latin typeface="Times New Roman" pitchFamily="18" charset="0"/>
                <a:cs typeface="Times New Roman" pitchFamily="18" charset="0"/>
              </a:rPr>
              <a:t>This is very common for time-series data (like stock prices or temperature readings). It smooths the data by calculating the average of a "sliding window" of a fixed size. For example, a 7-day moving average would replace each day's value with the average of that day, the 3 previous days, and the 3 following days. This smooths out daily fluctuations and highlights the longer-term trend.</a:t>
            </a:r>
          </a:p>
        </p:txBody>
      </p:sp>
      <p:sp>
        <p:nvSpPr>
          <p:cNvPr id="5124" name="Slide Number Placeholder 1">
            <a:extLst>
              <a:ext uri="{FF2B5EF4-FFF2-40B4-BE49-F238E27FC236}">
                <a16:creationId xmlns:a16="http://schemas.microsoft.com/office/drawing/2014/main" id="{493C47EC-090C-3CF7-98BD-F091EFD126C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23</a:t>
            </a:fld>
            <a:endParaRPr lang="en-US" altLang="en-US"/>
          </a:p>
        </p:txBody>
      </p:sp>
    </p:spTree>
    <p:extLst>
      <p:ext uri="{BB962C8B-B14F-4D97-AF65-F5344CB8AC3E}">
        <p14:creationId xmlns:p14="http://schemas.microsoft.com/office/powerpoint/2010/main" val="3233989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C5C8E-FEB8-617A-977D-71C27013670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22F430E-D961-1E71-F27A-54DBCBE0B7B8}"/>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FFFE327F-0464-73FB-0185-EE034C8488B4}"/>
              </a:ext>
            </a:extLst>
          </p:cNvPr>
          <p:cNvSpPr>
            <a:spLocks noGrp="1"/>
          </p:cNvSpPr>
          <p:nvPr>
            <p:ph idx="1"/>
          </p:nvPr>
        </p:nvSpPr>
        <p:spPr>
          <a:xfrm>
            <a:off x="579663" y="1598613"/>
            <a:ext cx="7209065"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Data Wrangling</a:t>
            </a:r>
          </a:p>
          <a:p>
            <a:pPr marL="80963" lvl="1" indent="0" algn="just" eaLnBrk="1" hangingPunct="1">
              <a:buClr>
                <a:srgbClr val="0B5395"/>
              </a:buClr>
              <a:buNone/>
            </a:pPr>
            <a:r>
              <a:rPr lang="en-US" altLang="en-US" dirty="0">
                <a:latin typeface="Times New Roman" pitchFamily="18" charset="0"/>
                <a:cs typeface="Times New Roman" pitchFamily="18" charset="0"/>
              </a:rPr>
              <a:t>Data Wrangling (also called Data </a:t>
            </a:r>
            <a:r>
              <a:rPr lang="en-US" altLang="en-US" dirty="0" err="1">
                <a:latin typeface="Times New Roman" pitchFamily="18" charset="0"/>
                <a:cs typeface="Times New Roman" pitchFamily="18" charset="0"/>
              </a:rPr>
              <a:t>Munging</a:t>
            </a:r>
            <a:r>
              <a:rPr lang="en-US" altLang="en-US" dirty="0">
                <a:latin typeface="Times New Roman" pitchFamily="18" charset="0"/>
                <a:cs typeface="Times New Roman" pitchFamily="18" charset="0"/>
              </a:rPr>
              <a:t>) is the process of transforming raw data into a clean, structured, and analysis-ready format.</a:t>
            </a:r>
          </a:p>
          <a:p>
            <a:pPr marL="80963" lvl="1" indent="0" algn="just" eaLnBrk="1" hangingPunct="1">
              <a:buClr>
                <a:srgbClr val="0B5395"/>
              </a:buClr>
              <a:buNone/>
            </a:pPr>
            <a:r>
              <a:rPr lang="en-US" altLang="en-US" b="1" dirty="0">
                <a:latin typeface="Times New Roman" pitchFamily="18" charset="0"/>
                <a:cs typeface="Times New Roman" pitchFamily="18" charset="0"/>
              </a:rPr>
              <a:t>Goal</a:t>
            </a:r>
          </a:p>
          <a:p>
            <a:pPr marL="423863" lvl="1" indent="-342900" algn="just" eaLnBrk="1" hangingPunct="1">
              <a:buClr>
                <a:srgbClr val="0B5395"/>
              </a:buClr>
            </a:pPr>
            <a:r>
              <a:rPr lang="en-US" altLang="en-US" dirty="0">
                <a:latin typeface="Times New Roman" pitchFamily="18" charset="0"/>
                <a:cs typeface="Times New Roman" pitchFamily="18" charset="0"/>
              </a:rPr>
              <a:t>Organize data</a:t>
            </a:r>
          </a:p>
          <a:p>
            <a:pPr marL="423863" lvl="1" indent="-342900" algn="just" eaLnBrk="1" hangingPunct="1">
              <a:buClr>
                <a:srgbClr val="0B5395"/>
              </a:buClr>
            </a:pPr>
            <a:r>
              <a:rPr lang="en-US" altLang="en-US" dirty="0">
                <a:latin typeface="Times New Roman" pitchFamily="18" charset="0"/>
                <a:cs typeface="Times New Roman" pitchFamily="18" charset="0"/>
              </a:rPr>
              <a:t>Restructure data</a:t>
            </a:r>
          </a:p>
          <a:p>
            <a:pPr marL="423863" lvl="1" indent="-342900" algn="just" eaLnBrk="1" hangingPunct="1">
              <a:buClr>
                <a:srgbClr val="0B5395"/>
              </a:buClr>
            </a:pPr>
            <a:r>
              <a:rPr lang="en-US" altLang="en-US" dirty="0">
                <a:latin typeface="Times New Roman" pitchFamily="18" charset="0"/>
                <a:cs typeface="Times New Roman" pitchFamily="18" charset="0"/>
              </a:rPr>
              <a:t>Combine data from multiple sources</a:t>
            </a:r>
          </a:p>
          <a:p>
            <a:pPr marL="423863" lvl="1" indent="-342900" algn="just" eaLnBrk="1" hangingPunct="1">
              <a:buClr>
                <a:srgbClr val="0B5395"/>
              </a:buClr>
            </a:pPr>
            <a:r>
              <a:rPr lang="en-US" altLang="en-US" dirty="0">
                <a:latin typeface="Times New Roman" pitchFamily="18" charset="0"/>
                <a:cs typeface="Times New Roman" pitchFamily="18" charset="0"/>
              </a:rPr>
              <a:t>Prepare data for analysis and machine learning</a:t>
            </a:r>
          </a:p>
        </p:txBody>
      </p:sp>
      <p:sp>
        <p:nvSpPr>
          <p:cNvPr id="5124" name="Slide Number Placeholder 1">
            <a:extLst>
              <a:ext uri="{FF2B5EF4-FFF2-40B4-BE49-F238E27FC236}">
                <a16:creationId xmlns:a16="http://schemas.microsoft.com/office/drawing/2014/main" id="{526FA3D8-42EE-BA01-D4D3-795ED3E4C3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24</a:t>
            </a:fld>
            <a:endParaRPr lang="en-US" altLang="en-US"/>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7463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C5C8E-FEB8-617A-977D-71C27013670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22F430E-D961-1E71-F27A-54DBCBE0B7B8}"/>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FFFE327F-0464-73FB-0185-EE034C8488B4}"/>
              </a:ext>
            </a:extLst>
          </p:cNvPr>
          <p:cNvSpPr>
            <a:spLocks noGrp="1"/>
          </p:cNvSpPr>
          <p:nvPr>
            <p:ph idx="1"/>
          </p:nvPr>
        </p:nvSpPr>
        <p:spPr>
          <a:xfrm>
            <a:off x="579663" y="1598613"/>
            <a:ext cx="7209065"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Tidy Data</a:t>
            </a:r>
          </a:p>
          <a:p>
            <a:pPr marL="80963" lvl="1" indent="0" algn="just" eaLnBrk="1" hangingPunct="1">
              <a:buClr>
                <a:srgbClr val="0B5395"/>
              </a:buClr>
              <a:buNone/>
            </a:pPr>
            <a:r>
              <a:rPr lang="en-US" altLang="en-US" dirty="0">
                <a:latin typeface="Times New Roman" pitchFamily="18" charset="0"/>
                <a:cs typeface="Times New Roman" pitchFamily="18" charset="0"/>
              </a:rPr>
              <a:t>Tidy Data is a standardized way of organizing data where:</a:t>
            </a:r>
          </a:p>
          <a:p>
            <a:pPr marL="423863" lvl="1" indent="-342900" algn="just" eaLnBrk="1" hangingPunct="1">
              <a:buClr>
                <a:srgbClr val="0B5395"/>
              </a:buClr>
            </a:pPr>
            <a:r>
              <a:rPr lang="en-US" altLang="en-US" dirty="0">
                <a:latin typeface="Times New Roman" pitchFamily="18" charset="0"/>
                <a:cs typeface="Times New Roman" pitchFamily="18" charset="0"/>
              </a:rPr>
              <a:t>Each variable forms a column</a:t>
            </a:r>
          </a:p>
          <a:p>
            <a:pPr marL="423863" lvl="1" indent="-342900" algn="just" eaLnBrk="1" hangingPunct="1">
              <a:buClr>
                <a:srgbClr val="0B5395"/>
              </a:buClr>
            </a:pPr>
            <a:r>
              <a:rPr lang="en-US" altLang="en-US" dirty="0">
                <a:latin typeface="Times New Roman" pitchFamily="18" charset="0"/>
                <a:cs typeface="Times New Roman" pitchFamily="18" charset="0"/>
              </a:rPr>
              <a:t>Each observation forms a row</a:t>
            </a:r>
          </a:p>
          <a:p>
            <a:pPr marL="423863" lvl="1" indent="-342900" algn="just" eaLnBrk="1" hangingPunct="1">
              <a:buClr>
                <a:srgbClr val="0B5395"/>
              </a:buClr>
            </a:pPr>
            <a:r>
              <a:rPr lang="en-US" altLang="en-US" dirty="0">
                <a:latin typeface="Times New Roman" pitchFamily="18" charset="0"/>
                <a:cs typeface="Times New Roman" pitchFamily="18" charset="0"/>
              </a:rPr>
              <a:t>Each value occupies a single cell</a:t>
            </a:r>
          </a:p>
          <a:p>
            <a:pPr marL="80963" lvl="1" indent="0" algn="just" eaLnBrk="1" hangingPunct="1">
              <a:buClr>
                <a:srgbClr val="0B5395"/>
              </a:buClr>
              <a:buNone/>
            </a:pPr>
            <a:r>
              <a:rPr lang="en-US" altLang="en-US" dirty="0">
                <a:latin typeface="Times New Roman" pitchFamily="18" charset="0"/>
                <a:cs typeface="Times New Roman" pitchFamily="18" charset="0"/>
              </a:rPr>
              <a:t>These principles were popularized by Hadley Wickham.</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Most data analysis and visualization tools work best when data follows a consistent structure.</a:t>
            </a:r>
          </a:p>
          <a:p>
            <a:pPr marL="80963" lvl="1" indent="0" algn="just" eaLnBrk="1" hangingPunct="1">
              <a:buClr>
                <a:srgbClr val="0B5395"/>
              </a:buClr>
              <a:buNone/>
            </a:pPr>
            <a:r>
              <a:rPr lang="en-US" altLang="en-US" dirty="0">
                <a:latin typeface="Times New Roman" pitchFamily="18" charset="0"/>
                <a:cs typeface="Times New Roman" pitchFamily="18" charset="0"/>
              </a:rPr>
              <a:t>Benefits:</a:t>
            </a:r>
          </a:p>
          <a:p>
            <a:pPr marL="423863" lvl="1" indent="-342900" algn="just" eaLnBrk="1" hangingPunct="1">
              <a:buClr>
                <a:srgbClr val="0B5395"/>
              </a:buClr>
            </a:pPr>
            <a:r>
              <a:rPr lang="en-US" altLang="en-US" dirty="0">
                <a:latin typeface="Times New Roman" pitchFamily="18" charset="0"/>
                <a:cs typeface="Times New Roman" pitchFamily="18" charset="0"/>
              </a:rPr>
              <a:t>Easier analysis</a:t>
            </a:r>
          </a:p>
          <a:p>
            <a:pPr marL="423863" lvl="1" indent="-342900" algn="just" eaLnBrk="1" hangingPunct="1">
              <a:buClr>
                <a:srgbClr val="0B5395"/>
              </a:buClr>
            </a:pPr>
            <a:r>
              <a:rPr lang="en-US" altLang="en-US" dirty="0">
                <a:latin typeface="Times New Roman" pitchFamily="18" charset="0"/>
                <a:cs typeface="Times New Roman" pitchFamily="18" charset="0"/>
              </a:rPr>
              <a:t>Easier visualization</a:t>
            </a:r>
          </a:p>
          <a:p>
            <a:pPr marL="423863" lvl="1" indent="-342900" algn="just" eaLnBrk="1" hangingPunct="1">
              <a:buClr>
                <a:srgbClr val="0B5395"/>
              </a:buClr>
            </a:pPr>
            <a:r>
              <a:rPr lang="en-US" altLang="en-US" dirty="0">
                <a:latin typeface="Times New Roman" pitchFamily="18" charset="0"/>
                <a:cs typeface="Times New Roman" pitchFamily="18" charset="0"/>
              </a:rPr>
              <a:t>Easier data manipulation</a:t>
            </a:r>
          </a:p>
        </p:txBody>
      </p:sp>
      <p:sp>
        <p:nvSpPr>
          <p:cNvPr id="5124" name="Slide Number Placeholder 1">
            <a:extLst>
              <a:ext uri="{FF2B5EF4-FFF2-40B4-BE49-F238E27FC236}">
                <a16:creationId xmlns:a16="http://schemas.microsoft.com/office/drawing/2014/main" id="{526FA3D8-42EE-BA01-D4D3-795ED3E4C3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25</a:t>
            </a:fld>
            <a:endParaRPr lang="en-US"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6233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C5C8E-FEB8-617A-977D-71C27013670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22F430E-D961-1E71-F27A-54DBCBE0B7B8}"/>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FFFE327F-0464-73FB-0185-EE034C8488B4}"/>
              </a:ext>
            </a:extLst>
          </p:cNvPr>
          <p:cNvSpPr>
            <a:spLocks noGrp="1"/>
          </p:cNvSpPr>
          <p:nvPr>
            <p:ph idx="1"/>
          </p:nvPr>
        </p:nvSpPr>
        <p:spPr>
          <a:xfrm>
            <a:off x="579663" y="1598613"/>
            <a:ext cx="7209065"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Common Data Wrangling Tasks: </a:t>
            </a:r>
          </a:p>
          <a:p>
            <a:pPr marL="80963" lvl="1" indent="0" algn="just" eaLnBrk="1" hangingPunct="1">
              <a:buClr>
                <a:srgbClr val="0B5395"/>
              </a:buClr>
              <a:buNone/>
            </a:pPr>
            <a:r>
              <a:rPr lang="en-US" altLang="en-US" b="1" dirty="0">
                <a:latin typeface="Times New Roman" pitchFamily="18" charset="0"/>
                <a:cs typeface="Times New Roman" pitchFamily="18" charset="0"/>
              </a:rPr>
              <a:t>Filtering: </a:t>
            </a:r>
            <a:r>
              <a:rPr lang="en-US" altLang="en-US" dirty="0">
                <a:latin typeface="Times New Roman" pitchFamily="18" charset="0"/>
                <a:cs typeface="Times New Roman" pitchFamily="18" charset="0"/>
              </a:rPr>
              <a:t>Select rows that satisfy specific conditions.</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Filter: CGPA &gt; 3.5</a:t>
            </a:r>
          </a:p>
        </p:txBody>
      </p:sp>
      <p:sp>
        <p:nvSpPr>
          <p:cNvPr id="5124" name="Slide Number Placeholder 1">
            <a:extLst>
              <a:ext uri="{FF2B5EF4-FFF2-40B4-BE49-F238E27FC236}">
                <a16:creationId xmlns:a16="http://schemas.microsoft.com/office/drawing/2014/main" id="{526FA3D8-42EE-BA01-D4D3-795ED3E4C3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26</a:t>
            </a:fld>
            <a:endParaRPr lang="en-US" alt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a:extLst>
              <a:ext uri="{FF2B5EF4-FFF2-40B4-BE49-F238E27FC236}">
                <a16:creationId xmlns:a16="http://schemas.microsoft.com/office/drawing/2014/main" id="{AE98D73B-C1E2-08FC-DB9C-6B7FCB4ABE63}"/>
              </a:ext>
            </a:extLst>
          </p:cNvPr>
          <p:cNvGraphicFramePr>
            <a:graphicFrameLocks noGrp="1"/>
          </p:cNvGraphicFramePr>
          <p:nvPr>
            <p:extLst>
              <p:ext uri="{D42A27DB-BD31-4B8C-83A1-F6EECF244321}">
                <p14:modId xmlns:p14="http://schemas.microsoft.com/office/powerpoint/2010/main" val="2762404486"/>
              </p:ext>
            </p:extLst>
          </p:nvPr>
        </p:nvGraphicFramePr>
        <p:xfrm>
          <a:off x="1427480" y="2355691"/>
          <a:ext cx="1872806" cy="146304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2244762853"/>
                    </a:ext>
                  </a:extLst>
                </a:gridCol>
                <a:gridCol w="870776">
                  <a:extLst>
                    <a:ext uri="{9D8B030D-6E8A-4147-A177-3AD203B41FA5}">
                      <a16:colId xmlns:a16="http://schemas.microsoft.com/office/drawing/2014/main" val="2402200265"/>
                    </a:ext>
                  </a:extLst>
                </a:gridCol>
              </a:tblGrid>
              <a:tr h="365760">
                <a:tc>
                  <a:txBody>
                    <a:bodyPr/>
                    <a:lstStyle/>
                    <a:p>
                      <a:pPr>
                        <a:buNone/>
                      </a:pPr>
                      <a:r>
                        <a:rPr lang="en-US" sz="1800" b="1" dirty="0">
                          <a:latin typeface="Times New Roman" panose="02020603050405020304" pitchFamily="18" charset="0"/>
                          <a:cs typeface="Times New Roman" panose="02020603050405020304" pitchFamily="18" charset="0"/>
                        </a:rPr>
                        <a:t>Student</a:t>
                      </a:r>
                    </a:p>
                  </a:txBody>
                  <a:tcPr anchor="ctr"/>
                </a:tc>
                <a:tc>
                  <a:txBody>
                    <a:bodyPr/>
                    <a:lstStyle/>
                    <a:p>
                      <a:pPr>
                        <a:buNone/>
                      </a:pPr>
                      <a:r>
                        <a:rPr lang="en-US" sz="1800" b="1" dirty="0">
                          <a:latin typeface="Times New Roman" panose="02020603050405020304" pitchFamily="18" charset="0"/>
                          <a:cs typeface="Times New Roman" panose="02020603050405020304" pitchFamily="18" charset="0"/>
                        </a:rPr>
                        <a:t>CGPA</a:t>
                      </a:r>
                    </a:p>
                  </a:txBody>
                  <a:tcPr anchor="ctr"/>
                </a:tc>
                <a:extLst>
                  <a:ext uri="{0D108BD9-81ED-4DB2-BD59-A6C34878D82A}">
                    <a16:rowId xmlns:a16="http://schemas.microsoft.com/office/drawing/2014/main" val="885364518"/>
                  </a:ext>
                </a:extLst>
              </a:tr>
              <a:tr h="365760">
                <a:tc>
                  <a:txBody>
                    <a:bodyPr/>
                    <a:lstStyle/>
                    <a:p>
                      <a:pPr>
                        <a:buNone/>
                      </a:pPr>
                      <a:r>
                        <a:rPr lang="en-US" sz="1800">
                          <a:latin typeface="Times New Roman" panose="02020603050405020304" pitchFamily="18" charset="0"/>
                          <a:cs typeface="Times New Roman" panose="02020603050405020304" pitchFamily="18" charset="0"/>
                        </a:rPr>
                        <a:t>Rahim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3.8</a:t>
                      </a:r>
                    </a:p>
                  </a:txBody>
                  <a:tcPr anchor="ctr"/>
                </a:tc>
                <a:extLst>
                  <a:ext uri="{0D108BD9-81ED-4DB2-BD59-A6C34878D82A}">
                    <a16:rowId xmlns:a16="http://schemas.microsoft.com/office/drawing/2014/main" val="1502360240"/>
                  </a:ext>
                </a:extLst>
              </a:tr>
              <a:tr h="365760">
                <a:tc>
                  <a:txBody>
                    <a:bodyPr/>
                    <a:lstStyle/>
                    <a:p>
                      <a:pPr>
                        <a:buNone/>
                      </a:pPr>
                      <a:r>
                        <a:rPr lang="en-US" sz="1800">
                          <a:latin typeface="Times New Roman" panose="02020603050405020304" pitchFamily="18" charset="0"/>
                          <a:cs typeface="Times New Roman" panose="02020603050405020304" pitchFamily="18" charset="0"/>
                        </a:rPr>
                        <a:t>Karim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3.2</a:t>
                      </a:r>
                    </a:p>
                  </a:txBody>
                  <a:tcPr anchor="ctr"/>
                </a:tc>
                <a:extLst>
                  <a:ext uri="{0D108BD9-81ED-4DB2-BD59-A6C34878D82A}">
                    <a16:rowId xmlns:a16="http://schemas.microsoft.com/office/drawing/2014/main" val="1875252299"/>
                  </a:ext>
                </a:extLst>
              </a:tr>
              <a:tr h="365760">
                <a:tc>
                  <a:txBody>
                    <a:bodyPr/>
                    <a:lstStyle/>
                    <a:p>
                      <a:pPr>
                        <a:buNone/>
                      </a:pPr>
                      <a:r>
                        <a:rPr lang="en-US" sz="1800">
                          <a:latin typeface="Times New Roman" panose="02020603050405020304" pitchFamily="18" charset="0"/>
                          <a:cs typeface="Times New Roman" panose="02020603050405020304" pitchFamily="18" charset="0"/>
                        </a:rPr>
                        <a:t>Nabila</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3.9</a:t>
                      </a:r>
                    </a:p>
                  </a:txBody>
                  <a:tcPr anchor="ctr"/>
                </a:tc>
                <a:extLst>
                  <a:ext uri="{0D108BD9-81ED-4DB2-BD59-A6C34878D82A}">
                    <a16:rowId xmlns:a16="http://schemas.microsoft.com/office/drawing/2014/main" val="3708187866"/>
                  </a:ext>
                </a:extLst>
              </a:tr>
            </a:tbl>
          </a:graphicData>
        </a:graphic>
      </p:graphicFrame>
      <p:graphicFrame>
        <p:nvGraphicFramePr>
          <p:cNvPr id="4" name="Table 3">
            <a:extLst>
              <a:ext uri="{FF2B5EF4-FFF2-40B4-BE49-F238E27FC236}">
                <a16:creationId xmlns:a16="http://schemas.microsoft.com/office/drawing/2014/main" id="{2C923327-EA89-B02F-14B2-7BDBF2C1755A}"/>
              </a:ext>
            </a:extLst>
          </p:cNvPr>
          <p:cNvGraphicFramePr>
            <a:graphicFrameLocks noGrp="1"/>
          </p:cNvGraphicFramePr>
          <p:nvPr>
            <p:extLst>
              <p:ext uri="{D42A27DB-BD31-4B8C-83A1-F6EECF244321}">
                <p14:modId xmlns:p14="http://schemas.microsoft.com/office/powerpoint/2010/main" val="1222178102"/>
              </p:ext>
            </p:extLst>
          </p:nvPr>
        </p:nvGraphicFramePr>
        <p:xfrm>
          <a:off x="1427480" y="4575810"/>
          <a:ext cx="1872806" cy="109728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2244762853"/>
                    </a:ext>
                  </a:extLst>
                </a:gridCol>
                <a:gridCol w="870776">
                  <a:extLst>
                    <a:ext uri="{9D8B030D-6E8A-4147-A177-3AD203B41FA5}">
                      <a16:colId xmlns:a16="http://schemas.microsoft.com/office/drawing/2014/main" val="2402200265"/>
                    </a:ext>
                  </a:extLst>
                </a:gridCol>
              </a:tblGrid>
              <a:tr h="365760">
                <a:tc>
                  <a:txBody>
                    <a:bodyPr/>
                    <a:lstStyle/>
                    <a:p>
                      <a:pPr>
                        <a:buNone/>
                      </a:pPr>
                      <a:r>
                        <a:rPr lang="en-US" sz="1800" b="1" dirty="0">
                          <a:latin typeface="Times New Roman" panose="02020603050405020304" pitchFamily="18" charset="0"/>
                          <a:cs typeface="Times New Roman" panose="02020603050405020304" pitchFamily="18" charset="0"/>
                        </a:rPr>
                        <a:t>Student</a:t>
                      </a:r>
                    </a:p>
                  </a:txBody>
                  <a:tcPr anchor="ctr"/>
                </a:tc>
                <a:tc>
                  <a:txBody>
                    <a:bodyPr/>
                    <a:lstStyle/>
                    <a:p>
                      <a:pPr>
                        <a:buNone/>
                      </a:pPr>
                      <a:r>
                        <a:rPr lang="en-US" sz="1800" b="1" dirty="0">
                          <a:latin typeface="Times New Roman" panose="02020603050405020304" pitchFamily="18" charset="0"/>
                          <a:cs typeface="Times New Roman" panose="02020603050405020304" pitchFamily="18" charset="0"/>
                        </a:rPr>
                        <a:t>CGPA</a:t>
                      </a:r>
                    </a:p>
                  </a:txBody>
                  <a:tcPr anchor="ctr"/>
                </a:tc>
                <a:extLst>
                  <a:ext uri="{0D108BD9-81ED-4DB2-BD59-A6C34878D82A}">
                    <a16:rowId xmlns:a16="http://schemas.microsoft.com/office/drawing/2014/main" val="885364518"/>
                  </a:ext>
                </a:extLst>
              </a:tr>
              <a:tr h="365760">
                <a:tc>
                  <a:txBody>
                    <a:bodyPr/>
                    <a:lstStyle/>
                    <a:p>
                      <a:pPr>
                        <a:buNone/>
                      </a:pPr>
                      <a:r>
                        <a:rPr lang="en-US" sz="1800">
                          <a:latin typeface="Times New Roman" panose="02020603050405020304" pitchFamily="18" charset="0"/>
                          <a:cs typeface="Times New Roman" panose="02020603050405020304" pitchFamily="18" charset="0"/>
                        </a:rPr>
                        <a:t>Rahim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3.8</a:t>
                      </a:r>
                    </a:p>
                  </a:txBody>
                  <a:tcPr anchor="ctr"/>
                </a:tc>
                <a:extLst>
                  <a:ext uri="{0D108BD9-81ED-4DB2-BD59-A6C34878D82A}">
                    <a16:rowId xmlns:a16="http://schemas.microsoft.com/office/drawing/2014/main" val="1502360240"/>
                  </a:ext>
                </a:extLst>
              </a:tr>
              <a:tr h="365760">
                <a:tc>
                  <a:txBody>
                    <a:bodyPr/>
                    <a:lstStyle/>
                    <a:p>
                      <a:pPr>
                        <a:buNone/>
                      </a:pPr>
                      <a:r>
                        <a:rPr lang="en-US" sz="1800">
                          <a:latin typeface="Times New Roman" panose="02020603050405020304" pitchFamily="18" charset="0"/>
                          <a:cs typeface="Times New Roman" panose="02020603050405020304" pitchFamily="18" charset="0"/>
                        </a:rPr>
                        <a:t>Nabila</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3.9</a:t>
                      </a:r>
                    </a:p>
                  </a:txBody>
                  <a:tcPr anchor="ctr"/>
                </a:tc>
                <a:extLst>
                  <a:ext uri="{0D108BD9-81ED-4DB2-BD59-A6C34878D82A}">
                    <a16:rowId xmlns:a16="http://schemas.microsoft.com/office/drawing/2014/main" val="3708187866"/>
                  </a:ext>
                </a:extLst>
              </a:tr>
            </a:tbl>
          </a:graphicData>
        </a:graphic>
      </p:graphicFrame>
    </p:spTree>
    <p:extLst>
      <p:ext uri="{BB962C8B-B14F-4D97-AF65-F5344CB8AC3E}">
        <p14:creationId xmlns:p14="http://schemas.microsoft.com/office/powerpoint/2010/main" val="3794989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C5C8E-FEB8-617A-977D-71C27013670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22F430E-D961-1E71-F27A-54DBCBE0B7B8}"/>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FFFE327F-0464-73FB-0185-EE034C8488B4}"/>
              </a:ext>
            </a:extLst>
          </p:cNvPr>
          <p:cNvSpPr>
            <a:spLocks noGrp="1"/>
          </p:cNvSpPr>
          <p:nvPr>
            <p:ph idx="1"/>
          </p:nvPr>
        </p:nvSpPr>
        <p:spPr>
          <a:xfrm>
            <a:off x="579663" y="1598613"/>
            <a:ext cx="7209065"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Common Data Wrangling Tasks</a:t>
            </a:r>
          </a:p>
          <a:p>
            <a:pPr marL="80963" lvl="1" indent="0" algn="just" eaLnBrk="1" hangingPunct="1">
              <a:buClr>
                <a:srgbClr val="0B5395"/>
              </a:buClr>
              <a:buNone/>
            </a:pPr>
            <a:r>
              <a:rPr lang="en-US" altLang="en-US" b="1" dirty="0">
                <a:latin typeface="Times New Roman" pitchFamily="18" charset="0"/>
                <a:cs typeface="Times New Roman" pitchFamily="18" charset="0"/>
              </a:rPr>
              <a:t>Sorting:</a:t>
            </a:r>
            <a:r>
              <a:rPr lang="en-US" altLang="en-US" dirty="0">
                <a:latin typeface="Times New Roman" pitchFamily="18" charset="0"/>
                <a:cs typeface="Times New Roman" pitchFamily="18" charset="0"/>
              </a:rPr>
              <a:t> Arrange data in ascending or descending order.</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After sorting (descending):</a:t>
            </a:r>
          </a:p>
          <a:p>
            <a:pPr marL="80963" lvl="1" indent="0" algn="just" eaLnBrk="1" hangingPunct="1">
              <a:buClr>
                <a:srgbClr val="0B5395"/>
              </a:buClr>
              <a:buNone/>
            </a:pPr>
            <a:endParaRPr lang="en-US" altLang="en-US" dirty="0">
              <a:latin typeface="Times New Roman" pitchFamily="18" charset="0"/>
              <a:cs typeface="Times New Roman" pitchFamily="18" charset="0"/>
            </a:endParaRPr>
          </a:p>
        </p:txBody>
      </p:sp>
      <p:sp>
        <p:nvSpPr>
          <p:cNvPr id="5124" name="Slide Number Placeholder 1">
            <a:extLst>
              <a:ext uri="{FF2B5EF4-FFF2-40B4-BE49-F238E27FC236}">
                <a16:creationId xmlns:a16="http://schemas.microsoft.com/office/drawing/2014/main" id="{526FA3D8-42EE-BA01-D4D3-795ED3E4C3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27</a:t>
            </a:fld>
            <a:endParaRPr lang="en-US"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a:extLst>
              <a:ext uri="{FF2B5EF4-FFF2-40B4-BE49-F238E27FC236}">
                <a16:creationId xmlns:a16="http://schemas.microsoft.com/office/drawing/2014/main" id="{025DFBE6-93BD-87B8-53CA-57ADDF1FE17B}"/>
              </a:ext>
            </a:extLst>
          </p:cNvPr>
          <p:cNvGraphicFramePr>
            <a:graphicFrameLocks noGrp="1"/>
          </p:cNvGraphicFramePr>
          <p:nvPr>
            <p:extLst>
              <p:ext uri="{D42A27DB-BD31-4B8C-83A1-F6EECF244321}">
                <p14:modId xmlns:p14="http://schemas.microsoft.com/office/powerpoint/2010/main" val="3583401475"/>
              </p:ext>
            </p:extLst>
          </p:nvPr>
        </p:nvGraphicFramePr>
        <p:xfrm>
          <a:off x="1285240" y="2458085"/>
          <a:ext cx="1872806" cy="146304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3115309466"/>
                    </a:ext>
                  </a:extLst>
                </a:gridCol>
                <a:gridCol w="870776">
                  <a:extLst>
                    <a:ext uri="{9D8B030D-6E8A-4147-A177-3AD203B41FA5}">
                      <a16:colId xmlns:a16="http://schemas.microsoft.com/office/drawing/2014/main" val="1974545212"/>
                    </a:ext>
                  </a:extLst>
                </a:gridCol>
              </a:tblGrid>
              <a:tr h="365760">
                <a:tc>
                  <a:txBody>
                    <a:bodyPr/>
                    <a:lstStyle/>
                    <a:p>
                      <a:pPr>
                        <a:buNone/>
                      </a:pPr>
                      <a:r>
                        <a:rPr lang="en-US" sz="1800" b="1" dirty="0">
                          <a:latin typeface="Times New Roman" panose="02020603050405020304" pitchFamily="18" charset="0"/>
                          <a:cs typeface="Times New Roman" panose="02020603050405020304" pitchFamily="18" charset="0"/>
                        </a:rPr>
                        <a:t>Student</a:t>
                      </a:r>
                    </a:p>
                  </a:txBody>
                  <a:tcPr anchor="ctr"/>
                </a:tc>
                <a:tc>
                  <a:txBody>
                    <a:bodyPr/>
                    <a:lstStyle/>
                    <a:p>
                      <a:pPr>
                        <a:buNone/>
                      </a:pPr>
                      <a:r>
                        <a:rPr lang="en-US" sz="1800" b="1" dirty="0">
                          <a:latin typeface="Times New Roman" panose="02020603050405020304" pitchFamily="18" charset="0"/>
                          <a:cs typeface="Times New Roman" panose="02020603050405020304" pitchFamily="18" charset="0"/>
                        </a:rPr>
                        <a:t>CGPA</a:t>
                      </a:r>
                    </a:p>
                  </a:txBody>
                  <a:tcPr anchor="ctr"/>
                </a:tc>
                <a:extLst>
                  <a:ext uri="{0D108BD9-81ED-4DB2-BD59-A6C34878D82A}">
                    <a16:rowId xmlns:a16="http://schemas.microsoft.com/office/drawing/2014/main" val="564272079"/>
                  </a:ext>
                </a:extLst>
              </a:tr>
              <a:tr h="365760">
                <a:tc>
                  <a:txBody>
                    <a:bodyPr/>
                    <a:lstStyle/>
                    <a:p>
                      <a:pPr>
                        <a:buNone/>
                      </a:pPr>
                      <a:r>
                        <a:rPr lang="en-US" sz="1800">
                          <a:latin typeface="Times New Roman" panose="02020603050405020304" pitchFamily="18" charset="0"/>
                          <a:cs typeface="Times New Roman" panose="02020603050405020304" pitchFamily="18" charset="0"/>
                        </a:rPr>
                        <a:t>Rahim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3.8</a:t>
                      </a:r>
                    </a:p>
                  </a:txBody>
                  <a:tcPr anchor="ctr"/>
                </a:tc>
                <a:extLst>
                  <a:ext uri="{0D108BD9-81ED-4DB2-BD59-A6C34878D82A}">
                    <a16:rowId xmlns:a16="http://schemas.microsoft.com/office/drawing/2014/main" val="1918716776"/>
                  </a:ext>
                </a:extLst>
              </a:tr>
              <a:tr h="365760">
                <a:tc>
                  <a:txBody>
                    <a:bodyPr/>
                    <a:lstStyle/>
                    <a:p>
                      <a:pPr>
                        <a:buNone/>
                      </a:pPr>
                      <a:r>
                        <a:rPr lang="en-US" sz="1800">
                          <a:latin typeface="Times New Roman" panose="02020603050405020304" pitchFamily="18" charset="0"/>
                          <a:cs typeface="Times New Roman" panose="02020603050405020304" pitchFamily="18" charset="0"/>
                        </a:rPr>
                        <a:t>Karim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3.2</a:t>
                      </a:r>
                    </a:p>
                  </a:txBody>
                  <a:tcPr anchor="ctr"/>
                </a:tc>
                <a:extLst>
                  <a:ext uri="{0D108BD9-81ED-4DB2-BD59-A6C34878D82A}">
                    <a16:rowId xmlns:a16="http://schemas.microsoft.com/office/drawing/2014/main" val="1888281519"/>
                  </a:ext>
                </a:extLst>
              </a:tr>
              <a:tr h="365760">
                <a:tc>
                  <a:txBody>
                    <a:bodyPr/>
                    <a:lstStyle/>
                    <a:p>
                      <a:pPr>
                        <a:buNone/>
                      </a:pPr>
                      <a:r>
                        <a:rPr lang="en-US" sz="1800">
                          <a:latin typeface="Times New Roman" panose="02020603050405020304" pitchFamily="18" charset="0"/>
                          <a:cs typeface="Times New Roman" panose="02020603050405020304" pitchFamily="18" charset="0"/>
                        </a:rPr>
                        <a:t>Nabila</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3.9</a:t>
                      </a:r>
                    </a:p>
                  </a:txBody>
                  <a:tcPr anchor="ctr"/>
                </a:tc>
                <a:extLst>
                  <a:ext uri="{0D108BD9-81ED-4DB2-BD59-A6C34878D82A}">
                    <a16:rowId xmlns:a16="http://schemas.microsoft.com/office/drawing/2014/main" val="868050598"/>
                  </a:ext>
                </a:extLst>
              </a:tr>
            </a:tbl>
          </a:graphicData>
        </a:graphic>
      </p:graphicFrame>
      <p:graphicFrame>
        <p:nvGraphicFramePr>
          <p:cNvPr id="3" name="Table 2">
            <a:extLst>
              <a:ext uri="{FF2B5EF4-FFF2-40B4-BE49-F238E27FC236}">
                <a16:creationId xmlns:a16="http://schemas.microsoft.com/office/drawing/2014/main" id="{92D5E883-FE57-73BA-FBDF-FE5CDCF4D73A}"/>
              </a:ext>
            </a:extLst>
          </p:cNvPr>
          <p:cNvGraphicFramePr>
            <a:graphicFrameLocks noGrp="1"/>
          </p:cNvGraphicFramePr>
          <p:nvPr>
            <p:extLst>
              <p:ext uri="{D42A27DB-BD31-4B8C-83A1-F6EECF244321}">
                <p14:modId xmlns:p14="http://schemas.microsoft.com/office/powerpoint/2010/main" val="1753018484"/>
              </p:ext>
            </p:extLst>
          </p:nvPr>
        </p:nvGraphicFramePr>
        <p:xfrm>
          <a:off x="1285240" y="4692833"/>
          <a:ext cx="1872806" cy="146304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315087736"/>
                    </a:ext>
                  </a:extLst>
                </a:gridCol>
                <a:gridCol w="870776">
                  <a:extLst>
                    <a:ext uri="{9D8B030D-6E8A-4147-A177-3AD203B41FA5}">
                      <a16:colId xmlns:a16="http://schemas.microsoft.com/office/drawing/2014/main" val="3826432228"/>
                    </a:ext>
                  </a:extLst>
                </a:gridCol>
              </a:tblGrid>
              <a:tr h="365760">
                <a:tc>
                  <a:txBody>
                    <a:bodyPr/>
                    <a:lstStyle/>
                    <a:p>
                      <a:pPr>
                        <a:buNone/>
                      </a:pPr>
                      <a:r>
                        <a:rPr lang="en-US" sz="1800" b="1">
                          <a:latin typeface="Times New Roman" panose="02020603050405020304" pitchFamily="18" charset="0"/>
                          <a:cs typeface="Times New Roman" panose="02020603050405020304" pitchFamily="18" charset="0"/>
                        </a:rPr>
                        <a:t>Student</a:t>
                      </a:r>
                    </a:p>
                  </a:txBody>
                  <a:tcPr anchor="ctr"/>
                </a:tc>
                <a:tc>
                  <a:txBody>
                    <a:bodyPr/>
                    <a:lstStyle/>
                    <a:p>
                      <a:pPr>
                        <a:buNone/>
                      </a:pPr>
                      <a:r>
                        <a:rPr lang="en-US" sz="1800" b="1" dirty="0">
                          <a:latin typeface="Times New Roman" panose="02020603050405020304" pitchFamily="18" charset="0"/>
                          <a:cs typeface="Times New Roman" panose="02020603050405020304" pitchFamily="18" charset="0"/>
                        </a:rPr>
                        <a:t>CGPA</a:t>
                      </a:r>
                    </a:p>
                  </a:txBody>
                  <a:tcPr anchor="ctr"/>
                </a:tc>
                <a:extLst>
                  <a:ext uri="{0D108BD9-81ED-4DB2-BD59-A6C34878D82A}">
                    <a16:rowId xmlns:a16="http://schemas.microsoft.com/office/drawing/2014/main" val="3339781886"/>
                  </a:ext>
                </a:extLst>
              </a:tr>
              <a:tr h="365760">
                <a:tc>
                  <a:txBody>
                    <a:bodyPr/>
                    <a:lstStyle/>
                    <a:p>
                      <a:pPr>
                        <a:buNone/>
                      </a:pPr>
                      <a:r>
                        <a:rPr lang="en-US" sz="1800">
                          <a:latin typeface="Times New Roman" panose="02020603050405020304" pitchFamily="18" charset="0"/>
                          <a:cs typeface="Times New Roman" panose="02020603050405020304" pitchFamily="18" charset="0"/>
                        </a:rPr>
                        <a:t>Nabila</a:t>
                      </a:r>
                    </a:p>
                  </a:txBody>
                  <a:tcPr anchor="ctr"/>
                </a:tc>
                <a:tc>
                  <a:txBody>
                    <a:bodyPr/>
                    <a:lstStyle/>
                    <a:p>
                      <a:pPr>
                        <a:buNone/>
                      </a:pPr>
                      <a:r>
                        <a:rPr lang="en-US" sz="1800">
                          <a:latin typeface="Times New Roman" panose="02020603050405020304" pitchFamily="18" charset="0"/>
                          <a:cs typeface="Times New Roman" panose="02020603050405020304" pitchFamily="18" charset="0"/>
                        </a:rPr>
                        <a:t>3.9</a:t>
                      </a:r>
                    </a:p>
                  </a:txBody>
                  <a:tcPr anchor="ctr"/>
                </a:tc>
                <a:extLst>
                  <a:ext uri="{0D108BD9-81ED-4DB2-BD59-A6C34878D82A}">
                    <a16:rowId xmlns:a16="http://schemas.microsoft.com/office/drawing/2014/main" val="2218520581"/>
                  </a:ext>
                </a:extLst>
              </a:tr>
              <a:tr h="365760">
                <a:tc>
                  <a:txBody>
                    <a:bodyPr/>
                    <a:lstStyle/>
                    <a:p>
                      <a:pPr>
                        <a:buNone/>
                      </a:pPr>
                      <a:r>
                        <a:rPr lang="en-US" sz="1800">
                          <a:latin typeface="Times New Roman" panose="02020603050405020304" pitchFamily="18" charset="0"/>
                          <a:cs typeface="Times New Roman" panose="02020603050405020304" pitchFamily="18" charset="0"/>
                        </a:rPr>
                        <a:t>Rahim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3.8</a:t>
                      </a:r>
                    </a:p>
                  </a:txBody>
                  <a:tcPr anchor="ctr"/>
                </a:tc>
                <a:extLst>
                  <a:ext uri="{0D108BD9-81ED-4DB2-BD59-A6C34878D82A}">
                    <a16:rowId xmlns:a16="http://schemas.microsoft.com/office/drawing/2014/main" val="243034187"/>
                  </a:ext>
                </a:extLst>
              </a:tr>
              <a:tr h="365760">
                <a:tc>
                  <a:txBody>
                    <a:bodyPr/>
                    <a:lstStyle/>
                    <a:p>
                      <a:pPr>
                        <a:buNone/>
                      </a:pPr>
                      <a:r>
                        <a:rPr lang="en-US" sz="1800">
                          <a:latin typeface="Times New Roman" panose="02020603050405020304" pitchFamily="18" charset="0"/>
                          <a:cs typeface="Times New Roman" panose="02020603050405020304" pitchFamily="18" charset="0"/>
                        </a:rPr>
                        <a:t>Karim</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3.2</a:t>
                      </a:r>
                    </a:p>
                  </a:txBody>
                  <a:tcPr anchor="ctr"/>
                </a:tc>
                <a:extLst>
                  <a:ext uri="{0D108BD9-81ED-4DB2-BD59-A6C34878D82A}">
                    <a16:rowId xmlns:a16="http://schemas.microsoft.com/office/drawing/2014/main" val="1623951909"/>
                  </a:ext>
                </a:extLst>
              </a:tr>
            </a:tbl>
          </a:graphicData>
        </a:graphic>
      </p:graphicFrame>
    </p:spTree>
    <p:extLst>
      <p:ext uri="{BB962C8B-B14F-4D97-AF65-F5344CB8AC3E}">
        <p14:creationId xmlns:p14="http://schemas.microsoft.com/office/powerpoint/2010/main" val="14472305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C5C8E-FEB8-617A-977D-71C27013670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22F430E-D961-1E71-F27A-54DBCBE0B7B8}"/>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FFFE327F-0464-73FB-0185-EE034C8488B4}"/>
              </a:ext>
            </a:extLst>
          </p:cNvPr>
          <p:cNvSpPr>
            <a:spLocks noGrp="1"/>
          </p:cNvSpPr>
          <p:nvPr>
            <p:ph idx="1"/>
          </p:nvPr>
        </p:nvSpPr>
        <p:spPr>
          <a:xfrm>
            <a:off x="579663" y="1598613"/>
            <a:ext cx="7209065"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Common Data Wrangling Tasks: </a:t>
            </a:r>
          </a:p>
          <a:p>
            <a:pPr marL="80963" lvl="1" indent="0" algn="just" eaLnBrk="1" hangingPunct="1">
              <a:buClr>
                <a:srgbClr val="0B5395"/>
              </a:buClr>
              <a:buNone/>
            </a:pPr>
            <a:r>
              <a:rPr lang="en-US" altLang="en-US" b="1" dirty="0">
                <a:latin typeface="Times New Roman" pitchFamily="18" charset="0"/>
                <a:cs typeface="Times New Roman" pitchFamily="18" charset="0"/>
              </a:rPr>
              <a:t>Joins and Merges: </a:t>
            </a:r>
            <a:r>
              <a:rPr lang="en-US" altLang="en-US" dirty="0">
                <a:latin typeface="Times New Roman" pitchFamily="18" charset="0"/>
                <a:cs typeface="Times New Roman" pitchFamily="18" charset="0"/>
              </a:rPr>
              <a:t>Combine information from multiple datasets.</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After Merge</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p:txBody>
      </p:sp>
      <p:sp>
        <p:nvSpPr>
          <p:cNvPr id="5124" name="Slide Number Placeholder 1">
            <a:extLst>
              <a:ext uri="{FF2B5EF4-FFF2-40B4-BE49-F238E27FC236}">
                <a16:creationId xmlns:a16="http://schemas.microsoft.com/office/drawing/2014/main" id="{526FA3D8-42EE-BA01-D4D3-795ED3E4C3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28</a:t>
            </a:fld>
            <a:endParaRPr lang="en-US"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a:extLst>
              <a:ext uri="{FF2B5EF4-FFF2-40B4-BE49-F238E27FC236}">
                <a16:creationId xmlns:a16="http://schemas.microsoft.com/office/drawing/2014/main" id="{7344DF7F-477C-9799-F50F-53A533042156}"/>
              </a:ext>
            </a:extLst>
          </p:cNvPr>
          <p:cNvGraphicFramePr>
            <a:graphicFrameLocks noGrp="1"/>
          </p:cNvGraphicFramePr>
          <p:nvPr>
            <p:extLst>
              <p:ext uri="{D42A27DB-BD31-4B8C-83A1-F6EECF244321}">
                <p14:modId xmlns:p14="http://schemas.microsoft.com/office/powerpoint/2010/main" val="3684569347"/>
              </p:ext>
            </p:extLst>
          </p:nvPr>
        </p:nvGraphicFramePr>
        <p:xfrm>
          <a:off x="807720" y="2405698"/>
          <a:ext cx="1343660" cy="1097280"/>
        </p:xfrm>
        <a:graphic>
          <a:graphicData uri="http://schemas.openxmlformats.org/drawingml/2006/table">
            <a:tbl>
              <a:tblPr>
                <a:tableStyleId>{3C2FFA5D-87B4-456A-9821-1D502468CF0F}</a:tableStyleId>
              </a:tblPr>
              <a:tblGrid>
                <a:gridCol w="494030">
                  <a:extLst>
                    <a:ext uri="{9D8B030D-6E8A-4147-A177-3AD203B41FA5}">
                      <a16:colId xmlns:a16="http://schemas.microsoft.com/office/drawing/2014/main" val="2835480125"/>
                    </a:ext>
                  </a:extLst>
                </a:gridCol>
                <a:gridCol w="849630">
                  <a:extLst>
                    <a:ext uri="{9D8B030D-6E8A-4147-A177-3AD203B41FA5}">
                      <a16:colId xmlns:a16="http://schemas.microsoft.com/office/drawing/2014/main" val="3451238674"/>
                    </a:ext>
                  </a:extLst>
                </a:gridCol>
              </a:tblGrid>
              <a:tr h="365760">
                <a:tc>
                  <a:txBody>
                    <a:bodyPr/>
                    <a:lstStyle/>
                    <a:p>
                      <a:pPr>
                        <a:buNone/>
                      </a:pPr>
                      <a:r>
                        <a:rPr lang="en-US" sz="1800" b="1">
                          <a:latin typeface="Times New Roman" panose="02020603050405020304" pitchFamily="18" charset="0"/>
                          <a:cs typeface="Times New Roman" panose="02020603050405020304" pitchFamily="18" charset="0"/>
                        </a:rPr>
                        <a:t>ID</a:t>
                      </a:r>
                    </a:p>
                  </a:txBody>
                  <a:tcPr anchor="ctr"/>
                </a:tc>
                <a:tc>
                  <a:txBody>
                    <a:bodyPr/>
                    <a:lstStyle/>
                    <a:p>
                      <a:pPr>
                        <a:buNone/>
                      </a:pPr>
                      <a:r>
                        <a:rPr lang="en-US" sz="1800" b="1" dirty="0">
                          <a:latin typeface="Times New Roman" panose="02020603050405020304" pitchFamily="18" charset="0"/>
                          <a:cs typeface="Times New Roman" panose="02020603050405020304" pitchFamily="18" charset="0"/>
                        </a:rPr>
                        <a:t>Name</a:t>
                      </a:r>
                    </a:p>
                  </a:txBody>
                  <a:tcPr anchor="ctr"/>
                </a:tc>
                <a:extLst>
                  <a:ext uri="{0D108BD9-81ED-4DB2-BD59-A6C34878D82A}">
                    <a16:rowId xmlns:a16="http://schemas.microsoft.com/office/drawing/2014/main" val="1127518429"/>
                  </a:ext>
                </a:extLst>
              </a:tr>
              <a:tr h="365760">
                <a:tc>
                  <a:txBody>
                    <a:bodyPr/>
                    <a:lstStyle/>
                    <a:p>
                      <a:pPr>
                        <a:buNone/>
                      </a:pPr>
                      <a:r>
                        <a:rPr lang="en-US" sz="1800">
                          <a:latin typeface="Times New Roman" panose="02020603050405020304" pitchFamily="18" charset="0"/>
                          <a:cs typeface="Times New Roman" panose="02020603050405020304" pitchFamily="18" charset="0"/>
                        </a:rPr>
                        <a:t>1</a:t>
                      </a:r>
                    </a:p>
                  </a:txBody>
                  <a:tcPr anchor="ctr"/>
                </a:tc>
                <a:tc>
                  <a:txBody>
                    <a:bodyPr/>
                    <a:lstStyle/>
                    <a:p>
                      <a:pPr>
                        <a:buNone/>
                      </a:pPr>
                      <a:r>
                        <a:rPr lang="en-US" sz="1800">
                          <a:latin typeface="Times New Roman" panose="02020603050405020304" pitchFamily="18" charset="0"/>
                          <a:cs typeface="Times New Roman" panose="02020603050405020304" pitchFamily="18" charset="0"/>
                        </a:rPr>
                        <a:t>Rahim</a:t>
                      </a:r>
                    </a:p>
                  </a:txBody>
                  <a:tcPr anchor="ctr"/>
                </a:tc>
                <a:extLst>
                  <a:ext uri="{0D108BD9-81ED-4DB2-BD59-A6C34878D82A}">
                    <a16:rowId xmlns:a16="http://schemas.microsoft.com/office/drawing/2014/main" val="2696676152"/>
                  </a:ext>
                </a:extLst>
              </a:tr>
              <a:tr h="365760">
                <a:tc>
                  <a:txBody>
                    <a:bodyPr/>
                    <a:lstStyle/>
                    <a:p>
                      <a:pPr>
                        <a:buNone/>
                      </a:pPr>
                      <a:r>
                        <a:rPr lang="en-US" sz="1800">
                          <a:latin typeface="Times New Roman" panose="02020603050405020304" pitchFamily="18" charset="0"/>
                          <a:cs typeface="Times New Roman" panose="02020603050405020304" pitchFamily="18" charset="0"/>
                        </a:rPr>
                        <a:t>2</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Karim</a:t>
                      </a:r>
                    </a:p>
                  </a:txBody>
                  <a:tcPr anchor="ctr"/>
                </a:tc>
                <a:extLst>
                  <a:ext uri="{0D108BD9-81ED-4DB2-BD59-A6C34878D82A}">
                    <a16:rowId xmlns:a16="http://schemas.microsoft.com/office/drawing/2014/main" val="1227352427"/>
                  </a:ext>
                </a:extLst>
              </a:tr>
            </a:tbl>
          </a:graphicData>
        </a:graphic>
      </p:graphicFrame>
      <p:graphicFrame>
        <p:nvGraphicFramePr>
          <p:cNvPr id="3" name="Table 2">
            <a:extLst>
              <a:ext uri="{FF2B5EF4-FFF2-40B4-BE49-F238E27FC236}">
                <a16:creationId xmlns:a16="http://schemas.microsoft.com/office/drawing/2014/main" id="{ADCE91EF-14D6-8B10-11AE-504F8AFF97A9}"/>
              </a:ext>
            </a:extLst>
          </p:cNvPr>
          <p:cNvGraphicFramePr>
            <a:graphicFrameLocks noGrp="1"/>
          </p:cNvGraphicFramePr>
          <p:nvPr>
            <p:extLst>
              <p:ext uri="{D42A27DB-BD31-4B8C-83A1-F6EECF244321}">
                <p14:modId xmlns:p14="http://schemas.microsoft.com/office/powerpoint/2010/main" val="3273076776"/>
              </p:ext>
            </p:extLst>
          </p:nvPr>
        </p:nvGraphicFramePr>
        <p:xfrm>
          <a:off x="3347720" y="2405698"/>
          <a:ext cx="1364806" cy="1097280"/>
        </p:xfrm>
        <a:graphic>
          <a:graphicData uri="http://schemas.openxmlformats.org/drawingml/2006/table">
            <a:tbl>
              <a:tblPr>
                <a:tableStyleId>{3C2FFA5D-87B4-456A-9821-1D502468CF0F}</a:tableStyleId>
              </a:tblPr>
              <a:tblGrid>
                <a:gridCol w="494030">
                  <a:extLst>
                    <a:ext uri="{9D8B030D-6E8A-4147-A177-3AD203B41FA5}">
                      <a16:colId xmlns:a16="http://schemas.microsoft.com/office/drawing/2014/main" val="3698440513"/>
                    </a:ext>
                  </a:extLst>
                </a:gridCol>
                <a:gridCol w="870776">
                  <a:extLst>
                    <a:ext uri="{9D8B030D-6E8A-4147-A177-3AD203B41FA5}">
                      <a16:colId xmlns:a16="http://schemas.microsoft.com/office/drawing/2014/main" val="3635752120"/>
                    </a:ext>
                  </a:extLst>
                </a:gridCol>
              </a:tblGrid>
              <a:tr h="365760">
                <a:tc>
                  <a:txBody>
                    <a:bodyPr/>
                    <a:lstStyle/>
                    <a:p>
                      <a:pPr>
                        <a:buNone/>
                      </a:pPr>
                      <a:r>
                        <a:rPr lang="en-US" sz="1800" b="1">
                          <a:latin typeface="Times New Roman" panose="02020603050405020304" pitchFamily="18" charset="0"/>
                          <a:cs typeface="Times New Roman" panose="02020603050405020304" pitchFamily="18" charset="0"/>
                        </a:rPr>
                        <a:t>ID</a:t>
                      </a:r>
                    </a:p>
                  </a:txBody>
                  <a:tcPr anchor="ctr"/>
                </a:tc>
                <a:tc>
                  <a:txBody>
                    <a:bodyPr/>
                    <a:lstStyle/>
                    <a:p>
                      <a:pPr>
                        <a:buNone/>
                      </a:pPr>
                      <a:r>
                        <a:rPr lang="en-US" sz="1800" b="1" dirty="0">
                          <a:latin typeface="Times New Roman" panose="02020603050405020304" pitchFamily="18" charset="0"/>
                          <a:cs typeface="Times New Roman" panose="02020603050405020304" pitchFamily="18" charset="0"/>
                        </a:rPr>
                        <a:t>CGPA</a:t>
                      </a:r>
                    </a:p>
                  </a:txBody>
                  <a:tcPr anchor="ctr"/>
                </a:tc>
                <a:extLst>
                  <a:ext uri="{0D108BD9-81ED-4DB2-BD59-A6C34878D82A}">
                    <a16:rowId xmlns:a16="http://schemas.microsoft.com/office/drawing/2014/main" val="1697634816"/>
                  </a:ext>
                </a:extLst>
              </a:tr>
              <a:tr h="365760">
                <a:tc>
                  <a:txBody>
                    <a:bodyPr/>
                    <a:lstStyle/>
                    <a:p>
                      <a:pPr>
                        <a:buNone/>
                      </a:pPr>
                      <a:r>
                        <a:rPr lang="en-US" sz="1800">
                          <a:latin typeface="Times New Roman" panose="02020603050405020304" pitchFamily="18" charset="0"/>
                          <a:cs typeface="Times New Roman" panose="02020603050405020304" pitchFamily="18" charset="0"/>
                        </a:rPr>
                        <a:t>1</a:t>
                      </a:r>
                    </a:p>
                  </a:txBody>
                  <a:tcPr anchor="ctr"/>
                </a:tc>
                <a:tc>
                  <a:txBody>
                    <a:bodyPr/>
                    <a:lstStyle/>
                    <a:p>
                      <a:pPr>
                        <a:buNone/>
                      </a:pPr>
                      <a:r>
                        <a:rPr lang="en-US" sz="1800">
                          <a:latin typeface="Times New Roman" panose="02020603050405020304" pitchFamily="18" charset="0"/>
                          <a:cs typeface="Times New Roman" panose="02020603050405020304" pitchFamily="18" charset="0"/>
                        </a:rPr>
                        <a:t>3.8</a:t>
                      </a:r>
                    </a:p>
                  </a:txBody>
                  <a:tcPr anchor="ctr"/>
                </a:tc>
                <a:extLst>
                  <a:ext uri="{0D108BD9-81ED-4DB2-BD59-A6C34878D82A}">
                    <a16:rowId xmlns:a16="http://schemas.microsoft.com/office/drawing/2014/main" val="3153341958"/>
                  </a:ext>
                </a:extLst>
              </a:tr>
              <a:tr h="365760">
                <a:tc>
                  <a:txBody>
                    <a:bodyPr/>
                    <a:lstStyle/>
                    <a:p>
                      <a:pPr>
                        <a:buNone/>
                      </a:pPr>
                      <a:r>
                        <a:rPr lang="en-US" sz="1800">
                          <a:latin typeface="Times New Roman" panose="02020603050405020304" pitchFamily="18" charset="0"/>
                          <a:cs typeface="Times New Roman" panose="02020603050405020304" pitchFamily="18" charset="0"/>
                        </a:rPr>
                        <a:t>2</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3.5</a:t>
                      </a:r>
                    </a:p>
                  </a:txBody>
                  <a:tcPr anchor="ctr"/>
                </a:tc>
                <a:extLst>
                  <a:ext uri="{0D108BD9-81ED-4DB2-BD59-A6C34878D82A}">
                    <a16:rowId xmlns:a16="http://schemas.microsoft.com/office/drawing/2014/main" val="3091891907"/>
                  </a:ext>
                </a:extLst>
              </a:tr>
            </a:tbl>
          </a:graphicData>
        </a:graphic>
      </p:graphicFrame>
      <p:graphicFrame>
        <p:nvGraphicFramePr>
          <p:cNvPr id="4" name="Table 3">
            <a:extLst>
              <a:ext uri="{FF2B5EF4-FFF2-40B4-BE49-F238E27FC236}">
                <a16:creationId xmlns:a16="http://schemas.microsoft.com/office/drawing/2014/main" id="{7243D9C8-676F-D337-062C-40AE9B98029C}"/>
              </a:ext>
            </a:extLst>
          </p:cNvPr>
          <p:cNvGraphicFramePr>
            <a:graphicFrameLocks noGrp="1"/>
          </p:cNvGraphicFramePr>
          <p:nvPr>
            <p:extLst>
              <p:ext uri="{D42A27DB-BD31-4B8C-83A1-F6EECF244321}">
                <p14:modId xmlns:p14="http://schemas.microsoft.com/office/powerpoint/2010/main" val="2492627085"/>
              </p:ext>
            </p:extLst>
          </p:nvPr>
        </p:nvGraphicFramePr>
        <p:xfrm>
          <a:off x="807720" y="4505961"/>
          <a:ext cx="2214436" cy="1097280"/>
        </p:xfrm>
        <a:graphic>
          <a:graphicData uri="http://schemas.openxmlformats.org/drawingml/2006/table">
            <a:tbl>
              <a:tblPr>
                <a:tableStyleId>{3C2FFA5D-87B4-456A-9821-1D502468CF0F}</a:tableStyleId>
              </a:tblPr>
              <a:tblGrid>
                <a:gridCol w="494030">
                  <a:extLst>
                    <a:ext uri="{9D8B030D-6E8A-4147-A177-3AD203B41FA5}">
                      <a16:colId xmlns:a16="http://schemas.microsoft.com/office/drawing/2014/main" val="2505200343"/>
                    </a:ext>
                  </a:extLst>
                </a:gridCol>
                <a:gridCol w="849630">
                  <a:extLst>
                    <a:ext uri="{9D8B030D-6E8A-4147-A177-3AD203B41FA5}">
                      <a16:colId xmlns:a16="http://schemas.microsoft.com/office/drawing/2014/main" val="104931261"/>
                    </a:ext>
                  </a:extLst>
                </a:gridCol>
                <a:gridCol w="870776">
                  <a:extLst>
                    <a:ext uri="{9D8B030D-6E8A-4147-A177-3AD203B41FA5}">
                      <a16:colId xmlns:a16="http://schemas.microsoft.com/office/drawing/2014/main" val="116420824"/>
                    </a:ext>
                  </a:extLst>
                </a:gridCol>
              </a:tblGrid>
              <a:tr h="365760">
                <a:tc>
                  <a:txBody>
                    <a:bodyPr/>
                    <a:lstStyle/>
                    <a:p>
                      <a:pPr>
                        <a:buNone/>
                      </a:pPr>
                      <a:r>
                        <a:rPr lang="en-US" sz="1800" b="1" dirty="0">
                          <a:latin typeface="Times New Roman" panose="02020603050405020304" pitchFamily="18" charset="0"/>
                          <a:cs typeface="Times New Roman" panose="02020603050405020304" pitchFamily="18" charset="0"/>
                        </a:rPr>
                        <a:t>ID</a:t>
                      </a:r>
                    </a:p>
                  </a:txBody>
                  <a:tcPr anchor="ctr"/>
                </a:tc>
                <a:tc>
                  <a:txBody>
                    <a:bodyPr/>
                    <a:lstStyle/>
                    <a:p>
                      <a:pPr>
                        <a:buNone/>
                      </a:pPr>
                      <a:r>
                        <a:rPr lang="en-US" sz="1800" b="1">
                          <a:latin typeface="Times New Roman" panose="02020603050405020304" pitchFamily="18" charset="0"/>
                          <a:cs typeface="Times New Roman" panose="02020603050405020304" pitchFamily="18" charset="0"/>
                        </a:rPr>
                        <a:t>Name</a:t>
                      </a:r>
                    </a:p>
                  </a:txBody>
                  <a:tcPr anchor="ctr"/>
                </a:tc>
                <a:tc>
                  <a:txBody>
                    <a:bodyPr/>
                    <a:lstStyle/>
                    <a:p>
                      <a:pPr>
                        <a:buNone/>
                      </a:pPr>
                      <a:r>
                        <a:rPr lang="en-US" sz="1800" b="1" dirty="0">
                          <a:latin typeface="Times New Roman" panose="02020603050405020304" pitchFamily="18" charset="0"/>
                          <a:cs typeface="Times New Roman" panose="02020603050405020304" pitchFamily="18" charset="0"/>
                        </a:rPr>
                        <a:t>CGPA</a:t>
                      </a:r>
                    </a:p>
                  </a:txBody>
                  <a:tcPr anchor="ctr"/>
                </a:tc>
                <a:extLst>
                  <a:ext uri="{0D108BD9-81ED-4DB2-BD59-A6C34878D82A}">
                    <a16:rowId xmlns:a16="http://schemas.microsoft.com/office/drawing/2014/main" val="793939474"/>
                  </a:ext>
                </a:extLst>
              </a:tr>
              <a:tr h="365760">
                <a:tc>
                  <a:txBody>
                    <a:bodyPr/>
                    <a:lstStyle/>
                    <a:p>
                      <a:pPr>
                        <a:buNone/>
                      </a:pPr>
                      <a:r>
                        <a:rPr lang="en-US" sz="1800">
                          <a:latin typeface="Times New Roman" panose="02020603050405020304" pitchFamily="18" charset="0"/>
                          <a:cs typeface="Times New Roman" panose="02020603050405020304" pitchFamily="18" charset="0"/>
                        </a:rPr>
                        <a:t>1</a:t>
                      </a:r>
                    </a:p>
                  </a:txBody>
                  <a:tcPr anchor="ctr"/>
                </a:tc>
                <a:tc>
                  <a:txBody>
                    <a:bodyPr/>
                    <a:lstStyle/>
                    <a:p>
                      <a:pPr>
                        <a:buNone/>
                      </a:pPr>
                      <a:r>
                        <a:rPr lang="en-US" sz="1800">
                          <a:latin typeface="Times New Roman" panose="02020603050405020304" pitchFamily="18" charset="0"/>
                          <a:cs typeface="Times New Roman" panose="02020603050405020304" pitchFamily="18" charset="0"/>
                        </a:rPr>
                        <a:t>Rahim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3.8</a:t>
                      </a:r>
                    </a:p>
                  </a:txBody>
                  <a:tcPr anchor="ctr"/>
                </a:tc>
                <a:extLst>
                  <a:ext uri="{0D108BD9-81ED-4DB2-BD59-A6C34878D82A}">
                    <a16:rowId xmlns:a16="http://schemas.microsoft.com/office/drawing/2014/main" val="2171173304"/>
                  </a:ext>
                </a:extLst>
              </a:tr>
              <a:tr h="365760">
                <a:tc>
                  <a:txBody>
                    <a:bodyPr/>
                    <a:lstStyle/>
                    <a:p>
                      <a:pPr>
                        <a:buNone/>
                      </a:pPr>
                      <a:r>
                        <a:rPr lang="en-US" sz="1800">
                          <a:latin typeface="Times New Roman" panose="02020603050405020304" pitchFamily="18" charset="0"/>
                          <a:cs typeface="Times New Roman" panose="02020603050405020304" pitchFamily="18" charset="0"/>
                        </a:rPr>
                        <a:t>2</a:t>
                      </a:r>
                    </a:p>
                  </a:txBody>
                  <a:tcPr anchor="ctr"/>
                </a:tc>
                <a:tc>
                  <a:txBody>
                    <a:bodyPr/>
                    <a:lstStyle/>
                    <a:p>
                      <a:pPr>
                        <a:buNone/>
                      </a:pPr>
                      <a:r>
                        <a:rPr lang="en-US" sz="1800">
                          <a:latin typeface="Times New Roman" panose="02020603050405020304" pitchFamily="18" charset="0"/>
                          <a:cs typeface="Times New Roman" panose="02020603050405020304" pitchFamily="18" charset="0"/>
                        </a:rPr>
                        <a:t>Karim</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3.5</a:t>
                      </a:r>
                    </a:p>
                  </a:txBody>
                  <a:tcPr anchor="ctr"/>
                </a:tc>
                <a:extLst>
                  <a:ext uri="{0D108BD9-81ED-4DB2-BD59-A6C34878D82A}">
                    <a16:rowId xmlns:a16="http://schemas.microsoft.com/office/drawing/2014/main" val="382573590"/>
                  </a:ext>
                </a:extLst>
              </a:tr>
            </a:tbl>
          </a:graphicData>
        </a:graphic>
      </p:graphicFrame>
    </p:spTree>
    <p:extLst>
      <p:ext uri="{BB962C8B-B14F-4D97-AF65-F5344CB8AC3E}">
        <p14:creationId xmlns:p14="http://schemas.microsoft.com/office/powerpoint/2010/main" val="14387560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C5C8E-FEB8-617A-977D-71C27013670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22F430E-D961-1E71-F27A-54DBCBE0B7B8}"/>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FFFE327F-0464-73FB-0185-EE034C8488B4}"/>
              </a:ext>
            </a:extLst>
          </p:cNvPr>
          <p:cNvSpPr>
            <a:spLocks noGrp="1"/>
          </p:cNvSpPr>
          <p:nvPr>
            <p:ph idx="1"/>
          </p:nvPr>
        </p:nvSpPr>
        <p:spPr>
          <a:xfrm>
            <a:off x="579663" y="1598613"/>
            <a:ext cx="7209065"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Common Data Wrangling Tasks: </a:t>
            </a:r>
          </a:p>
          <a:p>
            <a:pPr marL="80963" lvl="1" indent="0" algn="just" eaLnBrk="1" hangingPunct="1">
              <a:buClr>
                <a:srgbClr val="0B5395"/>
              </a:buClr>
              <a:buNone/>
            </a:pPr>
            <a:r>
              <a:rPr lang="en-US" altLang="en-US" b="1" dirty="0">
                <a:latin typeface="Times New Roman" pitchFamily="18" charset="0"/>
                <a:cs typeface="Times New Roman" pitchFamily="18" charset="0"/>
              </a:rPr>
              <a:t>Reshaping Data: </a:t>
            </a:r>
            <a:r>
              <a:rPr lang="en-US" altLang="en-US" dirty="0">
                <a:latin typeface="Times New Roman" pitchFamily="18" charset="0"/>
                <a:cs typeface="Times New Roman" pitchFamily="18" charset="0"/>
              </a:rPr>
              <a:t>Change the structure of a dataset.</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p:txBody>
      </p:sp>
      <p:sp>
        <p:nvSpPr>
          <p:cNvPr id="5124" name="Slide Number Placeholder 1">
            <a:extLst>
              <a:ext uri="{FF2B5EF4-FFF2-40B4-BE49-F238E27FC236}">
                <a16:creationId xmlns:a16="http://schemas.microsoft.com/office/drawing/2014/main" id="{526FA3D8-42EE-BA01-D4D3-795ED3E4C3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29</a:t>
            </a:fld>
            <a:endParaRPr lang="en-US"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a:extLst>
              <a:ext uri="{FF2B5EF4-FFF2-40B4-BE49-F238E27FC236}">
                <a16:creationId xmlns:a16="http://schemas.microsoft.com/office/drawing/2014/main" id="{65F0C542-B483-0A99-2BCB-0BA7B7884477}"/>
              </a:ext>
            </a:extLst>
          </p:cNvPr>
          <p:cNvGraphicFramePr>
            <a:graphicFrameLocks noGrp="1"/>
          </p:cNvGraphicFramePr>
          <p:nvPr>
            <p:extLst>
              <p:ext uri="{D42A27DB-BD31-4B8C-83A1-F6EECF244321}">
                <p14:modId xmlns:p14="http://schemas.microsoft.com/office/powerpoint/2010/main" val="3208101949"/>
              </p:ext>
            </p:extLst>
          </p:nvPr>
        </p:nvGraphicFramePr>
        <p:xfrm>
          <a:off x="736600" y="2405698"/>
          <a:ext cx="2650490" cy="109728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3414079069"/>
                    </a:ext>
                  </a:extLst>
                </a:gridCol>
                <a:gridCol w="824230">
                  <a:extLst>
                    <a:ext uri="{9D8B030D-6E8A-4147-A177-3AD203B41FA5}">
                      <a16:colId xmlns:a16="http://schemas.microsoft.com/office/drawing/2014/main" val="367436800"/>
                    </a:ext>
                  </a:extLst>
                </a:gridCol>
                <a:gridCol w="824230">
                  <a:extLst>
                    <a:ext uri="{9D8B030D-6E8A-4147-A177-3AD203B41FA5}">
                      <a16:colId xmlns:a16="http://schemas.microsoft.com/office/drawing/2014/main" val="1849637801"/>
                    </a:ext>
                  </a:extLst>
                </a:gridCol>
              </a:tblGrid>
              <a:tr h="365760">
                <a:tc>
                  <a:txBody>
                    <a:bodyPr/>
                    <a:lstStyle/>
                    <a:p>
                      <a:pPr>
                        <a:buNone/>
                      </a:pPr>
                      <a:r>
                        <a:rPr lang="en-US" sz="1800" b="1">
                          <a:latin typeface="Times New Roman" panose="02020603050405020304" pitchFamily="18" charset="0"/>
                          <a:cs typeface="Times New Roman" panose="02020603050405020304" pitchFamily="18" charset="0"/>
                        </a:rPr>
                        <a:t>Student</a:t>
                      </a:r>
                    </a:p>
                  </a:txBody>
                  <a:tcPr anchor="ctr"/>
                </a:tc>
                <a:tc>
                  <a:txBody>
                    <a:bodyPr/>
                    <a:lstStyle/>
                    <a:p>
                      <a:pPr>
                        <a:buNone/>
                      </a:pPr>
                      <a:r>
                        <a:rPr lang="en-US" sz="1800" b="1">
                          <a:latin typeface="Times New Roman" panose="02020603050405020304" pitchFamily="18" charset="0"/>
                          <a:cs typeface="Times New Roman" panose="02020603050405020304" pitchFamily="18" charset="0"/>
                        </a:rPr>
                        <a:t>Quiz1</a:t>
                      </a:r>
                    </a:p>
                  </a:txBody>
                  <a:tcPr anchor="ctr"/>
                </a:tc>
                <a:tc>
                  <a:txBody>
                    <a:bodyPr/>
                    <a:lstStyle/>
                    <a:p>
                      <a:pPr>
                        <a:buNone/>
                      </a:pPr>
                      <a:r>
                        <a:rPr lang="en-US" sz="1800" b="1" dirty="0">
                          <a:latin typeface="Times New Roman" panose="02020603050405020304" pitchFamily="18" charset="0"/>
                          <a:cs typeface="Times New Roman" panose="02020603050405020304" pitchFamily="18" charset="0"/>
                        </a:rPr>
                        <a:t>Quiz2</a:t>
                      </a:r>
                    </a:p>
                  </a:txBody>
                  <a:tcPr anchor="ctr"/>
                </a:tc>
                <a:extLst>
                  <a:ext uri="{0D108BD9-81ED-4DB2-BD59-A6C34878D82A}">
                    <a16:rowId xmlns:a16="http://schemas.microsoft.com/office/drawing/2014/main" val="2519212549"/>
                  </a:ext>
                </a:extLst>
              </a:tr>
              <a:tr h="365760">
                <a:tc>
                  <a:txBody>
                    <a:bodyPr/>
                    <a:lstStyle/>
                    <a:p>
                      <a:pPr>
                        <a:buNone/>
                      </a:pPr>
                      <a:r>
                        <a:rPr lang="en-US" sz="1800">
                          <a:latin typeface="Times New Roman" panose="02020603050405020304" pitchFamily="18" charset="0"/>
                          <a:cs typeface="Times New Roman" panose="02020603050405020304" pitchFamily="18" charset="0"/>
                        </a:rPr>
                        <a:t>Rahim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80</a:t>
                      </a:r>
                    </a:p>
                  </a:txBody>
                  <a:tcPr anchor="ctr"/>
                </a:tc>
                <a:tc>
                  <a:txBody>
                    <a:bodyPr/>
                    <a:lstStyle/>
                    <a:p>
                      <a:pPr>
                        <a:buNone/>
                      </a:pPr>
                      <a:r>
                        <a:rPr lang="en-US" sz="1800">
                          <a:latin typeface="Times New Roman" panose="02020603050405020304" pitchFamily="18" charset="0"/>
                          <a:cs typeface="Times New Roman" panose="02020603050405020304" pitchFamily="18" charset="0"/>
                        </a:rPr>
                        <a:t>85</a:t>
                      </a:r>
                    </a:p>
                  </a:txBody>
                  <a:tcPr anchor="ctr"/>
                </a:tc>
                <a:extLst>
                  <a:ext uri="{0D108BD9-81ED-4DB2-BD59-A6C34878D82A}">
                    <a16:rowId xmlns:a16="http://schemas.microsoft.com/office/drawing/2014/main" val="4011617640"/>
                  </a:ext>
                </a:extLst>
              </a:tr>
              <a:tr h="365760">
                <a:tc>
                  <a:txBody>
                    <a:bodyPr/>
                    <a:lstStyle/>
                    <a:p>
                      <a:pPr>
                        <a:buNone/>
                      </a:pPr>
                      <a:r>
                        <a:rPr lang="en-US" sz="1800">
                          <a:latin typeface="Times New Roman" panose="02020603050405020304" pitchFamily="18" charset="0"/>
                          <a:cs typeface="Times New Roman" panose="02020603050405020304" pitchFamily="18" charset="0"/>
                        </a:rPr>
                        <a:t>Karim</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75</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88</a:t>
                      </a:r>
                    </a:p>
                  </a:txBody>
                  <a:tcPr anchor="ctr"/>
                </a:tc>
                <a:extLst>
                  <a:ext uri="{0D108BD9-81ED-4DB2-BD59-A6C34878D82A}">
                    <a16:rowId xmlns:a16="http://schemas.microsoft.com/office/drawing/2014/main" val="38436813"/>
                  </a:ext>
                </a:extLst>
              </a:tr>
            </a:tbl>
          </a:graphicData>
        </a:graphic>
      </p:graphicFrame>
      <p:graphicFrame>
        <p:nvGraphicFramePr>
          <p:cNvPr id="3" name="Table 2">
            <a:extLst>
              <a:ext uri="{FF2B5EF4-FFF2-40B4-BE49-F238E27FC236}">
                <a16:creationId xmlns:a16="http://schemas.microsoft.com/office/drawing/2014/main" id="{08921825-5993-ADF1-80BB-0BAE29A57A3B}"/>
              </a:ext>
            </a:extLst>
          </p:cNvPr>
          <p:cNvGraphicFramePr>
            <a:graphicFrameLocks noGrp="1"/>
          </p:cNvGraphicFramePr>
          <p:nvPr>
            <p:extLst>
              <p:ext uri="{D42A27DB-BD31-4B8C-83A1-F6EECF244321}">
                <p14:modId xmlns:p14="http://schemas.microsoft.com/office/powerpoint/2010/main" val="2269345894"/>
              </p:ext>
            </p:extLst>
          </p:nvPr>
        </p:nvGraphicFramePr>
        <p:xfrm>
          <a:off x="736600" y="4210050"/>
          <a:ext cx="2688590" cy="182880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466909215"/>
                    </a:ext>
                  </a:extLst>
                </a:gridCol>
                <a:gridCol w="798830">
                  <a:extLst>
                    <a:ext uri="{9D8B030D-6E8A-4147-A177-3AD203B41FA5}">
                      <a16:colId xmlns:a16="http://schemas.microsoft.com/office/drawing/2014/main" val="2314510693"/>
                    </a:ext>
                  </a:extLst>
                </a:gridCol>
                <a:gridCol w="887730">
                  <a:extLst>
                    <a:ext uri="{9D8B030D-6E8A-4147-A177-3AD203B41FA5}">
                      <a16:colId xmlns:a16="http://schemas.microsoft.com/office/drawing/2014/main" val="3334340029"/>
                    </a:ext>
                  </a:extLst>
                </a:gridCol>
              </a:tblGrid>
              <a:tr h="365760">
                <a:tc>
                  <a:txBody>
                    <a:bodyPr/>
                    <a:lstStyle/>
                    <a:p>
                      <a:pPr>
                        <a:buNone/>
                      </a:pPr>
                      <a:r>
                        <a:rPr lang="en-US" sz="1800" b="1">
                          <a:latin typeface="Times New Roman" panose="02020603050405020304" pitchFamily="18" charset="0"/>
                          <a:cs typeface="Times New Roman" panose="02020603050405020304" pitchFamily="18" charset="0"/>
                        </a:rPr>
                        <a:t>Student</a:t>
                      </a:r>
                    </a:p>
                  </a:txBody>
                  <a:tcPr anchor="ctr"/>
                </a:tc>
                <a:tc>
                  <a:txBody>
                    <a:bodyPr/>
                    <a:lstStyle/>
                    <a:p>
                      <a:pPr>
                        <a:buNone/>
                      </a:pPr>
                      <a:r>
                        <a:rPr lang="en-US" sz="1800" b="1">
                          <a:latin typeface="Times New Roman" panose="02020603050405020304" pitchFamily="18" charset="0"/>
                          <a:cs typeface="Times New Roman" panose="02020603050405020304" pitchFamily="18" charset="0"/>
                        </a:rPr>
                        <a:t>Quiz</a:t>
                      </a:r>
                    </a:p>
                  </a:txBody>
                  <a:tcPr anchor="ctr"/>
                </a:tc>
                <a:tc>
                  <a:txBody>
                    <a:bodyPr/>
                    <a:lstStyle/>
                    <a:p>
                      <a:pPr>
                        <a:buNone/>
                      </a:pPr>
                      <a:r>
                        <a:rPr lang="en-US" sz="1800" b="1" dirty="0">
                          <a:latin typeface="Times New Roman" panose="02020603050405020304" pitchFamily="18" charset="0"/>
                          <a:cs typeface="Times New Roman" panose="02020603050405020304" pitchFamily="18" charset="0"/>
                        </a:rPr>
                        <a:t>Marks</a:t>
                      </a:r>
                    </a:p>
                  </a:txBody>
                  <a:tcPr anchor="ctr"/>
                </a:tc>
                <a:extLst>
                  <a:ext uri="{0D108BD9-81ED-4DB2-BD59-A6C34878D82A}">
                    <a16:rowId xmlns:a16="http://schemas.microsoft.com/office/drawing/2014/main" val="4277521906"/>
                  </a:ext>
                </a:extLst>
              </a:tr>
              <a:tr h="365760">
                <a:tc>
                  <a:txBody>
                    <a:bodyPr/>
                    <a:lstStyle/>
                    <a:p>
                      <a:pPr>
                        <a:buNone/>
                      </a:pPr>
                      <a:r>
                        <a:rPr lang="en-US" sz="1800">
                          <a:latin typeface="Times New Roman" panose="02020603050405020304" pitchFamily="18" charset="0"/>
                          <a:cs typeface="Times New Roman" panose="02020603050405020304" pitchFamily="18" charset="0"/>
                        </a:rPr>
                        <a:t>Rahim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Quiz1</a:t>
                      </a:r>
                    </a:p>
                  </a:txBody>
                  <a:tcPr anchor="ctr"/>
                </a:tc>
                <a:tc>
                  <a:txBody>
                    <a:bodyPr/>
                    <a:lstStyle/>
                    <a:p>
                      <a:pPr>
                        <a:buNone/>
                      </a:pPr>
                      <a:r>
                        <a:rPr lang="en-US" sz="1800">
                          <a:latin typeface="Times New Roman" panose="02020603050405020304" pitchFamily="18" charset="0"/>
                          <a:cs typeface="Times New Roman" panose="02020603050405020304" pitchFamily="18" charset="0"/>
                        </a:rPr>
                        <a:t>80</a:t>
                      </a:r>
                    </a:p>
                  </a:txBody>
                  <a:tcPr anchor="ctr"/>
                </a:tc>
                <a:extLst>
                  <a:ext uri="{0D108BD9-81ED-4DB2-BD59-A6C34878D82A}">
                    <a16:rowId xmlns:a16="http://schemas.microsoft.com/office/drawing/2014/main" val="2923986196"/>
                  </a:ext>
                </a:extLst>
              </a:tr>
              <a:tr h="365760">
                <a:tc>
                  <a:txBody>
                    <a:bodyPr/>
                    <a:lstStyle/>
                    <a:p>
                      <a:pPr>
                        <a:buNone/>
                      </a:pPr>
                      <a:r>
                        <a:rPr lang="en-US" sz="1800">
                          <a:latin typeface="Times New Roman" panose="02020603050405020304" pitchFamily="18" charset="0"/>
                          <a:cs typeface="Times New Roman" panose="02020603050405020304" pitchFamily="18" charset="0"/>
                        </a:rPr>
                        <a:t>Rahim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Quiz2</a:t>
                      </a:r>
                    </a:p>
                  </a:txBody>
                  <a:tcPr anchor="ctr"/>
                </a:tc>
                <a:tc>
                  <a:txBody>
                    <a:bodyPr/>
                    <a:lstStyle/>
                    <a:p>
                      <a:pPr>
                        <a:buNone/>
                      </a:pPr>
                      <a:r>
                        <a:rPr lang="en-US" sz="1800">
                          <a:latin typeface="Times New Roman" panose="02020603050405020304" pitchFamily="18" charset="0"/>
                          <a:cs typeface="Times New Roman" panose="02020603050405020304" pitchFamily="18" charset="0"/>
                        </a:rPr>
                        <a:t>85</a:t>
                      </a:r>
                    </a:p>
                  </a:txBody>
                  <a:tcPr anchor="ctr"/>
                </a:tc>
                <a:extLst>
                  <a:ext uri="{0D108BD9-81ED-4DB2-BD59-A6C34878D82A}">
                    <a16:rowId xmlns:a16="http://schemas.microsoft.com/office/drawing/2014/main" val="2803410622"/>
                  </a:ext>
                </a:extLst>
              </a:tr>
              <a:tr h="365760">
                <a:tc>
                  <a:txBody>
                    <a:bodyPr/>
                    <a:lstStyle/>
                    <a:p>
                      <a:pPr>
                        <a:buNone/>
                      </a:pPr>
                      <a:r>
                        <a:rPr lang="en-US" sz="1800">
                          <a:latin typeface="Times New Roman" panose="02020603050405020304" pitchFamily="18" charset="0"/>
                          <a:cs typeface="Times New Roman" panose="02020603050405020304" pitchFamily="18" charset="0"/>
                        </a:rPr>
                        <a:t>Karim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Quiz1</a:t>
                      </a:r>
                    </a:p>
                  </a:txBody>
                  <a:tcPr anchor="ctr"/>
                </a:tc>
                <a:tc>
                  <a:txBody>
                    <a:bodyPr/>
                    <a:lstStyle/>
                    <a:p>
                      <a:pPr>
                        <a:buNone/>
                      </a:pPr>
                      <a:r>
                        <a:rPr lang="en-US" sz="1800">
                          <a:latin typeface="Times New Roman" panose="02020603050405020304" pitchFamily="18" charset="0"/>
                          <a:cs typeface="Times New Roman" panose="02020603050405020304" pitchFamily="18" charset="0"/>
                        </a:rPr>
                        <a:t>75</a:t>
                      </a:r>
                    </a:p>
                  </a:txBody>
                  <a:tcPr anchor="ctr"/>
                </a:tc>
                <a:extLst>
                  <a:ext uri="{0D108BD9-81ED-4DB2-BD59-A6C34878D82A}">
                    <a16:rowId xmlns:a16="http://schemas.microsoft.com/office/drawing/2014/main" val="1018149879"/>
                  </a:ext>
                </a:extLst>
              </a:tr>
              <a:tr h="365760">
                <a:tc>
                  <a:txBody>
                    <a:bodyPr/>
                    <a:lstStyle/>
                    <a:p>
                      <a:pPr>
                        <a:buNone/>
                      </a:pPr>
                      <a:r>
                        <a:rPr lang="en-US" sz="1800">
                          <a:latin typeface="Times New Roman" panose="02020603050405020304" pitchFamily="18" charset="0"/>
                          <a:cs typeface="Times New Roman" panose="02020603050405020304" pitchFamily="18" charset="0"/>
                        </a:rPr>
                        <a:t>Karim</a:t>
                      </a:r>
                    </a:p>
                  </a:txBody>
                  <a:tcPr anchor="ctr"/>
                </a:tc>
                <a:tc>
                  <a:txBody>
                    <a:bodyPr/>
                    <a:lstStyle/>
                    <a:p>
                      <a:pPr>
                        <a:buNone/>
                      </a:pPr>
                      <a:r>
                        <a:rPr lang="en-US" sz="1800">
                          <a:latin typeface="Times New Roman" panose="02020603050405020304" pitchFamily="18" charset="0"/>
                          <a:cs typeface="Times New Roman" panose="02020603050405020304" pitchFamily="18" charset="0"/>
                        </a:rPr>
                        <a:t>Quiz2</a:t>
                      </a:r>
                    </a:p>
                  </a:txBody>
                  <a:tcPr anchor="ctr"/>
                </a:tc>
                <a:tc>
                  <a:txBody>
                    <a:bodyPr/>
                    <a:lstStyle/>
                    <a:p>
                      <a:pPr>
                        <a:buNone/>
                      </a:pPr>
                      <a:r>
                        <a:rPr lang="en-US" sz="1800" dirty="0">
                          <a:latin typeface="Times New Roman" panose="02020603050405020304" pitchFamily="18" charset="0"/>
                          <a:cs typeface="Times New Roman" panose="02020603050405020304" pitchFamily="18" charset="0"/>
                        </a:rPr>
                        <a:t>88</a:t>
                      </a:r>
                    </a:p>
                  </a:txBody>
                  <a:tcPr anchor="ctr"/>
                </a:tc>
                <a:extLst>
                  <a:ext uri="{0D108BD9-81ED-4DB2-BD59-A6C34878D82A}">
                    <a16:rowId xmlns:a16="http://schemas.microsoft.com/office/drawing/2014/main" val="352583933"/>
                  </a:ext>
                </a:extLst>
              </a:tr>
            </a:tbl>
          </a:graphicData>
        </a:graphic>
      </p:graphicFrame>
    </p:spTree>
    <p:extLst>
      <p:ext uri="{BB962C8B-B14F-4D97-AF65-F5344CB8AC3E}">
        <p14:creationId xmlns:p14="http://schemas.microsoft.com/office/powerpoint/2010/main" val="13153217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C5C8E-FEB8-617A-977D-71C270136704}"/>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F22F430E-D961-1E71-F27A-54DBCBE0B7B8}"/>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FFFE327F-0464-73FB-0185-EE034C8488B4}"/>
              </a:ext>
            </a:extLst>
          </p:cNvPr>
          <p:cNvSpPr>
            <a:spLocks noGrp="1"/>
          </p:cNvSpPr>
          <p:nvPr>
            <p:ph idx="1"/>
          </p:nvPr>
        </p:nvSpPr>
        <p:spPr>
          <a:xfrm>
            <a:off x="579664" y="1598613"/>
            <a:ext cx="4392386"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Encoding Categorical Data</a:t>
            </a:r>
          </a:p>
          <a:p>
            <a:pPr marL="80963" lvl="1" indent="0" algn="just" eaLnBrk="1" hangingPunct="1">
              <a:buClr>
                <a:srgbClr val="0B5395"/>
              </a:buClr>
              <a:buNone/>
            </a:pPr>
            <a:r>
              <a:rPr lang="en-US" altLang="en-US" dirty="0">
                <a:latin typeface="Times New Roman" pitchFamily="18" charset="0"/>
                <a:cs typeface="Times New Roman" pitchFamily="18" charset="0"/>
              </a:rPr>
              <a:t>Encoding categorical data is the process of converting text-based categories into numbers so that machine learning algorithms can process them.</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Let's use a simple example. Imagine you have survey data with a "Favorite Fruit" column.</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A machine learning model can't understand "Apple" or "Orange." We need to encode these labels into numbers. Here are the two most common ways to do that.</a:t>
            </a:r>
          </a:p>
        </p:txBody>
      </p:sp>
      <p:sp>
        <p:nvSpPr>
          <p:cNvPr id="5124" name="Slide Number Placeholder 1">
            <a:extLst>
              <a:ext uri="{FF2B5EF4-FFF2-40B4-BE49-F238E27FC236}">
                <a16:creationId xmlns:a16="http://schemas.microsoft.com/office/drawing/2014/main" id="{526FA3D8-42EE-BA01-D4D3-795ED3E4C3A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30</a:t>
            </a:fld>
            <a:endParaRPr lang="en-US" altLang="en-US"/>
          </a:p>
        </p:txBody>
      </p:sp>
      <p:graphicFrame>
        <p:nvGraphicFramePr>
          <p:cNvPr id="3" name="Table 2">
            <a:extLst>
              <a:ext uri="{FF2B5EF4-FFF2-40B4-BE49-F238E27FC236}">
                <a16:creationId xmlns:a16="http://schemas.microsoft.com/office/drawing/2014/main" id="{A602D6CD-8488-C28B-6851-C0E1B71079B0}"/>
              </a:ext>
            </a:extLst>
          </p:cNvPr>
          <p:cNvGraphicFramePr>
            <a:graphicFrameLocks noGrp="1"/>
          </p:cNvGraphicFramePr>
          <p:nvPr>
            <p:extLst>
              <p:ext uri="{D42A27DB-BD31-4B8C-83A1-F6EECF244321}">
                <p14:modId xmlns:p14="http://schemas.microsoft.com/office/powerpoint/2010/main" val="2063266852"/>
              </p:ext>
            </p:extLst>
          </p:nvPr>
        </p:nvGraphicFramePr>
        <p:xfrm>
          <a:off x="5283496" y="2695122"/>
          <a:ext cx="3126105" cy="2194560"/>
        </p:xfrm>
        <a:graphic>
          <a:graphicData uri="http://schemas.openxmlformats.org/drawingml/2006/table">
            <a:tbl>
              <a:tblPr>
                <a:tableStyleId>{D7AC3CCA-C797-4891-BE02-D94E43425B78}</a:tableStyleId>
              </a:tblPr>
              <a:tblGrid>
                <a:gridCol w="1348740">
                  <a:extLst>
                    <a:ext uri="{9D8B030D-6E8A-4147-A177-3AD203B41FA5}">
                      <a16:colId xmlns:a16="http://schemas.microsoft.com/office/drawing/2014/main" val="317812398"/>
                    </a:ext>
                  </a:extLst>
                </a:gridCol>
                <a:gridCol w="1777365">
                  <a:extLst>
                    <a:ext uri="{9D8B030D-6E8A-4147-A177-3AD203B41FA5}">
                      <a16:colId xmlns:a16="http://schemas.microsoft.com/office/drawing/2014/main" val="4050830119"/>
                    </a:ext>
                  </a:extLst>
                </a:gridCol>
              </a:tblGrid>
              <a:tr h="365760">
                <a:tc>
                  <a:txBody>
                    <a:bodyPr/>
                    <a:lstStyle/>
                    <a:p>
                      <a:pPr algn="ctr"/>
                      <a:r>
                        <a:rPr lang="en-GB" sz="1800" b="1" dirty="0"/>
                        <a:t>Person ID</a:t>
                      </a:r>
                    </a:p>
                  </a:txBody>
                  <a:tcPr anchor="ctr"/>
                </a:tc>
                <a:tc>
                  <a:txBody>
                    <a:bodyPr/>
                    <a:lstStyle/>
                    <a:p>
                      <a:pPr algn="ctr"/>
                      <a:r>
                        <a:rPr lang="en-GB" sz="1800" b="1"/>
                        <a:t>Favorite Fruit</a:t>
                      </a:r>
                    </a:p>
                  </a:txBody>
                  <a:tcPr anchor="ctr"/>
                </a:tc>
                <a:extLst>
                  <a:ext uri="{0D108BD9-81ED-4DB2-BD59-A6C34878D82A}">
                    <a16:rowId xmlns:a16="http://schemas.microsoft.com/office/drawing/2014/main" val="1290491865"/>
                  </a:ext>
                </a:extLst>
              </a:tr>
              <a:tr h="365760">
                <a:tc>
                  <a:txBody>
                    <a:bodyPr/>
                    <a:lstStyle/>
                    <a:p>
                      <a:pPr algn="l"/>
                      <a:r>
                        <a:rPr lang="en-GB" sz="1800" b="0"/>
                        <a:t>1</a:t>
                      </a:r>
                    </a:p>
                  </a:txBody>
                  <a:tcPr anchor="ctr"/>
                </a:tc>
                <a:tc>
                  <a:txBody>
                    <a:bodyPr/>
                    <a:lstStyle/>
                    <a:p>
                      <a:pPr algn="l"/>
                      <a:r>
                        <a:rPr lang="en-GB" sz="1800" b="0" dirty="0"/>
                        <a:t>Apple</a:t>
                      </a:r>
                    </a:p>
                  </a:txBody>
                  <a:tcPr anchor="ctr"/>
                </a:tc>
                <a:extLst>
                  <a:ext uri="{0D108BD9-81ED-4DB2-BD59-A6C34878D82A}">
                    <a16:rowId xmlns:a16="http://schemas.microsoft.com/office/drawing/2014/main" val="303817226"/>
                  </a:ext>
                </a:extLst>
              </a:tr>
              <a:tr h="365760">
                <a:tc>
                  <a:txBody>
                    <a:bodyPr/>
                    <a:lstStyle/>
                    <a:p>
                      <a:pPr algn="l"/>
                      <a:r>
                        <a:rPr lang="en-GB" sz="1800" b="0"/>
                        <a:t>2</a:t>
                      </a:r>
                    </a:p>
                  </a:txBody>
                  <a:tcPr anchor="ctr"/>
                </a:tc>
                <a:tc>
                  <a:txBody>
                    <a:bodyPr/>
                    <a:lstStyle/>
                    <a:p>
                      <a:pPr algn="l"/>
                      <a:r>
                        <a:rPr lang="en-GB" sz="1800" b="0" dirty="0"/>
                        <a:t>Orange</a:t>
                      </a:r>
                    </a:p>
                  </a:txBody>
                  <a:tcPr anchor="ctr"/>
                </a:tc>
                <a:extLst>
                  <a:ext uri="{0D108BD9-81ED-4DB2-BD59-A6C34878D82A}">
                    <a16:rowId xmlns:a16="http://schemas.microsoft.com/office/drawing/2014/main" val="2412765339"/>
                  </a:ext>
                </a:extLst>
              </a:tr>
              <a:tr h="365760">
                <a:tc>
                  <a:txBody>
                    <a:bodyPr/>
                    <a:lstStyle/>
                    <a:p>
                      <a:pPr algn="l"/>
                      <a:r>
                        <a:rPr lang="en-GB" sz="1800" b="0" dirty="0"/>
                        <a:t>3</a:t>
                      </a:r>
                    </a:p>
                  </a:txBody>
                  <a:tcPr anchor="ctr"/>
                </a:tc>
                <a:tc>
                  <a:txBody>
                    <a:bodyPr/>
                    <a:lstStyle/>
                    <a:p>
                      <a:pPr algn="l"/>
                      <a:r>
                        <a:rPr lang="en-GB" sz="1800" b="0" dirty="0"/>
                        <a:t>Banana</a:t>
                      </a:r>
                    </a:p>
                  </a:txBody>
                  <a:tcPr anchor="ctr"/>
                </a:tc>
                <a:extLst>
                  <a:ext uri="{0D108BD9-81ED-4DB2-BD59-A6C34878D82A}">
                    <a16:rowId xmlns:a16="http://schemas.microsoft.com/office/drawing/2014/main" val="3398114241"/>
                  </a:ext>
                </a:extLst>
              </a:tr>
              <a:tr h="365760">
                <a:tc>
                  <a:txBody>
                    <a:bodyPr/>
                    <a:lstStyle/>
                    <a:p>
                      <a:pPr algn="l"/>
                      <a:r>
                        <a:rPr lang="en-GB" sz="1800" b="0"/>
                        <a:t>4</a:t>
                      </a:r>
                    </a:p>
                  </a:txBody>
                  <a:tcPr anchor="ctr"/>
                </a:tc>
                <a:tc>
                  <a:txBody>
                    <a:bodyPr/>
                    <a:lstStyle/>
                    <a:p>
                      <a:pPr algn="l"/>
                      <a:r>
                        <a:rPr lang="en-GB" sz="1800" b="0" dirty="0"/>
                        <a:t>Apple</a:t>
                      </a:r>
                    </a:p>
                  </a:txBody>
                  <a:tcPr anchor="ctr"/>
                </a:tc>
                <a:extLst>
                  <a:ext uri="{0D108BD9-81ED-4DB2-BD59-A6C34878D82A}">
                    <a16:rowId xmlns:a16="http://schemas.microsoft.com/office/drawing/2014/main" val="2051841504"/>
                  </a:ext>
                </a:extLst>
              </a:tr>
              <a:tr h="365760">
                <a:tc>
                  <a:txBody>
                    <a:bodyPr/>
                    <a:lstStyle/>
                    <a:p>
                      <a:pPr algn="l"/>
                      <a:r>
                        <a:rPr lang="en-GB" sz="1800" b="0"/>
                        <a:t>5</a:t>
                      </a:r>
                    </a:p>
                  </a:txBody>
                  <a:tcPr anchor="ctr"/>
                </a:tc>
                <a:tc>
                  <a:txBody>
                    <a:bodyPr/>
                    <a:lstStyle/>
                    <a:p>
                      <a:pPr algn="l"/>
                      <a:r>
                        <a:rPr lang="en-GB" sz="1800" b="0" dirty="0"/>
                        <a:t>Banana</a:t>
                      </a:r>
                    </a:p>
                  </a:txBody>
                  <a:tcPr anchor="ctr"/>
                </a:tc>
                <a:extLst>
                  <a:ext uri="{0D108BD9-81ED-4DB2-BD59-A6C34878D82A}">
                    <a16:rowId xmlns:a16="http://schemas.microsoft.com/office/drawing/2014/main" val="3841563198"/>
                  </a:ext>
                </a:extLst>
              </a:tr>
            </a:tbl>
          </a:graphicData>
        </a:graphic>
      </p:graphicFrame>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49841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222DD-5986-9E01-8610-DAF0470C5A7C}"/>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DC86EDBC-0FC6-542C-A253-7C5448334E9D}"/>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D195FE82-1937-F361-20A9-01149176FFFA}"/>
              </a:ext>
            </a:extLst>
          </p:cNvPr>
          <p:cNvSpPr>
            <a:spLocks noGrp="1"/>
          </p:cNvSpPr>
          <p:nvPr>
            <p:ph idx="1"/>
          </p:nvPr>
        </p:nvSpPr>
        <p:spPr>
          <a:xfrm>
            <a:off x="1143000" y="1655763"/>
            <a:ext cx="5582920"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1. Label Encoding</a:t>
            </a:r>
          </a:p>
          <a:p>
            <a:pPr marL="80963" lvl="1" indent="0" algn="just" eaLnBrk="1" hangingPunct="1">
              <a:buClr>
                <a:srgbClr val="0B5395"/>
              </a:buClr>
              <a:buNone/>
            </a:pPr>
            <a:r>
              <a:rPr lang="en-US" altLang="en-US" dirty="0">
                <a:latin typeface="Times New Roman" pitchFamily="18" charset="0"/>
                <a:cs typeface="Times New Roman" pitchFamily="18" charset="0"/>
              </a:rPr>
              <a:t>Important Note: </a:t>
            </a:r>
          </a:p>
          <a:p>
            <a:pPr marL="423863" lvl="1" indent="-342900" algn="just" eaLnBrk="1" hangingPunct="1">
              <a:buClr>
                <a:srgbClr val="0B5395"/>
              </a:buClr>
            </a:pPr>
            <a:r>
              <a:rPr lang="en-US" altLang="en-US" dirty="0">
                <a:latin typeface="Times New Roman" pitchFamily="18" charset="0"/>
                <a:cs typeface="Times New Roman" pitchFamily="18" charset="0"/>
              </a:rPr>
              <a:t>Be careful using this for non-ordered (nominal) data. </a:t>
            </a:r>
          </a:p>
          <a:p>
            <a:pPr marL="423863" lvl="1" indent="-342900" algn="just" eaLnBrk="1" hangingPunct="1">
              <a:buClr>
                <a:srgbClr val="0B5395"/>
              </a:buClr>
            </a:pPr>
            <a:r>
              <a:rPr lang="en-US" altLang="en-US" dirty="0">
                <a:latin typeface="Times New Roman" pitchFamily="18" charset="0"/>
                <a:cs typeface="Times New Roman" pitchFamily="18" charset="0"/>
              </a:rPr>
              <a:t>Label Encoding creates an artificial order (Banana (2) &gt; Orange (1)), which can mislead some models into thinking there's a ranking when there isn't one.</a:t>
            </a:r>
          </a:p>
        </p:txBody>
      </p:sp>
      <p:sp>
        <p:nvSpPr>
          <p:cNvPr id="5124" name="Slide Number Placeholder 1">
            <a:extLst>
              <a:ext uri="{FF2B5EF4-FFF2-40B4-BE49-F238E27FC236}">
                <a16:creationId xmlns:a16="http://schemas.microsoft.com/office/drawing/2014/main" id="{C0EE31C0-2041-4B16-5C07-66EF9BC7A61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31</a:t>
            </a:fld>
            <a:endParaRPr lang="en-US" altLang="en-US"/>
          </a:p>
        </p:txBody>
      </p:sp>
      <p:graphicFrame>
        <p:nvGraphicFramePr>
          <p:cNvPr id="3" name="Table 2">
            <a:extLst>
              <a:ext uri="{FF2B5EF4-FFF2-40B4-BE49-F238E27FC236}">
                <a16:creationId xmlns:a16="http://schemas.microsoft.com/office/drawing/2014/main" id="{CB9EEE54-0CBC-B7F1-633F-A4A6D62557BC}"/>
              </a:ext>
            </a:extLst>
          </p:cNvPr>
          <p:cNvGraphicFramePr>
            <a:graphicFrameLocks noGrp="1"/>
          </p:cNvGraphicFramePr>
          <p:nvPr>
            <p:extLst>
              <p:ext uri="{D42A27DB-BD31-4B8C-83A1-F6EECF244321}">
                <p14:modId xmlns:p14="http://schemas.microsoft.com/office/powerpoint/2010/main" val="2731384846"/>
              </p:ext>
            </p:extLst>
          </p:nvPr>
        </p:nvGraphicFramePr>
        <p:xfrm>
          <a:off x="8457407" y="1465580"/>
          <a:ext cx="3126105" cy="2194560"/>
        </p:xfrm>
        <a:graphic>
          <a:graphicData uri="http://schemas.openxmlformats.org/drawingml/2006/table">
            <a:tbl>
              <a:tblPr>
                <a:tableStyleId>{D7AC3CCA-C797-4891-BE02-D94E43425B78}</a:tableStyleId>
              </a:tblPr>
              <a:tblGrid>
                <a:gridCol w="1348740">
                  <a:extLst>
                    <a:ext uri="{9D8B030D-6E8A-4147-A177-3AD203B41FA5}">
                      <a16:colId xmlns:a16="http://schemas.microsoft.com/office/drawing/2014/main" val="317812398"/>
                    </a:ext>
                  </a:extLst>
                </a:gridCol>
                <a:gridCol w="1777365">
                  <a:extLst>
                    <a:ext uri="{9D8B030D-6E8A-4147-A177-3AD203B41FA5}">
                      <a16:colId xmlns:a16="http://schemas.microsoft.com/office/drawing/2014/main" val="4050830119"/>
                    </a:ext>
                  </a:extLst>
                </a:gridCol>
              </a:tblGrid>
              <a:tr h="365760">
                <a:tc>
                  <a:txBody>
                    <a:bodyPr/>
                    <a:lstStyle/>
                    <a:p>
                      <a:pPr algn="ctr"/>
                      <a:r>
                        <a:rPr lang="en-GB" sz="1800" b="1" dirty="0"/>
                        <a:t>Person ID</a:t>
                      </a:r>
                    </a:p>
                  </a:txBody>
                  <a:tcPr anchor="ctr"/>
                </a:tc>
                <a:tc>
                  <a:txBody>
                    <a:bodyPr/>
                    <a:lstStyle/>
                    <a:p>
                      <a:pPr algn="ctr"/>
                      <a:r>
                        <a:rPr lang="en-GB" sz="1800" b="1"/>
                        <a:t>Favorite Fruit</a:t>
                      </a:r>
                    </a:p>
                  </a:txBody>
                  <a:tcPr anchor="ctr"/>
                </a:tc>
                <a:extLst>
                  <a:ext uri="{0D108BD9-81ED-4DB2-BD59-A6C34878D82A}">
                    <a16:rowId xmlns:a16="http://schemas.microsoft.com/office/drawing/2014/main" val="1290491865"/>
                  </a:ext>
                </a:extLst>
              </a:tr>
              <a:tr h="365760">
                <a:tc>
                  <a:txBody>
                    <a:bodyPr/>
                    <a:lstStyle/>
                    <a:p>
                      <a:pPr algn="l"/>
                      <a:r>
                        <a:rPr lang="en-GB" sz="1800" b="0"/>
                        <a:t>1</a:t>
                      </a:r>
                    </a:p>
                  </a:txBody>
                  <a:tcPr anchor="ctr"/>
                </a:tc>
                <a:tc>
                  <a:txBody>
                    <a:bodyPr/>
                    <a:lstStyle/>
                    <a:p>
                      <a:pPr algn="l"/>
                      <a:r>
                        <a:rPr lang="en-GB" sz="1800" b="0" dirty="0"/>
                        <a:t>Apple</a:t>
                      </a:r>
                    </a:p>
                  </a:txBody>
                  <a:tcPr anchor="ctr"/>
                </a:tc>
                <a:extLst>
                  <a:ext uri="{0D108BD9-81ED-4DB2-BD59-A6C34878D82A}">
                    <a16:rowId xmlns:a16="http://schemas.microsoft.com/office/drawing/2014/main" val="303817226"/>
                  </a:ext>
                </a:extLst>
              </a:tr>
              <a:tr h="365760">
                <a:tc>
                  <a:txBody>
                    <a:bodyPr/>
                    <a:lstStyle/>
                    <a:p>
                      <a:pPr algn="l"/>
                      <a:r>
                        <a:rPr lang="en-GB" sz="1800" b="0"/>
                        <a:t>2</a:t>
                      </a:r>
                    </a:p>
                  </a:txBody>
                  <a:tcPr anchor="ctr"/>
                </a:tc>
                <a:tc>
                  <a:txBody>
                    <a:bodyPr/>
                    <a:lstStyle/>
                    <a:p>
                      <a:pPr algn="l"/>
                      <a:r>
                        <a:rPr lang="en-GB" sz="1800" b="0" dirty="0"/>
                        <a:t>Orange</a:t>
                      </a:r>
                    </a:p>
                  </a:txBody>
                  <a:tcPr anchor="ctr"/>
                </a:tc>
                <a:extLst>
                  <a:ext uri="{0D108BD9-81ED-4DB2-BD59-A6C34878D82A}">
                    <a16:rowId xmlns:a16="http://schemas.microsoft.com/office/drawing/2014/main" val="2412765339"/>
                  </a:ext>
                </a:extLst>
              </a:tr>
              <a:tr h="365760">
                <a:tc>
                  <a:txBody>
                    <a:bodyPr/>
                    <a:lstStyle/>
                    <a:p>
                      <a:pPr algn="l"/>
                      <a:r>
                        <a:rPr lang="en-GB" sz="1800" b="0"/>
                        <a:t>3</a:t>
                      </a:r>
                    </a:p>
                  </a:txBody>
                  <a:tcPr anchor="ctr"/>
                </a:tc>
                <a:tc>
                  <a:txBody>
                    <a:bodyPr/>
                    <a:lstStyle/>
                    <a:p>
                      <a:pPr algn="l"/>
                      <a:r>
                        <a:rPr lang="en-GB" sz="1800" b="0" dirty="0"/>
                        <a:t>Banana</a:t>
                      </a:r>
                    </a:p>
                  </a:txBody>
                  <a:tcPr anchor="ctr"/>
                </a:tc>
                <a:extLst>
                  <a:ext uri="{0D108BD9-81ED-4DB2-BD59-A6C34878D82A}">
                    <a16:rowId xmlns:a16="http://schemas.microsoft.com/office/drawing/2014/main" val="3398114241"/>
                  </a:ext>
                </a:extLst>
              </a:tr>
              <a:tr h="365760">
                <a:tc>
                  <a:txBody>
                    <a:bodyPr/>
                    <a:lstStyle/>
                    <a:p>
                      <a:pPr algn="l"/>
                      <a:r>
                        <a:rPr lang="en-GB" sz="1800" b="0" dirty="0"/>
                        <a:t>4</a:t>
                      </a:r>
                    </a:p>
                  </a:txBody>
                  <a:tcPr anchor="ctr"/>
                </a:tc>
                <a:tc>
                  <a:txBody>
                    <a:bodyPr/>
                    <a:lstStyle/>
                    <a:p>
                      <a:pPr algn="l"/>
                      <a:r>
                        <a:rPr lang="en-GB" sz="1800" b="0" dirty="0"/>
                        <a:t>Apple</a:t>
                      </a:r>
                    </a:p>
                  </a:txBody>
                  <a:tcPr anchor="ctr"/>
                </a:tc>
                <a:extLst>
                  <a:ext uri="{0D108BD9-81ED-4DB2-BD59-A6C34878D82A}">
                    <a16:rowId xmlns:a16="http://schemas.microsoft.com/office/drawing/2014/main" val="2051841504"/>
                  </a:ext>
                </a:extLst>
              </a:tr>
              <a:tr h="365760">
                <a:tc>
                  <a:txBody>
                    <a:bodyPr/>
                    <a:lstStyle/>
                    <a:p>
                      <a:pPr algn="l"/>
                      <a:r>
                        <a:rPr lang="en-GB" sz="1800" b="0" dirty="0"/>
                        <a:t>5</a:t>
                      </a:r>
                    </a:p>
                  </a:txBody>
                  <a:tcPr anchor="ctr"/>
                </a:tc>
                <a:tc>
                  <a:txBody>
                    <a:bodyPr/>
                    <a:lstStyle/>
                    <a:p>
                      <a:pPr algn="l"/>
                      <a:r>
                        <a:rPr lang="en-GB" sz="1800" b="0" dirty="0"/>
                        <a:t>Banana</a:t>
                      </a:r>
                    </a:p>
                  </a:txBody>
                  <a:tcPr anchor="ctr"/>
                </a:tc>
                <a:extLst>
                  <a:ext uri="{0D108BD9-81ED-4DB2-BD59-A6C34878D82A}">
                    <a16:rowId xmlns:a16="http://schemas.microsoft.com/office/drawing/2014/main" val="3841563198"/>
                  </a:ext>
                </a:extLst>
              </a:tr>
            </a:tbl>
          </a:graphicData>
        </a:graphic>
      </p:graphicFrame>
      <p:graphicFrame>
        <p:nvGraphicFramePr>
          <p:cNvPr id="2" name="Table 1">
            <a:extLst>
              <a:ext uri="{FF2B5EF4-FFF2-40B4-BE49-F238E27FC236}">
                <a16:creationId xmlns:a16="http://schemas.microsoft.com/office/drawing/2014/main" id="{B893DB04-7B7A-1AE0-209E-9DBC21368F31}"/>
              </a:ext>
            </a:extLst>
          </p:cNvPr>
          <p:cNvGraphicFramePr>
            <a:graphicFrameLocks noGrp="1"/>
          </p:cNvGraphicFramePr>
          <p:nvPr>
            <p:extLst>
              <p:ext uri="{D42A27DB-BD31-4B8C-83A1-F6EECF244321}">
                <p14:modId xmlns:p14="http://schemas.microsoft.com/office/powerpoint/2010/main" val="3071803291"/>
              </p:ext>
            </p:extLst>
          </p:nvPr>
        </p:nvGraphicFramePr>
        <p:xfrm>
          <a:off x="6985001" y="4079080"/>
          <a:ext cx="4917711" cy="2468880"/>
        </p:xfrm>
        <a:graphic>
          <a:graphicData uri="http://schemas.openxmlformats.org/drawingml/2006/table">
            <a:tbl>
              <a:tblPr>
                <a:tableStyleId>{D7AC3CCA-C797-4891-BE02-D94E43425B78}</a:tableStyleId>
              </a:tblPr>
              <a:tblGrid>
                <a:gridCol w="1305831">
                  <a:extLst>
                    <a:ext uri="{9D8B030D-6E8A-4147-A177-3AD203B41FA5}">
                      <a16:colId xmlns:a16="http://schemas.microsoft.com/office/drawing/2014/main" val="4117269430"/>
                    </a:ext>
                  </a:extLst>
                </a:gridCol>
                <a:gridCol w="1777365">
                  <a:extLst>
                    <a:ext uri="{9D8B030D-6E8A-4147-A177-3AD203B41FA5}">
                      <a16:colId xmlns:a16="http://schemas.microsoft.com/office/drawing/2014/main" val="2337719281"/>
                    </a:ext>
                  </a:extLst>
                </a:gridCol>
                <a:gridCol w="1834515">
                  <a:extLst>
                    <a:ext uri="{9D8B030D-6E8A-4147-A177-3AD203B41FA5}">
                      <a16:colId xmlns:a16="http://schemas.microsoft.com/office/drawing/2014/main" val="2471856929"/>
                    </a:ext>
                  </a:extLst>
                </a:gridCol>
              </a:tblGrid>
              <a:tr h="628185">
                <a:tc>
                  <a:txBody>
                    <a:bodyPr/>
                    <a:lstStyle/>
                    <a:p>
                      <a:pPr algn="ctr"/>
                      <a:r>
                        <a:rPr lang="en-GB" sz="1800" b="1"/>
                        <a:t>Person ID</a:t>
                      </a:r>
                    </a:p>
                  </a:txBody>
                  <a:tcPr anchor="ctr"/>
                </a:tc>
                <a:tc>
                  <a:txBody>
                    <a:bodyPr/>
                    <a:lstStyle/>
                    <a:p>
                      <a:pPr algn="ctr"/>
                      <a:r>
                        <a:rPr lang="en-GB" sz="1800" b="1"/>
                        <a:t>Favorite Fruit</a:t>
                      </a:r>
                    </a:p>
                  </a:txBody>
                  <a:tcPr anchor="ctr"/>
                </a:tc>
                <a:tc>
                  <a:txBody>
                    <a:bodyPr/>
                    <a:lstStyle/>
                    <a:p>
                      <a:pPr algn="ctr"/>
                      <a:r>
                        <a:rPr lang="en-GB" sz="1800" b="1" dirty="0" err="1"/>
                        <a:t>Favorite</a:t>
                      </a:r>
                      <a:r>
                        <a:rPr lang="en-GB" sz="1800" b="1" dirty="0"/>
                        <a:t> Fruit </a:t>
                      </a:r>
                    </a:p>
                    <a:p>
                      <a:pPr algn="ctr"/>
                      <a:r>
                        <a:rPr lang="en-GB" sz="1800" b="1" dirty="0"/>
                        <a:t>(Encoded)</a:t>
                      </a:r>
                    </a:p>
                  </a:txBody>
                  <a:tcPr anchor="ctr"/>
                </a:tc>
                <a:extLst>
                  <a:ext uri="{0D108BD9-81ED-4DB2-BD59-A6C34878D82A}">
                    <a16:rowId xmlns:a16="http://schemas.microsoft.com/office/drawing/2014/main" val="4143328123"/>
                  </a:ext>
                </a:extLst>
              </a:tr>
              <a:tr h="358963">
                <a:tc>
                  <a:txBody>
                    <a:bodyPr/>
                    <a:lstStyle/>
                    <a:p>
                      <a:r>
                        <a:rPr lang="en-GB" sz="1800"/>
                        <a:t>1</a:t>
                      </a:r>
                    </a:p>
                  </a:txBody>
                  <a:tcPr anchor="ctr"/>
                </a:tc>
                <a:tc>
                  <a:txBody>
                    <a:bodyPr/>
                    <a:lstStyle/>
                    <a:p>
                      <a:r>
                        <a:rPr lang="en-GB" sz="1800"/>
                        <a:t>Apple</a:t>
                      </a:r>
                    </a:p>
                  </a:txBody>
                  <a:tcPr anchor="ctr"/>
                </a:tc>
                <a:tc>
                  <a:txBody>
                    <a:bodyPr/>
                    <a:lstStyle/>
                    <a:p>
                      <a:r>
                        <a:rPr lang="en-GB" sz="1800"/>
                        <a:t>0</a:t>
                      </a:r>
                    </a:p>
                  </a:txBody>
                  <a:tcPr anchor="ctr"/>
                </a:tc>
                <a:extLst>
                  <a:ext uri="{0D108BD9-81ED-4DB2-BD59-A6C34878D82A}">
                    <a16:rowId xmlns:a16="http://schemas.microsoft.com/office/drawing/2014/main" val="1129943536"/>
                  </a:ext>
                </a:extLst>
              </a:tr>
              <a:tr h="358963">
                <a:tc>
                  <a:txBody>
                    <a:bodyPr/>
                    <a:lstStyle/>
                    <a:p>
                      <a:r>
                        <a:rPr lang="en-GB" sz="1800" dirty="0"/>
                        <a:t>2</a:t>
                      </a:r>
                    </a:p>
                  </a:txBody>
                  <a:tcPr anchor="ctr"/>
                </a:tc>
                <a:tc>
                  <a:txBody>
                    <a:bodyPr/>
                    <a:lstStyle/>
                    <a:p>
                      <a:r>
                        <a:rPr lang="en-GB" sz="1800"/>
                        <a:t>Orange</a:t>
                      </a:r>
                    </a:p>
                  </a:txBody>
                  <a:tcPr anchor="ctr"/>
                </a:tc>
                <a:tc>
                  <a:txBody>
                    <a:bodyPr/>
                    <a:lstStyle/>
                    <a:p>
                      <a:r>
                        <a:rPr lang="en-GB" sz="1800"/>
                        <a:t>1</a:t>
                      </a:r>
                    </a:p>
                  </a:txBody>
                  <a:tcPr anchor="ctr"/>
                </a:tc>
                <a:extLst>
                  <a:ext uri="{0D108BD9-81ED-4DB2-BD59-A6C34878D82A}">
                    <a16:rowId xmlns:a16="http://schemas.microsoft.com/office/drawing/2014/main" val="441706087"/>
                  </a:ext>
                </a:extLst>
              </a:tr>
              <a:tr h="358963">
                <a:tc>
                  <a:txBody>
                    <a:bodyPr/>
                    <a:lstStyle/>
                    <a:p>
                      <a:r>
                        <a:rPr lang="en-GB" sz="1800"/>
                        <a:t>3</a:t>
                      </a:r>
                    </a:p>
                  </a:txBody>
                  <a:tcPr anchor="ctr"/>
                </a:tc>
                <a:tc>
                  <a:txBody>
                    <a:bodyPr/>
                    <a:lstStyle/>
                    <a:p>
                      <a:r>
                        <a:rPr lang="en-GB" sz="1800"/>
                        <a:t>Banana</a:t>
                      </a:r>
                    </a:p>
                  </a:txBody>
                  <a:tcPr anchor="ctr"/>
                </a:tc>
                <a:tc>
                  <a:txBody>
                    <a:bodyPr/>
                    <a:lstStyle/>
                    <a:p>
                      <a:r>
                        <a:rPr lang="en-GB" sz="1800"/>
                        <a:t>2</a:t>
                      </a:r>
                    </a:p>
                  </a:txBody>
                  <a:tcPr anchor="ctr"/>
                </a:tc>
                <a:extLst>
                  <a:ext uri="{0D108BD9-81ED-4DB2-BD59-A6C34878D82A}">
                    <a16:rowId xmlns:a16="http://schemas.microsoft.com/office/drawing/2014/main" val="3827096286"/>
                  </a:ext>
                </a:extLst>
              </a:tr>
              <a:tr h="358963">
                <a:tc>
                  <a:txBody>
                    <a:bodyPr/>
                    <a:lstStyle/>
                    <a:p>
                      <a:r>
                        <a:rPr lang="en-GB" sz="1800"/>
                        <a:t>4</a:t>
                      </a:r>
                    </a:p>
                  </a:txBody>
                  <a:tcPr anchor="ctr"/>
                </a:tc>
                <a:tc>
                  <a:txBody>
                    <a:bodyPr/>
                    <a:lstStyle/>
                    <a:p>
                      <a:r>
                        <a:rPr lang="en-GB" sz="1800"/>
                        <a:t>Apple</a:t>
                      </a:r>
                    </a:p>
                  </a:txBody>
                  <a:tcPr anchor="ctr"/>
                </a:tc>
                <a:tc>
                  <a:txBody>
                    <a:bodyPr/>
                    <a:lstStyle/>
                    <a:p>
                      <a:r>
                        <a:rPr lang="en-GB" sz="1800"/>
                        <a:t>0</a:t>
                      </a:r>
                    </a:p>
                  </a:txBody>
                  <a:tcPr anchor="ctr"/>
                </a:tc>
                <a:extLst>
                  <a:ext uri="{0D108BD9-81ED-4DB2-BD59-A6C34878D82A}">
                    <a16:rowId xmlns:a16="http://schemas.microsoft.com/office/drawing/2014/main" val="4262637692"/>
                  </a:ext>
                </a:extLst>
              </a:tr>
              <a:tr h="358963">
                <a:tc>
                  <a:txBody>
                    <a:bodyPr/>
                    <a:lstStyle/>
                    <a:p>
                      <a:r>
                        <a:rPr lang="en-GB" sz="1800"/>
                        <a:t>5</a:t>
                      </a:r>
                    </a:p>
                  </a:txBody>
                  <a:tcPr anchor="ctr"/>
                </a:tc>
                <a:tc>
                  <a:txBody>
                    <a:bodyPr/>
                    <a:lstStyle/>
                    <a:p>
                      <a:r>
                        <a:rPr lang="en-GB" sz="1800"/>
                        <a:t>Banana</a:t>
                      </a:r>
                    </a:p>
                  </a:txBody>
                  <a:tcPr anchor="ctr"/>
                </a:tc>
                <a:tc>
                  <a:txBody>
                    <a:bodyPr/>
                    <a:lstStyle/>
                    <a:p>
                      <a:r>
                        <a:rPr lang="en-GB" sz="1800" dirty="0"/>
                        <a:t>2</a:t>
                      </a:r>
                    </a:p>
                  </a:txBody>
                  <a:tcPr anchor="ctr"/>
                </a:tc>
                <a:extLst>
                  <a:ext uri="{0D108BD9-81ED-4DB2-BD59-A6C34878D82A}">
                    <a16:rowId xmlns:a16="http://schemas.microsoft.com/office/drawing/2014/main" val="2985631639"/>
                  </a:ext>
                </a:extLst>
              </a:tr>
            </a:tbl>
          </a:graphicData>
        </a:graphic>
      </p:graphicFrame>
      <p:sp>
        <p:nvSpPr>
          <p:cNvPr id="4" name="Arrow: Down 3">
            <a:extLst>
              <a:ext uri="{FF2B5EF4-FFF2-40B4-BE49-F238E27FC236}">
                <a16:creationId xmlns:a16="http://schemas.microsoft.com/office/drawing/2014/main" id="{3FC25844-68F7-9D30-BF80-305369CDA0F0}"/>
              </a:ext>
            </a:extLst>
          </p:cNvPr>
          <p:cNvSpPr/>
          <p:nvPr/>
        </p:nvSpPr>
        <p:spPr>
          <a:xfrm>
            <a:off x="10495280" y="3721100"/>
            <a:ext cx="325120" cy="2887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820385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28700-F5AD-F595-5840-589372B9E725}"/>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C6AECCE-E959-AA17-F631-780F9E896D4F}"/>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4806C5EA-6DA6-1937-B63F-77B6A7F87CD1}"/>
              </a:ext>
            </a:extLst>
          </p:cNvPr>
          <p:cNvSpPr>
            <a:spLocks noGrp="1"/>
          </p:cNvSpPr>
          <p:nvPr>
            <p:ph idx="1"/>
          </p:nvPr>
        </p:nvSpPr>
        <p:spPr>
          <a:xfrm>
            <a:off x="391159" y="1440021"/>
            <a:ext cx="7716521" cy="1577499"/>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2. One-Hot Encoding</a:t>
            </a:r>
          </a:p>
          <a:p>
            <a:pPr marL="80963" lvl="1" indent="0" algn="just" eaLnBrk="1" hangingPunct="1">
              <a:buClr>
                <a:srgbClr val="0B5395"/>
              </a:buClr>
              <a:buNone/>
            </a:pPr>
            <a:r>
              <a:rPr lang="en-US" altLang="en-US" dirty="0">
                <a:latin typeface="Times New Roman" pitchFamily="18" charset="0"/>
                <a:cs typeface="Times New Roman" pitchFamily="18" charset="0"/>
              </a:rPr>
              <a:t>This is the preferred method for nominal data (categories without a natural order). It creates a new binary (0 or 1) column for each unique category.</a:t>
            </a:r>
          </a:p>
        </p:txBody>
      </p:sp>
      <p:sp>
        <p:nvSpPr>
          <p:cNvPr id="5124" name="Slide Number Placeholder 1">
            <a:extLst>
              <a:ext uri="{FF2B5EF4-FFF2-40B4-BE49-F238E27FC236}">
                <a16:creationId xmlns:a16="http://schemas.microsoft.com/office/drawing/2014/main" id="{05BE4049-3A35-6124-394E-B3FD3D8610E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32</a:t>
            </a:fld>
            <a:endParaRPr lang="en-US" altLang="en-US"/>
          </a:p>
        </p:txBody>
      </p:sp>
      <p:graphicFrame>
        <p:nvGraphicFramePr>
          <p:cNvPr id="3" name="Table 2">
            <a:extLst>
              <a:ext uri="{FF2B5EF4-FFF2-40B4-BE49-F238E27FC236}">
                <a16:creationId xmlns:a16="http://schemas.microsoft.com/office/drawing/2014/main" id="{704736D3-064A-0AE0-E787-A467B7C0FBAC}"/>
              </a:ext>
            </a:extLst>
          </p:cNvPr>
          <p:cNvGraphicFramePr>
            <a:graphicFrameLocks noGrp="1"/>
          </p:cNvGraphicFramePr>
          <p:nvPr/>
        </p:nvGraphicFramePr>
        <p:xfrm>
          <a:off x="8457407" y="1465580"/>
          <a:ext cx="3126105" cy="2194560"/>
        </p:xfrm>
        <a:graphic>
          <a:graphicData uri="http://schemas.openxmlformats.org/drawingml/2006/table">
            <a:tbl>
              <a:tblPr>
                <a:tableStyleId>{D7AC3CCA-C797-4891-BE02-D94E43425B78}</a:tableStyleId>
              </a:tblPr>
              <a:tblGrid>
                <a:gridCol w="1348740">
                  <a:extLst>
                    <a:ext uri="{9D8B030D-6E8A-4147-A177-3AD203B41FA5}">
                      <a16:colId xmlns:a16="http://schemas.microsoft.com/office/drawing/2014/main" val="317812398"/>
                    </a:ext>
                  </a:extLst>
                </a:gridCol>
                <a:gridCol w="1777365">
                  <a:extLst>
                    <a:ext uri="{9D8B030D-6E8A-4147-A177-3AD203B41FA5}">
                      <a16:colId xmlns:a16="http://schemas.microsoft.com/office/drawing/2014/main" val="4050830119"/>
                    </a:ext>
                  </a:extLst>
                </a:gridCol>
              </a:tblGrid>
              <a:tr h="365760">
                <a:tc>
                  <a:txBody>
                    <a:bodyPr/>
                    <a:lstStyle/>
                    <a:p>
                      <a:pPr algn="ctr"/>
                      <a:r>
                        <a:rPr lang="en-GB" sz="1800" b="1" dirty="0"/>
                        <a:t>Person ID</a:t>
                      </a:r>
                    </a:p>
                  </a:txBody>
                  <a:tcPr anchor="ctr"/>
                </a:tc>
                <a:tc>
                  <a:txBody>
                    <a:bodyPr/>
                    <a:lstStyle/>
                    <a:p>
                      <a:pPr algn="ctr"/>
                      <a:r>
                        <a:rPr lang="en-GB" sz="1800" b="1"/>
                        <a:t>Favorite Fruit</a:t>
                      </a:r>
                    </a:p>
                  </a:txBody>
                  <a:tcPr anchor="ctr"/>
                </a:tc>
                <a:extLst>
                  <a:ext uri="{0D108BD9-81ED-4DB2-BD59-A6C34878D82A}">
                    <a16:rowId xmlns:a16="http://schemas.microsoft.com/office/drawing/2014/main" val="1290491865"/>
                  </a:ext>
                </a:extLst>
              </a:tr>
              <a:tr h="365760">
                <a:tc>
                  <a:txBody>
                    <a:bodyPr/>
                    <a:lstStyle/>
                    <a:p>
                      <a:pPr algn="l"/>
                      <a:r>
                        <a:rPr lang="en-GB" sz="1800" b="0"/>
                        <a:t>1</a:t>
                      </a:r>
                    </a:p>
                  </a:txBody>
                  <a:tcPr anchor="ctr"/>
                </a:tc>
                <a:tc>
                  <a:txBody>
                    <a:bodyPr/>
                    <a:lstStyle/>
                    <a:p>
                      <a:pPr algn="l"/>
                      <a:r>
                        <a:rPr lang="en-GB" sz="1800" b="0" dirty="0"/>
                        <a:t>Apple</a:t>
                      </a:r>
                    </a:p>
                  </a:txBody>
                  <a:tcPr anchor="ctr"/>
                </a:tc>
                <a:extLst>
                  <a:ext uri="{0D108BD9-81ED-4DB2-BD59-A6C34878D82A}">
                    <a16:rowId xmlns:a16="http://schemas.microsoft.com/office/drawing/2014/main" val="303817226"/>
                  </a:ext>
                </a:extLst>
              </a:tr>
              <a:tr h="365760">
                <a:tc>
                  <a:txBody>
                    <a:bodyPr/>
                    <a:lstStyle/>
                    <a:p>
                      <a:pPr algn="l"/>
                      <a:r>
                        <a:rPr lang="en-GB" sz="1800" b="0"/>
                        <a:t>2</a:t>
                      </a:r>
                    </a:p>
                  </a:txBody>
                  <a:tcPr anchor="ctr"/>
                </a:tc>
                <a:tc>
                  <a:txBody>
                    <a:bodyPr/>
                    <a:lstStyle/>
                    <a:p>
                      <a:pPr algn="l"/>
                      <a:r>
                        <a:rPr lang="en-GB" sz="1800" b="0" dirty="0"/>
                        <a:t>Orange</a:t>
                      </a:r>
                    </a:p>
                  </a:txBody>
                  <a:tcPr anchor="ctr"/>
                </a:tc>
                <a:extLst>
                  <a:ext uri="{0D108BD9-81ED-4DB2-BD59-A6C34878D82A}">
                    <a16:rowId xmlns:a16="http://schemas.microsoft.com/office/drawing/2014/main" val="2412765339"/>
                  </a:ext>
                </a:extLst>
              </a:tr>
              <a:tr h="365760">
                <a:tc>
                  <a:txBody>
                    <a:bodyPr/>
                    <a:lstStyle/>
                    <a:p>
                      <a:pPr algn="l"/>
                      <a:r>
                        <a:rPr lang="en-GB" sz="1800" b="0"/>
                        <a:t>3</a:t>
                      </a:r>
                    </a:p>
                  </a:txBody>
                  <a:tcPr anchor="ctr"/>
                </a:tc>
                <a:tc>
                  <a:txBody>
                    <a:bodyPr/>
                    <a:lstStyle/>
                    <a:p>
                      <a:pPr algn="l"/>
                      <a:r>
                        <a:rPr lang="en-GB" sz="1800" b="0" dirty="0"/>
                        <a:t>Banana</a:t>
                      </a:r>
                    </a:p>
                  </a:txBody>
                  <a:tcPr anchor="ctr"/>
                </a:tc>
                <a:extLst>
                  <a:ext uri="{0D108BD9-81ED-4DB2-BD59-A6C34878D82A}">
                    <a16:rowId xmlns:a16="http://schemas.microsoft.com/office/drawing/2014/main" val="3398114241"/>
                  </a:ext>
                </a:extLst>
              </a:tr>
              <a:tr h="365760">
                <a:tc>
                  <a:txBody>
                    <a:bodyPr/>
                    <a:lstStyle/>
                    <a:p>
                      <a:pPr algn="l"/>
                      <a:r>
                        <a:rPr lang="en-GB" sz="1800" b="0" dirty="0"/>
                        <a:t>4</a:t>
                      </a:r>
                    </a:p>
                  </a:txBody>
                  <a:tcPr anchor="ctr"/>
                </a:tc>
                <a:tc>
                  <a:txBody>
                    <a:bodyPr/>
                    <a:lstStyle/>
                    <a:p>
                      <a:pPr algn="l"/>
                      <a:r>
                        <a:rPr lang="en-GB" sz="1800" b="0" dirty="0"/>
                        <a:t>Apple</a:t>
                      </a:r>
                    </a:p>
                  </a:txBody>
                  <a:tcPr anchor="ctr"/>
                </a:tc>
                <a:extLst>
                  <a:ext uri="{0D108BD9-81ED-4DB2-BD59-A6C34878D82A}">
                    <a16:rowId xmlns:a16="http://schemas.microsoft.com/office/drawing/2014/main" val="2051841504"/>
                  </a:ext>
                </a:extLst>
              </a:tr>
              <a:tr h="365760">
                <a:tc>
                  <a:txBody>
                    <a:bodyPr/>
                    <a:lstStyle/>
                    <a:p>
                      <a:pPr algn="l"/>
                      <a:r>
                        <a:rPr lang="en-GB" sz="1800" b="0" dirty="0"/>
                        <a:t>5</a:t>
                      </a:r>
                    </a:p>
                  </a:txBody>
                  <a:tcPr anchor="ctr"/>
                </a:tc>
                <a:tc>
                  <a:txBody>
                    <a:bodyPr/>
                    <a:lstStyle/>
                    <a:p>
                      <a:pPr algn="l"/>
                      <a:r>
                        <a:rPr lang="en-GB" sz="1800" b="0" dirty="0"/>
                        <a:t>Banana</a:t>
                      </a:r>
                    </a:p>
                  </a:txBody>
                  <a:tcPr anchor="ctr"/>
                </a:tc>
                <a:extLst>
                  <a:ext uri="{0D108BD9-81ED-4DB2-BD59-A6C34878D82A}">
                    <a16:rowId xmlns:a16="http://schemas.microsoft.com/office/drawing/2014/main" val="3841563198"/>
                  </a:ext>
                </a:extLst>
              </a:tr>
            </a:tbl>
          </a:graphicData>
        </a:graphic>
      </p:graphicFrame>
      <p:sp>
        <p:nvSpPr>
          <p:cNvPr id="4" name="Arrow: Down 3">
            <a:extLst>
              <a:ext uri="{FF2B5EF4-FFF2-40B4-BE49-F238E27FC236}">
                <a16:creationId xmlns:a16="http://schemas.microsoft.com/office/drawing/2014/main" id="{37224ED8-CE22-EF86-39B7-45EC10DFFED1}"/>
              </a:ext>
            </a:extLst>
          </p:cNvPr>
          <p:cNvSpPr/>
          <p:nvPr/>
        </p:nvSpPr>
        <p:spPr>
          <a:xfrm>
            <a:off x="10495280" y="3721100"/>
            <a:ext cx="325120" cy="2887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5" name="Table 4">
            <a:extLst>
              <a:ext uri="{FF2B5EF4-FFF2-40B4-BE49-F238E27FC236}">
                <a16:creationId xmlns:a16="http://schemas.microsoft.com/office/drawing/2014/main" id="{D886CD7E-FB57-975E-BDC7-FB9F91FF4CBC}"/>
              </a:ext>
            </a:extLst>
          </p:cNvPr>
          <p:cNvGraphicFramePr>
            <a:graphicFrameLocks noGrp="1"/>
          </p:cNvGraphicFramePr>
          <p:nvPr>
            <p:extLst>
              <p:ext uri="{D42A27DB-BD31-4B8C-83A1-F6EECF244321}">
                <p14:modId xmlns:p14="http://schemas.microsoft.com/office/powerpoint/2010/main" val="695952601"/>
              </p:ext>
            </p:extLst>
          </p:nvPr>
        </p:nvGraphicFramePr>
        <p:xfrm>
          <a:off x="5604955" y="4115355"/>
          <a:ext cx="6195886" cy="2194560"/>
        </p:xfrm>
        <a:graphic>
          <a:graphicData uri="http://schemas.openxmlformats.org/drawingml/2006/table">
            <a:tbl>
              <a:tblPr>
                <a:tableStyleId>{D7AC3CCA-C797-4891-BE02-D94E43425B78}</a:tableStyleId>
              </a:tblPr>
              <a:tblGrid>
                <a:gridCol w="1348740">
                  <a:extLst>
                    <a:ext uri="{9D8B030D-6E8A-4147-A177-3AD203B41FA5}">
                      <a16:colId xmlns:a16="http://schemas.microsoft.com/office/drawing/2014/main" val="833653130"/>
                    </a:ext>
                  </a:extLst>
                </a:gridCol>
                <a:gridCol w="1777365">
                  <a:extLst>
                    <a:ext uri="{9D8B030D-6E8A-4147-A177-3AD203B41FA5}">
                      <a16:colId xmlns:a16="http://schemas.microsoft.com/office/drawing/2014/main" val="4230576993"/>
                    </a:ext>
                  </a:extLst>
                </a:gridCol>
                <a:gridCol w="898843">
                  <a:extLst>
                    <a:ext uri="{9D8B030D-6E8A-4147-A177-3AD203B41FA5}">
                      <a16:colId xmlns:a16="http://schemas.microsoft.com/office/drawing/2014/main" val="4201392236"/>
                    </a:ext>
                  </a:extLst>
                </a:gridCol>
                <a:gridCol w="1084771">
                  <a:extLst>
                    <a:ext uri="{9D8B030D-6E8A-4147-A177-3AD203B41FA5}">
                      <a16:colId xmlns:a16="http://schemas.microsoft.com/office/drawing/2014/main" val="1784607593"/>
                    </a:ext>
                  </a:extLst>
                </a:gridCol>
                <a:gridCol w="1086167">
                  <a:extLst>
                    <a:ext uri="{9D8B030D-6E8A-4147-A177-3AD203B41FA5}">
                      <a16:colId xmlns:a16="http://schemas.microsoft.com/office/drawing/2014/main" val="3384170834"/>
                    </a:ext>
                  </a:extLst>
                </a:gridCol>
              </a:tblGrid>
              <a:tr h="365760">
                <a:tc>
                  <a:txBody>
                    <a:bodyPr/>
                    <a:lstStyle/>
                    <a:p>
                      <a:pPr algn="ctr"/>
                      <a:r>
                        <a:rPr lang="en-GB" sz="1800" b="1" dirty="0"/>
                        <a:t>Person ID</a:t>
                      </a:r>
                    </a:p>
                  </a:txBody>
                  <a:tcPr anchor="ctr"/>
                </a:tc>
                <a:tc>
                  <a:txBody>
                    <a:bodyPr/>
                    <a:lstStyle/>
                    <a:p>
                      <a:pPr algn="ctr"/>
                      <a:r>
                        <a:rPr lang="en-GB" sz="1800" b="1"/>
                        <a:t>Favorite Fruit</a:t>
                      </a:r>
                    </a:p>
                  </a:txBody>
                  <a:tcPr anchor="ctr"/>
                </a:tc>
                <a:tc>
                  <a:txBody>
                    <a:bodyPr/>
                    <a:lstStyle/>
                    <a:p>
                      <a:pPr algn="ctr"/>
                      <a:r>
                        <a:rPr lang="en-GB" sz="1800" b="1" dirty="0"/>
                        <a:t>Apple</a:t>
                      </a:r>
                    </a:p>
                  </a:txBody>
                  <a:tcPr anchor="ctr"/>
                </a:tc>
                <a:tc>
                  <a:txBody>
                    <a:bodyPr/>
                    <a:lstStyle/>
                    <a:p>
                      <a:pPr algn="ctr"/>
                      <a:r>
                        <a:rPr lang="en-GB" sz="1800" b="1" dirty="0"/>
                        <a:t>Orange</a:t>
                      </a:r>
                    </a:p>
                  </a:txBody>
                  <a:tcPr anchor="ctr"/>
                </a:tc>
                <a:tc>
                  <a:txBody>
                    <a:bodyPr/>
                    <a:lstStyle/>
                    <a:p>
                      <a:pPr algn="ctr"/>
                      <a:r>
                        <a:rPr lang="en-GB" sz="1800" b="1" dirty="0"/>
                        <a:t>Banana</a:t>
                      </a:r>
                    </a:p>
                  </a:txBody>
                  <a:tcPr anchor="ctr"/>
                </a:tc>
                <a:extLst>
                  <a:ext uri="{0D108BD9-81ED-4DB2-BD59-A6C34878D82A}">
                    <a16:rowId xmlns:a16="http://schemas.microsoft.com/office/drawing/2014/main" val="1370569573"/>
                  </a:ext>
                </a:extLst>
              </a:tr>
              <a:tr h="365760">
                <a:tc>
                  <a:txBody>
                    <a:bodyPr/>
                    <a:lstStyle/>
                    <a:p>
                      <a:r>
                        <a:rPr lang="en-GB" sz="1800"/>
                        <a:t>1</a:t>
                      </a:r>
                    </a:p>
                  </a:txBody>
                  <a:tcPr anchor="ctr"/>
                </a:tc>
                <a:tc>
                  <a:txBody>
                    <a:bodyPr/>
                    <a:lstStyle/>
                    <a:p>
                      <a:r>
                        <a:rPr lang="en-GB" sz="1800" dirty="0"/>
                        <a:t>Apple</a:t>
                      </a:r>
                    </a:p>
                  </a:txBody>
                  <a:tcPr anchor="ctr"/>
                </a:tc>
                <a:tc>
                  <a:txBody>
                    <a:bodyPr/>
                    <a:lstStyle/>
                    <a:p>
                      <a:r>
                        <a:rPr lang="en-GB" sz="1800"/>
                        <a:t>1</a:t>
                      </a:r>
                    </a:p>
                  </a:txBody>
                  <a:tcPr anchor="ctr"/>
                </a:tc>
                <a:tc>
                  <a:txBody>
                    <a:bodyPr/>
                    <a:lstStyle/>
                    <a:p>
                      <a:r>
                        <a:rPr lang="en-GB" sz="1800"/>
                        <a:t>0</a:t>
                      </a:r>
                    </a:p>
                  </a:txBody>
                  <a:tcPr anchor="ctr"/>
                </a:tc>
                <a:tc>
                  <a:txBody>
                    <a:bodyPr/>
                    <a:lstStyle/>
                    <a:p>
                      <a:r>
                        <a:rPr lang="en-GB" sz="1800"/>
                        <a:t>0</a:t>
                      </a:r>
                    </a:p>
                  </a:txBody>
                  <a:tcPr anchor="ctr"/>
                </a:tc>
                <a:extLst>
                  <a:ext uri="{0D108BD9-81ED-4DB2-BD59-A6C34878D82A}">
                    <a16:rowId xmlns:a16="http://schemas.microsoft.com/office/drawing/2014/main" val="3602788680"/>
                  </a:ext>
                </a:extLst>
              </a:tr>
              <a:tr h="365760">
                <a:tc>
                  <a:txBody>
                    <a:bodyPr/>
                    <a:lstStyle/>
                    <a:p>
                      <a:r>
                        <a:rPr lang="en-GB" sz="1800"/>
                        <a:t>2</a:t>
                      </a:r>
                    </a:p>
                  </a:txBody>
                  <a:tcPr anchor="ctr"/>
                </a:tc>
                <a:tc>
                  <a:txBody>
                    <a:bodyPr/>
                    <a:lstStyle/>
                    <a:p>
                      <a:r>
                        <a:rPr lang="en-GB" sz="1800"/>
                        <a:t>Orange</a:t>
                      </a:r>
                    </a:p>
                  </a:txBody>
                  <a:tcPr anchor="ctr"/>
                </a:tc>
                <a:tc>
                  <a:txBody>
                    <a:bodyPr/>
                    <a:lstStyle/>
                    <a:p>
                      <a:r>
                        <a:rPr lang="en-GB" sz="1800"/>
                        <a:t>0</a:t>
                      </a:r>
                    </a:p>
                  </a:txBody>
                  <a:tcPr anchor="ctr"/>
                </a:tc>
                <a:tc>
                  <a:txBody>
                    <a:bodyPr/>
                    <a:lstStyle/>
                    <a:p>
                      <a:r>
                        <a:rPr lang="en-GB" sz="1800" dirty="0"/>
                        <a:t>1</a:t>
                      </a:r>
                    </a:p>
                  </a:txBody>
                  <a:tcPr anchor="ctr"/>
                </a:tc>
                <a:tc>
                  <a:txBody>
                    <a:bodyPr/>
                    <a:lstStyle/>
                    <a:p>
                      <a:r>
                        <a:rPr lang="en-GB" sz="1800"/>
                        <a:t>0</a:t>
                      </a:r>
                    </a:p>
                  </a:txBody>
                  <a:tcPr anchor="ctr"/>
                </a:tc>
                <a:extLst>
                  <a:ext uri="{0D108BD9-81ED-4DB2-BD59-A6C34878D82A}">
                    <a16:rowId xmlns:a16="http://schemas.microsoft.com/office/drawing/2014/main" val="434681584"/>
                  </a:ext>
                </a:extLst>
              </a:tr>
              <a:tr h="365760">
                <a:tc>
                  <a:txBody>
                    <a:bodyPr/>
                    <a:lstStyle/>
                    <a:p>
                      <a:r>
                        <a:rPr lang="en-GB" sz="1800"/>
                        <a:t>3</a:t>
                      </a:r>
                    </a:p>
                  </a:txBody>
                  <a:tcPr anchor="ctr"/>
                </a:tc>
                <a:tc>
                  <a:txBody>
                    <a:bodyPr/>
                    <a:lstStyle/>
                    <a:p>
                      <a:r>
                        <a:rPr lang="en-GB" sz="1800"/>
                        <a:t>Banana</a:t>
                      </a:r>
                    </a:p>
                  </a:txBody>
                  <a:tcPr anchor="ctr"/>
                </a:tc>
                <a:tc>
                  <a:txBody>
                    <a:bodyPr/>
                    <a:lstStyle/>
                    <a:p>
                      <a:r>
                        <a:rPr lang="en-GB" sz="1800"/>
                        <a:t>0</a:t>
                      </a:r>
                    </a:p>
                  </a:txBody>
                  <a:tcPr anchor="ctr"/>
                </a:tc>
                <a:tc>
                  <a:txBody>
                    <a:bodyPr/>
                    <a:lstStyle/>
                    <a:p>
                      <a:r>
                        <a:rPr lang="en-GB" sz="1800"/>
                        <a:t>0</a:t>
                      </a:r>
                    </a:p>
                  </a:txBody>
                  <a:tcPr anchor="ctr"/>
                </a:tc>
                <a:tc>
                  <a:txBody>
                    <a:bodyPr/>
                    <a:lstStyle/>
                    <a:p>
                      <a:r>
                        <a:rPr lang="en-GB" sz="1800" dirty="0"/>
                        <a:t>1</a:t>
                      </a:r>
                    </a:p>
                  </a:txBody>
                  <a:tcPr anchor="ctr"/>
                </a:tc>
                <a:extLst>
                  <a:ext uri="{0D108BD9-81ED-4DB2-BD59-A6C34878D82A}">
                    <a16:rowId xmlns:a16="http://schemas.microsoft.com/office/drawing/2014/main" val="3825094094"/>
                  </a:ext>
                </a:extLst>
              </a:tr>
              <a:tr h="365760">
                <a:tc>
                  <a:txBody>
                    <a:bodyPr/>
                    <a:lstStyle/>
                    <a:p>
                      <a:r>
                        <a:rPr lang="en-GB" sz="1800"/>
                        <a:t>4</a:t>
                      </a:r>
                    </a:p>
                  </a:txBody>
                  <a:tcPr anchor="ctr"/>
                </a:tc>
                <a:tc>
                  <a:txBody>
                    <a:bodyPr/>
                    <a:lstStyle/>
                    <a:p>
                      <a:r>
                        <a:rPr lang="en-GB" sz="1800"/>
                        <a:t>Apple</a:t>
                      </a:r>
                    </a:p>
                  </a:txBody>
                  <a:tcPr anchor="ctr"/>
                </a:tc>
                <a:tc>
                  <a:txBody>
                    <a:bodyPr/>
                    <a:lstStyle/>
                    <a:p>
                      <a:r>
                        <a:rPr lang="en-GB" sz="1800"/>
                        <a:t>1</a:t>
                      </a:r>
                    </a:p>
                  </a:txBody>
                  <a:tcPr anchor="ctr"/>
                </a:tc>
                <a:tc>
                  <a:txBody>
                    <a:bodyPr/>
                    <a:lstStyle/>
                    <a:p>
                      <a:r>
                        <a:rPr lang="en-GB" sz="1800"/>
                        <a:t>0</a:t>
                      </a:r>
                    </a:p>
                  </a:txBody>
                  <a:tcPr anchor="ctr"/>
                </a:tc>
                <a:tc>
                  <a:txBody>
                    <a:bodyPr/>
                    <a:lstStyle/>
                    <a:p>
                      <a:r>
                        <a:rPr lang="en-GB" sz="1800"/>
                        <a:t>0</a:t>
                      </a:r>
                    </a:p>
                  </a:txBody>
                  <a:tcPr anchor="ctr"/>
                </a:tc>
                <a:extLst>
                  <a:ext uri="{0D108BD9-81ED-4DB2-BD59-A6C34878D82A}">
                    <a16:rowId xmlns:a16="http://schemas.microsoft.com/office/drawing/2014/main" val="3143230801"/>
                  </a:ext>
                </a:extLst>
              </a:tr>
              <a:tr h="365760">
                <a:tc>
                  <a:txBody>
                    <a:bodyPr/>
                    <a:lstStyle/>
                    <a:p>
                      <a:r>
                        <a:rPr lang="en-GB" sz="1800"/>
                        <a:t>5</a:t>
                      </a:r>
                    </a:p>
                  </a:txBody>
                  <a:tcPr anchor="ctr"/>
                </a:tc>
                <a:tc>
                  <a:txBody>
                    <a:bodyPr/>
                    <a:lstStyle/>
                    <a:p>
                      <a:r>
                        <a:rPr lang="en-GB" sz="1800"/>
                        <a:t>Banana</a:t>
                      </a:r>
                    </a:p>
                  </a:txBody>
                  <a:tcPr anchor="ctr"/>
                </a:tc>
                <a:tc>
                  <a:txBody>
                    <a:bodyPr/>
                    <a:lstStyle/>
                    <a:p>
                      <a:r>
                        <a:rPr lang="en-GB" sz="1800"/>
                        <a:t>0</a:t>
                      </a:r>
                    </a:p>
                  </a:txBody>
                  <a:tcPr anchor="ctr"/>
                </a:tc>
                <a:tc>
                  <a:txBody>
                    <a:bodyPr/>
                    <a:lstStyle/>
                    <a:p>
                      <a:r>
                        <a:rPr lang="en-GB" sz="1800"/>
                        <a:t>0</a:t>
                      </a:r>
                    </a:p>
                  </a:txBody>
                  <a:tcPr anchor="ctr"/>
                </a:tc>
                <a:tc>
                  <a:txBody>
                    <a:bodyPr/>
                    <a:lstStyle/>
                    <a:p>
                      <a:r>
                        <a:rPr lang="en-GB" sz="1800" dirty="0"/>
                        <a:t>1</a:t>
                      </a:r>
                    </a:p>
                  </a:txBody>
                  <a:tcPr anchor="ctr"/>
                </a:tc>
                <a:extLst>
                  <a:ext uri="{0D108BD9-81ED-4DB2-BD59-A6C34878D82A}">
                    <a16:rowId xmlns:a16="http://schemas.microsoft.com/office/drawing/2014/main" val="89443997"/>
                  </a:ext>
                </a:extLst>
              </a:tr>
            </a:tbl>
          </a:graphicData>
        </a:graphic>
      </p:graphicFrame>
      <p:sp>
        <p:nvSpPr>
          <p:cNvPr id="6" name="Content Placeholder 2">
            <a:extLst>
              <a:ext uri="{FF2B5EF4-FFF2-40B4-BE49-F238E27FC236}">
                <a16:creationId xmlns:a16="http://schemas.microsoft.com/office/drawing/2014/main" id="{10041D5F-3CC3-AEE4-9A7C-5495DFADBBAB}"/>
              </a:ext>
            </a:extLst>
          </p:cNvPr>
          <p:cNvSpPr txBox="1">
            <a:spLocks/>
          </p:cNvSpPr>
          <p:nvPr/>
        </p:nvSpPr>
        <p:spPr bwMode="auto">
          <a:xfrm>
            <a:off x="391159" y="2984699"/>
            <a:ext cx="4864069" cy="3425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80963" lvl="1" indent="0" algn="just" eaLnBrk="1" hangingPunct="1">
              <a:buClr>
                <a:srgbClr val="0B5395"/>
              </a:buClr>
              <a:buFont typeface="Corbel" panose="020B0503020204020204" pitchFamily="34" charset="0"/>
              <a:buNone/>
            </a:pPr>
            <a:r>
              <a:rPr lang="en-US" altLang="en-US" b="1" dirty="0">
                <a:latin typeface="Times New Roman" pitchFamily="18" charset="0"/>
                <a:cs typeface="Times New Roman" pitchFamily="18" charset="0"/>
              </a:rPr>
              <a:t>How it works:</a:t>
            </a:r>
          </a:p>
          <a:p>
            <a:pPr marL="423863" lvl="1" indent="-342900" algn="just" eaLnBrk="1" hangingPunct="1">
              <a:buClr>
                <a:srgbClr val="0B5395"/>
              </a:buClr>
            </a:pPr>
            <a:r>
              <a:rPr lang="en-US" altLang="en-US" dirty="0">
                <a:latin typeface="Times New Roman" pitchFamily="18" charset="0"/>
                <a:cs typeface="Times New Roman" pitchFamily="18" charset="0"/>
              </a:rPr>
              <a:t>Identify all unique categories: "Apple," "Orange," "Banana.“</a:t>
            </a:r>
          </a:p>
          <a:p>
            <a:pPr marL="423863" lvl="1" indent="-342900" algn="just" eaLnBrk="1" hangingPunct="1">
              <a:buClr>
                <a:srgbClr val="0B5395"/>
              </a:buClr>
            </a:pPr>
            <a:r>
              <a:rPr lang="en-US" altLang="en-US" dirty="0">
                <a:latin typeface="Times New Roman" pitchFamily="18" charset="0"/>
                <a:cs typeface="Times New Roman" pitchFamily="18" charset="0"/>
              </a:rPr>
              <a:t>Create a new column for each category.</a:t>
            </a:r>
          </a:p>
          <a:p>
            <a:pPr marL="423863" lvl="1" indent="-342900" algn="just" eaLnBrk="1" hangingPunct="1">
              <a:buClr>
                <a:srgbClr val="0B5395"/>
              </a:buClr>
            </a:pPr>
            <a:r>
              <a:rPr lang="en-US" altLang="en-US" dirty="0">
                <a:latin typeface="Times New Roman" pitchFamily="18" charset="0"/>
                <a:cs typeface="Times New Roman" pitchFamily="18" charset="0"/>
              </a:rPr>
              <a:t>For each row, place a 1 in the column corresponding to its category and 0s in all other new columns.</a:t>
            </a:r>
          </a:p>
        </p:txBody>
      </p:sp>
    </p:spTree>
    <p:extLst>
      <p:ext uri="{BB962C8B-B14F-4D97-AF65-F5344CB8AC3E}">
        <p14:creationId xmlns:p14="http://schemas.microsoft.com/office/powerpoint/2010/main" val="32262498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5FA22-19AA-8A65-3390-026B7B3F4621}"/>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B24143B2-12CF-41FE-EE2B-6DC4ACE016BC}"/>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33151EA3-9C38-6E82-A945-4234A4DA7F71}"/>
              </a:ext>
            </a:extLst>
          </p:cNvPr>
          <p:cNvSpPr>
            <a:spLocks noGrp="1"/>
          </p:cNvSpPr>
          <p:nvPr>
            <p:ph idx="1"/>
          </p:nvPr>
        </p:nvSpPr>
        <p:spPr>
          <a:xfrm>
            <a:off x="391159" y="1440021"/>
            <a:ext cx="7340601" cy="2194561"/>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2. One-Hot Encoding</a:t>
            </a:r>
          </a:p>
          <a:p>
            <a:pPr marL="80963" lvl="1" indent="0" algn="just" eaLnBrk="1" hangingPunct="1">
              <a:buClr>
                <a:srgbClr val="0B5395"/>
              </a:buClr>
              <a:buNone/>
            </a:pPr>
            <a:r>
              <a:rPr lang="en-US" altLang="en-US" dirty="0">
                <a:latin typeface="Times New Roman" pitchFamily="18" charset="0"/>
                <a:cs typeface="Times New Roman" pitchFamily="18" charset="0"/>
              </a:rPr>
              <a:t>This method effectively represents the categories without creating any false relationships between them, making it a safer and often more effective choice for most machine learning tasks.</a:t>
            </a:r>
          </a:p>
        </p:txBody>
      </p:sp>
      <p:sp>
        <p:nvSpPr>
          <p:cNvPr id="5124" name="Slide Number Placeholder 1">
            <a:extLst>
              <a:ext uri="{FF2B5EF4-FFF2-40B4-BE49-F238E27FC236}">
                <a16:creationId xmlns:a16="http://schemas.microsoft.com/office/drawing/2014/main" id="{44B3662F-035C-6AEC-C72F-D73EDF34E4D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33</a:t>
            </a:fld>
            <a:endParaRPr lang="en-US" altLang="en-US"/>
          </a:p>
        </p:txBody>
      </p:sp>
      <p:graphicFrame>
        <p:nvGraphicFramePr>
          <p:cNvPr id="3" name="Table 2">
            <a:extLst>
              <a:ext uri="{FF2B5EF4-FFF2-40B4-BE49-F238E27FC236}">
                <a16:creationId xmlns:a16="http://schemas.microsoft.com/office/drawing/2014/main" id="{D5887559-5C47-5DA7-2CB9-02EA452667FD}"/>
              </a:ext>
            </a:extLst>
          </p:cNvPr>
          <p:cNvGraphicFramePr>
            <a:graphicFrameLocks noGrp="1"/>
          </p:cNvGraphicFramePr>
          <p:nvPr/>
        </p:nvGraphicFramePr>
        <p:xfrm>
          <a:off x="8457407" y="1465580"/>
          <a:ext cx="3126105" cy="2194560"/>
        </p:xfrm>
        <a:graphic>
          <a:graphicData uri="http://schemas.openxmlformats.org/drawingml/2006/table">
            <a:tbl>
              <a:tblPr>
                <a:tableStyleId>{D7AC3CCA-C797-4891-BE02-D94E43425B78}</a:tableStyleId>
              </a:tblPr>
              <a:tblGrid>
                <a:gridCol w="1348740">
                  <a:extLst>
                    <a:ext uri="{9D8B030D-6E8A-4147-A177-3AD203B41FA5}">
                      <a16:colId xmlns:a16="http://schemas.microsoft.com/office/drawing/2014/main" val="317812398"/>
                    </a:ext>
                  </a:extLst>
                </a:gridCol>
                <a:gridCol w="1777365">
                  <a:extLst>
                    <a:ext uri="{9D8B030D-6E8A-4147-A177-3AD203B41FA5}">
                      <a16:colId xmlns:a16="http://schemas.microsoft.com/office/drawing/2014/main" val="4050830119"/>
                    </a:ext>
                  </a:extLst>
                </a:gridCol>
              </a:tblGrid>
              <a:tr h="365760">
                <a:tc>
                  <a:txBody>
                    <a:bodyPr/>
                    <a:lstStyle/>
                    <a:p>
                      <a:pPr algn="ctr"/>
                      <a:r>
                        <a:rPr lang="en-GB" sz="1800" b="1" dirty="0"/>
                        <a:t>Person ID</a:t>
                      </a:r>
                    </a:p>
                  </a:txBody>
                  <a:tcPr anchor="ctr"/>
                </a:tc>
                <a:tc>
                  <a:txBody>
                    <a:bodyPr/>
                    <a:lstStyle/>
                    <a:p>
                      <a:pPr algn="ctr"/>
                      <a:r>
                        <a:rPr lang="en-GB" sz="1800" b="1"/>
                        <a:t>Favorite Fruit</a:t>
                      </a:r>
                    </a:p>
                  </a:txBody>
                  <a:tcPr anchor="ctr"/>
                </a:tc>
                <a:extLst>
                  <a:ext uri="{0D108BD9-81ED-4DB2-BD59-A6C34878D82A}">
                    <a16:rowId xmlns:a16="http://schemas.microsoft.com/office/drawing/2014/main" val="1290491865"/>
                  </a:ext>
                </a:extLst>
              </a:tr>
              <a:tr h="365760">
                <a:tc>
                  <a:txBody>
                    <a:bodyPr/>
                    <a:lstStyle/>
                    <a:p>
                      <a:pPr algn="l"/>
                      <a:r>
                        <a:rPr lang="en-GB" sz="1800" b="0"/>
                        <a:t>1</a:t>
                      </a:r>
                    </a:p>
                  </a:txBody>
                  <a:tcPr anchor="ctr"/>
                </a:tc>
                <a:tc>
                  <a:txBody>
                    <a:bodyPr/>
                    <a:lstStyle/>
                    <a:p>
                      <a:pPr algn="l"/>
                      <a:r>
                        <a:rPr lang="en-GB" sz="1800" b="0" dirty="0"/>
                        <a:t>Apple</a:t>
                      </a:r>
                    </a:p>
                  </a:txBody>
                  <a:tcPr anchor="ctr"/>
                </a:tc>
                <a:extLst>
                  <a:ext uri="{0D108BD9-81ED-4DB2-BD59-A6C34878D82A}">
                    <a16:rowId xmlns:a16="http://schemas.microsoft.com/office/drawing/2014/main" val="303817226"/>
                  </a:ext>
                </a:extLst>
              </a:tr>
              <a:tr h="365760">
                <a:tc>
                  <a:txBody>
                    <a:bodyPr/>
                    <a:lstStyle/>
                    <a:p>
                      <a:pPr algn="l"/>
                      <a:r>
                        <a:rPr lang="en-GB" sz="1800" b="0"/>
                        <a:t>2</a:t>
                      </a:r>
                    </a:p>
                  </a:txBody>
                  <a:tcPr anchor="ctr"/>
                </a:tc>
                <a:tc>
                  <a:txBody>
                    <a:bodyPr/>
                    <a:lstStyle/>
                    <a:p>
                      <a:pPr algn="l"/>
                      <a:r>
                        <a:rPr lang="en-GB" sz="1800" b="0" dirty="0"/>
                        <a:t>Orange</a:t>
                      </a:r>
                    </a:p>
                  </a:txBody>
                  <a:tcPr anchor="ctr"/>
                </a:tc>
                <a:extLst>
                  <a:ext uri="{0D108BD9-81ED-4DB2-BD59-A6C34878D82A}">
                    <a16:rowId xmlns:a16="http://schemas.microsoft.com/office/drawing/2014/main" val="2412765339"/>
                  </a:ext>
                </a:extLst>
              </a:tr>
              <a:tr h="365760">
                <a:tc>
                  <a:txBody>
                    <a:bodyPr/>
                    <a:lstStyle/>
                    <a:p>
                      <a:pPr algn="l"/>
                      <a:r>
                        <a:rPr lang="en-GB" sz="1800" b="0"/>
                        <a:t>3</a:t>
                      </a:r>
                    </a:p>
                  </a:txBody>
                  <a:tcPr anchor="ctr"/>
                </a:tc>
                <a:tc>
                  <a:txBody>
                    <a:bodyPr/>
                    <a:lstStyle/>
                    <a:p>
                      <a:pPr algn="l"/>
                      <a:r>
                        <a:rPr lang="en-GB" sz="1800" b="0" dirty="0"/>
                        <a:t>Banana</a:t>
                      </a:r>
                    </a:p>
                  </a:txBody>
                  <a:tcPr anchor="ctr"/>
                </a:tc>
                <a:extLst>
                  <a:ext uri="{0D108BD9-81ED-4DB2-BD59-A6C34878D82A}">
                    <a16:rowId xmlns:a16="http://schemas.microsoft.com/office/drawing/2014/main" val="3398114241"/>
                  </a:ext>
                </a:extLst>
              </a:tr>
              <a:tr h="365760">
                <a:tc>
                  <a:txBody>
                    <a:bodyPr/>
                    <a:lstStyle/>
                    <a:p>
                      <a:pPr algn="l"/>
                      <a:r>
                        <a:rPr lang="en-GB" sz="1800" b="0" dirty="0"/>
                        <a:t>4</a:t>
                      </a:r>
                    </a:p>
                  </a:txBody>
                  <a:tcPr anchor="ctr"/>
                </a:tc>
                <a:tc>
                  <a:txBody>
                    <a:bodyPr/>
                    <a:lstStyle/>
                    <a:p>
                      <a:pPr algn="l"/>
                      <a:r>
                        <a:rPr lang="en-GB" sz="1800" b="0" dirty="0"/>
                        <a:t>Apple</a:t>
                      </a:r>
                    </a:p>
                  </a:txBody>
                  <a:tcPr anchor="ctr"/>
                </a:tc>
                <a:extLst>
                  <a:ext uri="{0D108BD9-81ED-4DB2-BD59-A6C34878D82A}">
                    <a16:rowId xmlns:a16="http://schemas.microsoft.com/office/drawing/2014/main" val="2051841504"/>
                  </a:ext>
                </a:extLst>
              </a:tr>
              <a:tr h="365760">
                <a:tc>
                  <a:txBody>
                    <a:bodyPr/>
                    <a:lstStyle/>
                    <a:p>
                      <a:pPr algn="l"/>
                      <a:r>
                        <a:rPr lang="en-GB" sz="1800" b="0" dirty="0"/>
                        <a:t>5</a:t>
                      </a:r>
                    </a:p>
                  </a:txBody>
                  <a:tcPr anchor="ctr"/>
                </a:tc>
                <a:tc>
                  <a:txBody>
                    <a:bodyPr/>
                    <a:lstStyle/>
                    <a:p>
                      <a:pPr algn="l"/>
                      <a:r>
                        <a:rPr lang="en-GB" sz="1800" b="0" dirty="0"/>
                        <a:t>Banana</a:t>
                      </a:r>
                    </a:p>
                  </a:txBody>
                  <a:tcPr anchor="ctr"/>
                </a:tc>
                <a:extLst>
                  <a:ext uri="{0D108BD9-81ED-4DB2-BD59-A6C34878D82A}">
                    <a16:rowId xmlns:a16="http://schemas.microsoft.com/office/drawing/2014/main" val="3841563198"/>
                  </a:ext>
                </a:extLst>
              </a:tr>
            </a:tbl>
          </a:graphicData>
        </a:graphic>
      </p:graphicFrame>
      <p:sp>
        <p:nvSpPr>
          <p:cNvPr id="4" name="Arrow: Down 3">
            <a:extLst>
              <a:ext uri="{FF2B5EF4-FFF2-40B4-BE49-F238E27FC236}">
                <a16:creationId xmlns:a16="http://schemas.microsoft.com/office/drawing/2014/main" id="{01D702F8-FEA2-6FEE-5421-0F3F0BED5113}"/>
              </a:ext>
            </a:extLst>
          </p:cNvPr>
          <p:cNvSpPr/>
          <p:nvPr/>
        </p:nvSpPr>
        <p:spPr>
          <a:xfrm>
            <a:off x="10495280" y="3721100"/>
            <a:ext cx="325120" cy="28876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5" name="Table 4">
            <a:extLst>
              <a:ext uri="{FF2B5EF4-FFF2-40B4-BE49-F238E27FC236}">
                <a16:creationId xmlns:a16="http://schemas.microsoft.com/office/drawing/2014/main" id="{67D3BA97-8069-4755-A865-FAAF0C435DA7}"/>
              </a:ext>
            </a:extLst>
          </p:cNvPr>
          <p:cNvGraphicFramePr>
            <a:graphicFrameLocks noGrp="1"/>
          </p:cNvGraphicFramePr>
          <p:nvPr/>
        </p:nvGraphicFramePr>
        <p:xfrm>
          <a:off x="5604955" y="4115355"/>
          <a:ext cx="6195886" cy="2194560"/>
        </p:xfrm>
        <a:graphic>
          <a:graphicData uri="http://schemas.openxmlformats.org/drawingml/2006/table">
            <a:tbl>
              <a:tblPr>
                <a:tableStyleId>{D7AC3CCA-C797-4891-BE02-D94E43425B78}</a:tableStyleId>
              </a:tblPr>
              <a:tblGrid>
                <a:gridCol w="1348740">
                  <a:extLst>
                    <a:ext uri="{9D8B030D-6E8A-4147-A177-3AD203B41FA5}">
                      <a16:colId xmlns:a16="http://schemas.microsoft.com/office/drawing/2014/main" val="833653130"/>
                    </a:ext>
                  </a:extLst>
                </a:gridCol>
                <a:gridCol w="1777365">
                  <a:extLst>
                    <a:ext uri="{9D8B030D-6E8A-4147-A177-3AD203B41FA5}">
                      <a16:colId xmlns:a16="http://schemas.microsoft.com/office/drawing/2014/main" val="4230576993"/>
                    </a:ext>
                  </a:extLst>
                </a:gridCol>
                <a:gridCol w="898843">
                  <a:extLst>
                    <a:ext uri="{9D8B030D-6E8A-4147-A177-3AD203B41FA5}">
                      <a16:colId xmlns:a16="http://schemas.microsoft.com/office/drawing/2014/main" val="4201392236"/>
                    </a:ext>
                  </a:extLst>
                </a:gridCol>
                <a:gridCol w="1084771">
                  <a:extLst>
                    <a:ext uri="{9D8B030D-6E8A-4147-A177-3AD203B41FA5}">
                      <a16:colId xmlns:a16="http://schemas.microsoft.com/office/drawing/2014/main" val="1784607593"/>
                    </a:ext>
                  </a:extLst>
                </a:gridCol>
                <a:gridCol w="1086167">
                  <a:extLst>
                    <a:ext uri="{9D8B030D-6E8A-4147-A177-3AD203B41FA5}">
                      <a16:colId xmlns:a16="http://schemas.microsoft.com/office/drawing/2014/main" val="3384170834"/>
                    </a:ext>
                  </a:extLst>
                </a:gridCol>
              </a:tblGrid>
              <a:tr h="365760">
                <a:tc>
                  <a:txBody>
                    <a:bodyPr/>
                    <a:lstStyle/>
                    <a:p>
                      <a:pPr algn="ctr"/>
                      <a:r>
                        <a:rPr lang="en-GB" sz="1800" b="1"/>
                        <a:t>Person ID</a:t>
                      </a:r>
                    </a:p>
                  </a:txBody>
                  <a:tcPr anchor="ctr"/>
                </a:tc>
                <a:tc>
                  <a:txBody>
                    <a:bodyPr/>
                    <a:lstStyle/>
                    <a:p>
                      <a:pPr algn="ctr"/>
                      <a:r>
                        <a:rPr lang="en-GB" sz="1800" b="1"/>
                        <a:t>Favorite Fruit</a:t>
                      </a:r>
                    </a:p>
                  </a:txBody>
                  <a:tcPr anchor="ctr"/>
                </a:tc>
                <a:tc>
                  <a:txBody>
                    <a:bodyPr/>
                    <a:lstStyle/>
                    <a:p>
                      <a:pPr algn="ctr"/>
                      <a:r>
                        <a:rPr lang="en-GB" sz="1800" b="1" dirty="0"/>
                        <a:t>Apple</a:t>
                      </a:r>
                    </a:p>
                  </a:txBody>
                  <a:tcPr anchor="ctr"/>
                </a:tc>
                <a:tc>
                  <a:txBody>
                    <a:bodyPr/>
                    <a:lstStyle/>
                    <a:p>
                      <a:pPr algn="ctr"/>
                      <a:r>
                        <a:rPr lang="en-GB" sz="1800" b="1" dirty="0"/>
                        <a:t>Orange</a:t>
                      </a:r>
                    </a:p>
                  </a:txBody>
                  <a:tcPr anchor="ctr"/>
                </a:tc>
                <a:tc>
                  <a:txBody>
                    <a:bodyPr/>
                    <a:lstStyle/>
                    <a:p>
                      <a:pPr algn="ctr"/>
                      <a:r>
                        <a:rPr lang="en-GB" sz="1800" b="1" dirty="0"/>
                        <a:t>Banana</a:t>
                      </a:r>
                    </a:p>
                  </a:txBody>
                  <a:tcPr anchor="ctr"/>
                </a:tc>
                <a:extLst>
                  <a:ext uri="{0D108BD9-81ED-4DB2-BD59-A6C34878D82A}">
                    <a16:rowId xmlns:a16="http://schemas.microsoft.com/office/drawing/2014/main" val="1370569573"/>
                  </a:ext>
                </a:extLst>
              </a:tr>
              <a:tr h="365760">
                <a:tc>
                  <a:txBody>
                    <a:bodyPr/>
                    <a:lstStyle/>
                    <a:p>
                      <a:r>
                        <a:rPr lang="en-GB" sz="1800"/>
                        <a:t>1</a:t>
                      </a:r>
                    </a:p>
                  </a:txBody>
                  <a:tcPr anchor="ctr"/>
                </a:tc>
                <a:tc>
                  <a:txBody>
                    <a:bodyPr/>
                    <a:lstStyle/>
                    <a:p>
                      <a:r>
                        <a:rPr lang="en-GB" sz="1800"/>
                        <a:t>Apple</a:t>
                      </a:r>
                    </a:p>
                  </a:txBody>
                  <a:tcPr anchor="ctr"/>
                </a:tc>
                <a:tc>
                  <a:txBody>
                    <a:bodyPr/>
                    <a:lstStyle/>
                    <a:p>
                      <a:r>
                        <a:rPr lang="en-GB" sz="1800"/>
                        <a:t>1</a:t>
                      </a:r>
                    </a:p>
                  </a:txBody>
                  <a:tcPr anchor="ctr"/>
                </a:tc>
                <a:tc>
                  <a:txBody>
                    <a:bodyPr/>
                    <a:lstStyle/>
                    <a:p>
                      <a:r>
                        <a:rPr lang="en-GB" sz="1800"/>
                        <a:t>0</a:t>
                      </a:r>
                    </a:p>
                  </a:txBody>
                  <a:tcPr anchor="ctr"/>
                </a:tc>
                <a:tc>
                  <a:txBody>
                    <a:bodyPr/>
                    <a:lstStyle/>
                    <a:p>
                      <a:r>
                        <a:rPr lang="en-GB" sz="1800"/>
                        <a:t>0</a:t>
                      </a:r>
                    </a:p>
                  </a:txBody>
                  <a:tcPr anchor="ctr"/>
                </a:tc>
                <a:extLst>
                  <a:ext uri="{0D108BD9-81ED-4DB2-BD59-A6C34878D82A}">
                    <a16:rowId xmlns:a16="http://schemas.microsoft.com/office/drawing/2014/main" val="3602788680"/>
                  </a:ext>
                </a:extLst>
              </a:tr>
              <a:tr h="365760">
                <a:tc>
                  <a:txBody>
                    <a:bodyPr/>
                    <a:lstStyle/>
                    <a:p>
                      <a:r>
                        <a:rPr lang="en-GB" sz="1800"/>
                        <a:t>2</a:t>
                      </a:r>
                    </a:p>
                  </a:txBody>
                  <a:tcPr anchor="ctr"/>
                </a:tc>
                <a:tc>
                  <a:txBody>
                    <a:bodyPr/>
                    <a:lstStyle/>
                    <a:p>
                      <a:r>
                        <a:rPr lang="en-GB" sz="1800"/>
                        <a:t>Orange</a:t>
                      </a:r>
                    </a:p>
                  </a:txBody>
                  <a:tcPr anchor="ctr"/>
                </a:tc>
                <a:tc>
                  <a:txBody>
                    <a:bodyPr/>
                    <a:lstStyle/>
                    <a:p>
                      <a:r>
                        <a:rPr lang="en-GB" sz="1800"/>
                        <a:t>0</a:t>
                      </a:r>
                    </a:p>
                  </a:txBody>
                  <a:tcPr anchor="ctr"/>
                </a:tc>
                <a:tc>
                  <a:txBody>
                    <a:bodyPr/>
                    <a:lstStyle/>
                    <a:p>
                      <a:r>
                        <a:rPr lang="en-GB" sz="1800" dirty="0"/>
                        <a:t>1</a:t>
                      </a:r>
                    </a:p>
                  </a:txBody>
                  <a:tcPr anchor="ctr"/>
                </a:tc>
                <a:tc>
                  <a:txBody>
                    <a:bodyPr/>
                    <a:lstStyle/>
                    <a:p>
                      <a:r>
                        <a:rPr lang="en-GB" sz="1800"/>
                        <a:t>0</a:t>
                      </a:r>
                    </a:p>
                  </a:txBody>
                  <a:tcPr anchor="ctr"/>
                </a:tc>
                <a:extLst>
                  <a:ext uri="{0D108BD9-81ED-4DB2-BD59-A6C34878D82A}">
                    <a16:rowId xmlns:a16="http://schemas.microsoft.com/office/drawing/2014/main" val="434681584"/>
                  </a:ext>
                </a:extLst>
              </a:tr>
              <a:tr h="365760">
                <a:tc>
                  <a:txBody>
                    <a:bodyPr/>
                    <a:lstStyle/>
                    <a:p>
                      <a:r>
                        <a:rPr lang="en-GB" sz="1800"/>
                        <a:t>3</a:t>
                      </a:r>
                    </a:p>
                  </a:txBody>
                  <a:tcPr anchor="ctr"/>
                </a:tc>
                <a:tc>
                  <a:txBody>
                    <a:bodyPr/>
                    <a:lstStyle/>
                    <a:p>
                      <a:r>
                        <a:rPr lang="en-GB" sz="1800"/>
                        <a:t>Banana</a:t>
                      </a:r>
                    </a:p>
                  </a:txBody>
                  <a:tcPr anchor="ctr"/>
                </a:tc>
                <a:tc>
                  <a:txBody>
                    <a:bodyPr/>
                    <a:lstStyle/>
                    <a:p>
                      <a:r>
                        <a:rPr lang="en-GB" sz="1800"/>
                        <a:t>0</a:t>
                      </a:r>
                    </a:p>
                  </a:txBody>
                  <a:tcPr anchor="ctr"/>
                </a:tc>
                <a:tc>
                  <a:txBody>
                    <a:bodyPr/>
                    <a:lstStyle/>
                    <a:p>
                      <a:r>
                        <a:rPr lang="en-GB" sz="1800"/>
                        <a:t>0</a:t>
                      </a:r>
                    </a:p>
                  </a:txBody>
                  <a:tcPr anchor="ctr"/>
                </a:tc>
                <a:tc>
                  <a:txBody>
                    <a:bodyPr/>
                    <a:lstStyle/>
                    <a:p>
                      <a:r>
                        <a:rPr lang="en-GB" sz="1800" dirty="0"/>
                        <a:t>1</a:t>
                      </a:r>
                    </a:p>
                  </a:txBody>
                  <a:tcPr anchor="ctr"/>
                </a:tc>
                <a:extLst>
                  <a:ext uri="{0D108BD9-81ED-4DB2-BD59-A6C34878D82A}">
                    <a16:rowId xmlns:a16="http://schemas.microsoft.com/office/drawing/2014/main" val="3825094094"/>
                  </a:ext>
                </a:extLst>
              </a:tr>
              <a:tr h="365760">
                <a:tc>
                  <a:txBody>
                    <a:bodyPr/>
                    <a:lstStyle/>
                    <a:p>
                      <a:r>
                        <a:rPr lang="en-GB" sz="1800"/>
                        <a:t>4</a:t>
                      </a:r>
                    </a:p>
                  </a:txBody>
                  <a:tcPr anchor="ctr"/>
                </a:tc>
                <a:tc>
                  <a:txBody>
                    <a:bodyPr/>
                    <a:lstStyle/>
                    <a:p>
                      <a:r>
                        <a:rPr lang="en-GB" sz="1800"/>
                        <a:t>Apple</a:t>
                      </a:r>
                    </a:p>
                  </a:txBody>
                  <a:tcPr anchor="ctr"/>
                </a:tc>
                <a:tc>
                  <a:txBody>
                    <a:bodyPr/>
                    <a:lstStyle/>
                    <a:p>
                      <a:r>
                        <a:rPr lang="en-GB" sz="1800"/>
                        <a:t>1</a:t>
                      </a:r>
                    </a:p>
                  </a:txBody>
                  <a:tcPr anchor="ctr"/>
                </a:tc>
                <a:tc>
                  <a:txBody>
                    <a:bodyPr/>
                    <a:lstStyle/>
                    <a:p>
                      <a:r>
                        <a:rPr lang="en-GB" sz="1800"/>
                        <a:t>0</a:t>
                      </a:r>
                    </a:p>
                  </a:txBody>
                  <a:tcPr anchor="ctr"/>
                </a:tc>
                <a:tc>
                  <a:txBody>
                    <a:bodyPr/>
                    <a:lstStyle/>
                    <a:p>
                      <a:r>
                        <a:rPr lang="en-GB" sz="1800"/>
                        <a:t>0</a:t>
                      </a:r>
                    </a:p>
                  </a:txBody>
                  <a:tcPr anchor="ctr"/>
                </a:tc>
                <a:extLst>
                  <a:ext uri="{0D108BD9-81ED-4DB2-BD59-A6C34878D82A}">
                    <a16:rowId xmlns:a16="http://schemas.microsoft.com/office/drawing/2014/main" val="3143230801"/>
                  </a:ext>
                </a:extLst>
              </a:tr>
              <a:tr h="365760">
                <a:tc>
                  <a:txBody>
                    <a:bodyPr/>
                    <a:lstStyle/>
                    <a:p>
                      <a:r>
                        <a:rPr lang="en-GB" sz="1800"/>
                        <a:t>5</a:t>
                      </a:r>
                    </a:p>
                  </a:txBody>
                  <a:tcPr anchor="ctr"/>
                </a:tc>
                <a:tc>
                  <a:txBody>
                    <a:bodyPr/>
                    <a:lstStyle/>
                    <a:p>
                      <a:r>
                        <a:rPr lang="en-GB" sz="1800"/>
                        <a:t>Banana</a:t>
                      </a:r>
                    </a:p>
                  </a:txBody>
                  <a:tcPr anchor="ctr"/>
                </a:tc>
                <a:tc>
                  <a:txBody>
                    <a:bodyPr/>
                    <a:lstStyle/>
                    <a:p>
                      <a:r>
                        <a:rPr lang="en-GB" sz="1800"/>
                        <a:t>0</a:t>
                      </a:r>
                    </a:p>
                  </a:txBody>
                  <a:tcPr anchor="ctr"/>
                </a:tc>
                <a:tc>
                  <a:txBody>
                    <a:bodyPr/>
                    <a:lstStyle/>
                    <a:p>
                      <a:r>
                        <a:rPr lang="en-GB" sz="1800"/>
                        <a:t>0</a:t>
                      </a:r>
                    </a:p>
                  </a:txBody>
                  <a:tcPr anchor="ctr"/>
                </a:tc>
                <a:tc>
                  <a:txBody>
                    <a:bodyPr/>
                    <a:lstStyle/>
                    <a:p>
                      <a:r>
                        <a:rPr lang="en-GB" sz="1800" dirty="0"/>
                        <a:t>1</a:t>
                      </a:r>
                    </a:p>
                  </a:txBody>
                  <a:tcPr anchor="ctr"/>
                </a:tc>
                <a:extLst>
                  <a:ext uri="{0D108BD9-81ED-4DB2-BD59-A6C34878D82A}">
                    <a16:rowId xmlns:a16="http://schemas.microsoft.com/office/drawing/2014/main" val="89443997"/>
                  </a:ext>
                </a:extLst>
              </a:tr>
            </a:tbl>
          </a:graphicData>
        </a:graphic>
      </p:graphicFrame>
    </p:spTree>
    <p:extLst>
      <p:ext uri="{BB962C8B-B14F-4D97-AF65-F5344CB8AC3E}">
        <p14:creationId xmlns:p14="http://schemas.microsoft.com/office/powerpoint/2010/main" val="3195889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E6273-BD9D-9AF2-A8D9-8215253B4A0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2B038E25-51B4-B663-E5ED-1C28CDDB4C6E}"/>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1DE0CF4D-1231-45E1-922F-5DE9B8C26261}"/>
              </a:ext>
            </a:extLst>
          </p:cNvPr>
          <p:cNvSpPr>
            <a:spLocks noGrp="1"/>
          </p:cNvSpPr>
          <p:nvPr>
            <p:ph idx="1"/>
          </p:nvPr>
        </p:nvSpPr>
        <p:spPr>
          <a:xfrm>
            <a:off x="1143000" y="1655763"/>
            <a:ext cx="6939643"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Normalization and Standardization</a:t>
            </a:r>
          </a:p>
          <a:p>
            <a:pPr marL="80963" lvl="1" indent="0" algn="just" eaLnBrk="1" hangingPunct="1">
              <a:buClr>
                <a:srgbClr val="0B5395"/>
              </a:buClr>
              <a:buNone/>
            </a:pPr>
            <a:r>
              <a:rPr lang="en-US" altLang="en-US" dirty="0">
                <a:latin typeface="Times New Roman" pitchFamily="18" charset="0"/>
                <a:cs typeface="Times New Roman" pitchFamily="18" charset="0"/>
              </a:rPr>
              <a:t>Normalization and Standardization are two essential data transformation techniques used to scale numerical features to a common level, but they do so in different ways.</a:t>
            </a:r>
          </a:p>
          <a:p>
            <a:pPr marL="80963" lvl="1" indent="0" algn="just" eaLnBrk="1" hangingPunct="1">
              <a:buClr>
                <a:srgbClr val="0B5395"/>
              </a:buClr>
              <a:buNone/>
            </a:pPr>
            <a:r>
              <a:rPr lang="en-US" altLang="en-US" dirty="0">
                <a:latin typeface="Times New Roman" pitchFamily="18" charset="0"/>
                <a:cs typeface="Times New Roman" pitchFamily="18" charset="0"/>
              </a:rPr>
              <a:t>Let's use a simple dataset to illustrate both. Imagine we have data for a small group of people and we want to scale the 'Income' feature.</a:t>
            </a:r>
          </a:p>
        </p:txBody>
      </p:sp>
      <p:sp>
        <p:nvSpPr>
          <p:cNvPr id="5124" name="Slide Number Placeholder 1">
            <a:extLst>
              <a:ext uri="{FF2B5EF4-FFF2-40B4-BE49-F238E27FC236}">
                <a16:creationId xmlns:a16="http://schemas.microsoft.com/office/drawing/2014/main" id="{64340839-7BA7-FFDC-2312-5B78CD952F6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34</a:t>
            </a:fld>
            <a:endParaRPr lang="en-US" altLang="en-US"/>
          </a:p>
        </p:txBody>
      </p:sp>
      <p:graphicFrame>
        <p:nvGraphicFramePr>
          <p:cNvPr id="3" name="Table 2">
            <a:extLst>
              <a:ext uri="{FF2B5EF4-FFF2-40B4-BE49-F238E27FC236}">
                <a16:creationId xmlns:a16="http://schemas.microsoft.com/office/drawing/2014/main" id="{2095E38E-8C49-2041-D807-C35BC006C9A4}"/>
              </a:ext>
            </a:extLst>
          </p:cNvPr>
          <p:cNvGraphicFramePr>
            <a:graphicFrameLocks noGrp="1"/>
          </p:cNvGraphicFramePr>
          <p:nvPr>
            <p:extLst>
              <p:ext uri="{D42A27DB-BD31-4B8C-83A1-F6EECF244321}">
                <p14:modId xmlns:p14="http://schemas.microsoft.com/office/powerpoint/2010/main" val="2615939598"/>
              </p:ext>
            </p:extLst>
          </p:nvPr>
        </p:nvGraphicFramePr>
        <p:xfrm>
          <a:off x="3982935" y="4030028"/>
          <a:ext cx="3528004" cy="2194560"/>
        </p:xfrm>
        <a:graphic>
          <a:graphicData uri="http://schemas.openxmlformats.org/drawingml/2006/table">
            <a:tbl>
              <a:tblPr>
                <a:tableStyleId>{D7AC3CCA-C797-4891-BE02-D94E43425B78}</a:tableStyleId>
              </a:tblPr>
              <a:tblGrid>
                <a:gridCol w="1012190">
                  <a:extLst>
                    <a:ext uri="{9D8B030D-6E8A-4147-A177-3AD203B41FA5}">
                      <a16:colId xmlns:a16="http://schemas.microsoft.com/office/drawing/2014/main" val="1503564234"/>
                    </a:ext>
                  </a:extLst>
                </a:gridCol>
                <a:gridCol w="670433">
                  <a:extLst>
                    <a:ext uri="{9D8B030D-6E8A-4147-A177-3AD203B41FA5}">
                      <a16:colId xmlns:a16="http://schemas.microsoft.com/office/drawing/2014/main" val="3224550108"/>
                    </a:ext>
                  </a:extLst>
                </a:gridCol>
                <a:gridCol w="1845381">
                  <a:extLst>
                    <a:ext uri="{9D8B030D-6E8A-4147-A177-3AD203B41FA5}">
                      <a16:colId xmlns:a16="http://schemas.microsoft.com/office/drawing/2014/main" val="2642618428"/>
                    </a:ext>
                  </a:extLst>
                </a:gridCol>
              </a:tblGrid>
              <a:tr h="365760">
                <a:tc>
                  <a:txBody>
                    <a:bodyPr/>
                    <a:lstStyle/>
                    <a:p>
                      <a:pPr algn="ctr"/>
                      <a:r>
                        <a:rPr lang="en-GB" sz="1800" b="1"/>
                        <a:t>Person</a:t>
                      </a:r>
                    </a:p>
                  </a:txBody>
                  <a:tcPr anchor="ctr"/>
                </a:tc>
                <a:tc>
                  <a:txBody>
                    <a:bodyPr/>
                    <a:lstStyle/>
                    <a:p>
                      <a:pPr algn="ctr"/>
                      <a:r>
                        <a:rPr lang="en-GB" sz="1800" b="1"/>
                        <a:t>Age</a:t>
                      </a:r>
                    </a:p>
                  </a:txBody>
                  <a:tcPr anchor="ctr"/>
                </a:tc>
                <a:tc>
                  <a:txBody>
                    <a:bodyPr/>
                    <a:lstStyle/>
                    <a:p>
                      <a:pPr algn="ctr"/>
                      <a:r>
                        <a:rPr lang="en-GB" sz="1800" b="1" dirty="0"/>
                        <a:t>Income</a:t>
                      </a:r>
                    </a:p>
                  </a:txBody>
                  <a:tcPr anchor="ctr"/>
                </a:tc>
                <a:extLst>
                  <a:ext uri="{0D108BD9-81ED-4DB2-BD59-A6C34878D82A}">
                    <a16:rowId xmlns:a16="http://schemas.microsoft.com/office/drawing/2014/main" val="3704850185"/>
                  </a:ext>
                </a:extLst>
              </a:tr>
              <a:tr h="365760">
                <a:tc>
                  <a:txBody>
                    <a:bodyPr/>
                    <a:lstStyle/>
                    <a:p>
                      <a:r>
                        <a:rPr lang="en-GB" sz="1800"/>
                        <a:t>A</a:t>
                      </a:r>
                    </a:p>
                  </a:txBody>
                  <a:tcPr anchor="ctr"/>
                </a:tc>
                <a:tc>
                  <a:txBody>
                    <a:bodyPr/>
                    <a:lstStyle/>
                    <a:p>
                      <a:r>
                        <a:rPr lang="en-GB" sz="1800"/>
                        <a:t>25</a:t>
                      </a:r>
                    </a:p>
                  </a:txBody>
                  <a:tcPr anchor="ctr"/>
                </a:tc>
                <a:tc>
                  <a:txBody>
                    <a:bodyPr/>
                    <a:lstStyle/>
                    <a:p>
                      <a:r>
                        <a:rPr lang="en-GB" sz="1800"/>
                        <a:t>50,000</a:t>
                      </a:r>
                    </a:p>
                  </a:txBody>
                  <a:tcPr anchor="ctr"/>
                </a:tc>
                <a:extLst>
                  <a:ext uri="{0D108BD9-81ED-4DB2-BD59-A6C34878D82A}">
                    <a16:rowId xmlns:a16="http://schemas.microsoft.com/office/drawing/2014/main" val="199871621"/>
                  </a:ext>
                </a:extLst>
              </a:tr>
              <a:tr h="365760">
                <a:tc>
                  <a:txBody>
                    <a:bodyPr/>
                    <a:lstStyle/>
                    <a:p>
                      <a:r>
                        <a:rPr lang="en-GB" sz="1800"/>
                        <a:t>B</a:t>
                      </a:r>
                    </a:p>
                  </a:txBody>
                  <a:tcPr anchor="ctr"/>
                </a:tc>
                <a:tc>
                  <a:txBody>
                    <a:bodyPr/>
                    <a:lstStyle/>
                    <a:p>
                      <a:r>
                        <a:rPr lang="en-GB" sz="1800"/>
                        <a:t>30</a:t>
                      </a:r>
                    </a:p>
                  </a:txBody>
                  <a:tcPr anchor="ctr"/>
                </a:tc>
                <a:tc>
                  <a:txBody>
                    <a:bodyPr/>
                    <a:lstStyle/>
                    <a:p>
                      <a:r>
                        <a:rPr lang="en-GB" sz="1800"/>
                        <a:t>65,000</a:t>
                      </a:r>
                    </a:p>
                  </a:txBody>
                  <a:tcPr anchor="ctr"/>
                </a:tc>
                <a:extLst>
                  <a:ext uri="{0D108BD9-81ED-4DB2-BD59-A6C34878D82A}">
                    <a16:rowId xmlns:a16="http://schemas.microsoft.com/office/drawing/2014/main" val="1508877453"/>
                  </a:ext>
                </a:extLst>
              </a:tr>
              <a:tr h="365760">
                <a:tc>
                  <a:txBody>
                    <a:bodyPr/>
                    <a:lstStyle/>
                    <a:p>
                      <a:r>
                        <a:rPr lang="en-GB" sz="1800"/>
                        <a:t>C</a:t>
                      </a:r>
                    </a:p>
                  </a:txBody>
                  <a:tcPr anchor="ctr"/>
                </a:tc>
                <a:tc>
                  <a:txBody>
                    <a:bodyPr/>
                    <a:lstStyle/>
                    <a:p>
                      <a:r>
                        <a:rPr lang="en-GB" sz="1800"/>
                        <a:t>45</a:t>
                      </a:r>
                    </a:p>
                  </a:txBody>
                  <a:tcPr anchor="ctr"/>
                </a:tc>
                <a:tc>
                  <a:txBody>
                    <a:bodyPr/>
                    <a:lstStyle/>
                    <a:p>
                      <a:r>
                        <a:rPr lang="en-GB" sz="1800"/>
                        <a:t>120,000</a:t>
                      </a:r>
                    </a:p>
                  </a:txBody>
                  <a:tcPr anchor="ctr"/>
                </a:tc>
                <a:extLst>
                  <a:ext uri="{0D108BD9-81ED-4DB2-BD59-A6C34878D82A}">
                    <a16:rowId xmlns:a16="http://schemas.microsoft.com/office/drawing/2014/main" val="1019662002"/>
                  </a:ext>
                </a:extLst>
              </a:tr>
              <a:tr h="365760">
                <a:tc>
                  <a:txBody>
                    <a:bodyPr/>
                    <a:lstStyle/>
                    <a:p>
                      <a:r>
                        <a:rPr lang="en-GB" sz="1800"/>
                        <a:t>D</a:t>
                      </a:r>
                    </a:p>
                  </a:txBody>
                  <a:tcPr anchor="ctr"/>
                </a:tc>
                <a:tc>
                  <a:txBody>
                    <a:bodyPr/>
                    <a:lstStyle/>
                    <a:p>
                      <a:r>
                        <a:rPr lang="en-GB" sz="1800"/>
                        <a:t>50</a:t>
                      </a:r>
                    </a:p>
                  </a:txBody>
                  <a:tcPr anchor="ctr"/>
                </a:tc>
                <a:tc>
                  <a:txBody>
                    <a:bodyPr/>
                    <a:lstStyle/>
                    <a:p>
                      <a:r>
                        <a:rPr lang="en-GB" sz="1800"/>
                        <a:t>140,000</a:t>
                      </a:r>
                    </a:p>
                  </a:txBody>
                  <a:tcPr anchor="ctr"/>
                </a:tc>
                <a:extLst>
                  <a:ext uri="{0D108BD9-81ED-4DB2-BD59-A6C34878D82A}">
                    <a16:rowId xmlns:a16="http://schemas.microsoft.com/office/drawing/2014/main" val="788455087"/>
                  </a:ext>
                </a:extLst>
              </a:tr>
              <a:tr h="365760">
                <a:tc>
                  <a:txBody>
                    <a:bodyPr/>
                    <a:lstStyle/>
                    <a:p>
                      <a:r>
                        <a:rPr lang="en-GB" sz="1800"/>
                        <a:t>E</a:t>
                      </a:r>
                    </a:p>
                  </a:txBody>
                  <a:tcPr anchor="ctr"/>
                </a:tc>
                <a:tc>
                  <a:txBody>
                    <a:bodyPr/>
                    <a:lstStyle/>
                    <a:p>
                      <a:r>
                        <a:rPr lang="en-GB" sz="1800"/>
                        <a:t>35</a:t>
                      </a:r>
                    </a:p>
                  </a:txBody>
                  <a:tcPr anchor="ctr"/>
                </a:tc>
                <a:tc>
                  <a:txBody>
                    <a:bodyPr/>
                    <a:lstStyle/>
                    <a:p>
                      <a:r>
                        <a:rPr lang="en-GB" sz="1800" dirty="0"/>
                        <a:t>95,000</a:t>
                      </a:r>
                    </a:p>
                  </a:txBody>
                  <a:tcPr anchor="ctr"/>
                </a:tc>
                <a:extLst>
                  <a:ext uri="{0D108BD9-81ED-4DB2-BD59-A6C34878D82A}">
                    <a16:rowId xmlns:a16="http://schemas.microsoft.com/office/drawing/2014/main" val="2402179188"/>
                  </a:ext>
                </a:extLst>
              </a:tr>
            </a:tbl>
          </a:graphicData>
        </a:graphic>
      </p:graphicFrame>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4868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CFC86-EDC8-F3C9-4DA0-D1B13B1B8E40}"/>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40DD660A-BE55-CABA-72DC-DD50B5FDC1E8}"/>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5123" name="Content Placeholder 2">
                <a:extLst>
                  <a:ext uri="{FF2B5EF4-FFF2-40B4-BE49-F238E27FC236}">
                    <a16:creationId xmlns:a16="http://schemas.microsoft.com/office/drawing/2014/main" id="{1FAEE53B-406E-6A45-C105-19952D028A91}"/>
                  </a:ext>
                </a:extLst>
              </p:cNvPr>
              <p:cNvSpPr>
                <a:spLocks noGrp="1"/>
              </p:cNvSpPr>
              <p:nvPr>
                <p:ph idx="1"/>
              </p:nvPr>
            </p:nvSpPr>
            <p:spPr>
              <a:xfrm>
                <a:off x="1143000" y="1655763"/>
                <a:ext cx="7533640" cy="330231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Normalization (Min-Max Scaling)</a:t>
                </a:r>
              </a:p>
              <a:p>
                <a:pPr marL="80963" lvl="1" indent="0" algn="just" eaLnBrk="1" hangingPunct="1">
                  <a:buClr>
                    <a:srgbClr val="0B5395"/>
                  </a:buClr>
                  <a:buNone/>
                </a:pPr>
                <a:r>
                  <a:rPr lang="en-US" altLang="en-US" sz="2400" dirty="0">
                    <a:latin typeface="Times New Roman" pitchFamily="18" charset="0"/>
                    <a:cs typeface="Times New Roman" pitchFamily="18" charset="0"/>
                  </a:rPr>
                  <a:t>Normalization and Standardization are two essential data transformation techniques used to scale numerical features to a common level, but they do so in different ways.</a:t>
                </a:r>
              </a:p>
              <a:p>
                <a:pPr marL="80963" lvl="1" indent="0" algn="just" eaLnBrk="1" hangingPunct="1">
                  <a:buClr>
                    <a:srgbClr val="0B5395"/>
                  </a:buClr>
                  <a:buNone/>
                </a:pPr>
                <a:r>
                  <a:rPr lang="en-US" altLang="en-US" sz="2400" dirty="0">
                    <a:latin typeface="Times New Roman" pitchFamily="18" charset="0"/>
                    <a:cs typeface="Times New Roman" pitchFamily="18" charset="0"/>
                  </a:rPr>
                  <a:t>Let's use a simple dataset to illustrate both. Imagine we have data for a small group of people and we want to scale the 'Income' feature.</a:t>
                </a:r>
              </a:p>
              <a:p>
                <a:pPr marL="80963" lvl="1" indent="0" algn="just" eaLnBrk="1" hangingPunct="1">
                  <a:buClr>
                    <a:srgbClr val="0B5395"/>
                  </a:buClr>
                  <a:buNone/>
                </a:pPr>
                <a:r>
                  <a:rPr lang="en-US" altLang="en-US" sz="2400" dirty="0">
                    <a:latin typeface="Times New Roman" pitchFamily="18" charset="0"/>
                    <a:cs typeface="Times New Roman" pitchFamily="18" charset="0"/>
                  </a:rPr>
                  <a:t>Formula: </a:t>
                </a:r>
                <a14:m>
                  <m:oMath xmlns:m="http://schemas.openxmlformats.org/officeDocument/2006/math">
                    <m:sSub>
                      <m:sSubPr>
                        <m:ctrlPr>
                          <a:rPr lang="en-US" altLang="en-US" sz="2400" b="1" i="1" smtClean="0">
                            <a:latin typeface="Cambria Math" panose="02040503050406030204" pitchFamily="18" charset="0"/>
                            <a:cs typeface="Times New Roman" pitchFamily="18" charset="0"/>
                          </a:rPr>
                        </m:ctrlPr>
                      </m:sSubPr>
                      <m:e>
                        <m:r>
                          <a:rPr lang="en-US" altLang="en-US" sz="2400" b="1" i="1" smtClean="0">
                            <a:latin typeface="Cambria Math" panose="02040503050406030204" pitchFamily="18" charset="0"/>
                            <a:cs typeface="Times New Roman" pitchFamily="18" charset="0"/>
                          </a:rPr>
                          <m:t>𝑿</m:t>
                        </m:r>
                      </m:e>
                      <m:sub>
                        <m:r>
                          <a:rPr lang="en-US" altLang="en-US" sz="2400" b="1" i="1" smtClean="0">
                            <a:latin typeface="Cambria Math" panose="02040503050406030204" pitchFamily="18" charset="0"/>
                            <a:cs typeface="Times New Roman" pitchFamily="18" charset="0"/>
                          </a:rPr>
                          <m:t>𝒏𝒐𝒓𝒎</m:t>
                        </m:r>
                      </m:sub>
                    </m:sSub>
                    <m:r>
                      <a:rPr lang="en-US" altLang="en-US" sz="2400" b="1" i="1" smtClean="0">
                        <a:latin typeface="Cambria Math" panose="02040503050406030204" pitchFamily="18" charset="0"/>
                        <a:cs typeface="Times New Roman" pitchFamily="18" charset="0"/>
                      </a:rPr>
                      <m:t>=</m:t>
                    </m:r>
                    <m:f>
                      <m:fPr>
                        <m:ctrlPr>
                          <a:rPr lang="en-US" altLang="en-US" sz="2400" b="1" i="1" smtClean="0">
                            <a:latin typeface="Cambria Math" panose="02040503050406030204" pitchFamily="18" charset="0"/>
                            <a:cs typeface="Times New Roman" pitchFamily="18" charset="0"/>
                          </a:rPr>
                        </m:ctrlPr>
                      </m:fPr>
                      <m:num>
                        <m:r>
                          <a:rPr lang="en-US" altLang="en-US" sz="2400" b="1" i="1" smtClean="0">
                            <a:latin typeface="Cambria Math" panose="02040503050406030204" pitchFamily="18" charset="0"/>
                            <a:cs typeface="Times New Roman" pitchFamily="18" charset="0"/>
                          </a:rPr>
                          <m:t>𝑿</m:t>
                        </m:r>
                        <m:r>
                          <a:rPr lang="en-US" altLang="en-US" sz="2400" b="1" i="1" smtClean="0">
                            <a:latin typeface="Cambria Math" panose="02040503050406030204" pitchFamily="18" charset="0"/>
                            <a:cs typeface="Times New Roman" pitchFamily="18" charset="0"/>
                          </a:rPr>
                          <m:t>−</m:t>
                        </m:r>
                        <m:sSub>
                          <m:sSubPr>
                            <m:ctrlPr>
                              <a:rPr lang="en-US" altLang="en-US" sz="2400" b="1" i="1" smtClean="0">
                                <a:latin typeface="Cambria Math" panose="02040503050406030204" pitchFamily="18" charset="0"/>
                                <a:cs typeface="Times New Roman" pitchFamily="18" charset="0"/>
                              </a:rPr>
                            </m:ctrlPr>
                          </m:sSubPr>
                          <m:e>
                            <m:r>
                              <a:rPr lang="en-US" altLang="en-US" sz="2400" b="1" i="1" smtClean="0">
                                <a:latin typeface="Cambria Math" panose="02040503050406030204" pitchFamily="18" charset="0"/>
                                <a:cs typeface="Times New Roman" pitchFamily="18" charset="0"/>
                              </a:rPr>
                              <m:t>𝑿</m:t>
                            </m:r>
                          </m:e>
                          <m:sub>
                            <m:r>
                              <a:rPr lang="en-US" altLang="en-US" sz="2400" b="1" i="1" smtClean="0">
                                <a:latin typeface="Cambria Math" panose="02040503050406030204" pitchFamily="18" charset="0"/>
                                <a:cs typeface="Times New Roman" pitchFamily="18" charset="0"/>
                              </a:rPr>
                              <m:t>𝒎𝒊𝒏</m:t>
                            </m:r>
                          </m:sub>
                        </m:sSub>
                      </m:num>
                      <m:den>
                        <m:sSub>
                          <m:sSubPr>
                            <m:ctrlPr>
                              <a:rPr lang="en-US" altLang="en-US" sz="2400" b="1" i="1">
                                <a:latin typeface="Cambria Math" panose="02040503050406030204" pitchFamily="18" charset="0"/>
                                <a:cs typeface="Times New Roman" pitchFamily="18" charset="0"/>
                              </a:rPr>
                            </m:ctrlPr>
                          </m:sSubPr>
                          <m:e>
                            <m:r>
                              <a:rPr lang="en-US" altLang="en-US" sz="2400" b="1" i="1">
                                <a:latin typeface="Cambria Math" panose="02040503050406030204" pitchFamily="18" charset="0"/>
                                <a:cs typeface="Times New Roman" pitchFamily="18" charset="0"/>
                              </a:rPr>
                              <m:t>𝑿</m:t>
                            </m:r>
                          </m:e>
                          <m:sub>
                            <m:r>
                              <a:rPr lang="en-US" altLang="en-US" sz="2400" b="1" i="1">
                                <a:latin typeface="Cambria Math" panose="02040503050406030204" pitchFamily="18" charset="0"/>
                                <a:cs typeface="Times New Roman" pitchFamily="18" charset="0"/>
                              </a:rPr>
                              <m:t>𝒎</m:t>
                            </m:r>
                            <m:r>
                              <a:rPr lang="en-US" altLang="en-US" sz="2400" b="1" i="1" smtClean="0">
                                <a:latin typeface="Cambria Math" panose="02040503050406030204" pitchFamily="18" charset="0"/>
                                <a:cs typeface="Times New Roman" pitchFamily="18" charset="0"/>
                              </a:rPr>
                              <m:t>𝒂𝒙</m:t>
                            </m:r>
                          </m:sub>
                        </m:sSub>
                        <m:r>
                          <a:rPr lang="en-US" altLang="en-US" sz="2400" b="1" i="1" smtClean="0">
                            <a:latin typeface="Cambria Math" panose="02040503050406030204" pitchFamily="18" charset="0"/>
                            <a:cs typeface="Times New Roman" pitchFamily="18" charset="0"/>
                          </a:rPr>
                          <m:t>−</m:t>
                        </m:r>
                        <m:sSub>
                          <m:sSubPr>
                            <m:ctrlPr>
                              <a:rPr lang="en-US" altLang="en-US" sz="2400" b="1" i="1">
                                <a:latin typeface="Cambria Math" panose="02040503050406030204" pitchFamily="18" charset="0"/>
                                <a:cs typeface="Times New Roman" pitchFamily="18" charset="0"/>
                              </a:rPr>
                            </m:ctrlPr>
                          </m:sSubPr>
                          <m:e>
                            <m:r>
                              <a:rPr lang="en-US" altLang="en-US" sz="2400" b="1" i="1">
                                <a:latin typeface="Cambria Math" panose="02040503050406030204" pitchFamily="18" charset="0"/>
                                <a:cs typeface="Times New Roman" pitchFamily="18" charset="0"/>
                              </a:rPr>
                              <m:t>𝑿</m:t>
                            </m:r>
                          </m:e>
                          <m:sub>
                            <m:r>
                              <a:rPr lang="en-US" altLang="en-US" sz="2400" b="1" i="1">
                                <a:latin typeface="Cambria Math" panose="02040503050406030204" pitchFamily="18" charset="0"/>
                                <a:cs typeface="Times New Roman" pitchFamily="18" charset="0"/>
                              </a:rPr>
                              <m:t>𝒎𝒊𝒏</m:t>
                            </m:r>
                          </m:sub>
                        </m:sSub>
                      </m:den>
                    </m:f>
                  </m:oMath>
                </a14:m>
                <a:endParaRPr lang="en-US" altLang="en-US" sz="2400" b="1" dirty="0">
                  <a:latin typeface="Times New Roman" pitchFamily="18" charset="0"/>
                  <a:cs typeface="Times New Roman" pitchFamily="18" charset="0"/>
                </a:endParaRPr>
              </a:p>
              <a:p>
                <a:pPr marL="80963" lvl="1" indent="0" algn="just" eaLnBrk="1" hangingPunct="1">
                  <a:buClr>
                    <a:srgbClr val="0B5395"/>
                  </a:buClr>
                  <a:buNone/>
                </a:pPr>
                <a:endParaRPr lang="en-US" altLang="en-US" sz="2400" b="1" dirty="0">
                  <a:latin typeface="Times New Roman" pitchFamily="18" charset="0"/>
                  <a:cs typeface="Times New Roman" pitchFamily="18" charset="0"/>
                </a:endParaRPr>
              </a:p>
            </p:txBody>
          </p:sp>
        </mc:Choice>
        <mc:Fallback xmlns="">
          <p:sp>
            <p:nvSpPr>
              <p:cNvPr id="5123" name="Content Placeholder 2">
                <a:extLst>
                  <a:ext uri="{FF2B5EF4-FFF2-40B4-BE49-F238E27FC236}">
                    <a16:creationId xmlns:a16="http://schemas.microsoft.com/office/drawing/2014/main" id="{1FAEE53B-406E-6A45-C105-19952D028A91}"/>
                  </a:ext>
                </a:extLst>
              </p:cNvPr>
              <p:cNvSpPr>
                <a:spLocks noGrp="1" noRot="1" noChangeAspect="1" noMove="1" noResize="1" noEditPoints="1" noAdjustHandles="1" noChangeArrowheads="1" noChangeShapeType="1" noTextEdit="1"/>
              </p:cNvSpPr>
              <p:nvPr>
                <p:ph idx="1"/>
              </p:nvPr>
            </p:nvSpPr>
            <p:spPr>
              <a:xfrm>
                <a:off x="1143000" y="1655763"/>
                <a:ext cx="7533640" cy="3302317"/>
              </a:xfrm>
              <a:blipFill>
                <a:blip r:embed="rId2"/>
                <a:stretch>
                  <a:fillRect l="-243" t="-2588" r="-1296"/>
                </a:stretch>
              </a:blipFill>
            </p:spPr>
            <p:txBody>
              <a:bodyPr/>
              <a:lstStyle/>
              <a:p>
                <a:r>
                  <a:rPr lang="en-GB">
                    <a:noFill/>
                  </a:rPr>
                  <a:t> </a:t>
                </a:r>
              </a:p>
            </p:txBody>
          </p:sp>
        </mc:Fallback>
      </mc:AlternateContent>
      <p:sp>
        <p:nvSpPr>
          <p:cNvPr id="5124" name="Slide Number Placeholder 1">
            <a:extLst>
              <a:ext uri="{FF2B5EF4-FFF2-40B4-BE49-F238E27FC236}">
                <a16:creationId xmlns:a16="http://schemas.microsoft.com/office/drawing/2014/main" id="{AAD918EB-CB78-B4FD-1F40-D6AA00E5019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35</a:t>
            </a:fld>
            <a:endParaRPr lang="en-US" altLang="en-US"/>
          </a:p>
        </p:txBody>
      </p:sp>
      <p:pic>
        <p:nvPicPr>
          <p:cNvPr id="2" name="Picture 1">
            <a:extLst>
              <a:ext uri="{FF2B5EF4-FFF2-40B4-BE49-F238E27FC236}">
                <a16:creationId xmlns:a16="http://schemas.microsoft.com/office/drawing/2014/main" id="{309E02F6-2729-CE8D-D856-1EB01E1B0656}"/>
              </a:ext>
            </a:extLst>
          </p:cNvPr>
          <p:cNvPicPr>
            <a:picLocks noChangeAspect="1"/>
          </p:cNvPicPr>
          <p:nvPr/>
        </p:nvPicPr>
        <p:blipFill>
          <a:blip r:embed="rId3"/>
          <a:stretch>
            <a:fillRect/>
          </a:stretch>
        </p:blipFill>
        <p:spPr>
          <a:xfrm>
            <a:off x="8769315" y="1489000"/>
            <a:ext cx="2968557" cy="19400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490A6DF-2800-8380-9EE6-564F53169A3C}"/>
                  </a:ext>
                </a:extLst>
              </p:cNvPr>
              <p:cNvSpPr txBox="1"/>
              <p:nvPr/>
            </p:nvSpPr>
            <p:spPr>
              <a:xfrm>
                <a:off x="1050324" y="4879071"/>
                <a:ext cx="10349195" cy="1569660"/>
              </a:xfrm>
              <a:prstGeom prst="rect">
                <a:avLst/>
              </a:prstGeom>
              <a:noFill/>
            </p:spPr>
            <p:txBody>
              <a:bodyPr wrap="square">
                <a:spAutoFit/>
              </a:bodyPr>
              <a:lstStyle/>
              <a:p>
                <a:r>
                  <a:rPr lang="en-US" sz="2400" dirty="0">
                    <a:latin typeface="Times New Roman" pitchFamily="18" charset="0"/>
                    <a:cs typeface="Times New Roman" pitchFamily="18" charset="0"/>
                  </a:rPr>
                  <a:t>Example Calculation for 'Income’</a:t>
                </a:r>
              </a:p>
              <a:p>
                <a:r>
                  <a:rPr lang="en-US" sz="2400" b="1" dirty="0">
                    <a:latin typeface="Times New Roman" pitchFamily="18" charset="0"/>
                    <a:cs typeface="Times New Roman" pitchFamily="18" charset="0"/>
                  </a:rPr>
                  <a:t>Step 1: Find the minimum and maximum values for 'Income’.</a:t>
                </a:r>
              </a:p>
              <a:p>
                <a14:m>
                  <m:oMath xmlns:m="http://schemas.openxmlformats.org/officeDocument/2006/math">
                    <m:sSub>
                      <m:sSubPr>
                        <m:ctrlPr>
                          <a:rPr lang="en-US" altLang="en-US" sz="2400" b="1" i="1">
                            <a:latin typeface="Cambria Math" panose="02040503050406030204" pitchFamily="18" charset="0"/>
                            <a:cs typeface="Times New Roman" pitchFamily="18" charset="0"/>
                          </a:rPr>
                        </m:ctrlPr>
                      </m:sSubPr>
                      <m:e>
                        <m:r>
                          <a:rPr lang="en-US" altLang="en-US" sz="2400" b="1" i="1">
                            <a:latin typeface="Cambria Math" panose="02040503050406030204" pitchFamily="18" charset="0"/>
                            <a:cs typeface="Times New Roman" pitchFamily="18" charset="0"/>
                          </a:rPr>
                          <m:t>𝑿</m:t>
                        </m:r>
                      </m:e>
                      <m:sub>
                        <m:r>
                          <a:rPr lang="en-US" altLang="en-US" sz="2400" b="1" i="1">
                            <a:latin typeface="Cambria Math" panose="02040503050406030204" pitchFamily="18" charset="0"/>
                            <a:cs typeface="Times New Roman" pitchFamily="18" charset="0"/>
                          </a:rPr>
                          <m:t>𝒎𝒊𝒏</m:t>
                        </m:r>
                      </m:sub>
                    </m:sSub>
                    <m:r>
                      <a:rPr lang="en-US" altLang="en-US" sz="2400" b="1" i="1" smtClean="0">
                        <a:latin typeface="Cambria Math" panose="02040503050406030204" pitchFamily="18" charset="0"/>
                        <a:cs typeface="Times New Roman" pitchFamily="18" charset="0"/>
                      </a:rPr>
                      <m:t>=</m:t>
                    </m:r>
                    <m:r>
                      <a:rPr lang="en-US" altLang="en-US" sz="2400" b="0" i="1" smtClean="0">
                        <a:latin typeface="Cambria Math" panose="02040503050406030204" pitchFamily="18" charset="0"/>
                        <a:cs typeface="Times New Roman" pitchFamily="18" charset="0"/>
                      </a:rPr>
                      <m:t>50,000</m:t>
                    </m:r>
                  </m:oMath>
                </a14:m>
                <a:r>
                  <a:rPr lang="en-US" sz="2400" dirty="0">
                    <a:latin typeface="Times New Roman" pitchFamily="18" charset="0"/>
                    <a:cs typeface="Times New Roman" pitchFamily="18" charset="0"/>
                  </a:rPr>
                  <a:t>​</a:t>
                </a:r>
                <a:endParaRPr lang="en-US" altLang="en-US" sz="2400" b="1" i="1" dirty="0">
                  <a:latin typeface="Cambria Math" panose="02040503050406030204" pitchFamily="18" charset="0"/>
                  <a:cs typeface="Times New Roman" pitchFamily="18" charset="0"/>
                </a:endParaRPr>
              </a:p>
              <a:p>
                <a:pPr/>
                <a14:m>
                  <m:oMathPara xmlns:m="http://schemas.openxmlformats.org/officeDocument/2006/math">
                    <m:oMathParaPr>
                      <m:jc m:val="left"/>
                    </m:oMathParaPr>
                    <m:oMath xmlns:m="http://schemas.openxmlformats.org/officeDocument/2006/math">
                      <m:sSub>
                        <m:sSubPr>
                          <m:ctrlPr>
                            <a:rPr lang="en-US" altLang="en-US" sz="2400" b="1" i="1">
                              <a:latin typeface="Cambria Math" panose="02040503050406030204" pitchFamily="18" charset="0"/>
                              <a:cs typeface="Times New Roman" pitchFamily="18" charset="0"/>
                            </a:rPr>
                          </m:ctrlPr>
                        </m:sSubPr>
                        <m:e>
                          <m:r>
                            <a:rPr lang="en-US" altLang="en-US" sz="2400" b="1" i="1">
                              <a:latin typeface="Cambria Math" panose="02040503050406030204" pitchFamily="18" charset="0"/>
                              <a:cs typeface="Times New Roman" pitchFamily="18" charset="0"/>
                            </a:rPr>
                            <m:t>𝑿</m:t>
                          </m:r>
                        </m:e>
                        <m:sub>
                          <m:r>
                            <a:rPr lang="en-US" altLang="en-US" sz="2400" b="1" i="1">
                              <a:latin typeface="Cambria Math" panose="02040503050406030204" pitchFamily="18" charset="0"/>
                              <a:cs typeface="Times New Roman" pitchFamily="18" charset="0"/>
                            </a:rPr>
                            <m:t>𝒎</m:t>
                          </m:r>
                          <m:r>
                            <a:rPr lang="en-US" altLang="en-US" sz="2400" b="1" i="1" smtClean="0">
                              <a:latin typeface="Cambria Math" panose="02040503050406030204" pitchFamily="18" charset="0"/>
                              <a:cs typeface="Times New Roman" pitchFamily="18" charset="0"/>
                            </a:rPr>
                            <m:t>𝒂𝒙</m:t>
                          </m:r>
                        </m:sub>
                      </m:sSub>
                      <m:r>
                        <a:rPr lang="en-US" altLang="en-US" sz="2400" b="1" i="1" smtClean="0">
                          <a:latin typeface="Cambria Math" panose="02040503050406030204" pitchFamily="18" charset="0"/>
                          <a:cs typeface="Times New Roman" pitchFamily="18" charset="0"/>
                        </a:rPr>
                        <m:t>=</m:t>
                      </m:r>
                      <m:r>
                        <a:rPr lang="en-US" altLang="en-US" sz="2400" b="0" i="1" smtClean="0">
                          <a:latin typeface="Cambria Math" panose="02040503050406030204" pitchFamily="18" charset="0"/>
                          <a:cs typeface="Times New Roman" pitchFamily="18" charset="0"/>
                        </a:rPr>
                        <m:t>140,000</m:t>
                      </m:r>
                      <m:r>
                        <a:rPr lang="en-US" altLang="en-US" sz="2400" b="0" i="1">
                          <a:latin typeface="Cambria Math" panose="02040503050406030204" pitchFamily="18" charset="0"/>
                          <a:cs typeface="Times New Roman" pitchFamily="18" charset="0"/>
                        </a:rPr>
                        <m:t> </m:t>
                      </m:r>
                    </m:oMath>
                  </m:oMathPara>
                </a14:m>
                <a:endParaRPr lang="en-GB" sz="2400" dirty="0">
                  <a:latin typeface="Times New Roman" pitchFamily="18" charset="0"/>
                  <a:cs typeface="Times New Roman" pitchFamily="18" charset="0"/>
                </a:endParaRPr>
              </a:p>
            </p:txBody>
          </p:sp>
        </mc:Choice>
        <mc:Fallback xmlns="">
          <p:sp>
            <p:nvSpPr>
              <p:cNvPr id="5" name="TextBox 4">
                <a:extLst>
                  <a:ext uri="{FF2B5EF4-FFF2-40B4-BE49-F238E27FC236}">
                    <a16:creationId xmlns:a16="http://schemas.microsoft.com/office/drawing/2014/main" id="{E490A6DF-2800-8380-9EE6-564F53169A3C}"/>
                  </a:ext>
                </a:extLst>
              </p:cNvPr>
              <p:cNvSpPr txBox="1">
                <a:spLocks noRot="1" noChangeAspect="1" noMove="1" noResize="1" noEditPoints="1" noAdjustHandles="1" noChangeArrowheads="1" noChangeShapeType="1" noTextEdit="1"/>
              </p:cNvSpPr>
              <p:nvPr/>
            </p:nvSpPr>
            <p:spPr>
              <a:xfrm>
                <a:off x="1050324" y="4879071"/>
                <a:ext cx="10349195" cy="1569660"/>
              </a:xfrm>
              <a:prstGeom prst="rect">
                <a:avLst/>
              </a:prstGeom>
              <a:blipFill>
                <a:blip r:embed="rId4"/>
                <a:stretch>
                  <a:fillRect l="-883" t="-3101"/>
                </a:stretch>
              </a:blipFill>
            </p:spPr>
            <p:txBody>
              <a:bodyPr/>
              <a:lstStyle/>
              <a:p>
                <a:r>
                  <a:rPr lang="en-GB">
                    <a:noFill/>
                  </a:rPr>
                  <a:t> </a:t>
                </a:r>
              </a:p>
            </p:txBody>
          </p:sp>
        </mc:Fallback>
      </mc:AlternateContent>
    </p:spTree>
    <p:extLst>
      <p:ext uri="{BB962C8B-B14F-4D97-AF65-F5344CB8AC3E}">
        <p14:creationId xmlns:p14="http://schemas.microsoft.com/office/powerpoint/2010/main" val="37075497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01606-16B9-F257-FF57-68455467BB12}"/>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89FC106D-52E3-D5FB-D226-26FF0337FCE3}"/>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5123" name="Content Placeholder 2">
                <a:extLst>
                  <a:ext uri="{FF2B5EF4-FFF2-40B4-BE49-F238E27FC236}">
                    <a16:creationId xmlns:a16="http://schemas.microsoft.com/office/drawing/2014/main" id="{F74C175F-EAFB-5D63-2633-C18F34B3F435}"/>
                  </a:ext>
                </a:extLst>
              </p:cNvPr>
              <p:cNvSpPr>
                <a:spLocks noGrp="1"/>
              </p:cNvSpPr>
              <p:nvPr>
                <p:ph idx="1"/>
              </p:nvPr>
            </p:nvSpPr>
            <p:spPr>
              <a:xfrm>
                <a:off x="1143000" y="1655763"/>
                <a:ext cx="7533640" cy="4933950"/>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Normalization (Min-Max Scaling)</a:t>
                </a:r>
              </a:p>
              <a:p>
                <a:pPr marL="80963" lvl="1" indent="0" algn="just" eaLnBrk="1" hangingPunct="1">
                  <a:buClr>
                    <a:srgbClr val="0B5395"/>
                  </a:buClr>
                  <a:buNone/>
                </a:pPr>
                <a:r>
                  <a:rPr lang="en-US" altLang="en-US" sz="2400" dirty="0">
                    <a:latin typeface="Times New Roman" pitchFamily="18" charset="0"/>
                    <a:cs typeface="Times New Roman" pitchFamily="18" charset="0"/>
                  </a:rPr>
                  <a:t>Step 2: Apply the formula to each 'Income' value.</a:t>
                </a:r>
              </a:p>
              <a:p>
                <a:pPr marL="423863" lvl="1" indent="-342900" algn="just" eaLnBrk="1" hangingPunct="1">
                  <a:buClr>
                    <a:srgbClr val="0B5395"/>
                  </a:buClr>
                </a:pPr>
                <a:r>
                  <a:rPr lang="en-US" altLang="en-US" sz="2400" dirty="0">
                    <a:latin typeface="Times New Roman" pitchFamily="18" charset="0"/>
                    <a:cs typeface="Times New Roman" pitchFamily="18" charset="0"/>
                  </a:rPr>
                  <a:t>Person A (50,000):</a:t>
                </a:r>
              </a:p>
              <a:p>
                <a:pPr marL="80963" lvl="1" indent="0" algn="just" eaLnBrk="1" hangingPunct="1">
                  <a:buClr>
                    <a:srgbClr val="0B5395"/>
                  </a:buClr>
                  <a:buNone/>
                </a:pPr>
                <a14:m>
                  <m:oMathPara xmlns:m="http://schemas.openxmlformats.org/officeDocument/2006/math">
                    <m:oMathParaPr>
                      <m:jc m:val="centerGroup"/>
                    </m:oMathParaPr>
                    <m:oMath xmlns:m="http://schemas.openxmlformats.org/officeDocument/2006/math">
                      <m:f>
                        <m:fPr>
                          <m:ctrlPr>
                            <a:rPr lang="en-US" altLang="en-US" sz="2400" i="1" smtClean="0">
                              <a:latin typeface="Cambria Math" panose="02040503050406030204" pitchFamily="18" charset="0"/>
                              <a:cs typeface="Times New Roman" pitchFamily="18" charset="0"/>
                            </a:rPr>
                          </m:ctrlPr>
                        </m:fPr>
                        <m:num>
                          <m:r>
                            <m:rPr>
                              <m:nor/>
                            </m:rPr>
                            <a:rPr lang="en-US" altLang="en-US" sz="2400" dirty="0">
                              <a:latin typeface="Times New Roman" pitchFamily="18" charset="0"/>
                              <a:cs typeface="Times New Roman" pitchFamily="18" charset="0"/>
                            </a:rPr>
                            <m:t>50,000−50,000</m:t>
                          </m:r>
                        </m:num>
                        <m:den>
                          <m:r>
                            <m:rPr>
                              <m:nor/>
                            </m:rPr>
                            <a:rPr lang="en-US" altLang="en-US" sz="2400" dirty="0">
                              <a:latin typeface="Times New Roman" pitchFamily="18" charset="0"/>
                              <a:cs typeface="Times New Roman" pitchFamily="18" charset="0"/>
                            </a:rPr>
                            <m:t>140,000−50,000</m:t>
                          </m:r>
                        </m:den>
                      </m:f>
                      <m:r>
                        <a:rPr lang="en-US" altLang="en-US" sz="2400" b="0" i="1" smtClean="0">
                          <a:latin typeface="Cambria Math" panose="02040503050406030204" pitchFamily="18" charset="0"/>
                          <a:cs typeface="Times New Roman" pitchFamily="18" charset="0"/>
                        </a:rPr>
                        <m:t>=0</m:t>
                      </m:r>
                    </m:oMath>
                  </m:oMathPara>
                </a14:m>
                <a:endParaRPr lang="en-US" altLang="en-US" sz="2400" dirty="0">
                  <a:latin typeface="Times New Roman" pitchFamily="18" charset="0"/>
                  <a:cs typeface="Times New Roman" pitchFamily="18" charset="0"/>
                </a:endParaRPr>
              </a:p>
              <a:p>
                <a:pPr marL="423863" lvl="1" indent="-342900" algn="just" eaLnBrk="1" hangingPunct="1">
                  <a:buClr>
                    <a:srgbClr val="0B5395"/>
                  </a:buClr>
                </a:pPr>
                <a:r>
                  <a:rPr lang="en-US" altLang="en-US" sz="2400" dirty="0">
                    <a:latin typeface="Times New Roman" pitchFamily="18" charset="0"/>
                    <a:cs typeface="Times New Roman" pitchFamily="18" charset="0"/>
                  </a:rPr>
                  <a:t>Person B (65,000):</a:t>
                </a:r>
              </a:p>
              <a:p>
                <a:pPr marL="80963" lvl="1" indent="0" algn="just" eaLnBrk="1" hangingPunct="1">
                  <a:buClr>
                    <a:srgbClr val="0B5395"/>
                  </a:buClr>
                  <a:buNone/>
                </a:pPr>
                <a14:m>
                  <m:oMathPara xmlns:m="http://schemas.openxmlformats.org/officeDocument/2006/math">
                    <m:oMathParaPr>
                      <m:jc m:val="centerGroup"/>
                    </m:oMathParaPr>
                    <m:oMath xmlns:m="http://schemas.openxmlformats.org/officeDocument/2006/math">
                      <m:f>
                        <m:fPr>
                          <m:ctrlPr>
                            <a:rPr lang="en-US" altLang="en-US" sz="2400" i="1">
                              <a:latin typeface="Cambria Math" panose="02040503050406030204" pitchFamily="18" charset="0"/>
                              <a:cs typeface="Times New Roman" pitchFamily="18" charset="0"/>
                            </a:rPr>
                          </m:ctrlPr>
                        </m:fPr>
                        <m:num>
                          <m:r>
                            <m:rPr>
                              <m:nor/>
                            </m:rPr>
                            <a:rPr lang="en-US" altLang="en-US" sz="2400" i="1" dirty="0">
                              <a:latin typeface="Times New Roman" pitchFamily="18" charset="0"/>
                              <a:cs typeface="Times New Roman" pitchFamily="18" charset="0"/>
                            </a:rPr>
                            <m:t>65,000−50,000</m:t>
                          </m:r>
                        </m:num>
                        <m:den>
                          <m:r>
                            <m:rPr>
                              <m:nor/>
                            </m:rPr>
                            <a:rPr lang="en-US" altLang="en-US" sz="2400" dirty="0">
                              <a:latin typeface="Times New Roman" pitchFamily="18" charset="0"/>
                              <a:cs typeface="Times New Roman" pitchFamily="18" charset="0"/>
                            </a:rPr>
                            <m:t>140,000−50,000</m:t>
                          </m:r>
                        </m:den>
                      </m:f>
                      <m:r>
                        <m:rPr>
                          <m:nor/>
                        </m:rPr>
                        <a:rPr lang="en-US" altLang="en-US" sz="2400" dirty="0">
                          <a:latin typeface="Times New Roman" pitchFamily="18" charset="0"/>
                          <a:cs typeface="Times New Roman" pitchFamily="18" charset="0"/>
                        </a:rPr>
                        <m:t>≈0.167</m:t>
                      </m:r>
                    </m:oMath>
                  </m:oMathPara>
                </a14:m>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dirty="0">
                    <a:latin typeface="Times New Roman" pitchFamily="18" charset="0"/>
                    <a:cs typeface="Times New Roman" pitchFamily="18" charset="0"/>
                  </a:rPr>
                  <a:t>Similarly, </a:t>
                </a:r>
              </a:p>
              <a:p>
                <a:pPr marL="80963" lvl="1" indent="0" algn="just" eaLnBrk="1" hangingPunct="1">
                  <a:buClr>
                    <a:srgbClr val="0B5395"/>
                  </a:buClr>
                  <a:buNone/>
                </a:pPr>
                <a:r>
                  <a:rPr lang="en-US" altLang="en-US" sz="2400" dirty="0">
                    <a:latin typeface="Times New Roman" pitchFamily="18" charset="0"/>
                    <a:cs typeface="Times New Roman" pitchFamily="18" charset="0"/>
                  </a:rPr>
                  <a:t>Person C (120,000): ≈0.778</a:t>
                </a:r>
              </a:p>
              <a:p>
                <a:pPr marL="80963" lvl="1" indent="0" algn="just" eaLnBrk="1" hangingPunct="1">
                  <a:buClr>
                    <a:srgbClr val="0B5395"/>
                  </a:buClr>
                  <a:buNone/>
                </a:pPr>
                <a:r>
                  <a:rPr lang="en-US" altLang="en-US" sz="2400" dirty="0">
                    <a:latin typeface="Times New Roman" pitchFamily="18" charset="0"/>
                    <a:cs typeface="Times New Roman" pitchFamily="18" charset="0"/>
                  </a:rPr>
                  <a:t>Person D (140,000): 	=1.0</a:t>
                </a:r>
              </a:p>
              <a:p>
                <a:pPr marL="80963" lvl="1" indent="0" algn="just" eaLnBrk="1" hangingPunct="1">
                  <a:buClr>
                    <a:srgbClr val="0B5395"/>
                  </a:buClr>
                  <a:buNone/>
                </a:pPr>
                <a:r>
                  <a:rPr lang="en-US" altLang="en-US" sz="2400" dirty="0">
                    <a:latin typeface="Times New Roman" pitchFamily="18" charset="0"/>
                    <a:cs typeface="Times New Roman" pitchFamily="18" charset="0"/>
                  </a:rPr>
                  <a:t>Person E (95,000): =0.5</a:t>
                </a:r>
              </a:p>
            </p:txBody>
          </p:sp>
        </mc:Choice>
        <mc:Fallback xmlns="">
          <p:sp>
            <p:nvSpPr>
              <p:cNvPr id="5123" name="Content Placeholder 2">
                <a:extLst>
                  <a:ext uri="{FF2B5EF4-FFF2-40B4-BE49-F238E27FC236}">
                    <a16:creationId xmlns:a16="http://schemas.microsoft.com/office/drawing/2014/main" id="{F74C175F-EAFB-5D63-2633-C18F34B3F435}"/>
                  </a:ext>
                </a:extLst>
              </p:cNvPr>
              <p:cNvSpPr>
                <a:spLocks noGrp="1" noRot="1" noChangeAspect="1" noMove="1" noResize="1" noEditPoints="1" noAdjustHandles="1" noChangeArrowheads="1" noChangeShapeType="1" noTextEdit="1"/>
              </p:cNvSpPr>
              <p:nvPr>
                <p:ph idx="1"/>
              </p:nvPr>
            </p:nvSpPr>
            <p:spPr>
              <a:xfrm>
                <a:off x="1143000" y="1655763"/>
                <a:ext cx="7533640" cy="4933950"/>
              </a:xfrm>
              <a:blipFill>
                <a:blip r:embed="rId2"/>
                <a:stretch>
                  <a:fillRect l="-243" t="-1731"/>
                </a:stretch>
              </a:blipFill>
            </p:spPr>
            <p:txBody>
              <a:bodyPr/>
              <a:lstStyle/>
              <a:p>
                <a:r>
                  <a:rPr lang="en-GB">
                    <a:noFill/>
                  </a:rPr>
                  <a:t> </a:t>
                </a:r>
              </a:p>
            </p:txBody>
          </p:sp>
        </mc:Fallback>
      </mc:AlternateContent>
      <p:sp>
        <p:nvSpPr>
          <p:cNvPr id="5124" name="Slide Number Placeholder 1">
            <a:extLst>
              <a:ext uri="{FF2B5EF4-FFF2-40B4-BE49-F238E27FC236}">
                <a16:creationId xmlns:a16="http://schemas.microsoft.com/office/drawing/2014/main" id="{58E4106F-2FF8-1F5D-D9BD-7F608BDF63D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36</a:t>
            </a:fld>
            <a:endParaRPr lang="en-US" altLang="en-US"/>
          </a:p>
        </p:txBody>
      </p:sp>
      <p:pic>
        <p:nvPicPr>
          <p:cNvPr id="2" name="Picture 1">
            <a:extLst>
              <a:ext uri="{FF2B5EF4-FFF2-40B4-BE49-F238E27FC236}">
                <a16:creationId xmlns:a16="http://schemas.microsoft.com/office/drawing/2014/main" id="{544D0C47-7C9C-0945-5C33-6EB7C6D7BA28}"/>
              </a:ext>
            </a:extLst>
          </p:cNvPr>
          <p:cNvPicPr>
            <a:picLocks noChangeAspect="1"/>
          </p:cNvPicPr>
          <p:nvPr/>
        </p:nvPicPr>
        <p:blipFill>
          <a:blip r:embed="rId3"/>
          <a:stretch>
            <a:fillRect/>
          </a:stretch>
        </p:blipFill>
        <p:spPr>
          <a:xfrm>
            <a:off x="8769315" y="1489000"/>
            <a:ext cx="2968557" cy="1940000"/>
          </a:xfrm>
          <a:prstGeom prst="rect">
            <a:avLst/>
          </a:prstGeom>
        </p:spPr>
      </p:pic>
      <p:graphicFrame>
        <p:nvGraphicFramePr>
          <p:cNvPr id="6" name="Table 5">
            <a:extLst>
              <a:ext uri="{FF2B5EF4-FFF2-40B4-BE49-F238E27FC236}">
                <a16:creationId xmlns:a16="http://schemas.microsoft.com/office/drawing/2014/main" id="{6C21779C-BFE9-F712-207A-7084142D214F}"/>
              </a:ext>
            </a:extLst>
          </p:cNvPr>
          <p:cNvGraphicFramePr>
            <a:graphicFrameLocks noGrp="1"/>
          </p:cNvGraphicFramePr>
          <p:nvPr>
            <p:extLst>
              <p:ext uri="{D42A27DB-BD31-4B8C-83A1-F6EECF244321}">
                <p14:modId xmlns:p14="http://schemas.microsoft.com/office/powerpoint/2010/main" val="1498321800"/>
              </p:ext>
            </p:extLst>
          </p:nvPr>
        </p:nvGraphicFramePr>
        <p:xfrm>
          <a:off x="8437873" y="4212590"/>
          <a:ext cx="3299999" cy="2194560"/>
        </p:xfrm>
        <a:graphic>
          <a:graphicData uri="http://schemas.openxmlformats.org/drawingml/2006/table">
            <a:tbl>
              <a:tblPr>
                <a:tableStyleId>{D7AC3CCA-C797-4891-BE02-D94E43425B78}</a:tableStyleId>
              </a:tblPr>
              <a:tblGrid>
                <a:gridCol w="1012190">
                  <a:extLst>
                    <a:ext uri="{9D8B030D-6E8A-4147-A177-3AD203B41FA5}">
                      <a16:colId xmlns:a16="http://schemas.microsoft.com/office/drawing/2014/main" val="1503564234"/>
                    </a:ext>
                  </a:extLst>
                </a:gridCol>
                <a:gridCol w="670433">
                  <a:extLst>
                    <a:ext uri="{9D8B030D-6E8A-4147-A177-3AD203B41FA5}">
                      <a16:colId xmlns:a16="http://schemas.microsoft.com/office/drawing/2014/main" val="3224550108"/>
                    </a:ext>
                  </a:extLst>
                </a:gridCol>
                <a:gridCol w="1617376">
                  <a:extLst>
                    <a:ext uri="{9D8B030D-6E8A-4147-A177-3AD203B41FA5}">
                      <a16:colId xmlns:a16="http://schemas.microsoft.com/office/drawing/2014/main" val="2642618428"/>
                    </a:ext>
                  </a:extLst>
                </a:gridCol>
              </a:tblGrid>
              <a:tr h="365760">
                <a:tc>
                  <a:txBody>
                    <a:bodyPr/>
                    <a:lstStyle/>
                    <a:p>
                      <a:pPr algn="ctr"/>
                      <a:r>
                        <a:rPr lang="en-GB" sz="1800" b="1"/>
                        <a:t>Person</a:t>
                      </a:r>
                    </a:p>
                  </a:txBody>
                  <a:tcPr anchor="ctr"/>
                </a:tc>
                <a:tc>
                  <a:txBody>
                    <a:bodyPr/>
                    <a:lstStyle/>
                    <a:p>
                      <a:pPr algn="ctr"/>
                      <a:r>
                        <a:rPr lang="en-GB" sz="1800" b="1"/>
                        <a:t>Age</a:t>
                      </a:r>
                    </a:p>
                  </a:txBody>
                  <a:tcPr anchor="ctr"/>
                </a:tc>
                <a:tc>
                  <a:txBody>
                    <a:bodyPr/>
                    <a:lstStyle/>
                    <a:p>
                      <a:pPr algn="ctr"/>
                      <a:r>
                        <a:rPr lang="en-GB" sz="1800" b="1" dirty="0"/>
                        <a:t>Income</a:t>
                      </a:r>
                    </a:p>
                  </a:txBody>
                  <a:tcPr anchor="ctr"/>
                </a:tc>
                <a:extLst>
                  <a:ext uri="{0D108BD9-81ED-4DB2-BD59-A6C34878D82A}">
                    <a16:rowId xmlns:a16="http://schemas.microsoft.com/office/drawing/2014/main" val="3704850185"/>
                  </a:ext>
                </a:extLst>
              </a:tr>
              <a:tr h="365760">
                <a:tc>
                  <a:txBody>
                    <a:bodyPr/>
                    <a:lstStyle/>
                    <a:p>
                      <a:r>
                        <a:rPr lang="en-GB" sz="1800"/>
                        <a:t>A</a:t>
                      </a:r>
                    </a:p>
                  </a:txBody>
                  <a:tcPr anchor="ctr"/>
                </a:tc>
                <a:tc>
                  <a:txBody>
                    <a:bodyPr/>
                    <a:lstStyle/>
                    <a:p>
                      <a:r>
                        <a:rPr lang="en-GB" sz="1800"/>
                        <a:t>25</a:t>
                      </a:r>
                    </a:p>
                  </a:txBody>
                  <a:tcPr anchor="ctr"/>
                </a:tc>
                <a:tc>
                  <a:txBody>
                    <a:bodyPr/>
                    <a:lstStyle/>
                    <a:p>
                      <a:r>
                        <a:rPr lang="en-GB" sz="1800" dirty="0"/>
                        <a:t>0</a:t>
                      </a:r>
                    </a:p>
                  </a:txBody>
                  <a:tcPr anchor="ctr"/>
                </a:tc>
                <a:extLst>
                  <a:ext uri="{0D108BD9-81ED-4DB2-BD59-A6C34878D82A}">
                    <a16:rowId xmlns:a16="http://schemas.microsoft.com/office/drawing/2014/main" val="199871621"/>
                  </a:ext>
                </a:extLst>
              </a:tr>
              <a:tr h="365760">
                <a:tc>
                  <a:txBody>
                    <a:bodyPr/>
                    <a:lstStyle/>
                    <a:p>
                      <a:r>
                        <a:rPr lang="en-GB" sz="1800"/>
                        <a:t>B</a:t>
                      </a:r>
                    </a:p>
                  </a:txBody>
                  <a:tcPr anchor="ctr"/>
                </a:tc>
                <a:tc>
                  <a:txBody>
                    <a:bodyPr/>
                    <a:lstStyle/>
                    <a:p>
                      <a:r>
                        <a:rPr lang="en-GB" sz="1800"/>
                        <a:t>30</a:t>
                      </a:r>
                    </a:p>
                  </a:txBody>
                  <a:tcPr anchor="ctr"/>
                </a:tc>
                <a:tc>
                  <a:txBody>
                    <a:bodyPr/>
                    <a:lstStyle/>
                    <a:p>
                      <a:r>
                        <a:rPr lang="en-GB" sz="1800" dirty="0"/>
                        <a:t>0.167</a:t>
                      </a:r>
                    </a:p>
                  </a:txBody>
                  <a:tcPr anchor="ctr"/>
                </a:tc>
                <a:extLst>
                  <a:ext uri="{0D108BD9-81ED-4DB2-BD59-A6C34878D82A}">
                    <a16:rowId xmlns:a16="http://schemas.microsoft.com/office/drawing/2014/main" val="1508877453"/>
                  </a:ext>
                </a:extLst>
              </a:tr>
              <a:tr h="365760">
                <a:tc>
                  <a:txBody>
                    <a:bodyPr/>
                    <a:lstStyle/>
                    <a:p>
                      <a:r>
                        <a:rPr lang="en-GB" sz="1800"/>
                        <a:t>C</a:t>
                      </a:r>
                    </a:p>
                  </a:txBody>
                  <a:tcPr anchor="ctr"/>
                </a:tc>
                <a:tc>
                  <a:txBody>
                    <a:bodyPr/>
                    <a:lstStyle/>
                    <a:p>
                      <a:r>
                        <a:rPr lang="en-GB" sz="1800"/>
                        <a:t>45</a:t>
                      </a:r>
                    </a:p>
                  </a:txBody>
                  <a:tcPr anchor="ctr"/>
                </a:tc>
                <a:tc>
                  <a:txBody>
                    <a:bodyPr/>
                    <a:lstStyle/>
                    <a:p>
                      <a:r>
                        <a:rPr lang="en-GB" sz="1800" dirty="0"/>
                        <a:t>0.778</a:t>
                      </a:r>
                    </a:p>
                  </a:txBody>
                  <a:tcPr anchor="ctr"/>
                </a:tc>
                <a:extLst>
                  <a:ext uri="{0D108BD9-81ED-4DB2-BD59-A6C34878D82A}">
                    <a16:rowId xmlns:a16="http://schemas.microsoft.com/office/drawing/2014/main" val="1019662002"/>
                  </a:ext>
                </a:extLst>
              </a:tr>
              <a:tr h="365760">
                <a:tc>
                  <a:txBody>
                    <a:bodyPr/>
                    <a:lstStyle/>
                    <a:p>
                      <a:r>
                        <a:rPr lang="en-GB" sz="1800"/>
                        <a:t>D</a:t>
                      </a:r>
                    </a:p>
                  </a:txBody>
                  <a:tcPr anchor="ctr"/>
                </a:tc>
                <a:tc>
                  <a:txBody>
                    <a:bodyPr/>
                    <a:lstStyle/>
                    <a:p>
                      <a:r>
                        <a:rPr lang="en-GB" sz="1800"/>
                        <a:t>50</a:t>
                      </a:r>
                    </a:p>
                  </a:txBody>
                  <a:tcPr anchor="ctr"/>
                </a:tc>
                <a:tc>
                  <a:txBody>
                    <a:bodyPr/>
                    <a:lstStyle/>
                    <a:p>
                      <a:r>
                        <a:rPr lang="en-GB" sz="1800" dirty="0"/>
                        <a:t>1.0</a:t>
                      </a:r>
                    </a:p>
                  </a:txBody>
                  <a:tcPr anchor="ctr"/>
                </a:tc>
                <a:extLst>
                  <a:ext uri="{0D108BD9-81ED-4DB2-BD59-A6C34878D82A}">
                    <a16:rowId xmlns:a16="http://schemas.microsoft.com/office/drawing/2014/main" val="788455087"/>
                  </a:ext>
                </a:extLst>
              </a:tr>
              <a:tr h="365760">
                <a:tc>
                  <a:txBody>
                    <a:bodyPr/>
                    <a:lstStyle/>
                    <a:p>
                      <a:r>
                        <a:rPr lang="en-GB" sz="1800"/>
                        <a:t>E</a:t>
                      </a:r>
                    </a:p>
                  </a:txBody>
                  <a:tcPr anchor="ctr"/>
                </a:tc>
                <a:tc>
                  <a:txBody>
                    <a:bodyPr/>
                    <a:lstStyle/>
                    <a:p>
                      <a:r>
                        <a:rPr lang="en-GB" sz="1800"/>
                        <a:t>35</a:t>
                      </a:r>
                    </a:p>
                  </a:txBody>
                  <a:tcPr anchor="ctr"/>
                </a:tc>
                <a:tc>
                  <a:txBody>
                    <a:bodyPr/>
                    <a:lstStyle/>
                    <a:p>
                      <a:r>
                        <a:rPr lang="en-GB" sz="1800" dirty="0"/>
                        <a:t>0.5</a:t>
                      </a:r>
                    </a:p>
                  </a:txBody>
                  <a:tcPr anchor="ctr"/>
                </a:tc>
                <a:extLst>
                  <a:ext uri="{0D108BD9-81ED-4DB2-BD59-A6C34878D82A}">
                    <a16:rowId xmlns:a16="http://schemas.microsoft.com/office/drawing/2014/main" val="2402179188"/>
                  </a:ext>
                </a:extLst>
              </a:tr>
            </a:tbl>
          </a:graphicData>
        </a:graphic>
      </p:graphicFrame>
      <p:sp>
        <p:nvSpPr>
          <p:cNvPr id="7" name="Arrow: Down 6">
            <a:extLst>
              <a:ext uri="{FF2B5EF4-FFF2-40B4-BE49-F238E27FC236}">
                <a16:creationId xmlns:a16="http://schemas.microsoft.com/office/drawing/2014/main" id="{F74C5940-D0BD-8C11-B7C6-D1555797DAC1}"/>
              </a:ext>
            </a:extLst>
          </p:cNvPr>
          <p:cNvSpPr/>
          <p:nvPr/>
        </p:nvSpPr>
        <p:spPr>
          <a:xfrm>
            <a:off x="9936480" y="3429000"/>
            <a:ext cx="335280" cy="60102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505620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3EEE7-3D8D-1849-E6C8-E073577DED2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5A50982-8F73-5EC1-36DD-F7C85F720F01}"/>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5123" name="Content Placeholder 2">
                <a:extLst>
                  <a:ext uri="{FF2B5EF4-FFF2-40B4-BE49-F238E27FC236}">
                    <a16:creationId xmlns:a16="http://schemas.microsoft.com/office/drawing/2014/main" id="{A06CAC45-ECC6-9E20-8576-FA0A205B3315}"/>
                  </a:ext>
                </a:extLst>
              </p:cNvPr>
              <p:cNvSpPr>
                <a:spLocks noGrp="1"/>
              </p:cNvSpPr>
              <p:nvPr>
                <p:ph idx="1"/>
              </p:nvPr>
            </p:nvSpPr>
            <p:spPr>
              <a:xfrm>
                <a:off x="1143000" y="1655763"/>
                <a:ext cx="7533640" cy="284511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Standardization (Z-Score Scaling)</a:t>
                </a:r>
              </a:p>
              <a:p>
                <a:pPr marL="80963" lvl="1" indent="0" algn="just" eaLnBrk="1" hangingPunct="1">
                  <a:buClr>
                    <a:srgbClr val="0B5395"/>
                  </a:buClr>
                  <a:buNone/>
                </a:pPr>
                <a:r>
                  <a:rPr lang="en-US" altLang="en-US" sz="2400" b="1" dirty="0">
                    <a:latin typeface="Times New Roman" pitchFamily="18" charset="0"/>
                    <a:cs typeface="Times New Roman" pitchFamily="18" charset="0"/>
                  </a:rPr>
                  <a:t>Goal: </a:t>
                </a:r>
                <a:r>
                  <a:rPr lang="en-US" altLang="en-US" sz="2400" dirty="0">
                    <a:latin typeface="Times New Roman" pitchFamily="18" charset="0"/>
                    <a:cs typeface="Times New Roman" pitchFamily="18" charset="0"/>
                  </a:rPr>
                  <a:t>To rescale data so it has a mean (μ) of 0 and a standard deviation (σ) of 1. This is useful for algorithms that assume your data follows a </a:t>
                </a:r>
                <a:r>
                  <a:rPr lang="en-US" altLang="en-US" sz="2400" dirty="0">
                    <a:solidFill>
                      <a:srgbClr val="FF0000"/>
                    </a:solidFill>
                    <a:latin typeface="Times New Roman" pitchFamily="18" charset="0"/>
                    <a:cs typeface="Times New Roman" pitchFamily="18" charset="0"/>
                  </a:rPr>
                  <a:t>Gaussian (normal) distribution </a:t>
                </a:r>
                <a:r>
                  <a:rPr lang="en-US" altLang="en-US" sz="2400" dirty="0">
                    <a:latin typeface="Times New Roman" pitchFamily="18" charset="0"/>
                    <a:cs typeface="Times New Roman" pitchFamily="18" charset="0"/>
                  </a:rPr>
                  <a:t>(e.g., Linear Regression, Logistic Regression).</a:t>
                </a:r>
              </a:p>
              <a:p>
                <a:pPr marL="80963" lvl="1" indent="0" algn="just" eaLnBrk="1" hangingPunct="1">
                  <a:buClr>
                    <a:srgbClr val="0B5395"/>
                  </a:buClr>
                  <a:buNone/>
                </a:pPr>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dirty="0">
                    <a:latin typeface="Times New Roman" pitchFamily="18" charset="0"/>
                    <a:cs typeface="Times New Roman" pitchFamily="18" charset="0"/>
                  </a:rPr>
                  <a:t>Formula: </a:t>
                </a:r>
                <a14:m>
                  <m:oMath xmlns:m="http://schemas.openxmlformats.org/officeDocument/2006/math">
                    <m:sSub>
                      <m:sSubPr>
                        <m:ctrlPr>
                          <a:rPr lang="en-US" altLang="en-US" sz="2400" b="1" i="1">
                            <a:latin typeface="Cambria Math" panose="02040503050406030204" pitchFamily="18" charset="0"/>
                            <a:cs typeface="Times New Roman" pitchFamily="18" charset="0"/>
                          </a:rPr>
                        </m:ctrlPr>
                      </m:sSubPr>
                      <m:e>
                        <m:r>
                          <a:rPr lang="en-US" altLang="en-US" sz="2400" b="1" i="1">
                            <a:latin typeface="Cambria Math" panose="02040503050406030204" pitchFamily="18" charset="0"/>
                            <a:cs typeface="Times New Roman" pitchFamily="18" charset="0"/>
                          </a:rPr>
                          <m:t>𝑿</m:t>
                        </m:r>
                      </m:e>
                      <m:sub>
                        <m:r>
                          <a:rPr lang="en-US" altLang="en-US" sz="2400" b="1" i="1" smtClean="0">
                            <a:latin typeface="Cambria Math" panose="02040503050406030204" pitchFamily="18" charset="0"/>
                            <a:cs typeface="Times New Roman" pitchFamily="18" charset="0"/>
                          </a:rPr>
                          <m:t>𝒔𝒕𝒅</m:t>
                        </m:r>
                      </m:sub>
                    </m:sSub>
                    <m:r>
                      <a:rPr lang="en-US" altLang="en-US" sz="2400" b="1" i="1">
                        <a:latin typeface="Cambria Math" panose="02040503050406030204" pitchFamily="18" charset="0"/>
                        <a:cs typeface="Times New Roman" pitchFamily="18" charset="0"/>
                      </a:rPr>
                      <m:t>=</m:t>
                    </m:r>
                    <m:f>
                      <m:fPr>
                        <m:ctrlPr>
                          <a:rPr lang="en-US" altLang="en-US" sz="2400" b="1" i="1">
                            <a:latin typeface="Cambria Math" panose="02040503050406030204" pitchFamily="18" charset="0"/>
                            <a:cs typeface="Times New Roman" pitchFamily="18" charset="0"/>
                          </a:rPr>
                        </m:ctrlPr>
                      </m:fPr>
                      <m:num>
                        <m:r>
                          <a:rPr lang="en-US" altLang="en-US" sz="2400" b="1" i="1">
                            <a:latin typeface="Cambria Math" panose="02040503050406030204" pitchFamily="18" charset="0"/>
                            <a:cs typeface="Times New Roman" pitchFamily="18" charset="0"/>
                          </a:rPr>
                          <m:t>𝑿</m:t>
                        </m:r>
                        <m:r>
                          <a:rPr lang="en-US" altLang="en-US" sz="2400" b="1" i="1">
                            <a:latin typeface="Cambria Math" panose="02040503050406030204" pitchFamily="18" charset="0"/>
                            <a:cs typeface="Times New Roman" pitchFamily="18" charset="0"/>
                          </a:rPr>
                          <m:t>−</m:t>
                        </m:r>
                        <m:r>
                          <a:rPr lang="el-GR" altLang="en-US" sz="2400" b="1" i="1">
                            <a:latin typeface="Cambria Math" panose="02040503050406030204" pitchFamily="18" charset="0"/>
                            <a:cs typeface="Times New Roman" pitchFamily="18" charset="0"/>
                          </a:rPr>
                          <m:t>𝝁</m:t>
                        </m:r>
                      </m:num>
                      <m:den>
                        <m:r>
                          <a:rPr lang="el-GR" altLang="en-US" sz="2400" b="1" i="1">
                            <a:latin typeface="Cambria Math" panose="02040503050406030204" pitchFamily="18" charset="0"/>
                            <a:cs typeface="Times New Roman" pitchFamily="18" charset="0"/>
                          </a:rPr>
                          <m:t>𝝈</m:t>
                        </m:r>
                      </m:den>
                    </m:f>
                  </m:oMath>
                </a14:m>
                <a:endParaRPr lang="en-US" altLang="en-US" sz="2400" b="1" dirty="0">
                  <a:latin typeface="Times New Roman" pitchFamily="18" charset="0"/>
                  <a:cs typeface="Times New Roman" pitchFamily="18" charset="0"/>
                </a:endParaRPr>
              </a:p>
              <a:p>
                <a:pPr marL="80963" lvl="1" indent="0" algn="just" eaLnBrk="1" hangingPunct="1">
                  <a:buClr>
                    <a:srgbClr val="0B5395"/>
                  </a:buClr>
                  <a:buNone/>
                </a:pPr>
                <a:endParaRPr lang="en-US" altLang="en-US" sz="2400" dirty="0">
                  <a:latin typeface="Times New Roman" pitchFamily="18" charset="0"/>
                  <a:cs typeface="Times New Roman" pitchFamily="18" charset="0"/>
                </a:endParaRPr>
              </a:p>
            </p:txBody>
          </p:sp>
        </mc:Choice>
        <mc:Fallback xmlns="">
          <p:sp>
            <p:nvSpPr>
              <p:cNvPr id="5123" name="Content Placeholder 2">
                <a:extLst>
                  <a:ext uri="{FF2B5EF4-FFF2-40B4-BE49-F238E27FC236}">
                    <a16:creationId xmlns:a16="http://schemas.microsoft.com/office/drawing/2014/main" id="{A06CAC45-ECC6-9E20-8576-FA0A205B3315}"/>
                  </a:ext>
                </a:extLst>
              </p:cNvPr>
              <p:cNvSpPr>
                <a:spLocks noGrp="1" noRot="1" noChangeAspect="1" noMove="1" noResize="1" noEditPoints="1" noAdjustHandles="1" noChangeArrowheads="1" noChangeShapeType="1" noTextEdit="1"/>
              </p:cNvSpPr>
              <p:nvPr>
                <p:ph idx="1"/>
              </p:nvPr>
            </p:nvSpPr>
            <p:spPr>
              <a:xfrm>
                <a:off x="1143000" y="1655763"/>
                <a:ext cx="7533640" cy="2845117"/>
              </a:xfrm>
              <a:blipFill>
                <a:blip r:embed="rId2"/>
                <a:stretch>
                  <a:fillRect l="-243" t="-3004" r="-1296"/>
                </a:stretch>
              </a:blipFill>
            </p:spPr>
            <p:txBody>
              <a:bodyPr/>
              <a:lstStyle/>
              <a:p>
                <a:r>
                  <a:rPr lang="en-GB">
                    <a:noFill/>
                  </a:rPr>
                  <a:t> </a:t>
                </a:r>
              </a:p>
            </p:txBody>
          </p:sp>
        </mc:Fallback>
      </mc:AlternateContent>
      <p:sp>
        <p:nvSpPr>
          <p:cNvPr id="5124" name="Slide Number Placeholder 1">
            <a:extLst>
              <a:ext uri="{FF2B5EF4-FFF2-40B4-BE49-F238E27FC236}">
                <a16:creationId xmlns:a16="http://schemas.microsoft.com/office/drawing/2014/main" id="{2DA83E6A-0143-69C7-7F1C-EFE111E2E9B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37</a:t>
            </a:fld>
            <a:endParaRPr lang="en-US" altLang="en-US"/>
          </a:p>
        </p:txBody>
      </p:sp>
      <p:pic>
        <p:nvPicPr>
          <p:cNvPr id="2" name="Picture 1">
            <a:extLst>
              <a:ext uri="{FF2B5EF4-FFF2-40B4-BE49-F238E27FC236}">
                <a16:creationId xmlns:a16="http://schemas.microsoft.com/office/drawing/2014/main" id="{1B594EF5-E61F-37EE-D628-2276360E6767}"/>
              </a:ext>
            </a:extLst>
          </p:cNvPr>
          <p:cNvPicPr>
            <a:picLocks noChangeAspect="1"/>
          </p:cNvPicPr>
          <p:nvPr/>
        </p:nvPicPr>
        <p:blipFill>
          <a:blip r:embed="rId3"/>
          <a:stretch>
            <a:fillRect/>
          </a:stretch>
        </p:blipFill>
        <p:spPr>
          <a:xfrm>
            <a:off x="8769315" y="1489000"/>
            <a:ext cx="2968557" cy="194000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31BF36-EFCF-08EC-C659-DD40DDEC81A8}"/>
                  </a:ext>
                </a:extLst>
              </p:cNvPr>
              <p:cNvSpPr txBox="1"/>
              <p:nvPr/>
            </p:nvSpPr>
            <p:spPr>
              <a:xfrm>
                <a:off x="1143000" y="4508639"/>
                <a:ext cx="10398760" cy="1923668"/>
              </a:xfrm>
              <a:prstGeom prst="rect">
                <a:avLst/>
              </a:prstGeom>
              <a:noFill/>
            </p:spPr>
            <p:txBody>
              <a:bodyPr wrap="square">
                <a:spAutoFit/>
              </a:bodyPr>
              <a:lstStyle/>
              <a:p>
                <a:r>
                  <a:rPr lang="en-US" sz="2400" dirty="0">
                    <a:latin typeface="Times New Roman" pitchFamily="18" charset="0"/>
                    <a:cs typeface="Times New Roman" pitchFamily="18" charset="0"/>
                  </a:rPr>
                  <a:t>Example Calculation for 'Income</a:t>
                </a:r>
              </a:p>
              <a:p>
                <a:r>
                  <a:rPr lang="en-US" sz="2400" b="1" dirty="0">
                    <a:latin typeface="Times New Roman" pitchFamily="18" charset="0"/>
                    <a:cs typeface="Times New Roman" pitchFamily="18" charset="0"/>
                  </a:rPr>
                  <a:t>'Step 1: </a:t>
                </a:r>
                <a:r>
                  <a:rPr lang="en-US" sz="2400" dirty="0">
                    <a:latin typeface="Times New Roman" pitchFamily="18" charset="0"/>
                    <a:cs typeface="Times New Roman" pitchFamily="18" charset="0"/>
                  </a:rPr>
                  <a:t>Calculate the mean (μ) and standard deviation (σ) for 'Income’.</a:t>
                </a:r>
              </a:p>
              <a:p>
                <a:pPr marL="342900" indent="-342900">
                  <a:buFont typeface="Arial" panose="020B0604020202020204" pitchFamily="34" charset="0"/>
                  <a:buChar char="•"/>
                </a:pPr>
                <a:r>
                  <a:rPr lang="en-US" sz="2400" dirty="0">
                    <a:latin typeface="Times New Roman" pitchFamily="18" charset="0"/>
                    <a:cs typeface="Times New Roman" pitchFamily="18" charset="0"/>
                  </a:rPr>
                  <a:t>Mean (μ):</a:t>
                </a:r>
              </a:p>
              <a:p>
                <a:pPr/>
                <a14:m>
                  <m:oMathPara xmlns:m="http://schemas.openxmlformats.org/officeDocument/2006/math">
                    <m:oMathParaPr>
                      <m:jc m:val="centerGroup"/>
                    </m:oMathParaPr>
                    <m:oMath xmlns:m="http://schemas.openxmlformats.org/officeDocument/2006/math">
                      <m:f>
                        <m:fPr>
                          <m:ctrlPr>
                            <a:rPr lang="en-GB" sz="2400" i="1" smtClean="0">
                              <a:latin typeface="Cambria Math" panose="02040503050406030204" pitchFamily="18" charset="0"/>
                              <a:cs typeface="Times New Roman" pitchFamily="18" charset="0"/>
                            </a:rPr>
                          </m:ctrlPr>
                        </m:fPr>
                        <m:num>
                          <m:r>
                            <a:rPr lang="en-GB" sz="2400" i="1">
                              <a:latin typeface="Cambria Math" panose="02040503050406030204" pitchFamily="18" charset="0"/>
                              <a:cs typeface="Times New Roman" pitchFamily="18" charset="0"/>
                            </a:rPr>
                            <m:t>50000+65000+120000+140000+95000​</m:t>
                          </m:r>
                        </m:num>
                        <m:den>
                          <m:r>
                            <a:rPr lang="en-US" sz="2400" b="0" i="1" smtClean="0">
                              <a:latin typeface="Cambria Math" panose="02040503050406030204" pitchFamily="18" charset="0"/>
                              <a:cs typeface="Times New Roman" pitchFamily="18" charset="0"/>
                            </a:rPr>
                            <m:t>5</m:t>
                          </m:r>
                        </m:den>
                      </m:f>
                      <m:r>
                        <a:rPr lang="en-US" sz="2400" b="0" i="1" smtClean="0">
                          <a:latin typeface="Cambria Math" panose="02040503050406030204" pitchFamily="18" charset="0"/>
                          <a:cs typeface="Times New Roman" pitchFamily="18" charset="0"/>
                        </a:rPr>
                        <m:t>=94,000</m:t>
                      </m:r>
                    </m:oMath>
                  </m:oMathPara>
                </a14:m>
                <a:endParaRPr lang="en-GB" sz="2400" dirty="0">
                  <a:latin typeface="Times New Roman" pitchFamily="18" charset="0"/>
                  <a:cs typeface="Times New Roman" pitchFamily="18" charset="0"/>
                </a:endParaRPr>
              </a:p>
            </p:txBody>
          </p:sp>
        </mc:Choice>
        <mc:Fallback xmlns="">
          <p:sp>
            <p:nvSpPr>
              <p:cNvPr id="8" name="TextBox 7">
                <a:extLst>
                  <a:ext uri="{FF2B5EF4-FFF2-40B4-BE49-F238E27FC236}">
                    <a16:creationId xmlns:a16="http://schemas.microsoft.com/office/drawing/2014/main" id="{4E31BF36-EFCF-08EC-C659-DD40DDEC81A8}"/>
                  </a:ext>
                </a:extLst>
              </p:cNvPr>
              <p:cNvSpPr txBox="1">
                <a:spLocks noRot="1" noChangeAspect="1" noMove="1" noResize="1" noEditPoints="1" noAdjustHandles="1" noChangeArrowheads="1" noChangeShapeType="1" noTextEdit="1"/>
              </p:cNvSpPr>
              <p:nvPr/>
            </p:nvSpPr>
            <p:spPr>
              <a:xfrm>
                <a:off x="1143000" y="4508639"/>
                <a:ext cx="10398760" cy="1923668"/>
              </a:xfrm>
              <a:prstGeom prst="rect">
                <a:avLst/>
              </a:prstGeom>
              <a:blipFill>
                <a:blip r:embed="rId4"/>
                <a:stretch>
                  <a:fillRect l="-938" t="-2540"/>
                </a:stretch>
              </a:blipFill>
            </p:spPr>
            <p:txBody>
              <a:bodyPr/>
              <a:lstStyle/>
              <a:p>
                <a:r>
                  <a:rPr lang="en-GB">
                    <a:noFill/>
                  </a:rPr>
                  <a:t> </a:t>
                </a:r>
              </a:p>
            </p:txBody>
          </p:sp>
        </mc:Fallback>
      </mc:AlternateContent>
    </p:spTree>
    <p:extLst>
      <p:ext uri="{BB962C8B-B14F-4D97-AF65-F5344CB8AC3E}">
        <p14:creationId xmlns:p14="http://schemas.microsoft.com/office/powerpoint/2010/main" val="27033260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AC682-7113-A11D-C446-9D77AF6FAAF6}"/>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4A67565-77E9-A555-0974-FAEDFE1AF1E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5123" name="Content Placeholder 2">
                <a:extLst>
                  <a:ext uri="{FF2B5EF4-FFF2-40B4-BE49-F238E27FC236}">
                    <a16:creationId xmlns:a16="http://schemas.microsoft.com/office/drawing/2014/main" id="{AF51ACD3-ED63-7982-F433-74CA62CD60CB}"/>
                  </a:ext>
                </a:extLst>
              </p:cNvPr>
              <p:cNvSpPr>
                <a:spLocks noGrp="1"/>
              </p:cNvSpPr>
              <p:nvPr>
                <p:ph idx="1"/>
              </p:nvPr>
            </p:nvSpPr>
            <p:spPr>
              <a:xfrm>
                <a:off x="1143000" y="1655763"/>
                <a:ext cx="6416040" cy="4568825"/>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Standardization (Z-Score Scaling)</a:t>
                </a:r>
              </a:p>
              <a:p>
                <a:pPr marL="423863" lvl="1" indent="-342900" algn="just" eaLnBrk="1" hangingPunct="1">
                  <a:buClr>
                    <a:srgbClr val="0B5395"/>
                  </a:buClr>
                </a:pPr>
                <a:r>
                  <a:rPr lang="en-US" altLang="en-US" sz="2400" dirty="0">
                    <a:latin typeface="Times New Roman" pitchFamily="18" charset="0"/>
                    <a:cs typeface="Times New Roman" pitchFamily="18" charset="0"/>
                  </a:rPr>
                  <a:t>Standard Deviation (σ): After calculation, the standard deviation is approximately 34,409.3.</a:t>
                </a:r>
              </a:p>
              <a:p>
                <a:pPr marL="80963" lvl="1" indent="0" algn="just" eaLnBrk="1" hangingPunct="1">
                  <a:buClr>
                    <a:srgbClr val="0B5395"/>
                  </a:buClr>
                  <a:buNone/>
                </a:pPr>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b="1" dirty="0">
                    <a:latin typeface="Times New Roman" pitchFamily="18" charset="0"/>
                    <a:cs typeface="Times New Roman" pitchFamily="18" charset="0"/>
                  </a:rPr>
                  <a:t>Step 2: </a:t>
                </a:r>
                <a:r>
                  <a:rPr lang="en-US" altLang="en-US" sz="2400" dirty="0">
                    <a:latin typeface="Times New Roman" pitchFamily="18" charset="0"/>
                    <a:cs typeface="Times New Roman" pitchFamily="18" charset="0"/>
                  </a:rPr>
                  <a:t>Apply the formula to each 'Income' value.</a:t>
                </a:r>
              </a:p>
              <a:p>
                <a:pPr marL="423863" lvl="1" indent="-342900" algn="just" eaLnBrk="1" hangingPunct="1">
                  <a:buClr>
                    <a:srgbClr val="0B5395"/>
                  </a:buClr>
                </a:pPr>
                <a:r>
                  <a:rPr lang="en-US" altLang="en-US" sz="2400" dirty="0">
                    <a:latin typeface="Times New Roman" pitchFamily="18" charset="0"/>
                    <a:cs typeface="Times New Roman" pitchFamily="18" charset="0"/>
                  </a:rPr>
                  <a:t>Person A (50,000):</a:t>
                </a:r>
              </a:p>
              <a:p>
                <a:pPr marL="80963" lvl="1" indent="0" algn="just" eaLnBrk="1" hangingPunct="1">
                  <a:buClr>
                    <a:srgbClr val="0B5395"/>
                  </a:buClr>
                  <a:buNone/>
                </a:pPr>
                <a14:m>
                  <m:oMathPara xmlns:m="http://schemas.openxmlformats.org/officeDocument/2006/math">
                    <m:oMathParaPr>
                      <m:jc m:val="centerGroup"/>
                    </m:oMathParaPr>
                    <m:oMath xmlns:m="http://schemas.openxmlformats.org/officeDocument/2006/math">
                      <m:f>
                        <m:fPr>
                          <m:ctrlPr>
                            <a:rPr lang="en-US" altLang="en-US" sz="2400" i="1" smtClean="0">
                              <a:latin typeface="Cambria Math" panose="02040503050406030204" pitchFamily="18" charset="0"/>
                              <a:cs typeface="Times New Roman" pitchFamily="18" charset="0"/>
                            </a:rPr>
                          </m:ctrlPr>
                        </m:fPr>
                        <m:num>
                          <m:r>
                            <a:rPr lang="en-US" altLang="en-US" sz="2400" i="1">
                              <a:latin typeface="Cambria Math" panose="02040503050406030204" pitchFamily="18" charset="0"/>
                              <a:cs typeface="Times New Roman" pitchFamily="18" charset="0"/>
                            </a:rPr>
                            <m:t>50,000−94,000</m:t>
                          </m:r>
                        </m:num>
                        <m:den>
                          <m:r>
                            <a:rPr lang="en-US" altLang="en-US" sz="2400" i="1">
                              <a:latin typeface="Cambria Math" panose="02040503050406030204" pitchFamily="18" charset="0"/>
                              <a:cs typeface="Times New Roman" pitchFamily="18" charset="0"/>
                            </a:rPr>
                            <m:t>34,409.3</m:t>
                          </m:r>
                        </m:den>
                      </m:f>
                      <m:r>
                        <a:rPr lang="en-US" altLang="en-US" sz="2400" i="1">
                          <a:latin typeface="Cambria Math" panose="02040503050406030204" pitchFamily="18" charset="0"/>
                          <a:cs typeface="Times New Roman" pitchFamily="18" charset="0"/>
                        </a:rPr>
                        <m:t>≈−1.279</m:t>
                      </m:r>
                    </m:oMath>
                  </m:oMathPara>
                </a14:m>
                <a:endParaRPr lang="en-US" altLang="en-US" sz="2400" dirty="0">
                  <a:latin typeface="Times New Roman" pitchFamily="18" charset="0"/>
                  <a:cs typeface="Times New Roman" pitchFamily="18" charset="0"/>
                </a:endParaRPr>
              </a:p>
              <a:p>
                <a:pPr marL="80963" lvl="1" indent="0" algn="just" eaLnBrk="1" hangingPunct="1">
                  <a:buClr>
                    <a:srgbClr val="0B5395"/>
                  </a:buClr>
                  <a:buNone/>
                </a:pPr>
                <a:r>
                  <a:rPr lang="en-US" altLang="en-US" sz="2400" dirty="0">
                    <a:latin typeface="Times New Roman" pitchFamily="18" charset="0"/>
                    <a:cs typeface="Times New Roman" pitchFamily="18" charset="0"/>
                  </a:rPr>
                  <a:t>Similarly, Person B (65,000): −0.843</a:t>
                </a:r>
              </a:p>
              <a:p>
                <a:pPr marL="80963" lvl="1" indent="0" algn="just" eaLnBrk="1" hangingPunct="1">
                  <a:buClr>
                    <a:srgbClr val="0B5395"/>
                  </a:buClr>
                  <a:buNone/>
                </a:pPr>
                <a:r>
                  <a:rPr lang="en-US" altLang="en-US" sz="2400" dirty="0">
                    <a:latin typeface="Times New Roman" pitchFamily="18" charset="0"/>
                    <a:cs typeface="Times New Roman" pitchFamily="18" charset="0"/>
                  </a:rPr>
                  <a:t>Person C (120,000): 0.756</a:t>
                </a:r>
              </a:p>
              <a:p>
                <a:pPr marL="80963" lvl="1" indent="0" algn="just" eaLnBrk="1" hangingPunct="1">
                  <a:buClr>
                    <a:srgbClr val="0B5395"/>
                  </a:buClr>
                  <a:buNone/>
                </a:pPr>
                <a:r>
                  <a:rPr lang="en-US" altLang="en-US" sz="2400" dirty="0">
                    <a:latin typeface="Times New Roman" pitchFamily="18" charset="0"/>
                    <a:cs typeface="Times New Roman" pitchFamily="18" charset="0"/>
                  </a:rPr>
                  <a:t>Person D (140,000): 1.337</a:t>
                </a:r>
              </a:p>
              <a:p>
                <a:pPr marL="80963" lvl="1" indent="0" algn="just" eaLnBrk="1" hangingPunct="1">
                  <a:buClr>
                    <a:srgbClr val="0B5395"/>
                  </a:buClr>
                  <a:buNone/>
                </a:pPr>
                <a:r>
                  <a:rPr lang="en-US" altLang="en-US" sz="2400" dirty="0">
                    <a:latin typeface="Times New Roman" pitchFamily="18" charset="0"/>
                    <a:cs typeface="Times New Roman" pitchFamily="18" charset="0"/>
                  </a:rPr>
                  <a:t>Person E (95,000): 0.029</a:t>
                </a:r>
              </a:p>
            </p:txBody>
          </p:sp>
        </mc:Choice>
        <mc:Fallback xmlns="">
          <p:sp>
            <p:nvSpPr>
              <p:cNvPr id="5123" name="Content Placeholder 2">
                <a:extLst>
                  <a:ext uri="{FF2B5EF4-FFF2-40B4-BE49-F238E27FC236}">
                    <a16:creationId xmlns:a16="http://schemas.microsoft.com/office/drawing/2014/main" id="{AF51ACD3-ED63-7982-F433-74CA62CD60CB}"/>
                  </a:ext>
                </a:extLst>
              </p:cNvPr>
              <p:cNvSpPr>
                <a:spLocks noGrp="1" noRot="1" noChangeAspect="1" noMove="1" noResize="1" noEditPoints="1" noAdjustHandles="1" noChangeArrowheads="1" noChangeShapeType="1" noTextEdit="1"/>
              </p:cNvSpPr>
              <p:nvPr>
                <p:ph idx="1"/>
              </p:nvPr>
            </p:nvSpPr>
            <p:spPr>
              <a:xfrm>
                <a:off x="1143000" y="1655763"/>
                <a:ext cx="6416040" cy="4568825"/>
              </a:xfrm>
              <a:blipFill>
                <a:blip r:embed="rId2"/>
                <a:stretch>
                  <a:fillRect l="-285" t="-1869" r="-1426" b="-6142"/>
                </a:stretch>
              </a:blipFill>
            </p:spPr>
            <p:txBody>
              <a:bodyPr/>
              <a:lstStyle/>
              <a:p>
                <a:r>
                  <a:rPr lang="en-GB">
                    <a:noFill/>
                  </a:rPr>
                  <a:t> </a:t>
                </a:r>
              </a:p>
            </p:txBody>
          </p:sp>
        </mc:Fallback>
      </mc:AlternateContent>
      <p:sp>
        <p:nvSpPr>
          <p:cNvPr id="5124" name="Slide Number Placeholder 1">
            <a:extLst>
              <a:ext uri="{FF2B5EF4-FFF2-40B4-BE49-F238E27FC236}">
                <a16:creationId xmlns:a16="http://schemas.microsoft.com/office/drawing/2014/main" id="{9FA234A6-4474-7FA2-6A0B-2210A9929C3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38</a:t>
            </a:fld>
            <a:endParaRPr lang="en-US" altLang="en-US"/>
          </a:p>
        </p:txBody>
      </p:sp>
      <p:pic>
        <p:nvPicPr>
          <p:cNvPr id="2" name="Picture 1">
            <a:extLst>
              <a:ext uri="{FF2B5EF4-FFF2-40B4-BE49-F238E27FC236}">
                <a16:creationId xmlns:a16="http://schemas.microsoft.com/office/drawing/2014/main" id="{1C874A76-920D-996A-7BE8-219FBDE6D9E2}"/>
              </a:ext>
            </a:extLst>
          </p:cNvPr>
          <p:cNvPicPr>
            <a:picLocks noChangeAspect="1"/>
          </p:cNvPicPr>
          <p:nvPr/>
        </p:nvPicPr>
        <p:blipFill>
          <a:blip r:embed="rId3"/>
          <a:stretch>
            <a:fillRect/>
          </a:stretch>
        </p:blipFill>
        <p:spPr>
          <a:xfrm>
            <a:off x="8769315" y="1489000"/>
            <a:ext cx="2968557" cy="1940000"/>
          </a:xfrm>
          <a:prstGeom prst="rect">
            <a:avLst/>
          </a:prstGeom>
        </p:spPr>
      </p:pic>
      <p:graphicFrame>
        <p:nvGraphicFramePr>
          <p:cNvPr id="3" name="Table 2">
            <a:extLst>
              <a:ext uri="{FF2B5EF4-FFF2-40B4-BE49-F238E27FC236}">
                <a16:creationId xmlns:a16="http://schemas.microsoft.com/office/drawing/2014/main" id="{B6086893-4AA1-6E2C-0555-F748505CD5A6}"/>
              </a:ext>
            </a:extLst>
          </p:cNvPr>
          <p:cNvGraphicFramePr>
            <a:graphicFrameLocks noGrp="1"/>
          </p:cNvGraphicFramePr>
          <p:nvPr>
            <p:extLst>
              <p:ext uri="{D42A27DB-BD31-4B8C-83A1-F6EECF244321}">
                <p14:modId xmlns:p14="http://schemas.microsoft.com/office/powerpoint/2010/main" val="2209080625"/>
              </p:ext>
            </p:extLst>
          </p:nvPr>
        </p:nvGraphicFramePr>
        <p:xfrm>
          <a:off x="6207760" y="3967797"/>
          <a:ext cx="5680394" cy="2468880"/>
        </p:xfrm>
        <a:graphic>
          <a:graphicData uri="http://schemas.openxmlformats.org/drawingml/2006/table">
            <a:tbl>
              <a:tblPr>
                <a:tableStyleId>{D7AC3CCA-C797-4891-BE02-D94E43425B78}</a:tableStyleId>
              </a:tblPr>
              <a:tblGrid>
                <a:gridCol w="1012190">
                  <a:extLst>
                    <a:ext uri="{9D8B030D-6E8A-4147-A177-3AD203B41FA5}">
                      <a16:colId xmlns:a16="http://schemas.microsoft.com/office/drawing/2014/main" val="2462788074"/>
                    </a:ext>
                  </a:extLst>
                </a:gridCol>
                <a:gridCol w="1263333">
                  <a:extLst>
                    <a:ext uri="{9D8B030D-6E8A-4147-A177-3AD203B41FA5}">
                      <a16:colId xmlns:a16="http://schemas.microsoft.com/office/drawing/2014/main" val="3271989727"/>
                    </a:ext>
                  </a:extLst>
                </a:gridCol>
                <a:gridCol w="1637475">
                  <a:extLst>
                    <a:ext uri="{9D8B030D-6E8A-4147-A177-3AD203B41FA5}">
                      <a16:colId xmlns:a16="http://schemas.microsoft.com/office/drawing/2014/main" val="905552114"/>
                    </a:ext>
                  </a:extLst>
                </a:gridCol>
                <a:gridCol w="1767396">
                  <a:extLst>
                    <a:ext uri="{9D8B030D-6E8A-4147-A177-3AD203B41FA5}">
                      <a16:colId xmlns:a16="http://schemas.microsoft.com/office/drawing/2014/main" val="3757796832"/>
                    </a:ext>
                  </a:extLst>
                </a:gridCol>
              </a:tblGrid>
              <a:tr h="365760">
                <a:tc>
                  <a:txBody>
                    <a:bodyPr/>
                    <a:lstStyle/>
                    <a:p>
                      <a:r>
                        <a:rPr lang="en-GB" sz="1800" b="1"/>
                        <a:t>Person</a:t>
                      </a:r>
                    </a:p>
                  </a:txBody>
                  <a:tcPr anchor="ctr"/>
                </a:tc>
                <a:tc>
                  <a:txBody>
                    <a:bodyPr/>
                    <a:lstStyle/>
                    <a:p>
                      <a:r>
                        <a:rPr lang="en-GB" sz="1800" b="1" dirty="0"/>
                        <a:t>Original </a:t>
                      </a:r>
                    </a:p>
                    <a:p>
                      <a:r>
                        <a:rPr lang="en-GB" sz="1800" b="1" dirty="0"/>
                        <a:t>Income</a:t>
                      </a:r>
                    </a:p>
                  </a:txBody>
                  <a:tcPr anchor="ctr"/>
                </a:tc>
                <a:tc>
                  <a:txBody>
                    <a:bodyPr/>
                    <a:lstStyle/>
                    <a:p>
                      <a:r>
                        <a:rPr lang="en-GB" sz="1800" b="1" dirty="0"/>
                        <a:t>Normalized </a:t>
                      </a:r>
                    </a:p>
                    <a:p>
                      <a:r>
                        <a:rPr lang="en-GB" sz="1800" b="1" dirty="0"/>
                        <a:t>Income</a:t>
                      </a:r>
                    </a:p>
                  </a:txBody>
                  <a:tcPr anchor="ctr"/>
                </a:tc>
                <a:tc>
                  <a:txBody>
                    <a:bodyPr/>
                    <a:lstStyle/>
                    <a:p>
                      <a:r>
                        <a:rPr lang="en-GB" sz="1800" b="1" dirty="0"/>
                        <a:t>Standardized </a:t>
                      </a:r>
                    </a:p>
                    <a:p>
                      <a:r>
                        <a:rPr lang="en-GB" sz="1800" b="1" dirty="0"/>
                        <a:t>Income</a:t>
                      </a:r>
                    </a:p>
                  </a:txBody>
                  <a:tcPr anchor="ctr"/>
                </a:tc>
                <a:extLst>
                  <a:ext uri="{0D108BD9-81ED-4DB2-BD59-A6C34878D82A}">
                    <a16:rowId xmlns:a16="http://schemas.microsoft.com/office/drawing/2014/main" val="1199113423"/>
                  </a:ext>
                </a:extLst>
              </a:tr>
              <a:tr h="365760">
                <a:tc>
                  <a:txBody>
                    <a:bodyPr/>
                    <a:lstStyle/>
                    <a:p>
                      <a:r>
                        <a:rPr lang="en-GB" sz="1800"/>
                        <a:t>A</a:t>
                      </a:r>
                    </a:p>
                  </a:txBody>
                  <a:tcPr anchor="ctr"/>
                </a:tc>
                <a:tc>
                  <a:txBody>
                    <a:bodyPr/>
                    <a:lstStyle/>
                    <a:p>
                      <a:r>
                        <a:rPr lang="en-GB" sz="1800"/>
                        <a:t>50,000</a:t>
                      </a:r>
                    </a:p>
                  </a:txBody>
                  <a:tcPr anchor="ctr"/>
                </a:tc>
                <a:tc>
                  <a:txBody>
                    <a:bodyPr/>
                    <a:lstStyle/>
                    <a:p>
                      <a:r>
                        <a:rPr lang="en-GB" sz="1800"/>
                        <a:t>0.000</a:t>
                      </a:r>
                    </a:p>
                  </a:txBody>
                  <a:tcPr anchor="ctr"/>
                </a:tc>
                <a:tc>
                  <a:txBody>
                    <a:bodyPr/>
                    <a:lstStyle/>
                    <a:p>
                      <a:r>
                        <a:rPr lang="en-GB" sz="1800"/>
                        <a:t>-1.279</a:t>
                      </a:r>
                    </a:p>
                  </a:txBody>
                  <a:tcPr anchor="ctr"/>
                </a:tc>
                <a:extLst>
                  <a:ext uri="{0D108BD9-81ED-4DB2-BD59-A6C34878D82A}">
                    <a16:rowId xmlns:a16="http://schemas.microsoft.com/office/drawing/2014/main" val="3734660839"/>
                  </a:ext>
                </a:extLst>
              </a:tr>
              <a:tr h="365760">
                <a:tc>
                  <a:txBody>
                    <a:bodyPr/>
                    <a:lstStyle/>
                    <a:p>
                      <a:r>
                        <a:rPr lang="en-GB" sz="1800"/>
                        <a:t>B</a:t>
                      </a:r>
                    </a:p>
                  </a:txBody>
                  <a:tcPr anchor="ctr"/>
                </a:tc>
                <a:tc>
                  <a:txBody>
                    <a:bodyPr/>
                    <a:lstStyle/>
                    <a:p>
                      <a:r>
                        <a:rPr lang="en-GB" sz="1800"/>
                        <a:t>65,000</a:t>
                      </a:r>
                    </a:p>
                  </a:txBody>
                  <a:tcPr anchor="ctr"/>
                </a:tc>
                <a:tc>
                  <a:txBody>
                    <a:bodyPr/>
                    <a:lstStyle/>
                    <a:p>
                      <a:r>
                        <a:rPr lang="en-GB" sz="1800"/>
                        <a:t>0.167</a:t>
                      </a:r>
                    </a:p>
                  </a:txBody>
                  <a:tcPr anchor="ctr"/>
                </a:tc>
                <a:tc>
                  <a:txBody>
                    <a:bodyPr/>
                    <a:lstStyle/>
                    <a:p>
                      <a:r>
                        <a:rPr lang="en-GB" sz="1800"/>
                        <a:t>-0.843</a:t>
                      </a:r>
                    </a:p>
                  </a:txBody>
                  <a:tcPr anchor="ctr"/>
                </a:tc>
                <a:extLst>
                  <a:ext uri="{0D108BD9-81ED-4DB2-BD59-A6C34878D82A}">
                    <a16:rowId xmlns:a16="http://schemas.microsoft.com/office/drawing/2014/main" val="3248467917"/>
                  </a:ext>
                </a:extLst>
              </a:tr>
              <a:tr h="365760">
                <a:tc>
                  <a:txBody>
                    <a:bodyPr/>
                    <a:lstStyle/>
                    <a:p>
                      <a:r>
                        <a:rPr lang="en-GB" sz="1800"/>
                        <a:t>C</a:t>
                      </a:r>
                    </a:p>
                  </a:txBody>
                  <a:tcPr anchor="ctr"/>
                </a:tc>
                <a:tc>
                  <a:txBody>
                    <a:bodyPr/>
                    <a:lstStyle/>
                    <a:p>
                      <a:r>
                        <a:rPr lang="en-GB" sz="1800"/>
                        <a:t>120,000</a:t>
                      </a:r>
                    </a:p>
                  </a:txBody>
                  <a:tcPr anchor="ctr"/>
                </a:tc>
                <a:tc>
                  <a:txBody>
                    <a:bodyPr/>
                    <a:lstStyle/>
                    <a:p>
                      <a:r>
                        <a:rPr lang="en-GB" sz="1800"/>
                        <a:t>0.778</a:t>
                      </a:r>
                    </a:p>
                  </a:txBody>
                  <a:tcPr anchor="ctr"/>
                </a:tc>
                <a:tc>
                  <a:txBody>
                    <a:bodyPr/>
                    <a:lstStyle/>
                    <a:p>
                      <a:r>
                        <a:rPr lang="en-GB" sz="1800"/>
                        <a:t>0.756</a:t>
                      </a:r>
                    </a:p>
                  </a:txBody>
                  <a:tcPr anchor="ctr"/>
                </a:tc>
                <a:extLst>
                  <a:ext uri="{0D108BD9-81ED-4DB2-BD59-A6C34878D82A}">
                    <a16:rowId xmlns:a16="http://schemas.microsoft.com/office/drawing/2014/main" val="3830567262"/>
                  </a:ext>
                </a:extLst>
              </a:tr>
              <a:tr h="365760">
                <a:tc>
                  <a:txBody>
                    <a:bodyPr/>
                    <a:lstStyle/>
                    <a:p>
                      <a:r>
                        <a:rPr lang="en-GB" sz="1800"/>
                        <a:t>D</a:t>
                      </a:r>
                    </a:p>
                  </a:txBody>
                  <a:tcPr anchor="ctr"/>
                </a:tc>
                <a:tc>
                  <a:txBody>
                    <a:bodyPr/>
                    <a:lstStyle/>
                    <a:p>
                      <a:r>
                        <a:rPr lang="en-GB" sz="1800"/>
                        <a:t>140,000</a:t>
                      </a:r>
                    </a:p>
                  </a:txBody>
                  <a:tcPr anchor="ctr"/>
                </a:tc>
                <a:tc>
                  <a:txBody>
                    <a:bodyPr/>
                    <a:lstStyle/>
                    <a:p>
                      <a:r>
                        <a:rPr lang="en-GB" sz="1800"/>
                        <a:t>1.000</a:t>
                      </a:r>
                    </a:p>
                  </a:txBody>
                  <a:tcPr anchor="ctr"/>
                </a:tc>
                <a:tc>
                  <a:txBody>
                    <a:bodyPr/>
                    <a:lstStyle/>
                    <a:p>
                      <a:r>
                        <a:rPr lang="en-GB" sz="1800"/>
                        <a:t>1.337</a:t>
                      </a:r>
                    </a:p>
                  </a:txBody>
                  <a:tcPr anchor="ctr"/>
                </a:tc>
                <a:extLst>
                  <a:ext uri="{0D108BD9-81ED-4DB2-BD59-A6C34878D82A}">
                    <a16:rowId xmlns:a16="http://schemas.microsoft.com/office/drawing/2014/main" val="915651706"/>
                  </a:ext>
                </a:extLst>
              </a:tr>
              <a:tr h="365760">
                <a:tc>
                  <a:txBody>
                    <a:bodyPr/>
                    <a:lstStyle/>
                    <a:p>
                      <a:r>
                        <a:rPr lang="en-GB" sz="1800"/>
                        <a:t>E</a:t>
                      </a:r>
                    </a:p>
                  </a:txBody>
                  <a:tcPr anchor="ctr"/>
                </a:tc>
                <a:tc>
                  <a:txBody>
                    <a:bodyPr/>
                    <a:lstStyle/>
                    <a:p>
                      <a:r>
                        <a:rPr lang="en-GB" sz="1800"/>
                        <a:t>95,000</a:t>
                      </a:r>
                    </a:p>
                  </a:txBody>
                  <a:tcPr anchor="ctr"/>
                </a:tc>
                <a:tc>
                  <a:txBody>
                    <a:bodyPr/>
                    <a:lstStyle/>
                    <a:p>
                      <a:r>
                        <a:rPr lang="en-GB" sz="1800"/>
                        <a:t>0.500</a:t>
                      </a:r>
                    </a:p>
                  </a:txBody>
                  <a:tcPr anchor="ctr"/>
                </a:tc>
                <a:tc>
                  <a:txBody>
                    <a:bodyPr/>
                    <a:lstStyle/>
                    <a:p>
                      <a:r>
                        <a:rPr lang="en-GB" sz="1800" dirty="0"/>
                        <a:t>0.029</a:t>
                      </a:r>
                    </a:p>
                  </a:txBody>
                  <a:tcPr anchor="ctr"/>
                </a:tc>
                <a:extLst>
                  <a:ext uri="{0D108BD9-81ED-4DB2-BD59-A6C34878D82A}">
                    <a16:rowId xmlns:a16="http://schemas.microsoft.com/office/drawing/2014/main" val="316039027"/>
                  </a:ext>
                </a:extLst>
              </a:tr>
            </a:tbl>
          </a:graphicData>
        </a:graphic>
      </p:graphicFrame>
      <p:sp>
        <p:nvSpPr>
          <p:cNvPr id="4" name="Arrow: Down 3">
            <a:extLst>
              <a:ext uri="{FF2B5EF4-FFF2-40B4-BE49-F238E27FC236}">
                <a16:creationId xmlns:a16="http://schemas.microsoft.com/office/drawing/2014/main" id="{2D99098F-A660-A920-EE7F-E86A42D39694}"/>
              </a:ext>
            </a:extLst>
          </p:cNvPr>
          <p:cNvSpPr/>
          <p:nvPr/>
        </p:nvSpPr>
        <p:spPr>
          <a:xfrm>
            <a:off x="10713720" y="3452178"/>
            <a:ext cx="305118" cy="4133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807863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7C83-949D-C2DD-64CA-3F882FC8C5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330A5C-A074-A157-7A77-8F75277DBF1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C997BAB8-D604-C90C-0AD1-D219551380BE}"/>
              </a:ext>
            </a:extLst>
          </p:cNvPr>
          <p:cNvSpPr>
            <a:spLocks noGrp="1"/>
          </p:cNvSpPr>
          <p:nvPr>
            <p:ph idx="1"/>
          </p:nvPr>
        </p:nvSpPr>
        <p:spPr>
          <a:xfrm>
            <a:off x="481694" y="1715636"/>
            <a:ext cx="7519306"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Feature Engineering</a:t>
            </a: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The process of creating new, informative features (variables) from existing data to improve analysis and machine learning performance.</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b="1" dirty="0">
                <a:latin typeface="Times New Roman" pitchFamily="18" charset="0"/>
                <a:cs typeface="Times New Roman" pitchFamily="18" charset="0"/>
              </a:rPr>
              <a:t>Why Do We Need Feature Engineering?</a:t>
            </a:r>
          </a:p>
          <a:p>
            <a:pPr marL="80963" lvl="1" indent="0" algn="just" eaLnBrk="1" hangingPunct="1">
              <a:buClr>
                <a:srgbClr val="0B5395"/>
              </a:buClr>
              <a:buNone/>
            </a:pPr>
            <a:r>
              <a:rPr lang="en-US" altLang="en-US" dirty="0">
                <a:latin typeface="Times New Roman" pitchFamily="18" charset="0"/>
                <a:cs typeface="Times New Roman" pitchFamily="18" charset="0"/>
              </a:rPr>
              <a:t>Raw data is often not the most useful form for analysis.</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solidFill>
                  <a:srgbClr val="FF0000"/>
                </a:solidFill>
                <a:latin typeface="Times New Roman" pitchFamily="18" charset="0"/>
                <a:cs typeface="Times New Roman" pitchFamily="18" charset="0"/>
              </a:rPr>
              <a:t>Can I create a new variable that captures more useful information than the original variables?</a:t>
            </a:r>
          </a:p>
        </p:txBody>
      </p:sp>
      <p:sp>
        <p:nvSpPr>
          <p:cNvPr id="5124" name="Slide Number Placeholder 1">
            <a:extLst>
              <a:ext uri="{FF2B5EF4-FFF2-40B4-BE49-F238E27FC236}">
                <a16:creationId xmlns:a16="http://schemas.microsoft.com/office/drawing/2014/main" id="{1054026A-9F12-BD80-C793-03F01AF532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39</a:t>
            </a:fld>
            <a:endParaRPr lang="en-US" alt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9018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7C83-949D-C2DD-64CA-3F882FC8C5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330A5C-A074-A157-7A77-8F75277DBF1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C997BAB8-D604-C90C-0AD1-D219551380BE}"/>
              </a:ext>
            </a:extLst>
          </p:cNvPr>
          <p:cNvSpPr>
            <a:spLocks noGrp="1"/>
          </p:cNvSpPr>
          <p:nvPr>
            <p:ph idx="1"/>
          </p:nvPr>
        </p:nvSpPr>
        <p:spPr>
          <a:xfrm>
            <a:off x="481694" y="1715636"/>
            <a:ext cx="7519306"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Common Feature Engineering Tasks</a:t>
            </a:r>
          </a:p>
          <a:p>
            <a:pPr marL="80963" lvl="1" indent="0" algn="just" eaLnBrk="1" hangingPunct="1">
              <a:buClr>
                <a:srgbClr val="0B5395"/>
              </a:buClr>
              <a:buNone/>
            </a:pPr>
            <a:r>
              <a:rPr lang="en-US" altLang="en-US" dirty="0">
                <a:latin typeface="Times New Roman" pitchFamily="18" charset="0"/>
                <a:cs typeface="Times New Roman" pitchFamily="18" charset="0"/>
              </a:rPr>
              <a:t>1. Creating New Features</a:t>
            </a:r>
          </a:p>
        </p:txBody>
      </p:sp>
      <p:sp>
        <p:nvSpPr>
          <p:cNvPr id="5124" name="Slide Number Placeholder 1">
            <a:extLst>
              <a:ext uri="{FF2B5EF4-FFF2-40B4-BE49-F238E27FC236}">
                <a16:creationId xmlns:a16="http://schemas.microsoft.com/office/drawing/2014/main" id="{1054026A-9F12-BD80-C793-03F01AF532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40</a:t>
            </a:fld>
            <a:endParaRPr lang="en-US" altLang="en-US"/>
          </a:p>
        </p:txBody>
      </p:sp>
      <p:graphicFrame>
        <p:nvGraphicFramePr>
          <p:cNvPr id="9" name="Table 8"/>
          <p:cNvGraphicFramePr>
            <a:graphicFrameLocks noGrp="1"/>
          </p:cNvGraphicFramePr>
          <p:nvPr>
            <p:extLst>
              <p:ext uri="{D42A27DB-BD31-4B8C-83A1-F6EECF244321}">
                <p14:modId xmlns:p14="http://schemas.microsoft.com/office/powerpoint/2010/main" val="1924431658"/>
              </p:ext>
            </p:extLst>
          </p:nvPr>
        </p:nvGraphicFramePr>
        <p:xfrm>
          <a:off x="2106386" y="3568882"/>
          <a:ext cx="2926716" cy="1097280"/>
        </p:xfrm>
        <a:graphic>
          <a:graphicData uri="http://schemas.openxmlformats.org/drawingml/2006/table">
            <a:tbl>
              <a:tblPr>
                <a:tableStyleId>{3C2FFA5D-87B4-456A-9821-1D502468CF0F}</a:tableStyleId>
              </a:tblPr>
              <a:tblGrid>
                <a:gridCol w="1032193">
                  <a:extLst>
                    <a:ext uri="{9D8B030D-6E8A-4147-A177-3AD203B41FA5}">
                      <a16:colId xmlns:a16="http://schemas.microsoft.com/office/drawing/2014/main" val="20000"/>
                    </a:ext>
                  </a:extLst>
                </a:gridCol>
                <a:gridCol w="1143318">
                  <a:extLst>
                    <a:ext uri="{9D8B030D-6E8A-4147-A177-3AD203B41FA5}">
                      <a16:colId xmlns:a16="http://schemas.microsoft.com/office/drawing/2014/main" val="20001"/>
                    </a:ext>
                  </a:extLst>
                </a:gridCol>
                <a:gridCol w="751205">
                  <a:extLst>
                    <a:ext uri="{9D8B030D-6E8A-4147-A177-3AD203B41FA5}">
                      <a16:colId xmlns:a16="http://schemas.microsoft.com/office/drawing/2014/main" val="20002"/>
                    </a:ext>
                  </a:extLst>
                </a:gridCol>
              </a:tblGrid>
              <a:tr h="365760">
                <a:tc>
                  <a:txBody>
                    <a:bodyPr/>
                    <a:lstStyle/>
                    <a:p>
                      <a:r>
                        <a:rPr lang="en-US" sz="1800"/>
                        <a:t>Student</a:t>
                      </a:r>
                    </a:p>
                  </a:txBody>
                  <a:tcPr anchor="ctr"/>
                </a:tc>
                <a:tc>
                  <a:txBody>
                    <a:bodyPr/>
                    <a:lstStyle/>
                    <a:p>
                      <a:r>
                        <a:rPr lang="en-US" sz="1800"/>
                        <a:t>Midterm</a:t>
                      </a:r>
                    </a:p>
                  </a:txBody>
                  <a:tcPr anchor="ctr"/>
                </a:tc>
                <a:tc>
                  <a:txBody>
                    <a:bodyPr/>
                    <a:lstStyle/>
                    <a:p>
                      <a:r>
                        <a:rPr lang="en-US" sz="1800"/>
                        <a:t>Final</a:t>
                      </a:r>
                    </a:p>
                  </a:txBody>
                  <a:tcPr anchor="ctr"/>
                </a:tc>
                <a:extLst>
                  <a:ext uri="{0D108BD9-81ED-4DB2-BD59-A6C34878D82A}">
                    <a16:rowId xmlns:a16="http://schemas.microsoft.com/office/drawing/2014/main" val="10000"/>
                  </a:ext>
                </a:extLst>
              </a:tr>
              <a:tr h="365760">
                <a:tc>
                  <a:txBody>
                    <a:bodyPr/>
                    <a:lstStyle/>
                    <a:p>
                      <a:r>
                        <a:rPr lang="en-US" sz="1800"/>
                        <a:t>Rahim</a:t>
                      </a:r>
                    </a:p>
                  </a:txBody>
                  <a:tcPr anchor="ctr"/>
                </a:tc>
                <a:tc>
                  <a:txBody>
                    <a:bodyPr/>
                    <a:lstStyle/>
                    <a:p>
                      <a:r>
                        <a:rPr lang="en-US" sz="1800"/>
                        <a:t>70</a:t>
                      </a:r>
                    </a:p>
                  </a:txBody>
                  <a:tcPr anchor="ctr"/>
                </a:tc>
                <a:tc>
                  <a:txBody>
                    <a:bodyPr/>
                    <a:lstStyle/>
                    <a:p>
                      <a:r>
                        <a:rPr lang="en-US" sz="1800"/>
                        <a:t>80</a:t>
                      </a:r>
                    </a:p>
                  </a:txBody>
                  <a:tcPr anchor="ctr"/>
                </a:tc>
                <a:extLst>
                  <a:ext uri="{0D108BD9-81ED-4DB2-BD59-A6C34878D82A}">
                    <a16:rowId xmlns:a16="http://schemas.microsoft.com/office/drawing/2014/main" val="10001"/>
                  </a:ext>
                </a:extLst>
              </a:tr>
              <a:tr h="365760">
                <a:tc>
                  <a:txBody>
                    <a:bodyPr/>
                    <a:lstStyle/>
                    <a:p>
                      <a:r>
                        <a:rPr lang="en-US" sz="1800"/>
                        <a:t>Karim</a:t>
                      </a:r>
                    </a:p>
                  </a:txBody>
                  <a:tcPr anchor="ctr"/>
                </a:tc>
                <a:tc>
                  <a:txBody>
                    <a:bodyPr/>
                    <a:lstStyle/>
                    <a:p>
                      <a:r>
                        <a:rPr lang="en-US" sz="1800"/>
                        <a:t>65</a:t>
                      </a:r>
                    </a:p>
                  </a:txBody>
                  <a:tcPr anchor="ctr"/>
                </a:tc>
                <a:tc>
                  <a:txBody>
                    <a:bodyPr/>
                    <a:lstStyle/>
                    <a:p>
                      <a:r>
                        <a:rPr lang="en-US" sz="1800" dirty="0"/>
                        <a:t>75</a:t>
                      </a:r>
                    </a:p>
                  </a:txBody>
                  <a:tcPr anchor="ct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830076021"/>
              </p:ext>
            </p:extLst>
          </p:nvPr>
        </p:nvGraphicFramePr>
        <p:xfrm>
          <a:off x="1771650" y="5201738"/>
          <a:ext cx="3672143" cy="1097280"/>
        </p:xfrm>
        <a:graphic>
          <a:graphicData uri="http://schemas.openxmlformats.org/drawingml/2006/table">
            <a:tbl>
              <a:tblPr>
                <a:tableStyleId>{3C2FFA5D-87B4-456A-9821-1D502468CF0F}</a:tableStyleId>
              </a:tblPr>
              <a:tblGrid>
                <a:gridCol w="1032193">
                  <a:extLst>
                    <a:ext uri="{9D8B030D-6E8A-4147-A177-3AD203B41FA5}">
                      <a16:colId xmlns:a16="http://schemas.microsoft.com/office/drawing/2014/main" val="20000"/>
                    </a:ext>
                  </a:extLst>
                </a:gridCol>
                <a:gridCol w="1143318">
                  <a:extLst>
                    <a:ext uri="{9D8B030D-6E8A-4147-A177-3AD203B41FA5}">
                      <a16:colId xmlns:a16="http://schemas.microsoft.com/office/drawing/2014/main" val="20001"/>
                    </a:ext>
                  </a:extLst>
                </a:gridCol>
                <a:gridCol w="751205">
                  <a:extLst>
                    <a:ext uri="{9D8B030D-6E8A-4147-A177-3AD203B41FA5}">
                      <a16:colId xmlns:a16="http://schemas.microsoft.com/office/drawing/2014/main" val="20002"/>
                    </a:ext>
                  </a:extLst>
                </a:gridCol>
                <a:gridCol w="745427">
                  <a:extLst>
                    <a:ext uri="{9D8B030D-6E8A-4147-A177-3AD203B41FA5}">
                      <a16:colId xmlns:a16="http://schemas.microsoft.com/office/drawing/2014/main" val="20003"/>
                    </a:ext>
                  </a:extLst>
                </a:gridCol>
              </a:tblGrid>
              <a:tr h="365760">
                <a:tc>
                  <a:txBody>
                    <a:bodyPr/>
                    <a:lstStyle/>
                    <a:p>
                      <a:r>
                        <a:rPr lang="en-US" sz="1800"/>
                        <a:t>Student</a:t>
                      </a:r>
                    </a:p>
                  </a:txBody>
                  <a:tcPr anchor="ctr"/>
                </a:tc>
                <a:tc>
                  <a:txBody>
                    <a:bodyPr/>
                    <a:lstStyle/>
                    <a:p>
                      <a:r>
                        <a:rPr lang="en-US" sz="1800" dirty="0"/>
                        <a:t>Midterm</a:t>
                      </a:r>
                    </a:p>
                  </a:txBody>
                  <a:tcPr anchor="ctr"/>
                </a:tc>
                <a:tc>
                  <a:txBody>
                    <a:bodyPr/>
                    <a:lstStyle/>
                    <a:p>
                      <a:r>
                        <a:rPr lang="en-US" sz="1800"/>
                        <a:t>Final</a:t>
                      </a:r>
                    </a:p>
                  </a:txBody>
                  <a:tcPr anchor="ctr"/>
                </a:tc>
                <a:tc>
                  <a:txBody>
                    <a:bodyPr/>
                    <a:lstStyle/>
                    <a:p>
                      <a:r>
                        <a:rPr lang="en-US" sz="1800"/>
                        <a:t>Total</a:t>
                      </a:r>
                    </a:p>
                  </a:txBody>
                  <a:tcPr anchor="ctr"/>
                </a:tc>
                <a:extLst>
                  <a:ext uri="{0D108BD9-81ED-4DB2-BD59-A6C34878D82A}">
                    <a16:rowId xmlns:a16="http://schemas.microsoft.com/office/drawing/2014/main" val="10000"/>
                  </a:ext>
                </a:extLst>
              </a:tr>
              <a:tr h="365760">
                <a:tc>
                  <a:txBody>
                    <a:bodyPr/>
                    <a:lstStyle/>
                    <a:p>
                      <a:r>
                        <a:rPr lang="en-US" sz="1800"/>
                        <a:t>Rahim</a:t>
                      </a:r>
                    </a:p>
                  </a:txBody>
                  <a:tcPr anchor="ctr"/>
                </a:tc>
                <a:tc>
                  <a:txBody>
                    <a:bodyPr/>
                    <a:lstStyle/>
                    <a:p>
                      <a:r>
                        <a:rPr lang="en-US" sz="1800"/>
                        <a:t>70</a:t>
                      </a:r>
                    </a:p>
                  </a:txBody>
                  <a:tcPr anchor="ctr"/>
                </a:tc>
                <a:tc>
                  <a:txBody>
                    <a:bodyPr/>
                    <a:lstStyle/>
                    <a:p>
                      <a:r>
                        <a:rPr lang="en-US" sz="1800"/>
                        <a:t>80</a:t>
                      </a:r>
                    </a:p>
                  </a:txBody>
                  <a:tcPr anchor="ctr"/>
                </a:tc>
                <a:tc>
                  <a:txBody>
                    <a:bodyPr/>
                    <a:lstStyle/>
                    <a:p>
                      <a:r>
                        <a:rPr lang="en-US" sz="1800"/>
                        <a:t>150</a:t>
                      </a:r>
                    </a:p>
                  </a:txBody>
                  <a:tcPr anchor="ctr"/>
                </a:tc>
                <a:extLst>
                  <a:ext uri="{0D108BD9-81ED-4DB2-BD59-A6C34878D82A}">
                    <a16:rowId xmlns:a16="http://schemas.microsoft.com/office/drawing/2014/main" val="10001"/>
                  </a:ext>
                </a:extLst>
              </a:tr>
              <a:tr h="365760">
                <a:tc>
                  <a:txBody>
                    <a:bodyPr/>
                    <a:lstStyle/>
                    <a:p>
                      <a:r>
                        <a:rPr lang="en-US" sz="1800"/>
                        <a:t>Karim</a:t>
                      </a:r>
                    </a:p>
                  </a:txBody>
                  <a:tcPr anchor="ctr"/>
                </a:tc>
                <a:tc>
                  <a:txBody>
                    <a:bodyPr/>
                    <a:lstStyle/>
                    <a:p>
                      <a:r>
                        <a:rPr lang="en-US" sz="1800"/>
                        <a:t>65</a:t>
                      </a:r>
                    </a:p>
                  </a:txBody>
                  <a:tcPr anchor="ctr"/>
                </a:tc>
                <a:tc>
                  <a:txBody>
                    <a:bodyPr/>
                    <a:lstStyle/>
                    <a:p>
                      <a:r>
                        <a:rPr lang="en-US" sz="1800"/>
                        <a:t>75</a:t>
                      </a:r>
                    </a:p>
                  </a:txBody>
                  <a:tcPr anchor="ctr"/>
                </a:tc>
                <a:tc>
                  <a:txBody>
                    <a:bodyPr/>
                    <a:lstStyle/>
                    <a:p>
                      <a:r>
                        <a:rPr lang="en-US" sz="1800" dirty="0"/>
                        <a:t>140</a:t>
                      </a:r>
                    </a:p>
                  </a:txBody>
                  <a:tcPr anchor="ctr"/>
                </a:tc>
                <a:extLst>
                  <a:ext uri="{0D108BD9-81ED-4DB2-BD59-A6C34878D82A}">
                    <a16:rowId xmlns:a16="http://schemas.microsoft.com/office/drawing/2014/main" val="10002"/>
                  </a:ext>
                </a:extLst>
              </a:tr>
            </a:tbl>
          </a:graphicData>
        </a:graphic>
      </p:graphicFrame>
      <p:sp>
        <p:nvSpPr>
          <p:cNvPr id="11" name="Down Arrow 10"/>
          <p:cNvSpPr/>
          <p:nvPr/>
        </p:nvSpPr>
        <p:spPr>
          <a:xfrm>
            <a:off x="3347357" y="4776107"/>
            <a:ext cx="342900" cy="3837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241947" y="4452941"/>
            <a:ext cx="2954519" cy="646331"/>
          </a:xfrm>
          <a:prstGeom prst="rect">
            <a:avLst/>
          </a:prstGeom>
        </p:spPr>
        <p:txBody>
          <a:bodyPr wrap="square">
            <a:spAutoFit/>
          </a:bodyPr>
          <a:lstStyle/>
          <a:p>
            <a:r>
              <a:rPr lang="en-US" dirty="0">
                <a:solidFill>
                  <a:srgbClr val="FF0000"/>
                </a:solidFill>
                <a:latin typeface="Times New Roman" pitchFamily="18" charset="0"/>
                <a:cs typeface="Times New Roman" pitchFamily="18" charset="0"/>
              </a:rPr>
              <a:t>The new feature </a:t>
            </a:r>
            <a:r>
              <a:rPr lang="en-US" b="1" dirty="0">
                <a:solidFill>
                  <a:srgbClr val="FF0000"/>
                </a:solidFill>
                <a:latin typeface="Times New Roman" pitchFamily="18" charset="0"/>
                <a:cs typeface="Times New Roman" pitchFamily="18" charset="0"/>
              </a:rPr>
              <a:t>Total</a:t>
            </a:r>
            <a:r>
              <a:rPr lang="en-US" dirty="0">
                <a:solidFill>
                  <a:srgbClr val="FF0000"/>
                </a:solidFill>
                <a:latin typeface="Times New Roman" pitchFamily="18" charset="0"/>
                <a:cs typeface="Times New Roman" pitchFamily="18" charset="0"/>
              </a:rPr>
              <a:t> may be more informative</a:t>
            </a:r>
          </a:p>
        </p:txBody>
      </p:sp>
    </p:spTree>
    <p:extLst>
      <p:ext uri="{BB962C8B-B14F-4D97-AF65-F5344CB8AC3E}">
        <p14:creationId xmlns:p14="http://schemas.microsoft.com/office/powerpoint/2010/main" val="8508946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7C83-949D-C2DD-64CA-3F882FC8C5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330A5C-A074-A157-7A77-8F75277DBF1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C997BAB8-D604-C90C-0AD1-D219551380BE}"/>
              </a:ext>
            </a:extLst>
          </p:cNvPr>
          <p:cNvSpPr>
            <a:spLocks noGrp="1"/>
          </p:cNvSpPr>
          <p:nvPr>
            <p:ph idx="1"/>
          </p:nvPr>
        </p:nvSpPr>
        <p:spPr>
          <a:xfrm>
            <a:off x="481694" y="1715636"/>
            <a:ext cx="7519306"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Common Feature Engineering Tasks</a:t>
            </a:r>
          </a:p>
          <a:p>
            <a:pPr marL="80963" lvl="1" indent="0" algn="just" eaLnBrk="1" hangingPunct="1">
              <a:buClr>
                <a:srgbClr val="0B5395"/>
              </a:buClr>
              <a:buNone/>
            </a:pPr>
            <a:r>
              <a:rPr lang="en-US" altLang="en-US" dirty="0">
                <a:latin typeface="Times New Roman" pitchFamily="18" charset="0"/>
                <a:cs typeface="Times New Roman" pitchFamily="18" charset="0"/>
              </a:rPr>
              <a:t>2. Deriving Features from Dates</a:t>
            </a:r>
          </a:p>
        </p:txBody>
      </p:sp>
      <p:sp>
        <p:nvSpPr>
          <p:cNvPr id="5124" name="Slide Number Placeholder 1">
            <a:extLst>
              <a:ext uri="{FF2B5EF4-FFF2-40B4-BE49-F238E27FC236}">
                <a16:creationId xmlns:a16="http://schemas.microsoft.com/office/drawing/2014/main" id="{1054026A-9F12-BD80-C793-03F01AF532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41</a:t>
            </a:fld>
            <a:endParaRPr lang="en-US" altLang="en-US"/>
          </a:p>
        </p:txBody>
      </p:sp>
      <p:sp>
        <p:nvSpPr>
          <p:cNvPr id="11" name="Down Arrow 10"/>
          <p:cNvSpPr/>
          <p:nvPr/>
        </p:nvSpPr>
        <p:spPr>
          <a:xfrm>
            <a:off x="3649435" y="4490357"/>
            <a:ext cx="342900" cy="3837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1"/>
          <p:cNvGraphicFramePr>
            <a:graphicFrameLocks noGrp="1"/>
          </p:cNvGraphicFramePr>
          <p:nvPr>
            <p:extLst>
              <p:ext uri="{D42A27DB-BD31-4B8C-83A1-F6EECF244321}">
                <p14:modId xmlns:p14="http://schemas.microsoft.com/office/powerpoint/2010/main" val="3906415506"/>
              </p:ext>
            </p:extLst>
          </p:nvPr>
        </p:nvGraphicFramePr>
        <p:xfrm>
          <a:off x="3102429" y="3176996"/>
          <a:ext cx="1392555" cy="1097280"/>
        </p:xfrm>
        <a:graphic>
          <a:graphicData uri="http://schemas.openxmlformats.org/drawingml/2006/table">
            <a:tbl>
              <a:tblPr>
                <a:tableStyleId>{3C2FFA5D-87B4-456A-9821-1D502468CF0F}</a:tableStyleId>
              </a:tblPr>
              <a:tblGrid>
                <a:gridCol w="1392555">
                  <a:extLst>
                    <a:ext uri="{9D8B030D-6E8A-4147-A177-3AD203B41FA5}">
                      <a16:colId xmlns:a16="http://schemas.microsoft.com/office/drawing/2014/main" val="20000"/>
                    </a:ext>
                  </a:extLst>
                </a:gridCol>
              </a:tblGrid>
              <a:tr h="0">
                <a:tc>
                  <a:txBody>
                    <a:bodyPr/>
                    <a:lstStyle/>
                    <a:p>
                      <a:r>
                        <a:rPr lang="en-US"/>
                        <a:t>Date</a:t>
                      </a:r>
                    </a:p>
                  </a:txBody>
                  <a:tcPr anchor="ctr"/>
                </a:tc>
                <a:extLst>
                  <a:ext uri="{0D108BD9-81ED-4DB2-BD59-A6C34878D82A}">
                    <a16:rowId xmlns:a16="http://schemas.microsoft.com/office/drawing/2014/main" val="10000"/>
                  </a:ext>
                </a:extLst>
              </a:tr>
              <a:tr h="0">
                <a:tc>
                  <a:txBody>
                    <a:bodyPr/>
                    <a:lstStyle/>
                    <a:p>
                      <a:r>
                        <a:rPr lang="en-US"/>
                        <a:t>2025-06-10</a:t>
                      </a:r>
                    </a:p>
                  </a:txBody>
                  <a:tcPr anchor="ctr"/>
                </a:tc>
                <a:extLst>
                  <a:ext uri="{0D108BD9-81ED-4DB2-BD59-A6C34878D82A}">
                    <a16:rowId xmlns:a16="http://schemas.microsoft.com/office/drawing/2014/main" val="10001"/>
                  </a:ext>
                </a:extLst>
              </a:tr>
              <a:tr h="0">
                <a:tc>
                  <a:txBody>
                    <a:bodyPr/>
                    <a:lstStyle/>
                    <a:p>
                      <a:r>
                        <a:rPr lang="en-US" dirty="0"/>
                        <a:t>2025-12-25</a:t>
                      </a:r>
                    </a:p>
                  </a:txBody>
                  <a:tcPr anchor="ctr"/>
                </a:tc>
                <a:extLst>
                  <a:ext uri="{0D108BD9-81ED-4DB2-BD59-A6C34878D82A}">
                    <a16:rowId xmlns:a16="http://schemas.microsoft.com/office/drawing/2014/main" val="10002"/>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4281975193"/>
              </p:ext>
            </p:extLst>
          </p:nvPr>
        </p:nvGraphicFramePr>
        <p:xfrm>
          <a:off x="2773698" y="5071110"/>
          <a:ext cx="2290318" cy="1097280"/>
        </p:xfrm>
        <a:graphic>
          <a:graphicData uri="http://schemas.openxmlformats.org/drawingml/2006/table">
            <a:tbl>
              <a:tblPr>
                <a:tableStyleId>{3C2FFA5D-87B4-456A-9821-1D502468CF0F}</a:tableStyleId>
              </a:tblPr>
              <a:tblGrid>
                <a:gridCol w="735330">
                  <a:extLst>
                    <a:ext uri="{9D8B030D-6E8A-4147-A177-3AD203B41FA5}">
                      <a16:colId xmlns:a16="http://schemas.microsoft.com/office/drawing/2014/main" val="20000"/>
                    </a:ext>
                  </a:extLst>
                </a:gridCol>
                <a:gridCol w="903605">
                  <a:extLst>
                    <a:ext uri="{9D8B030D-6E8A-4147-A177-3AD203B41FA5}">
                      <a16:colId xmlns:a16="http://schemas.microsoft.com/office/drawing/2014/main" val="20001"/>
                    </a:ext>
                  </a:extLst>
                </a:gridCol>
                <a:gridCol w="651383">
                  <a:extLst>
                    <a:ext uri="{9D8B030D-6E8A-4147-A177-3AD203B41FA5}">
                      <a16:colId xmlns:a16="http://schemas.microsoft.com/office/drawing/2014/main" val="20002"/>
                    </a:ext>
                  </a:extLst>
                </a:gridCol>
              </a:tblGrid>
              <a:tr h="365760">
                <a:tc>
                  <a:txBody>
                    <a:bodyPr/>
                    <a:lstStyle/>
                    <a:p>
                      <a:r>
                        <a:rPr lang="en-US" sz="1800"/>
                        <a:t>Year</a:t>
                      </a:r>
                    </a:p>
                  </a:txBody>
                  <a:tcPr anchor="ctr"/>
                </a:tc>
                <a:tc>
                  <a:txBody>
                    <a:bodyPr/>
                    <a:lstStyle/>
                    <a:p>
                      <a:r>
                        <a:rPr lang="en-US" sz="1800"/>
                        <a:t>Month</a:t>
                      </a:r>
                    </a:p>
                  </a:txBody>
                  <a:tcPr anchor="ctr"/>
                </a:tc>
                <a:tc>
                  <a:txBody>
                    <a:bodyPr/>
                    <a:lstStyle/>
                    <a:p>
                      <a:r>
                        <a:rPr lang="en-US" sz="1800"/>
                        <a:t>Day</a:t>
                      </a:r>
                    </a:p>
                  </a:txBody>
                  <a:tcPr anchor="ctr"/>
                </a:tc>
                <a:extLst>
                  <a:ext uri="{0D108BD9-81ED-4DB2-BD59-A6C34878D82A}">
                    <a16:rowId xmlns:a16="http://schemas.microsoft.com/office/drawing/2014/main" val="10000"/>
                  </a:ext>
                </a:extLst>
              </a:tr>
              <a:tr h="365760">
                <a:tc>
                  <a:txBody>
                    <a:bodyPr/>
                    <a:lstStyle/>
                    <a:p>
                      <a:r>
                        <a:rPr lang="en-US" sz="1800"/>
                        <a:t>2025</a:t>
                      </a:r>
                    </a:p>
                  </a:txBody>
                  <a:tcPr anchor="ctr"/>
                </a:tc>
                <a:tc>
                  <a:txBody>
                    <a:bodyPr/>
                    <a:lstStyle/>
                    <a:p>
                      <a:r>
                        <a:rPr lang="en-US" sz="1800"/>
                        <a:t>6</a:t>
                      </a:r>
                    </a:p>
                  </a:txBody>
                  <a:tcPr anchor="ctr"/>
                </a:tc>
                <a:tc>
                  <a:txBody>
                    <a:bodyPr/>
                    <a:lstStyle/>
                    <a:p>
                      <a:r>
                        <a:rPr lang="en-US" sz="1800"/>
                        <a:t>10</a:t>
                      </a:r>
                    </a:p>
                  </a:txBody>
                  <a:tcPr anchor="ctr"/>
                </a:tc>
                <a:extLst>
                  <a:ext uri="{0D108BD9-81ED-4DB2-BD59-A6C34878D82A}">
                    <a16:rowId xmlns:a16="http://schemas.microsoft.com/office/drawing/2014/main" val="10001"/>
                  </a:ext>
                </a:extLst>
              </a:tr>
              <a:tr h="365760">
                <a:tc>
                  <a:txBody>
                    <a:bodyPr/>
                    <a:lstStyle/>
                    <a:p>
                      <a:r>
                        <a:rPr lang="en-US" sz="1800"/>
                        <a:t>2025</a:t>
                      </a:r>
                    </a:p>
                  </a:txBody>
                  <a:tcPr anchor="ctr"/>
                </a:tc>
                <a:tc>
                  <a:txBody>
                    <a:bodyPr/>
                    <a:lstStyle/>
                    <a:p>
                      <a:r>
                        <a:rPr lang="en-US" sz="1800"/>
                        <a:t>12</a:t>
                      </a:r>
                    </a:p>
                  </a:txBody>
                  <a:tcPr anchor="ctr"/>
                </a:tc>
                <a:tc>
                  <a:txBody>
                    <a:bodyPr/>
                    <a:lstStyle/>
                    <a:p>
                      <a:r>
                        <a:rPr lang="en-US" sz="1800" dirty="0"/>
                        <a:t>25</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151824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7C83-949D-C2DD-64CA-3F882FC8C5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330A5C-A074-A157-7A77-8F75277DBF1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C997BAB8-D604-C90C-0AD1-D219551380BE}"/>
              </a:ext>
            </a:extLst>
          </p:cNvPr>
          <p:cNvSpPr>
            <a:spLocks noGrp="1"/>
          </p:cNvSpPr>
          <p:nvPr>
            <p:ph idx="1"/>
          </p:nvPr>
        </p:nvSpPr>
        <p:spPr>
          <a:xfrm>
            <a:off x="481694" y="1715636"/>
            <a:ext cx="7519306"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Common Feature Engineering Tasks</a:t>
            </a:r>
          </a:p>
          <a:p>
            <a:pPr marL="80963" lvl="1" indent="0" algn="just" eaLnBrk="1" hangingPunct="1">
              <a:buClr>
                <a:srgbClr val="0B5395"/>
              </a:buClr>
              <a:buNone/>
            </a:pPr>
            <a:r>
              <a:rPr lang="en-US" altLang="en-US" dirty="0">
                <a:latin typeface="Times New Roman" pitchFamily="18" charset="0"/>
                <a:cs typeface="Times New Roman" pitchFamily="18" charset="0"/>
              </a:rPr>
              <a:t>3. Creating Age from Birth Year</a:t>
            </a:r>
          </a:p>
        </p:txBody>
      </p:sp>
      <p:sp>
        <p:nvSpPr>
          <p:cNvPr id="5124" name="Slide Number Placeholder 1">
            <a:extLst>
              <a:ext uri="{FF2B5EF4-FFF2-40B4-BE49-F238E27FC236}">
                <a16:creationId xmlns:a16="http://schemas.microsoft.com/office/drawing/2014/main" id="{1054026A-9F12-BD80-C793-03F01AF532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42</a:t>
            </a:fld>
            <a:endParaRPr lang="en-US" altLang="en-US"/>
          </a:p>
        </p:txBody>
      </p:sp>
      <p:sp>
        <p:nvSpPr>
          <p:cNvPr id="11" name="Down Arrow 10"/>
          <p:cNvSpPr/>
          <p:nvPr/>
        </p:nvSpPr>
        <p:spPr>
          <a:xfrm>
            <a:off x="3649435" y="4490357"/>
            <a:ext cx="342900" cy="38372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3958195519"/>
              </p:ext>
            </p:extLst>
          </p:nvPr>
        </p:nvGraphicFramePr>
        <p:xfrm>
          <a:off x="3257550" y="3144338"/>
          <a:ext cx="1241997" cy="1097280"/>
        </p:xfrm>
        <a:graphic>
          <a:graphicData uri="http://schemas.openxmlformats.org/drawingml/2006/table">
            <a:tbl>
              <a:tblPr>
                <a:tableStyleId>{3C2FFA5D-87B4-456A-9821-1D502468CF0F}</a:tableStyleId>
              </a:tblPr>
              <a:tblGrid>
                <a:gridCol w="1241997">
                  <a:extLst>
                    <a:ext uri="{9D8B030D-6E8A-4147-A177-3AD203B41FA5}">
                      <a16:colId xmlns:a16="http://schemas.microsoft.com/office/drawing/2014/main" val="20000"/>
                    </a:ext>
                  </a:extLst>
                </a:gridCol>
              </a:tblGrid>
              <a:tr h="0">
                <a:tc>
                  <a:txBody>
                    <a:bodyPr/>
                    <a:lstStyle/>
                    <a:p>
                      <a:r>
                        <a:rPr lang="en-US"/>
                        <a:t>Birth Year</a:t>
                      </a:r>
                    </a:p>
                  </a:txBody>
                  <a:tcPr anchor="ctr"/>
                </a:tc>
                <a:extLst>
                  <a:ext uri="{0D108BD9-81ED-4DB2-BD59-A6C34878D82A}">
                    <a16:rowId xmlns:a16="http://schemas.microsoft.com/office/drawing/2014/main" val="10000"/>
                  </a:ext>
                </a:extLst>
              </a:tr>
              <a:tr h="0">
                <a:tc>
                  <a:txBody>
                    <a:bodyPr/>
                    <a:lstStyle/>
                    <a:p>
                      <a:r>
                        <a:rPr lang="en-US"/>
                        <a:t>2003</a:t>
                      </a:r>
                    </a:p>
                  </a:txBody>
                  <a:tcPr anchor="ctr"/>
                </a:tc>
                <a:extLst>
                  <a:ext uri="{0D108BD9-81ED-4DB2-BD59-A6C34878D82A}">
                    <a16:rowId xmlns:a16="http://schemas.microsoft.com/office/drawing/2014/main" val="10001"/>
                  </a:ext>
                </a:extLst>
              </a:tr>
              <a:tr h="0">
                <a:tc>
                  <a:txBody>
                    <a:bodyPr/>
                    <a:lstStyle/>
                    <a:p>
                      <a:r>
                        <a:rPr lang="en-US" dirty="0"/>
                        <a:t>2001</a:t>
                      </a:r>
                    </a:p>
                  </a:txBody>
                  <a:tcPr anchor="ct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842811819"/>
              </p:ext>
            </p:extLst>
          </p:nvPr>
        </p:nvGraphicFramePr>
        <p:xfrm>
          <a:off x="2864670" y="5111932"/>
          <a:ext cx="1912430" cy="1097280"/>
        </p:xfrm>
        <a:graphic>
          <a:graphicData uri="http://schemas.openxmlformats.org/drawingml/2006/table">
            <a:tbl>
              <a:tblPr>
                <a:tableStyleId>{3C2FFA5D-87B4-456A-9821-1D502468CF0F}</a:tableStyleId>
              </a:tblPr>
              <a:tblGrid>
                <a:gridCol w="1241997">
                  <a:extLst>
                    <a:ext uri="{9D8B030D-6E8A-4147-A177-3AD203B41FA5}">
                      <a16:colId xmlns:a16="http://schemas.microsoft.com/office/drawing/2014/main" val="20000"/>
                    </a:ext>
                  </a:extLst>
                </a:gridCol>
                <a:gridCol w="670433">
                  <a:extLst>
                    <a:ext uri="{9D8B030D-6E8A-4147-A177-3AD203B41FA5}">
                      <a16:colId xmlns:a16="http://schemas.microsoft.com/office/drawing/2014/main" val="20001"/>
                    </a:ext>
                  </a:extLst>
                </a:gridCol>
              </a:tblGrid>
              <a:tr h="365760">
                <a:tc>
                  <a:txBody>
                    <a:bodyPr/>
                    <a:lstStyle/>
                    <a:p>
                      <a:r>
                        <a:rPr lang="en-US" sz="1800"/>
                        <a:t>Birth Year</a:t>
                      </a:r>
                    </a:p>
                  </a:txBody>
                  <a:tcPr anchor="ctr"/>
                </a:tc>
                <a:tc>
                  <a:txBody>
                    <a:bodyPr/>
                    <a:lstStyle/>
                    <a:p>
                      <a:r>
                        <a:rPr lang="en-US" sz="1800"/>
                        <a:t>Age</a:t>
                      </a:r>
                    </a:p>
                  </a:txBody>
                  <a:tcPr anchor="ctr"/>
                </a:tc>
                <a:extLst>
                  <a:ext uri="{0D108BD9-81ED-4DB2-BD59-A6C34878D82A}">
                    <a16:rowId xmlns:a16="http://schemas.microsoft.com/office/drawing/2014/main" val="10000"/>
                  </a:ext>
                </a:extLst>
              </a:tr>
              <a:tr h="365760">
                <a:tc>
                  <a:txBody>
                    <a:bodyPr/>
                    <a:lstStyle/>
                    <a:p>
                      <a:r>
                        <a:rPr lang="en-US" sz="1800"/>
                        <a:t>2003</a:t>
                      </a:r>
                    </a:p>
                  </a:txBody>
                  <a:tcPr anchor="ctr"/>
                </a:tc>
                <a:tc>
                  <a:txBody>
                    <a:bodyPr/>
                    <a:lstStyle/>
                    <a:p>
                      <a:r>
                        <a:rPr lang="en-US" sz="1800"/>
                        <a:t>22</a:t>
                      </a:r>
                    </a:p>
                  </a:txBody>
                  <a:tcPr anchor="ctr"/>
                </a:tc>
                <a:extLst>
                  <a:ext uri="{0D108BD9-81ED-4DB2-BD59-A6C34878D82A}">
                    <a16:rowId xmlns:a16="http://schemas.microsoft.com/office/drawing/2014/main" val="10001"/>
                  </a:ext>
                </a:extLst>
              </a:tr>
              <a:tr h="365760">
                <a:tc>
                  <a:txBody>
                    <a:bodyPr/>
                    <a:lstStyle/>
                    <a:p>
                      <a:r>
                        <a:rPr lang="en-US" sz="1800"/>
                        <a:t>2001</a:t>
                      </a:r>
                    </a:p>
                  </a:txBody>
                  <a:tcPr anchor="ctr"/>
                </a:tc>
                <a:tc>
                  <a:txBody>
                    <a:bodyPr/>
                    <a:lstStyle/>
                    <a:p>
                      <a:r>
                        <a:rPr lang="en-US" sz="1800" dirty="0"/>
                        <a:t>24</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70750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7C83-949D-C2DD-64CA-3F882FC8C5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330A5C-A074-A157-7A77-8F75277DBF1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C997BAB8-D604-C90C-0AD1-D219551380BE}"/>
              </a:ext>
            </a:extLst>
          </p:cNvPr>
          <p:cNvSpPr>
            <a:spLocks noGrp="1"/>
          </p:cNvSpPr>
          <p:nvPr>
            <p:ph idx="1"/>
          </p:nvPr>
        </p:nvSpPr>
        <p:spPr>
          <a:xfrm>
            <a:off x="481694" y="1715636"/>
            <a:ext cx="7519306"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Common Feature Engineering Tasks</a:t>
            </a:r>
          </a:p>
          <a:p>
            <a:pPr marL="80963" lvl="1" indent="0" algn="just" eaLnBrk="1" hangingPunct="1">
              <a:buClr>
                <a:srgbClr val="0B5395"/>
              </a:buClr>
              <a:buNone/>
            </a:pPr>
            <a:r>
              <a:rPr lang="en-US" altLang="en-US" dirty="0">
                <a:latin typeface="Times New Roman" pitchFamily="18" charset="0"/>
                <a:cs typeface="Times New Roman" pitchFamily="18" charset="0"/>
              </a:rPr>
              <a:t>4. Creating Categories (Binning)</a:t>
            </a:r>
          </a:p>
        </p:txBody>
      </p:sp>
      <p:sp>
        <p:nvSpPr>
          <p:cNvPr id="5124" name="Slide Number Placeholder 1">
            <a:extLst>
              <a:ext uri="{FF2B5EF4-FFF2-40B4-BE49-F238E27FC236}">
                <a16:creationId xmlns:a16="http://schemas.microsoft.com/office/drawing/2014/main" id="{1054026A-9F12-BD80-C793-03F01AF532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43</a:t>
            </a:fld>
            <a:endParaRPr lang="en-US" altLang="en-US"/>
          </a:p>
        </p:txBody>
      </p:sp>
      <p:graphicFrame>
        <p:nvGraphicFramePr>
          <p:cNvPr id="2" name="Table 1"/>
          <p:cNvGraphicFramePr>
            <a:graphicFrameLocks noGrp="1"/>
          </p:cNvGraphicFramePr>
          <p:nvPr>
            <p:extLst>
              <p:ext uri="{D42A27DB-BD31-4B8C-83A1-F6EECF244321}">
                <p14:modId xmlns:p14="http://schemas.microsoft.com/office/powerpoint/2010/main" val="3620031505"/>
              </p:ext>
            </p:extLst>
          </p:nvPr>
        </p:nvGraphicFramePr>
        <p:xfrm>
          <a:off x="1453243" y="3268436"/>
          <a:ext cx="670433" cy="1828800"/>
        </p:xfrm>
        <a:graphic>
          <a:graphicData uri="http://schemas.openxmlformats.org/drawingml/2006/table">
            <a:tbl>
              <a:tblPr>
                <a:tableStyleId>{3C2FFA5D-87B4-456A-9821-1D502468CF0F}</a:tableStyleId>
              </a:tblPr>
              <a:tblGrid>
                <a:gridCol w="670433">
                  <a:extLst>
                    <a:ext uri="{9D8B030D-6E8A-4147-A177-3AD203B41FA5}">
                      <a16:colId xmlns:a16="http://schemas.microsoft.com/office/drawing/2014/main" val="20000"/>
                    </a:ext>
                  </a:extLst>
                </a:gridCol>
              </a:tblGrid>
              <a:tr h="0">
                <a:tc>
                  <a:txBody>
                    <a:bodyPr/>
                    <a:lstStyle/>
                    <a:p>
                      <a:r>
                        <a:rPr lang="en-US"/>
                        <a:t>Age</a:t>
                      </a:r>
                    </a:p>
                  </a:txBody>
                  <a:tcPr anchor="ctr"/>
                </a:tc>
                <a:extLst>
                  <a:ext uri="{0D108BD9-81ED-4DB2-BD59-A6C34878D82A}">
                    <a16:rowId xmlns:a16="http://schemas.microsoft.com/office/drawing/2014/main" val="10000"/>
                  </a:ext>
                </a:extLst>
              </a:tr>
              <a:tr h="0">
                <a:tc>
                  <a:txBody>
                    <a:bodyPr/>
                    <a:lstStyle/>
                    <a:p>
                      <a:r>
                        <a:rPr lang="en-US"/>
                        <a:t>18</a:t>
                      </a:r>
                    </a:p>
                  </a:txBody>
                  <a:tcPr anchor="ctr"/>
                </a:tc>
                <a:extLst>
                  <a:ext uri="{0D108BD9-81ED-4DB2-BD59-A6C34878D82A}">
                    <a16:rowId xmlns:a16="http://schemas.microsoft.com/office/drawing/2014/main" val="10001"/>
                  </a:ext>
                </a:extLst>
              </a:tr>
              <a:tr h="0">
                <a:tc>
                  <a:txBody>
                    <a:bodyPr/>
                    <a:lstStyle/>
                    <a:p>
                      <a:r>
                        <a:rPr lang="en-US"/>
                        <a:t>22</a:t>
                      </a:r>
                    </a:p>
                  </a:txBody>
                  <a:tcPr anchor="ctr"/>
                </a:tc>
                <a:extLst>
                  <a:ext uri="{0D108BD9-81ED-4DB2-BD59-A6C34878D82A}">
                    <a16:rowId xmlns:a16="http://schemas.microsoft.com/office/drawing/2014/main" val="10002"/>
                  </a:ext>
                </a:extLst>
              </a:tr>
              <a:tr h="0">
                <a:tc>
                  <a:txBody>
                    <a:bodyPr/>
                    <a:lstStyle/>
                    <a:p>
                      <a:r>
                        <a:rPr lang="en-US"/>
                        <a:t>35</a:t>
                      </a:r>
                    </a:p>
                  </a:txBody>
                  <a:tcPr anchor="ctr"/>
                </a:tc>
                <a:extLst>
                  <a:ext uri="{0D108BD9-81ED-4DB2-BD59-A6C34878D82A}">
                    <a16:rowId xmlns:a16="http://schemas.microsoft.com/office/drawing/2014/main" val="10003"/>
                  </a:ext>
                </a:extLst>
              </a:tr>
              <a:tr h="0">
                <a:tc>
                  <a:txBody>
                    <a:bodyPr/>
                    <a:lstStyle/>
                    <a:p>
                      <a:r>
                        <a:rPr lang="en-US" dirty="0"/>
                        <a:t>60</a:t>
                      </a:r>
                    </a:p>
                  </a:txBody>
                  <a:tcPr anchor="ctr"/>
                </a:tc>
                <a:extLst>
                  <a:ext uri="{0D108BD9-81ED-4DB2-BD59-A6C34878D82A}">
                    <a16:rowId xmlns:a16="http://schemas.microsoft.com/office/drawing/2014/main" val="10004"/>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727057663"/>
              </p:ext>
            </p:extLst>
          </p:nvPr>
        </p:nvGraphicFramePr>
        <p:xfrm>
          <a:off x="3437165" y="3292929"/>
          <a:ext cx="2069910" cy="1828800"/>
        </p:xfrm>
        <a:graphic>
          <a:graphicData uri="http://schemas.openxmlformats.org/drawingml/2006/table">
            <a:tbl>
              <a:tblPr>
                <a:tableStyleId>{3C2FFA5D-87B4-456A-9821-1D502468CF0F}</a:tableStyleId>
              </a:tblPr>
              <a:tblGrid>
                <a:gridCol w="670433">
                  <a:extLst>
                    <a:ext uri="{9D8B030D-6E8A-4147-A177-3AD203B41FA5}">
                      <a16:colId xmlns:a16="http://schemas.microsoft.com/office/drawing/2014/main" val="20000"/>
                    </a:ext>
                  </a:extLst>
                </a:gridCol>
                <a:gridCol w="1399477">
                  <a:extLst>
                    <a:ext uri="{9D8B030D-6E8A-4147-A177-3AD203B41FA5}">
                      <a16:colId xmlns:a16="http://schemas.microsoft.com/office/drawing/2014/main" val="20001"/>
                    </a:ext>
                  </a:extLst>
                </a:gridCol>
              </a:tblGrid>
              <a:tr h="365760">
                <a:tc>
                  <a:txBody>
                    <a:bodyPr/>
                    <a:lstStyle/>
                    <a:p>
                      <a:r>
                        <a:rPr lang="en-US" sz="1800"/>
                        <a:t>Age</a:t>
                      </a:r>
                    </a:p>
                  </a:txBody>
                  <a:tcPr anchor="ctr"/>
                </a:tc>
                <a:tc>
                  <a:txBody>
                    <a:bodyPr/>
                    <a:lstStyle/>
                    <a:p>
                      <a:r>
                        <a:rPr lang="en-US" sz="1800"/>
                        <a:t>Age Group</a:t>
                      </a:r>
                    </a:p>
                  </a:txBody>
                  <a:tcPr anchor="ctr"/>
                </a:tc>
                <a:extLst>
                  <a:ext uri="{0D108BD9-81ED-4DB2-BD59-A6C34878D82A}">
                    <a16:rowId xmlns:a16="http://schemas.microsoft.com/office/drawing/2014/main" val="10000"/>
                  </a:ext>
                </a:extLst>
              </a:tr>
              <a:tr h="365760">
                <a:tc>
                  <a:txBody>
                    <a:bodyPr/>
                    <a:lstStyle/>
                    <a:p>
                      <a:r>
                        <a:rPr lang="en-US" sz="1800"/>
                        <a:t>18</a:t>
                      </a:r>
                    </a:p>
                  </a:txBody>
                  <a:tcPr anchor="ctr"/>
                </a:tc>
                <a:tc>
                  <a:txBody>
                    <a:bodyPr/>
                    <a:lstStyle/>
                    <a:p>
                      <a:r>
                        <a:rPr lang="en-US" sz="1800"/>
                        <a:t>Young</a:t>
                      </a:r>
                    </a:p>
                  </a:txBody>
                  <a:tcPr anchor="ctr"/>
                </a:tc>
                <a:extLst>
                  <a:ext uri="{0D108BD9-81ED-4DB2-BD59-A6C34878D82A}">
                    <a16:rowId xmlns:a16="http://schemas.microsoft.com/office/drawing/2014/main" val="10001"/>
                  </a:ext>
                </a:extLst>
              </a:tr>
              <a:tr h="365760">
                <a:tc>
                  <a:txBody>
                    <a:bodyPr/>
                    <a:lstStyle/>
                    <a:p>
                      <a:r>
                        <a:rPr lang="en-US" sz="1800"/>
                        <a:t>22</a:t>
                      </a:r>
                    </a:p>
                  </a:txBody>
                  <a:tcPr anchor="ctr"/>
                </a:tc>
                <a:tc>
                  <a:txBody>
                    <a:bodyPr/>
                    <a:lstStyle/>
                    <a:p>
                      <a:r>
                        <a:rPr lang="en-US" sz="1800"/>
                        <a:t>Young</a:t>
                      </a:r>
                    </a:p>
                  </a:txBody>
                  <a:tcPr anchor="ctr"/>
                </a:tc>
                <a:extLst>
                  <a:ext uri="{0D108BD9-81ED-4DB2-BD59-A6C34878D82A}">
                    <a16:rowId xmlns:a16="http://schemas.microsoft.com/office/drawing/2014/main" val="10002"/>
                  </a:ext>
                </a:extLst>
              </a:tr>
              <a:tr h="365760">
                <a:tc>
                  <a:txBody>
                    <a:bodyPr/>
                    <a:lstStyle/>
                    <a:p>
                      <a:r>
                        <a:rPr lang="en-US" sz="1800"/>
                        <a:t>35</a:t>
                      </a:r>
                    </a:p>
                  </a:txBody>
                  <a:tcPr anchor="ctr"/>
                </a:tc>
                <a:tc>
                  <a:txBody>
                    <a:bodyPr/>
                    <a:lstStyle/>
                    <a:p>
                      <a:r>
                        <a:rPr lang="en-US" sz="1800"/>
                        <a:t>Adult</a:t>
                      </a:r>
                    </a:p>
                  </a:txBody>
                  <a:tcPr anchor="ctr"/>
                </a:tc>
                <a:extLst>
                  <a:ext uri="{0D108BD9-81ED-4DB2-BD59-A6C34878D82A}">
                    <a16:rowId xmlns:a16="http://schemas.microsoft.com/office/drawing/2014/main" val="10003"/>
                  </a:ext>
                </a:extLst>
              </a:tr>
              <a:tr h="365760">
                <a:tc>
                  <a:txBody>
                    <a:bodyPr/>
                    <a:lstStyle/>
                    <a:p>
                      <a:r>
                        <a:rPr lang="en-US" sz="1800"/>
                        <a:t>60</a:t>
                      </a:r>
                    </a:p>
                  </a:txBody>
                  <a:tcPr anchor="ctr"/>
                </a:tc>
                <a:tc>
                  <a:txBody>
                    <a:bodyPr/>
                    <a:lstStyle/>
                    <a:p>
                      <a:r>
                        <a:rPr lang="en-US" sz="1800" dirty="0"/>
                        <a:t>Senior</a:t>
                      </a:r>
                    </a:p>
                  </a:txBody>
                  <a:tcPr anchor="ctr"/>
                </a:tc>
                <a:extLst>
                  <a:ext uri="{0D108BD9-81ED-4DB2-BD59-A6C34878D82A}">
                    <a16:rowId xmlns:a16="http://schemas.microsoft.com/office/drawing/2014/main" val="10004"/>
                  </a:ext>
                </a:extLst>
              </a:tr>
            </a:tbl>
          </a:graphicData>
        </a:graphic>
      </p:graphicFrame>
      <p:sp>
        <p:nvSpPr>
          <p:cNvPr id="6" name="Right Arrow 5"/>
          <p:cNvSpPr/>
          <p:nvPr/>
        </p:nvSpPr>
        <p:spPr>
          <a:xfrm>
            <a:off x="2432957" y="3878036"/>
            <a:ext cx="693964" cy="4735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80971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7C83-949D-C2DD-64CA-3F882FC8C5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330A5C-A074-A157-7A77-8F75277DBF1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C997BAB8-D604-C90C-0AD1-D219551380BE}"/>
              </a:ext>
            </a:extLst>
          </p:cNvPr>
          <p:cNvSpPr>
            <a:spLocks noGrp="1"/>
          </p:cNvSpPr>
          <p:nvPr>
            <p:ph idx="1"/>
          </p:nvPr>
        </p:nvSpPr>
        <p:spPr>
          <a:xfrm>
            <a:off x="481694" y="1715636"/>
            <a:ext cx="7519306"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Common Feature Engineering Tasks</a:t>
            </a:r>
          </a:p>
          <a:p>
            <a:pPr marL="80963" lvl="1" indent="0" algn="just" eaLnBrk="1" hangingPunct="1">
              <a:buClr>
                <a:srgbClr val="0B5395"/>
              </a:buClr>
              <a:buNone/>
            </a:pPr>
            <a:r>
              <a:rPr lang="en-US" altLang="en-US" dirty="0">
                <a:latin typeface="Times New Roman" pitchFamily="18" charset="0"/>
                <a:cs typeface="Times New Roman" pitchFamily="18" charset="0"/>
              </a:rPr>
              <a:t>5. Creating Ratios</a:t>
            </a:r>
          </a:p>
        </p:txBody>
      </p:sp>
      <p:sp>
        <p:nvSpPr>
          <p:cNvPr id="5124" name="Slide Number Placeholder 1">
            <a:extLst>
              <a:ext uri="{FF2B5EF4-FFF2-40B4-BE49-F238E27FC236}">
                <a16:creationId xmlns:a16="http://schemas.microsoft.com/office/drawing/2014/main" id="{1054026A-9F12-BD80-C793-03F01AF532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44</a:t>
            </a:fld>
            <a:endParaRPr lang="en-US" altLang="en-US"/>
          </a:p>
        </p:txBody>
      </p:sp>
      <p:graphicFrame>
        <p:nvGraphicFramePr>
          <p:cNvPr id="4" name="Table 3"/>
          <p:cNvGraphicFramePr>
            <a:graphicFrameLocks noGrp="1"/>
          </p:cNvGraphicFramePr>
          <p:nvPr>
            <p:extLst>
              <p:ext uri="{D42A27DB-BD31-4B8C-83A1-F6EECF244321}">
                <p14:modId xmlns:p14="http://schemas.microsoft.com/office/powerpoint/2010/main" val="739294299"/>
              </p:ext>
            </p:extLst>
          </p:nvPr>
        </p:nvGraphicFramePr>
        <p:xfrm>
          <a:off x="1249135" y="3521256"/>
          <a:ext cx="2280285" cy="1097280"/>
        </p:xfrm>
        <a:graphic>
          <a:graphicData uri="http://schemas.openxmlformats.org/drawingml/2006/table">
            <a:tbl>
              <a:tblPr>
                <a:tableStyleId>{3C2FFA5D-87B4-456A-9821-1D502468CF0F}</a:tableStyleId>
              </a:tblPr>
              <a:tblGrid>
                <a:gridCol w="1024255">
                  <a:extLst>
                    <a:ext uri="{9D8B030D-6E8A-4147-A177-3AD203B41FA5}">
                      <a16:colId xmlns:a16="http://schemas.microsoft.com/office/drawing/2014/main" val="20000"/>
                    </a:ext>
                  </a:extLst>
                </a:gridCol>
                <a:gridCol w="1256030">
                  <a:extLst>
                    <a:ext uri="{9D8B030D-6E8A-4147-A177-3AD203B41FA5}">
                      <a16:colId xmlns:a16="http://schemas.microsoft.com/office/drawing/2014/main" val="20001"/>
                    </a:ext>
                  </a:extLst>
                </a:gridCol>
              </a:tblGrid>
              <a:tr h="365760">
                <a:tc>
                  <a:txBody>
                    <a:bodyPr/>
                    <a:lstStyle/>
                    <a:p>
                      <a:r>
                        <a:rPr lang="en-US" sz="1800" dirty="0"/>
                        <a:t>Income</a:t>
                      </a:r>
                    </a:p>
                  </a:txBody>
                  <a:tcPr anchor="ctr"/>
                </a:tc>
                <a:tc>
                  <a:txBody>
                    <a:bodyPr/>
                    <a:lstStyle/>
                    <a:p>
                      <a:r>
                        <a:rPr lang="en-US" sz="1800"/>
                        <a:t>Expenses</a:t>
                      </a:r>
                    </a:p>
                  </a:txBody>
                  <a:tcPr anchor="ctr"/>
                </a:tc>
                <a:extLst>
                  <a:ext uri="{0D108BD9-81ED-4DB2-BD59-A6C34878D82A}">
                    <a16:rowId xmlns:a16="http://schemas.microsoft.com/office/drawing/2014/main" val="10000"/>
                  </a:ext>
                </a:extLst>
              </a:tr>
              <a:tr h="365760">
                <a:tc>
                  <a:txBody>
                    <a:bodyPr/>
                    <a:lstStyle/>
                    <a:p>
                      <a:r>
                        <a:rPr lang="en-US" sz="1800"/>
                        <a:t>50000</a:t>
                      </a:r>
                    </a:p>
                  </a:txBody>
                  <a:tcPr anchor="ctr"/>
                </a:tc>
                <a:tc>
                  <a:txBody>
                    <a:bodyPr/>
                    <a:lstStyle/>
                    <a:p>
                      <a:r>
                        <a:rPr lang="en-US" sz="1800" dirty="0"/>
                        <a:t>30000</a:t>
                      </a:r>
                    </a:p>
                  </a:txBody>
                  <a:tcPr anchor="ctr"/>
                </a:tc>
                <a:extLst>
                  <a:ext uri="{0D108BD9-81ED-4DB2-BD59-A6C34878D82A}">
                    <a16:rowId xmlns:a16="http://schemas.microsoft.com/office/drawing/2014/main" val="10001"/>
                  </a:ext>
                </a:extLst>
              </a:tr>
              <a:tr h="365760">
                <a:tc>
                  <a:txBody>
                    <a:bodyPr/>
                    <a:lstStyle/>
                    <a:p>
                      <a:r>
                        <a:rPr lang="en-US" sz="1800"/>
                        <a:t>70000</a:t>
                      </a:r>
                    </a:p>
                  </a:txBody>
                  <a:tcPr anchor="ctr"/>
                </a:tc>
                <a:tc>
                  <a:txBody>
                    <a:bodyPr/>
                    <a:lstStyle/>
                    <a:p>
                      <a:r>
                        <a:rPr lang="en-US" sz="1800" dirty="0"/>
                        <a:t>35000</a:t>
                      </a:r>
                    </a:p>
                  </a:txBody>
                  <a:tcPr anchor="ctr"/>
                </a:tc>
                <a:extLst>
                  <a:ext uri="{0D108BD9-81ED-4DB2-BD59-A6C34878D82A}">
                    <a16:rowId xmlns:a16="http://schemas.microsoft.com/office/drawing/2014/main" val="100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083049903"/>
              </p:ext>
            </p:extLst>
          </p:nvPr>
        </p:nvGraphicFramePr>
        <p:xfrm>
          <a:off x="5715000" y="3566160"/>
          <a:ext cx="3842893" cy="1097280"/>
        </p:xfrm>
        <a:graphic>
          <a:graphicData uri="http://schemas.openxmlformats.org/drawingml/2006/table">
            <a:tbl>
              <a:tblPr>
                <a:tableStyleId>{3C2FFA5D-87B4-456A-9821-1D502468CF0F}</a:tableStyleId>
              </a:tblPr>
              <a:tblGrid>
                <a:gridCol w="1024255">
                  <a:extLst>
                    <a:ext uri="{9D8B030D-6E8A-4147-A177-3AD203B41FA5}">
                      <a16:colId xmlns:a16="http://schemas.microsoft.com/office/drawing/2014/main" val="20000"/>
                    </a:ext>
                  </a:extLst>
                </a:gridCol>
                <a:gridCol w="1256030">
                  <a:extLst>
                    <a:ext uri="{9D8B030D-6E8A-4147-A177-3AD203B41FA5}">
                      <a16:colId xmlns:a16="http://schemas.microsoft.com/office/drawing/2014/main" val="20001"/>
                    </a:ext>
                  </a:extLst>
                </a:gridCol>
                <a:gridCol w="1562608">
                  <a:extLst>
                    <a:ext uri="{9D8B030D-6E8A-4147-A177-3AD203B41FA5}">
                      <a16:colId xmlns:a16="http://schemas.microsoft.com/office/drawing/2014/main" val="20002"/>
                    </a:ext>
                  </a:extLst>
                </a:gridCol>
              </a:tblGrid>
              <a:tr h="365760">
                <a:tc>
                  <a:txBody>
                    <a:bodyPr/>
                    <a:lstStyle/>
                    <a:p>
                      <a:r>
                        <a:rPr lang="en-US" sz="1800" dirty="0"/>
                        <a:t>Income</a:t>
                      </a:r>
                    </a:p>
                  </a:txBody>
                  <a:tcPr anchor="ctr"/>
                </a:tc>
                <a:tc>
                  <a:txBody>
                    <a:bodyPr/>
                    <a:lstStyle/>
                    <a:p>
                      <a:r>
                        <a:rPr lang="en-US" sz="1800"/>
                        <a:t>Expenses</a:t>
                      </a:r>
                    </a:p>
                  </a:txBody>
                  <a:tcPr anchor="ctr"/>
                </a:tc>
                <a:tc>
                  <a:txBody>
                    <a:bodyPr/>
                    <a:lstStyle/>
                    <a:p>
                      <a:r>
                        <a:rPr lang="en-US" sz="1800"/>
                        <a:t>Savings Rate</a:t>
                      </a:r>
                    </a:p>
                  </a:txBody>
                  <a:tcPr anchor="ctr"/>
                </a:tc>
                <a:extLst>
                  <a:ext uri="{0D108BD9-81ED-4DB2-BD59-A6C34878D82A}">
                    <a16:rowId xmlns:a16="http://schemas.microsoft.com/office/drawing/2014/main" val="10000"/>
                  </a:ext>
                </a:extLst>
              </a:tr>
              <a:tr h="365760">
                <a:tc>
                  <a:txBody>
                    <a:bodyPr/>
                    <a:lstStyle/>
                    <a:p>
                      <a:r>
                        <a:rPr lang="en-US" sz="1800"/>
                        <a:t>50000</a:t>
                      </a:r>
                    </a:p>
                  </a:txBody>
                  <a:tcPr anchor="ctr"/>
                </a:tc>
                <a:tc>
                  <a:txBody>
                    <a:bodyPr/>
                    <a:lstStyle/>
                    <a:p>
                      <a:r>
                        <a:rPr lang="en-US" sz="1800" dirty="0"/>
                        <a:t>30000</a:t>
                      </a:r>
                    </a:p>
                  </a:txBody>
                  <a:tcPr anchor="ctr"/>
                </a:tc>
                <a:tc>
                  <a:txBody>
                    <a:bodyPr/>
                    <a:lstStyle/>
                    <a:p>
                      <a:r>
                        <a:rPr lang="en-US" sz="1800"/>
                        <a:t>0.40</a:t>
                      </a:r>
                    </a:p>
                  </a:txBody>
                  <a:tcPr anchor="ctr"/>
                </a:tc>
                <a:extLst>
                  <a:ext uri="{0D108BD9-81ED-4DB2-BD59-A6C34878D82A}">
                    <a16:rowId xmlns:a16="http://schemas.microsoft.com/office/drawing/2014/main" val="10001"/>
                  </a:ext>
                </a:extLst>
              </a:tr>
              <a:tr h="365760">
                <a:tc>
                  <a:txBody>
                    <a:bodyPr/>
                    <a:lstStyle/>
                    <a:p>
                      <a:r>
                        <a:rPr lang="en-US" sz="1800"/>
                        <a:t>70000</a:t>
                      </a:r>
                    </a:p>
                  </a:txBody>
                  <a:tcPr anchor="ctr"/>
                </a:tc>
                <a:tc>
                  <a:txBody>
                    <a:bodyPr/>
                    <a:lstStyle/>
                    <a:p>
                      <a:r>
                        <a:rPr lang="en-US" sz="1800"/>
                        <a:t>35000</a:t>
                      </a:r>
                    </a:p>
                  </a:txBody>
                  <a:tcPr anchor="ctr"/>
                </a:tc>
                <a:tc>
                  <a:txBody>
                    <a:bodyPr/>
                    <a:lstStyle/>
                    <a:p>
                      <a:r>
                        <a:rPr lang="en-US" sz="1800" dirty="0"/>
                        <a:t>0.50</a:t>
                      </a:r>
                    </a:p>
                  </a:txBody>
                  <a:tcPr anchor="ctr"/>
                </a:tc>
                <a:extLst>
                  <a:ext uri="{0D108BD9-81ED-4DB2-BD59-A6C34878D82A}">
                    <a16:rowId xmlns:a16="http://schemas.microsoft.com/office/drawing/2014/main" val="10002"/>
                  </a:ext>
                </a:extLst>
              </a:tr>
            </a:tbl>
          </a:graphicData>
        </a:graphic>
      </p:graphicFrame>
      <p:sp>
        <p:nvSpPr>
          <p:cNvPr id="7" name="Right Arrow 6"/>
          <p:cNvSpPr/>
          <p:nvPr/>
        </p:nvSpPr>
        <p:spPr>
          <a:xfrm>
            <a:off x="4163786" y="3878036"/>
            <a:ext cx="726621" cy="3837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52427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84ACD-3A40-FC30-EE11-B260CEDD0313}"/>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C39110F3-7639-6C37-63F7-8800E0227148}"/>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Transformation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6D772176-36C8-7798-3EFC-A90BCF1F45F1}"/>
              </a:ext>
            </a:extLst>
          </p:cNvPr>
          <p:cNvSpPr>
            <a:spLocks noGrp="1"/>
          </p:cNvSpPr>
          <p:nvPr>
            <p:ph idx="1"/>
          </p:nvPr>
        </p:nvSpPr>
        <p:spPr>
          <a:xfrm>
            <a:off x="1143001" y="1655763"/>
            <a:ext cx="7289800" cy="4440237"/>
          </a:xfrm>
        </p:spPr>
        <p:txBody>
          <a:bodyPr/>
          <a:lstStyle/>
          <a:p>
            <a:pPr marL="80963" lvl="1" indent="0" algn="just" eaLnBrk="1" hangingPunct="1">
              <a:buClr>
                <a:srgbClr val="0B5395"/>
              </a:buClr>
              <a:buNone/>
            </a:pPr>
            <a:r>
              <a:rPr lang="en-US" altLang="en-US" sz="2400" b="1" dirty="0">
                <a:latin typeface="Times New Roman" pitchFamily="18" charset="0"/>
                <a:cs typeface="Times New Roman" pitchFamily="18" charset="0"/>
              </a:rPr>
              <a:t>Feature Engineering: Another Example</a:t>
            </a:r>
          </a:p>
        </p:txBody>
      </p:sp>
      <p:sp>
        <p:nvSpPr>
          <p:cNvPr id="5124" name="Slide Number Placeholder 1">
            <a:extLst>
              <a:ext uri="{FF2B5EF4-FFF2-40B4-BE49-F238E27FC236}">
                <a16:creationId xmlns:a16="http://schemas.microsoft.com/office/drawing/2014/main" id="{04A99845-45C5-3370-A6F1-DA04DC49999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45</a:t>
            </a:fld>
            <a:endParaRPr lang="en-US" altLang="en-US"/>
          </a:p>
        </p:txBody>
      </p:sp>
      <p:graphicFrame>
        <p:nvGraphicFramePr>
          <p:cNvPr id="2" name="Table 1">
            <a:extLst>
              <a:ext uri="{FF2B5EF4-FFF2-40B4-BE49-F238E27FC236}">
                <a16:creationId xmlns:a16="http://schemas.microsoft.com/office/drawing/2014/main" id="{A8AB7754-B64D-F3AD-6C2B-A3BCA860A70C}"/>
              </a:ext>
            </a:extLst>
          </p:cNvPr>
          <p:cNvGraphicFramePr>
            <a:graphicFrameLocks noGrp="1"/>
          </p:cNvGraphicFramePr>
          <p:nvPr>
            <p:extLst>
              <p:ext uri="{D42A27DB-BD31-4B8C-83A1-F6EECF244321}">
                <p14:modId xmlns:p14="http://schemas.microsoft.com/office/powerpoint/2010/main" val="2249555311"/>
              </p:ext>
            </p:extLst>
          </p:nvPr>
        </p:nvGraphicFramePr>
        <p:xfrm>
          <a:off x="1254760" y="2946400"/>
          <a:ext cx="6402769" cy="2006600"/>
        </p:xfrm>
        <a:graphic>
          <a:graphicData uri="http://schemas.openxmlformats.org/drawingml/2006/table">
            <a:tbl>
              <a:tblPr>
                <a:tableStyleId>{D7AC3CCA-C797-4891-BE02-D94E43425B78}</a:tableStyleId>
              </a:tblPr>
              <a:tblGrid>
                <a:gridCol w="2198370">
                  <a:extLst>
                    <a:ext uri="{9D8B030D-6E8A-4147-A177-3AD203B41FA5}">
                      <a16:colId xmlns:a16="http://schemas.microsoft.com/office/drawing/2014/main" val="4063524626"/>
                    </a:ext>
                  </a:extLst>
                </a:gridCol>
                <a:gridCol w="4204399">
                  <a:extLst>
                    <a:ext uri="{9D8B030D-6E8A-4147-A177-3AD203B41FA5}">
                      <a16:colId xmlns:a16="http://schemas.microsoft.com/office/drawing/2014/main" val="3886049872"/>
                    </a:ext>
                  </a:extLst>
                </a:gridCol>
              </a:tblGrid>
              <a:tr h="0">
                <a:tc>
                  <a:txBody>
                    <a:bodyPr/>
                    <a:lstStyle/>
                    <a:p>
                      <a:pPr algn="ctr"/>
                      <a:r>
                        <a:rPr lang="en-GB" b="1">
                          <a:solidFill>
                            <a:srgbClr val="404040"/>
                          </a:solidFill>
                          <a:effectLst/>
                        </a:rPr>
                        <a:t>Original Features</a:t>
                      </a:r>
                    </a:p>
                  </a:txBody>
                  <a:tcPr marR="63500" marT="63500" marB="63500" anchor="ctr"/>
                </a:tc>
                <a:tc>
                  <a:txBody>
                    <a:bodyPr/>
                    <a:lstStyle/>
                    <a:p>
                      <a:pPr algn="ctr"/>
                      <a:r>
                        <a:rPr lang="en-GB" b="1" dirty="0">
                          <a:solidFill>
                            <a:srgbClr val="404040"/>
                          </a:solidFill>
                          <a:effectLst/>
                        </a:rPr>
                        <a:t>Engineered Features</a:t>
                      </a:r>
                    </a:p>
                  </a:txBody>
                  <a:tcPr marL="63500" marR="63500" marT="63500" marB="63500" anchor="ctr"/>
                </a:tc>
                <a:extLst>
                  <a:ext uri="{0D108BD9-81ED-4DB2-BD59-A6C34878D82A}">
                    <a16:rowId xmlns:a16="http://schemas.microsoft.com/office/drawing/2014/main" val="1368131035"/>
                  </a:ext>
                </a:extLst>
              </a:tr>
              <a:tr h="0">
                <a:tc>
                  <a:txBody>
                    <a:bodyPr/>
                    <a:lstStyle/>
                    <a:p>
                      <a:r>
                        <a:rPr lang="en-GB">
                          <a:effectLst/>
                        </a:rPr>
                        <a:t>area_sqft</a:t>
                      </a:r>
                    </a:p>
                  </a:txBody>
                  <a:tcPr marR="63500" marT="63500" marB="63500" anchor="ctr"/>
                </a:tc>
                <a:tc>
                  <a:txBody>
                    <a:bodyPr/>
                    <a:lstStyle/>
                    <a:p>
                      <a:r>
                        <a:rPr lang="en-GB">
                          <a:effectLst/>
                        </a:rPr>
                        <a:t>price_per_sqft</a:t>
                      </a:r>
                    </a:p>
                  </a:txBody>
                  <a:tcPr marL="63500" marR="63500" marT="63500" marB="63500" anchor="ctr"/>
                </a:tc>
                <a:extLst>
                  <a:ext uri="{0D108BD9-81ED-4DB2-BD59-A6C34878D82A}">
                    <a16:rowId xmlns:a16="http://schemas.microsoft.com/office/drawing/2014/main" val="4044859798"/>
                  </a:ext>
                </a:extLst>
              </a:tr>
              <a:tr h="0">
                <a:tc>
                  <a:txBody>
                    <a:bodyPr/>
                    <a:lstStyle/>
                    <a:p>
                      <a:r>
                        <a:rPr lang="en-GB">
                          <a:effectLst/>
                        </a:rPr>
                        <a:t>num_bedrooms</a:t>
                      </a:r>
                    </a:p>
                  </a:txBody>
                  <a:tcPr marR="63500" marT="63500" marB="63500" anchor="ctr"/>
                </a:tc>
                <a:tc>
                  <a:txBody>
                    <a:bodyPr/>
                    <a:lstStyle/>
                    <a:p>
                      <a:r>
                        <a:rPr lang="en-GB">
                          <a:effectLst/>
                        </a:rPr>
                        <a:t>bedrooms_squared</a:t>
                      </a:r>
                    </a:p>
                  </a:txBody>
                  <a:tcPr marL="63500" marR="63500" marT="63500" marB="63500" anchor="ctr"/>
                </a:tc>
                <a:extLst>
                  <a:ext uri="{0D108BD9-81ED-4DB2-BD59-A6C34878D82A}">
                    <a16:rowId xmlns:a16="http://schemas.microsoft.com/office/drawing/2014/main" val="1681169555"/>
                  </a:ext>
                </a:extLst>
              </a:tr>
              <a:tr h="0">
                <a:tc>
                  <a:txBody>
                    <a:bodyPr/>
                    <a:lstStyle/>
                    <a:p>
                      <a:r>
                        <a:rPr lang="en-GB">
                          <a:effectLst/>
                        </a:rPr>
                        <a:t>build_year</a:t>
                      </a:r>
                    </a:p>
                  </a:txBody>
                  <a:tcPr marR="63500" marT="63500" marB="63500" anchor="ctr"/>
                </a:tc>
                <a:tc>
                  <a:txBody>
                    <a:bodyPr/>
                    <a:lstStyle/>
                    <a:p>
                      <a:r>
                        <a:rPr lang="en-GB">
                          <a:effectLst/>
                        </a:rPr>
                        <a:t>age_group, house_age</a:t>
                      </a:r>
                    </a:p>
                  </a:txBody>
                  <a:tcPr marL="63500" marR="63500" marT="63500" marB="63500" anchor="ctr"/>
                </a:tc>
                <a:extLst>
                  <a:ext uri="{0D108BD9-81ED-4DB2-BD59-A6C34878D82A}">
                    <a16:rowId xmlns:a16="http://schemas.microsoft.com/office/drawing/2014/main" val="360480789"/>
                  </a:ext>
                </a:extLst>
              </a:tr>
              <a:tr h="0">
                <a:tc>
                  <a:txBody>
                    <a:bodyPr/>
                    <a:lstStyle/>
                    <a:p>
                      <a:r>
                        <a:rPr lang="en-GB">
                          <a:effectLst/>
                        </a:rPr>
                        <a:t>location</a:t>
                      </a:r>
                    </a:p>
                  </a:txBody>
                  <a:tcPr marR="63500" marT="63500" marB="63500" anchor="ctr"/>
                </a:tc>
                <a:tc>
                  <a:txBody>
                    <a:bodyPr/>
                    <a:lstStyle/>
                    <a:p>
                      <a:r>
                        <a:rPr lang="en-US" dirty="0" err="1">
                          <a:effectLst/>
                        </a:rPr>
                        <a:t>proximity_to_center</a:t>
                      </a:r>
                      <a:r>
                        <a:rPr lang="en-US" dirty="0">
                          <a:effectLst/>
                        </a:rPr>
                        <a:t>, </a:t>
                      </a:r>
                      <a:r>
                        <a:rPr lang="en-US" dirty="0" err="1">
                          <a:effectLst/>
                        </a:rPr>
                        <a:t>has_good_school</a:t>
                      </a:r>
                      <a:endParaRPr lang="en-US" dirty="0">
                        <a:effectLst/>
                      </a:endParaRPr>
                    </a:p>
                  </a:txBody>
                  <a:tcPr marL="63500" marR="63500" marT="63500" marB="63500" anchor="ctr"/>
                </a:tc>
                <a:extLst>
                  <a:ext uri="{0D108BD9-81ED-4DB2-BD59-A6C34878D82A}">
                    <a16:rowId xmlns:a16="http://schemas.microsoft.com/office/drawing/2014/main" val="3976296055"/>
                  </a:ext>
                </a:extLst>
              </a:tr>
            </a:tbl>
          </a:graphicData>
        </a:graphic>
      </p:graphicFrame>
    </p:spTree>
    <p:extLst>
      <p:ext uri="{BB962C8B-B14F-4D97-AF65-F5344CB8AC3E}">
        <p14:creationId xmlns:p14="http://schemas.microsoft.com/office/powerpoint/2010/main" val="15671684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7C83-949D-C2DD-64CA-3F882FC8C5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330A5C-A074-A157-7A77-8F75277DBF1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C997BAB8-D604-C90C-0AD1-D219551380BE}"/>
              </a:ext>
            </a:extLst>
          </p:cNvPr>
          <p:cNvSpPr>
            <a:spLocks noGrp="1"/>
          </p:cNvSpPr>
          <p:nvPr>
            <p:ph idx="1"/>
          </p:nvPr>
        </p:nvSpPr>
        <p:spPr>
          <a:xfrm>
            <a:off x="481694" y="1715636"/>
            <a:ext cx="7519306"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Feature Selection</a:t>
            </a:r>
          </a:p>
          <a:p>
            <a:pPr marL="80963" lvl="1" indent="0" algn="just" eaLnBrk="1" hangingPunct="1">
              <a:buClr>
                <a:srgbClr val="0B5395"/>
              </a:buClr>
              <a:buNone/>
            </a:pPr>
            <a:r>
              <a:rPr lang="en-US" altLang="en-US" dirty="0">
                <a:latin typeface="Times New Roman" pitchFamily="18" charset="0"/>
                <a:cs typeface="Times New Roman" pitchFamily="18" charset="0"/>
              </a:rPr>
              <a:t>Feature Selection is the process of selecting the most relevant features (variables) from a dataset and removing unnecessary ones.</a:t>
            </a:r>
          </a:p>
          <a:p>
            <a:pPr marL="80963" lvl="1" indent="0" algn="just" eaLnBrk="1" hangingPunct="1">
              <a:buClr>
                <a:srgbClr val="0B5395"/>
              </a:buClr>
              <a:buNone/>
            </a:pPr>
            <a:r>
              <a:rPr lang="en-US" altLang="en-US" b="1" dirty="0">
                <a:latin typeface="Times New Roman" pitchFamily="18" charset="0"/>
                <a:cs typeface="Times New Roman" pitchFamily="18" charset="0"/>
              </a:rPr>
              <a:t>Goal</a:t>
            </a:r>
          </a:p>
          <a:p>
            <a:pPr marL="423863" lvl="1" indent="-342900" algn="just" eaLnBrk="1" hangingPunct="1">
              <a:buClr>
                <a:srgbClr val="0B5395"/>
              </a:buClr>
            </a:pPr>
            <a:r>
              <a:rPr lang="en-US" altLang="en-US" dirty="0">
                <a:latin typeface="Times New Roman" pitchFamily="18" charset="0"/>
                <a:cs typeface="Times New Roman" pitchFamily="18" charset="0"/>
              </a:rPr>
              <a:t>Reduce dataset complexity</a:t>
            </a:r>
          </a:p>
          <a:p>
            <a:pPr marL="423863" lvl="1" indent="-342900" algn="just" eaLnBrk="1" hangingPunct="1">
              <a:buClr>
                <a:srgbClr val="0B5395"/>
              </a:buClr>
            </a:pPr>
            <a:r>
              <a:rPr lang="en-US" altLang="en-US" dirty="0">
                <a:latin typeface="Times New Roman" pitchFamily="18" charset="0"/>
                <a:cs typeface="Times New Roman" pitchFamily="18" charset="0"/>
              </a:rPr>
              <a:t>Improve model performance</a:t>
            </a:r>
          </a:p>
          <a:p>
            <a:pPr marL="423863" lvl="1" indent="-342900" algn="just" eaLnBrk="1" hangingPunct="1">
              <a:buClr>
                <a:srgbClr val="0B5395"/>
              </a:buClr>
            </a:pPr>
            <a:r>
              <a:rPr lang="en-US" altLang="en-US" dirty="0">
                <a:latin typeface="Times New Roman" pitchFamily="18" charset="0"/>
                <a:cs typeface="Times New Roman" pitchFamily="18" charset="0"/>
              </a:rPr>
              <a:t>Reduce training time</a:t>
            </a:r>
          </a:p>
          <a:p>
            <a:pPr marL="423863" lvl="1" indent="-342900" algn="just" eaLnBrk="1" hangingPunct="1">
              <a:buClr>
                <a:srgbClr val="0B5395"/>
              </a:buClr>
            </a:pPr>
            <a:r>
              <a:rPr lang="en-US" altLang="en-US" dirty="0">
                <a:latin typeface="Times New Roman" pitchFamily="18" charset="0"/>
                <a:cs typeface="Times New Roman" pitchFamily="18" charset="0"/>
              </a:rPr>
              <a:t>Improve interpretability</a:t>
            </a:r>
          </a:p>
        </p:txBody>
      </p:sp>
      <p:sp>
        <p:nvSpPr>
          <p:cNvPr id="5124" name="Slide Number Placeholder 1">
            <a:extLst>
              <a:ext uri="{FF2B5EF4-FFF2-40B4-BE49-F238E27FC236}">
                <a16:creationId xmlns:a16="http://schemas.microsoft.com/office/drawing/2014/main" id="{1054026A-9F12-BD80-C793-03F01AF532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46</a:t>
            </a:fld>
            <a:endParaRPr lang="en-US" altLang="en-US"/>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43158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7C83-949D-C2DD-64CA-3F882FC8C5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330A5C-A074-A157-7A77-8F75277DBF1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C997BAB8-D604-C90C-0AD1-D219551380BE}"/>
              </a:ext>
            </a:extLst>
          </p:cNvPr>
          <p:cNvSpPr>
            <a:spLocks noGrp="1"/>
          </p:cNvSpPr>
          <p:nvPr>
            <p:ph idx="1"/>
          </p:nvPr>
        </p:nvSpPr>
        <p:spPr>
          <a:xfrm>
            <a:off x="481694" y="1715636"/>
            <a:ext cx="7519306"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Feature Selection</a:t>
            </a:r>
          </a:p>
          <a:p>
            <a:pPr marL="80963" lvl="1" indent="0" algn="just" eaLnBrk="1" hangingPunct="1">
              <a:buClr>
                <a:srgbClr val="0B5395"/>
              </a:buClr>
              <a:buNone/>
            </a:pPr>
            <a:r>
              <a:rPr lang="en-US" altLang="en-US" dirty="0">
                <a:latin typeface="Times New Roman" pitchFamily="18" charset="0"/>
                <a:cs typeface="Times New Roman" pitchFamily="18" charset="0"/>
              </a:rPr>
              <a:t>Suppose we want to predict student performance.</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b="1" dirty="0">
                <a:latin typeface="Times New Roman" pitchFamily="18" charset="0"/>
                <a:cs typeface="Times New Roman" pitchFamily="18" charset="0"/>
              </a:rPr>
              <a:t>Do we need all variables?</a:t>
            </a:r>
          </a:p>
          <a:p>
            <a:pPr marL="80963" lvl="1" indent="0" algn="just" eaLnBrk="1" hangingPunct="1">
              <a:buClr>
                <a:srgbClr val="0B5395"/>
              </a:buClr>
              <a:buNone/>
            </a:pPr>
            <a:r>
              <a:rPr lang="en-US" altLang="en-US" dirty="0">
                <a:latin typeface="Times New Roman" pitchFamily="18" charset="0"/>
                <a:cs typeface="Times New Roman" pitchFamily="18" charset="0"/>
              </a:rPr>
              <a:t>Maybe: </a:t>
            </a:r>
          </a:p>
          <a:p>
            <a:pPr marL="80963" lvl="1" indent="0" algn="just" eaLnBrk="1" hangingPunct="1">
              <a:buClr>
                <a:srgbClr val="0B5395"/>
              </a:buClr>
              <a:buNone/>
            </a:pPr>
            <a:r>
              <a:rPr lang="en-US" altLang="en-US" dirty="0">
                <a:latin typeface="Times New Roman" pitchFamily="18" charset="0"/>
                <a:cs typeface="Times New Roman" pitchFamily="18" charset="0"/>
              </a:rPr>
              <a:t>Study Hours, Attendance are more useful than:</a:t>
            </a:r>
          </a:p>
          <a:p>
            <a:pPr marL="80963" lvl="1" indent="0" algn="just" eaLnBrk="1" hangingPunct="1">
              <a:buClr>
                <a:srgbClr val="0B5395"/>
              </a:buClr>
              <a:buNone/>
            </a:pPr>
            <a:r>
              <a:rPr lang="en-US" altLang="en-US" dirty="0">
                <a:latin typeface="Times New Roman" pitchFamily="18" charset="0"/>
                <a:cs typeface="Times New Roman" pitchFamily="18" charset="0"/>
              </a:rPr>
              <a:t>Height, Weight for predicting CGPA.</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r>
              <a:rPr lang="en-US" altLang="en-US" dirty="0">
                <a:latin typeface="Times New Roman" pitchFamily="18" charset="0"/>
                <a:cs typeface="Times New Roman" pitchFamily="18" charset="0"/>
              </a:rPr>
              <a:t>Feature Selection helps us identify and keep the important variables.</a:t>
            </a:r>
          </a:p>
        </p:txBody>
      </p:sp>
      <p:sp>
        <p:nvSpPr>
          <p:cNvPr id="5124" name="Slide Number Placeholder 1">
            <a:extLst>
              <a:ext uri="{FF2B5EF4-FFF2-40B4-BE49-F238E27FC236}">
                <a16:creationId xmlns:a16="http://schemas.microsoft.com/office/drawing/2014/main" id="{1054026A-9F12-BD80-C793-03F01AF532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47</a:t>
            </a:fld>
            <a:endParaRPr lang="en-US" altLang="en-US"/>
          </a:p>
        </p:txBody>
      </p:sp>
      <p:graphicFrame>
        <p:nvGraphicFramePr>
          <p:cNvPr id="2" name="Table 1"/>
          <p:cNvGraphicFramePr>
            <a:graphicFrameLocks noGrp="1"/>
          </p:cNvGraphicFramePr>
          <p:nvPr>
            <p:extLst>
              <p:ext uri="{D42A27DB-BD31-4B8C-83A1-F6EECF244321}">
                <p14:modId xmlns:p14="http://schemas.microsoft.com/office/powerpoint/2010/main" val="443657913"/>
              </p:ext>
            </p:extLst>
          </p:nvPr>
        </p:nvGraphicFramePr>
        <p:xfrm>
          <a:off x="653143" y="2535282"/>
          <a:ext cx="6422963" cy="731520"/>
        </p:xfrm>
        <a:graphic>
          <a:graphicData uri="http://schemas.openxmlformats.org/drawingml/2006/table">
            <a:tbl>
              <a:tblPr>
                <a:tableStyleId>{3C2FFA5D-87B4-456A-9821-1D502468CF0F}</a:tableStyleId>
              </a:tblPr>
              <a:tblGrid>
                <a:gridCol w="670433">
                  <a:extLst>
                    <a:ext uri="{9D8B030D-6E8A-4147-A177-3AD203B41FA5}">
                      <a16:colId xmlns:a16="http://schemas.microsoft.com/office/drawing/2014/main" val="20000"/>
                    </a:ext>
                  </a:extLst>
                </a:gridCol>
                <a:gridCol w="943293">
                  <a:extLst>
                    <a:ext uri="{9D8B030D-6E8A-4147-A177-3AD203B41FA5}">
                      <a16:colId xmlns:a16="http://schemas.microsoft.com/office/drawing/2014/main" val="20001"/>
                    </a:ext>
                  </a:extLst>
                </a:gridCol>
                <a:gridCol w="989457">
                  <a:extLst>
                    <a:ext uri="{9D8B030D-6E8A-4147-A177-3AD203B41FA5}">
                      <a16:colId xmlns:a16="http://schemas.microsoft.com/office/drawing/2014/main" val="20002"/>
                    </a:ext>
                  </a:extLst>
                </a:gridCol>
                <a:gridCol w="1502728">
                  <a:extLst>
                    <a:ext uri="{9D8B030D-6E8A-4147-A177-3AD203B41FA5}">
                      <a16:colId xmlns:a16="http://schemas.microsoft.com/office/drawing/2014/main" val="20003"/>
                    </a:ext>
                  </a:extLst>
                </a:gridCol>
                <a:gridCol w="1446530">
                  <a:extLst>
                    <a:ext uri="{9D8B030D-6E8A-4147-A177-3AD203B41FA5}">
                      <a16:colId xmlns:a16="http://schemas.microsoft.com/office/drawing/2014/main" val="20004"/>
                    </a:ext>
                  </a:extLst>
                </a:gridCol>
                <a:gridCol w="870522">
                  <a:extLst>
                    <a:ext uri="{9D8B030D-6E8A-4147-A177-3AD203B41FA5}">
                      <a16:colId xmlns:a16="http://schemas.microsoft.com/office/drawing/2014/main" val="20005"/>
                    </a:ext>
                  </a:extLst>
                </a:gridCol>
              </a:tblGrid>
              <a:tr h="365760">
                <a:tc>
                  <a:txBody>
                    <a:bodyPr/>
                    <a:lstStyle/>
                    <a:p>
                      <a:r>
                        <a:rPr lang="en-US" sz="1800"/>
                        <a:t>Age</a:t>
                      </a:r>
                    </a:p>
                  </a:txBody>
                  <a:tcPr anchor="ctr"/>
                </a:tc>
                <a:tc>
                  <a:txBody>
                    <a:bodyPr/>
                    <a:lstStyle/>
                    <a:p>
                      <a:r>
                        <a:rPr lang="en-US" sz="1800"/>
                        <a:t>Height</a:t>
                      </a:r>
                    </a:p>
                  </a:txBody>
                  <a:tcPr anchor="ctr"/>
                </a:tc>
                <a:tc>
                  <a:txBody>
                    <a:bodyPr/>
                    <a:lstStyle/>
                    <a:p>
                      <a:r>
                        <a:rPr lang="en-US" sz="1800"/>
                        <a:t>Weight</a:t>
                      </a:r>
                    </a:p>
                  </a:txBody>
                  <a:tcPr anchor="ctr"/>
                </a:tc>
                <a:tc>
                  <a:txBody>
                    <a:bodyPr/>
                    <a:lstStyle/>
                    <a:p>
                      <a:r>
                        <a:rPr lang="en-US" sz="1800"/>
                        <a:t>Study Hours</a:t>
                      </a:r>
                    </a:p>
                  </a:txBody>
                  <a:tcPr anchor="ctr"/>
                </a:tc>
                <a:tc>
                  <a:txBody>
                    <a:bodyPr/>
                    <a:lstStyle/>
                    <a:p>
                      <a:r>
                        <a:rPr lang="en-US" sz="1800"/>
                        <a:t>Attendance</a:t>
                      </a:r>
                    </a:p>
                  </a:txBody>
                  <a:tcPr anchor="ctr"/>
                </a:tc>
                <a:tc>
                  <a:txBody>
                    <a:bodyPr/>
                    <a:lstStyle/>
                    <a:p>
                      <a:r>
                        <a:rPr lang="en-US" sz="1800"/>
                        <a:t>CGPA</a:t>
                      </a:r>
                    </a:p>
                  </a:txBody>
                  <a:tcPr anchor="ctr"/>
                </a:tc>
                <a:extLst>
                  <a:ext uri="{0D108BD9-81ED-4DB2-BD59-A6C34878D82A}">
                    <a16:rowId xmlns:a16="http://schemas.microsoft.com/office/drawing/2014/main" val="10000"/>
                  </a:ext>
                </a:extLst>
              </a:tr>
              <a:tr h="365760">
                <a:tc>
                  <a:txBody>
                    <a:bodyPr/>
                    <a:lstStyle/>
                    <a:p>
                      <a:r>
                        <a:rPr lang="en-US" sz="1800"/>
                        <a:t>20</a:t>
                      </a:r>
                    </a:p>
                  </a:txBody>
                  <a:tcPr anchor="ctr"/>
                </a:tc>
                <a:tc>
                  <a:txBody>
                    <a:bodyPr/>
                    <a:lstStyle/>
                    <a:p>
                      <a:r>
                        <a:rPr lang="en-US" sz="1800"/>
                        <a:t>170</a:t>
                      </a:r>
                    </a:p>
                  </a:txBody>
                  <a:tcPr anchor="ctr"/>
                </a:tc>
                <a:tc>
                  <a:txBody>
                    <a:bodyPr/>
                    <a:lstStyle/>
                    <a:p>
                      <a:r>
                        <a:rPr lang="en-US" sz="1800"/>
                        <a:t>65</a:t>
                      </a:r>
                    </a:p>
                  </a:txBody>
                  <a:tcPr anchor="ctr"/>
                </a:tc>
                <a:tc>
                  <a:txBody>
                    <a:bodyPr/>
                    <a:lstStyle/>
                    <a:p>
                      <a:r>
                        <a:rPr lang="en-US" sz="1800"/>
                        <a:t>15</a:t>
                      </a:r>
                    </a:p>
                  </a:txBody>
                  <a:tcPr anchor="ctr"/>
                </a:tc>
                <a:tc>
                  <a:txBody>
                    <a:bodyPr/>
                    <a:lstStyle/>
                    <a:p>
                      <a:r>
                        <a:rPr lang="en-US" sz="1800"/>
                        <a:t>85</a:t>
                      </a:r>
                    </a:p>
                  </a:txBody>
                  <a:tcPr anchor="ctr"/>
                </a:tc>
                <a:tc>
                  <a:txBody>
                    <a:bodyPr/>
                    <a:lstStyle/>
                    <a:p>
                      <a:r>
                        <a:rPr lang="en-US" sz="1800" dirty="0"/>
                        <a:t>3.5</a:t>
                      </a:r>
                    </a:p>
                  </a:txBody>
                  <a:tcPr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415643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7C83-949D-C2DD-64CA-3F882FC8C5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330A5C-A074-A157-7A77-8F75277DBF1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C997BAB8-D604-C90C-0AD1-D219551380BE}"/>
              </a:ext>
            </a:extLst>
          </p:cNvPr>
          <p:cNvSpPr>
            <a:spLocks noGrp="1"/>
          </p:cNvSpPr>
          <p:nvPr>
            <p:ph idx="1"/>
          </p:nvPr>
        </p:nvSpPr>
        <p:spPr>
          <a:xfrm>
            <a:off x="481694" y="1715636"/>
            <a:ext cx="7519306"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Feature Selection vs. Feature Engineering</a:t>
            </a:r>
          </a:p>
          <a:p>
            <a:pPr marL="80963" lvl="1" indent="0" algn="just" eaLnBrk="1" hangingPunct="1">
              <a:buClr>
                <a:srgbClr val="0B5395"/>
              </a:buClr>
              <a:buNone/>
            </a:pPr>
            <a:endParaRPr lang="en-US" altLang="en-US" b="1" dirty="0">
              <a:latin typeface="Times New Roman" pitchFamily="18" charset="0"/>
              <a:cs typeface="Times New Roman" pitchFamily="18" charset="0"/>
            </a:endParaRPr>
          </a:p>
          <a:p>
            <a:pPr marL="80963" lvl="1" indent="0" algn="just" eaLnBrk="1" hangingPunct="1">
              <a:buClr>
                <a:srgbClr val="0B5395"/>
              </a:buClr>
              <a:buNone/>
            </a:pPr>
            <a:endParaRPr lang="en-US" altLang="en-US" b="1" dirty="0">
              <a:latin typeface="Times New Roman" pitchFamily="18" charset="0"/>
              <a:cs typeface="Times New Roman" pitchFamily="18" charset="0"/>
            </a:endParaRPr>
          </a:p>
          <a:p>
            <a:pPr marL="80963" lvl="1" indent="0" algn="just" eaLnBrk="1" hangingPunct="1">
              <a:buClr>
                <a:srgbClr val="0B5395"/>
              </a:buClr>
              <a:buNone/>
            </a:pPr>
            <a:endParaRPr lang="en-US" altLang="en-US" b="1" dirty="0">
              <a:latin typeface="Times New Roman" pitchFamily="18" charset="0"/>
              <a:cs typeface="Times New Roman" pitchFamily="18" charset="0"/>
            </a:endParaRPr>
          </a:p>
          <a:p>
            <a:pPr marL="80963" lvl="1" indent="0" algn="just" eaLnBrk="1" hangingPunct="1">
              <a:buClr>
                <a:srgbClr val="0B5395"/>
              </a:buClr>
              <a:buNone/>
            </a:pPr>
            <a:endParaRPr lang="en-US" altLang="en-US" b="1" dirty="0">
              <a:latin typeface="Times New Roman" pitchFamily="18" charset="0"/>
              <a:cs typeface="Times New Roman" pitchFamily="18" charset="0"/>
            </a:endParaRPr>
          </a:p>
          <a:p>
            <a:pPr marL="80963" lvl="1" indent="0" algn="just" eaLnBrk="1" hangingPunct="1">
              <a:buClr>
                <a:srgbClr val="0B5395"/>
              </a:buClr>
              <a:buNone/>
            </a:pPr>
            <a:endParaRPr lang="en-US" altLang="en-US" b="1" dirty="0">
              <a:latin typeface="Times New Roman" pitchFamily="18" charset="0"/>
              <a:cs typeface="Times New Roman" pitchFamily="18" charset="0"/>
            </a:endParaRPr>
          </a:p>
          <a:p>
            <a:pPr marL="80963" lvl="1" indent="0" algn="just" eaLnBrk="1" hangingPunct="1">
              <a:buClr>
                <a:srgbClr val="0B5395"/>
              </a:buClr>
              <a:buNone/>
            </a:pPr>
            <a:r>
              <a:rPr lang="en-US" altLang="en-US" b="1" dirty="0">
                <a:latin typeface="Times New Roman" pitchFamily="18" charset="0"/>
                <a:cs typeface="Times New Roman" pitchFamily="18" charset="0"/>
              </a:rPr>
              <a:t>How Do We Select Features?</a:t>
            </a:r>
          </a:p>
          <a:p>
            <a:pPr marL="46037" indent="0">
              <a:buNone/>
            </a:pPr>
            <a:r>
              <a:rPr lang="en-US" sz="2000" b="1" dirty="0">
                <a:latin typeface="Times New Roman" pitchFamily="18" charset="0"/>
                <a:cs typeface="Times New Roman" pitchFamily="18" charset="0"/>
              </a:rPr>
              <a:t>Method 1: Domain Knowledge</a:t>
            </a:r>
          </a:p>
          <a:p>
            <a:pPr marL="46037" indent="0">
              <a:buNone/>
            </a:pPr>
            <a:r>
              <a:rPr lang="en-US" sz="2000" dirty="0">
                <a:latin typeface="Times New Roman" pitchFamily="18" charset="0"/>
                <a:cs typeface="Times New Roman" pitchFamily="18" charset="0"/>
              </a:rPr>
              <a:t>Example: To predict CGPA:</a:t>
            </a:r>
          </a:p>
          <a:p>
            <a:pPr marL="46037" indent="0">
              <a:buNone/>
            </a:pPr>
            <a:r>
              <a:rPr lang="en-US" sz="2000" dirty="0">
                <a:solidFill>
                  <a:srgbClr val="00B050"/>
                </a:solidFill>
                <a:latin typeface="Times New Roman" pitchFamily="18" charset="0"/>
                <a:cs typeface="Times New Roman" pitchFamily="18" charset="0"/>
              </a:rPr>
              <a:t>✔</a:t>
            </a:r>
            <a:r>
              <a:rPr lang="en-US" sz="2000" dirty="0">
                <a:latin typeface="Times New Roman" pitchFamily="18" charset="0"/>
                <a:cs typeface="Times New Roman" pitchFamily="18" charset="0"/>
              </a:rPr>
              <a:t> Study Hours	</a:t>
            </a:r>
            <a:r>
              <a:rPr lang="en-US" sz="2000" dirty="0">
                <a:solidFill>
                  <a:srgbClr val="00B050"/>
                </a:solidFill>
                <a:latin typeface="Times New Roman" pitchFamily="18" charset="0"/>
                <a:cs typeface="Times New Roman" pitchFamily="18" charset="0"/>
              </a:rPr>
              <a:t>✔</a:t>
            </a:r>
            <a:r>
              <a:rPr lang="en-US" sz="2000" dirty="0">
                <a:latin typeface="Times New Roman" pitchFamily="18" charset="0"/>
                <a:cs typeface="Times New Roman" pitchFamily="18" charset="0"/>
              </a:rPr>
              <a:t> Attendance	</a:t>
            </a:r>
            <a:r>
              <a:rPr lang="en-US" sz="2000" dirty="0">
                <a:solidFill>
                  <a:srgbClr val="FF0000"/>
                </a:solidFill>
                <a:latin typeface="Times New Roman" pitchFamily="18" charset="0"/>
                <a:cs typeface="Times New Roman" pitchFamily="18" charset="0"/>
              </a:rPr>
              <a:t>✖</a:t>
            </a:r>
            <a:r>
              <a:rPr lang="en-US" sz="2000" dirty="0">
                <a:latin typeface="Times New Roman" pitchFamily="18" charset="0"/>
                <a:cs typeface="Times New Roman" pitchFamily="18" charset="0"/>
              </a:rPr>
              <a:t> Favorite Color</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p:txBody>
      </p:sp>
      <p:sp>
        <p:nvSpPr>
          <p:cNvPr id="5124" name="Slide Number Placeholder 1">
            <a:extLst>
              <a:ext uri="{FF2B5EF4-FFF2-40B4-BE49-F238E27FC236}">
                <a16:creationId xmlns:a16="http://schemas.microsoft.com/office/drawing/2014/main" id="{1054026A-9F12-BD80-C793-03F01AF532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48</a:t>
            </a:fld>
            <a:endParaRPr lang="en-US" altLang="en-US"/>
          </a:p>
        </p:txBody>
      </p:sp>
      <p:graphicFrame>
        <p:nvGraphicFramePr>
          <p:cNvPr id="3" name="Table 2"/>
          <p:cNvGraphicFramePr>
            <a:graphicFrameLocks noGrp="1"/>
          </p:cNvGraphicFramePr>
          <p:nvPr>
            <p:extLst>
              <p:ext uri="{D42A27DB-BD31-4B8C-83A1-F6EECF244321}">
                <p14:modId xmlns:p14="http://schemas.microsoft.com/office/powerpoint/2010/main" val="1446561736"/>
              </p:ext>
            </p:extLst>
          </p:nvPr>
        </p:nvGraphicFramePr>
        <p:xfrm>
          <a:off x="653143" y="2185851"/>
          <a:ext cx="6168454" cy="1463040"/>
        </p:xfrm>
        <a:graphic>
          <a:graphicData uri="http://schemas.openxmlformats.org/drawingml/2006/table">
            <a:tbl>
              <a:tblPr>
                <a:tableStyleId>{3C2FFA5D-87B4-456A-9821-1D502468CF0F}</a:tableStyleId>
              </a:tblPr>
              <a:tblGrid>
                <a:gridCol w="3391789">
                  <a:extLst>
                    <a:ext uri="{9D8B030D-6E8A-4147-A177-3AD203B41FA5}">
                      <a16:colId xmlns:a16="http://schemas.microsoft.com/office/drawing/2014/main" val="20000"/>
                    </a:ext>
                  </a:extLst>
                </a:gridCol>
                <a:gridCol w="2776665">
                  <a:extLst>
                    <a:ext uri="{9D8B030D-6E8A-4147-A177-3AD203B41FA5}">
                      <a16:colId xmlns:a16="http://schemas.microsoft.com/office/drawing/2014/main" val="20001"/>
                    </a:ext>
                  </a:extLst>
                </a:gridCol>
              </a:tblGrid>
              <a:tr h="365760">
                <a:tc>
                  <a:txBody>
                    <a:bodyPr/>
                    <a:lstStyle/>
                    <a:p>
                      <a:r>
                        <a:rPr lang="en-US" sz="1800" b="1" dirty="0">
                          <a:latin typeface="Times New Roman" pitchFamily="18" charset="0"/>
                          <a:cs typeface="Times New Roman" pitchFamily="18" charset="0"/>
                        </a:rPr>
                        <a:t>Feature Engineering</a:t>
                      </a:r>
                    </a:p>
                  </a:txBody>
                  <a:tcPr anchor="ctr"/>
                </a:tc>
                <a:tc>
                  <a:txBody>
                    <a:bodyPr/>
                    <a:lstStyle/>
                    <a:p>
                      <a:r>
                        <a:rPr lang="en-US" sz="1800" b="1" dirty="0">
                          <a:latin typeface="Times New Roman" pitchFamily="18" charset="0"/>
                          <a:cs typeface="Times New Roman" pitchFamily="18" charset="0"/>
                        </a:rPr>
                        <a:t>Feature Selection</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Creates new features</a:t>
                      </a:r>
                    </a:p>
                  </a:txBody>
                  <a:tcPr anchor="ctr"/>
                </a:tc>
                <a:tc>
                  <a:txBody>
                    <a:bodyPr/>
                    <a:lstStyle/>
                    <a:p>
                      <a:r>
                        <a:rPr lang="en-US" sz="1800">
                          <a:latin typeface="Times New Roman" pitchFamily="18" charset="0"/>
                          <a:cs typeface="Times New Roman" pitchFamily="18" charset="0"/>
                        </a:rPr>
                        <a:t>Chooses existing features</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Adds variables</a:t>
                      </a:r>
                    </a:p>
                  </a:txBody>
                  <a:tcPr anchor="ctr"/>
                </a:tc>
                <a:tc>
                  <a:txBody>
                    <a:bodyPr/>
                    <a:lstStyle/>
                    <a:p>
                      <a:r>
                        <a:rPr lang="en-US" sz="1800">
                          <a:latin typeface="Times New Roman" pitchFamily="18" charset="0"/>
                          <a:cs typeface="Times New Roman" pitchFamily="18" charset="0"/>
                        </a:rPr>
                        <a:t>Removes variables</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Example: Total = Midterm + Final</a:t>
                      </a:r>
                    </a:p>
                  </a:txBody>
                  <a:tcPr anchor="ctr"/>
                </a:tc>
                <a:tc>
                  <a:txBody>
                    <a:bodyPr/>
                    <a:lstStyle/>
                    <a:p>
                      <a:r>
                        <a:rPr lang="en-US" sz="1800" dirty="0">
                          <a:latin typeface="Times New Roman" pitchFamily="18" charset="0"/>
                          <a:cs typeface="Times New Roman" pitchFamily="18" charset="0"/>
                        </a:rPr>
                        <a:t>Remove Height and Weight</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18342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7C83-949D-C2DD-64CA-3F882FC8C5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330A5C-A074-A157-7A77-8F75277DBF1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C997BAB8-D604-C90C-0AD1-D219551380BE}"/>
              </a:ext>
            </a:extLst>
          </p:cNvPr>
          <p:cNvSpPr>
            <a:spLocks noGrp="1"/>
          </p:cNvSpPr>
          <p:nvPr>
            <p:ph idx="1"/>
          </p:nvPr>
        </p:nvSpPr>
        <p:spPr>
          <a:xfrm>
            <a:off x="481694" y="1715636"/>
            <a:ext cx="7519306" cy="4440237"/>
          </a:xfrm>
        </p:spPr>
        <p:txBody>
          <a:bodyPr/>
          <a:lstStyle/>
          <a:p>
            <a:pPr marL="46037" lvl="1" indent="0">
              <a:spcBef>
                <a:spcPts val="1400"/>
              </a:spcBef>
              <a:spcAft>
                <a:spcPct val="0"/>
              </a:spcAft>
              <a:buNone/>
            </a:pPr>
            <a:r>
              <a:rPr lang="en-US" altLang="en-US" b="1" dirty="0">
                <a:latin typeface="Times New Roman" pitchFamily="18" charset="0"/>
                <a:cs typeface="Times New Roman" pitchFamily="18" charset="0"/>
              </a:rPr>
              <a:t>How Do We Select Features?</a:t>
            </a:r>
          </a:p>
          <a:p>
            <a:pPr marL="46037" indent="0">
              <a:buNone/>
            </a:pPr>
            <a:r>
              <a:rPr lang="en-US" sz="2000" b="1" dirty="0">
                <a:latin typeface="Times New Roman" pitchFamily="18" charset="0"/>
                <a:cs typeface="Times New Roman" pitchFamily="18" charset="0"/>
              </a:rPr>
              <a:t>Method 2: Correlation Analysis</a:t>
            </a:r>
          </a:p>
          <a:p>
            <a:pPr marL="46037" indent="0">
              <a:buNone/>
            </a:pPr>
            <a:r>
              <a:rPr lang="en-US" sz="2000" dirty="0">
                <a:latin typeface="Times New Roman" pitchFamily="18" charset="0"/>
                <a:cs typeface="Times New Roman" pitchFamily="18" charset="0"/>
              </a:rPr>
              <a:t>Compute correlation with the target variable.</a:t>
            </a:r>
          </a:p>
          <a:p>
            <a:pPr marL="46037" indent="0">
              <a:buNone/>
            </a:pPr>
            <a:endParaRPr lang="en-US" sz="2000" dirty="0">
              <a:latin typeface="Times New Roman" pitchFamily="18" charset="0"/>
              <a:cs typeface="Times New Roman" pitchFamily="18" charset="0"/>
            </a:endParaRPr>
          </a:p>
          <a:p>
            <a:pPr marL="46037" indent="0">
              <a:buNone/>
            </a:pPr>
            <a:endParaRPr lang="en-US" sz="2000" dirty="0">
              <a:latin typeface="Times New Roman" pitchFamily="18" charset="0"/>
              <a:cs typeface="Times New Roman" pitchFamily="18" charset="0"/>
            </a:endParaRPr>
          </a:p>
          <a:p>
            <a:pPr marL="46037" indent="0">
              <a:buNone/>
            </a:pPr>
            <a:endParaRPr lang="en-US" sz="2000" dirty="0">
              <a:latin typeface="Times New Roman" pitchFamily="18" charset="0"/>
              <a:cs typeface="Times New Roman" pitchFamily="18" charset="0"/>
            </a:endParaRPr>
          </a:p>
          <a:p>
            <a:pPr marL="46037" indent="0">
              <a:buNone/>
            </a:pPr>
            <a:endParaRPr lang="en-US" sz="2000" dirty="0">
              <a:latin typeface="Times New Roman" pitchFamily="18" charset="0"/>
              <a:cs typeface="Times New Roman" pitchFamily="18" charset="0"/>
            </a:endParaRPr>
          </a:p>
          <a:p>
            <a:pPr marL="46037" indent="0">
              <a:buNone/>
            </a:pPr>
            <a:endParaRPr lang="en-US" sz="2000" dirty="0">
              <a:latin typeface="Times New Roman" pitchFamily="18" charset="0"/>
              <a:cs typeface="Times New Roman" pitchFamily="18" charset="0"/>
            </a:endParaRPr>
          </a:p>
          <a:p>
            <a:pPr marL="46037" indent="0">
              <a:buNone/>
            </a:pPr>
            <a:r>
              <a:rPr lang="en-US" sz="2000" dirty="0">
                <a:latin typeface="Times New Roman" pitchFamily="18" charset="0"/>
                <a:cs typeface="Times New Roman" pitchFamily="18" charset="0"/>
              </a:rPr>
              <a:t>Conclusion: Height may be removed.</a:t>
            </a:r>
          </a:p>
          <a:p>
            <a:pPr marL="80963" lvl="1" indent="0" algn="just" eaLnBrk="1" hangingPunct="1">
              <a:buClr>
                <a:srgbClr val="0B5395"/>
              </a:buClr>
              <a:buNone/>
            </a:pPr>
            <a:endParaRPr lang="en-US" altLang="en-US" b="1" dirty="0">
              <a:latin typeface="Times New Roman" pitchFamily="18" charset="0"/>
              <a:cs typeface="Times New Roman" pitchFamily="18" charset="0"/>
            </a:endParaRPr>
          </a:p>
          <a:p>
            <a:pPr marL="80963" lvl="1" indent="0" algn="just" eaLnBrk="1" hangingPunct="1">
              <a:buClr>
                <a:srgbClr val="0B5395"/>
              </a:buClr>
              <a:buNone/>
            </a:pPr>
            <a:endParaRPr lang="en-US" altLang="en-US" b="1"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p:txBody>
      </p:sp>
      <p:sp>
        <p:nvSpPr>
          <p:cNvPr id="5124" name="Slide Number Placeholder 1">
            <a:extLst>
              <a:ext uri="{FF2B5EF4-FFF2-40B4-BE49-F238E27FC236}">
                <a16:creationId xmlns:a16="http://schemas.microsoft.com/office/drawing/2014/main" id="{1054026A-9F12-BD80-C793-03F01AF532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49</a:t>
            </a:fld>
            <a:endParaRPr lang="en-US" altLang="en-US"/>
          </a:p>
        </p:txBody>
      </p:sp>
      <p:graphicFrame>
        <p:nvGraphicFramePr>
          <p:cNvPr id="7" name="Table 6"/>
          <p:cNvGraphicFramePr>
            <a:graphicFrameLocks noGrp="1"/>
          </p:cNvGraphicFramePr>
          <p:nvPr>
            <p:extLst>
              <p:ext uri="{D42A27DB-BD31-4B8C-83A1-F6EECF244321}">
                <p14:modId xmlns:p14="http://schemas.microsoft.com/office/powerpoint/2010/main" val="3025998159"/>
              </p:ext>
            </p:extLst>
          </p:nvPr>
        </p:nvGraphicFramePr>
        <p:xfrm>
          <a:off x="1143000" y="3345180"/>
          <a:ext cx="4316794" cy="1463040"/>
        </p:xfrm>
        <a:graphic>
          <a:graphicData uri="http://schemas.openxmlformats.org/drawingml/2006/table">
            <a:tbl>
              <a:tblPr>
                <a:tableStyleId>{3C2FFA5D-87B4-456A-9821-1D502468CF0F}</a:tableStyleId>
              </a:tblPr>
              <a:tblGrid>
                <a:gridCol w="1502728">
                  <a:extLst>
                    <a:ext uri="{9D8B030D-6E8A-4147-A177-3AD203B41FA5}">
                      <a16:colId xmlns:a16="http://schemas.microsoft.com/office/drawing/2014/main" val="20000"/>
                    </a:ext>
                  </a:extLst>
                </a:gridCol>
                <a:gridCol w="2814066">
                  <a:extLst>
                    <a:ext uri="{9D8B030D-6E8A-4147-A177-3AD203B41FA5}">
                      <a16:colId xmlns:a16="http://schemas.microsoft.com/office/drawing/2014/main" val="20001"/>
                    </a:ext>
                  </a:extLst>
                </a:gridCol>
              </a:tblGrid>
              <a:tr h="365760">
                <a:tc>
                  <a:txBody>
                    <a:bodyPr/>
                    <a:lstStyle/>
                    <a:p>
                      <a:r>
                        <a:rPr lang="en-US" sz="1800" b="1" dirty="0">
                          <a:latin typeface="Times New Roman" pitchFamily="18" charset="0"/>
                          <a:cs typeface="Times New Roman" pitchFamily="18" charset="0"/>
                        </a:rPr>
                        <a:t>Feature</a:t>
                      </a:r>
                    </a:p>
                  </a:txBody>
                  <a:tcPr anchor="ctr"/>
                </a:tc>
                <a:tc>
                  <a:txBody>
                    <a:bodyPr/>
                    <a:lstStyle/>
                    <a:p>
                      <a:r>
                        <a:rPr lang="en-US" sz="1800" b="1" dirty="0">
                          <a:latin typeface="Times New Roman" pitchFamily="18" charset="0"/>
                          <a:cs typeface="Times New Roman" pitchFamily="18" charset="0"/>
                        </a:rPr>
                        <a:t>Correlation with CGPA</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Study Hours</a:t>
                      </a:r>
                    </a:p>
                  </a:txBody>
                  <a:tcPr anchor="ctr"/>
                </a:tc>
                <a:tc>
                  <a:txBody>
                    <a:bodyPr/>
                    <a:lstStyle/>
                    <a:p>
                      <a:r>
                        <a:rPr lang="en-US" sz="1800">
                          <a:latin typeface="Times New Roman" pitchFamily="18" charset="0"/>
                          <a:cs typeface="Times New Roman" pitchFamily="18" charset="0"/>
                        </a:rPr>
                        <a:t>0.82</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Attendance</a:t>
                      </a:r>
                    </a:p>
                  </a:txBody>
                  <a:tcPr anchor="ctr"/>
                </a:tc>
                <a:tc>
                  <a:txBody>
                    <a:bodyPr/>
                    <a:lstStyle/>
                    <a:p>
                      <a:r>
                        <a:rPr lang="en-US" sz="1800">
                          <a:latin typeface="Times New Roman" pitchFamily="18" charset="0"/>
                          <a:cs typeface="Times New Roman" pitchFamily="18" charset="0"/>
                        </a:rPr>
                        <a:t>0.74</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Height</a:t>
                      </a:r>
                    </a:p>
                  </a:txBody>
                  <a:tcPr anchor="ctr"/>
                </a:tc>
                <a:tc>
                  <a:txBody>
                    <a:bodyPr/>
                    <a:lstStyle/>
                    <a:p>
                      <a:r>
                        <a:rPr lang="en-US" sz="1800" dirty="0">
                          <a:latin typeface="Times New Roman" pitchFamily="18" charset="0"/>
                          <a:cs typeface="Times New Roman" pitchFamily="18" charset="0"/>
                        </a:rPr>
                        <a:t>0.05</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1946019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7C83-949D-C2DD-64CA-3F882FC8C5C9}"/>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39330A5C-A074-A157-7A77-8F75277DBF16}"/>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C997BAB8-D604-C90C-0AD1-D219551380BE}"/>
              </a:ext>
            </a:extLst>
          </p:cNvPr>
          <p:cNvSpPr>
            <a:spLocks noGrp="1"/>
          </p:cNvSpPr>
          <p:nvPr>
            <p:ph idx="1"/>
          </p:nvPr>
        </p:nvSpPr>
        <p:spPr>
          <a:xfrm>
            <a:off x="481694" y="1715636"/>
            <a:ext cx="7519306" cy="4440237"/>
          </a:xfrm>
        </p:spPr>
        <p:txBody>
          <a:bodyPr/>
          <a:lstStyle/>
          <a:p>
            <a:pPr marL="46037" lvl="1" indent="0">
              <a:spcBef>
                <a:spcPts val="1400"/>
              </a:spcBef>
              <a:spcAft>
                <a:spcPct val="0"/>
              </a:spcAft>
              <a:buNone/>
            </a:pPr>
            <a:r>
              <a:rPr lang="en-US" altLang="en-US" b="1" dirty="0">
                <a:latin typeface="Times New Roman" pitchFamily="18" charset="0"/>
                <a:cs typeface="Times New Roman" pitchFamily="18" charset="0"/>
              </a:rPr>
              <a:t>How Do We Select Features?</a:t>
            </a:r>
          </a:p>
          <a:p>
            <a:pPr marL="46037" indent="0">
              <a:buNone/>
            </a:pPr>
            <a:r>
              <a:rPr lang="en-US" sz="2000" b="1" dirty="0">
                <a:latin typeface="Times New Roman" pitchFamily="18" charset="0"/>
                <a:cs typeface="Times New Roman" pitchFamily="18" charset="0"/>
              </a:rPr>
              <a:t>Method 3: Variance Threshold</a:t>
            </a:r>
          </a:p>
          <a:p>
            <a:pPr marL="46037" indent="0">
              <a:buNone/>
            </a:pPr>
            <a:r>
              <a:rPr lang="en-US" sz="2000" dirty="0">
                <a:latin typeface="Times New Roman" pitchFamily="18" charset="0"/>
                <a:cs typeface="Times New Roman" pitchFamily="18" charset="0"/>
              </a:rPr>
              <a:t>Remove features with almost no variation.</a:t>
            </a:r>
          </a:p>
          <a:p>
            <a:pPr marL="46037" indent="0">
              <a:buNone/>
            </a:pPr>
            <a:endParaRPr lang="en-US" sz="2000" dirty="0">
              <a:latin typeface="Times New Roman" pitchFamily="18" charset="0"/>
              <a:cs typeface="Times New Roman" pitchFamily="18" charset="0"/>
            </a:endParaRPr>
          </a:p>
          <a:p>
            <a:pPr marL="46037" indent="0">
              <a:buNone/>
            </a:pPr>
            <a:endParaRPr lang="en-US" sz="2000" dirty="0">
              <a:latin typeface="Times New Roman" pitchFamily="18" charset="0"/>
              <a:cs typeface="Times New Roman" pitchFamily="18" charset="0"/>
            </a:endParaRPr>
          </a:p>
          <a:p>
            <a:pPr marL="46037" indent="0">
              <a:buNone/>
            </a:pPr>
            <a:endParaRPr lang="en-US" sz="2000" dirty="0">
              <a:latin typeface="Times New Roman" pitchFamily="18" charset="0"/>
              <a:cs typeface="Times New Roman" pitchFamily="18" charset="0"/>
            </a:endParaRPr>
          </a:p>
          <a:p>
            <a:pPr marL="46037" indent="0">
              <a:buNone/>
            </a:pPr>
            <a:endParaRPr lang="en-US" sz="2000" dirty="0">
              <a:latin typeface="Times New Roman" pitchFamily="18" charset="0"/>
              <a:cs typeface="Times New Roman" pitchFamily="18" charset="0"/>
            </a:endParaRPr>
          </a:p>
          <a:p>
            <a:pPr marL="46037" indent="0">
              <a:buNone/>
            </a:pPr>
            <a:r>
              <a:rPr lang="en-US" sz="2000" dirty="0">
                <a:latin typeface="Times New Roman" pitchFamily="18" charset="0"/>
                <a:cs typeface="Times New Roman" pitchFamily="18" charset="0"/>
              </a:rPr>
              <a:t>This variable contains little information.</a:t>
            </a:r>
          </a:p>
          <a:p>
            <a:pPr marL="80963" lvl="1" indent="0" algn="just" eaLnBrk="1" hangingPunct="1">
              <a:buClr>
                <a:srgbClr val="0B5395"/>
              </a:buClr>
              <a:buNone/>
            </a:pPr>
            <a:endParaRPr lang="en-US" altLang="en-US" b="1" dirty="0">
              <a:latin typeface="Times New Roman" pitchFamily="18" charset="0"/>
              <a:cs typeface="Times New Roman" pitchFamily="18" charset="0"/>
            </a:endParaRPr>
          </a:p>
          <a:p>
            <a:pPr marL="80963" lvl="1" indent="0" algn="just" eaLnBrk="1" hangingPunct="1">
              <a:buClr>
                <a:srgbClr val="0B5395"/>
              </a:buClr>
              <a:buNone/>
            </a:pPr>
            <a:endParaRPr lang="en-US" altLang="en-US" b="1"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p:txBody>
      </p:sp>
      <p:sp>
        <p:nvSpPr>
          <p:cNvPr id="5124" name="Slide Number Placeholder 1">
            <a:extLst>
              <a:ext uri="{FF2B5EF4-FFF2-40B4-BE49-F238E27FC236}">
                <a16:creationId xmlns:a16="http://schemas.microsoft.com/office/drawing/2014/main" id="{1054026A-9F12-BD80-C793-03F01AF532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50</a:t>
            </a:fld>
            <a:endParaRPr lang="en-US" altLang="en-US"/>
          </a:p>
        </p:txBody>
      </p:sp>
      <p:graphicFrame>
        <p:nvGraphicFramePr>
          <p:cNvPr id="2" name="Table 1"/>
          <p:cNvGraphicFramePr>
            <a:graphicFrameLocks noGrp="1"/>
          </p:cNvGraphicFramePr>
          <p:nvPr>
            <p:extLst>
              <p:ext uri="{D42A27DB-BD31-4B8C-83A1-F6EECF244321}">
                <p14:modId xmlns:p14="http://schemas.microsoft.com/office/powerpoint/2010/main" val="4272143805"/>
              </p:ext>
            </p:extLst>
          </p:nvPr>
        </p:nvGraphicFramePr>
        <p:xfrm>
          <a:off x="1232807" y="3132909"/>
          <a:ext cx="2308860" cy="146304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20000"/>
                    </a:ext>
                  </a:extLst>
                </a:gridCol>
                <a:gridCol w="1306830">
                  <a:extLst>
                    <a:ext uri="{9D8B030D-6E8A-4147-A177-3AD203B41FA5}">
                      <a16:colId xmlns:a16="http://schemas.microsoft.com/office/drawing/2014/main" val="20001"/>
                    </a:ext>
                  </a:extLst>
                </a:gridCol>
              </a:tblGrid>
              <a:tr h="365760">
                <a:tc>
                  <a:txBody>
                    <a:bodyPr/>
                    <a:lstStyle/>
                    <a:p>
                      <a:r>
                        <a:rPr lang="en-US" sz="1800" b="1">
                          <a:latin typeface="Times New Roman" pitchFamily="18" charset="0"/>
                          <a:cs typeface="Times New Roman" pitchFamily="18" charset="0"/>
                        </a:rPr>
                        <a:t>Student</a:t>
                      </a:r>
                    </a:p>
                  </a:txBody>
                  <a:tcPr anchor="ctr"/>
                </a:tc>
                <a:tc>
                  <a:txBody>
                    <a:bodyPr/>
                    <a:lstStyle/>
                    <a:p>
                      <a:r>
                        <a:rPr lang="en-US" sz="1800" b="1" dirty="0">
                          <a:latin typeface="Times New Roman" pitchFamily="18" charset="0"/>
                          <a:cs typeface="Times New Roman" pitchFamily="18" charset="0"/>
                        </a:rPr>
                        <a:t>Country</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1</a:t>
                      </a:r>
                    </a:p>
                  </a:txBody>
                  <a:tcPr anchor="ctr"/>
                </a:tc>
                <a:tc>
                  <a:txBody>
                    <a:bodyPr/>
                    <a:lstStyle/>
                    <a:p>
                      <a:r>
                        <a:rPr lang="en-US" sz="1800">
                          <a:latin typeface="Times New Roman" pitchFamily="18" charset="0"/>
                          <a:cs typeface="Times New Roman" pitchFamily="18" charset="0"/>
                        </a:rPr>
                        <a:t>Bangladesh</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2</a:t>
                      </a:r>
                    </a:p>
                  </a:txBody>
                  <a:tcPr anchor="ctr"/>
                </a:tc>
                <a:tc>
                  <a:txBody>
                    <a:bodyPr/>
                    <a:lstStyle/>
                    <a:p>
                      <a:r>
                        <a:rPr lang="en-US" sz="1800">
                          <a:latin typeface="Times New Roman" pitchFamily="18" charset="0"/>
                          <a:cs typeface="Times New Roman" pitchFamily="18" charset="0"/>
                        </a:rPr>
                        <a:t>Bangladesh</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3</a:t>
                      </a:r>
                    </a:p>
                  </a:txBody>
                  <a:tcPr anchor="ctr"/>
                </a:tc>
                <a:tc>
                  <a:txBody>
                    <a:bodyPr/>
                    <a:lstStyle/>
                    <a:p>
                      <a:r>
                        <a:rPr lang="en-US" sz="1800" dirty="0">
                          <a:latin typeface="Times New Roman" pitchFamily="18" charset="0"/>
                          <a:cs typeface="Times New Roman" pitchFamily="18" charset="0"/>
                        </a:rPr>
                        <a:t>Bangladesh</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833308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1" y="1655763"/>
            <a:ext cx="7151914"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Dimensionality Reduction: </a:t>
            </a:r>
            <a:r>
              <a:rPr lang="en-US" altLang="en-US" dirty="0">
                <a:latin typeface="Times New Roman" pitchFamily="18" charset="0"/>
                <a:cs typeface="Times New Roman" pitchFamily="18" charset="0"/>
              </a:rPr>
              <a:t>This reduces the number of features (columns). High-dimensional data can lead to poor model performance (the "</a:t>
            </a:r>
            <a:r>
              <a:rPr lang="en-US" altLang="en-US" dirty="0">
                <a:solidFill>
                  <a:srgbClr val="FF0000"/>
                </a:solidFill>
                <a:latin typeface="Times New Roman" pitchFamily="18" charset="0"/>
                <a:cs typeface="Times New Roman" pitchFamily="18" charset="0"/>
              </a:rPr>
              <a:t>curse of dimensionality</a:t>
            </a:r>
            <a:r>
              <a:rPr lang="en-US" altLang="en-US" dirty="0">
                <a:latin typeface="Times New Roman" pitchFamily="18" charset="0"/>
                <a:cs typeface="Times New Roman" pitchFamily="18" charset="0"/>
              </a:rPr>
              <a:t>"). Techniques like </a:t>
            </a:r>
            <a:r>
              <a:rPr lang="en-US" altLang="en-US" dirty="0">
                <a:solidFill>
                  <a:srgbClr val="00B0F0"/>
                </a:solidFill>
                <a:latin typeface="Times New Roman" pitchFamily="18" charset="0"/>
                <a:cs typeface="Times New Roman" pitchFamily="18" charset="0"/>
              </a:rPr>
              <a:t>Principal Component Analysis </a:t>
            </a:r>
            <a:r>
              <a:rPr lang="en-US" altLang="en-US" dirty="0">
                <a:latin typeface="Times New Roman" pitchFamily="18" charset="0"/>
                <a:cs typeface="Times New Roman" pitchFamily="18" charset="0"/>
              </a:rPr>
              <a:t>(PCA) create a smaller set of new features that capture most of the original data's variance. </a:t>
            </a:r>
          </a:p>
          <a:p>
            <a:pPr marL="80963" lvl="1" indent="0" algn="just" eaLnBrk="1" hangingPunct="1">
              <a:buClr>
                <a:srgbClr val="0B5395"/>
              </a:buClr>
              <a:buNone/>
            </a:pPr>
            <a:endParaRPr lang="en-US" altLang="en-US" dirty="0">
              <a:latin typeface="Times New Roman" pitchFamily="18" charset="0"/>
              <a:cs typeface="Times New Roman" pitchFamily="18" charset="0"/>
            </a:endParaRP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51</a:t>
            </a:fld>
            <a:endParaRPr lang="en-US"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52484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25A75-6FB1-E5B2-9C4F-B404471907BF}"/>
            </a:ext>
          </a:extLst>
        </p:cNvPr>
        <p:cNvGrpSpPr/>
        <p:nvPr/>
      </p:nvGrpSpPr>
      <p:grpSpPr>
        <a:xfrm>
          <a:off x="0" y="0"/>
          <a:ext cx="0" cy="0"/>
          <a:chOff x="0" y="0"/>
          <a:chExt cx="0" cy="0"/>
        </a:xfrm>
      </p:grpSpPr>
      <p:sp>
        <p:nvSpPr>
          <p:cNvPr id="6146" name="Title 1">
            <a:extLst>
              <a:ext uri="{FF2B5EF4-FFF2-40B4-BE49-F238E27FC236}">
                <a16:creationId xmlns:a16="http://schemas.microsoft.com/office/drawing/2014/main" id="{5B479154-061B-A149-040A-B836B41A93B7}"/>
              </a:ext>
            </a:extLst>
          </p:cNvPr>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a:extLst>
              <a:ext uri="{FF2B5EF4-FFF2-40B4-BE49-F238E27FC236}">
                <a16:creationId xmlns:a16="http://schemas.microsoft.com/office/drawing/2014/main" id="{07131A24-83AF-C3F9-514F-4B6418958968}"/>
              </a:ext>
            </a:extLst>
          </p:cNvPr>
          <p:cNvSpPr>
            <a:spLocks noGrp="1"/>
          </p:cNvSpPr>
          <p:nvPr>
            <p:ph idx="1"/>
          </p:nvPr>
        </p:nvSpPr>
        <p:spPr>
          <a:xfrm>
            <a:off x="1143000" y="1655763"/>
            <a:ext cx="9872663" cy="4440237"/>
          </a:xfrm>
        </p:spPr>
        <p:txBody>
          <a:bodyPr/>
          <a:lstStyle/>
          <a:p>
            <a:pPr marL="80963" lvl="1" indent="0" algn="ctr" eaLnBrk="1" hangingPunct="1">
              <a:buClr>
                <a:srgbClr val="0B5395"/>
              </a:buClr>
              <a:buNone/>
            </a:pPr>
            <a:endParaRPr lang="en-US" altLang="en-US" sz="4400" dirty="0">
              <a:latin typeface="Times New Roman" pitchFamily="18" charset="0"/>
              <a:cs typeface="Times New Roman" pitchFamily="18" charset="0"/>
            </a:endParaRPr>
          </a:p>
          <a:p>
            <a:pPr marL="80963" lvl="1" indent="0" algn="ctr" eaLnBrk="1" hangingPunct="1">
              <a:buClr>
                <a:srgbClr val="0B5395"/>
              </a:buClr>
              <a:buNone/>
            </a:pPr>
            <a:endParaRPr lang="en-US" altLang="en-US" sz="4400" dirty="0">
              <a:latin typeface="Times New Roman" pitchFamily="18" charset="0"/>
              <a:cs typeface="Times New Roman" pitchFamily="18" charset="0"/>
            </a:endParaRPr>
          </a:p>
          <a:p>
            <a:pPr marL="80963" lvl="1" indent="0" algn="ctr" eaLnBrk="1" hangingPunct="1">
              <a:buClr>
                <a:srgbClr val="0B5395"/>
              </a:buClr>
              <a:buNone/>
            </a:pPr>
            <a:endParaRPr lang="en-US" altLang="en-US" sz="2400" dirty="0">
              <a:solidFill>
                <a:srgbClr val="FF0000"/>
              </a:solidFill>
              <a:latin typeface="Times New Roman" pitchFamily="18" charset="0"/>
              <a:cs typeface="Times New Roman" pitchFamily="18" charset="0"/>
            </a:endParaRPr>
          </a:p>
          <a:p>
            <a:pPr marL="80963" lvl="1" indent="0" algn="ctr" eaLnBrk="1" hangingPunct="1">
              <a:buClr>
                <a:srgbClr val="0B5395"/>
              </a:buClr>
              <a:buNone/>
            </a:pPr>
            <a:endParaRPr lang="en-US" altLang="en-US" sz="2400" dirty="0">
              <a:solidFill>
                <a:srgbClr val="FF0000"/>
              </a:solidFill>
              <a:latin typeface="Times New Roman" pitchFamily="18" charset="0"/>
              <a:cs typeface="Times New Roman" pitchFamily="18" charset="0"/>
            </a:endParaRPr>
          </a:p>
          <a:p>
            <a:pPr marL="80963" lvl="1" indent="0" algn="ctr" eaLnBrk="1" hangingPunct="1">
              <a:buClr>
                <a:srgbClr val="0B5395"/>
              </a:buClr>
              <a:buNone/>
            </a:pPr>
            <a:r>
              <a:rPr lang="en-US" altLang="en-US" sz="2400" dirty="0">
                <a:solidFill>
                  <a:srgbClr val="FF0000"/>
                </a:solidFill>
                <a:latin typeface="Times New Roman" pitchFamily="18" charset="0"/>
                <a:cs typeface="Times New Roman" pitchFamily="18" charset="0"/>
              </a:rPr>
              <a:t>Details of PCA will be taught later</a:t>
            </a:r>
          </a:p>
        </p:txBody>
      </p:sp>
      <p:sp>
        <p:nvSpPr>
          <p:cNvPr id="5124" name="Slide Number Placeholder 1">
            <a:extLst>
              <a:ext uri="{FF2B5EF4-FFF2-40B4-BE49-F238E27FC236}">
                <a16:creationId xmlns:a16="http://schemas.microsoft.com/office/drawing/2014/main" id="{5B418223-AB56-6E98-A6F2-587067DD74D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52</a:t>
            </a:fld>
            <a:endParaRPr lang="en-US" altLang="en-US"/>
          </a:p>
        </p:txBody>
      </p:sp>
    </p:spTree>
    <p:extLst>
      <p:ext uri="{BB962C8B-B14F-4D97-AF65-F5344CB8AC3E}">
        <p14:creationId xmlns:p14="http://schemas.microsoft.com/office/powerpoint/2010/main" val="10460573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1" y="1655763"/>
            <a:ext cx="7151914" cy="4440237"/>
          </a:xfrm>
        </p:spPr>
        <p:txBody>
          <a:bodyPr/>
          <a:lstStyle/>
          <a:p>
            <a:pPr marL="80963" lvl="1" indent="0" algn="just" eaLnBrk="1" hangingPunct="1">
              <a:buClr>
                <a:srgbClr val="0B5395"/>
              </a:buClr>
              <a:buNone/>
            </a:pPr>
            <a:r>
              <a:rPr lang="en-US" altLang="en-US" b="1" dirty="0" err="1">
                <a:latin typeface="Times New Roman" pitchFamily="18" charset="0"/>
                <a:cs typeface="Times New Roman" pitchFamily="18" charset="0"/>
              </a:rPr>
              <a:t>Numerosity</a:t>
            </a:r>
            <a:r>
              <a:rPr lang="en-US" altLang="en-US" b="1" dirty="0">
                <a:latin typeface="Times New Roman" pitchFamily="18" charset="0"/>
                <a:cs typeface="Times New Roman" pitchFamily="18" charset="0"/>
              </a:rPr>
              <a:t> Reduction: </a:t>
            </a:r>
            <a:r>
              <a:rPr lang="en-US" altLang="en-US" dirty="0">
                <a:latin typeface="Times New Roman" pitchFamily="18" charset="0"/>
                <a:cs typeface="Times New Roman" pitchFamily="18" charset="0"/>
              </a:rPr>
              <a:t>This </a:t>
            </a:r>
            <a:r>
              <a:rPr lang="en-US" altLang="en-US" dirty="0">
                <a:solidFill>
                  <a:srgbClr val="FF0000"/>
                </a:solidFill>
                <a:latin typeface="Times New Roman" pitchFamily="18" charset="0"/>
                <a:cs typeface="Times New Roman" pitchFamily="18" charset="0"/>
              </a:rPr>
              <a:t>reduces the number of data entries </a:t>
            </a:r>
            <a:r>
              <a:rPr lang="en-US" altLang="en-US" dirty="0">
                <a:latin typeface="Times New Roman" pitchFamily="18" charset="0"/>
                <a:cs typeface="Times New Roman" pitchFamily="18" charset="0"/>
              </a:rPr>
              <a:t>(rows). When dealing with massive datasets, you can use </a:t>
            </a:r>
            <a:r>
              <a:rPr lang="en-US" altLang="en-US" dirty="0">
                <a:solidFill>
                  <a:srgbClr val="FF0000"/>
                </a:solidFill>
                <a:latin typeface="Times New Roman" pitchFamily="18" charset="0"/>
                <a:cs typeface="Times New Roman" pitchFamily="18" charset="0"/>
              </a:rPr>
              <a:t>sampling</a:t>
            </a:r>
            <a:r>
              <a:rPr lang="en-US" altLang="en-US" dirty="0">
                <a:latin typeface="Times New Roman" pitchFamily="18" charset="0"/>
                <a:cs typeface="Times New Roman" pitchFamily="18" charset="0"/>
              </a:rPr>
              <a:t> (selecting a representative subset of the data) or use models like </a:t>
            </a:r>
            <a:r>
              <a:rPr lang="en-US" altLang="en-US" dirty="0">
                <a:solidFill>
                  <a:srgbClr val="FF0000"/>
                </a:solidFill>
                <a:latin typeface="Times New Roman" pitchFamily="18" charset="0"/>
                <a:cs typeface="Times New Roman" pitchFamily="18" charset="0"/>
              </a:rPr>
              <a:t>clustering or regression </a:t>
            </a:r>
            <a:r>
              <a:rPr lang="en-US" altLang="en-US" dirty="0">
                <a:latin typeface="Times New Roman" pitchFamily="18" charset="0"/>
                <a:cs typeface="Times New Roman" pitchFamily="18" charset="0"/>
              </a:rPr>
              <a:t>to represent the data more compactly. </a:t>
            </a:r>
          </a:p>
          <a:p>
            <a:pPr marL="46037" indent="0">
              <a:buNone/>
            </a:pPr>
            <a:r>
              <a:rPr lang="en-US" sz="2000" b="1" dirty="0">
                <a:latin typeface="Times New Roman" pitchFamily="18" charset="0"/>
                <a:cs typeface="Times New Roman" pitchFamily="18" charset="0"/>
              </a:rPr>
              <a:t>Goal</a:t>
            </a:r>
          </a:p>
          <a:p>
            <a:r>
              <a:rPr lang="en-US" sz="2000" dirty="0">
                <a:latin typeface="Times New Roman" pitchFamily="18" charset="0"/>
                <a:cs typeface="Times New Roman" pitchFamily="18" charset="0"/>
              </a:rPr>
              <a:t>Reduce storage requirements </a:t>
            </a:r>
          </a:p>
          <a:p>
            <a:r>
              <a:rPr lang="en-US" sz="2000" dirty="0">
                <a:latin typeface="Times New Roman" pitchFamily="18" charset="0"/>
                <a:cs typeface="Times New Roman" pitchFamily="18" charset="0"/>
              </a:rPr>
              <a:t>Speed up analysis </a:t>
            </a:r>
          </a:p>
          <a:p>
            <a:r>
              <a:rPr lang="en-US" sz="2000" dirty="0">
                <a:latin typeface="Times New Roman" pitchFamily="18" charset="0"/>
                <a:cs typeface="Times New Roman" pitchFamily="18" charset="0"/>
              </a:rPr>
              <a:t>Reduce computational cost </a:t>
            </a:r>
          </a:p>
          <a:p>
            <a:r>
              <a:rPr lang="en-US" sz="2000" dirty="0">
                <a:latin typeface="Times New Roman" pitchFamily="18" charset="0"/>
                <a:cs typeface="Times New Roman" pitchFamily="18" charset="0"/>
              </a:rPr>
              <a:t>Preserve key information</a:t>
            </a:r>
          </a:p>
          <a:p>
            <a:pPr marL="80963" lvl="1" indent="0" algn="just" eaLnBrk="1" hangingPunct="1">
              <a:buClr>
                <a:srgbClr val="0B5395"/>
              </a:buClr>
              <a:buNone/>
            </a:pPr>
            <a:endParaRPr lang="en-US" altLang="en-US" dirty="0">
              <a:latin typeface="Times New Roman" pitchFamily="18" charset="0"/>
              <a:cs typeface="Times New Roman" pitchFamily="18" charset="0"/>
            </a:endParaRPr>
          </a:p>
          <a:p>
            <a:pPr marL="80963" lvl="1" indent="0" algn="just" eaLnBrk="1" hangingPunct="1">
              <a:buClr>
                <a:srgbClr val="0B5395"/>
              </a:buClr>
              <a:buNone/>
            </a:pPr>
            <a:endParaRPr lang="en-US" altLang="en-US" dirty="0">
              <a:latin typeface="Times New Roman" pitchFamily="18" charset="0"/>
              <a:cs typeface="Times New Roman" pitchFamily="18" charset="0"/>
            </a:endParaRP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53</a:t>
            </a:fld>
            <a:endParaRPr lang="en-US" alt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3806" y="1466851"/>
            <a:ext cx="3115238" cy="4689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48889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1" y="1655763"/>
            <a:ext cx="7151914"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Types of </a:t>
            </a:r>
            <a:r>
              <a:rPr lang="en-US" altLang="en-US" b="1" dirty="0" err="1">
                <a:latin typeface="Times New Roman" pitchFamily="18" charset="0"/>
                <a:cs typeface="Times New Roman" pitchFamily="18" charset="0"/>
              </a:rPr>
              <a:t>Numerosity</a:t>
            </a:r>
            <a:r>
              <a:rPr lang="en-US" altLang="en-US" b="1" dirty="0">
                <a:latin typeface="Times New Roman" pitchFamily="18" charset="0"/>
                <a:cs typeface="Times New Roman" pitchFamily="18" charset="0"/>
              </a:rPr>
              <a:t> Reduction</a:t>
            </a:r>
          </a:p>
          <a:p>
            <a:pPr marL="80963" lvl="1" indent="0" algn="just" eaLnBrk="1" hangingPunct="1">
              <a:buClr>
                <a:srgbClr val="0B5395"/>
              </a:buClr>
              <a:buNone/>
            </a:pPr>
            <a:r>
              <a:rPr lang="en-US" altLang="en-US" b="1" dirty="0">
                <a:latin typeface="Times New Roman" pitchFamily="18" charset="0"/>
                <a:cs typeface="Times New Roman" pitchFamily="18" charset="0"/>
              </a:rPr>
              <a:t>1. Sampling</a:t>
            </a:r>
          </a:p>
          <a:p>
            <a:pPr marL="80963" lvl="1" indent="0" algn="just" eaLnBrk="1" hangingPunct="1">
              <a:buClr>
                <a:srgbClr val="0B5395"/>
              </a:buClr>
              <a:buNone/>
            </a:pPr>
            <a:r>
              <a:rPr lang="en-US" altLang="en-US" dirty="0">
                <a:latin typeface="Times New Roman" pitchFamily="18" charset="0"/>
                <a:cs typeface="Times New Roman" pitchFamily="18" charset="0"/>
              </a:rPr>
              <a:t>Suppose a company has:10,000,000 customer records. Do we always need to analyze all 10 million records?</a:t>
            </a:r>
          </a:p>
          <a:p>
            <a:pPr marL="80963" lvl="1" indent="0" algn="just" eaLnBrk="1" hangingPunct="1">
              <a:buClr>
                <a:srgbClr val="0B5395"/>
              </a:buClr>
              <a:buNone/>
            </a:pPr>
            <a:r>
              <a:rPr lang="en-US" altLang="en-US" dirty="0">
                <a:solidFill>
                  <a:srgbClr val="FF0000"/>
                </a:solidFill>
                <a:latin typeface="Times New Roman" pitchFamily="18" charset="0"/>
                <a:cs typeface="Times New Roman" pitchFamily="18" charset="0"/>
              </a:rPr>
              <a:t>Sometimes we can use a smaller representation and obtain similar insights</a:t>
            </a:r>
            <a:r>
              <a:rPr lang="en-US" altLang="en-US" dirty="0">
                <a:latin typeface="Times New Roman" pitchFamily="18" charset="0"/>
                <a:cs typeface="Times New Roman" pitchFamily="18" charset="0"/>
              </a:rPr>
              <a:t>.</a:t>
            </a:r>
          </a:p>
          <a:p>
            <a:pPr marL="80963" lvl="1" indent="0" algn="just" eaLnBrk="1" hangingPunct="1">
              <a:buClr>
                <a:srgbClr val="0B5395"/>
              </a:buClr>
              <a:buNone/>
            </a:pPr>
            <a:endParaRPr lang="en-US" altLang="en-US" dirty="0">
              <a:latin typeface="Times New Roman" pitchFamily="18" charset="0"/>
              <a:cs typeface="Times New Roman" pitchFamily="18" charset="0"/>
            </a:endParaRP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54</a:t>
            </a:fld>
            <a:endParaRPr lang="en-US" altLang="en-US"/>
          </a:p>
        </p:txBody>
      </p:sp>
      <p:sp>
        <p:nvSpPr>
          <p:cNvPr id="2" name="Rectangle 1"/>
          <p:cNvSpPr/>
          <p:nvPr/>
        </p:nvSpPr>
        <p:spPr>
          <a:xfrm>
            <a:off x="2909207" y="4029279"/>
            <a:ext cx="2511879" cy="1477328"/>
          </a:xfrm>
          <a:prstGeom prst="rect">
            <a:avLst/>
          </a:prstGeom>
        </p:spPr>
        <p:txBody>
          <a:bodyPr wrap="square">
            <a:spAutoFit/>
          </a:bodyPr>
          <a:lstStyle/>
          <a:p>
            <a:pPr algn="ctr"/>
            <a:r>
              <a:rPr lang="en-US" dirty="0">
                <a:latin typeface="Times New Roman" pitchFamily="18" charset="0"/>
                <a:cs typeface="Times New Roman" pitchFamily="18" charset="0"/>
              </a:rPr>
              <a:t>100,000 Records</a:t>
            </a:r>
          </a:p>
          <a:p>
            <a:pPr algn="ct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a:t>
            </a:r>
          </a:p>
          <a:p>
            <a:pPr algn="ctr"/>
            <a:r>
              <a:rPr lang="en-US" dirty="0">
                <a:latin typeface="Times New Roman" pitchFamily="18" charset="0"/>
                <a:cs typeface="Times New Roman" pitchFamily="18" charset="0"/>
              </a:rPr>
              <a:t> Random Sampling</a:t>
            </a:r>
          </a:p>
          <a:p>
            <a:pPr algn="ct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a:t>
            </a:r>
          </a:p>
          <a:p>
            <a:pPr algn="ctr"/>
            <a:r>
              <a:rPr lang="en-US" dirty="0">
                <a:latin typeface="Times New Roman" pitchFamily="18" charset="0"/>
                <a:cs typeface="Times New Roman" pitchFamily="18" charset="0"/>
              </a:rPr>
              <a:t> 5,000 Records</a:t>
            </a:r>
          </a:p>
        </p:txBody>
      </p:sp>
    </p:spTree>
    <p:extLst>
      <p:ext uri="{BB962C8B-B14F-4D97-AF65-F5344CB8AC3E}">
        <p14:creationId xmlns:p14="http://schemas.microsoft.com/office/powerpoint/2010/main" val="29024909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1" y="1655763"/>
            <a:ext cx="7151914"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Types of </a:t>
            </a:r>
            <a:r>
              <a:rPr lang="en-US" altLang="en-US" b="1" dirty="0" err="1">
                <a:latin typeface="Times New Roman" pitchFamily="18" charset="0"/>
                <a:cs typeface="Times New Roman" pitchFamily="18" charset="0"/>
              </a:rPr>
              <a:t>Numerosity</a:t>
            </a:r>
            <a:r>
              <a:rPr lang="en-US" altLang="en-US" b="1" dirty="0">
                <a:latin typeface="Times New Roman" pitchFamily="18" charset="0"/>
                <a:cs typeface="Times New Roman" pitchFamily="18" charset="0"/>
              </a:rPr>
              <a:t> Reduction</a:t>
            </a:r>
          </a:p>
          <a:p>
            <a:pPr marL="46037" indent="0">
              <a:buNone/>
            </a:pPr>
            <a:r>
              <a:rPr lang="en-US" b="1" dirty="0">
                <a:latin typeface="Times New Roman" pitchFamily="18" charset="0"/>
                <a:cs typeface="Times New Roman" pitchFamily="18" charset="0"/>
              </a:rPr>
              <a:t>2. Aggregation</a:t>
            </a:r>
          </a:p>
          <a:p>
            <a:pPr marL="46037" indent="0">
              <a:buNone/>
            </a:pPr>
            <a:r>
              <a:rPr lang="en-US" dirty="0">
                <a:latin typeface="Times New Roman" pitchFamily="18" charset="0"/>
                <a:cs typeface="Times New Roman" pitchFamily="18" charset="0"/>
              </a:rPr>
              <a:t>Combine multiple records into summarized records.</a:t>
            </a:r>
          </a:p>
          <a:p>
            <a:pPr marL="46037" indent="0">
              <a:buNone/>
            </a:pPr>
            <a:r>
              <a:rPr lang="en-US" b="1" dirty="0">
                <a:latin typeface="Times New Roman" pitchFamily="18" charset="0"/>
                <a:cs typeface="Times New Roman" pitchFamily="18" charset="0"/>
              </a:rPr>
              <a:t>Example: </a:t>
            </a:r>
            <a:r>
              <a:rPr lang="en-US" dirty="0">
                <a:latin typeface="Times New Roman" pitchFamily="18" charset="0"/>
                <a:cs typeface="Times New Roman" pitchFamily="18" charset="0"/>
              </a:rPr>
              <a:t>Daily Sales</a:t>
            </a: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55</a:t>
            </a:fld>
            <a:endParaRPr lang="en-US" altLang="en-US"/>
          </a:p>
        </p:txBody>
      </p:sp>
      <p:graphicFrame>
        <p:nvGraphicFramePr>
          <p:cNvPr id="3" name="Table 2"/>
          <p:cNvGraphicFramePr>
            <a:graphicFrameLocks noGrp="1"/>
          </p:cNvGraphicFramePr>
          <p:nvPr>
            <p:extLst>
              <p:ext uri="{D42A27DB-BD31-4B8C-83A1-F6EECF244321}">
                <p14:modId xmlns:p14="http://schemas.microsoft.com/office/powerpoint/2010/main" val="3029688066"/>
              </p:ext>
            </p:extLst>
          </p:nvPr>
        </p:nvGraphicFramePr>
        <p:xfrm>
          <a:off x="1298121" y="3739242"/>
          <a:ext cx="1407160" cy="2194560"/>
        </p:xfrm>
        <a:graphic>
          <a:graphicData uri="http://schemas.openxmlformats.org/drawingml/2006/table">
            <a:tbl>
              <a:tblPr>
                <a:tableStyleId>{3C2FFA5D-87B4-456A-9821-1D502468CF0F}</a:tableStyleId>
              </a:tblPr>
              <a:tblGrid>
                <a:gridCol w="671830">
                  <a:extLst>
                    <a:ext uri="{9D8B030D-6E8A-4147-A177-3AD203B41FA5}">
                      <a16:colId xmlns:a16="http://schemas.microsoft.com/office/drawing/2014/main" val="20000"/>
                    </a:ext>
                  </a:extLst>
                </a:gridCol>
                <a:gridCol w="735330">
                  <a:extLst>
                    <a:ext uri="{9D8B030D-6E8A-4147-A177-3AD203B41FA5}">
                      <a16:colId xmlns:a16="http://schemas.microsoft.com/office/drawing/2014/main" val="20001"/>
                    </a:ext>
                  </a:extLst>
                </a:gridCol>
              </a:tblGrid>
              <a:tr h="308065">
                <a:tc>
                  <a:txBody>
                    <a:bodyPr/>
                    <a:lstStyle/>
                    <a:p>
                      <a:r>
                        <a:rPr lang="en-US" sz="1800" b="1">
                          <a:latin typeface="Times New Roman" pitchFamily="18" charset="0"/>
                          <a:cs typeface="Times New Roman" pitchFamily="18" charset="0"/>
                        </a:rPr>
                        <a:t>Day</a:t>
                      </a:r>
                    </a:p>
                  </a:txBody>
                  <a:tcPr anchor="ctr"/>
                </a:tc>
                <a:tc>
                  <a:txBody>
                    <a:bodyPr/>
                    <a:lstStyle/>
                    <a:p>
                      <a:r>
                        <a:rPr lang="en-US" sz="1800" b="1" dirty="0">
                          <a:latin typeface="Times New Roman" pitchFamily="18" charset="0"/>
                          <a:cs typeface="Times New Roman" pitchFamily="18" charset="0"/>
                        </a:rPr>
                        <a:t>Sales</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Mon</a:t>
                      </a:r>
                    </a:p>
                  </a:txBody>
                  <a:tcPr anchor="ctr"/>
                </a:tc>
                <a:tc>
                  <a:txBody>
                    <a:bodyPr/>
                    <a:lstStyle/>
                    <a:p>
                      <a:r>
                        <a:rPr lang="en-US" sz="1800">
                          <a:latin typeface="Times New Roman" pitchFamily="18" charset="0"/>
                          <a:cs typeface="Times New Roman" pitchFamily="18" charset="0"/>
                        </a:rPr>
                        <a:t>100</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Tue</a:t>
                      </a:r>
                    </a:p>
                  </a:txBody>
                  <a:tcPr anchor="ctr"/>
                </a:tc>
                <a:tc>
                  <a:txBody>
                    <a:bodyPr/>
                    <a:lstStyle/>
                    <a:p>
                      <a:r>
                        <a:rPr lang="en-US" sz="1800">
                          <a:latin typeface="Times New Roman" pitchFamily="18" charset="0"/>
                          <a:cs typeface="Times New Roman" pitchFamily="18" charset="0"/>
                        </a:rPr>
                        <a:t>120</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Wed</a:t>
                      </a:r>
                    </a:p>
                  </a:txBody>
                  <a:tcPr anchor="ctr"/>
                </a:tc>
                <a:tc>
                  <a:txBody>
                    <a:bodyPr/>
                    <a:lstStyle/>
                    <a:p>
                      <a:r>
                        <a:rPr lang="en-US" sz="1800">
                          <a:latin typeface="Times New Roman" pitchFamily="18" charset="0"/>
                          <a:cs typeface="Times New Roman" pitchFamily="18" charset="0"/>
                        </a:rPr>
                        <a:t>110</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Thu</a:t>
                      </a:r>
                    </a:p>
                  </a:txBody>
                  <a:tcPr anchor="ctr"/>
                </a:tc>
                <a:tc>
                  <a:txBody>
                    <a:bodyPr/>
                    <a:lstStyle/>
                    <a:p>
                      <a:r>
                        <a:rPr lang="en-US" sz="1800">
                          <a:latin typeface="Times New Roman" pitchFamily="18" charset="0"/>
                          <a:cs typeface="Times New Roman" pitchFamily="18" charset="0"/>
                        </a:rPr>
                        <a:t>130</a:t>
                      </a:r>
                    </a:p>
                  </a:txBody>
                  <a:tcPr anchor="ctr"/>
                </a:tc>
                <a:extLst>
                  <a:ext uri="{0D108BD9-81ED-4DB2-BD59-A6C34878D82A}">
                    <a16:rowId xmlns:a16="http://schemas.microsoft.com/office/drawing/2014/main" val="10004"/>
                  </a:ext>
                </a:extLst>
              </a:tr>
              <a:tr h="365760">
                <a:tc>
                  <a:txBody>
                    <a:bodyPr/>
                    <a:lstStyle/>
                    <a:p>
                      <a:r>
                        <a:rPr lang="en-US" sz="1800">
                          <a:latin typeface="Times New Roman" pitchFamily="18" charset="0"/>
                          <a:cs typeface="Times New Roman" pitchFamily="18" charset="0"/>
                        </a:rPr>
                        <a:t>Fri</a:t>
                      </a:r>
                    </a:p>
                  </a:txBody>
                  <a:tcPr anchor="ctr"/>
                </a:tc>
                <a:tc>
                  <a:txBody>
                    <a:bodyPr/>
                    <a:lstStyle/>
                    <a:p>
                      <a:r>
                        <a:rPr lang="en-US" sz="1800" dirty="0">
                          <a:latin typeface="Times New Roman" pitchFamily="18" charset="0"/>
                          <a:cs typeface="Times New Roman" pitchFamily="18" charset="0"/>
                        </a:rPr>
                        <a:t>140</a:t>
                      </a:r>
                    </a:p>
                  </a:txBody>
                  <a:tcPr anchor="ctr"/>
                </a:tc>
                <a:extLst>
                  <a:ext uri="{0D108BD9-81ED-4DB2-BD59-A6C34878D82A}">
                    <a16:rowId xmlns:a16="http://schemas.microsoft.com/office/drawing/2014/main" val="10005"/>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574883049"/>
              </p:ext>
            </p:extLst>
          </p:nvPr>
        </p:nvGraphicFramePr>
        <p:xfrm>
          <a:off x="6629400" y="4617176"/>
          <a:ext cx="2218817" cy="731520"/>
        </p:xfrm>
        <a:graphic>
          <a:graphicData uri="http://schemas.openxmlformats.org/drawingml/2006/table">
            <a:tbl>
              <a:tblPr>
                <a:tableStyleId>{3C2FFA5D-87B4-456A-9821-1D502468CF0F}</a:tableStyleId>
              </a:tblPr>
              <a:tblGrid>
                <a:gridCol w="926592">
                  <a:extLst>
                    <a:ext uri="{9D8B030D-6E8A-4147-A177-3AD203B41FA5}">
                      <a16:colId xmlns:a16="http://schemas.microsoft.com/office/drawing/2014/main" val="20000"/>
                    </a:ext>
                  </a:extLst>
                </a:gridCol>
                <a:gridCol w="1292225">
                  <a:extLst>
                    <a:ext uri="{9D8B030D-6E8A-4147-A177-3AD203B41FA5}">
                      <a16:colId xmlns:a16="http://schemas.microsoft.com/office/drawing/2014/main" val="20001"/>
                    </a:ext>
                  </a:extLst>
                </a:gridCol>
              </a:tblGrid>
              <a:tr h="365760">
                <a:tc>
                  <a:txBody>
                    <a:bodyPr/>
                    <a:lstStyle/>
                    <a:p>
                      <a:r>
                        <a:rPr lang="en-US" sz="1800" b="1">
                          <a:latin typeface="Times New Roman" pitchFamily="18" charset="0"/>
                          <a:cs typeface="Times New Roman" pitchFamily="18" charset="0"/>
                        </a:rPr>
                        <a:t>Week</a:t>
                      </a:r>
                    </a:p>
                  </a:txBody>
                  <a:tcPr anchor="ctr"/>
                </a:tc>
                <a:tc>
                  <a:txBody>
                    <a:bodyPr/>
                    <a:lstStyle/>
                    <a:p>
                      <a:r>
                        <a:rPr lang="en-US" sz="1800" b="1" dirty="0">
                          <a:latin typeface="Times New Roman" pitchFamily="18" charset="0"/>
                          <a:cs typeface="Times New Roman" pitchFamily="18" charset="0"/>
                        </a:rPr>
                        <a:t>Total Sales</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Week 1</a:t>
                      </a:r>
                    </a:p>
                  </a:txBody>
                  <a:tcPr anchor="ctr"/>
                </a:tc>
                <a:tc>
                  <a:txBody>
                    <a:bodyPr/>
                    <a:lstStyle/>
                    <a:p>
                      <a:r>
                        <a:rPr lang="en-US" sz="1800" dirty="0">
                          <a:latin typeface="Times New Roman" pitchFamily="18" charset="0"/>
                          <a:cs typeface="Times New Roman" pitchFamily="18" charset="0"/>
                        </a:rPr>
                        <a:t>600</a:t>
                      </a:r>
                    </a:p>
                  </a:txBody>
                  <a:tcPr anchor="ctr"/>
                </a:tc>
                <a:extLst>
                  <a:ext uri="{0D108BD9-81ED-4DB2-BD59-A6C34878D82A}">
                    <a16:rowId xmlns:a16="http://schemas.microsoft.com/office/drawing/2014/main" val="10001"/>
                  </a:ext>
                </a:extLst>
              </a:tr>
            </a:tbl>
          </a:graphicData>
        </a:graphic>
      </p:graphicFrame>
      <p:sp>
        <p:nvSpPr>
          <p:cNvPr id="5" name="Rectangle 4"/>
          <p:cNvSpPr/>
          <p:nvPr/>
        </p:nvSpPr>
        <p:spPr>
          <a:xfrm>
            <a:off x="3431168" y="4779220"/>
            <a:ext cx="2664832" cy="369332"/>
          </a:xfrm>
          <a:prstGeom prst="rect">
            <a:avLst/>
          </a:prstGeom>
        </p:spPr>
        <p:txBody>
          <a:bodyPr wrap="none">
            <a:spAutoFit/>
          </a:bodyPr>
          <a:lstStyle/>
          <a:p>
            <a:r>
              <a:rPr lang="en-US" dirty="0">
                <a:solidFill>
                  <a:srgbClr val="FF0000"/>
                </a:solidFill>
                <a:latin typeface="Times New Roman" pitchFamily="18" charset="0"/>
                <a:cs typeface="Times New Roman" pitchFamily="18" charset="0"/>
              </a:rPr>
              <a:t>Aggregate to weekly sales:</a:t>
            </a:r>
          </a:p>
        </p:txBody>
      </p:sp>
    </p:spTree>
    <p:extLst>
      <p:ext uri="{BB962C8B-B14F-4D97-AF65-F5344CB8AC3E}">
        <p14:creationId xmlns:p14="http://schemas.microsoft.com/office/powerpoint/2010/main" val="29910203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1" y="1655763"/>
            <a:ext cx="7151914"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Types of </a:t>
            </a:r>
            <a:r>
              <a:rPr lang="en-US" altLang="en-US" b="1" dirty="0" err="1">
                <a:latin typeface="Times New Roman" pitchFamily="18" charset="0"/>
                <a:cs typeface="Times New Roman" pitchFamily="18" charset="0"/>
              </a:rPr>
              <a:t>Numerosity</a:t>
            </a:r>
            <a:r>
              <a:rPr lang="en-US" altLang="en-US" b="1" dirty="0">
                <a:latin typeface="Times New Roman" pitchFamily="18" charset="0"/>
                <a:cs typeface="Times New Roman" pitchFamily="18" charset="0"/>
              </a:rPr>
              <a:t> Reduction</a:t>
            </a:r>
          </a:p>
          <a:p>
            <a:pPr marL="46037" indent="0">
              <a:buNone/>
            </a:pPr>
            <a:r>
              <a:rPr lang="en-US" sz="2000" b="1" dirty="0">
                <a:latin typeface="Times New Roman" pitchFamily="18" charset="0"/>
                <a:cs typeface="Times New Roman" pitchFamily="18" charset="0"/>
              </a:rPr>
              <a:t>3. Clustering-Based Reduction</a:t>
            </a:r>
          </a:p>
          <a:p>
            <a:pPr marL="46037" indent="0">
              <a:buNone/>
            </a:pPr>
            <a:r>
              <a:rPr lang="en-US" sz="2000" dirty="0">
                <a:latin typeface="Times New Roman" pitchFamily="18" charset="0"/>
                <a:cs typeface="Times New Roman" pitchFamily="18" charset="0"/>
              </a:rPr>
              <a:t>Group similar observations together and represent each group by its centroid.</a:t>
            </a:r>
          </a:p>
          <a:p>
            <a:pPr marL="46037" indent="0">
              <a:buNone/>
            </a:pPr>
            <a:r>
              <a:rPr lang="en-US" sz="2000" b="1" dirty="0">
                <a:latin typeface="Times New Roman" pitchFamily="18" charset="0"/>
                <a:cs typeface="Times New Roman" pitchFamily="18" charset="0"/>
              </a:rPr>
              <a:t>Original Data</a:t>
            </a:r>
          </a:p>
          <a:p>
            <a:pPr marL="46037" indent="0">
              <a:buNone/>
            </a:pPr>
            <a:r>
              <a:rPr lang="en-US" sz="2000" dirty="0">
                <a:latin typeface="Times New Roman" pitchFamily="18" charset="0"/>
                <a:cs typeface="Times New Roman" pitchFamily="18" charset="0"/>
              </a:rPr>
              <a:t>Customer 1 → Income = 50K</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Customer 2 → Income = 52K</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Customer 3 → Income = 49K</a:t>
            </a:r>
          </a:p>
          <a:p>
            <a:pPr marL="46037" indent="0">
              <a:buNone/>
            </a:pPr>
            <a:r>
              <a:rPr lang="en-US" sz="2000" b="1" dirty="0">
                <a:latin typeface="Times New Roman" pitchFamily="18" charset="0"/>
                <a:cs typeface="Times New Roman" pitchFamily="18" charset="0"/>
              </a:rPr>
              <a:t>Representative: </a:t>
            </a:r>
            <a:r>
              <a:rPr lang="en-US" sz="2000" dirty="0">
                <a:latin typeface="Times New Roman" pitchFamily="18" charset="0"/>
                <a:cs typeface="Times New Roman" pitchFamily="18" charset="0"/>
              </a:rPr>
              <a:t>Cluster Center = 50K</a:t>
            </a:r>
          </a:p>
          <a:p>
            <a:pPr marL="46037" indent="0">
              <a:buNone/>
            </a:pPr>
            <a:r>
              <a:rPr lang="en-US" sz="2000" dirty="0">
                <a:solidFill>
                  <a:srgbClr val="FF0000"/>
                </a:solidFill>
                <a:latin typeface="Times New Roman" pitchFamily="18" charset="0"/>
                <a:cs typeface="Times New Roman" pitchFamily="18" charset="0"/>
              </a:rPr>
              <a:t>Instead of storing every record, store the cluster representative.</a:t>
            </a:r>
          </a:p>
          <a:p>
            <a:pPr marL="46037" indent="0">
              <a:buNone/>
            </a:pPr>
            <a:endParaRPr lang="en-US" sz="2000" dirty="0">
              <a:latin typeface="Times New Roman" pitchFamily="18" charset="0"/>
              <a:cs typeface="Times New Roman" pitchFamily="18" charset="0"/>
            </a:endParaRP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56</a:t>
            </a:fld>
            <a:endParaRPr lang="en-US" altLang="en-US"/>
          </a:p>
        </p:txBody>
      </p:sp>
    </p:spTree>
    <p:extLst>
      <p:ext uri="{BB962C8B-B14F-4D97-AF65-F5344CB8AC3E}">
        <p14:creationId xmlns:p14="http://schemas.microsoft.com/office/powerpoint/2010/main" val="37599307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1" y="1655763"/>
            <a:ext cx="7151914" cy="4440237"/>
          </a:xfrm>
        </p:spPr>
        <p:txBody>
          <a:bodyPr/>
          <a:lstStyle/>
          <a:p>
            <a:pPr marL="80963" lvl="1" indent="0" algn="just" eaLnBrk="1" hangingPunct="1">
              <a:buClr>
                <a:srgbClr val="0B5395"/>
              </a:buClr>
              <a:buNone/>
            </a:pPr>
            <a:r>
              <a:rPr lang="en-US" altLang="en-US" b="1" dirty="0">
                <a:latin typeface="Times New Roman" pitchFamily="18" charset="0"/>
                <a:cs typeface="Times New Roman" pitchFamily="18" charset="0"/>
              </a:rPr>
              <a:t>Types of </a:t>
            </a:r>
            <a:r>
              <a:rPr lang="en-US" altLang="en-US" b="1" dirty="0" err="1">
                <a:latin typeface="Times New Roman" pitchFamily="18" charset="0"/>
                <a:cs typeface="Times New Roman" pitchFamily="18" charset="0"/>
              </a:rPr>
              <a:t>Numerosity</a:t>
            </a:r>
            <a:r>
              <a:rPr lang="en-US" altLang="en-US" b="1" dirty="0">
                <a:latin typeface="Times New Roman" pitchFamily="18" charset="0"/>
                <a:cs typeface="Times New Roman" pitchFamily="18" charset="0"/>
              </a:rPr>
              <a:t> Reduction</a:t>
            </a:r>
          </a:p>
          <a:p>
            <a:pPr marL="46037" indent="0">
              <a:buNone/>
            </a:pPr>
            <a:r>
              <a:rPr lang="en-US" sz="2000" b="1" dirty="0">
                <a:latin typeface="Times New Roman" pitchFamily="18" charset="0"/>
                <a:cs typeface="Times New Roman" pitchFamily="18" charset="0"/>
              </a:rPr>
              <a:t>4. Histograms / Binning</a:t>
            </a:r>
          </a:p>
          <a:p>
            <a:pPr marL="46037" indent="0">
              <a:buNone/>
            </a:pPr>
            <a:r>
              <a:rPr lang="en-US" sz="2000" dirty="0">
                <a:latin typeface="Times New Roman" pitchFamily="18" charset="0"/>
                <a:cs typeface="Times New Roman" pitchFamily="18" charset="0"/>
              </a:rPr>
              <a:t>Store value ranges rather than individual observations.</a:t>
            </a:r>
          </a:p>
          <a:p>
            <a:pPr marL="46037" indent="0">
              <a:buNone/>
            </a:pPr>
            <a:r>
              <a:rPr lang="en-US" sz="2000" b="1" dirty="0">
                <a:latin typeface="Times New Roman" pitchFamily="18" charset="0"/>
                <a:cs typeface="Times New Roman" pitchFamily="18" charset="0"/>
              </a:rPr>
              <a:t>Original Data</a:t>
            </a:r>
          </a:p>
          <a:p>
            <a:pPr marL="46037" indent="0">
              <a:buNone/>
            </a:pPr>
            <a:r>
              <a:rPr lang="en-US" sz="2000" dirty="0">
                <a:latin typeface="Times New Roman" pitchFamily="18" charset="0"/>
                <a:cs typeface="Times New Roman" pitchFamily="18" charset="0"/>
              </a:rPr>
              <a:t>20, 21, 22, 23, 24, 25</a:t>
            </a:r>
          </a:p>
          <a:p>
            <a:pPr marL="46037" indent="0">
              <a:buNone/>
            </a:pPr>
            <a:r>
              <a:rPr lang="en-US" sz="2000" b="1" dirty="0">
                <a:latin typeface="Times New Roman" pitchFamily="18" charset="0"/>
                <a:cs typeface="Times New Roman" pitchFamily="18" charset="0"/>
              </a:rPr>
              <a:t>Reduced Form</a:t>
            </a:r>
          </a:p>
          <a:p>
            <a:pPr marL="46037" indent="0">
              <a:buNone/>
            </a:pPr>
            <a:endParaRPr lang="en-US" sz="2000" b="1" dirty="0">
              <a:latin typeface="Times New Roman" pitchFamily="18" charset="0"/>
              <a:cs typeface="Times New Roman" pitchFamily="18" charset="0"/>
            </a:endParaRPr>
          </a:p>
          <a:p>
            <a:pPr marL="46037" indent="0">
              <a:buNone/>
            </a:pPr>
            <a:endParaRPr lang="en-US" sz="2000" dirty="0">
              <a:solidFill>
                <a:srgbClr val="FF0000"/>
              </a:solidFill>
              <a:latin typeface="Times New Roman" pitchFamily="18" charset="0"/>
              <a:cs typeface="Times New Roman" pitchFamily="18" charset="0"/>
            </a:endParaRPr>
          </a:p>
          <a:p>
            <a:pPr marL="46037" indent="0">
              <a:buNone/>
            </a:pPr>
            <a:endParaRPr lang="en-US" sz="2000" dirty="0">
              <a:solidFill>
                <a:srgbClr val="FF0000"/>
              </a:solidFill>
              <a:latin typeface="Times New Roman" pitchFamily="18" charset="0"/>
              <a:cs typeface="Times New Roman" pitchFamily="18" charset="0"/>
            </a:endParaRPr>
          </a:p>
          <a:p>
            <a:pPr marL="46037" indent="0">
              <a:buNone/>
            </a:pPr>
            <a:r>
              <a:rPr lang="en-US" sz="2000" dirty="0">
                <a:solidFill>
                  <a:srgbClr val="FF0000"/>
                </a:solidFill>
                <a:latin typeface="Times New Roman" pitchFamily="18" charset="0"/>
                <a:cs typeface="Times New Roman" pitchFamily="18" charset="0"/>
              </a:rPr>
              <a:t>Instead of storing every record, store the cluster representative.</a:t>
            </a:r>
          </a:p>
          <a:p>
            <a:pPr marL="46037" indent="0">
              <a:buNone/>
            </a:pPr>
            <a:endParaRPr lang="en-US" sz="2000" dirty="0">
              <a:latin typeface="Times New Roman" pitchFamily="18" charset="0"/>
              <a:cs typeface="Times New Roman" pitchFamily="18" charset="0"/>
            </a:endParaRP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57</a:t>
            </a:fld>
            <a:endParaRPr lang="en-US" altLang="en-US"/>
          </a:p>
        </p:txBody>
      </p:sp>
      <p:graphicFrame>
        <p:nvGraphicFramePr>
          <p:cNvPr id="2" name="Table 1"/>
          <p:cNvGraphicFramePr>
            <a:graphicFrameLocks noGrp="1"/>
          </p:cNvGraphicFramePr>
          <p:nvPr>
            <p:extLst>
              <p:ext uri="{D42A27DB-BD31-4B8C-83A1-F6EECF244321}">
                <p14:modId xmlns:p14="http://schemas.microsoft.com/office/powerpoint/2010/main" val="1880312143"/>
              </p:ext>
            </p:extLst>
          </p:nvPr>
        </p:nvGraphicFramePr>
        <p:xfrm>
          <a:off x="1281793" y="4417967"/>
          <a:ext cx="2577783" cy="1097280"/>
        </p:xfrm>
        <a:graphic>
          <a:graphicData uri="http://schemas.openxmlformats.org/drawingml/2006/table">
            <a:tbl>
              <a:tblPr>
                <a:tableStyleId>{3C2FFA5D-87B4-456A-9821-1D502468CF0F}</a:tableStyleId>
              </a:tblPr>
              <a:tblGrid>
                <a:gridCol w="1300480">
                  <a:extLst>
                    <a:ext uri="{9D8B030D-6E8A-4147-A177-3AD203B41FA5}">
                      <a16:colId xmlns:a16="http://schemas.microsoft.com/office/drawing/2014/main" val="20000"/>
                    </a:ext>
                  </a:extLst>
                </a:gridCol>
                <a:gridCol w="1277303">
                  <a:extLst>
                    <a:ext uri="{9D8B030D-6E8A-4147-A177-3AD203B41FA5}">
                      <a16:colId xmlns:a16="http://schemas.microsoft.com/office/drawing/2014/main" val="20001"/>
                    </a:ext>
                  </a:extLst>
                </a:gridCol>
              </a:tblGrid>
              <a:tr h="365760">
                <a:tc>
                  <a:txBody>
                    <a:bodyPr/>
                    <a:lstStyle/>
                    <a:p>
                      <a:r>
                        <a:rPr lang="en-US" sz="1800" b="1">
                          <a:latin typeface="Times New Roman" pitchFamily="18" charset="0"/>
                          <a:cs typeface="Times New Roman" pitchFamily="18" charset="0"/>
                        </a:rPr>
                        <a:t>Age Range</a:t>
                      </a:r>
                    </a:p>
                  </a:txBody>
                  <a:tcPr anchor="ctr"/>
                </a:tc>
                <a:tc>
                  <a:txBody>
                    <a:bodyPr/>
                    <a:lstStyle/>
                    <a:p>
                      <a:r>
                        <a:rPr lang="en-US" sz="1800" b="1" dirty="0">
                          <a:latin typeface="Times New Roman" pitchFamily="18" charset="0"/>
                          <a:cs typeface="Times New Roman" pitchFamily="18" charset="0"/>
                        </a:rPr>
                        <a:t>Frequency</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20–22</a:t>
                      </a:r>
                    </a:p>
                  </a:txBody>
                  <a:tcPr anchor="ctr"/>
                </a:tc>
                <a:tc>
                  <a:txBody>
                    <a:bodyPr/>
                    <a:lstStyle/>
                    <a:p>
                      <a:r>
                        <a:rPr lang="en-US" sz="1800">
                          <a:latin typeface="Times New Roman" pitchFamily="18" charset="0"/>
                          <a:cs typeface="Times New Roman" pitchFamily="18" charset="0"/>
                        </a:rPr>
                        <a:t>3</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23–25</a:t>
                      </a:r>
                    </a:p>
                  </a:txBody>
                  <a:tcPr anchor="ctr"/>
                </a:tc>
                <a:tc>
                  <a:txBody>
                    <a:bodyPr/>
                    <a:lstStyle/>
                    <a:p>
                      <a:r>
                        <a:rPr lang="en-US" sz="1800" dirty="0">
                          <a:latin typeface="Times New Roman" pitchFamily="18" charset="0"/>
                          <a:cs typeface="Times New Roman" pitchFamily="18" charset="0"/>
                        </a:rPr>
                        <a:t>3</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522211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447675"/>
            <a:ext cx="9875838" cy="1355725"/>
          </a:xfrm>
        </p:spPr>
        <p:txBody>
          <a:bodyPr rtlCol="0">
            <a:normAutofit/>
          </a:bodyPr>
          <a:lstStyle/>
          <a:p>
            <a:pPr algn="ct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Data Preprocessing : </a:t>
            </a:r>
            <a:r>
              <a:rPr lang="en-US" altLang="en-US" sz="3200" dirty="0">
                <a:solidFill>
                  <a:schemeClr val="tx1">
                    <a:lumMod val="95000"/>
                    <a:lumOff val="5000"/>
                  </a:schemeClr>
                </a:solidFill>
                <a:latin typeface="Calibri" panose="020F0502020204030204" pitchFamily="34" charset="0"/>
                <a:cs typeface="Calibri" panose="020F0502020204030204" pitchFamily="34" charset="0"/>
              </a:rPr>
              <a:t>Data Reduction</a:t>
            </a: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p:txBody>
      </p:sp>
      <p:sp>
        <p:nvSpPr>
          <p:cNvPr id="5123" name="Content Placeholder 2"/>
          <p:cNvSpPr>
            <a:spLocks noGrp="1"/>
          </p:cNvSpPr>
          <p:nvPr>
            <p:ph idx="1"/>
          </p:nvPr>
        </p:nvSpPr>
        <p:spPr>
          <a:xfrm>
            <a:off x="1143001" y="1655763"/>
            <a:ext cx="7151914" cy="4440237"/>
          </a:xfrm>
        </p:spPr>
        <p:txBody>
          <a:bodyPr/>
          <a:lstStyle/>
          <a:p>
            <a:pPr marL="80963" lvl="1" indent="0" algn="just" eaLnBrk="1" hangingPunct="1">
              <a:buClr>
                <a:srgbClr val="0B5395"/>
              </a:buClr>
              <a:buNone/>
            </a:pPr>
            <a:r>
              <a:rPr lang="en-US" altLang="en-US" b="1" dirty="0" err="1">
                <a:latin typeface="Times New Roman" pitchFamily="18" charset="0"/>
                <a:cs typeface="Times New Roman" pitchFamily="18" charset="0"/>
              </a:rPr>
              <a:t>Numerosity</a:t>
            </a:r>
            <a:r>
              <a:rPr lang="en-US" altLang="en-US" b="1" dirty="0">
                <a:latin typeface="Times New Roman" pitchFamily="18" charset="0"/>
                <a:cs typeface="Times New Roman" pitchFamily="18" charset="0"/>
              </a:rPr>
              <a:t> Reduction </a:t>
            </a:r>
            <a:r>
              <a:rPr lang="en-US" altLang="en-US" b="1" dirty="0" err="1">
                <a:latin typeface="Times New Roman" pitchFamily="18" charset="0"/>
                <a:cs typeface="Times New Roman" pitchFamily="18" charset="0"/>
              </a:rPr>
              <a:t>vs</a:t>
            </a:r>
            <a:r>
              <a:rPr lang="en-US" altLang="en-US" b="1" dirty="0">
                <a:latin typeface="Times New Roman" pitchFamily="18" charset="0"/>
                <a:cs typeface="Times New Roman" pitchFamily="18" charset="0"/>
              </a:rPr>
              <a:t> Dimensionality</a:t>
            </a:r>
            <a:endParaRPr lang="en-US" sz="2000" dirty="0">
              <a:latin typeface="Times New Roman" pitchFamily="18" charset="0"/>
              <a:cs typeface="Times New Roman" pitchFamily="18" charset="0"/>
            </a:endParaRPr>
          </a:p>
        </p:txBody>
      </p:sp>
      <p:sp>
        <p:nvSpPr>
          <p:cNvPr id="512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E5DE473F-2F9A-419D-9056-74E4E804780D}" type="slidenum">
              <a:rPr lang="en-US" altLang="en-US"/>
              <a:pPr/>
              <a:t>58</a:t>
            </a:fld>
            <a:endParaRPr lang="en-US" altLang="en-US"/>
          </a:p>
        </p:txBody>
      </p:sp>
      <p:graphicFrame>
        <p:nvGraphicFramePr>
          <p:cNvPr id="2" name="Table 1"/>
          <p:cNvGraphicFramePr>
            <a:graphicFrameLocks noGrp="1"/>
          </p:cNvGraphicFramePr>
          <p:nvPr>
            <p:extLst>
              <p:ext uri="{D42A27DB-BD31-4B8C-83A1-F6EECF244321}">
                <p14:modId xmlns:p14="http://schemas.microsoft.com/office/powerpoint/2010/main" val="3877964440"/>
              </p:ext>
            </p:extLst>
          </p:nvPr>
        </p:nvGraphicFramePr>
        <p:xfrm>
          <a:off x="3567793" y="2618558"/>
          <a:ext cx="5213033" cy="1463040"/>
        </p:xfrm>
        <a:graphic>
          <a:graphicData uri="http://schemas.openxmlformats.org/drawingml/2006/table">
            <a:tbl>
              <a:tblPr>
                <a:tableStyleId>{3C2FFA5D-87B4-456A-9821-1D502468CF0F}</a:tableStyleId>
              </a:tblPr>
              <a:tblGrid>
                <a:gridCol w="2439353">
                  <a:extLst>
                    <a:ext uri="{9D8B030D-6E8A-4147-A177-3AD203B41FA5}">
                      <a16:colId xmlns:a16="http://schemas.microsoft.com/office/drawing/2014/main" val="20000"/>
                    </a:ext>
                  </a:extLst>
                </a:gridCol>
                <a:gridCol w="2773680">
                  <a:extLst>
                    <a:ext uri="{9D8B030D-6E8A-4147-A177-3AD203B41FA5}">
                      <a16:colId xmlns:a16="http://schemas.microsoft.com/office/drawing/2014/main" val="20001"/>
                    </a:ext>
                  </a:extLst>
                </a:gridCol>
              </a:tblGrid>
              <a:tr h="365760">
                <a:tc>
                  <a:txBody>
                    <a:bodyPr/>
                    <a:lstStyle/>
                    <a:p>
                      <a:r>
                        <a:rPr lang="en-US" sz="1800" b="1">
                          <a:latin typeface="Times New Roman" pitchFamily="18" charset="0"/>
                          <a:cs typeface="Times New Roman" pitchFamily="18" charset="0"/>
                        </a:rPr>
                        <a:t>Numerosity Reduction</a:t>
                      </a:r>
                    </a:p>
                  </a:txBody>
                  <a:tcPr anchor="ctr"/>
                </a:tc>
                <a:tc>
                  <a:txBody>
                    <a:bodyPr/>
                    <a:lstStyle/>
                    <a:p>
                      <a:r>
                        <a:rPr lang="en-US" sz="1800" b="1" dirty="0">
                          <a:latin typeface="Times New Roman" pitchFamily="18" charset="0"/>
                          <a:cs typeface="Times New Roman" pitchFamily="18" charset="0"/>
                        </a:rPr>
                        <a:t>Dimensionality Reduction</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Reduces rows</a:t>
                      </a:r>
                    </a:p>
                  </a:txBody>
                  <a:tcPr anchor="ctr"/>
                </a:tc>
                <a:tc>
                  <a:txBody>
                    <a:bodyPr/>
                    <a:lstStyle/>
                    <a:p>
                      <a:r>
                        <a:rPr lang="en-US" sz="1800">
                          <a:latin typeface="Times New Roman" pitchFamily="18" charset="0"/>
                          <a:cs typeface="Times New Roman" pitchFamily="18" charset="0"/>
                        </a:rPr>
                        <a:t>Reduces columns</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Fewer observations</a:t>
                      </a:r>
                    </a:p>
                  </a:txBody>
                  <a:tcPr anchor="ctr"/>
                </a:tc>
                <a:tc>
                  <a:txBody>
                    <a:bodyPr/>
                    <a:lstStyle/>
                    <a:p>
                      <a:r>
                        <a:rPr lang="en-US" sz="1800">
                          <a:latin typeface="Times New Roman" pitchFamily="18" charset="0"/>
                          <a:cs typeface="Times New Roman" pitchFamily="18" charset="0"/>
                        </a:rPr>
                        <a:t>Fewer features</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Example: Sampling</a:t>
                      </a:r>
                    </a:p>
                  </a:txBody>
                  <a:tcPr anchor="ctr"/>
                </a:tc>
                <a:tc>
                  <a:txBody>
                    <a:bodyPr/>
                    <a:lstStyle/>
                    <a:p>
                      <a:r>
                        <a:rPr lang="en-US" sz="1800" dirty="0">
                          <a:latin typeface="Times New Roman" pitchFamily="18" charset="0"/>
                          <a:cs typeface="Times New Roman" pitchFamily="18" charset="0"/>
                        </a:rPr>
                        <a:t>Example: PCA</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07185446"/>
      </p:ext>
    </p:extLst>
  </p:cSld>
  <p:clrMapOvr>
    <a:masterClrMapping/>
  </p:clrMapOvr>
</p:sld>
</file>

<file path=ppt/theme/theme1.xml><?xml version="1.0" encoding="utf-8"?>
<a:theme xmlns:a="http://schemas.openxmlformats.org/drawingml/2006/main" name="Basis">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Tw Cen MT-Rockwell">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33405</TotalTime>
  <Words>4538</Words>
  <Application>Microsoft Office PowerPoint</Application>
  <PresentationFormat>Widescreen</PresentationFormat>
  <Paragraphs>1061</Paragraphs>
  <Slides>58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58</vt:i4>
      </vt:variant>
    </vt:vector>
  </HeadingPairs>
  <TitlesOfParts>
    <vt:vector size="66" baseType="lpstr">
      <vt:lpstr>Arial</vt:lpstr>
      <vt:lpstr>Calibri</vt:lpstr>
      <vt:lpstr>Cambria Math</vt:lpstr>
      <vt:lpstr>Corbel</vt:lpstr>
      <vt:lpstr>Rockwell</vt:lpstr>
      <vt:lpstr>Times New Roman</vt:lpstr>
      <vt:lpstr>Tw Cen MT</vt:lpstr>
      <vt:lpstr>Basis</vt:lpstr>
      <vt:lpstr>Data Preprocessing</vt:lpstr>
      <vt:lpstr>PowerPoint Presentation</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Cleaning</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Transformation</vt:lpstr>
      <vt:lpstr>Data Preprocessing : Data Reduction</vt:lpstr>
      <vt:lpstr>Data Preprocessing : Data Reduction</vt:lpstr>
      <vt:lpstr>Data Preprocessing : Data Reduction</vt:lpstr>
      <vt:lpstr>Data Preprocessing : Data Reduction</vt:lpstr>
      <vt:lpstr>Data Preprocessing : Data Reduction</vt:lpstr>
      <vt:lpstr>Data Preprocessing : Data Reduction</vt:lpstr>
      <vt:lpstr>Data Preprocessing : Data Reduction</vt:lpstr>
      <vt:lpstr>Data Preprocessing : Data Reduction</vt:lpstr>
      <vt:lpstr>Data Preprocessing : Data Reduction</vt:lpstr>
      <vt:lpstr>Data Preprocessing : Data Reduction</vt:lpstr>
      <vt:lpstr>Data Preprocessing : Data Reduction</vt:lpstr>
      <vt:lpstr>Data Preprocessing : Data Reduction</vt:lpstr>
      <vt:lpstr>Data Preprocessing : Data Reduction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Mining</dc:title>
  <dc:creator>HP</dc:creator>
  <cp:lastModifiedBy>Ashraf</cp:lastModifiedBy>
  <cp:revision>813</cp:revision>
  <dcterms:created xsi:type="dcterms:W3CDTF">2016-09-26T17:30:27Z</dcterms:created>
  <dcterms:modified xsi:type="dcterms:W3CDTF">2026-06-11T03:56:45Z</dcterms:modified>
</cp:coreProperties>
</file>