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4" r:id="rId2"/>
    <p:sldId id="285" r:id="rId3"/>
    <p:sldId id="286" r:id="rId4"/>
    <p:sldId id="289" r:id="rId5"/>
    <p:sldId id="290" r:id="rId6"/>
    <p:sldId id="291" r:id="rId7"/>
    <p:sldId id="293" r:id="rId8"/>
    <p:sldId id="294" r:id="rId9"/>
    <p:sldId id="295" r:id="rId10"/>
    <p:sldId id="296" r:id="rId11"/>
    <p:sldId id="297" r:id="rId12"/>
    <p:sldId id="298" r:id="rId13"/>
    <p:sldId id="292" r:id="rId14"/>
    <p:sldId id="288" r:id="rId15"/>
    <p:sldId id="299" r:id="rId16"/>
    <p:sldId id="300" r:id="rId17"/>
    <p:sldId id="301" r:id="rId18"/>
    <p:sldId id="333" r:id="rId19"/>
    <p:sldId id="303" r:id="rId20"/>
    <p:sldId id="304" r:id="rId21"/>
    <p:sldId id="305" r:id="rId22"/>
    <p:sldId id="308" r:id="rId23"/>
    <p:sldId id="309" r:id="rId24"/>
    <p:sldId id="307" r:id="rId25"/>
    <p:sldId id="310" r:id="rId26"/>
    <p:sldId id="311" r:id="rId27"/>
    <p:sldId id="306" r:id="rId28"/>
    <p:sldId id="312" r:id="rId29"/>
    <p:sldId id="313" r:id="rId30"/>
    <p:sldId id="318" r:id="rId31"/>
    <p:sldId id="320" r:id="rId32"/>
    <p:sldId id="321" r:id="rId33"/>
    <p:sldId id="322" r:id="rId34"/>
    <p:sldId id="319" r:id="rId35"/>
    <p:sldId id="338" r:id="rId36"/>
    <p:sldId id="323" r:id="rId37"/>
    <p:sldId id="337" r:id="rId38"/>
    <p:sldId id="331" r:id="rId39"/>
    <p:sldId id="332" r:id="rId40"/>
    <p:sldId id="334" r:id="rId41"/>
    <p:sldId id="335" r:id="rId42"/>
    <p:sldId id="336" r:id="rId43"/>
    <p:sldId id="339" r:id="rId44"/>
    <p:sldId id="345" r:id="rId45"/>
    <p:sldId id="346" r:id="rId46"/>
    <p:sldId id="347" r:id="rId47"/>
    <p:sldId id="348" r:id="rId48"/>
    <p:sldId id="302" r:id="rId49"/>
    <p:sldId id="349" r:id="rId50"/>
    <p:sldId id="350" r:id="rId51"/>
    <p:sldId id="351" r:id="rId52"/>
    <p:sldId id="342" r:id="rId53"/>
    <p:sldId id="343" r:id="rId54"/>
    <p:sldId id="344"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BE2C4CB-14E1-43EC-9E25-77CFC75FDBE0}"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14583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3227632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E2C4CB-14E1-43EC-9E25-77CFC75FDBE0}"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147648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E2C4CB-14E1-43EC-9E25-77CFC75FDBE0}"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2681392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BE2C4CB-14E1-43EC-9E25-77CFC75FDBE0}" type="datetimeFigureOut">
              <a:rPr lang="en-US" smtClean="0"/>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2606883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BE2C4CB-14E1-43EC-9E25-77CFC75FDBE0}" type="datetimeFigureOut">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4263253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E2C4CB-14E1-43EC-9E25-77CFC75FDBE0}" type="datetimeFigureOut">
              <a:rPr lang="en-US" smtClean="0"/>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786362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E2C4CB-14E1-43EC-9E25-77CFC75FDBE0}"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3269097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E2C4CB-14E1-43EC-9E25-77CFC75FDBE0}"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3210235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1168278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extLst>
      <p:ext uri="{BB962C8B-B14F-4D97-AF65-F5344CB8AC3E}">
        <p14:creationId xmlns:p14="http://schemas.microsoft.com/office/powerpoint/2010/main" val="1772627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E2C4CB-14E1-43EC-9E25-77CFC75FDBE0}" type="datetimeFigureOut">
              <a:rPr lang="en-US" smtClean="0"/>
              <a:t>4/27/2026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F02EF3-4937-48F5-B6FA-9356B5FF0260}" type="slidenum">
              <a:rPr lang="en-US" smtClean="0"/>
              <a:t>‹#›</a:t>
            </a:fld>
            <a:endParaRPr lang="en-US"/>
          </a:p>
        </p:txBody>
      </p:sp>
    </p:spTree>
    <p:extLst>
      <p:ext uri="{BB962C8B-B14F-4D97-AF65-F5344CB8AC3E}">
        <p14:creationId xmlns:p14="http://schemas.microsoft.com/office/powerpoint/2010/main" val="10272516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hyperlink" Target="https://colab.research.google.com/drive/1WvzjLHrb2Yf0ocPfUPUAIL7lYTIAvGwl?usp=sharing" TargetMode="Externa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image" Target="../media/image6.emf"/><Relationship Id="rId4" Type="http://schemas.openxmlformats.org/officeDocument/2006/relationships/oleObject" Target="../embeddings/oleObject2.bin"/></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1" Type="http://schemas.openxmlformats.org/officeDocument/2006/relationships/slideLayout" Target="../slideLayouts/slideLayout1.x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1" Type="http://schemas.openxmlformats.org/officeDocument/2006/relationships/slideLayout" Target="../slideLayouts/slideLayout1.x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1" Type="http://schemas.openxmlformats.org/officeDocument/2006/relationships/slideLayout" Target="../slideLayouts/slideLayout1.x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1" Type="http://schemas.openxmlformats.org/officeDocument/2006/relationships/slideLayout" Target="../slideLayouts/slideLayout1.xml"/><Relationship Id="rId5" Type="http://schemas.openxmlformats.org/officeDocument/2006/relationships/image" Target="../media/image4.emf"/><Relationship Id="rId4" Type="http://schemas.openxmlformats.org/officeDocument/2006/relationships/oleObject" Target="../embeddings/oleObject3.bin"/></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1.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oleObject" Target="../embeddings/oleObject4.bin"/><Relationship Id="rId1" Type="http://schemas.openxmlformats.org/officeDocument/2006/relationships/slideLayout" Target="../slideLayouts/slideLayout1.xml"/><Relationship Id="rId6" Type="http://schemas.openxmlformats.org/officeDocument/2006/relationships/image" Target="../media/image31.wmf"/><Relationship Id="rId5" Type="http://schemas.openxmlformats.org/officeDocument/2006/relationships/oleObject" Target="../embeddings/oleObject5.bin"/><Relationship Id="rId4" Type="http://schemas.openxmlformats.org/officeDocument/2006/relationships/image" Target="../media/image30.jpeg"/></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Supervised Learning: Classification</a:t>
            </a:r>
          </a:p>
        </p:txBody>
      </p:sp>
      <p:sp>
        <p:nvSpPr>
          <p:cNvPr id="3" name="Subtitle 2"/>
          <p:cNvSpPr>
            <a:spLocks noGrp="1"/>
          </p:cNvSpPr>
          <p:nvPr>
            <p:ph type="subTitle" idx="1"/>
          </p:nvPr>
        </p:nvSpPr>
        <p:spPr>
          <a:xfrm>
            <a:off x="685800" y="1371600"/>
            <a:ext cx="7467600" cy="4343400"/>
          </a:xfrm>
        </p:spPr>
        <p:txBody>
          <a:bodyPr>
            <a:normAutofit lnSpcReduction="10000"/>
          </a:bodyPr>
          <a:lstStyle/>
          <a:p>
            <a:pPr algn="just"/>
            <a:r>
              <a:rPr lang="en-US" sz="1800" b="1" dirty="0">
                <a:solidFill>
                  <a:schemeClr val="tx1"/>
                </a:solidFill>
                <a:latin typeface="Times New Roman" pitchFamily="18" charset="0"/>
                <a:cs typeface="Times New Roman" pitchFamily="18" charset="0"/>
              </a:rPr>
              <a:t>Classification</a:t>
            </a:r>
            <a:r>
              <a:rPr lang="en-US" sz="1800" dirty="0">
                <a:solidFill>
                  <a:schemeClr val="tx1"/>
                </a:solidFill>
                <a:latin typeface="Times New Roman" pitchFamily="18" charset="0"/>
                <a:cs typeface="Times New Roman" pitchFamily="18" charset="0"/>
              </a:rPr>
              <a:t> in machine learning is a type of supervised learning where the goal is to categorize or classify data points into predefined classes or labels.</a:t>
            </a:r>
          </a:p>
          <a:p>
            <a:pPr algn="just"/>
            <a:r>
              <a:rPr lang="en-US" sz="1800" dirty="0">
                <a:solidFill>
                  <a:schemeClr val="tx1"/>
                </a:solidFill>
                <a:latin typeface="Times New Roman" pitchFamily="18" charset="0"/>
                <a:cs typeface="Times New Roman" pitchFamily="18" charset="0"/>
              </a:rPr>
              <a:t>Given input data (features), a classification algorithm learns </a:t>
            </a:r>
            <a:r>
              <a:rPr lang="en-US" sz="1800" b="1" dirty="0">
                <a:solidFill>
                  <a:schemeClr val="tx1"/>
                </a:solidFill>
                <a:latin typeface="Times New Roman" pitchFamily="18" charset="0"/>
                <a:cs typeface="Times New Roman" pitchFamily="18" charset="0"/>
              </a:rPr>
              <a:t>a mapping function</a:t>
            </a:r>
            <a:r>
              <a:rPr lang="en-US" sz="1800" dirty="0">
                <a:solidFill>
                  <a:schemeClr val="tx1"/>
                </a:solidFill>
                <a:latin typeface="Times New Roman" pitchFamily="18" charset="0"/>
                <a:cs typeface="Times New Roman" pitchFamily="18" charset="0"/>
              </a:rPr>
              <a:t> that assigns a label (or class) to each data point based on the training data. It is used when the output variable is categorical, meaning it falls into one of several distinct categories.</a:t>
            </a:r>
          </a:p>
          <a:p>
            <a:pPr algn="just"/>
            <a:endParaRPr lang="en-US"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Examples of Classification Algorithms:</a:t>
            </a:r>
          </a:p>
          <a:p>
            <a:pPr algn="just"/>
            <a:r>
              <a:rPr lang="en-US" sz="1800" dirty="0">
                <a:solidFill>
                  <a:schemeClr val="tx1"/>
                </a:solidFill>
                <a:latin typeface="Times New Roman" pitchFamily="18" charset="0"/>
                <a:cs typeface="Times New Roman" pitchFamily="18" charset="0"/>
              </a:rPr>
              <a:t>Logistic Regression</a:t>
            </a:r>
          </a:p>
          <a:p>
            <a:pPr algn="just"/>
            <a:r>
              <a:rPr lang="en-US" sz="1800" dirty="0">
                <a:solidFill>
                  <a:schemeClr val="tx1"/>
                </a:solidFill>
                <a:latin typeface="Times New Roman" pitchFamily="18" charset="0"/>
                <a:cs typeface="Times New Roman" pitchFamily="18" charset="0"/>
              </a:rPr>
              <a:t>K-Nearest Neighbors (KNN)</a:t>
            </a:r>
          </a:p>
          <a:p>
            <a:pPr algn="just"/>
            <a:r>
              <a:rPr lang="en-US" sz="1800" dirty="0">
                <a:solidFill>
                  <a:schemeClr val="tx1"/>
                </a:solidFill>
                <a:latin typeface="Times New Roman" pitchFamily="18" charset="0"/>
                <a:cs typeface="Times New Roman" pitchFamily="18" charset="0"/>
              </a:rPr>
              <a:t>Decision Trees</a:t>
            </a:r>
          </a:p>
          <a:p>
            <a:pPr algn="just"/>
            <a:r>
              <a:rPr lang="en-US" sz="1800" dirty="0">
                <a:solidFill>
                  <a:schemeClr val="tx1"/>
                </a:solidFill>
                <a:latin typeface="Times New Roman" pitchFamily="18" charset="0"/>
                <a:cs typeface="Times New Roman" pitchFamily="18" charset="0"/>
              </a:rPr>
              <a:t>Naive Bayes</a:t>
            </a:r>
          </a:p>
          <a:p>
            <a:pPr algn="just"/>
            <a:r>
              <a:rPr lang="en-US" sz="1800" dirty="0">
                <a:solidFill>
                  <a:schemeClr val="tx1"/>
                </a:solidFill>
                <a:latin typeface="Times New Roman" pitchFamily="18" charset="0"/>
                <a:cs typeface="Times New Roman" pitchFamily="18" charset="0"/>
              </a:rPr>
              <a:t>Support Vector Machine (SVM)</a:t>
            </a:r>
          </a:p>
          <a:p>
            <a:pPr algn="just"/>
            <a:r>
              <a:rPr lang="en-US" sz="1800" dirty="0">
                <a:solidFill>
                  <a:schemeClr val="tx1"/>
                </a:solidFill>
                <a:latin typeface="Times New Roman" pitchFamily="18" charset="0"/>
                <a:cs typeface="Times New Roman" pitchFamily="18" charset="0"/>
              </a:rPr>
              <a:t>Random Forest</a:t>
            </a:r>
          </a:p>
          <a:p>
            <a:pPr algn="just"/>
            <a:r>
              <a:rPr lang="en-US" sz="1800" dirty="0">
                <a:solidFill>
                  <a:schemeClr val="tx1"/>
                </a:solidFill>
                <a:latin typeface="Times New Roman" pitchFamily="18" charset="0"/>
                <a:cs typeface="Times New Roman" pitchFamily="18" charset="0"/>
              </a:rPr>
              <a:t>Neural Networks</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1234" y="3598553"/>
            <a:ext cx="5227966" cy="2268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6884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KNN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K-Nearest Neighbors (KNN)</a:t>
            </a:r>
          </a:p>
          <a:p>
            <a:pPr algn="just"/>
            <a:r>
              <a:rPr lang="en-US" sz="1800" dirty="0">
                <a:solidFill>
                  <a:schemeClr val="tx1"/>
                </a:solidFill>
                <a:latin typeface="Times New Roman" pitchFamily="18" charset="0"/>
                <a:cs typeface="Times New Roman" pitchFamily="18" charset="0"/>
              </a:rPr>
              <a:t>It is a simple, non-parametric, </a:t>
            </a:r>
            <a:r>
              <a:rPr lang="en-US" sz="1800" b="1" dirty="0">
                <a:solidFill>
                  <a:schemeClr val="tx1"/>
                </a:solidFill>
                <a:latin typeface="Times New Roman" pitchFamily="18" charset="0"/>
                <a:cs typeface="Times New Roman" pitchFamily="18" charset="0"/>
              </a:rPr>
              <a:t>instance-based</a:t>
            </a:r>
            <a:r>
              <a:rPr lang="en-US" sz="1800" dirty="0">
                <a:solidFill>
                  <a:schemeClr val="tx1"/>
                </a:solidFill>
                <a:latin typeface="Times New Roman" pitchFamily="18" charset="0"/>
                <a:cs typeface="Times New Roman" pitchFamily="18" charset="0"/>
              </a:rPr>
              <a:t> machine learning algorithm. It can be also used as regression tasks. </a:t>
            </a:r>
          </a:p>
          <a:p>
            <a:pPr algn="just"/>
            <a:r>
              <a:rPr lang="en-US" sz="1800" dirty="0">
                <a:solidFill>
                  <a:schemeClr val="tx1"/>
                </a:solidFill>
                <a:latin typeface="Times New Roman" pitchFamily="18" charset="0"/>
                <a:cs typeface="Times New Roman" pitchFamily="18" charset="0"/>
              </a:rPr>
              <a:t>KNN works by finding the "k" closest data points (neighbors) to a new, unknown data point and making predictions based on their classes.</a:t>
            </a:r>
          </a:p>
          <a:p>
            <a:pPr algn="just"/>
            <a:r>
              <a:rPr lang="en-US" sz="1800" dirty="0">
                <a:solidFill>
                  <a:schemeClr val="tx1"/>
                </a:solidFill>
                <a:latin typeface="Times New Roman" pitchFamily="18" charset="0"/>
                <a:cs typeface="Times New Roman" pitchFamily="18" charset="0"/>
              </a:rPr>
              <a:t>KNN </a:t>
            </a:r>
            <a:r>
              <a:rPr lang="en-US" sz="1800" b="1" dirty="0">
                <a:solidFill>
                  <a:schemeClr val="tx1"/>
                </a:solidFill>
                <a:latin typeface="Times New Roman" pitchFamily="18" charset="0"/>
                <a:cs typeface="Times New Roman" pitchFamily="18" charset="0"/>
              </a:rPr>
              <a:t>does not build a model </a:t>
            </a:r>
            <a:r>
              <a:rPr lang="en-US" sz="1800" dirty="0">
                <a:solidFill>
                  <a:schemeClr val="tx1"/>
                </a:solidFill>
                <a:latin typeface="Times New Roman" pitchFamily="18" charset="0"/>
                <a:cs typeface="Times New Roman" pitchFamily="18" charset="0"/>
              </a:rPr>
              <a:t>during the training phase. Instead, it stores the training data and makes predictions by referencing it directly during testing. This is why it is also called a </a:t>
            </a:r>
            <a:r>
              <a:rPr lang="en-US" sz="1800" b="1" dirty="0">
                <a:solidFill>
                  <a:schemeClr val="tx1"/>
                </a:solidFill>
                <a:latin typeface="Times New Roman" pitchFamily="18" charset="0"/>
                <a:cs typeface="Times New Roman" pitchFamily="18" charset="0"/>
              </a:rPr>
              <a:t>lazy learner</a:t>
            </a:r>
            <a:r>
              <a:rPr lang="en-US" sz="1800" dirty="0">
                <a:solidFill>
                  <a:schemeClr val="tx1"/>
                </a:solidFill>
                <a:latin typeface="Times New Roman" pitchFamily="18" charset="0"/>
                <a:cs typeface="Times New Roman" pitchFamily="18" charset="0"/>
              </a:rPr>
              <a:t>.</a:t>
            </a:r>
          </a:p>
          <a:p>
            <a:pPr algn="just"/>
            <a:endParaRPr lang="en-US" sz="1800" b="1"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Advantages of KNN:</a:t>
            </a:r>
          </a:p>
          <a:p>
            <a:pPr algn="just"/>
            <a:r>
              <a:rPr lang="en-US" sz="1800" dirty="0">
                <a:solidFill>
                  <a:schemeClr val="tx1"/>
                </a:solidFill>
                <a:latin typeface="Times New Roman" pitchFamily="18" charset="0"/>
                <a:cs typeface="Times New Roman" pitchFamily="18" charset="0"/>
              </a:rPr>
              <a:t>KNN is easy to understand and implement.  Since KNN doesn’t build a model, the training phase is </a:t>
            </a:r>
            <a:r>
              <a:rPr lang="en-US" sz="1800" b="1" dirty="0">
                <a:solidFill>
                  <a:schemeClr val="tx1"/>
                </a:solidFill>
                <a:latin typeface="Times New Roman" pitchFamily="18" charset="0"/>
                <a:cs typeface="Times New Roman" pitchFamily="18" charset="0"/>
              </a:rPr>
              <a:t>fast</a:t>
            </a:r>
            <a:r>
              <a:rPr lang="en-US" sz="1800" dirty="0">
                <a:solidFill>
                  <a:schemeClr val="tx1"/>
                </a:solidFill>
                <a:latin typeface="Times New Roman" pitchFamily="18" charset="0"/>
                <a:cs typeface="Times New Roman" pitchFamily="18" charset="0"/>
              </a:rPr>
              <a:t>. It can be used for both classification and regression problems. KNN doesn’t make assumptions about the underlying data distribution (Non-parametric).</a:t>
            </a:r>
          </a:p>
          <a:p>
            <a:pPr algn="just"/>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448240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KNN</a:t>
            </a:r>
          </a:p>
        </p:txBody>
      </p:sp>
      <p:sp>
        <p:nvSpPr>
          <p:cNvPr id="3" name="Subtitle 2"/>
          <p:cNvSpPr>
            <a:spLocks noGrp="1"/>
          </p:cNvSpPr>
          <p:nvPr>
            <p:ph type="subTitle" idx="1"/>
          </p:nvPr>
        </p:nvSpPr>
        <p:spPr>
          <a:xfrm>
            <a:off x="685800" y="1371600"/>
            <a:ext cx="7467600" cy="4343400"/>
          </a:xfrm>
        </p:spPr>
        <p:txBody>
          <a:bodyPr>
            <a:normAutofit lnSpcReduction="10000"/>
          </a:bodyPr>
          <a:lstStyle/>
          <a:p>
            <a:pPr algn="just"/>
            <a:r>
              <a:rPr lang="en-US" sz="1800" b="1" dirty="0">
                <a:solidFill>
                  <a:schemeClr val="tx1"/>
                </a:solidFill>
                <a:latin typeface="Times New Roman" pitchFamily="18" charset="0"/>
                <a:cs typeface="Times New Roman" pitchFamily="18" charset="0"/>
              </a:rPr>
              <a:t>How KNN Works:</a:t>
            </a:r>
          </a:p>
          <a:p>
            <a:pPr algn="just"/>
            <a:endParaRPr lang="en-US" sz="1800" b="1"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Select k Neighbors: </a:t>
            </a:r>
            <a:r>
              <a:rPr lang="en-US" sz="1800" dirty="0">
                <a:solidFill>
                  <a:schemeClr val="tx1"/>
                </a:solidFill>
                <a:latin typeface="Times New Roman" pitchFamily="18" charset="0"/>
                <a:cs typeface="Times New Roman" pitchFamily="18" charset="0"/>
              </a:rPr>
              <a:t>The parameter "k" refers to the number of nearest neighbors to consider when making a prediction.</a:t>
            </a:r>
          </a:p>
          <a:p>
            <a:pPr algn="just"/>
            <a:endParaRPr lang="en-US"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Calculate Distance: </a:t>
            </a:r>
            <a:r>
              <a:rPr lang="en-US" sz="1800" dirty="0">
                <a:solidFill>
                  <a:schemeClr val="tx1"/>
                </a:solidFill>
                <a:latin typeface="Times New Roman" pitchFamily="18" charset="0"/>
                <a:cs typeface="Times New Roman" pitchFamily="18" charset="0"/>
              </a:rPr>
              <a:t>The algorithm calculates the distance between the new data point and all other points in the training dataset. Common distance metrics include: Euclidean Distance, Manhattan Distance.</a:t>
            </a:r>
          </a:p>
          <a:p>
            <a:pPr algn="just"/>
            <a:endParaRPr lang="en-US"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Identify Nearest Neighbors: </a:t>
            </a:r>
            <a:r>
              <a:rPr lang="en-US" sz="1800" dirty="0">
                <a:solidFill>
                  <a:schemeClr val="tx1"/>
                </a:solidFill>
                <a:latin typeface="Times New Roman" pitchFamily="18" charset="0"/>
                <a:cs typeface="Times New Roman" pitchFamily="18" charset="0"/>
              </a:rPr>
              <a:t>After calculating the distances, the algorithm selects the k nearest points (neighbors) from the training set.</a:t>
            </a:r>
          </a:p>
          <a:p>
            <a:pPr algn="just"/>
            <a:endParaRPr lang="en-US"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Make a Prediction: </a:t>
            </a:r>
            <a:r>
              <a:rPr lang="en-US" sz="1800" dirty="0">
                <a:solidFill>
                  <a:schemeClr val="tx1"/>
                </a:solidFill>
                <a:latin typeface="Times New Roman" pitchFamily="18" charset="0"/>
                <a:cs typeface="Times New Roman" pitchFamily="18" charset="0"/>
              </a:rPr>
              <a:t>Classification: The new point is assigned to the class that is most common among its k nearest neighbors (majority voting).</a:t>
            </a:r>
          </a:p>
        </p:txBody>
      </p:sp>
    </p:spTree>
    <p:extLst>
      <p:ext uri="{BB962C8B-B14F-4D97-AF65-F5344CB8AC3E}">
        <p14:creationId xmlns:p14="http://schemas.microsoft.com/office/powerpoint/2010/main" val="517407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KNN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How KNN Works:</a:t>
            </a:r>
          </a:p>
          <a:p>
            <a:pPr algn="just"/>
            <a:r>
              <a:rPr lang="en-US" sz="1800" dirty="0">
                <a:solidFill>
                  <a:schemeClr val="tx1"/>
                </a:solidFill>
                <a:latin typeface="Times New Roman" pitchFamily="18" charset="0"/>
                <a:cs typeface="Times New Roman" pitchFamily="18" charset="0"/>
              </a:rPr>
              <a:t>To  classify  a  new  input  vector  x,  examine  the  k‐closest  training  data  points  to  x  and  assign  the  object  to  the  most  frequently  occurring  class.</a:t>
            </a:r>
          </a:p>
          <a:p>
            <a:pPr algn="just"/>
            <a:endParaRPr lang="en-US" sz="1800" dirty="0">
              <a:solidFill>
                <a:schemeClr val="tx1"/>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1E3D6780-860C-45A9-A75F-F217DD97EF58}"/>
              </a:ext>
            </a:extLst>
          </p:cNvPr>
          <p:cNvPicPr>
            <a:picLocks noChangeAspect="1"/>
          </p:cNvPicPr>
          <p:nvPr/>
        </p:nvPicPr>
        <p:blipFill>
          <a:blip r:embed="rId2"/>
          <a:stretch>
            <a:fillRect/>
          </a:stretch>
        </p:blipFill>
        <p:spPr>
          <a:xfrm>
            <a:off x="1676400" y="2438400"/>
            <a:ext cx="5042131" cy="3781598"/>
          </a:xfrm>
          <a:prstGeom prst="rect">
            <a:avLst/>
          </a:prstGeom>
        </p:spPr>
      </p:pic>
    </p:spTree>
    <p:extLst>
      <p:ext uri="{BB962C8B-B14F-4D97-AF65-F5344CB8AC3E}">
        <p14:creationId xmlns:p14="http://schemas.microsoft.com/office/powerpoint/2010/main" val="1205103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KNN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How KNN Works:</a:t>
            </a:r>
          </a:p>
          <a:p>
            <a:pPr algn="just"/>
            <a:endParaRPr lang="en-US" sz="1800" dirty="0">
              <a:solidFill>
                <a:schemeClr val="tx1"/>
              </a:solidFill>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64FE1820-BA3F-493B-94D3-653ACFE70008}"/>
              </a:ext>
            </a:extLst>
          </p:cNvPr>
          <p:cNvPicPr>
            <a:picLocks noChangeAspect="1"/>
          </p:cNvPicPr>
          <p:nvPr/>
        </p:nvPicPr>
        <p:blipFill>
          <a:blip r:embed="rId2"/>
          <a:stretch>
            <a:fillRect/>
          </a:stretch>
        </p:blipFill>
        <p:spPr>
          <a:xfrm>
            <a:off x="609600" y="1905000"/>
            <a:ext cx="7089156" cy="3932958"/>
          </a:xfrm>
          <a:prstGeom prst="rect">
            <a:avLst/>
          </a:prstGeom>
        </p:spPr>
      </p:pic>
    </p:spTree>
    <p:extLst>
      <p:ext uri="{BB962C8B-B14F-4D97-AF65-F5344CB8AC3E}">
        <p14:creationId xmlns:p14="http://schemas.microsoft.com/office/powerpoint/2010/main" val="4091646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KNN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Example of KNN:</a:t>
            </a:r>
          </a:p>
        </p:txBody>
      </p:sp>
      <p:graphicFrame>
        <p:nvGraphicFramePr>
          <p:cNvPr id="4" name="Table 3">
            <a:extLst>
              <a:ext uri="{FF2B5EF4-FFF2-40B4-BE49-F238E27FC236}">
                <a16:creationId xmlns:a16="http://schemas.microsoft.com/office/drawing/2014/main" id="{A8D95DA3-DACC-0EAD-D75F-DD8B3038498E}"/>
              </a:ext>
            </a:extLst>
          </p:cNvPr>
          <p:cNvGraphicFramePr>
            <a:graphicFrameLocks noGrp="1"/>
          </p:cNvGraphicFramePr>
          <p:nvPr>
            <p:extLst>
              <p:ext uri="{D42A27DB-BD31-4B8C-83A1-F6EECF244321}">
                <p14:modId xmlns:p14="http://schemas.microsoft.com/office/powerpoint/2010/main" val="2314371220"/>
              </p:ext>
            </p:extLst>
          </p:nvPr>
        </p:nvGraphicFramePr>
        <p:xfrm>
          <a:off x="4724400" y="1503680"/>
          <a:ext cx="4151885" cy="4079240"/>
        </p:xfrm>
        <a:graphic>
          <a:graphicData uri="http://schemas.openxmlformats.org/drawingml/2006/table">
            <a:tbl>
              <a:tblPr firstRow="1" bandRow="1">
                <a:tableStyleId>{5C22544A-7EE6-4342-B048-85BDC9FD1C3A}</a:tableStyleId>
              </a:tblPr>
              <a:tblGrid>
                <a:gridCol w="1333310">
                  <a:extLst>
                    <a:ext uri="{9D8B030D-6E8A-4147-A177-3AD203B41FA5}">
                      <a16:colId xmlns:a16="http://schemas.microsoft.com/office/drawing/2014/main" val="1578106174"/>
                    </a:ext>
                  </a:extLst>
                </a:gridCol>
                <a:gridCol w="1370203">
                  <a:extLst>
                    <a:ext uri="{9D8B030D-6E8A-4147-A177-3AD203B41FA5}">
                      <a16:colId xmlns:a16="http://schemas.microsoft.com/office/drawing/2014/main" val="834031461"/>
                    </a:ext>
                  </a:extLst>
                </a:gridCol>
                <a:gridCol w="1448372">
                  <a:extLst>
                    <a:ext uri="{9D8B030D-6E8A-4147-A177-3AD203B41FA5}">
                      <a16:colId xmlns:a16="http://schemas.microsoft.com/office/drawing/2014/main" val="39674572"/>
                    </a:ext>
                  </a:extLst>
                </a:gridCol>
              </a:tblGrid>
              <a:tr h="370840">
                <a:tc>
                  <a:txBody>
                    <a:bodyPr/>
                    <a:lstStyle/>
                    <a:p>
                      <a:r>
                        <a:rPr lang="en-GB" dirty="0"/>
                        <a:t>Height (cm)</a:t>
                      </a:r>
                    </a:p>
                  </a:txBody>
                  <a:tcPr/>
                </a:tc>
                <a:tc>
                  <a:txBody>
                    <a:bodyPr/>
                    <a:lstStyle/>
                    <a:p>
                      <a:r>
                        <a:rPr lang="en-GB" dirty="0"/>
                        <a:t>Weight (KG)</a:t>
                      </a:r>
                    </a:p>
                  </a:txBody>
                  <a:tcPr/>
                </a:tc>
                <a:tc>
                  <a:txBody>
                    <a:bodyPr/>
                    <a:lstStyle/>
                    <a:p>
                      <a:r>
                        <a:rPr lang="en-GB" dirty="0"/>
                        <a:t>Class</a:t>
                      </a:r>
                    </a:p>
                  </a:txBody>
                  <a:tcPr/>
                </a:tc>
                <a:extLst>
                  <a:ext uri="{0D108BD9-81ED-4DB2-BD59-A6C34878D82A}">
                    <a16:rowId xmlns:a16="http://schemas.microsoft.com/office/drawing/2014/main" val="219217356"/>
                  </a:ext>
                </a:extLst>
              </a:tr>
              <a:tr h="370840">
                <a:tc>
                  <a:txBody>
                    <a:bodyPr/>
                    <a:lstStyle/>
                    <a:p>
                      <a:r>
                        <a:rPr lang="en-GB" dirty="0"/>
                        <a:t>167</a:t>
                      </a:r>
                    </a:p>
                  </a:txBody>
                  <a:tcPr/>
                </a:tc>
                <a:tc>
                  <a:txBody>
                    <a:bodyPr/>
                    <a:lstStyle/>
                    <a:p>
                      <a:r>
                        <a:rPr lang="en-GB" dirty="0"/>
                        <a:t>51</a:t>
                      </a:r>
                    </a:p>
                  </a:txBody>
                  <a:tcPr/>
                </a:tc>
                <a:tc>
                  <a:txBody>
                    <a:bodyPr/>
                    <a:lstStyle/>
                    <a:p>
                      <a:r>
                        <a:rPr lang="en-GB" dirty="0"/>
                        <a:t>Underweight</a:t>
                      </a:r>
                    </a:p>
                  </a:txBody>
                  <a:tcPr/>
                </a:tc>
                <a:extLst>
                  <a:ext uri="{0D108BD9-81ED-4DB2-BD59-A6C34878D82A}">
                    <a16:rowId xmlns:a16="http://schemas.microsoft.com/office/drawing/2014/main" val="530062480"/>
                  </a:ext>
                </a:extLst>
              </a:tr>
              <a:tr h="370840">
                <a:tc>
                  <a:txBody>
                    <a:bodyPr/>
                    <a:lstStyle/>
                    <a:p>
                      <a:r>
                        <a:rPr lang="en-GB" dirty="0"/>
                        <a:t>182</a:t>
                      </a:r>
                    </a:p>
                  </a:txBody>
                  <a:tcPr/>
                </a:tc>
                <a:tc>
                  <a:txBody>
                    <a:bodyPr/>
                    <a:lstStyle/>
                    <a:p>
                      <a:r>
                        <a:rPr lang="en-GB" dirty="0"/>
                        <a:t>62</a:t>
                      </a:r>
                    </a:p>
                  </a:txBody>
                  <a:tcPr/>
                </a:tc>
                <a:tc>
                  <a:txBody>
                    <a:bodyPr/>
                    <a:lstStyle/>
                    <a:p>
                      <a:r>
                        <a:rPr lang="en-GB" dirty="0"/>
                        <a:t>Normal</a:t>
                      </a:r>
                    </a:p>
                  </a:txBody>
                  <a:tcPr/>
                </a:tc>
                <a:extLst>
                  <a:ext uri="{0D108BD9-81ED-4DB2-BD59-A6C34878D82A}">
                    <a16:rowId xmlns:a16="http://schemas.microsoft.com/office/drawing/2014/main" val="2020881325"/>
                  </a:ext>
                </a:extLst>
              </a:tr>
              <a:tr h="370840">
                <a:tc>
                  <a:txBody>
                    <a:bodyPr/>
                    <a:lstStyle/>
                    <a:p>
                      <a:r>
                        <a:rPr lang="en-GB" dirty="0"/>
                        <a:t>176</a:t>
                      </a:r>
                    </a:p>
                  </a:txBody>
                  <a:tcPr/>
                </a:tc>
                <a:tc>
                  <a:txBody>
                    <a:bodyPr/>
                    <a:lstStyle/>
                    <a:p>
                      <a:r>
                        <a:rPr lang="en-GB" dirty="0"/>
                        <a:t>69</a:t>
                      </a:r>
                    </a:p>
                  </a:txBody>
                  <a:tcPr/>
                </a:tc>
                <a:tc>
                  <a:txBody>
                    <a:bodyPr/>
                    <a:lstStyle/>
                    <a:p>
                      <a:r>
                        <a:rPr lang="en-GB" dirty="0"/>
                        <a:t>Normal</a:t>
                      </a:r>
                    </a:p>
                  </a:txBody>
                  <a:tcPr/>
                </a:tc>
                <a:extLst>
                  <a:ext uri="{0D108BD9-81ED-4DB2-BD59-A6C34878D82A}">
                    <a16:rowId xmlns:a16="http://schemas.microsoft.com/office/drawing/2014/main" val="741610871"/>
                  </a:ext>
                </a:extLst>
              </a:tr>
              <a:tr h="370840">
                <a:tc>
                  <a:txBody>
                    <a:bodyPr/>
                    <a:lstStyle/>
                    <a:p>
                      <a:r>
                        <a:rPr lang="en-GB" dirty="0"/>
                        <a:t>173</a:t>
                      </a:r>
                    </a:p>
                  </a:txBody>
                  <a:tcPr/>
                </a:tc>
                <a:tc>
                  <a:txBody>
                    <a:bodyPr/>
                    <a:lstStyle/>
                    <a:p>
                      <a:r>
                        <a:rPr lang="en-GB" dirty="0"/>
                        <a:t>64</a:t>
                      </a:r>
                    </a:p>
                  </a:txBody>
                  <a:tcPr/>
                </a:tc>
                <a:tc>
                  <a:txBody>
                    <a:bodyPr/>
                    <a:lstStyle/>
                    <a:p>
                      <a:r>
                        <a:rPr lang="en-GB" dirty="0"/>
                        <a:t>Normal</a:t>
                      </a:r>
                    </a:p>
                  </a:txBody>
                  <a:tcPr/>
                </a:tc>
                <a:extLst>
                  <a:ext uri="{0D108BD9-81ED-4DB2-BD59-A6C34878D82A}">
                    <a16:rowId xmlns:a16="http://schemas.microsoft.com/office/drawing/2014/main" val="3297758044"/>
                  </a:ext>
                </a:extLst>
              </a:tr>
              <a:tr h="370840">
                <a:tc>
                  <a:txBody>
                    <a:bodyPr/>
                    <a:lstStyle/>
                    <a:p>
                      <a:r>
                        <a:rPr lang="en-GB" dirty="0"/>
                        <a:t>172</a:t>
                      </a:r>
                    </a:p>
                  </a:txBody>
                  <a:tcPr/>
                </a:tc>
                <a:tc>
                  <a:txBody>
                    <a:bodyPr/>
                    <a:lstStyle/>
                    <a:p>
                      <a:r>
                        <a:rPr lang="en-GB" dirty="0"/>
                        <a:t>65</a:t>
                      </a:r>
                    </a:p>
                  </a:txBody>
                  <a:tcPr/>
                </a:tc>
                <a:tc>
                  <a:txBody>
                    <a:bodyPr/>
                    <a:lstStyle/>
                    <a:p>
                      <a:r>
                        <a:rPr lang="en-GB" dirty="0"/>
                        <a:t>Normal</a:t>
                      </a:r>
                    </a:p>
                  </a:txBody>
                  <a:tcPr/>
                </a:tc>
                <a:extLst>
                  <a:ext uri="{0D108BD9-81ED-4DB2-BD59-A6C34878D82A}">
                    <a16:rowId xmlns:a16="http://schemas.microsoft.com/office/drawing/2014/main" val="334849981"/>
                  </a:ext>
                </a:extLst>
              </a:tr>
              <a:tr h="370840">
                <a:tc>
                  <a:txBody>
                    <a:bodyPr/>
                    <a:lstStyle/>
                    <a:p>
                      <a:r>
                        <a:rPr lang="en-GB" dirty="0"/>
                        <a:t>174</a:t>
                      </a:r>
                    </a:p>
                  </a:txBody>
                  <a:tcPr/>
                </a:tc>
                <a:tc>
                  <a:txBody>
                    <a:bodyPr/>
                    <a:lstStyle/>
                    <a:p>
                      <a:r>
                        <a:rPr lang="en-GB" dirty="0"/>
                        <a:t>56</a:t>
                      </a:r>
                    </a:p>
                  </a:txBody>
                  <a:tcPr/>
                </a:tc>
                <a:tc>
                  <a:txBody>
                    <a:bodyPr/>
                    <a:lstStyle/>
                    <a:p>
                      <a:r>
                        <a:rPr lang="en-GB" dirty="0"/>
                        <a:t>Underweight</a:t>
                      </a:r>
                    </a:p>
                  </a:txBody>
                  <a:tcPr/>
                </a:tc>
                <a:extLst>
                  <a:ext uri="{0D108BD9-81ED-4DB2-BD59-A6C34878D82A}">
                    <a16:rowId xmlns:a16="http://schemas.microsoft.com/office/drawing/2014/main" val="3332858614"/>
                  </a:ext>
                </a:extLst>
              </a:tr>
              <a:tr h="370840">
                <a:tc>
                  <a:txBody>
                    <a:bodyPr/>
                    <a:lstStyle/>
                    <a:p>
                      <a:r>
                        <a:rPr lang="en-GB" dirty="0"/>
                        <a:t>169</a:t>
                      </a:r>
                    </a:p>
                  </a:txBody>
                  <a:tcPr/>
                </a:tc>
                <a:tc>
                  <a:txBody>
                    <a:bodyPr/>
                    <a:lstStyle/>
                    <a:p>
                      <a:r>
                        <a:rPr lang="en-GB" dirty="0"/>
                        <a:t>58</a:t>
                      </a:r>
                    </a:p>
                  </a:txBody>
                  <a:tcPr/>
                </a:tc>
                <a:tc>
                  <a:txBody>
                    <a:bodyPr/>
                    <a:lstStyle/>
                    <a:p>
                      <a:r>
                        <a:rPr lang="en-GB" dirty="0"/>
                        <a:t>Normal</a:t>
                      </a:r>
                    </a:p>
                  </a:txBody>
                  <a:tcPr/>
                </a:tc>
                <a:extLst>
                  <a:ext uri="{0D108BD9-81ED-4DB2-BD59-A6C34878D82A}">
                    <a16:rowId xmlns:a16="http://schemas.microsoft.com/office/drawing/2014/main" val="1442658761"/>
                  </a:ext>
                </a:extLst>
              </a:tr>
              <a:tr h="370840">
                <a:tc>
                  <a:txBody>
                    <a:bodyPr/>
                    <a:lstStyle/>
                    <a:p>
                      <a:r>
                        <a:rPr lang="en-GB" dirty="0"/>
                        <a:t>173</a:t>
                      </a:r>
                    </a:p>
                  </a:txBody>
                  <a:tcPr/>
                </a:tc>
                <a:tc>
                  <a:txBody>
                    <a:bodyPr/>
                    <a:lstStyle/>
                    <a:p>
                      <a:r>
                        <a:rPr lang="en-GB" dirty="0"/>
                        <a:t>57</a:t>
                      </a:r>
                    </a:p>
                  </a:txBody>
                  <a:tcPr/>
                </a:tc>
                <a:tc>
                  <a:txBody>
                    <a:bodyPr/>
                    <a:lstStyle/>
                    <a:p>
                      <a:r>
                        <a:rPr lang="en-GB" dirty="0"/>
                        <a:t>Normal</a:t>
                      </a:r>
                    </a:p>
                  </a:txBody>
                  <a:tcPr/>
                </a:tc>
                <a:extLst>
                  <a:ext uri="{0D108BD9-81ED-4DB2-BD59-A6C34878D82A}">
                    <a16:rowId xmlns:a16="http://schemas.microsoft.com/office/drawing/2014/main" val="3800743947"/>
                  </a:ext>
                </a:extLst>
              </a:tr>
              <a:tr h="370840">
                <a:tc>
                  <a:txBody>
                    <a:bodyPr/>
                    <a:lstStyle/>
                    <a:p>
                      <a:r>
                        <a:rPr lang="en-GB" dirty="0"/>
                        <a:t>170</a:t>
                      </a:r>
                    </a:p>
                  </a:txBody>
                  <a:tcPr/>
                </a:tc>
                <a:tc>
                  <a:txBody>
                    <a:bodyPr/>
                    <a:lstStyle/>
                    <a:p>
                      <a:r>
                        <a:rPr lang="en-GB" dirty="0"/>
                        <a:t>55</a:t>
                      </a:r>
                    </a:p>
                  </a:txBody>
                  <a:tcPr/>
                </a:tc>
                <a:tc>
                  <a:txBody>
                    <a:bodyPr/>
                    <a:lstStyle/>
                    <a:p>
                      <a:r>
                        <a:rPr lang="en-GB" dirty="0"/>
                        <a:t>Normal</a:t>
                      </a:r>
                    </a:p>
                  </a:txBody>
                  <a:tcPr/>
                </a:tc>
                <a:extLst>
                  <a:ext uri="{0D108BD9-81ED-4DB2-BD59-A6C34878D82A}">
                    <a16:rowId xmlns:a16="http://schemas.microsoft.com/office/drawing/2014/main" val="1994628311"/>
                  </a:ext>
                </a:extLst>
              </a:tr>
              <a:tr h="370840">
                <a:tc>
                  <a:txBody>
                    <a:bodyPr/>
                    <a:lstStyle/>
                    <a:p>
                      <a:r>
                        <a:rPr lang="en-GB" dirty="0">
                          <a:solidFill>
                            <a:srgbClr val="FF0000"/>
                          </a:solidFill>
                        </a:rPr>
                        <a:t>170</a:t>
                      </a:r>
                    </a:p>
                  </a:txBody>
                  <a:tcPr/>
                </a:tc>
                <a:tc>
                  <a:txBody>
                    <a:bodyPr/>
                    <a:lstStyle/>
                    <a:p>
                      <a:r>
                        <a:rPr lang="en-GB" dirty="0">
                          <a:solidFill>
                            <a:srgbClr val="FF0000"/>
                          </a:solidFill>
                        </a:rPr>
                        <a:t>57</a:t>
                      </a:r>
                    </a:p>
                  </a:txBody>
                  <a:tcPr/>
                </a:tc>
                <a:tc>
                  <a:txBody>
                    <a:bodyPr/>
                    <a:lstStyle/>
                    <a:p>
                      <a:r>
                        <a:rPr lang="en-GB" dirty="0">
                          <a:solidFill>
                            <a:srgbClr val="FF0000"/>
                          </a:solidFill>
                        </a:rPr>
                        <a:t>?</a:t>
                      </a:r>
                    </a:p>
                  </a:txBody>
                  <a:tcPr/>
                </a:tc>
                <a:extLst>
                  <a:ext uri="{0D108BD9-81ED-4DB2-BD59-A6C34878D82A}">
                    <a16:rowId xmlns:a16="http://schemas.microsoft.com/office/drawing/2014/main" val="2879317720"/>
                  </a:ext>
                </a:extLst>
              </a:tr>
            </a:tbl>
          </a:graphicData>
        </a:graphic>
      </p:graphicFrame>
    </p:spTree>
    <p:extLst>
      <p:ext uri="{BB962C8B-B14F-4D97-AF65-F5344CB8AC3E}">
        <p14:creationId xmlns:p14="http://schemas.microsoft.com/office/powerpoint/2010/main" val="1111796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DC5B-417E-5709-BA3C-6EE3B32575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87580E-6D83-9767-FAA5-C667A7B75308}"/>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KNN</a:t>
            </a: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854B707D-1896-E1CB-006B-1C4CE1A2574A}"/>
                  </a:ext>
                </a:extLst>
              </p:cNvPr>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Example of KNN:</a:t>
                </a:r>
              </a:p>
              <a:p>
                <a:pPr algn="just"/>
                <a14:m>
                  <m:oMathPara xmlns:m="http://schemas.openxmlformats.org/officeDocument/2006/math">
                    <m:oMathParaPr>
                      <m:jc m:val="left"/>
                    </m:oMathParaPr>
                    <m:oMath xmlns:m="http://schemas.openxmlformats.org/officeDocument/2006/math">
                      <m:r>
                        <a:rPr lang="en-GB" sz="1800" b="1" i="1" smtClean="0">
                          <a:solidFill>
                            <a:schemeClr val="tx1"/>
                          </a:solidFill>
                          <a:latin typeface="Cambria Math" panose="02040503050406030204" pitchFamily="18" charset="0"/>
                          <a:cs typeface="Times New Roman" pitchFamily="18" charset="0"/>
                        </a:rPr>
                        <m:t>𝒅</m:t>
                      </m:r>
                      <m:r>
                        <a:rPr lang="en-GB" sz="1800" b="1" i="1" smtClean="0">
                          <a:solidFill>
                            <a:schemeClr val="tx1"/>
                          </a:solidFill>
                          <a:latin typeface="Cambria Math" panose="02040503050406030204" pitchFamily="18" charset="0"/>
                          <a:cs typeface="Times New Roman" pitchFamily="18" charset="0"/>
                        </a:rPr>
                        <m:t>=</m:t>
                      </m:r>
                      <m:rad>
                        <m:radPr>
                          <m:degHide m:val="on"/>
                          <m:ctrlPr>
                            <a:rPr lang="en-GB" sz="1800" b="1" i="1" smtClean="0">
                              <a:solidFill>
                                <a:schemeClr val="tx1"/>
                              </a:solidFill>
                              <a:latin typeface="Cambria Math" panose="02040503050406030204" pitchFamily="18" charset="0"/>
                              <a:cs typeface="Times New Roman" pitchFamily="18" charset="0"/>
                            </a:rPr>
                          </m:ctrlPr>
                        </m:radPr>
                        <m:deg/>
                        <m:e>
                          <m:sSup>
                            <m:sSupPr>
                              <m:ctrlPr>
                                <a:rPr lang="en-GB" sz="1800" b="1" i="1" smtClean="0">
                                  <a:solidFill>
                                    <a:schemeClr val="tx1"/>
                                  </a:solidFill>
                                  <a:latin typeface="Cambria Math" panose="02040503050406030204" pitchFamily="18" charset="0"/>
                                  <a:cs typeface="Times New Roman" pitchFamily="18" charset="0"/>
                                </a:rPr>
                              </m:ctrlPr>
                            </m:sSupPr>
                            <m:e>
                              <m:d>
                                <m:dPr>
                                  <m:ctrlPr>
                                    <a:rPr lang="en-GB" sz="1800" b="1" i="1" smtClean="0">
                                      <a:solidFill>
                                        <a:schemeClr val="tx1"/>
                                      </a:solidFill>
                                      <a:latin typeface="Cambria Math" panose="02040503050406030204" pitchFamily="18" charset="0"/>
                                      <a:cs typeface="Times New Roman" pitchFamily="18" charset="0"/>
                                    </a:rPr>
                                  </m:ctrlPr>
                                </m:dPr>
                                <m:e>
                                  <m:sSub>
                                    <m:sSubPr>
                                      <m:ctrlPr>
                                        <a:rPr lang="en-GB" sz="1800" b="1" i="1" smtClean="0">
                                          <a:solidFill>
                                            <a:schemeClr val="tx1"/>
                                          </a:solidFill>
                                          <a:latin typeface="Cambria Math" panose="02040503050406030204" pitchFamily="18" charset="0"/>
                                          <a:cs typeface="Times New Roman" pitchFamily="18" charset="0"/>
                                        </a:rPr>
                                      </m:ctrlPr>
                                    </m:sSubPr>
                                    <m:e>
                                      <m:r>
                                        <a:rPr lang="en-GB" sz="1800" b="1" i="1" smtClean="0">
                                          <a:solidFill>
                                            <a:schemeClr val="tx1"/>
                                          </a:solidFill>
                                          <a:latin typeface="Cambria Math" panose="02040503050406030204" pitchFamily="18" charset="0"/>
                                          <a:cs typeface="Times New Roman" pitchFamily="18" charset="0"/>
                                        </a:rPr>
                                        <m:t>𝒙</m:t>
                                      </m:r>
                                    </m:e>
                                    <m:sub>
                                      <m:r>
                                        <a:rPr lang="en-GB" sz="1800" b="1" i="1" smtClean="0">
                                          <a:solidFill>
                                            <a:schemeClr val="tx1"/>
                                          </a:solidFill>
                                          <a:latin typeface="Cambria Math" panose="02040503050406030204" pitchFamily="18" charset="0"/>
                                          <a:cs typeface="Times New Roman" pitchFamily="18" charset="0"/>
                                        </a:rPr>
                                        <m:t>𝟐</m:t>
                                      </m:r>
                                    </m:sub>
                                  </m:sSub>
                                  <m:r>
                                    <a:rPr lang="en-GB" sz="1800" b="1" i="1" smtClean="0">
                                      <a:solidFill>
                                        <a:schemeClr val="tx1"/>
                                      </a:solidFill>
                                      <a:latin typeface="Cambria Math" panose="02040503050406030204" pitchFamily="18" charset="0"/>
                                      <a:cs typeface="Times New Roman" pitchFamily="18" charset="0"/>
                                    </a:rPr>
                                    <m:t>−</m:t>
                                  </m:r>
                                  <m:sSub>
                                    <m:sSubPr>
                                      <m:ctrlPr>
                                        <a:rPr lang="en-GB" sz="1800" b="1" i="1">
                                          <a:solidFill>
                                            <a:schemeClr val="tx1"/>
                                          </a:solidFill>
                                          <a:latin typeface="Cambria Math" panose="02040503050406030204" pitchFamily="18" charset="0"/>
                                          <a:cs typeface="Times New Roman" pitchFamily="18" charset="0"/>
                                        </a:rPr>
                                      </m:ctrlPr>
                                    </m:sSubPr>
                                    <m:e>
                                      <m:r>
                                        <a:rPr lang="en-GB" sz="1800" b="1" i="1">
                                          <a:solidFill>
                                            <a:schemeClr val="tx1"/>
                                          </a:solidFill>
                                          <a:latin typeface="Cambria Math" panose="02040503050406030204" pitchFamily="18" charset="0"/>
                                          <a:cs typeface="Times New Roman" pitchFamily="18" charset="0"/>
                                        </a:rPr>
                                        <m:t>𝒙</m:t>
                                      </m:r>
                                    </m:e>
                                    <m:sub>
                                      <m:r>
                                        <a:rPr lang="en-GB" sz="1800" b="1" i="1" smtClean="0">
                                          <a:solidFill>
                                            <a:schemeClr val="tx1"/>
                                          </a:solidFill>
                                          <a:latin typeface="Cambria Math" panose="02040503050406030204" pitchFamily="18" charset="0"/>
                                          <a:cs typeface="Times New Roman" pitchFamily="18" charset="0"/>
                                        </a:rPr>
                                        <m:t>𝟏</m:t>
                                      </m:r>
                                    </m:sub>
                                  </m:sSub>
                                </m:e>
                              </m:d>
                            </m:e>
                            <m:sup>
                              <m:r>
                                <a:rPr lang="en-GB" sz="1800" b="1" i="1" smtClean="0">
                                  <a:solidFill>
                                    <a:schemeClr val="tx1"/>
                                  </a:solidFill>
                                  <a:latin typeface="Cambria Math" panose="02040503050406030204" pitchFamily="18" charset="0"/>
                                  <a:cs typeface="Times New Roman" pitchFamily="18" charset="0"/>
                                </a:rPr>
                                <m:t>𝟐</m:t>
                              </m:r>
                            </m:sup>
                          </m:sSup>
                          <m:r>
                            <a:rPr lang="en-GB" sz="1800" b="1" i="1" smtClean="0">
                              <a:solidFill>
                                <a:schemeClr val="tx1"/>
                              </a:solidFill>
                              <a:latin typeface="Cambria Math" panose="02040503050406030204" pitchFamily="18" charset="0"/>
                              <a:cs typeface="Times New Roman" pitchFamily="18" charset="0"/>
                            </a:rPr>
                            <m:t>+</m:t>
                          </m:r>
                          <m:sSup>
                            <m:sSupPr>
                              <m:ctrlPr>
                                <a:rPr lang="en-GB" sz="1800" b="1" i="1">
                                  <a:solidFill>
                                    <a:schemeClr val="tx1"/>
                                  </a:solidFill>
                                  <a:latin typeface="Cambria Math" panose="02040503050406030204" pitchFamily="18" charset="0"/>
                                  <a:cs typeface="Times New Roman" pitchFamily="18" charset="0"/>
                                </a:rPr>
                              </m:ctrlPr>
                            </m:sSupPr>
                            <m:e>
                              <m:d>
                                <m:dPr>
                                  <m:ctrlPr>
                                    <a:rPr lang="en-GB" sz="1800" b="1" i="1">
                                      <a:solidFill>
                                        <a:schemeClr val="tx1"/>
                                      </a:solidFill>
                                      <a:latin typeface="Cambria Math" panose="02040503050406030204" pitchFamily="18" charset="0"/>
                                      <a:cs typeface="Times New Roman" pitchFamily="18" charset="0"/>
                                    </a:rPr>
                                  </m:ctrlPr>
                                </m:dPr>
                                <m:e>
                                  <m:sSub>
                                    <m:sSubPr>
                                      <m:ctrlPr>
                                        <a:rPr lang="en-GB" sz="1800" b="1" i="1">
                                          <a:solidFill>
                                            <a:schemeClr val="tx1"/>
                                          </a:solidFill>
                                          <a:latin typeface="Cambria Math" panose="02040503050406030204" pitchFamily="18" charset="0"/>
                                          <a:cs typeface="Times New Roman" pitchFamily="18" charset="0"/>
                                        </a:rPr>
                                      </m:ctrlPr>
                                    </m:sSubPr>
                                    <m:e>
                                      <m:r>
                                        <a:rPr lang="en-GB" sz="1800" b="1" i="1" smtClean="0">
                                          <a:solidFill>
                                            <a:schemeClr val="tx1"/>
                                          </a:solidFill>
                                          <a:latin typeface="Cambria Math" panose="02040503050406030204" pitchFamily="18" charset="0"/>
                                          <a:cs typeface="Times New Roman" pitchFamily="18" charset="0"/>
                                        </a:rPr>
                                        <m:t>𝒚</m:t>
                                      </m:r>
                                    </m:e>
                                    <m:sub>
                                      <m:r>
                                        <a:rPr lang="en-GB" sz="1800" b="1" i="1">
                                          <a:solidFill>
                                            <a:schemeClr val="tx1"/>
                                          </a:solidFill>
                                          <a:latin typeface="Cambria Math" panose="02040503050406030204" pitchFamily="18" charset="0"/>
                                          <a:cs typeface="Times New Roman" pitchFamily="18" charset="0"/>
                                        </a:rPr>
                                        <m:t>𝟐</m:t>
                                      </m:r>
                                    </m:sub>
                                  </m:sSub>
                                  <m:r>
                                    <a:rPr lang="en-GB" sz="1800" b="1" i="1">
                                      <a:solidFill>
                                        <a:schemeClr val="tx1"/>
                                      </a:solidFill>
                                      <a:latin typeface="Cambria Math" panose="02040503050406030204" pitchFamily="18" charset="0"/>
                                      <a:cs typeface="Times New Roman" pitchFamily="18" charset="0"/>
                                    </a:rPr>
                                    <m:t>−</m:t>
                                  </m:r>
                                  <m:sSub>
                                    <m:sSubPr>
                                      <m:ctrlPr>
                                        <a:rPr lang="en-GB" sz="1800" b="1" i="1">
                                          <a:solidFill>
                                            <a:schemeClr val="tx1"/>
                                          </a:solidFill>
                                          <a:latin typeface="Cambria Math" panose="02040503050406030204" pitchFamily="18" charset="0"/>
                                          <a:cs typeface="Times New Roman" pitchFamily="18" charset="0"/>
                                        </a:rPr>
                                      </m:ctrlPr>
                                    </m:sSubPr>
                                    <m:e>
                                      <m:r>
                                        <a:rPr lang="en-GB" sz="1800" b="1" i="1" smtClean="0">
                                          <a:solidFill>
                                            <a:schemeClr val="tx1"/>
                                          </a:solidFill>
                                          <a:latin typeface="Cambria Math" panose="02040503050406030204" pitchFamily="18" charset="0"/>
                                          <a:cs typeface="Times New Roman" pitchFamily="18" charset="0"/>
                                        </a:rPr>
                                        <m:t>𝒚</m:t>
                                      </m:r>
                                    </m:e>
                                    <m:sub>
                                      <m:r>
                                        <a:rPr lang="en-GB" sz="1800" b="1" i="1">
                                          <a:solidFill>
                                            <a:schemeClr val="tx1"/>
                                          </a:solidFill>
                                          <a:latin typeface="Cambria Math" panose="02040503050406030204" pitchFamily="18" charset="0"/>
                                          <a:cs typeface="Times New Roman" pitchFamily="18" charset="0"/>
                                        </a:rPr>
                                        <m:t>𝟏</m:t>
                                      </m:r>
                                    </m:sub>
                                  </m:sSub>
                                </m:e>
                              </m:d>
                            </m:e>
                            <m:sup>
                              <m:r>
                                <a:rPr lang="en-GB" sz="1800" b="1" i="1">
                                  <a:solidFill>
                                    <a:schemeClr val="tx1"/>
                                  </a:solidFill>
                                  <a:latin typeface="Cambria Math" panose="02040503050406030204" pitchFamily="18" charset="0"/>
                                  <a:cs typeface="Times New Roman" pitchFamily="18" charset="0"/>
                                </a:rPr>
                                <m:t>𝟐</m:t>
                              </m:r>
                            </m:sup>
                          </m:sSup>
                        </m:e>
                      </m:rad>
                    </m:oMath>
                  </m:oMathPara>
                </a14:m>
                <a:endParaRPr lang="en-US" sz="1800" b="1" dirty="0">
                  <a:solidFill>
                    <a:schemeClr val="tx1"/>
                  </a:solidFill>
                  <a:latin typeface="Times New Roman" pitchFamily="18" charset="0"/>
                  <a:cs typeface="Times New Roman" pitchFamily="18" charset="0"/>
                </a:endParaRPr>
              </a:p>
              <a:p>
                <a:pPr algn="just"/>
                <a:endParaRPr lang="en-GB" sz="1800" b="1" i="1" dirty="0">
                  <a:solidFill>
                    <a:schemeClr val="tx1"/>
                  </a:solidFill>
                  <a:latin typeface="Cambria Math" panose="02040503050406030204"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GB" sz="1800" b="1" i="1" smtClean="0">
                              <a:solidFill>
                                <a:schemeClr val="tx1"/>
                              </a:solidFill>
                              <a:latin typeface="Cambria Math" panose="02040503050406030204" pitchFamily="18" charset="0"/>
                              <a:cs typeface="Times New Roman" pitchFamily="18" charset="0"/>
                            </a:rPr>
                          </m:ctrlPr>
                        </m:sSubPr>
                        <m:e>
                          <m:r>
                            <a:rPr lang="en-GB" sz="1800" b="1" i="1" smtClean="0">
                              <a:solidFill>
                                <a:schemeClr val="tx1"/>
                              </a:solidFill>
                              <a:latin typeface="Cambria Math" panose="02040503050406030204" pitchFamily="18" charset="0"/>
                              <a:cs typeface="Times New Roman" pitchFamily="18" charset="0"/>
                            </a:rPr>
                            <m:t>𝒅</m:t>
                          </m:r>
                        </m:e>
                        <m:sub>
                          <m:r>
                            <a:rPr lang="en-GB" sz="1800" b="1" i="1" smtClean="0">
                              <a:solidFill>
                                <a:schemeClr val="tx1"/>
                              </a:solidFill>
                              <a:latin typeface="Cambria Math" panose="02040503050406030204" pitchFamily="18" charset="0"/>
                              <a:cs typeface="Times New Roman" pitchFamily="18" charset="0"/>
                            </a:rPr>
                            <m:t>𝟏</m:t>
                          </m:r>
                        </m:sub>
                      </m:sSub>
                      <m:r>
                        <a:rPr lang="en-GB" sz="1800" b="1" i="1" smtClean="0">
                          <a:solidFill>
                            <a:schemeClr val="tx1"/>
                          </a:solidFill>
                          <a:latin typeface="Cambria Math" panose="02040503050406030204" pitchFamily="18" charset="0"/>
                          <a:cs typeface="Times New Roman" pitchFamily="18" charset="0"/>
                        </a:rPr>
                        <m:t>=</m:t>
                      </m:r>
                      <m:rad>
                        <m:radPr>
                          <m:degHide m:val="on"/>
                          <m:ctrlPr>
                            <a:rPr lang="en-GB" sz="1800" b="1" i="1" smtClean="0">
                              <a:solidFill>
                                <a:schemeClr val="tx1"/>
                              </a:solidFill>
                              <a:latin typeface="Cambria Math" panose="02040503050406030204" pitchFamily="18" charset="0"/>
                              <a:cs typeface="Times New Roman" pitchFamily="18" charset="0"/>
                            </a:rPr>
                          </m:ctrlPr>
                        </m:radPr>
                        <m:deg/>
                        <m:e>
                          <m:sSup>
                            <m:sSupPr>
                              <m:ctrlPr>
                                <a:rPr lang="en-GB" sz="1800" b="1" i="1" smtClean="0">
                                  <a:solidFill>
                                    <a:schemeClr val="tx1"/>
                                  </a:solidFill>
                                  <a:latin typeface="Cambria Math" panose="02040503050406030204" pitchFamily="18" charset="0"/>
                                  <a:cs typeface="Times New Roman" pitchFamily="18" charset="0"/>
                                </a:rPr>
                              </m:ctrlPr>
                            </m:sSupPr>
                            <m:e>
                              <m:d>
                                <m:dPr>
                                  <m:ctrlPr>
                                    <a:rPr lang="en-GB" sz="1800" b="1" i="1" smtClean="0">
                                      <a:solidFill>
                                        <a:schemeClr val="tx1"/>
                                      </a:solidFill>
                                      <a:latin typeface="Cambria Math" panose="02040503050406030204" pitchFamily="18" charset="0"/>
                                      <a:cs typeface="Times New Roman" pitchFamily="18" charset="0"/>
                                    </a:rPr>
                                  </m:ctrlPr>
                                </m:dPr>
                                <m:e>
                                  <m:r>
                                    <a:rPr lang="en-GB" sz="1800" b="1" i="1" smtClean="0">
                                      <a:solidFill>
                                        <a:schemeClr val="tx1"/>
                                      </a:solidFill>
                                      <a:latin typeface="Cambria Math" panose="02040503050406030204" pitchFamily="18" charset="0"/>
                                      <a:cs typeface="Times New Roman" pitchFamily="18" charset="0"/>
                                    </a:rPr>
                                    <m:t>𝟏𝟕𝟎</m:t>
                                  </m:r>
                                  <m:r>
                                    <a:rPr lang="en-GB" sz="1800" b="1" i="1" smtClean="0">
                                      <a:solidFill>
                                        <a:schemeClr val="tx1"/>
                                      </a:solidFill>
                                      <a:latin typeface="Cambria Math" panose="02040503050406030204" pitchFamily="18" charset="0"/>
                                      <a:cs typeface="Times New Roman" pitchFamily="18" charset="0"/>
                                    </a:rPr>
                                    <m:t>−</m:t>
                                  </m:r>
                                  <m:r>
                                    <a:rPr lang="en-GB" sz="1800" b="1" i="1" smtClean="0">
                                      <a:solidFill>
                                        <a:schemeClr val="tx1"/>
                                      </a:solidFill>
                                      <a:latin typeface="Cambria Math" panose="02040503050406030204" pitchFamily="18" charset="0"/>
                                      <a:cs typeface="Times New Roman" pitchFamily="18" charset="0"/>
                                    </a:rPr>
                                    <m:t>𝟏𝟔𝟕</m:t>
                                  </m:r>
                                </m:e>
                              </m:d>
                            </m:e>
                            <m:sup>
                              <m:r>
                                <a:rPr lang="en-GB" sz="1800" b="1" i="1" smtClean="0">
                                  <a:solidFill>
                                    <a:schemeClr val="tx1"/>
                                  </a:solidFill>
                                  <a:latin typeface="Cambria Math" panose="02040503050406030204" pitchFamily="18" charset="0"/>
                                  <a:cs typeface="Times New Roman" pitchFamily="18" charset="0"/>
                                </a:rPr>
                                <m:t>𝟐</m:t>
                              </m:r>
                            </m:sup>
                          </m:sSup>
                          <m:r>
                            <a:rPr lang="en-GB" sz="1800" b="1" i="1" smtClean="0">
                              <a:solidFill>
                                <a:schemeClr val="tx1"/>
                              </a:solidFill>
                              <a:latin typeface="Cambria Math" panose="02040503050406030204" pitchFamily="18" charset="0"/>
                              <a:cs typeface="Times New Roman" pitchFamily="18" charset="0"/>
                            </a:rPr>
                            <m:t>+</m:t>
                          </m:r>
                          <m:sSup>
                            <m:sSupPr>
                              <m:ctrlPr>
                                <a:rPr lang="en-GB" sz="1800" b="1" i="1">
                                  <a:solidFill>
                                    <a:schemeClr val="tx1"/>
                                  </a:solidFill>
                                  <a:latin typeface="Cambria Math" panose="02040503050406030204" pitchFamily="18" charset="0"/>
                                  <a:cs typeface="Times New Roman" pitchFamily="18" charset="0"/>
                                </a:rPr>
                              </m:ctrlPr>
                            </m:sSupPr>
                            <m:e>
                              <m:d>
                                <m:dPr>
                                  <m:ctrlPr>
                                    <a:rPr lang="en-GB" sz="1800" b="1" i="1">
                                      <a:solidFill>
                                        <a:schemeClr val="tx1"/>
                                      </a:solidFill>
                                      <a:latin typeface="Cambria Math" panose="02040503050406030204" pitchFamily="18" charset="0"/>
                                      <a:cs typeface="Times New Roman" pitchFamily="18" charset="0"/>
                                    </a:rPr>
                                  </m:ctrlPr>
                                </m:dPr>
                                <m:e>
                                  <m:r>
                                    <a:rPr lang="en-GB" sz="1800" b="1" i="1" smtClean="0">
                                      <a:solidFill>
                                        <a:schemeClr val="tx1"/>
                                      </a:solidFill>
                                      <a:latin typeface="Cambria Math" panose="02040503050406030204" pitchFamily="18" charset="0"/>
                                      <a:cs typeface="Times New Roman" pitchFamily="18" charset="0"/>
                                    </a:rPr>
                                    <m:t>𝟓𝟕</m:t>
                                  </m:r>
                                  <m:r>
                                    <a:rPr lang="en-GB" sz="1800" b="1" i="1">
                                      <a:solidFill>
                                        <a:schemeClr val="tx1"/>
                                      </a:solidFill>
                                      <a:latin typeface="Cambria Math" panose="02040503050406030204" pitchFamily="18" charset="0"/>
                                      <a:cs typeface="Times New Roman" pitchFamily="18" charset="0"/>
                                    </a:rPr>
                                    <m:t>−</m:t>
                                  </m:r>
                                  <m:r>
                                    <a:rPr lang="en-GB" sz="1800" b="1" i="1" smtClean="0">
                                      <a:solidFill>
                                        <a:schemeClr val="tx1"/>
                                      </a:solidFill>
                                      <a:latin typeface="Cambria Math" panose="02040503050406030204" pitchFamily="18" charset="0"/>
                                      <a:cs typeface="Times New Roman" pitchFamily="18" charset="0"/>
                                    </a:rPr>
                                    <m:t>𝟓𝟏</m:t>
                                  </m:r>
                                </m:e>
                              </m:d>
                            </m:e>
                            <m:sup>
                              <m:r>
                                <a:rPr lang="en-GB" sz="1800" b="1" i="1">
                                  <a:solidFill>
                                    <a:schemeClr val="tx1"/>
                                  </a:solidFill>
                                  <a:latin typeface="Cambria Math" panose="02040503050406030204" pitchFamily="18" charset="0"/>
                                  <a:cs typeface="Times New Roman" pitchFamily="18" charset="0"/>
                                </a:rPr>
                                <m:t>𝟐</m:t>
                              </m:r>
                            </m:sup>
                          </m:sSup>
                        </m:e>
                      </m:rad>
                    </m:oMath>
                  </m:oMathPara>
                </a14:m>
                <a:endParaRPr lang="en-GB" sz="1800" b="1"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GB" sz="1800" b="1" i="1" smtClean="0">
                              <a:solidFill>
                                <a:schemeClr val="tx1"/>
                              </a:solidFill>
                              <a:latin typeface="Cambria Math" panose="02040503050406030204" pitchFamily="18" charset="0"/>
                              <a:cs typeface="Times New Roman" pitchFamily="18" charset="0"/>
                            </a:rPr>
                          </m:ctrlPr>
                        </m:sSubPr>
                        <m:e>
                          <m:r>
                            <a:rPr lang="en-GB" sz="1800" b="1" i="1" smtClean="0">
                              <a:solidFill>
                                <a:schemeClr val="tx1"/>
                              </a:solidFill>
                              <a:latin typeface="Cambria Math" panose="02040503050406030204" pitchFamily="18" charset="0"/>
                              <a:cs typeface="Times New Roman" pitchFamily="18" charset="0"/>
                            </a:rPr>
                            <m:t>𝒅</m:t>
                          </m:r>
                        </m:e>
                        <m:sub>
                          <m:r>
                            <a:rPr lang="en-GB" sz="1800" b="1" i="1" smtClean="0">
                              <a:solidFill>
                                <a:schemeClr val="tx1"/>
                              </a:solidFill>
                              <a:latin typeface="Cambria Math" panose="02040503050406030204" pitchFamily="18" charset="0"/>
                              <a:cs typeface="Times New Roman" pitchFamily="18" charset="0"/>
                            </a:rPr>
                            <m:t>𝟐</m:t>
                          </m:r>
                        </m:sub>
                      </m:sSub>
                      <m:r>
                        <a:rPr lang="en-GB" sz="1800" b="1" i="1" smtClean="0">
                          <a:solidFill>
                            <a:schemeClr val="tx1"/>
                          </a:solidFill>
                          <a:latin typeface="Cambria Math" panose="02040503050406030204" pitchFamily="18" charset="0"/>
                          <a:cs typeface="Times New Roman" pitchFamily="18" charset="0"/>
                        </a:rPr>
                        <m:t>=</m:t>
                      </m:r>
                      <m:rad>
                        <m:radPr>
                          <m:degHide m:val="on"/>
                          <m:ctrlPr>
                            <a:rPr lang="en-GB" sz="1800" b="1" i="1" smtClean="0">
                              <a:solidFill>
                                <a:schemeClr val="tx1"/>
                              </a:solidFill>
                              <a:latin typeface="Cambria Math" panose="02040503050406030204" pitchFamily="18" charset="0"/>
                              <a:cs typeface="Times New Roman" pitchFamily="18" charset="0"/>
                            </a:rPr>
                          </m:ctrlPr>
                        </m:radPr>
                        <m:deg/>
                        <m:e>
                          <m:sSup>
                            <m:sSupPr>
                              <m:ctrlPr>
                                <a:rPr lang="en-GB" sz="1800" b="1" i="1" smtClean="0">
                                  <a:solidFill>
                                    <a:schemeClr val="tx1"/>
                                  </a:solidFill>
                                  <a:latin typeface="Cambria Math" panose="02040503050406030204" pitchFamily="18" charset="0"/>
                                  <a:cs typeface="Times New Roman" pitchFamily="18" charset="0"/>
                                </a:rPr>
                              </m:ctrlPr>
                            </m:sSupPr>
                            <m:e>
                              <m:d>
                                <m:dPr>
                                  <m:ctrlPr>
                                    <a:rPr lang="en-GB" sz="1800" b="1" i="1" smtClean="0">
                                      <a:solidFill>
                                        <a:schemeClr val="tx1"/>
                                      </a:solidFill>
                                      <a:latin typeface="Cambria Math" panose="02040503050406030204" pitchFamily="18" charset="0"/>
                                      <a:cs typeface="Times New Roman" pitchFamily="18" charset="0"/>
                                    </a:rPr>
                                  </m:ctrlPr>
                                </m:dPr>
                                <m:e>
                                  <m:r>
                                    <a:rPr lang="en-GB" sz="1800" b="1" i="1" smtClean="0">
                                      <a:solidFill>
                                        <a:schemeClr val="tx1"/>
                                      </a:solidFill>
                                      <a:latin typeface="Cambria Math" panose="02040503050406030204" pitchFamily="18" charset="0"/>
                                      <a:cs typeface="Times New Roman" pitchFamily="18" charset="0"/>
                                    </a:rPr>
                                    <m:t>𝟏𝟕𝟎</m:t>
                                  </m:r>
                                  <m:r>
                                    <a:rPr lang="en-GB" sz="1800" b="1" i="1" smtClean="0">
                                      <a:solidFill>
                                        <a:schemeClr val="tx1"/>
                                      </a:solidFill>
                                      <a:latin typeface="Cambria Math" panose="02040503050406030204" pitchFamily="18" charset="0"/>
                                      <a:cs typeface="Times New Roman" pitchFamily="18" charset="0"/>
                                    </a:rPr>
                                    <m:t>−</m:t>
                                  </m:r>
                                  <m:r>
                                    <a:rPr lang="en-GB" sz="1800" b="1" i="1" smtClean="0">
                                      <a:solidFill>
                                        <a:schemeClr val="tx1"/>
                                      </a:solidFill>
                                      <a:latin typeface="Cambria Math" panose="02040503050406030204" pitchFamily="18" charset="0"/>
                                      <a:cs typeface="Times New Roman" pitchFamily="18" charset="0"/>
                                    </a:rPr>
                                    <m:t>𝟏𝟖𝟐</m:t>
                                  </m:r>
                                </m:e>
                              </m:d>
                            </m:e>
                            <m:sup>
                              <m:r>
                                <a:rPr lang="en-GB" sz="1800" b="1" i="1" smtClean="0">
                                  <a:solidFill>
                                    <a:schemeClr val="tx1"/>
                                  </a:solidFill>
                                  <a:latin typeface="Cambria Math" panose="02040503050406030204" pitchFamily="18" charset="0"/>
                                  <a:cs typeface="Times New Roman" pitchFamily="18" charset="0"/>
                                </a:rPr>
                                <m:t>𝟐</m:t>
                              </m:r>
                            </m:sup>
                          </m:sSup>
                          <m:r>
                            <a:rPr lang="en-GB" sz="1800" b="1" i="1" smtClean="0">
                              <a:solidFill>
                                <a:schemeClr val="tx1"/>
                              </a:solidFill>
                              <a:latin typeface="Cambria Math" panose="02040503050406030204" pitchFamily="18" charset="0"/>
                              <a:cs typeface="Times New Roman" pitchFamily="18" charset="0"/>
                            </a:rPr>
                            <m:t>+</m:t>
                          </m:r>
                          <m:sSup>
                            <m:sSupPr>
                              <m:ctrlPr>
                                <a:rPr lang="en-GB" sz="1800" b="1" i="1">
                                  <a:solidFill>
                                    <a:schemeClr val="tx1"/>
                                  </a:solidFill>
                                  <a:latin typeface="Cambria Math" panose="02040503050406030204" pitchFamily="18" charset="0"/>
                                  <a:cs typeface="Times New Roman" pitchFamily="18" charset="0"/>
                                </a:rPr>
                              </m:ctrlPr>
                            </m:sSupPr>
                            <m:e>
                              <m:d>
                                <m:dPr>
                                  <m:ctrlPr>
                                    <a:rPr lang="en-GB" sz="1800" b="1" i="1">
                                      <a:solidFill>
                                        <a:schemeClr val="tx1"/>
                                      </a:solidFill>
                                      <a:latin typeface="Cambria Math" panose="02040503050406030204" pitchFamily="18" charset="0"/>
                                      <a:cs typeface="Times New Roman" pitchFamily="18" charset="0"/>
                                    </a:rPr>
                                  </m:ctrlPr>
                                </m:dPr>
                                <m:e>
                                  <m:r>
                                    <a:rPr lang="en-GB" sz="1800" b="1" i="1" smtClean="0">
                                      <a:solidFill>
                                        <a:schemeClr val="tx1"/>
                                      </a:solidFill>
                                      <a:latin typeface="Cambria Math" panose="02040503050406030204" pitchFamily="18" charset="0"/>
                                      <a:cs typeface="Times New Roman" pitchFamily="18" charset="0"/>
                                    </a:rPr>
                                    <m:t>𝟓𝟕</m:t>
                                  </m:r>
                                  <m:r>
                                    <a:rPr lang="en-GB" sz="1800" b="1" i="1">
                                      <a:solidFill>
                                        <a:schemeClr val="tx1"/>
                                      </a:solidFill>
                                      <a:latin typeface="Cambria Math" panose="02040503050406030204" pitchFamily="18" charset="0"/>
                                      <a:cs typeface="Times New Roman" pitchFamily="18" charset="0"/>
                                    </a:rPr>
                                    <m:t>−</m:t>
                                  </m:r>
                                  <m:r>
                                    <a:rPr lang="en-GB" sz="1800" b="1" i="1" smtClean="0">
                                      <a:solidFill>
                                        <a:schemeClr val="tx1"/>
                                      </a:solidFill>
                                      <a:latin typeface="Cambria Math" panose="02040503050406030204" pitchFamily="18" charset="0"/>
                                      <a:cs typeface="Times New Roman" pitchFamily="18" charset="0"/>
                                    </a:rPr>
                                    <m:t>𝟔𝟐</m:t>
                                  </m:r>
                                </m:e>
                              </m:d>
                            </m:e>
                            <m:sup>
                              <m:r>
                                <a:rPr lang="en-GB" sz="1800" b="1" i="1">
                                  <a:solidFill>
                                    <a:schemeClr val="tx1"/>
                                  </a:solidFill>
                                  <a:latin typeface="Cambria Math" panose="02040503050406030204" pitchFamily="18" charset="0"/>
                                  <a:cs typeface="Times New Roman" pitchFamily="18" charset="0"/>
                                </a:rPr>
                                <m:t>𝟐</m:t>
                              </m:r>
                            </m:sup>
                          </m:sSup>
                        </m:e>
                      </m:rad>
                    </m:oMath>
                  </m:oMathPara>
                </a14:m>
                <a:endParaRPr lang="en-GB" sz="1800" b="1"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a:t>
                </a:r>
              </a:p>
              <a:p>
                <a:pPr algn="just"/>
                <a:r>
                  <a:rPr lang="en-US" sz="1800" b="1" dirty="0">
                    <a:solidFill>
                      <a:schemeClr val="tx1"/>
                    </a:solidFill>
                    <a:latin typeface="Times New Roman" pitchFamily="18" charset="0"/>
                    <a:cs typeface="Times New Roman" pitchFamily="18" charset="0"/>
                  </a:rPr>
                  <a:t>.</a:t>
                </a:r>
              </a:p>
              <a:p>
                <a:pPr algn="just"/>
                <a:r>
                  <a:rPr lang="en-US" sz="1800" b="1" dirty="0">
                    <a:solidFill>
                      <a:schemeClr val="tx1"/>
                    </a:solidFill>
                    <a:latin typeface="Times New Roman" pitchFamily="18" charset="0"/>
                    <a:cs typeface="Times New Roman" pitchFamily="18" charset="0"/>
                  </a:rPr>
                  <a:t>.</a:t>
                </a:r>
              </a:p>
              <a:p>
                <a:pPr algn="just"/>
                <a14:m>
                  <m:oMathPara xmlns:m="http://schemas.openxmlformats.org/officeDocument/2006/math">
                    <m:oMathParaPr>
                      <m:jc m:val="left"/>
                    </m:oMathParaPr>
                    <m:oMath xmlns:m="http://schemas.openxmlformats.org/officeDocument/2006/math">
                      <m:sSub>
                        <m:sSubPr>
                          <m:ctrlPr>
                            <a:rPr lang="en-GB" sz="1800" b="1" i="1" smtClean="0">
                              <a:solidFill>
                                <a:schemeClr val="tx1"/>
                              </a:solidFill>
                              <a:latin typeface="Cambria Math" panose="02040503050406030204" pitchFamily="18" charset="0"/>
                              <a:cs typeface="Times New Roman" pitchFamily="18" charset="0"/>
                            </a:rPr>
                          </m:ctrlPr>
                        </m:sSubPr>
                        <m:e>
                          <m:r>
                            <a:rPr lang="en-GB" sz="1800" b="1" i="1" smtClean="0">
                              <a:solidFill>
                                <a:schemeClr val="tx1"/>
                              </a:solidFill>
                              <a:latin typeface="Cambria Math" panose="02040503050406030204" pitchFamily="18" charset="0"/>
                              <a:cs typeface="Times New Roman" pitchFamily="18" charset="0"/>
                            </a:rPr>
                            <m:t>𝒅</m:t>
                          </m:r>
                        </m:e>
                        <m:sub>
                          <m:r>
                            <a:rPr lang="en-GB" sz="1800" b="1" i="1" smtClean="0">
                              <a:solidFill>
                                <a:schemeClr val="tx1"/>
                              </a:solidFill>
                              <a:latin typeface="Cambria Math" panose="02040503050406030204" pitchFamily="18" charset="0"/>
                              <a:cs typeface="Times New Roman" pitchFamily="18" charset="0"/>
                            </a:rPr>
                            <m:t>𝟗</m:t>
                          </m:r>
                        </m:sub>
                      </m:sSub>
                      <m:r>
                        <a:rPr lang="en-GB" sz="1800" b="1" i="1" smtClean="0">
                          <a:solidFill>
                            <a:schemeClr val="tx1"/>
                          </a:solidFill>
                          <a:latin typeface="Cambria Math" panose="02040503050406030204" pitchFamily="18" charset="0"/>
                          <a:cs typeface="Times New Roman" pitchFamily="18" charset="0"/>
                        </a:rPr>
                        <m:t>=</m:t>
                      </m:r>
                      <m:rad>
                        <m:radPr>
                          <m:degHide m:val="on"/>
                          <m:ctrlPr>
                            <a:rPr lang="en-GB" sz="1800" b="1" i="1" smtClean="0">
                              <a:solidFill>
                                <a:schemeClr val="tx1"/>
                              </a:solidFill>
                              <a:latin typeface="Cambria Math" panose="02040503050406030204" pitchFamily="18" charset="0"/>
                              <a:cs typeface="Times New Roman" pitchFamily="18" charset="0"/>
                            </a:rPr>
                          </m:ctrlPr>
                        </m:radPr>
                        <m:deg/>
                        <m:e>
                          <m:sSup>
                            <m:sSupPr>
                              <m:ctrlPr>
                                <a:rPr lang="en-GB" sz="1800" b="1" i="1" smtClean="0">
                                  <a:solidFill>
                                    <a:schemeClr val="tx1"/>
                                  </a:solidFill>
                                  <a:latin typeface="Cambria Math" panose="02040503050406030204" pitchFamily="18" charset="0"/>
                                  <a:cs typeface="Times New Roman" pitchFamily="18" charset="0"/>
                                </a:rPr>
                              </m:ctrlPr>
                            </m:sSupPr>
                            <m:e>
                              <m:d>
                                <m:dPr>
                                  <m:ctrlPr>
                                    <a:rPr lang="en-GB" sz="1800" b="1" i="1" smtClean="0">
                                      <a:solidFill>
                                        <a:schemeClr val="tx1"/>
                                      </a:solidFill>
                                      <a:latin typeface="Cambria Math" panose="02040503050406030204" pitchFamily="18" charset="0"/>
                                      <a:cs typeface="Times New Roman" pitchFamily="18" charset="0"/>
                                    </a:rPr>
                                  </m:ctrlPr>
                                </m:dPr>
                                <m:e>
                                  <m:r>
                                    <a:rPr lang="en-GB" sz="1800" b="1" i="1" smtClean="0">
                                      <a:solidFill>
                                        <a:schemeClr val="tx1"/>
                                      </a:solidFill>
                                      <a:latin typeface="Cambria Math" panose="02040503050406030204" pitchFamily="18" charset="0"/>
                                      <a:cs typeface="Times New Roman" pitchFamily="18" charset="0"/>
                                    </a:rPr>
                                    <m:t>𝟏𝟕𝟎</m:t>
                                  </m:r>
                                  <m:r>
                                    <a:rPr lang="en-GB" sz="1800" b="1" i="1" smtClean="0">
                                      <a:solidFill>
                                        <a:schemeClr val="tx1"/>
                                      </a:solidFill>
                                      <a:latin typeface="Cambria Math" panose="02040503050406030204" pitchFamily="18" charset="0"/>
                                      <a:cs typeface="Times New Roman" pitchFamily="18" charset="0"/>
                                    </a:rPr>
                                    <m:t>−</m:t>
                                  </m:r>
                                  <m:r>
                                    <a:rPr lang="en-GB" sz="1800" b="1" i="1" smtClean="0">
                                      <a:solidFill>
                                        <a:schemeClr val="tx1"/>
                                      </a:solidFill>
                                      <a:latin typeface="Cambria Math" panose="02040503050406030204" pitchFamily="18" charset="0"/>
                                      <a:cs typeface="Times New Roman" pitchFamily="18" charset="0"/>
                                    </a:rPr>
                                    <m:t>𝟏𝟕𝟎</m:t>
                                  </m:r>
                                </m:e>
                              </m:d>
                            </m:e>
                            <m:sup>
                              <m:r>
                                <a:rPr lang="en-GB" sz="1800" b="1" i="1" smtClean="0">
                                  <a:solidFill>
                                    <a:schemeClr val="tx1"/>
                                  </a:solidFill>
                                  <a:latin typeface="Cambria Math" panose="02040503050406030204" pitchFamily="18" charset="0"/>
                                  <a:cs typeface="Times New Roman" pitchFamily="18" charset="0"/>
                                </a:rPr>
                                <m:t>𝟐</m:t>
                              </m:r>
                            </m:sup>
                          </m:sSup>
                          <m:r>
                            <a:rPr lang="en-GB" sz="1800" b="1" i="1" smtClean="0">
                              <a:solidFill>
                                <a:schemeClr val="tx1"/>
                              </a:solidFill>
                              <a:latin typeface="Cambria Math" panose="02040503050406030204" pitchFamily="18" charset="0"/>
                              <a:cs typeface="Times New Roman" pitchFamily="18" charset="0"/>
                            </a:rPr>
                            <m:t>+</m:t>
                          </m:r>
                          <m:sSup>
                            <m:sSupPr>
                              <m:ctrlPr>
                                <a:rPr lang="en-GB" sz="1800" b="1" i="1">
                                  <a:solidFill>
                                    <a:schemeClr val="tx1"/>
                                  </a:solidFill>
                                  <a:latin typeface="Cambria Math" panose="02040503050406030204" pitchFamily="18" charset="0"/>
                                  <a:cs typeface="Times New Roman" pitchFamily="18" charset="0"/>
                                </a:rPr>
                              </m:ctrlPr>
                            </m:sSupPr>
                            <m:e>
                              <m:d>
                                <m:dPr>
                                  <m:ctrlPr>
                                    <a:rPr lang="en-GB" sz="1800" b="1" i="1">
                                      <a:solidFill>
                                        <a:schemeClr val="tx1"/>
                                      </a:solidFill>
                                      <a:latin typeface="Cambria Math" panose="02040503050406030204" pitchFamily="18" charset="0"/>
                                      <a:cs typeface="Times New Roman" pitchFamily="18" charset="0"/>
                                    </a:rPr>
                                  </m:ctrlPr>
                                </m:dPr>
                                <m:e>
                                  <m:r>
                                    <a:rPr lang="en-GB" sz="1800" b="1" i="1" smtClean="0">
                                      <a:solidFill>
                                        <a:schemeClr val="tx1"/>
                                      </a:solidFill>
                                      <a:latin typeface="Cambria Math" panose="02040503050406030204" pitchFamily="18" charset="0"/>
                                      <a:cs typeface="Times New Roman" pitchFamily="18" charset="0"/>
                                    </a:rPr>
                                    <m:t>𝟓𝟕</m:t>
                                  </m:r>
                                  <m:r>
                                    <a:rPr lang="en-GB" sz="1800" b="1" i="1">
                                      <a:solidFill>
                                        <a:schemeClr val="tx1"/>
                                      </a:solidFill>
                                      <a:latin typeface="Cambria Math" panose="02040503050406030204" pitchFamily="18" charset="0"/>
                                      <a:cs typeface="Times New Roman" pitchFamily="18" charset="0"/>
                                    </a:rPr>
                                    <m:t>−</m:t>
                                  </m:r>
                                  <m:r>
                                    <a:rPr lang="en-GB" sz="1800" b="1" i="1" smtClean="0">
                                      <a:solidFill>
                                        <a:schemeClr val="tx1"/>
                                      </a:solidFill>
                                      <a:latin typeface="Cambria Math" panose="02040503050406030204" pitchFamily="18" charset="0"/>
                                      <a:cs typeface="Times New Roman" pitchFamily="18" charset="0"/>
                                    </a:rPr>
                                    <m:t>𝟓𝟓</m:t>
                                  </m:r>
                                </m:e>
                              </m:d>
                            </m:e>
                            <m:sup>
                              <m:r>
                                <a:rPr lang="en-GB" sz="1800" b="1" i="1">
                                  <a:solidFill>
                                    <a:schemeClr val="tx1"/>
                                  </a:solidFill>
                                  <a:latin typeface="Cambria Math" panose="02040503050406030204" pitchFamily="18" charset="0"/>
                                  <a:cs typeface="Times New Roman" pitchFamily="18" charset="0"/>
                                </a:rPr>
                                <m:t>𝟐</m:t>
                              </m:r>
                            </m:sup>
                          </m:sSup>
                        </m:e>
                      </m:rad>
                    </m:oMath>
                  </m:oMathPara>
                </a14:m>
                <a:endParaRPr lang="en-US" sz="1800" b="1" dirty="0">
                  <a:solidFill>
                    <a:schemeClr val="tx1"/>
                  </a:solidFill>
                  <a:latin typeface="Times New Roman" pitchFamily="18" charset="0"/>
                  <a:cs typeface="Times New Roman" pitchFamily="18" charset="0"/>
                </a:endParaRPr>
              </a:p>
              <a:p>
                <a:pPr algn="just"/>
                <a:endParaRPr lang="en-US" sz="1800" b="1" dirty="0">
                  <a:solidFill>
                    <a:schemeClr val="tx1"/>
                  </a:solidFill>
                  <a:latin typeface="Times New Roman" pitchFamily="18" charset="0"/>
                  <a:cs typeface="Times New Roman" pitchFamily="18" charset="0"/>
                </a:endParaRPr>
              </a:p>
            </p:txBody>
          </p:sp>
        </mc:Choice>
        <mc:Fallback xmlns="">
          <p:sp>
            <p:nvSpPr>
              <p:cNvPr id="3" name="Subtitle 2">
                <a:extLst>
                  <a:ext uri="{FF2B5EF4-FFF2-40B4-BE49-F238E27FC236}">
                    <a16:creationId xmlns:a16="http://schemas.microsoft.com/office/drawing/2014/main" id="{854B707D-1896-E1CB-006B-1C4CE1A2574A}"/>
                  </a:ext>
                </a:extLst>
              </p:cNvPr>
              <p:cNvSpPr>
                <a:spLocks noGrp="1" noRot="1" noChangeAspect="1" noMove="1" noResize="1" noEditPoints="1" noAdjustHandles="1" noChangeArrowheads="1" noChangeShapeType="1" noTextEdit="1"/>
              </p:cNvSpPr>
              <p:nvPr>
                <p:ph type="subTitle" idx="1"/>
              </p:nvPr>
            </p:nvSpPr>
            <p:spPr>
              <a:xfrm>
                <a:off x="685800" y="1371600"/>
                <a:ext cx="7467600" cy="4343400"/>
              </a:xfrm>
              <a:blipFill>
                <a:blip r:embed="rId2"/>
                <a:stretch>
                  <a:fillRect l="-735" t="-701"/>
                </a:stretch>
              </a:blipFill>
            </p:spPr>
            <p:txBody>
              <a:bodyPr/>
              <a:lstStyle/>
              <a:p>
                <a:r>
                  <a:rPr lang="en-GB">
                    <a:noFill/>
                  </a:rPr>
                  <a:t> </a:t>
                </a:r>
              </a:p>
            </p:txBody>
          </p:sp>
        </mc:Fallback>
      </mc:AlternateContent>
      <p:graphicFrame>
        <p:nvGraphicFramePr>
          <p:cNvPr id="4" name="Table 3">
            <a:extLst>
              <a:ext uri="{FF2B5EF4-FFF2-40B4-BE49-F238E27FC236}">
                <a16:creationId xmlns:a16="http://schemas.microsoft.com/office/drawing/2014/main" id="{CBB29222-B351-5699-BB5C-9A37BD8DB9B5}"/>
              </a:ext>
            </a:extLst>
          </p:cNvPr>
          <p:cNvGraphicFramePr>
            <a:graphicFrameLocks noGrp="1"/>
          </p:cNvGraphicFramePr>
          <p:nvPr/>
        </p:nvGraphicFramePr>
        <p:xfrm>
          <a:off x="4724400" y="1503680"/>
          <a:ext cx="4151885" cy="4079240"/>
        </p:xfrm>
        <a:graphic>
          <a:graphicData uri="http://schemas.openxmlformats.org/drawingml/2006/table">
            <a:tbl>
              <a:tblPr firstRow="1" bandRow="1">
                <a:tableStyleId>{5C22544A-7EE6-4342-B048-85BDC9FD1C3A}</a:tableStyleId>
              </a:tblPr>
              <a:tblGrid>
                <a:gridCol w="1333310">
                  <a:extLst>
                    <a:ext uri="{9D8B030D-6E8A-4147-A177-3AD203B41FA5}">
                      <a16:colId xmlns:a16="http://schemas.microsoft.com/office/drawing/2014/main" val="1578106174"/>
                    </a:ext>
                  </a:extLst>
                </a:gridCol>
                <a:gridCol w="1370203">
                  <a:extLst>
                    <a:ext uri="{9D8B030D-6E8A-4147-A177-3AD203B41FA5}">
                      <a16:colId xmlns:a16="http://schemas.microsoft.com/office/drawing/2014/main" val="834031461"/>
                    </a:ext>
                  </a:extLst>
                </a:gridCol>
                <a:gridCol w="1448372">
                  <a:extLst>
                    <a:ext uri="{9D8B030D-6E8A-4147-A177-3AD203B41FA5}">
                      <a16:colId xmlns:a16="http://schemas.microsoft.com/office/drawing/2014/main" val="39674572"/>
                    </a:ext>
                  </a:extLst>
                </a:gridCol>
              </a:tblGrid>
              <a:tr h="370840">
                <a:tc>
                  <a:txBody>
                    <a:bodyPr/>
                    <a:lstStyle/>
                    <a:p>
                      <a:r>
                        <a:rPr lang="en-GB" dirty="0"/>
                        <a:t>Height (cm)</a:t>
                      </a:r>
                    </a:p>
                  </a:txBody>
                  <a:tcPr/>
                </a:tc>
                <a:tc>
                  <a:txBody>
                    <a:bodyPr/>
                    <a:lstStyle/>
                    <a:p>
                      <a:r>
                        <a:rPr lang="en-GB" dirty="0"/>
                        <a:t>Weight (KG)</a:t>
                      </a:r>
                    </a:p>
                  </a:txBody>
                  <a:tcPr/>
                </a:tc>
                <a:tc>
                  <a:txBody>
                    <a:bodyPr/>
                    <a:lstStyle/>
                    <a:p>
                      <a:r>
                        <a:rPr lang="en-GB" dirty="0"/>
                        <a:t>Class</a:t>
                      </a:r>
                    </a:p>
                  </a:txBody>
                  <a:tcPr/>
                </a:tc>
                <a:extLst>
                  <a:ext uri="{0D108BD9-81ED-4DB2-BD59-A6C34878D82A}">
                    <a16:rowId xmlns:a16="http://schemas.microsoft.com/office/drawing/2014/main" val="219217356"/>
                  </a:ext>
                </a:extLst>
              </a:tr>
              <a:tr h="370840">
                <a:tc>
                  <a:txBody>
                    <a:bodyPr/>
                    <a:lstStyle/>
                    <a:p>
                      <a:r>
                        <a:rPr lang="en-GB" dirty="0"/>
                        <a:t>167</a:t>
                      </a:r>
                    </a:p>
                  </a:txBody>
                  <a:tcPr/>
                </a:tc>
                <a:tc>
                  <a:txBody>
                    <a:bodyPr/>
                    <a:lstStyle/>
                    <a:p>
                      <a:r>
                        <a:rPr lang="en-GB" dirty="0"/>
                        <a:t>51</a:t>
                      </a:r>
                    </a:p>
                  </a:txBody>
                  <a:tcPr/>
                </a:tc>
                <a:tc>
                  <a:txBody>
                    <a:bodyPr/>
                    <a:lstStyle/>
                    <a:p>
                      <a:r>
                        <a:rPr lang="en-GB" dirty="0"/>
                        <a:t>Underweight</a:t>
                      </a:r>
                    </a:p>
                  </a:txBody>
                  <a:tcPr/>
                </a:tc>
                <a:extLst>
                  <a:ext uri="{0D108BD9-81ED-4DB2-BD59-A6C34878D82A}">
                    <a16:rowId xmlns:a16="http://schemas.microsoft.com/office/drawing/2014/main" val="530062480"/>
                  </a:ext>
                </a:extLst>
              </a:tr>
              <a:tr h="370840">
                <a:tc>
                  <a:txBody>
                    <a:bodyPr/>
                    <a:lstStyle/>
                    <a:p>
                      <a:r>
                        <a:rPr lang="en-GB" dirty="0"/>
                        <a:t>182</a:t>
                      </a:r>
                    </a:p>
                  </a:txBody>
                  <a:tcPr/>
                </a:tc>
                <a:tc>
                  <a:txBody>
                    <a:bodyPr/>
                    <a:lstStyle/>
                    <a:p>
                      <a:r>
                        <a:rPr lang="en-GB" dirty="0"/>
                        <a:t>62</a:t>
                      </a:r>
                    </a:p>
                  </a:txBody>
                  <a:tcPr/>
                </a:tc>
                <a:tc>
                  <a:txBody>
                    <a:bodyPr/>
                    <a:lstStyle/>
                    <a:p>
                      <a:r>
                        <a:rPr lang="en-GB" dirty="0"/>
                        <a:t>Normal</a:t>
                      </a:r>
                    </a:p>
                  </a:txBody>
                  <a:tcPr/>
                </a:tc>
                <a:extLst>
                  <a:ext uri="{0D108BD9-81ED-4DB2-BD59-A6C34878D82A}">
                    <a16:rowId xmlns:a16="http://schemas.microsoft.com/office/drawing/2014/main" val="2020881325"/>
                  </a:ext>
                </a:extLst>
              </a:tr>
              <a:tr h="370840">
                <a:tc>
                  <a:txBody>
                    <a:bodyPr/>
                    <a:lstStyle/>
                    <a:p>
                      <a:r>
                        <a:rPr lang="en-GB" dirty="0"/>
                        <a:t>176</a:t>
                      </a:r>
                    </a:p>
                  </a:txBody>
                  <a:tcPr/>
                </a:tc>
                <a:tc>
                  <a:txBody>
                    <a:bodyPr/>
                    <a:lstStyle/>
                    <a:p>
                      <a:r>
                        <a:rPr lang="en-GB" dirty="0"/>
                        <a:t>69</a:t>
                      </a:r>
                    </a:p>
                  </a:txBody>
                  <a:tcPr/>
                </a:tc>
                <a:tc>
                  <a:txBody>
                    <a:bodyPr/>
                    <a:lstStyle/>
                    <a:p>
                      <a:r>
                        <a:rPr lang="en-GB" dirty="0"/>
                        <a:t>Normal</a:t>
                      </a:r>
                    </a:p>
                  </a:txBody>
                  <a:tcPr/>
                </a:tc>
                <a:extLst>
                  <a:ext uri="{0D108BD9-81ED-4DB2-BD59-A6C34878D82A}">
                    <a16:rowId xmlns:a16="http://schemas.microsoft.com/office/drawing/2014/main" val="741610871"/>
                  </a:ext>
                </a:extLst>
              </a:tr>
              <a:tr h="370840">
                <a:tc>
                  <a:txBody>
                    <a:bodyPr/>
                    <a:lstStyle/>
                    <a:p>
                      <a:r>
                        <a:rPr lang="en-GB" dirty="0"/>
                        <a:t>173</a:t>
                      </a:r>
                    </a:p>
                  </a:txBody>
                  <a:tcPr/>
                </a:tc>
                <a:tc>
                  <a:txBody>
                    <a:bodyPr/>
                    <a:lstStyle/>
                    <a:p>
                      <a:r>
                        <a:rPr lang="en-GB" dirty="0"/>
                        <a:t>64</a:t>
                      </a:r>
                    </a:p>
                  </a:txBody>
                  <a:tcPr/>
                </a:tc>
                <a:tc>
                  <a:txBody>
                    <a:bodyPr/>
                    <a:lstStyle/>
                    <a:p>
                      <a:r>
                        <a:rPr lang="en-GB" dirty="0"/>
                        <a:t>Normal</a:t>
                      </a:r>
                    </a:p>
                  </a:txBody>
                  <a:tcPr/>
                </a:tc>
                <a:extLst>
                  <a:ext uri="{0D108BD9-81ED-4DB2-BD59-A6C34878D82A}">
                    <a16:rowId xmlns:a16="http://schemas.microsoft.com/office/drawing/2014/main" val="3297758044"/>
                  </a:ext>
                </a:extLst>
              </a:tr>
              <a:tr h="370840">
                <a:tc>
                  <a:txBody>
                    <a:bodyPr/>
                    <a:lstStyle/>
                    <a:p>
                      <a:r>
                        <a:rPr lang="en-GB" dirty="0"/>
                        <a:t>172</a:t>
                      </a:r>
                    </a:p>
                  </a:txBody>
                  <a:tcPr/>
                </a:tc>
                <a:tc>
                  <a:txBody>
                    <a:bodyPr/>
                    <a:lstStyle/>
                    <a:p>
                      <a:r>
                        <a:rPr lang="en-GB" dirty="0"/>
                        <a:t>65</a:t>
                      </a:r>
                    </a:p>
                  </a:txBody>
                  <a:tcPr/>
                </a:tc>
                <a:tc>
                  <a:txBody>
                    <a:bodyPr/>
                    <a:lstStyle/>
                    <a:p>
                      <a:r>
                        <a:rPr lang="en-GB" dirty="0"/>
                        <a:t>Normal</a:t>
                      </a:r>
                    </a:p>
                  </a:txBody>
                  <a:tcPr/>
                </a:tc>
                <a:extLst>
                  <a:ext uri="{0D108BD9-81ED-4DB2-BD59-A6C34878D82A}">
                    <a16:rowId xmlns:a16="http://schemas.microsoft.com/office/drawing/2014/main" val="334849981"/>
                  </a:ext>
                </a:extLst>
              </a:tr>
              <a:tr h="370840">
                <a:tc>
                  <a:txBody>
                    <a:bodyPr/>
                    <a:lstStyle/>
                    <a:p>
                      <a:r>
                        <a:rPr lang="en-GB" dirty="0"/>
                        <a:t>174</a:t>
                      </a:r>
                    </a:p>
                  </a:txBody>
                  <a:tcPr/>
                </a:tc>
                <a:tc>
                  <a:txBody>
                    <a:bodyPr/>
                    <a:lstStyle/>
                    <a:p>
                      <a:r>
                        <a:rPr lang="en-GB" dirty="0"/>
                        <a:t>56</a:t>
                      </a:r>
                    </a:p>
                  </a:txBody>
                  <a:tcPr/>
                </a:tc>
                <a:tc>
                  <a:txBody>
                    <a:bodyPr/>
                    <a:lstStyle/>
                    <a:p>
                      <a:r>
                        <a:rPr lang="en-GB" dirty="0"/>
                        <a:t>Underweight</a:t>
                      </a:r>
                    </a:p>
                  </a:txBody>
                  <a:tcPr/>
                </a:tc>
                <a:extLst>
                  <a:ext uri="{0D108BD9-81ED-4DB2-BD59-A6C34878D82A}">
                    <a16:rowId xmlns:a16="http://schemas.microsoft.com/office/drawing/2014/main" val="3332858614"/>
                  </a:ext>
                </a:extLst>
              </a:tr>
              <a:tr h="370840">
                <a:tc>
                  <a:txBody>
                    <a:bodyPr/>
                    <a:lstStyle/>
                    <a:p>
                      <a:r>
                        <a:rPr lang="en-GB" dirty="0"/>
                        <a:t>169</a:t>
                      </a:r>
                    </a:p>
                  </a:txBody>
                  <a:tcPr/>
                </a:tc>
                <a:tc>
                  <a:txBody>
                    <a:bodyPr/>
                    <a:lstStyle/>
                    <a:p>
                      <a:r>
                        <a:rPr lang="en-GB" dirty="0"/>
                        <a:t>58</a:t>
                      </a:r>
                    </a:p>
                  </a:txBody>
                  <a:tcPr/>
                </a:tc>
                <a:tc>
                  <a:txBody>
                    <a:bodyPr/>
                    <a:lstStyle/>
                    <a:p>
                      <a:r>
                        <a:rPr lang="en-GB" dirty="0"/>
                        <a:t>Normal</a:t>
                      </a:r>
                    </a:p>
                  </a:txBody>
                  <a:tcPr/>
                </a:tc>
                <a:extLst>
                  <a:ext uri="{0D108BD9-81ED-4DB2-BD59-A6C34878D82A}">
                    <a16:rowId xmlns:a16="http://schemas.microsoft.com/office/drawing/2014/main" val="1442658761"/>
                  </a:ext>
                </a:extLst>
              </a:tr>
              <a:tr h="370840">
                <a:tc>
                  <a:txBody>
                    <a:bodyPr/>
                    <a:lstStyle/>
                    <a:p>
                      <a:r>
                        <a:rPr lang="en-GB" dirty="0"/>
                        <a:t>173</a:t>
                      </a:r>
                    </a:p>
                  </a:txBody>
                  <a:tcPr/>
                </a:tc>
                <a:tc>
                  <a:txBody>
                    <a:bodyPr/>
                    <a:lstStyle/>
                    <a:p>
                      <a:r>
                        <a:rPr lang="en-GB" dirty="0"/>
                        <a:t>57</a:t>
                      </a:r>
                    </a:p>
                  </a:txBody>
                  <a:tcPr/>
                </a:tc>
                <a:tc>
                  <a:txBody>
                    <a:bodyPr/>
                    <a:lstStyle/>
                    <a:p>
                      <a:r>
                        <a:rPr lang="en-GB" dirty="0"/>
                        <a:t>Normal</a:t>
                      </a:r>
                    </a:p>
                  </a:txBody>
                  <a:tcPr/>
                </a:tc>
                <a:extLst>
                  <a:ext uri="{0D108BD9-81ED-4DB2-BD59-A6C34878D82A}">
                    <a16:rowId xmlns:a16="http://schemas.microsoft.com/office/drawing/2014/main" val="3800743947"/>
                  </a:ext>
                </a:extLst>
              </a:tr>
              <a:tr h="370840">
                <a:tc>
                  <a:txBody>
                    <a:bodyPr/>
                    <a:lstStyle/>
                    <a:p>
                      <a:r>
                        <a:rPr lang="en-GB" dirty="0"/>
                        <a:t>170</a:t>
                      </a:r>
                    </a:p>
                  </a:txBody>
                  <a:tcPr/>
                </a:tc>
                <a:tc>
                  <a:txBody>
                    <a:bodyPr/>
                    <a:lstStyle/>
                    <a:p>
                      <a:r>
                        <a:rPr lang="en-GB" dirty="0"/>
                        <a:t>55</a:t>
                      </a:r>
                    </a:p>
                  </a:txBody>
                  <a:tcPr/>
                </a:tc>
                <a:tc>
                  <a:txBody>
                    <a:bodyPr/>
                    <a:lstStyle/>
                    <a:p>
                      <a:r>
                        <a:rPr lang="en-GB" dirty="0"/>
                        <a:t>Normal</a:t>
                      </a:r>
                    </a:p>
                  </a:txBody>
                  <a:tcPr/>
                </a:tc>
                <a:extLst>
                  <a:ext uri="{0D108BD9-81ED-4DB2-BD59-A6C34878D82A}">
                    <a16:rowId xmlns:a16="http://schemas.microsoft.com/office/drawing/2014/main" val="1994628311"/>
                  </a:ext>
                </a:extLst>
              </a:tr>
              <a:tr h="370840">
                <a:tc>
                  <a:txBody>
                    <a:bodyPr/>
                    <a:lstStyle/>
                    <a:p>
                      <a:r>
                        <a:rPr lang="en-GB" dirty="0">
                          <a:solidFill>
                            <a:srgbClr val="FF0000"/>
                          </a:solidFill>
                        </a:rPr>
                        <a:t>170</a:t>
                      </a:r>
                    </a:p>
                  </a:txBody>
                  <a:tcPr/>
                </a:tc>
                <a:tc>
                  <a:txBody>
                    <a:bodyPr/>
                    <a:lstStyle/>
                    <a:p>
                      <a:r>
                        <a:rPr lang="en-GB" dirty="0">
                          <a:solidFill>
                            <a:srgbClr val="FF0000"/>
                          </a:solidFill>
                        </a:rPr>
                        <a:t>57</a:t>
                      </a:r>
                    </a:p>
                  </a:txBody>
                  <a:tcPr/>
                </a:tc>
                <a:tc>
                  <a:txBody>
                    <a:bodyPr/>
                    <a:lstStyle/>
                    <a:p>
                      <a:r>
                        <a:rPr lang="en-GB" dirty="0">
                          <a:solidFill>
                            <a:srgbClr val="FF0000"/>
                          </a:solidFill>
                        </a:rPr>
                        <a:t>?</a:t>
                      </a:r>
                    </a:p>
                  </a:txBody>
                  <a:tcPr/>
                </a:tc>
                <a:extLst>
                  <a:ext uri="{0D108BD9-81ED-4DB2-BD59-A6C34878D82A}">
                    <a16:rowId xmlns:a16="http://schemas.microsoft.com/office/drawing/2014/main" val="2879317720"/>
                  </a:ext>
                </a:extLst>
              </a:tr>
            </a:tbl>
          </a:graphicData>
        </a:graphic>
      </p:graphicFrame>
    </p:spTree>
    <p:extLst>
      <p:ext uri="{BB962C8B-B14F-4D97-AF65-F5344CB8AC3E}">
        <p14:creationId xmlns:p14="http://schemas.microsoft.com/office/powerpoint/2010/main" val="3359769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A2800-D0D6-E703-BAB7-17A4D08B5B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279D92-03E9-738F-BA1D-0E437F822134}"/>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KNN</a:t>
            </a:r>
          </a:p>
        </p:txBody>
      </p:sp>
      <p:sp>
        <p:nvSpPr>
          <p:cNvPr id="3" name="Subtitle 2">
            <a:extLst>
              <a:ext uri="{FF2B5EF4-FFF2-40B4-BE49-F238E27FC236}">
                <a16:creationId xmlns:a16="http://schemas.microsoft.com/office/drawing/2014/main" id="{E3315430-4C99-1FB2-6FC7-8624B485C55C}"/>
              </a:ext>
            </a:extLst>
          </p:cNvPr>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Example of KNN:</a:t>
            </a:r>
          </a:p>
          <a:p>
            <a:pPr algn="just"/>
            <a:endParaRPr lang="en-US" sz="1800" b="1" dirty="0">
              <a:solidFill>
                <a:schemeClr val="tx1"/>
              </a:solidFill>
              <a:latin typeface="Times New Roman" pitchFamily="18" charset="0"/>
              <a:cs typeface="Times New Roman" pitchFamily="18" charset="0"/>
            </a:endParaRPr>
          </a:p>
        </p:txBody>
      </p:sp>
      <p:graphicFrame>
        <p:nvGraphicFramePr>
          <p:cNvPr id="4" name="Table 3">
            <a:extLst>
              <a:ext uri="{FF2B5EF4-FFF2-40B4-BE49-F238E27FC236}">
                <a16:creationId xmlns:a16="http://schemas.microsoft.com/office/drawing/2014/main" id="{0F12A66B-4E18-D582-0227-3F6510273B45}"/>
              </a:ext>
            </a:extLst>
          </p:cNvPr>
          <p:cNvGraphicFramePr>
            <a:graphicFrameLocks noGrp="1"/>
          </p:cNvGraphicFramePr>
          <p:nvPr>
            <p:extLst>
              <p:ext uri="{D42A27DB-BD31-4B8C-83A1-F6EECF244321}">
                <p14:modId xmlns:p14="http://schemas.microsoft.com/office/powerpoint/2010/main" val="533159578"/>
              </p:ext>
            </p:extLst>
          </p:nvPr>
        </p:nvGraphicFramePr>
        <p:xfrm>
          <a:off x="685800" y="1828800"/>
          <a:ext cx="4876071" cy="4079240"/>
        </p:xfrm>
        <a:graphic>
          <a:graphicData uri="http://schemas.openxmlformats.org/drawingml/2006/table">
            <a:tbl>
              <a:tblPr firstRow="1" bandRow="1">
                <a:tableStyleId>{5C22544A-7EE6-4342-B048-85BDC9FD1C3A}</a:tableStyleId>
              </a:tblPr>
              <a:tblGrid>
                <a:gridCol w="1333310">
                  <a:extLst>
                    <a:ext uri="{9D8B030D-6E8A-4147-A177-3AD203B41FA5}">
                      <a16:colId xmlns:a16="http://schemas.microsoft.com/office/drawing/2014/main" val="1578106174"/>
                    </a:ext>
                  </a:extLst>
                </a:gridCol>
                <a:gridCol w="1370203">
                  <a:extLst>
                    <a:ext uri="{9D8B030D-6E8A-4147-A177-3AD203B41FA5}">
                      <a16:colId xmlns:a16="http://schemas.microsoft.com/office/drawing/2014/main" val="834031461"/>
                    </a:ext>
                  </a:extLst>
                </a:gridCol>
                <a:gridCol w="1448372">
                  <a:extLst>
                    <a:ext uri="{9D8B030D-6E8A-4147-A177-3AD203B41FA5}">
                      <a16:colId xmlns:a16="http://schemas.microsoft.com/office/drawing/2014/main" val="39674572"/>
                    </a:ext>
                  </a:extLst>
                </a:gridCol>
                <a:gridCol w="724186">
                  <a:extLst>
                    <a:ext uri="{9D8B030D-6E8A-4147-A177-3AD203B41FA5}">
                      <a16:colId xmlns:a16="http://schemas.microsoft.com/office/drawing/2014/main" val="2094978085"/>
                    </a:ext>
                  </a:extLst>
                </a:gridCol>
              </a:tblGrid>
              <a:tr h="370840">
                <a:tc>
                  <a:txBody>
                    <a:bodyPr/>
                    <a:lstStyle/>
                    <a:p>
                      <a:r>
                        <a:rPr lang="en-GB" dirty="0"/>
                        <a:t>Height (cm)</a:t>
                      </a:r>
                    </a:p>
                  </a:txBody>
                  <a:tcPr/>
                </a:tc>
                <a:tc>
                  <a:txBody>
                    <a:bodyPr/>
                    <a:lstStyle/>
                    <a:p>
                      <a:r>
                        <a:rPr lang="en-GB" dirty="0"/>
                        <a:t>Weight (KG)</a:t>
                      </a:r>
                    </a:p>
                  </a:txBody>
                  <a:tcPr/>
                </a:tc>
                <a:tc>
                  <a:txBody>
                    <a:bodyPr/>
                    <a:lstStyle/>
                    <a:p>
                      <a:r>
                        <a:rPr lang="en-GB" dirty="0"/>
                        <a:t>Class</a:t>
                      </a:r>
                    </a:p>
                  </a:txBody>
                  <a:tcPr/>
                </a:tc>
                <a:tc>
                  <a:txBody>
                    <a:bodyPr/>
                    <a:lstStyle/>
                    <a:p>
                      <a:r>
                        <a:rPr lang="en-GB" dirty="0"/>
                        <a:t>d</a:t>
                      </a:r>
                    </a:p>
                  </a:txBody>
                  <a:tcPr/>
                </a:tc>
                <a:extLst>
                  <a:ext uri="{0D108BD9-81ED-4DB2-BD59-A6C34878D82A}">
                    <a16:rowId xmlns:a16="http://schemas.microsoft.com/office/drawing/2014/main" val="219217356"/>
                  </a:ext>
                </a:extLst>
              </a:tr>
              <a:tr h="370840">
                <a:tc>
                  <a:txBody>
                    <a:bodyPr/>
                    <a:lstStyle/>
                    <a:p>
                      <a:r>
                        <a:rPr lang="en-GB" dirty="0"/>
                        <a:t>167</a:t>
                      </a:r>
                    </a:p>
                  </a:txBody>
                  <a:tcPr/>
                </a:tc>
                <a:tc>
                  <a:txBody>
                    <a:bodyPr/>
                    <a:lstStyle/>
                    <a:p>
                      <a:r>
                        <a:rPr lang="en-GB" dirty="0"/>
                        <a:t>51</a:t>
                      </a:r>
                    </a:p>
                  </a:txBody>
                  <a:tcPr/>
                </a:tc>
                <a:tc>
                  <a:txBody>
                    <a:bodyPr/>
                    <a:lstStyle/>
                    <a:p>
                      <a:r>
                        <a:rPr lang="en-GB" dirty="0"/>
                        <a:t>Underweight</a:t>
                      </a:r>
                    </a:p>
                  </a:txBody>
                  <a:tcPr/>
                </a:tc>
                <a:tc>
                  <a:txBody>
                    <a:bodyPr/>
                    <a:lstStyle/>
                    <a:p>
                      <a:r>
                        <a:rPr lang="en-GB" dirty="0"/>
                        <a:t>6.7</a:t>
                      </a:r>
                    </a:p>
                  </a:txBody>
                  <a:tcPr/>
                </a:tc>
                <a:extLst>
                  <a:ext uri="{0D108BD9-81ED-4DB2-BD59-A6C34878D82A}">
                    <a16:rowId xmlns:a16="http://schemas.microsoft.com/office/drawing/2014/main" val="530062480"/>
                  </a:ext>
                </a:extLst>
              </a:tr>
              <a:tr h="370840">
                <a:tc>
                  <a:txBody>
                    <a:bodyPr/>
                    <a:lstStyle/>
                    <a:p>
                      <a:r>
                        <a:rPr lang="en-GB" dirty="0"/>
                        <a:t>182</a:t>
                      </a:r>
                    </a:p>
                  </a:txBody>
                  <a:tcPr/>
                </a:tc>
                <a:tc>
                  <a:txBody>
                    <a:bodyPr/>
                    <a:lstStyle/>
                    <a:p>
                      <a:r>
                        <a:rPr lang="en-GB" dirty="0"/>
                        <a:t>62</a:t>
                      </a:r>
                    </a:p>
                  </a:txBody>
                  <a:tcPr/>
                </a:tc>
                <a:tc>
                  <a:txBody>
                    <a:bodyPr/>
                    <a:lstStyle/>
                    <a:p>
                      <a:r>
                        <a:rPr lang="en-GB" dirty="0"/>
                        <a:t>Normal</a:t>
                      </a:r>
                    </a:p>
                  </a:txBody>
                  <a:tcPr/>
                </a:tc>
                <a:tc>
                  <a:txBody>
                    <a:bodyPr/>
                    <a:lstStyle/>
                    <a:p>
                      <a:r>
                        <a:rPr lang="en-GB" dirty="0"/>
                        <a:t>13</a:t>
                      </a:r>
                    </a:p>
                  </a:txBody>
                  <a:tcPr/>
                </a:tc>
                <a:extLst>
                  <a:ext uri="{0D108BD9-81ED-4DB2-BD59-A6C34878D82A}">
                    <a16:rowId xmlns:a16="http://schemas.microsoft.com/office/drawing/2014/main" val="2020881325"/>
                  </a:ext>
                </a:extLst>
              </a:tr>
              <a:tr h="370840">
                <a:tc>
                  <a:txBody>
                    <a:bodyPr/>
                    <a:lstStyle/>
                    <a:p>
                      <a:r>
                        <a:rPr lang="en-GB" dirty="0"/>
                        <a:t>176</a:t>
                      </a:r>
                    </a:p>
                  </a:txBody>
                  <a:tcPr/>
                </a:tc>
                <a:tc>
                  <a:txBody>
                    <a:bodyPr/>
                    <a:lstStyle/>
                    <a:p>
                      <a:r>
                        <a:rPr lang="en-GB" dirty="0"/>
                        <a:t>69</a:t>
                      </a:r>
                    </a:p>
                  </a:txBody>
                  <a:tcPr/>
                </a:tc>
                <a:tc>
                  <a:txBody>
                    <a:bodyPr/>
                    <a:lstStyle/>
                    <a:p>
                      <a:r>
                        <a:rPr lang="en-GB" dirty="0"/>
                        <a:t>Normal</a:t>
                      </a:r>
                    </a:p>
                  </a:txBody>
                  <a:tcPr/>
                </a:tc>
                <a:tc>
                  <a:txBody>
                    <a:bodyPr/>
                    <a:lstStyle/>
                    <a:p>
                      <a:r>
                        <a:rPr lang="en-GB" dirty="0"/>
                        <a:t>13.4</a:t>
                      </a:r>
                    </a:p>
                  </a:txBody>
                  <a:tcPr/>
                </a:tc>
                <a:extLst>
                  <a:ext uri="{0D108BD9-81ED-4DB2-BD59-A6C34878D82A}">
                    <a16:rowId xmlns:a16="http://schemas.microsoft.com/office/drawing/2014/main" val="741610871"/>
                  </a:ext>
                </a:extLst>
              </a:tr>
              <a:tr h="370840">
                <a:tc>
                  <a:txBody>
                    <a:bodyPr/>
                    <a:lstStyle/>
                    <a:p>
                      <a:r>
                        <a:rPr lang="en-GB" dirty="0"/>
                        <a:t>173</a:t>
                      </a:r>
                    </a:p>
                  </a:txBody>
                  <a:tcPr/>
                </a:tc>
                <a:tc>
                  <a:txBody>
                    <a:bodyPr/>
                    <a:lstStyle/>
                    <a:p>
                      <a:r>
                        <a:rPr lang="en-GB" dirty="0"/>
                        <a:t>64</a:t>
                      </a:r>
                    </a:p>
                  </a:txBody>
                  <a:tcPr/>
                </a:tc>
                <a:tc>
                  <a:txBody>
                    <a:bodyPr/>
                    <a:lstStyle/>
                    <a:p>
                      <a:r>
                        <a:rPr lang="en-GB" dirty="0"/>
                        <a:t>Normal</a:t>
                      </a:r>
                    </a:p>
                  </a:txBody>
                  <a:tcPr/>
                </a:tc>
                <a:tc>
                  <a:txBody>
                    <a:bodyPr/>
                    <a:lstStyle/>
                    <a:p>
                      <a:r>
                        <a:rPr lang="en-GB" dirty="0"/>
                        <a:t>7.6</a:t>
                      </a:r>
                    </a:p>
                  </a:txBody>
                  <a:tcPr/>
                </a:tc>
                <a:extLst>
                  <a:ext uri="{0D108BD9-81ED-4DB2-BD59-A6C34878D82A}">
                    <a16:rowId xmlns:a16="http://schemas.microsoft.com/office/drawing/2014/main" val="3297758044"/>
                  </a:ext>
                </a:extLst>
              </a:tr>
              <a:tr h="370840">
                <a:tc>
                  <a:txBody>
                    <a:bodyPr/>
                    <a:lstStyle/>
                    <a:p>
                      <a:r>
                        <a:rPr lang="en-GB" dirty="0"/>
                        <a:t>172</a:t>
                      </a:r>
                    </a:p>
                  </a:txBody>
                  <a:tcPr/>
                </a:tc>
                <a:tc>
                  <a:txBody>
                    <a:bodyPr/>
                    <a:lstStyle/>
                    <a:p>
                      <a:r>
                        <a:rPr lang="en-GB" dirty="0"/>
                        <a:t>65</a:t>
                      </a:r>
                    </a:p>
                  </a:txBody>
                  <a:tcPr/>
                </a:tc>
                <a:tc>
                  <a:txBody>
                    <a:bodyPr/>
                    <a:lstStyle/>
                    <a:p>
                      <a:r>
                        <a:rPr lang="en-GB" dirty="0"/>
                        <a:t>Normal</a:t>
                      </a:r>
                    </a:p>
                  </a:txBody>
                  <a:tcPr/>
                </a:tc>
                <a:tc>
                  <a:txBody>
                    <a:bodyPr/>
                    <a:lstStyle/>
                    <a:p>
                      <a:r>
                        <a:rPr lang="en-GB" dirty="0"/>
                        <a:t>8.2</a:t>
                      </a:r>
                    </a:p>
                  </a:txBody>
                  <a:tcPr/>
                </a:tc>
                <a:extLst>
                  <a:ext uri="{0D108BD9-81ED-4DB2-BD59-A6C34878D82A}">
                    <a16:rowId xmlns:a16="http://schemas.microsoft.com/office/drawing/2014/main" val="334849981"/>
                  </a:ext>
                </a:extLst>
              </a:tr>
              <a:tr h="370840">
                <a:tc>
                  <a:txBody>
                    <a:bodyPr/>
                    <a:lstStyle/>
                    <a:p>
                      <a:r>
                        <a:rPr lang="en-GB" dirty="0"/>
                        <a:t>174</a:t>
                      </a:r>
                    </a:p>
                  </a:txBody>
                  <a:tcPr/>
                </a:tc>
                <a:tc>
                  <a:txBody>
                    <a:bodyPr/>
                    <a:lstStyle/>
                    <a:p>
                      <a:r>
                        <a:rPr lang="en-GB" dirty="0"/>
                        <a:t>56</a:t>
                      </a:r>
                    </a:p>
                  </a:txBody>
                  <a:tcPr/>
                </a:tc>
                <a:tc>
                  <a:txBody>
                    <a:bodyPr/>
                    <a:lstStyle/>
                    <a:p>
                      <a:r>
                        <a:rPr lang="en-GB" dirty="0"/>
                        <a:t>Underweight</a:t>
                      </a:r>
                    </a:p>
                  </a:txBody>
                  <a:tcPr/>
                </a:tc>
                <a:tc>
                  <a:txBody>
                    <a:bodyPr/>
                    <a:lstStyle/>
                    <a:p>
                      <a:r>
                        <a:rPr lang="en-GB" dirty="0"/>
                        <a:t>4.1</a:t>
                      </a:r>
                    </a:p>
                  </a:txBody>
                  <a:tcPr/>
                </a:tc>
                <a:extLst>
                  <a:ext uri="{0D108BD9-81ED-4DB2-BD59-A6C34878D82A}">
                    <a16:rowId xmlns:a16="http://schemas.microsoft.com/office/drawing/2014/main" val="3332858614"/>
                  </a:ext>
                </a:extLst>
              </a:tr>
              <a:tr h="370840">
                <a:tc>
                  <a:txBody>
                    <a:bodyPr/>
                    <a:lstStyle/>
                    <a:p>
                      <a:r>
                        <a:rPr lang="en-GB" dirty="0"/>
                        <a:t>169</a:t>
                      </a:r>
                    </a:p>
                  </a:txBody>
                  <a:tcPr/>
                </a:tc>
                <a:tc>
                  <a:txBody>
                    <a:bodyPr/>
                    <a:lstStyle/>
                    <a:p>
                      <a:r>
                        <a:rPr lang="en-GB" dirty="0"/>
                        <a:t>58</a:t>
                      </a:r>
                    </a:p>
                  </a:txBody>
                  <a:tcPr/>
                </a:tc>
                <a:tc>
                  <a:txBody>
                    <a:bodyPr/>
                    <a:lstStyle/>
                    <a:p>
                      <a:r>
                        <a:rPr lang="en-GB" dirty="0"/>
                        <a:t>Normal</a:t>
                      </a:r>
                    </a:p>
                  </a:txBody>
                  <a:tcPr/>
                </a:tc>
                <a:tc>
                  <a:txBody>
                    <a:bodyPr/>
                    <a:lstStyle/>
                    <a:p>
                      <a:r>
                        <a:rPr lang="en-GB" dirty="0"/>
                        <a:t>1.4</a:t>
                      </a:r>
                    </a:p>
                  </a:txBody>
                  <a:tcPr/>
                </a:tc>
                <a:extLst>
                  <a:ext uri="{0D108BD9-81ED-4DB2-BD59-A6C34878D82A}">
                    <a16:rowId xmlns:a16="http://schemas.microsoft.com/office/drawing/2014/main" val="1442658761"/>
                  </a:ext>
                </a:extLst>
              </a:tr>
              <a:tr h="370840">
                <a:tc>
                  <a:txBody>
                    <a:bodyPr/>
                    <a:lstStyle/>
                    <a:p>
                      <a:r>
                        <a:rPr lang="en-GB" dirty="0"/>
                        <a:t>173</a:t>
                      </a:r>
                    </a:p>
                  </a:txBody>
                  <a:tcPr/>
                </a:tc>
                <a:tc>
                  <a:txBody>
                    <a:bodyPr/>
                    <a:lstStyle/>
                    <a:p>
                      <a:r>
                        <a:rPr lang="en-GB" dirty="0"/>
                        <a:t>57</a:t>
                      </a:r>
                    </a:p>
                  </a:txBody>
                  <a:tcPr/>
                </a:tc>
                <a:tc>
                  <a:txBody>
                    <a:bodyPr/>
                    <a:lstStyle/>
                    <a:p>
                      <a:r>
                        <a:rPr lang="en-GB" dirty="0"/>
                        <a:t>Normal</a:t>
                      </a:r>
                    </a:p>
                  </a:txBody>
                  <a:tcPr/>
                </a:tc>
                <a:tc>
                  <a:txBody>
                    <a:bodyPr/>
                    <a:lstStyle/>
                    <a:p>
                      <a:r>
                        <a:rPr lang="en-GB" dirty="0"/>
                        <a:t>3</a:t>
                      </a:r>
                    </a:p>
                  </a:txBody>
                  <a:tcPr/>
                </a:tc>
                <a:extLst>
                  <a:ext uri="{0D108BD9-81ED-4DB2-BD59-A6C34878D82A}">
                    <a16:rowId xmlns:a16="http://schemas.microsoft.com/office/drawing/2014/main" val="3800743947"/>
                  </a:ext>
                </a:extLst>
              </a:tr>
              <a:tr h="370840">
                <a:tc>
                  <a:txBody>
                    <a:bodyPr/>
                    <a:lstStyle/>
                    <a:p>
                      <a:r>
                        <a:rPr lang="en-GB" dirty="0"/>
                        <a:t>170</a:t>
                      </a:r>
                    </a:p>
                  </a:txBody>
                  <a:tcPr/>
                </a:tc>
                <a:tc>
                  <a:txBody>
                    <a:bodyPr/>
                    <a:lstStyle/>
                    <a:p>
                      <a:r>
                        <a:rPr lang="en-GB" dirty="0"/>
                        <a:t>55</a:t>
                      </a:r>
                    </a:p>
                  </a:txBody>
                  <a:tcPr/>
                </a:tc>
                <a:tc>
                  <a:txBody>
                    <a:bodyPr/>
                    <a:lstStyle/>
                    <a:p>
                      <a:r>
                        <a:rPr lang="en-GB" dirty="0"/>
                        <a:t>Normal</a:t>
                      </a:r>
                    </a:p>
                  </a:txBody>
                  <a:tcPr/>
                </a:tc>
                <a:tc>
                  <a:txBody>
                    <a:bodyPr/>
                    <a:lstStyle/>
                    <a:p>
                      <a:r>
                        <a:rPr lang="en-GB" dirty="0"/>
                        <a:t>2</a:t>
                      </a:r>
                    </a:p>
                  </a:txBody>
                  <a:tcPr/>
                </a:tc>
                <a:extLst>
                  <a:ext uri="{0D108BD9-81ED-4DB2-BD59-A6C34878D82A}">
                    <a16:rowId xmlns:a16="http://schemas.microsoft.com/office/drawing/2014/main" val="1994628311"/>
                  </a:ext>
                </a:extLst>
              </a:tr>
              <a:tr h="370840">
                <a:tc>
                  <a:txBody>
                    <a:bodyPr/>
                    <a:lstStyle/>
                    <a:p>
                      <a:r>
                        <a:rPr lang="en-GB" dirty="0">
                          <a:solidFill>
                            <a:srgbClr val="FF0000"/>
                          </a:solidFill>
                        </a:rPr>
                        <a:t>170</a:t>
                      </a:r>
                    </a:p>
                  </a:txBody>
                  <a:tcPr/>
                </a:tc>
                <a:tc>
                  <a:txBody>
                    <a:bodyPr/>
                    <a:lstStyle/>
                    <a:p>
                      <a:r>
                        <a:rPr lang="en-GB" dirty="0">
                          <a:solidFill>
                            <a:srgbClr val="FF0000"/>
                          </a:solidFill>
                        </a:rPr>
                        <a:t>57</a:t>
                      </a:r>
                    </a:p>
                  </a:txBody>
                  <a:tcPr/>
                </a:tc>
                <a:tc>
                  <a:txBody>
                    <a:bodyPr/>
                    <a:lstStyle/>
                    <a:p>
                      <a:r>
                        <a:rPr lang="en-GB" dirty="0">
                          <a:solidFill>
                            <a:srgbClr val="FF0000"/>
                          </a:solidFill>
                        </a:rPr>
                        <a:t>?</a:t>
                      </a:r>
                    </a:p>
                  </a:txBody>
                  <a:tcPr/>
                </a:tc>
                <a:tc>
                  <a:txBody>
                    <a:bodyPr/>
                    <a:lstStyle/>
                    <a:p>
                      <a:endParaRPr lang="en-GB" dirty="0">
                        <a:solidFill>
                          <a:srgbClr val="FF0000"/>
                        </a:solidFill>
                      </a:endParaRPr>
                    </a:p>
                  </a:txBody>
                  <a:tcPr/>
                </a:tc>
                <a:extLst>
                  <a:ext uri="{0D108BD9-81ED-4DB2-BD59-A6C34878D82A}">
                    <a16:rowId xmlns:a16="http://schemas.microsoft.com/office/drawing/2014/main" val="2879317720"/>
                  </a:ext>
                </a:extLst>
              </a:tr>
            </a:tbl>
          </a:graphicData>
        </a:graphic>
      </p:graphicFrame>
    </p:spTree>
    <p:extLst>
      <p:ext uri="{BB962C8B-B14F-4D97-AF65-F5344CB8AC3E}">
        <p14:creationId xmlns:p14="http://schemas.microsoft.com/office/powerpoint/2010/main" val="1232100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023C8-F1CA-F52A-B031-15AD2C2812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82CF48-E879-47E0-6799-DE74A513E9AA}"/>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KNN</a:t>
            </a:r>
          </a:p>
        </p:txBody>
      </p:sp>
      <p:sp>
        <p:nvSpPr>
          <p:cNvPr id="3" name="Subtitle 2">
            <a:extLst>
              <a:ext uri="{FF2B5EF4-FFF2-40B4-BE49-F238E27FC236}">
                <a16:creationId xmlns:a16="http://schemas.microsoft.com/office/drawing/2014/main" id="{36868FA5-065D-BC31-2440-0531901BDAC6}"/>
              </a:ext>
            </a:extLst>
          </p:cNvPr>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Example of KNN:</a:t>
            </a:r>
          </a:p>
          <a:p>
            <a:pPr algn="just"/>
            <a:endParaRPr lang="en-US" sz="1800" b="1" dirty="0">
              <a:solidFill>
                <a:schemeClr val="tx1"/>
              </a:solidFill>
              <a:latin typeface="Times New Roman" pitchFamily="18" charset="0"/>
              <a:cs typeface="Times New Roman" pitchFamily="18" charset="0"/>
            </a:endParaRPr>
          </a:p>
        </p:txBody>
      </p:sp>
      <p:graphicFrame>
        <p:nvGraphicFramePr>
          <p:cNvPr id="4" name="Table 3">
            <a:extLst>
              <a:ext uri="{FF2B5EF4-FFF2-40B4-BE49-F238E27FC236}">
                <a16:creationId xmlns:a16="http://schemas.microsoft.com/office/drawing/2014/main" id="{1B0574EF-EBBF-2932-D9A3-5750CB901F76}"/>
              </a:ext>
            </a:extLst>
          </p:cNvPr>
          <p:cNvGraphicFramePr>
            <a:graphicFrameLocks noGrp="1"/>
          </p:cNvGraphicFramePr>
          <p:nvPr>
            <p:extLst>
              <p:ext uri="{D42A27DB-BD31-4B8C-83A1-F6EECF244321}">
                <p14:modId xmlns:p14="http://schemas.microsoft.com/office/powerpoint/2010/main" val="1413351548"/>
              </p:ext>
            </p:extLst>
          </p:nvPr>
        </p:nvGraphicFramePr>
        <p:xfrm>
          <a:off x="685800" y="1918335"/>
          <a:ext cx="5500308" cy="4079240"/>
        </p:xfrm>
        <a:graphic>
          <a:graphicData uri="http://schemas.openxmlformats.org/drawingml/2006/table">
            <a:tbl>
              <a:tblPr firstRow="1" bandRow="1">
                <a:tableStyleId>{5C22544A-7EE6-4342-B048-85BDC9FD1C3A}</a:tableStyleId>
              </a:tblPr>
              <a:tblGrid>
                <a:gridCol w="1333310">
                  <a:extLst>
                    <a:ext uri="{9D8B030D-6E8A-4147-A177-3AD203B41FA5}">
                      <a16:colId xmlns:a16="http://schemas.microsoft.com/office/drawing/2014/main" val="1578106174"/>
                    </a:ext>
                  </a:extLst>
                </a:gridCol>
                <a:gridCol w="1370203">
                  <a:extLst>
                    <a:ext uri="{9D8B030D-6E8A-4147-A177-3AD203B41FA5}">
                      <a16:colId xmlns:a16="http://schemas.microsoft.com/office/drawing/2014/main" val="834031461"/>
                    </a:ext>
                  </a:extLst>
                </a:gridCol>
                <a:gridCol w="1448372">
                  <a:extLst>
                    <a:ext uri="{9D8B030D-6E8A-4147-A177-3AD203B41FA5}">
                      <a16:colId xmlns:a16="http://schemas.microsoft.com/office/drawing/2014/main" val="39674572"/>
                    </a:ext>
                  </a:extLst>
                </a:gridCol>
                <a:gridCol w="640080">
                  <a:extLst>
                    <a:ext uri="{9D8B030D-6E8A-4147-A177-3AD203B41FA5}">
                      <a16:colId xmlns:a16="http://schemas.microsoft.com/office/drawing/2014/main" val="2094978085"/>
                    </a:ext>
                  </a:extLst>
                </a:gridCol>
                <a:gridCol w="708343">
                  <a:extLst>
                    <a:ext uri="{9D8B030D-6E8A-4147-A177-3AD203B41FA5}">
                      <a16:colId xmlns:a16="http://schemas.microsoft.com/office/drawing/2014/main" val="2338902926"/>
                    </a:ext>
                  </a:extLst>
                </a:gridCol>
              </a:tblGrid>
              <a:tr h="370840">
                <a:tc>
                  <a:txBody>
                    <a:bodyPr/>
                    <a:lstStyle/>
                    <a:p>
                      <a:r>
                        <a:rPr lang="en-GB" dirty="0"/>
                        <a:t>Height (cm)</a:t>
                      </a:r>
                    </a:p>
                  </a:txBody>
                  <a:tcPr/>
                </a:tc>
                <a:tc>
                  <a:txBody>
                    <a:bodyPr/>
                    <a:lstStyle/>
                    <a:p>
                      <a:r>
                        <a:rPr lang="en-GB" dirty="0"/>
                        <a:t>Weight (KG)</a:t>
                      </a:r>
                    </a:p>
                  </a:txBody>
                  <a:tcPr/>
                </a:tc>
                <a:tc>
                  <a:txBody>
                    <a:bodyPr/>
                    <a:lstStyle/>
                    <a:p>
                      <a:r>
                        <a:rPr lang="en-GB" dirty="0"/>
                        <a:t>Class</a:t>
                      </a:r>
                    </a:p>
                  </a:txBody>
                  <a:tcPr/>
                </a:tc>
                <a:tc>
                  <a:txBody>
                    <a:bodyPr/>
                    <a:lstStyle/>
                    <a:p>
                      <a:r>
                        <a:rPr lang="en-GB" dirty="0"/>
                        <a:t>d</a:t>
                      </a:r>
                    </a:p>
                  </a:txBody>
                  <a:tcPr/>
                </a:tc>
                <a:tc>
                  <a:txBody>
                    <a:bodyPr/>
                    <a:lstStyle/>
                    <a:p>
                      <a:r>
                        <a:rPr lang="en-GB" dirty="0"/>
                        <a:t>Rank</a:t>
                      </a:r>
                    </a:p>
                  </a:txBody>
                  <a:tcPr/>
                </a:tc>
                <a:extLst>
                  <a:ext uri="{0D108BD9-81ED-4DB2-BD59-A6C34878D82A}">
                    <a16:rowId xmlns:a16="http://schemas.microsoft.com/office/drawing/2014/main" val="219217356"/>
                  </a:ext>
                </a:extLst>
              </a:tr>
              <a:tr h="370840">
                <a:tc>
                  <a:txBody>
                    <a:bodyPr/>
                    <a:lstStyle/>
                    <a:p>
                      <a:r>
                        <a:rPr lang="en-GB" dirty="0"/>
                        <a:t>169</a:t>
                      </a:r>
                    </a:p>
                  </a:txBody>
                  <a:tcPr/>
                </a:tc>
                <a:tc>
                  <a:txBody>
                    <a:bodyPr/>
                    <a:lstStyle/>
                    <a:p>
                      <a:r>
                        <a:rPr lang="en-GB" dirty="0"/>
                        <a:t>58</a:t>
                      </a:r>
                    </a:p>
                  </a:txBody>
                  <a:tcPr/>
                </a:tc>
                <a:tc>
                  <a:txBody>
                    <a:bodyPr/>
                    <a:lstStyle/>
                    <a:p>
                      <a:r>
                        <a:rPr lang="en-GB" dirty="0"/>
                        <a:t>Normal</a:t>
                      </a:r>
                    </a:p>
                  </a:txBody>
                  <a:tcPr/>
                </a:tc>
                <a:tc>
                  <a:txBody>
                    <a:bodyPr/>
                    <a:lstStyle/>
                    <a:p>
                      <a:r>
                        <a:rPr lang="en-GB" dirty="0"/>
                        <a:t>1.4</a:t>
                      </a:r>
                    </a:p>
                  </a:txBody>
                  <a:tcPr/>
                </a:tc>
                <a:tc>
                  <a:txBody>
                    <a:bodyPr/>
                    <a:lstStyle/>
                    <a:p>
                      <a:r>
                        <a:rPr lang="en-GB" dirty="0"/>
                        <a:t>1</a:t>
                      </a:r>
                    </a:p>
                  </a:txBody>
                  <a:tcPr/>
                </a:tc>
                <a:extLst>
                  <a:ext uri="{0D108BD9-81ED-4DB2-BD59-A6C34878D82A}">
                    <a16:rowId xmlns:a16="http://schemas.microsoft.com/office/drawing/2014/main" val="3253395729"/>
                  </a:ext>
                </a:extLst>
              </a:tr>
              <a:tr h="370840">
                <a:tc>
                  <a:txBody>
                    <a:bodyPr/>
                    <a:lstStyle/>
                    <a:p>
                      <a:r>
                        <a:rPr lang="en-GB" dirty="0"/>
                        <a:t>170</a:t>
                      </a:r>
                    </a:p>
                  </a:txBody>
                  <a:tcPr/>
                </a:tc>
                <a:tc>
                  <a:txBody>
                    <a:bodyPr/>
                    <a:lstStyle/>
                    <a:p>
                      <a:r>
                        <a:rPr lang="en-GB" dirty="0"/>
                        <a:t>55</a:t>
                      </a:r>
                    </a:p>
                  </a:txBody>
                  <a:tcPr/>
                </a:tc>
                <a:tc>
                  <a:txBody>
                    <a:bodyPr/>
                    <a:lstStyle/>
                    <a:p>
                      <a:r>
                        <a:rPr lang="en-GB" dirty="0"/>
                        <a:t>Normal</a:t>
                      </a:r>
                    </a:p>
                  </a:txBody>
                  <a:tcPr/>
                </a:tc>
                <a:tc>
                  <a:txBody>
                    <a:bodyPr/>
                    <a:lstStyle/>
                    <a:p>
                      <a:r>
                        <a:rPr lang="en-GB" dirty="0"/>
                        <a:t>2</a:t>
                      </a:r>
                    </a:p>
                  </a:txBody>
                  <a:tcPr/>
                </a:tc>
                <a:tc>
                  <a:txBody>
                    <a:bodyPr/>
                    <a:lstStyle/>
                    <a:p>
                      <a:r>
                        <a:rPr lang="en-GB" dirty="0"/>
                        <a:t>2</a:t>
                      </a:r>
                    </a:p>
                  </a:txBody>
                  <a:tcPr/>
                </a:tc>
                <a:extLst>
                  <a:ext uri="{0D108BD9-81ED-4DB2-BD59-A6C34878D82A}">
                    <a16:rowId xmlns:a16="http://schemas.microsoft.com/office/drawing/2014/main" val="354205492"/>
                  </a:ext>
                </a:extLst>
              </a:tr>
              <a:tr h="370840">
                <a:tc>
                  <a:txBody>
                    <a:bodyPr/>
                    <a:lstStyle/>
                    <a:p>
                      <a:r>
                        <a:rPr lang="en-GB" dirty="0"/>
                        <a:t>173</a:t>
                      </a:r>
                    </a:p>
                  </a:txBody>
                  <a:tcPr/>
                </a:tc>
                <a:tc>
                  <a:txBody>
                    <a:bodyPr/>
                    <a:lstStyle/>
                    <a:p>
                      <a:r>
                        <a:rPr lang="en-GB" dirty="0"/>
                        <a:t>57</a:t>
                      </a:r>
                    </a:p>
                  </a:txBody>
                  <a:tcPr/>
                </a:tc>
                <a:tc>
                  <a:txBody>
                    <a:bodyPr/>
                    <a:lstStyle/>
                    <a:p>
                      <a:r>
                        <a:rPr lang="en-GB" dirty="0"/>
                        <a:t>Normal</a:t>
                      </a:r>
                    </a:p>
                  </a:txBody>
                  <a:tcPr/>
                </a:tc>
                <a:tc>
                  <a:txBody>
                    <a:bodyPr/>
                    <a:lstStyle/>
                    <a:p>
                      <a:r>
                        <a:rPr lang="en-GB" dirty="0"/>
                        <a:t>3</a:t>
                      </a:r>
                    </a:p>
                  </a:txBody>
                  <a:tcPr/>
                </a:tc>
                <a:tc>
                  <a:txBody>
                    <a:bodyPr/>
                    <a:lstStyle/>
                    <a:p>
                      <a:r>
                        <a:rPr lang="en-GB" dirty="0"/>
                        <a:t>3</a:t>
                      </a:r>
                    </a:p>
                  </a:txBody>
                  <a:tcPr/>
                </a:tc>
                <a:extLst>
                  <a:ext uri="{0D108BD9-81ED-4DB2-BD59-A6C34878D82A}">
                    <a16:rowId xmlns:a16="http://schemas.microsoft.com/office/drawing/2014/main" val="632520927"/>
                  </a:ext>
                </a:extLst>
              </a:tr>
              <a:tr h="370840">
                <a:tc>
                  <a:txBody>
                    <a:bodyPr/>
                    <a:lstStyle/>
                    <a:p>
                      <a:r>
                        <a:rPr lang="en-GB" dirty="0"/>
                        <a:t>174</a:t>
                      </a:r>
                    </a:p>
                  </a:txBody>
                  <a:tcPr/>
                </a:tc>
                <a:tc>
                  <a:txBody>
                    <a:bodyPr/>
                    <a:lstStyle/>
                    <a:p>
                      <a:r>
                        <a:rPr lang="en-GB" dirty="0"/>
                        <a:t>56</a:t>
                      </a:r>
                    </a:p>
                  </a:txBody>
                  <a:tcPr/>
                </a:tc>
                <a:tc>
                  <a:txBody>
                    <a:bodyPr/>
                    <a:lstStyle/>
                    <a:p>
                      <a:r>
                        <a:rPr lang="en-GB" dirty="0"/>
                        <a:t>Underweight</a:t>
                      </a:r>
                    </a:p>
                  </a:txBody>
                  <a:tcPr/>
                </a:tc>
                <a:tc>
                  <a:txBody>
                    <a:bodyPr/>
                    <a:lstStyle/>
                    <a:p>
                      <a:r>
                        <a:rPr lang="en-GB" dirty="0"/>
                        <a:t>4.1</a:t>
                      </a:r>
                    </a:p>
                  </a:txBody>
                  <a:tcPr/>
                </a:tc>
                <a:tc>
                  <a:txBody>
                    <a:bodyPr/>
                    <a:lstStyle/>
                    <a:p>
                      <a:r>
                        <a:rPr lang="en-GB" dirty="0"/>
                        <a:t>4</a:t>
                      </a:r>
                    </a:p>
                  </a:txBody>
                  <a:tcPr/>
                </a:tc>
                <a:extLst>
                  <a:ext uri="{0D108BD9-81ED-4DB2-BD59-A6C34878D82A}">
                    <a16:rowId xmlns:a16="http://schemas.microsoft.com/office/drawing/2014/main" val="2153687132"/>
                  </a:ext>
                </a:extLst>
              </a:tr>
              <a:tr h="370840">
                <a:tc>
                  <a:txBody>
                    <a:bodyPr/>
                    <a:lstStyle/>
                    <a:p>
                      <a:r>
                        <a:rPr lang="en-GB" dirty="0"/>
                        <a:t>167</a:t>
                      </a:r>
                    </a:p>
                  </a:txBody>
                  <a:tcPr/>
                </a:tc>
                <a:tc>
                  <a:txBody>
                    <a:bodyPr/>
                    <a:lstStyle/>
                    <a:p>
                      <a:r>
                        <a:rPr lang="en-GB" dirty="0"/>
                        <a:t>51</a:t>
                      </a:r>
                    </a:p>
                  </a:txBody>
                  <a:tcPr/>
                </a:tc>
                <a:tc>
                  <a:txBody>
                    <a:bodyPr/>
                    <a:lstStyle/>
                    <a:p>
                      <a:r>
                        <a:rPr lang="en-GB" dirty="0"/>
                        <a:t>Underweight</a:t>
                      </a:r>
                    </a:p>
                  </a:txBody>
                  <a:tcPr/>
                </a:tc>
                <a:tc>
                  <a:txBody>
                    <a:bodyPr/>
                    <a:lstStyle/>
                    <a:p>
                      <a:r>
                        <a:rPr lang="en-GB" dirty="0"/>
                        <a:t>6.7</a:t>
                      </a:r>
                    </a:p>
                  </a:txBody>
                  <a:tcPr/>
                </a:tc>
                <a:tc>
                  <a:txBody>
                    <a:bodyPr/>
                    <a:lstStyle/>
                    <a:p>
                      <a:r>
                        <a:rPr lang="en-GB" dirty="0"/>
                        <a:t>5</a:t>
                      </a:r>
                    </a:p>
                  </a:txBody>
                  <a:tcPr/>
                </a:tc>
                <a:extLst>
                  <a:ext uri="{0D108BD9-81ED-4DB2-BD59-A6C34878D82A}">
                    <a16:rowId xmlns:a16="http://schemas.microsoft.com/office/drawing/2014/main" val="530062480"/>
                  </a:ext>
                </a:extLst>
              </a:tr>
              <a:tr h="370840">
                <a:tc>
                  <a:txBody>
                    <a:bodyPr/>
                    <a:lstStyle/>
                    <a:p>
                      <a:r>
                        <a:rPr lang="en-GB" dirty="0"/>
                        <a:t>173</a:t>
                      </a:r>
                    </a:p>
                  </a:txBody>
                  <a:tcPr/>
                </a:tc>
                <a:tc>
                  <a:txBody>
                    <a:bodyPr/>
                    <a:lstStyle/>
                    <a:p>
                      <a:r>
                        <a:rPr lang="en-GB" dirty="0"/>
                        <a:t>64</a:t>
                      </a:r>
                    </a:p>
                  </a:txBody>
                  <a:tcPr/>
                </a:tc>
                <a:tc>
                  <a:txBody>
                    <a:bodyPr/>
                    <a:lstStyle/>
                    <a:p>
                      <a:r>
                        <a:rPr lang="en-GB" dirty="0"/>
                        <a:t>Normal</a:t>
                      </a:r>
                    </a:p>
                  </a:txBody>
                  <a:tcPr/>
                </a:tc>
                <a:tc>
                  <a:txBody>
                    <a:bodyPr/>
                    <a:lstStyle/>
                    <a:p>
                      <a:r>
                        <a:rPr lang="en-GB" dirty="0"/>
                        <a:t>7.6</a:t>
                      </a:r>
                    </a:p>
                  </a:txBody>
                  <a:tcPr/>
                </a:tc>
                <a:tc>
                  <a:txBody>
                    <a:bodyPr/>
                    <a:lstStyle/>
                    <a:p>
                      <a:r>
                        <a:rPr lang="en-GB" dirty="0"/>
                        <a:t>6</a:t>
                      </a:r>
                    </a:p>
                  </a:txBody>
                  <a:tcPr/>
                </a:tc>
                <a:extLst>
                  <a:ext uri="{0D108BD9-81ED-4DB2-BD59-A6C34878D82A}">
                    <a16:rowId xmlns:a16="http://schemas.microsoft.com/office/drawing/2014/main" val="1324137150"/>
                  </a:ext>
                </a:extLst>
              </a:tr>
              <a:tr h="370840">
                <a:tc>
                  <a:txBody>
                    <a:bodyPr/>
                    <a:lstStyle/>
                    <a:p>
                      <a:r>
                        <a:rPr lang="en-GB" dirty="0"/>
                        <a:t>172</a:t>
                      </a:r>
                    </a:p>
                  </a:txBody>
                  <a:tcPr/>
                </a:tc>
                <a:tc>
                  <a:txBody>
                    <a:bodyPr/>
                    <a:lstStyle/>
                    <a:p>
                      <a:r>
                        <a:rPr lang="en-GB" dirty="0"/>
                        <a:t>65</a:t>
                      </a:r>
                    </a:p>
                  </a:txBody>
                  <a:tcPr/>
                </a:tc>
                <a:tc>
                  <a:txBody>
                    <a:bodyPr/>
                    <a:lstStyle/>
                    <a:p>
                      <a:r>
                        <a:rPr lang="en-GB" dirty="0"/>
                        <a:t>Normal</a:t>
                      </a:r>
                    </a:p>
                  </a:txBody>
                  <a:tcPr/>
                </a:tc>
                <a:tc>
                  <a:txBody>
                    <a:bodyPr/>
                    <a:lstStyle/>
                    <a:p>
                      <a:r>
                        <a:rPr lang="en-GB" dirty="0"/>
                        <a:t>8.2</a:t>
                      </a:r>
                    </a:p>
                  </a:txBody>
                  <a:tcPr/>
                </a:tc>
                <a:tc>
                  <a:txBody>
                    <a:bodyPr/>
                    <a:lstStyle/>
                    <a:p>
                      <a:r>
                        <a:rPr lang="en-GB" dirty="0"/>
                        <a:t>7</a:t>
                      </a:r>
                    </a:p>
                  </a:txBody>
                  <a:tcPr/>
                </a:tc>
                <a:extLst>
                  <a:ext uri="{0D108BD9-81ED-4DB2-BD59-A6C34878D82A}">
                    <a16:rowId xmlns:a16="http://schemas.microsoft.com/office/drawing/2014/main" val="302690275"/>
                  </a:ext>
                </a:extLst>
              </a:tr>
              <a:tr h="370840">
                <a:tc>
                  <a:txBody>
                    <a:bodyPr/>
                    <a:lstStyle/>
                    <a:p>
                      <a:r>
                        <a:rPr lang="en-GB" dirty="0"/>
                        <a:t>182</a:t>
                      </a:r>
                    </a:p>
                  </a:txBody>
                  <a:tcPr/>
                </a:tc>
                <a:tc>
                  <a:txBody>
                    <a:bodyPr/>
                    <a:lstStyle/>
                    <a:p>
                      <a:r>
                        <a:rPr lang="en-GB" dirty="0"/>
                        <a:t>62</a:t>
                      </a:r>
                    </a:p>
                  </a:txBody>
                  <a:tcPr/>
                </a:tc>
                <a:tc>
                  <a:txBody>
                    <a:bodyPr/>
                    <a:lstStyle/>
                    <a:p>
                      <a:r>
                        <a:rPr lang="en-GB" dirty="0"/>
                        <a:t>Normal</a:t>
                      </a:r>
                    </a:p>
                  </a:txBody>
                  <a:tcPr/>
                </a:tc>
                <a:tc>
                  <a:txBody>
                    <a:bodyPr/>
                    <a:lstStyle/>
                    <a:p>
                      <a:r>
                        <a:rPr lang="en-GB" dirty="0"/>
                        <a:t>13</a:t>
                      </a:r>
                    </a:p>
                  </a:txBody>
                  <a:tcPr/>
                </a:tc>
                <a:tc>
                  <a:txBody>
                    <a:bodyPr/>
                    <a:lstStyle/>
                    <a:p>
                      <a:r>
                        <a:rPr lang="en-GB" dirty="0"/>
                        <a:t>8</a:t>
                      </a:r>
                    </a:p>
                  </a:txBody>
                  <a:tcPr/>
                </a:tc>
                <a:extLst>
                  <a:ext uri="{0D108BD9-81ED-4DB2-BD59-A6C34878D82A}">
                    <a16:rowId xmlns:a16="http://schemas.microsoft.com/office/drawing/2014/main" val="2020881325"/>
                  </a:ext>
                </a:extLst>
              </a:tr>
              <a:tr h="370840">
                <a:tc>
                  <a:txBody>
                    <a:bodyPr/>
                    <a:lstStyle/>
                    <a:p>
                      <a:r>
                        <a:rPr lang="en-GB" dirty="0"/>
                        <a:t>176</a:t>
                      </a:r>
                    </a:p>
                  </a:txBody>
                  <a:tcPr/>
                </a:tc>
                <a:tc>
                  <a:txBody>
                    <a:bodyPr/>
                    <a:lstStyle/>
                    <a:p>
                      <a:r>
                        <a:rPr lang="en-GB" dirty="0"/>
                        <a:t>69</a:t>
                      </a:r>
                    </a:p>
                  </a:txBody>
                  <a:tcPr/>
                </a:tc>
                <a:tc>
                  <a:txBody>
                    <a:bodyPr/>
                    <a:lstStyle/>
                    <a:p>
                      <a:r>
                        <a:rPr lang="en-GB" dirty="0"/>
                        <a:t>Normal</a:t>
                      </a:r>
                    </a:p>
                  </a:txBody>
                  <a:tcPr/>
                </a:tc>
                <a:tc>
                  <a:txBody>
                    <a:bodyPr/>
                    <a:lstStyle/>
                    <a:p>
                      <a:r>
                        <a:rPr lang="en-GB" dirty="0"/>
                        <a:t>13.4</a:t>
                      </a:r>
                    </a:p>
                  </a:txBody>
                  <a:tcPr/>
                </a:tc>
                <a:tc>
                  <a:txBody>
                    <a:bodyPr/>
                    <a:lstStyle/>
                    <a:p>
                      <a:r>
                        <a:rPr lang="en-GB" dirty="0"/>
                        <a:t>9</a:t>
                      </a:r>
                    </a:p>
                  </a:txBody>
                  <a:tcPr/>
                </a:tc>
                <a:extLst>
                  <a:ext uri="{0D108BD9-81ED-4DB2-BD59-A6C34878D82A}">
                    <a16:rowId xmlns:a16="http://schemas.microsoft.com/office/drawing/2014/main" val="741610871"/>
                  </a:ext>
                </a:extLst>
              </a:tr>
              <a:tr h="370840">
                <a:tc>
                  <a:txBody>
                    <a:bodyPr/>
                    <a:lstStyle/>
                    <a:p>
                      <a:r>
                        <a:rPr lang="en-GB" dirty="0">
                          <a:solidFill>
                            <a:srgbClr val="FF0000"/>
                          </a:solidFill>
                        </a:rPr>
                        <a:t>170</a:t>
                      </a:r>
                    </a:p>
                  </a:txBody>
                  <a:tcPr/>
                </a:tc>
                <a:tc>
                  <a:txBody>
                    <a:bodyPr/>
                    <a:lstStyle/>
                    <a:p>
                      <a:r>
                        <a:rPr lang="en-GB" dirty="0">
                          <a:solidFill>
                            <a:srgbClr val="FF0000"/>
                          </a:solidFill>
                        </a:rPr>
                        <a:t>57</a:t>
                      </a:r>
                    </a:p>
                  </a:txBody>
                  <a:tcPr/>
                </a:tc>
                <a:tc>
                  <a:txBody>
                    <a:bodyPr/>
                    <a:lstStyle/>
                    <a:p>
                      <a:r>
                        <a:rPr lang="en-GB" dirty="0">
                          <a:solidFill>
                            <a:srgbClr val="FF0000"/>
                          </a:solidFill>
                        </a:rPr>
                        <a:t>?</a:t>
                      </a:r>
                    </a:p>
                  </a:txBody>
                  <a:tcPr/>
                </a:tc>
                <a:tc>
                  <a:txBody>
                    <a:bodyPr/>
                    <a:lstStyle/>
                    <a:p>
                      <a:endParaRPr lang="en-GB" dirty="0">
                        <a:solidFill>
                          <a:srgbClr val="FF0000"/>
                        </a:solidFill>
                      </a:endParaRPr>
                    </a:p>
                  </a:txBody>
                  <a:tcPr/>
                </a:tc>
                <a:tc>
                  <a:txBody>
                    <a:bodyPr/>
                    <a:lstStyle/>
                    <a:p>
                      <a:endParaRPr lang="en-GB" dirty="0">
                        <a:solidFill>
                          <a:srgbClr val="FF0000"/>
                        </a:solidFill>
                      </a:endParaRPr>
                    </a:p>
                  </a:txBody>
                  <a:tcPr/>
                </a:tc>
                <a:extLst>
                  <a:ext uri="{0D108BD9-81ED-4DB2-BD59-A6C34878D82A}">
                    <a16:rowId xmlns:a16="http://schemas.microsoft.com/office/drawing/2014/main" val="2879317720"/>
                  </a:ext>
                </a:extLst>
              </a:tr>
            </a:tbl>
          </a:graphicData>
        </a:graphic>
      </p:graphicFrame>
    </p:spTree>
    <p:extLst>
      <p:ext uri="{BB962C8B-B14F-4D97-AF65-F5344CB8AC3E}">
        <p14:creationId xmlns:p14="http://schemas.microsoft.com/office/powerpoint/2010/main" val="1265044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FCEB6-61ED-B495-6B89-CE0F6C9477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F7D108-49D8-6D28-8EFA-05BD5791D501}"/>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KNN</a:t>
            </a:r>
          </a:p>
        </p:txBody>
      </p:sp>
      <p:sp>
        <p:nvSpPr>
          <p:cNvPr id="3" name="Subtitle 2">
            <a:extLst>
              <a:ext uri="{FF2B5EF4-FFF2-40B4-BE49-F238E27FC236}">
                <a16:creationId xmlns:a16="http://schemas.microsoft.com/office/drawing/2014/main" id="{BE9321AB-85B0-939E-3362-D8030F031FFF}"/>
              </a:ext>
            </a:extLst>
          </p:cNvPr>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Example of KNN:</a:t>
            </a:r>
          </a:p>
          <a:p>
            <a:pPr algn="just"/>
            <a:endParaRPr lang="en-US" sz="1800" b="1" dirty="0">
              <a:solidFill>
                <a:schemeClr val="tx1"/>
              </a:solidFill>
              <a:latin typeface="Times New Roman" pitchFamily="18" charset="0"/>
              <a:cs typeface="Times New Roman" pitchFamily="18" charset="0"/>
            </a:endParaRPr>
          </a:p>
        </p:txBody>
      </p:sp>
      <p:graphicFrame>
        <p:nvGraphicFramePr>
          <p:cNvPr id="4" name="Table 3">
            <a:extLst>
              <a:ext uri="{FF2B5EF4-FFF2-40B4-BE49-F238E27FC236}">
                <a16:creationId xmlns:a16="http://schemas.microsoft.com/office/drawing/2014/main" id="{15618E48-CAD2-1A09-9EDF-0933CA0AE161}"/>
              </a:ext>
            </a:extLst>
          </p:cNvPr>
          <p:cNvGraphicFramePr>
            <a:graphicFrameLocks noGrp="1"/>
          </p:cNvGraphicFramePr>
          <p:nvPr>
            <p:extLst>
              <p:ext uri="{D42A27DB-BD31-4B8C-83A1-F6EECF244321}">
                <p14:modId xmlns:p14="http://schemas.microsoft.com/office/powerpoint/2010/main" val="3139623518"/>
              </p:ext>
            </p:extLst>
          </p:nvPr>
        </p:nvGraphicFramePr>
        <p:xfrm>
          <a:off x="685800" y="1918335"/>
          <a:ext cx="5500308" cy="4079240"/>
        </p:xfrm>
        <a:graphic>
          <a:graphicData uri="http://schemas.openxmlformats.org/drawingml/2006/table">
            <a:tbl>
              <a:tblPr firstRow="1" bandRow="1">
                <a:tableStyleId>{5C22544A-7EE6-4342-B048-85BDC9FD1C3A}</a:tableStyleId>
              </a:tblPr>
              <a:tblGrid>
                <a:gridCol w="1333310">
                  <a:extLst>
                    <a:ext uri="{9D8B030D-6E8A-4147-A177-3AD203B41FA5}">
                      <a16:colId xmlns:a16="http://schemas.microsoft.com/office/drawing/2014/main" val="1578106174"/>
                    </a:ext>
                  </a:extLst>
                </a:gridCol>
                <a:gridCol w="1370203">
                  <a:extLst>
                    <a:ext uri="{9D8B030D-6E8A-4147-A177-3AD203B41FA5}">
                      <a16:colId xmlns:a16="http://schemas.microsoft.com/office/drawing/2014/main" val="834031461"/>
                    </a:ext>
                  </a:extLst>
                </a:gridCol>
                <a:gridCol w="1448372">
                  <a:extLst>
                    <a:ext uri="{9D8B030D-6E8A-4147-A177-3AD203B41FA5}">
                      <a16:colId xmlns:a16="http://schemas.microsoft.com/office/drawing/2014/main" val="39674572"/>
                    </a:ext>
                  </a:extLst>
                </a:gridCol>
                <a:gridCol w="640080">
                  <a:extLst>
                    <a:ext uri="{9D8B030D-6E8A-4147-A177-3AD203B41FA5}">
                      <a16:colId xmlns:a16="http://schemas.microsoft.com/office/drawing/2014/main" val="2094978085"/>
                    </a:ext>
                  </a:extLst>
                </a:gridCol>
                <a:gridCol w="708343">
                  <a:extLst>
                    <a:ext uri="{9D8B030D-6E8A-4147-A177-3AD203B41FA5}">
                      <a16:colId xmlns:a16="http://schemas.microsoft.com/office/drawing/2014/main" val="2338902926"/>
                    </a:ext>
                  </a:extLst>
                </a:gridCol>
              </a:tblGrid>
              <a:tr h="370840">
                <a:tc>
                  <a:txBody>
                    <a:bodyPr/>
                    <a:lstStyle/>
                    <a:p>
                      <a:r>
                        <a:rPr lang="en-GB" dirty="0"/>
                        <a:t>Height (cm)</a:t>
                      </a:r>
                    </a:p>
                  </a:txBody>
                  <a:tcPr/>
                </a:tc>
                <a:tc>
                  <a:txBody>
                    <a:bodyPr/>
                    <a:lstStyle/>
                    <a:p>
                      <a:r>
                        <a:rPr lang="en-GB" dirty="0"/>
                        <a:t>Weight (KG)</a:t>
                      </a:r>
                    </a:p>
                  </a:txBody>
                  <a:tcPr/>
                </a:tc>
                <a:tc>
                  <a:txBody>
                    <a:bodyPr/>
                    <a:lstStyle/>
                    <a:p>
                      <a:r>
                        <a:rPr lang="en-GB" dirty="0"/>
                        <a:t>Class</a:t>
                      </a:r>
                    </a:p>
                  </a:txBody>
                  <a:tcPr/>
                </a:tc>
                <a:tc>
                  <a:txBody>
                    <a:bodyPr/>
                    <a:lstStyle/>
                    <a:p>
                      <a:r>
                        <a:rPr lang="en-GB" dirty="0"/>
                        <a:t>d</a:t>
                      </a:r>
                    </a:p>
                  </a:txBody>
                  <a:tcPr/>
                </a:tc>
                <a:tc>
                  <a:txBody>
                    <a:bodyPr/>
                    <a:lstStyle/>
                    <a:p>
                      <a:r>
                        <a:rPr lang="en-GB" dirty="0"/>
                        <a:t>Rank</a:t>
                      </a:r>
                    </a:p>
                  </a:txBody>
                  <a:tcPr/>
                </a:tc>
                <a:extLst>
                  <a:ext uri="{0D108BD9-81ED-4DB2-BD59-A6C34878D82A}">
                    <a16:rowId xmlns:a16="http://schemas.microsoft.com/office/drawing/2014/main" val="219217356"/>
                  </a:ext>
                </a:extLst>
              </a:tr>
              <a:tr h="370840">
                <a:tc>
                  <a:txBody>
                    <a:bodyPr/>
                    <a:lstStyle/>
                    <a:p>
                      <a:r>
                        <a:rPr lang="en-GB" dirty="0"/>
                        <a:t>169</a:t>
                      </a:r>
                    </a:p>
                  </a:txBody>
                  <a:tcPr/>
                </a:tc>
                <a:tc>
                  <a:txBody>
                    <a:bodyPr/>
                    <a:lstStyle/>
                    <a:p>
                      <a:r>
                        <a:rPr lang="en-GB" dirty="0"/>
                        <a:t>58</a:t>
                      </a:r>
                    </a:p>
                  </a:txBody>
                  <a:tcPr/>
                </a:tc>
                <a:tc>
                  <a:txBody>
                    <a:bodyPr/>
                    <a:lstStyle/>
                    <a:p>
                      <a:r>
                        <a:rPr lang="en-GB" dirty="0">
                          <a:solidFill>
                            <a:srgbClr val="00B050"/>
                          </a:solidFill>
                        </a:rPr>
                        <a:t>Normal</a:t>
                      </a:r>
                    </a:p>
                  </a:txBody>
                  <a:tcPr/>
                </a:tc>
                <a:tc>
                  <a:txBody>
                    <a:bodyPr/>
                    <a:lstStyle/>
                    <a:p>
                      <a:r>
                        <a:rPr lang="en-GB" dirty="0"/>
                        <a:t>1.4</a:t>
                      </a:r>
                    </a:p>
                  </a:txBody>
                  <a:tcPr/>
                </a:tc>
                <a:tc>
                  <a:txBody>
                    <a:bodyPr/>
                    <a:lstStyle/>
                    <a:p>
                      <a:r>
                        <a:rPr lang="en-GB" dirty="0"/>
                        <a:t>1</a:t>
                      </a:r>
                    </a:p>
                  </a:txBody>
                  <a:tcPr/>
                </a:tc>
                <a:extLst>
                  <a:ext uri="{0D108BD9-81ED-4DB2-BD59-A6C34878D82A}">
                    <a16:rowId xmlns:a16="http://schemas.microsoft.com/office/drawing/2014/main" val="3253395729"/>
                  </a:ext>
                </a:extLst>
              </a:tr>
              <a:tr h="370840">
                <a:tc>
                  <a:txBody>
                    <a:bodyPr/>
                    <a:lstStyle/>
                    <a:p>
                      <a:r>
                        <a:rPr lang="en-GB" dirty="0"/>
                        <a:t>170</a:t>
                      </a:r>
                    </a:p>
                  </a:txBody>
                  <a:tcPr/>
                </a:tc>
                <a:tc>
                  <a:txBody>
                    <a:bodyPr/>
                    <a:lstStyle/>
                    <a:p>
                      <a:r>
                        <a:rPr lang="en-GB" dirty="0"/>
                        <a:t>55</a:t>
                      </a:r>
                    </a:p>
                  </a:txBody>
                  <a:tcPr/>
                </a:tc>
                <a:tc>
                  <a:txBody>
                    <a:bodyPr/>
                    <a:lstStyle/>
                    <a:p>
                      <a:r>
                        <a:rPr lang="en-GB" dirty="0">
                          <a:solidFill>
                            <a:srgbClr val="00B050"/>
                          </a:solidFill>
                        </a:rPr>
                        <a:t>Normal</a:t>
                      </a:r>
                    </a:p>
                  </a:txBody>
                  <a:tcPr/>
                </a:tc>
                <a:tc>
                  <a:txBody>
                    <a:bodyPr/>
                    <a:lstStyle/>
                    <a:p>
                      <a:r>
                        <a:rPr lang="en-GB" dirty="0"/>
                        <a:t>2</a:t>
                      </a:r>
                    </a:p>
                  </a:txBody>
                  <a:tcPr/>
                </a:tc>
                <a:tc>
                  <a:txBody>
                    <a:bodyPr/>
                    <a:lstStyle/>
                    <a:p>
                      <a:r>
                        <a:rPr lang="en-GB" dirty="0"/>
                        <a:t>2</a:t>
                      </a:r>
                    </a:p>
                  </a:txBody>
                  <a:tcPr/>
                </a:tc>
                <a:extLst>
                  <a:ext uri="{0D108BD9-81ED-4DB2-BD59-A6C34878D82A}">
                    <a16:rowId xmlns:a16="http://schemas.microsoft.com/office/drawing/2014/main" val="354205492"/>
                  </a:ext>
                </a:extLst>
              </a:tr>
              <a:tr h="370840">
                <a:tc>
                  <a:txBody>
                    <a:bodyPr/>
                    <a:lstStyle/>
                    <a:p>
                      <a:r>
                        <a:rPr lang="en-GB" dirty="0"/>
                        <a:t>173</a:t>
                      </a:r>
                    </a:p>
                  </a:txBody>
                  <a:tcPr/>
                </a:tc>
                <a:tc>
                  <a:txBody>
                    <a:bodyPr/>
                    <a:lstStyle/>
                    <a:p>
                      <a:r>
                        <a:rPr lang="en-GB" dirty="0"/>
                        <a:t>57</a:t>
                      </a:r>
                    </a:p>
                  </a:txBody>
                  <a:tcPr/>
                </a:tc>
                <a:tc>
                  <a:txBody>
                    <a:bodyPr/>
                    <a:lstStyle/>
                    <a:p>
                      <a:r>
                        <a:rPr lang="en-GB" dirty="0">
                          <a:solidFill>
                            <a:srgbClr val="00B050"/>
                          </a:solidFill>
                        </a:rPr>
                        <a:t>Normal</a:t>
                      </a:r>
                    </a:p>
                  </a:txBody>
                  <a:tcPr/>
                </a:tc>
                <a:tc>
                  <a:txBody>
                    <a:bodyPr/>
                    <a:lstStyle/>
                    <a:p>
                      <a:r>
                        <a:rPr lang="en-GB" dirty="0"/>
                        <a:t>3</a:t>
                      </a:r>
                    </a:p>
                  </a:txBody>
                  <a:tcPr/>
                </a:tc>
                <a:tc>
                  <a:txBody>
                    <a:bodyPr/>
                    <a:lstStyle/>
                    <a:p>
                      <a:r>
                        <a:rPr lang="en-GB" dirty="0"/>
                        <a:t>3</a:t>
                      </a:r>
                    </a:p>
                  </a:txBody>
                  <a:tcPr/>
                </a:tc>
                <a:extLst>
                  <a:ext uri="{0D108BD9-81ED-4DB2-BD59-A6C34878D82A}">
                    <a16:rowId xmlns:a16="http://schemas.microsoft.com/office/drawing/2014/main" val="632520927"/>
                  </a:ext>
                </a:extLst>
              </a:tr>
              <a:tr h="370840">
                <a:tc>
                  <a:txBody>
                    <a:bodyPr/>
                    <a:lstStyle/>
                    <a:p>
                      <a:r>
                        <a:rPr lang="en-GB" dirty="0"/>
                        <a:t>174</a:t>
                      </a:r>
                    </a:p>
                  </a:txBody>
                  <a:tcPr/>
                </a:tc>
                <a:tc>
                  <a:txBody>
                    <a:bodyPr/>
                    <a:lstStyle/>
                    <a:p>
                      <a:r>
                        <a:rPr lang="en-GB" dirty="0"/>
                        <a:t>56</a:t>
                      </a:r>
                    </a:p>
                  </a:txBody>
                  <a:tcPr/>
                </a:tc>
                <a:tc>
                  <a:txBody>
                    <a:bodyPr/>
                    <a:lstStyle/>
                    <a:p>
                      <a:r>
                        <a:rPr lang="en-GB" dirty="0"/>
                        <a:t>Underweight</a:t>
                      </a:r>
                    </a:p>
                  </a:txBody>
                  <a:tcPr/>
                </a:tc>
                <a:tc>
                  <a:txBody>
                    <a:bodyPr/>
                    <a:lstStyle/>
                    <a:p>
                      <a:r>
                        <a:rPr lang="en-GB" dirty="0"/>
                        <a:t>4.1</a:t>
                      </a:r>
                    </a:p>
                  </a:txBody>
                  <a:tcPr/>
                </a:tc>
                <a:tc>
                  <a:txBody>
                    <a:bodyPr/>
                    <a:lstStyle/>
                    <a:p>
                      <a:r>
                        <a:rPr lang="en-GB" dirty="0"/>
                        <a:t>4</a:t>
                      </a:r>
                    </a:p>
                  </a:txBody>
                  <a:tcPr/>
                </a:tc>
                <a:extLst>
                  <a:ext uri="{0D108BD9-81ED-4DB2-BD59-A6C34878D82A}">
                    <a16:rowId xmlns:a16="http://schemas.microsoft.com/office/drawing/2014/main" val="2153687132"/>
                  </a:ext>
                </a:extLst>
              </a:tr>
              <a:tr h="370840">
                <a:tc>
                  <a:txBody>
                    <a:bodyPr/>
                    <a:lstStyle/>
                    <a:p>
                      <a:r>
                        <a:rPr lang="en-GB" dirty="0"/>
                        <a:t>167</a:t>
                      </a:r>
                    </a:p>
                  </a:txBody>
                  <a:tcPr/>
                </a:tc>
                <a:tc>
                  <a:txBody>
                    <a:bodyPr/>
                    <a:lstStyle/>
                    <a:p>
                      <a:r>
                        <a:rPr lang="en-GB" dirty="0"/>
                        <a:t>51</a:t>
                      </a:r>
                    </a:p>
                  </a:txBody>
                  <a:tcPr/>
                </a:tc>
                <a:tc>
                  <a:txBody>
                    <a:bodyPr/>
                    <a:lstStyle/>
                    <a:p>
                      <a:r>
                        <a:rPr lang="en-GB" dirty="0"/>
                        <a:t>Underweight</a:t>
                      </a:r>
                    </a:p>
                  </a:txBody>
                  <a:tcPr/>
                </a:tc>
                <a:tc>
                  <a:txBody>
                    <a:bodyPr/>
                    <a:lstStyle/>
                    <a:p>
                      <a:r>
                        <a:rPr lang="en-GB" dirty="0"/>
                        <a:t>6.7</a:t>
                      </a:r>
                    </a:p>
                  </a:txBody>
                  <a:tcPr/>
                </a:tc>
                <a:tc>
                  <a:txBody>
                    <a:bodyPr/>
                    <a:lstStyle/>
                    <a:p>
                      <a:r>
                        <a:rPr lang="en-GB" dirty="0"/>
                        <a:t>5</a:t>
                      </a:r>
                    </a:p>
                  </a:txBody>
                  <a:tcPr/>
                </a:tc>
                <a:extLst>
                  <a:ext uri="{0D108BD9-81ED-4DB2-BD59-A6C34878D82A}">
                    <a16:rowId xmlns:a16="http://schemas.microsoft.com/office/drawing/2014/main" val="530062480"/>
                  </a:ext>
                </a:extLst>
              </a:tr>
              <a:tr h="370840">
                <a:tc>
                  <a:txBody>
                    <a:bodyPr/>
                    <a:lstStyle/>
                    <a:p>
                      <a:r>
                        <a:rPr lang="en-GB" dirty="0"/>
                        <a:t>173</a:t>
                      </a:r>
                    </a:p>
                  </a:txBody>
                  <a:tcPr/>
                </a:tc>
                <a:tc>
                  <a:txBody>
                    <a:bodyPr/>
                    <a:lstStyle/>
                    <a:p>
                      <a:r>
                        <a:rPr lang="en-GB" dirty="0"/>
                        <a:t>64</a:t>
                      </a:r>
                    </a:p>
                  </a:txBody>
                  <a:tcPr/>
                </a:tc>
                <a:tc>
                  <a:txBody>
                    <a:bodyPr/>
                    <a:lstStyle/>
                    <a:p>
                      <a:r>
                        <a:rPr lang="en-GB" dirty="0"/>
                        <a:t>Normal</a:t>
                      </a:r>
                    </a:p>
                  </a:txBody>
                  <a:tcPr/>
                </a:tc>
                <a:tc>
                  <a:txBody>
                    <a:bodyPr/>
                    <a:lstStyle/>
                    <a:p>
                      <a:r>
                        <a:rPr lang="en-GB" dirty="0"/>
                        <a:t>7.6</a:t>
                      </a:r>
                    </a:p>
                  </a:txBody>
                  <a:tcPr/>
                </a:tc>
                <a:tc>
                  <a:txBody>
                    <a:bodyPr/>
                    <a:lstStyle/>
                    <a:p>
                      <a:r>
                        <a:rPr lang="en-GB" dirty="0"/>
                        <a:t>6</a:t>
                      </a:r>
                    </a:p>
                  </a:txBody>
                  <a:tcPr/>
                </a:tc>
                <a:extLst>
                  <a:ext uri="{0D108BD9-81ED-4DB2-BD59-A6C34878D82A}">
                    <a16:rowId xmlns:a16="http://schemas.microsoft.com/office/drawing/2014/main" val="1324137150"/>
                  </a:ext>
                </a:extLst>
              </a:tr>
              <a:tr h="370840">
                <a:tc>
                  <a:txBody>
                    <a:bodyPr/>
                    <a:lstStyle/>
                    <a:p>
                      <a:r>
                        <a:rPr lang="en-GB" dirty="0"/>
                        <a:t>172</a:t>
                      </a:r>
                    </a:p>
                  </a:txBody>
                  <a:tcPr/>
                </a:tc>
                <a:tc>
                  <a:txBody>
                    <a:bodyPr/>
                    <a:lstStyle/>
                    <a:p>
                      <a:r>
                        <a:rPr lang="en-GB" dirty="0"/>
                        <a:t>65</a:t>
                      </a:r>
                    </a:p>
                  </a:txBody>
                  <a:tcPr/>
                </a:tc>
                <a:tc>
                  <a:txBody>
                    <a:bodyPr/>
                    <a:lstStyle/>
                    <a:p>
                      <a:r>
                        <a:rPr lang="en-GB" dirty="0"/>
                        <a:t>Normal</a:t>
                      </a:r>
                    </a:p>
                  </a:txBody>
                  <a:tcPr/>
                </a:tc>
                <a:tc>
                  <a:txBody>
                    <a:bodyPr/>
                    <a:lstStyle/>
                    <a:p>
                      <a:r>
                        <a:rPr lang="en-GB" dirty="0"/>
                        <a:t>8.2</a:t>
                      </a:r>
                    </a:p>
                  </a:txBody>
                  <a:tcPr/>
                </a:tc>
                <a:tc>
                  <a:txBody>
                    <a:bodyPr/>
                    <a:lstStyle/>
                    <a:p>
                      <a:r>
                        <a:rPr lang="en-GB" dirty="0"/>
                        <a:t>7</a:t>
                      </a:r>
                    </a:p>
                  </a:txBody>
                  <a:tcPr/>
                </a:tc>
                <a:extLst>
                  <a:ext uri="{0D108BD9-81ED-4DB2-BD59-A6C34878D82A}">
                    <a16:rowId xmlns:a16="http://schemas.microsoft.com/office/drawing/2014/main" val="302690275"/>
                  </a:ext>
                </a:extLst>
              </a:tr>
              <a:tr h="370840">
                <a:tc>
                  <a:txBody>
                    <a:bodyPr/>
                    <a:lstStyle/>
                    <a:p>
                      <a:r>
                        <a:rPr lang="en-GB" dirty="0"/>
                        <a:t>182</a:t>
                      </a:r>
                    </a:p>
                  </a:txBody>
                  <a:tcPr/>
                </a:tc>
                <a:tc>
                  <a:txBody>
                    <a:bodyPr/>
                    <a:lstStyle/>
                    <a:p>
                      <a:r>
                        <a:rPr lang="en-GB" dirty="0"/>
                        <a:t>62</a:t>
                      </a:r>
                    </a:p>
                  </a:txBody>
                  <a:tcPr/>
                </a:tc>
                <a:tc>
                  <a:txBody>
                    <a:bodyPr/>
                    <a:lstStyle/>
                    <a:p>
                      <a:r>
                        <a:rPr lang="en-GB" dirty="0"/>
                        <a:t>Normal</a:t>
                      </a:r>
                    </a:p>
                  </a:txBody>
                  <a:tcPr/>
                </a:tc>
                <a:tc>
                  <a:txBody>
                    <a:bodyPr/>
                    <a:lstStyle/>
                    <a:p>
                      <a:r>
                        <a:rPr lang="en-GB" dirty="0"/>
                        <a:t>13</a:t>
                      </a:r>
                    </a:p>
                  </a:txBody>
                  <a:tcPr/>
                </a:tc>
                <a:tc>
                  <a:txBody>
                    <a:bodyPr/>
                    <a:lstStyle/>
                    <a:p>
                      <a:r>
                        <a:rPr lang="en-GB" dirty="0"/>
                        <a:t>8</a:t>
                      </a:r>
                    </a:p>
                  </a:txBody>
                  <a:tcPr/>
                </a:tc>
                <a:extLst>
                  <a:ext uri="{0D108BD9-81ED-4DB2-BD59-A6C34878D82A}">
                    <a16:rowId xmlns:a16="http://schemas.microsoft.com/office/drawing/2014/main" val="2020881325"/>
                  </a:ext>
                </a:extLst>
              </a:tr>
              <a:tr h="370840">
                <a:tc>
                  <a:txBody>
                    <a:bodyPr/>
                    <a:lstStyle/>
                    <a:p>
                      <a:r>
                        <a:rPr lang="en-GB" dirty="0"/>
                        <a:t>176</a:t>
                      </a:r>
                    </a:p>
                  </a:txBody>
                  <a:tcPr/>
                </a:tc>
                <a:tc>
                  <a:txBody>
                    <a:bodyPr/>
                    <a:lstStyle/>
                    <a:p>
                      <a:r>
                        <a:rPr lang="en-GB" dirty="0"/>
                        <a:t>69</a:t>
                      </a:r>
                    </a:p>
                  </a:txBody>
                  <a:tcPr/>
                </a:tc>
                <a:tc>
                  <a:txBody>
                    <a:bodyPr/>
                    <a:lstStyle/>
                    <a:p>
                      <a:r>
                        <a:rPr lang="en-GB" dirty="0"/>
                        <a:t>Normal</a:t>
                      </a:r>
                    </a:p>
                  </a:txBody>
                  <a:tcPr/>
                </a:tc>
                <a:tc>
                  <a:txBody>
                    <a:bodyPr/>
                    <a:lstStyle/>
                    <a:p>
                      <a:r>
                        <a:rPr lang="en-GB" dirty="0"/>
                        <a:t>13.4</a:t>
                      </a:r>
                    </a:p>
                  </a:txBody>
                  <a:tcPr/>
                </a:tc>
                <a:tc>
                  <a:txBody>
                    <a:bodyPr/>
                    <a:lstStyle/>
                    <a:p>
                      <a:r>
                        <a:rPr lang="en-GB" dirty="0"/>
                        <a:t>9</a:t>
                      </a:r>
                    </a:p>
                  </a:txBody>
                  <a:tcPr/>
                </a:tc>
                <a:extLst>
                  <a:ext uri="{0D108BD9-81ED-4DB2-BD59-A6C34878D82A}">
                    <a16:rowId xmlns:a16="http://schemas.microsoft.com/office/drawing/2014/main" val="741610871"/>
                  </a:ext>
                </a:extLst>
              </a:tr>
              <a:tr h="370840">
                <a:tc>
                  <a:txBody>
                    <a:bodyPr/>
                    <a:lstStyle/>
                    <a:p>
                      <a:r>
                        <a:rPr lang="en-GB" dirty="0">
                          <a:solidFill>
                            <a:srgbClr val="FF0000"/>
                          </a:solidFill>
                        </a:rPr>
                        <a:t>170</a:t>
                      </a:r>
                    </a:p>
                  </a:txBody>
                  <a:tcPr/>
                </a:tc>
                <a:tc>
                  <a:txBody>
                    <a:bodyPr/>
                    <a:lstStyle/>
                    <a:p>
                      <a:r>
                        <a:rPr lang="en-GB" dirty="0">
                          <a:solidFill>
                            <a:srgbClr val="FF0000"/>
                          </a:solidFill>
                        </a:rPr>
                        <a:t>57</a:t>
                      </a:r>
                    </a:p>
                  </a:txBody>
                  <a:tcPr/>
                </a:tc>
                <a:tc>
                  <a:txBody>
                    <a:bodyPr/>
                    <a:lstStyle/>
                    <a:p>
                      <a:r>
                        <a:rPr lang="en-GB" dirty="0">
                          <a:solidFill>
                            <a:srgbClr val="FF0000"/>
                          </a:solidFill>
                        </a:rPr>
                        <a:t>?</a:t>
                      </a:r>
                    </a:p>
                  </a:txBody>
                  <a:tcPr/>
                </a:tc>
                <a:tc>
                  <a:txBody>
                    <a:bodyPr/>
                    <a:lstStyle/>
                    <a:p>
                      <a:endParaRPr lang="en-GB" dirty="0">
                        <a:solidFill>
                          <a:srgbClr val="FF0000"/>
                        </a:solidFill>
                      </a:endParaRPr>
                    </a:p>
                  </a:txBody>
                  <a:tcPr/>
                </a:tc>
                <a:tc>
                  <a:txBody>
                    <a:bodyPr/>
                    <a:lstStyle/>
                    <a:p>
                      <a:endParaRPr lang="en-GB" dirty="0">
                        <a:solidFill>
                          <a:srgbClr val="FF0000"/>
                        </a:solidFill>
                      </a:endParaRPr>
                    </a:p>
                  </a:txBody>
                  <a:tcPr/>
                </a:tc>
                <a:extLst>
                  <a:ext uri="{0D108BD9-81ED-4DB2-BD59-A6C34878D82A}">
                    <a16:rowId xmlns:a16="http://schemas.microsoft.com/office/drawing/2014/main" val="2879317720"/>
                  </a:ext>
                </a:extLst>
              </a:tr>
            </a:tbl>
          </a:graphicData>
        </a:graphic>
      </p:graphicFrame>
      <p:sp>
        <p:nvSpPr>
          <p:cNvPr id="5" name="Right Brace 4">
            <a:extLst>
              <a:ext uri="{FF2B5EF4-FFF2-40B4-BE49-F238E27FC236}">
                <a16:creationId xmlns:a16="http://schemas.microsoft.com/office/drawing/2014/main" id="{BEF90EC4-CF0F-A1F1-CFD4-7C6ABCF0324D}"/>
              </a:ext>
            </a:extLst>
          </p:cNvPr>
          <p:cNvSpPr/>
          <p:nvPr/>
        </p:nvSpPr>
        <p:spPr>
          <a:xfrm>
            <a:off x="6324600" y="2362200"/>
            <a:ext cx="457200" cy="990600"/>
          </a:xfrm>
          <a:prstGeom prst="rightBrace">
            <a:avLst>
              <a:gd name="adj1" fmla="val 833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7" name="TextBox 6">
            <a:extLst>
              <a:ext uri="{FF2B5EF4-FFF2-40B4-BE49-F238E27FC236}">
                <a16:creationId xmlns:a16="http://schemas.microsoft.com/office/drawing/2014/main" id="{B12DC1CD-6F0C-4467-641C-03169C1ED117}"/>
              </a:ext>
            </a:extLst>
          </p:cNvPr>
          <p:cNvSpPr txBox="1"/>
          <p:nvPr/>
        </p:nvSpPr>
        <p:spPr>
          <a:xfrm>
            <a:off x="6781800" y="2672834"/>
            <a:ext cx="838200" cy="369332"/>
          </a:xfrm>
          <a:prstGeom prst="rect">
            <a:avLst/>
          </a:prstGeom>
          <a:noFill/>
        </p:spPr>
        <p:txBody>
          <a:bodyPr wrap="square">
            <a:spAutoFit/>
          </a:bodyPr>
          <a:lstStyle/>
          <a:p>
            <a:r>
              <a:rPr lang="en-GB" dirty="0"/>
              <a:t>K=3</a:t>
            </a:r>
          </a:p>
        </p:txBody>
      </p:sp>
    </p:spTree>
    <p:extLst>
      <p:ext uri="{BB962C8B-B14F-4D97-AF65-F5344CB8AC3E}">
        <p14:creationId xmlns:p14="http://schemas.microsoft.com/office/powerpoint/2010/main" val="1737511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B702E-FD4C-64E6-91DC-330D045440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C24EBE-1A79-E9AD-8399-EAAA4F58169F}"/>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KNN</a:t>
            </a:r>
          </a:p>
        </p:txBody>
      </p:sp>
      <p:sp>
        <p:nvSpPr>
          <p:cNvPr id="3" name="Subtitle 2">
            <a:extLst>
              <a:ext uri="{FF2B5EF4-FFF2-40B4-BE49-F238E27FC236}">
                <a16:creationId xmlns:a16="http://schemas.microsoft.com/office/drawing/2014/main" id="{8BD124D9-781E-F20F-F1A9-CC7AE43DE0D4}"/>
              </a:ext>
            </a:extLst>
          </p:cNvPr>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Example of KNN:</a:t>
            </a:r>
          </a:p>
          <a:p>
            <a:pPr algn="just"/>
            <a:endParaRPr lang="en-US" sz="1800" b="1" dirty="0">
              <a:solidFill>
                <a:schemeClr val="tx1"/>
              </a:solidFill>
              <a:latin typeface="Times New Roman" pitchFamily="18" charset="0"/>
              <a:cs typeface="Times New Roman" pitchFamily="18" charset="0"/>
            </a:endParaRPr>
          </a:p>
        </p:txBody>
      </p:sp>
      <p:graphicFrame>
        <p:nvGraphicFramePr>
          <p:cNvPr id="4" name="Table 3">
            <a:extLst>
              <a:ext uri="{FF2B5EF4-FFF2-40B4-BE49-F238E27FC236}">
                <a16:creationId xmlns:a16="http://schemas.microsoft.com/office/drawing/2014/main" id="{3BD0BEED-F4E1-AC89-E0D5-91AF1B08AC13}"/>
              </a:ext>
            </a:extLst>
          </p:cNvPr>
          <p:cNvGraphicFramePr>
            <a:graphicFrameLocks noGrp="1"/>
          </p:cNvGraphicFramePr>
          <p:nvPr>
            <p:extLst>
              <p:ext uri="{D42A27DB-BD31-4B8C-83A1-F6EECF244321}">
                <p14:modId xmlns:p14="http://schemas.microsoft.com/office/powerpoint/2010/main" val="3387777054"/>
              </p:ext>
            </p:extLst>
          </p:nvPr>
        </p:nvGraphicFramePr>
        <p:xfrm>
          <a:off x="685800" y="1918335"/>
          <a:ext cx="5500308" cy="4079240"/>
        </p:xfrm>
        <a:graphic>
          <a:graphicData uri="http://schemas.openxmlformats.org/drawingml/2006/table">
            <a:tbl>
              <a:tblPr firstRow="1" bandRow="1">
                <a:tableStyleId>{5C22544A-7EE6-4342-B048-85BDC9FD1C3A}</a:tableStyleId>
              </a:tblPr>
              <a:tblGrid>
                <a:gridCol w="1333310">
                  <a:extLst>
                    <a:ext uri="{9D8B030D-6E8A-4147-A177-3AD203B41FA5}">
                      <a16:colId xmlns:a16="http://schemas.microsoft.com/office/drawing/2014/main" val="1578106174"/>
                    </a:ext>
                  </a:extLst>
                </a:gridCol>
                <a:gridCol w="1370203">
                  <a:extLst>
                    <a:ext uri="{9D8B030D-6E8A-4147-A177-3AD203B41FA5}">
                      <a16:colId xmlns:a16="http://schemas.microsoft.com/office/drawing/2014/main" val="834031461"/>
                    </a:ext>
                  </a:extLst>
                </a:gridCol>
                <a:gridCol w="1448372">
                  <a:extLst>
                    <a:ext uri="{9D8B030D-6E8A-4147-A177-3AD203B41FA5}">
                      <a16:colId xmlns:a16="http://schemas.microsoft.com/office/drawing/2014/main" val="39674572"/>
                    </a:ext>
                  </a:extLst>
                </a:gridCol>
                <a:gridCol w="640080">
                  <a:extLst>
                    <a:ext uri="{9D8B030D-6E8A-4147-A177-3AD203B41FA5}">
                      <a16:colId xmlns:a16="http://schemas.microsoft.com/office/drawing/2014/main" val="2094978085"/>
                    </a:ext>
                  </a:extLst>
                </a:gridCol>
                <a:gridCol w="708343">
                  <a:extLst>
                    <a:ext uri="{9D8B030D-6E8A-4147-A177-3AD203B41FA5}">
                      <a16:colId xmlns:a16="http://schemas.microsoft.com/office/drawing/2014/main" val="2338902926"/>
                    </a:ext>
                  </a:extLst>
                </a:gridCol>
              </a:tblGrid>
              <a:tr h="370840">
                <a:tc>
                  <a:txBody>
                    <a:bodyPr/>
                    <a:lstStyle/>
                    <a:p>
                      <a:r>
                        <a:rPr lang="en-GB" dirty="0"/>
                        <a:t>Height (cm)</a:t>
                      </a:r>
                    </a:p>
                  </a:txBody>
                  <a:tcPr/>
                </a:tc>
                <a:tc>
                  <a:txBody>
                    <a:bodyPr/>
                    <a:lstStyle/>
                    <a:p>
                      <a:r>
                        <a:rPr lang="en-GB" dirty="0"/>
                        <a:t>Weight (KG)</a:t>
                      </a:r>
                    </a:p>
                  </a:txBody>
                  <a:tcPr/>
                </a:tc>
                <a:tc>
                  <a:txBody>
                    <a:bodyPr/>
                    <a:lstStyle/>
                    <a:p>
                      <a:r>
                        <a:rPr lang="en-GB" dirty="0"/>
                        <a:t>Class</a:t>
                      </a:r>
                    </a:p>
                  </a:txBody>
                  <a:tcPr/>
                </a:tc>
                <a:tc>
                  <a:txBody>
                    <a:bodyPr/>
                    <a:lstStyle/>
                    <a:p>
                      <a:r>
                        <a:rPr lang="en-GB" dirty="0"/>
                        <a:t>d</a:t>
                      </a:r>
                    </a:p>
                  </a:txBody>
                  <a:tcPr/>
                </a:tc>
                <a:tc>
                  <a:txBody>
                    <a:bodyPr/>
                    <a:lstStyle/>
                    <a:p>
                      <a:r>
                        <a:rPr lang="en-GB" dirty="0"/>
                        <a:t>Rank</a:t>
                      </a:r>
                    </a:p>
                  </a:txBody>
                  <a:tcPr/>
                </a:tc>
                <a:extLst>
                  <a:ext uri="{0D108BD9-81ED-4DB2-BD59-A6C34878D82A}">
                    <a16:rowId xmlns:a16="http://schemas.microsoft.com/office/drawing/2014/main" val="219217356"/>
                  </a:ext>
                </a:extLst>
              </a:tr>
              <a:tr h="370840">
                <a:tc>
                  <a:txBody>
                    <a:bodyPr/>
                    <a:lstStyle/>
                    <a:p>
                      <a:r>
                        <a:rPr lang="en-GB" dirty="0"/>
                        <a:t>169</a:t>
                      </a:r>
                    </a:p>
                  </a:txBody>
                  <a:tcPr/>
                </a:tc>
                <a:tc>
                  <a:txBody>
                    <a:bodyPr/>
                    <a:lstStyle/>
                    <a:p>
                      <a:r>
                        <a:rPr lang="en-GB" dirty="0"/>
                        <a:t>58</a:t>
                      </a:r>
                    </a:p>
                  </a:txBody>
                  <a:tcPr/>
                </a:tc>
                <a:tc>
                  <a:txBody>
                    <a:bodyPr/>
                    <a:lstStyle/>
                    <a:p>
                      <a:r>
                        <a:rPr lang="en-GB" dirty="0">
                          <a:solidFill>
                            <a:srgbClr val="00B050"/>
                          </a:solidFill>
                        </a:rPr>
                        <a:t>Normal</a:t>
                      </a:r>
                    </a:p>
                  </a:txBody>
                  <a:tcPr/>
                </a:tc>
                <a:tc>
                  <a:txBody>
                    <a:bodyPr/>
                    <a:lstStyle/>
                    <a:p>
                      <a:r>
                        <a:rPr lang="en-GB" dirty="0"/>
                        <a:t>1.4</a:t>
                      </a:r>
                    </a:p>
                  </a:txBody>
                  <a:tcPr/>
                </a:tc>
                <a:tc>
                  <a:txBody>
                    <a:bodyPr/>
                    <a:lstStyle/>
                    <a:p>
                      <a:r>
                        <a:rPr lang="en-GB" dirty="0"/>
                        <a:t>1</a:t>
                      </a:r>
                    </a:p>
                  </a:txBody>
                  <a:tcPr/>
                </a:tc>
                <a:extLst>
                  <a:ext uri="{0D108BD9-81ED-4DB2-BD59-A6C34878D82A}">
                    <a16:rowId xmlns:a16="http://schemas.microsoft.com/office/drawing/2014/main" val="3253395729"/>
                  </a:ext>
                </a:extLst>
              </a:tr>
              <a:tr h="370840">
                <a:tc>
                  <a:txBody>
                    <a:bodyPr/>
                    <a:lstStyle/>
                    <a:p>
                      <a:r>
                        <a:rPr lang="en-GB" dirty="0"/>
                        <a:t>170</a:t>
                      </a:r>
                    </a:p>
                  </a:txBody>
                  <a:tcPr/>
                </a:tc>
                <a:tc>
                  <a:txBody>
                    <a:bodyPr/>
                    <a:lstStyle/>
                    <a:p>
                      <a:r>
                        <a:rPr lang="en-GB" dirty="0"/>
                        <a:t>55</a:t>
                      </a:r>
                    </a:p>
                  </a:txBody>
                  <a:tcPr/>
                </a:tc>
                <a:tc>
                  <a:txBody>
                    <a:bodyPr/>
                    <a:lstStyle/>
                    <a:p>
                      <a:r>
                        <a:rPr lang="en-GB" dirty="0">
                          <a:solidFill>
                            <a:srgbClr val="00B050"/>
                          </a:solidFill>
                        </a:rPr>
                        <a:t>Normal</a:t>
                      </a:r>
                    </a:p>
                  </a:txBody>
                  <a:tcPr/>
                </a:tc>
                <a:tc>
                  <a:txBody>
                    <a:bodyPr/>
                    <a:lstStyle/>
                    <a:p>
                      <a:r>
                        <a:rPr lang="en-GB" dirty="0"/>
                        <a:t>2</a:t>
                      </a:r>
                    </a:p>
                  </a:txBody>
                  <a:tcPr/>
                </a:tc>
                <a:tc>
                  <a:txBody>
                    <a:bodyPr/>
                    <a:lstStyle/>
                    <a:p>
                      <a:r>
                        <a:rPr lang="en-GB" dirty="0"/>
                        <a:t>2</a:t>
                      </a:r>
                    </a:p>
                  </a:txBody>
                  <a:tcPr/>
                </a:tc>
                <a:extLst>
                  <a:ext uri="{0D108BD9-81ED-4DB2-BD59-A6C34878D82A}">
                    <a16:rowId xmlns:a16="http://schemas.microsoft.com/office/drawing/2014/main" val="354205492"/>
                  </a:ext>
                </a:extLst>
              </a:tr>
              <a:tr h="370840">
                <a:tc>
                  <a:txBody>
                    <a:bodyPr/>
                    <a:lstStyle/>
                    <a:p>
                      <a:r>
                        <a:rPr lang="en-GB" dirty="0"/>
                        <a:t>173</a:t>
                      </a:r>
                    </a:p>
                  </a:txBody>
                  <a:tcPr/>
                </a:tc>
                <a:tc>
                  <a:txBody>
                    <a:bodyPr/>
                    <a:lstStyle/>
                    <a:p>
                      <a:r>
                        <a:rPr lang="en-GB" dirty="0"/>
                        <a:t>57</a:t>
                      </a:r>
                    </a:p>
                  </a:txBody>
                  <a:tcPr/>
                </a:tc>
                <a:tc>
                  <a:txBody>
                    <a:bodyPr/>
                    <a:lstStyle/>
                    <a:p>
                      <a:r>
                        <a:rPr lang="en-GB" dirty="0">
                          <a:solidFill>
                            <a:srgbClr val="00B050"/>
                          </a:solidFill>
                        </a:rPr>
                        <a:t>Normal</a:t>
                      </a:r>
                    </a:p>
                  </a:txBody>
                  <a:tcPr/>
                </a:tc>
                <a:tc>
                  <a:txBody>
                    <a:bodyPr/>
                    <a:lstStyle/>
                    <a:p>
                      <a:r>
                        <a:rPr lang="en-GB" dirty="0"/>
                        <a:t>3</a:t>
                      </a:r>
                    </a:p>
                  </a:txBody>
                  <a:tcPr/>
                </a:tc>
                <a:tc>
                  <a:txBody>
                    <a:bodyPr/>
                    <a:lstStyle/>
                    <a:p>
                      <a:r>
                        <a:rPr lang="en-GB" dirty="0"/>
                        <a:t>3</a:t>
                      </a:r>
                    </a:p>
                  </a:txBody>
                  <a:tcPr/>
                </a:tc>
                <a:extLst>
                  <a:ext uri="{0D108BD9-81ED-4DB2-BD59-A6C34878D82A}">
                    <a16:rowId xmlns:a16="http://schemas.microsoft.com/office/drawing/2014/main" val="632520927"/>
                  </a:ext>
                </a:extLst>
              </a:tr>
              <a:tr h="370840">
                <a:tc>
                  <a:txBody>
                    <a:bodyPr/>
                    <a:lstStyle/>
                    <a:p>
                      <a:r>
                        <a:rPr lang="en-GB" dirty="0"/>
                        <a:t>174</a:t>
                      </a:r>
                    </a:p>
                  </a:txBody>
                  <a:tcPr/>
                </a:tc>
                <a:tc>
                  <a:txBody>
                    <a:bodyPr/>
                    <a:lstStyle/>
                    <a:p>
                      <a:r>
                        <a:rPr lang="en-GB" dirty="0"/>
                        <a:t>56</a:t>
                      </a:r>
                    </a:p>
                  </a:txBody>
                  <a:tcPr/>
                </a:tc>
                <a:tc>
                  <a:txBody>
                    <a:bodyPr/>
                    <a:lstStyle/>
                    <a:p>
                      <a:r>
                        <a:rPr lang="en-GB" dirty="0">
                          <a:solidFill>
                            <a:srgbClr val="00B050"/>
                          </a:solidFill>
                        </a:rPr>
                        <a:t>Underweight</a:t>
                      </a:r>
                    </a:p>
                  </a:txBody>
                  <a:tcPr/>
                </a:tc>
                <a:tc>
                  <a:txBody>
                    <a:bodyPr/>
                    <a:lstStyle/>
                    <a:p>
                      <a:r>
                        <a:rPr lang="en-GB" dirty="0"/>
                        <a:t>4.1</a:t>
                      </a:r>
                    </a:p>
                  </a:txBody>
                  <a:tcPr/>
                </a:tc>
                <a:tc>
                  <a:txBody>
                    <a:bodyPr/>
                    <a:lstStyle/>
                    <a:p>
                      <a:r>
                        <a:rPr lang="en-GB" dirty="0"/>
                        <a:t>4</a:t>
                      </a:r>
                    </a:p>
                  </a:txBody>
                  <a:tcPr/>
                </a:tc>
                <a:extLst>
                  <a:ext uri="{0D108BD9-81ED-4DB2-BD59-A6C34878D82A}">
                    <a16:rowId xmlns:a16="http://schemas.microsoft.com/office/drawing/2014/main" val="2153687132"/>
                  </a:ext>
                </a:extLst>
              </a:tr>
              <a:tr h="370840">
                <a:tc>
                  <a:txBody>
                    <a:bodyPr/>
                    <a:lstStyle/>
                    <a:p>
                      <a:r>
                        <a:rPr lang="en-GB" dirty="0"/>
                        <a:t>167</a:t>
                      </a:r>
                    </a:p>
                  </a:txBody>
                  <a:tcPr/>
                </a:tc>
                <a:tc>
                  <a:txBody>
                    <a:bodyPr/>
                    <a:lstStyle/>
                    <a:p>
                      <a:r>
                        <a:rPr lang="en-GB" dirty="0"/>
                        <a:t>51</a:t>
                      </a:r>
                    </a:p>
                  </a:txBody>
                  <a:tcPr/>
                </a:tc>
                <a:tc>
                  <a:txBody>
                    <a:bodyPr/>
                    <a:lstStyle/>
                    <a:p>
                      <a:r>
                        <a:rPr lang="en-GB" dirty="0"/>
                        <a:t>Underweight</a:t>
                      </a:r>
                    </a:p>
                  </a:txBody>
                  <a:tcPr/>
                </a:tc>
                <a:tc>
                  <a:txBody>
                    <a:bodyPr/>
                    <a:lstStyle/>
                    <a:p>
                      <a:r>
                        <a:rPr lang="en-GB" dirty="0"/>
                        <a:t>6.7</a:t>
                      </a:r>
                    </a:p>
                  </a:txBody>
                  <a:tcPr/>
                </a:tc>
                <a:tc>
                  <a:txBody>
                    <a:bodyPr/>
                    <a:lstStyle/>
                    <a:p>
                      <a:r>
                        <a:rPr lang="en-GB" dirty="0"/>
                        <a:t>5</a:t>
                      </a:r>
                    </a:p>
                  </a:txBody>
                  <a:tcPr/>
                </a:tc>
                <a:extLst>
                  <a:ext uri="{0D108BD9-81ED-4DB2-BD59-A6C34878D82A}">
                    <a16:rowId xmlns:a16="http://schemas.microsoft.com/office/drawing/2014/main" val="530062480"/>
                  </a:ext>
                </a:extLst>
              </a:tr>
              <a:tr h="370840">
                <a:tc>
                  <a:txBody>
                    <a:bodyPr/>
                    <a:lstStyle/>
                    <a:p>
                      <a:r>
                        <a:rPr lang="en-GB" dirty="0"/>
                        <a:t>173</a:t>
                      </a:r>
                    </a:p>
                  </a:txBody>
                  <a:tcPr/>
                </a:tc>
                <a:tc>
                  <a:txBody>
                    <a:bodyPr/>
                    <a:lstStyle/>
                    <a:p>
                      <a:r>
                        <a:rPr lang="en-GB" dirty="0"/>
                        <a:t>64</a:t>
                      </a:r>
                    </a:p>
                  </a:txBody>
                  <a:tcPr/>
                </a:tc>
                <a:tc>
                  <a:txBody>
                    <a:bodyPr/>
                    <a:lstStyle/>
                    <a:p>
                      <a:r>
                        <a:rPr lang="en-GB" dirty="0"/>
                        <a:t>Normal</a:t>
                      </a:r>
                    </a:p>
                  </a:txBody>
                  <a:tcPr/>
                </a:tc>
                <a:tc>
                  <a:txBody>
                    <a:bodyPr/>
                    <a:lstStyle/>
                    <a:p>
                      <a:r>
                        <a:rPr lang="en-GB" dirty="0"/>
                        <a:t>7.6</a:t>
                      </a:r>
                    </a:p>
                  </a:txBody>
                  <a:tcPr/>
                </a:tc>
                <a:tc>
                  <a:txBody>
                    <a:bodyPr/>
                    <a:lstStyle/>
                    <a:p>
                      <a:r>
                        <a:rPr lang="en-GB" dirty="0"/>
                        <a:t>6</a:t>
                      </a:r>
                    </a:p>
                  </a:txBody>
                  <a:tcPr/>
                </a:tc>
                <a:extLst>
                  <a:ext uri="{0D108BD9-81ED-4DB2-BD59-A6C34878D82A}">
                    <a16:rowId xmlns:a16="http://schemas.microsoft.com/office/drawing/2014/main" val="1324137150"/>
                  </a:ext>
                </a:extLst>
              </a:tr>
              <a:tr h="370840">
                <a:tc>
                  <a:txBody>
                    <a:bodyPr/>
                    <a:lstStyle/>
                    <a:p>
                      <a:r>
                        <a:rPr lang="en-GB" dirty="0"/>
                        <a:t>172</a:t>
                      </a:r>
                    </a:p>
                  </a:txBody>
                  <a:tcPr/>
                </a:tc>
                <a:tc>
                  <a:txBody>
                    <a:bodyPr/>
                    <a:lstStyle/>
                    <a:p>
                      <a:r>
                        <a:rPr lang="en-GB" dirty="0"/>
                        <a:t>65</a:t>
                      </a:r>
                    </a:p>
                  </a:txBody>
                  <a:tcPr/>
                </a:tc>
                <a:tc>
                  <a:txBody>
                    <a:bodyPr/>
                    <a:lstStyle/>
                    <a:p>
                      <a:r>
                        <a:rPr lang="en-GB" dirty="0"/>
                        <a:t>Normal</a:t>
                      </a:r>
                    </a:p>
                  </a:txBody>
                  <a:tcPr/>
                </a:tc>
                <a:tc>
                  <a:txBody>
                    <a:bodyPr/>
                    <a:lstStyle/>
                    <a:p>
                      <a:r>
                        <a:rPr lang="en-GB" dirty="0"/>
                        <a:t>8.2</a:t>
                      </a:r>
                    </a:p>
                  </a:txBody>
                  <a:tcPr/>
                </a:tc>
                <a:tc>
                  <a:txBody>
                    <a:bodyPr/>
                    <a:lstStyle/>
                    <a:p>
                      <a:r>
                        <a:rPr lang="en-GB" dirty="0"/>
                        <a:t>7</a:t>
                      </a:r>
                    </a:p>
                  </a:txBody>
                  <a:tcPr/>
                </a:tc>
                <a:extLst>
                  <a:ext uri="{0D108BD9-81ED-4DB2-BD59-A6C34878D82A}">
                    <a16:rowId xmlns:a16="http://schemas.microsoft.com/office/drawing/2014/main" val="302690275"/>
                  </a:ext>
                </a:extLst>
              </a:tr>
              <a:tr h="370840">
                <a:tc>
                  <a:txBody>
                    <a:bodyPr/>
                    <a:lstStyle/>
                    <a:p>
                      <a:r>
                        <a:rPr lang="en-GB" dirty="0"/>
                        <a:t>182</a:t>
                      </a:r>
                    </a:p>
                  </a:txBody>
                  <a:tcPr/>
                </a:tc>
                <a:tc>
                  <a:txBody>
                    <a:bodyPr/>
                    <a:lstStyle/>
                    <a:p>
                      <a:r>
                        <a:rPr lang="en-GB" dirty="0"/>
                        <a:t>62</a:t>
                      </a:r>
                    </a:p>
                  </a:txBody>
                  <a:tcPr/>
                </a:tc>
                <a:tc>
                  <a:txBody>
                    <a:bodyPr/>
                    <a:lstStyle/>
                    <a:p>
                      <a:r>
                        <a:rPr lang="en-GB" dirty="0"/>
                        <a:t>Normal</a:t>
                      </a:r>
                    </a:p>
                  </a:txBody>
                  <a:tcPr/>
                </a:tc>
                <a:tc>
                  <a:txBody>
                    <a:bodyPr/>
                    <a:lstStyle/>
                    <a:p>
                      <a:r>
                        <a:rPr lang="en-GB" dirty="0"/>
                        <a:t>13</a:t>
                      </a:r>
                    </a:p>
                  </a:txBody>
                  <a:tcPr/>
                </a:tc>
                <a:tc>
                  <a:txBody>
                    <a:bodyPr/>
                    <a:lstStyle/>
                    <a:p>
                      <a:r>
                        <a:rPr lang="en-GB" dirty="0"/>
                        <a:t>8</a:t>
                      </a:r>
                    </a:p>
                  </a:txBody>
                  <a:tcPr/>
                </a:tc>
                <a:extLst>
                  <a:ext uri="{0D108BD9-81ED-4DB2-BD59-A6C34878D82A}">
                    <a16:rowId xmlns:a16="http://schemas.microsoft.com/office/drawing/2014/main" val="2020881325"/>
                  </a:ext>
                </a:extLst>
              </a:tr>
              <a:tr h="370840">
                <a:tc>
                  <a:txBody>
                    <a:bodyPr/>
                    <a:lstStyle/>
                    <a:p>
                      <a:r>
                        <a:rPr lang="en-GB" dirty="0"/>
                        <a:t>176</a:t>
                      </a:r>
                    </a:p>
                  </a:txBody>
                  <a:tcPr/>
                </a:tc>
                <a:tc>
                  <a:txBody>
                    <a:bodyPr/>
                    <a:lstStyle/>
                    <a:p>
                      <a:r>
                        <a:rPr lang="en-GB" dirty="0"/>
                        <a:t>69</a:t>
                      </a:r>
                    </a:p>
                  </a:txBody>
                  <a:tcPr/>
                </a:tc>
                <a:tc>
                  <a:txBody>
                    <a:bodyPr/>
                    <a:lstStyle/>
                    <a:p>
                      <a:r>
                        <a:rPr lang="en-GB" dirty="0"/>
                        <a:t>Normal</a:t>
                      </a:r>
                    </a:p>
                  </a:txBody>
                  <a:tcPr/>
                </a:tc>
                <a:tc>
                  <a:txBody>
                    <a:bodyPr/>
                    <a:lstStyle/>
                    <a:p>
                      <a:r>
                        <a:rPr lang="en-GB" dirty="0"/>
                        <a:t>13.4</a:t>
                      </a:r>
                    </a:p>
                  </a:txBody>
                  <a:tcPr/>
                </a:tc>
                <a:tc>
                  <a:txBody>
                    <a:bodyPr/>
                    <a:lstStyle/>
                    <a:p>
                      <a:r>
                        <a:rPr lang="en-GB" dirty="0"/>
                        <a:t>9</a:t>
                      </a:r>
                    </a:p>
                  </a:txBody>
                  <a:tcPr/>
                </a:tc>
                <a:extLst>
                  <a:ext uri="{0D108BD9-81ED-4DB2-BD59-A6C34878D82A}">
                    <a16:rowId xmlns:a16="http://schemas.microsoft.com/office/drawing/2014/main" val="741610871"/>
                  </a:ext>
                </a:extLst>
              </a:tr>
              <a:tr h="370840">
                <a:tc>
                  <a:txBody>
                    <a:bodyPr/>
                    <a:lstStyle/>
                    <a:p>
                      <a:r>
                        <a:rPr lang="en-GB" dirty="0">
                          <a:solidFill>
                            <a:srgbClr val="FF0000"/>
                          </a:solidFill>
                        </a:rPr>
                        <a:t>170</a:t>
                      </a:r>
                    </a:p>
                  </a:txBody>
                  <a:tcPr/>
                </a:tc>
                <a:tc>
                  <a:txBody>
                    <a:bodyPr/>
                    <a:lstStyle/>
                    <a:p>
                      <a:r>
                        <a:rPr lang="en-GB" dirty="0">
                          <a:solidFill>
                            <a:srgbClr val="FF0000"/>
                          </a:solidFill>
                        </a:rPr>
                        <a:t>57</a:t>
                      </a:r>
                    </a:p>
                  </a:txBody>
                  <a:tcPr/>
                </a:tc>
                <a:tc>
                  <a:txBody>
                    <a:bodyPr/>
                    <a:lstStyle/>
                    <a:p>
                      <a:r>
                        <a:rPr lang="en-GB" dirty="0">
                          <a:solidFill>
                            <a:srgbClr val="FF0000"/>
                          </a:solidFill>
                        </a:rPr>
                        <a:t>?</a:t>
                      </a:r>
                    </a:p>
                  </a:txBody>
                  <a:tcPr/>
                </a:tc>
                <a:tc>
                  <a:txBody>
                    <a:bodyPr/>
                    <a:lstStyle/>
                    <a:p>
                      <a:endParaRPr lang="en-GB" dirty="0">
                        <a:solidFill>
                          <a:srgbClr val="FF0000"/>
                        </a:solidFill>
                      </a:endParaRPr>
                    </a:p>
                  </a:txBody>
                  <a:tcPr/>
                </a:tc>
                <a:tc>
                  <a:txBody>
                    <a:bodyPr/>
                    <a:lstStyle/>
                    <a:p>
                      <a:endParaRPr lang="en-GB" dirty="0">
                        <a:solidFill>
                          <a:srgbClr val="FF0000"/>
                        </a:solidFill>
                      </a:endParaRPr>
                    </a:p>
                  </a:txBody>
                  <a:tcPr/>
                </a:tc>
                <a:extLst>
                  <a:ext uri="{0D108BD9-81ED-4DB2-BD59-A6C34878D82A}">
                    <a16:rowId xmlns:a16="http://schemas.microsoft.com/office/drawing/2014/main" val="2879317720"/>
                  </a:ext>
                </a:extLst>
              </a:tr>
            </a:tbl>
          </a:graphicData>
        </a:graphic>
      </p:graphicFrame>
      <p:sp>
        <p:nvSpPr>
          <p:cNvPr id="5" name="Right Brace 4">
            <a:extLst>
              <a:ext uri="{FF2B5EF4-FFF2-40B4-BE49-F238E27FC236}">
                <a16:creationId xmlns:a16="http://schemas.microsoft.com/office/drawing/2014/main" id="{959F6993-6F5B-4483-4ADB-F62C220C9C01}"/>
              </a:ext>
            </a:extLst>
          </p:cNvPr>
          <p:cNvSpPr/>
          <p:nvPr/>
        </p:nvSpPr>
        <p:spPr>
          <a:xfrm>
            <a:off x="6324600" y="2362199"/>
            <a:ext cx="457200" cy="1453635"/>
          </a:xfrm>
          <a:prstGeom prst="rightBrace">
            <a:avLst>
              <a:gd name="adj1" fmla="val 833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7" name="TextBox 6">
            <a:extLst>
              <a:ext uri="{FF2B5EF4-FFF2-40B4-BE49-F238E27FC236}">
                <a16:creationId xmlns:a16="http://schemas.microsoft.com/office/drawing/2014/main" id="{D56683AA-A41B-48D4-EB2B-8E5A5969A1C4}"/>
              </a:ext>
            </a:extLst>
          </p:cNvPr>
          <p:cNvSpPr txBox="1"/>
          <p:nvPr/>
        </p:nvSpPr>
        <p:spPr>
          <a:xfrm>
            <a:off x="6781800" y="2895600"/>
            <a:ext cx="838200" cy="369332"/>
          </a:xfrm>
          <a:prstGeom prst="rect">
            <a:avLst/>
          </a:prstGeom>
          <a:noFill/>
        </p:spPr>
        <p:txBody>
          <a:bodyPr wrap="square">
            <a:spAutoFit/>
          </a:bodyPr>
          <a:lstStyle/>
          <a:p>
            <a:r>
              <a:rPr lang="en-GB" dirty="0"/>
              <a:t>K=4</a:t>
            </a:r>
          </a:p>
        </p:txBody>
      </p:sp>
    </p:spTree>
    <p:extLst>
      <p:ext uri="{BB962C8B-B14F-4D97-AF65-F5344CB8AC3E}">
        <p14:creationId xmlns:p14="http://schemas.microsoft.com/office/powerpoint/2010/main" val="4200410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CFD8D-A9B2-A8BE-248B-4C2251BB75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134862-3477-EEF3-8160-ECDC23DC5A37}"/>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KNN</a:t>
            </a:r>
          </a:p>
        </p:txBody>
      </p:sp>
      <p:sp>
        <p:nvSpPr>
          <p:cNvPr id="3" name="Subtitle 2">
            <a:extLst>
              <a:ext uri="{FF2B5EF4-FFF2-40B4-BE49-F238E27FC236}">
                <a16:creationId xmlns:a16="http://schemas.microsoft.com/office/drawing/2014/main" id="{C566F1B9-8253-C021-77D9-1BDF92B1B451}"/>
              </a:ext>
            </a:extLst>
          </p:cNvPr>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Example of KNN:</a:t>
            </a:r>
          </a:p>
          <a:p>
            <a:pPr algn="just"/>
            <a:endParaRPr lang="en-US" sz="1800" b="1" dirty="0">
              <a:solidFill>
                <a:schemeClr val="tx1"/>
              </a:solidFill>
              <a:latin typeface="Times New Roman" pitchFamily="18" charset="0"/>
              <a:cs typeface="Times New Roman" pitchFamily="18" charset="0"/>
            </a:endParaRPr>
          </a:p>
        </p:txBody>
      </p:sp>
      <p:graphicFrame>
        <p:nvGraphicFramePr>
          <p:cNvPr id="4" name="Table 3">
            <a:extLst>
              <a:ext uri="{FF2B5EF4-FFF2-40B4-BE49-F238E27FC236}">
                <a16:creationId xmlns:a16="http://schemas.microsoft.com/office/drawing/2014/main" id="{8D8175A7-5C74-9F18-9E93-DE90CEA4D78D}"/>
              </a:ext>
            </a:extLst>
          </p:cNvPr>
          <p:cNvGraphicFramePr>
            <a:graphicFrameLocks noGrp="1"/>
          </p:cNvGraphicFramePr>
          <p:nvPr>
            <p:extLst>
              <p:ext uri="{D42A27DB-BD31-4B8C-83A1-F6EECF244321}">
                <p14:modId xmlns:p14="http://schemas.microsoft.com/office/powerpoint/2010/main" val="2035618843"/>
              </p:ext>
            </p:extLst>
          </p:nvPr>
        </p:nvGraphicFramePr>
        <p:xfrm>
          <a:off x="685800" y="1918335"/>
          <a:ext cx="5500308" cy="4079240"/>
        </p:xfrm>
        <a:graphic>
          <a:graphicData uri="http://schemas.openxmlformats.org/drawingml/2006/table">
            <a:tbl>
              <a:tblPr firstRow="1" bandRow="1">
                <a:tableStyleId>{5C22544A-7EE6-4342-B048-85BDC9FD1C3A}</a:tableStyleId>
              </a:tblPr>
              <a:tblGrid>
                <a:gridCol w="1333310">
                  <a:extLst>
                    <a:ext uri="{9D8B030D-6E8A-4147-A177-3AD203B41FA5}">
                      <a16:colId xmlns:a16="http://schemas.microsoft.com/office/drawing/2014/main" val="1578106174"/>
                    </a:ext>
                  </a:extLst>
                </a:gridCol>
                <a:gridCol w="1370203">
                  <a:extLst>
                    <a:ext uri="{9D8B030D-6E8A-4147-A177-3AD203B41FA5}">
                      <a16:colId xmlns:a16="http://schemas.microsoft.com/office/drawing/2014/main" val="834031461"/>
                    </a:ext>
                  </a:extLst>
                </a:gridCol>
                <a:gridCol w="1448372">
                  <a:extLst>
                    <a:ext uri="{9D8B030D-6E8A-4147-A177-3AD203B41FA5}">
                      <a16:colId xmlns:a16="http://schemas.microsoft.com/office/drawing/2014/main" val="39674572"/>
                    </a:ext>
                  </a:extLst>
                </a:gridCol>
                <a:gridCol w="640080">
                  <a:extLst>
                    <a:ext uri="{9D8B030D-6E8A-4147-A177-3AD203B41FA5}">
                      <a16:colId xmlns:a16="http://schemas.microsoft.com/office/drawing/2014/main" val="2094978085"/>
                    </a:ext>
                  </a:extLst>
                </a:gridCol>
                <a:gridCol w="708343">
                  <a:extLst>
                    <a:ext uri="{9D8B030D-6E8A-4147-A177-3AD203B41FA5}">
                      <a16:colId xmlns:a16="http://schemas.microsoft.com/office/drawing/2014/main" val="2338902926"/>
                    </a:ext>
                  </a:extLst>
                </a:gridCol>
              </a:tblGrid>
              <a:tr h="370840">
                <a:tc>
                  <a:txBody>
                    <a:bodyPr/>
                    <a:lstStyle/>
                    <a:p>
                      <a:r>
                        <a:rPr lang="en-GB" dirty="0"/>
                        <a:t>Height (cm)</a:t>
                      </a:r>
                    </a:p>
                  </a:txBody>
                  <a:tcPr/>
                </a:tc>
                <a:tc>
                  <a:txBody>
                    <a:bodyPr/>
                    <a:lstStyle/>
                    <a:p>
                      <a:r>
                        <a:rPr lang="en-GB" dirty="0"/>
                        <a:t>Weight (KG)</a:t>
                      </a:r>
                    </a:p>
                  </a:txBody>
                  <a:tcPr/>
                </a:tc>
                <a:tc>
                  <a:txBody>
                    <a:bodyPr/>
                    <a:lstStyle/>
                    <a:p>
                      <a:r>
                        <a:rPr lang="en-GB" dirty="0"/>
                        <a:t>Class</a:t>
                      </a:r>
                    </a:p>
                  </a:txBody>
                  <a:tcPr/>
                </a:tc>
                <a:tc>
                  <a:txBody>
                    <a:bodyPr/>
                    <a:lstStyle/>
                    <a:p>
                      <a:r>
                        <a:rPr lang="en-GB" dirty="0"/>
                        <a:t>d</a:t>
                      </a:r>
                    </a:p>
                  </a:txBody>
                  <a:tcPr/>
                </a:tc>
                <a:tc>
                  <a:txBody>
                    <a:bodyPr/>
                    <a:lstStyle/>
                    <a:p>
                      <a:r>
                        <a:rPr lang="en-GB" dirty="0"/>
                        <a:t>Rank</a:t>
                      </a:r>
                    </a:p>
                  </a:txBody>
                  <a:tcPr/>
                </a:tc>
                <a:extLst>
                  <a:ext uri="{0D108BD9-81ED-4DB2-BD59-A6C34878D82A}">
                    <a16:rowId xmlns:a16="http://schemas.microsoft.com/office/drawing/2014/main" val="219217356"/>
                  </a:ext>
                </a:extLst>
              </a:tr>
              <a:tr h="370840">
                <a:tc>
                  <a:txBody>
                    <a:bodyPr/>
                    <a:lstStyle/>
                    <a:p>
                      <a:r>
                        <a:rPr lang="en-GB" dirty="0"/>
                        <a:t>169</a:t>
                      </a:r>
                    </a:p>
                  </a:txBody>
                  <a:tcPr/>
                </a:tc>
                <a:tc>
                  <a:txBody>
                    <a:bodyPr/>
                    <a:lstStyle/>
                    <a:p>
                      <a:r>
                        <a:rPr lang="en-GB" dirty="0"/>
                        <a:t>58</a:t>
                      </a:r>
                    </a:p>
                  </a:txBody>
                  <a:tcPr/>
                </a:tc>
                <a:tc>
                  <a:txBody>
                    <a:bodyPr/>
                    <a:lstStyle/>
                    <a:p>
                      <a:r>
                        <a:rPr lang="en-GB" dirty="0">
                          <a:solidFill>
                            <a:srgbClr val="00B050"/>
                          </a:solidFill>
                        </a:rPr>
                        <a:t>Normal</a:t>
                      </a:r>
                    </a:p>
                  </a:txBody>
                  <a:tcPr/>
                </a:tc>
                <a:tc>
                  <a:txBody>
                    <a:bodyPr/>
                    <a:lstStyle/>
                    <a:p>
                      <a:r>
                        <a:rPr lang="en-GB" dirty="0"/>
                        <a:t>1.4</a:t>
                      </a:r>
                    </a:p>
                  </a:txBody>
                  <a:tcPr/>
                </a:tc>
                <a:tc>
                  <a:txBody>
                    <a:bodyPr/>
                    <a:lstStyle/>
                    <a:p>
                      <a:r>
                        <a:rPr lang="en-GB" dirty="0"/>
                        <a:t>1</a:t>
                      </a:r>
                    </a:p>
                  </a:txBody>
                  <a:tcPr/>
                </a:tc>
                <a:extLst>
                  <a:ext uri="{0D108BD9-81ED-4DB2-BD59-A6C34878D82A}">
                    <a16:rowId xmlns:a16="http://schemas.microsoft.com/office/drawing/2014/main" val="3253395729"/>
                  </a:ext>
                </a:extLst>
              </a:tr>
              <a:tr h="370840">
                <a:tc>
                  <a:txBody>
                    <a:bodyPr/>
                    <a:lstStyle/>
                    <a:p>
                      <a:r>
                        <a:rPr lang="en-GB" dirty="0"/>
                        <a:t>170</a:t>
                      </a:r>
                    </a:p>
                  </a:txBody>
                  <a:tcPr/>
                </a:tc>
                <a:tc>
                  <a:txBody>
                    <a:bodyPr/>
                    <a:lstStyle/>
                    <a:p>
                      <a:r>
                        <a:rPr lang="en-GB" dirty="0"/>
                        <a:t>55</a:t>
                      </a:r>
                    </a:p>
                  </a:txBody>
                  <a:tcPr/>
                </a:tc>
                <a:tc>
                  <a:txBody>
                    <a:bodyPr/>
                    <a:lstStyle/>
                    <a:p>
                      <a:r>
                        <a:rPr lang="en-GB" dirty="0">
                          <a:solidFill>
                            <a:srgbClr val="00B050"/>
                          </a:solidFill>
                        </a:rPr>
                        <a:t>Normal</a:t>
                      </a:r>
                    </a:p>
                  </a:txBody>
                  <a:tcPr/>
                </a:tc>
                <a:tc>
                  <a:txBody>
                    <a:bodyPr/>
                    <a:lstStyle/>
                    <a:p>
                      <a:r>
                        <a:rPr lang="en-GB" dirty="0"/>
                        <a:t>2</a:t>
                      </a:r>
                    </a:p>
                  </a:txBody>
                  <a:tcPr/>
                </a:tc>
                <a:tc>
                  <a:txBody>
                    <a:bodyPr/>
                    <a:lstStyle/>
                    <a:p>
                      <a:r>
                        <a:rPr lang="en-GB" dirty="0"/>
                        <a:t>2</a:t>
                      </a:r>
                    </a:p>
                  </a:txBody>
                  <a:tcPr/>
                </a:tc>
                <a:extLst>
                  <a:ext uri="{0D108BD9-81ED-4DB2-BD59-A6C34878D82A}">
                    <a16:rowId xmlns:a16="http://schemas.microsoft.com/office/drawing/2014/main" val="354205492"/>
                  </a:ext>
                </a:extLst>
              </a:tr>
              <a:tr h="370840">
                <a:tc>
                  <a:txBody>
                    <a:bodyPr/>
                    <a:lstStyle/>
                    <a:p>
                      <a:r>
                        <a:rPr lang="en-GB" dirty="0"/>
                        <a:t>173</a:t>
                      </a:r>
                    </a:p>
                  </a:txBody>
                  <a:tcPr/>
                </a:tc>
                <a:tc>
                  <a:txBody>
                    <a:bodyPr/>
                    <a:lstStyle/>
                    <a:p>
                      <a:r>
                        <a:rPr lang="en-GB" dirty="0"/>
                        <a:t>57</a:t>
                      </a:r>
                    </a:p>
                  </a:txBody>
                  <a:tcPr/>
                </a:tc>
                <a:tc>
                  <a:txBody>
                    <a:bodyPr/>
                    <a:lstStyle/>
                    <a:p>
                      <a:r>
                        <a:rPr lang="en-GB" dirty="0">
                          <a:solidFill>
                            <a:srgbClr val="00B050"/>
                          </a:solidFill>
                        </a:rPr>
                        <a:t>Normal</a:t>
                      </a:r>
                    </a:p>
                  </a:txBody>
                  <a:tcPr/>
                </a:tc>
                <a:tc>
                  <a:txBody>
                    <a:bodyPr/>
                    <a:lstStyle/>
                    <a:p>
                      <a:r>
                        <a:rPr lang="en-GB" dirty="0"/>
                        <a:t>3</a:t>
                      </a:r>
                    </a:p>
                  </a:txBody>
                  <a:tcPr/>
                </a:tc>
                <a:tc>
                  <a:txBody>
                    <a:bodyPr/>
                    <a:lstStyle/>
                    <a:p>
                      <a:r>
                        <a:rPr lang="en-GB" dirty="0"/>
                        <a:t>3</a:t>
                      </a:r>
                    </a:p>
                  </a:txBody>
                  <a:tcPr/>
                </a:tc>
                <a:extLst>
                  <a:ext uri="{0D108BD9-81ED-4DB2-BD59-A6C34878D82A}">
                    <a16:rowId xmlns:a16="http://schemas.microsoft.com/office/drawing/2014/main" val="632520927"/>
                  </a:ext>
                </a:extLst>
              </a:tr>
              <a:tr h="370840">
                <a:tc>
                  <a:txBody>
                    <a:bodyPr/>
                    <a:lstStyle/>
                    <a:p>
                      <a:r>
                        <a:rPr lang="en-GB" dirty="0"/>
                        <a:t>174</a:t>
                      </a:r>
                    </a:p>
                  </a:txBody>
                  <a:tcPr/>
                </a:tc>
                <a:tc>
                  <a:txBody>
                    <a:bodyPr/>
                    <a:lstStyle/>
                    <a:p>
                      <a:r>
                        <a:rPr lang="en-GB" dirty="0"/>
                        <a:t>56</a:t>
                      </a:r>
                    </a:p>
                  </a:txBody>
                  <a:tcPr/>
                </a:tc>
                <a:tc>
                  <a:txBody>
                    <a:bodyPr/>
                    <a:lstStyle/>
                    <a:p>
                      <a:r>
                        <a:rPr lang="en-GB" dirty="0">
                          <a:solidFill>
                            <a:srgbClr val="00B050"/>
                          </a:solidFill>
                        </a:rPr>
                        <a:t>Underweight</a:t>
                      </a:r>
                    </a:p>
                  </a:txBody>
                  <a:tcPr/>
                </a:tc>
                <a:tc>
                  <a:txBody>
                    <a:bodyPr/>
                    <a:lstStyle/>
                    <a:p>
                      <a:r>
                        <a:rPr lang="en-GB" dirty="0"/>
                        <a:t>4.1</a:t>
                      </a:r>
                    </a:p>
                  </a:txBody>
                  <a:tcPr/>
                </a:tc>
                <a:tc>
                  <a:txBody>
                    <a:bodyPr/>
                    <a:lstStyle/>
                    <a:p>
                      <a:r>
                        <a:rPr lang="en-GB" dirty="0"/>
                        <a:t>4</a:t>
                      </a:r>
                    </a:p>
                  </a:txBody>
                  <a:tcPr/>
                </a:tc>
                <a:extLst>
                  <a:ext uri="{0D108BD9-81ED-4DB2-BD59-A6C34878D82A}">
                    <a16:rowId xmlns:a16="http://schemas.microsoft.com/office/drawing/2014/main" val="2153687132"/>
                  </a:ext>
                </a:extLst>
              </a:tr>
              <a:tr h="370840">
                <a:tc>
                  <a:txBody>
                    <a:bodyPr/>
                    <a:lstStyle/>
                    <a:p>
                      <a:r>
                        <a:rPr lang="en-GB" dirty="0"/>
                        <a:t>167</a:t>
                      </a:r>
                    </a:p>
                  </a:txBody>
                  <a:tcPr/>
                </a:tc>
                <a:tc>
                  <a:txBody>
                    <a:bodyPr/>
                    <a:lstStyle/>
                    <a:p>
                      <a:r>
                        <a:rPr lang="en-GB" dirty="0"/>
                        <a:t>51</a:t>
                      </a:r>
                    </a:p>
                  </a:txBody>
                  <a:tcPr/>
                </a:tc>
                <a:tc>
                  <a:txBody>
                    <a:bodyPr/>
                    <a:lstStyle/>
                    <a:p>
                      <a:r>
                        <a:rPr lang="en-GB" dirty="0">
                          <a:solidFill>
                            <a:srgbClr val="00B050"/>
                          </a:solidFill>
                        </a:rPr>
                        <a:t>Underweight</a:t>
                      </a:r>
                    </a:p>
                  </a:txBody>
                  <a:tcPr/>
                </a:tc>
                <a:tc>
                  <a:txBody>
                    <a:bodyPr/>
                    <a:lstStyle/>
                    <a:p>
                      <a:r>
                        <a:rPr lang="en-GB" dirty="0"/>
                        <a:t>6.7</a:t>
                      </a:r>
                    </a:p>
                  </a:txBody>
                  <a:tcPr/>
                </a:tc>
                <a:tc>
                  <a:txBody>
                    <a:bodyPr/>
                    <a:lstStyle/>
                    <a:p>
                      <a:r>
                        <a:rPr lang="en-GB" dirty="0"/>
                        <a:t>5</a:t>
                      </a:r>
                    </a:p>
                  </a:txBody>
                  <a:tcPr/>
                </a:tc>
                <a:extLst>
                  <a:ext uri="{0D108BD9-81ED-4DB2-BD59-A6C34878D82A}">
                    <a16:rowId xmlns:a16="http://schemas.microsoft.com/office/drawing/2014/main" val="530062480"/>
                  </a:ext>
                </a:extLst>
              </a:tr>
              <a:tr h="370840">
                <a:tc>
                  <a:txBody>
                    <a:bodyPr/>
                    <a:lstStyle/>
                    <a:p>
                      <a:r>
                        <a:rPr lang="en-GB" dirty="0"/>
                        <a:t>173</a:t>
                      </a:r>
                    </a:p>
                  </a:txBody>
                  <a:tcPr/>
                </a:tc>
                <a:tc>
                  <a:txBody>
                    <a:bodyPr/>
                    <a:lstStyle/>
                    <a:p>
                      <a:r>
                        <a:rPr lang="en-GB" dirty="0"/>
                        <a:t>64</a:t>
                      </a:r>
                    </a:p>
                  </a:txBody>
                  <a:tcPr/>
                </a:tc>
                <a:tc>
                  <a:txBody>
                    <a:bodyPr/>
                    <a:lstStyle/>
                    <a:p>
                      <a:r>
                        <a:rPr lang="en-GB" dirty="0"/>
                        <a:t>Normal</a:t>
                      </a:r>
                    </a:p>
                  </a:txBody>
                  <a:tcPr/>
                </a:tc>
                <a:tc>
                  <a:txBody>
                    <a:bodyPr/>
                    <a:lstStyle/>
                    <a:p>
                      <a:r>
                        <a:rPr lang="en-GB" dirty="0"/>
                        <a:t>7.6</a:t>
                      </a:r>
                    </a:p>
                  </a:txBody>
                  <a:tcPr/>
                </a:tc>
                <a:tc>
                  <a:txBody>
                    <a:bodyPr/>
                    <a:lstStyle/>
                    <a:p>
                      <a:r>
                        <a:rPr lang="en-GB" dirty="0"/>
                        <a:t>6</a:t>
                      </a:r>
                    </a:p>
                  </a:txBody>
                  <a:tcPr/>
                </a:tc>
                <a:extLst>
                  <a:ext uri="{0D108BD9-81ED-4DB2-BD59-A6C34878D82A}">
                    <a16:rowId xmlns:a16="http://schemas.microsoft.com/office/drawing/2014/main" val="1324137150"/>
                  </a:ext>
                </a:extLst>
              </a:tr>
              <a:tr h="370840">
                <a:tc>
                  <a:txBody>
                    <a:bodyPr/>
                    <a:lstStyle/>
                    <a:p>
                      <a:r>
                        <a:rPr lang="en-GB" dirty="0"/>
                        <a:t>172</a:t>
                      </a:r>
                    </a:p>
                  </a:txBody>
                  <a:tcPr/>
                </a:tc>
                <a:tc>
                  <a:txBody>
                    <a:bodyPr/>
                    <a:lstStyle/>
                    <a:p>
                      <a:r>
                        <a:rPr lang="en-GB" dirty="0"/>
                        <a:t>65</a:t>
                      </a:r>
                    </a:p>
                  </a:txBody>
                  <a:tcPr/>
                </a:tc>
                <a:tc>
                  <a:txBody>
                    <a:bodyPr/>
                    <a:lstStyle/>
                    <a:p>
                      <a:r>
                        <a:rPr lang="en-GB" dirty="0"/>
                        <a:t>Normal</a:t>
                      </a:r>
                    </a:p>
                  </a:txBody>
                  <a:tcPr/>
                </a:tc>
                <a:tc>
                  <a:txBody>
                    <a:bodyPr/>
                    <a:lstStyle/>
                    <a:p>
                      <a:r>
                        <a:rPr lang="en-GB" dirty="0"/>
                        <a:t>8.2</a:t>
                      </a:r>
                    </a:p>
                  </a:txBody>
                  <a:tcPr/>
                </a:tc>
                <a:tc>
                  <a:txBody>
                    <a:bodyPr/>
                    <a:lstStyle/>
                    <a:p>
                      <a:r>
                        <a:rPr lang="en-GB" dirty="0"/>
                        <a:t>7</a:t>
                      </a:r>
                    </a:p>
                  </a:txBody>
                  <a:tcPr/>
                </a:tc>
                <a:extLst>
                  <a:ext uri="{0D108BD9-81ED-4DB2-BD59-A6C34878D82A}">
                    <a16:rowId xmlns:a16="http://schemas.microsoft.com/office/drawing/2014/main" val="302690275"/>
                  </a:ext>
                </a:extLst>
              </a:tr>
              <a:tr h="370840">
                <a:tc>
                  <a:txBody>
                    <a:bodyPr/>
                    <a:lstStyle/>
                    <a:p>
                      <a:r>
                        <a:rPr lang="en-GB" dirty="0"/>
                        <a:t>182</a:t>
                      </a:r>
                    </a:p>
                  </a:txBody>
                  <a:tcPr/>
                </a:tc>
                <a:tc>
                  <a:txBody>
                    <a:bodyPr/>
                    <a:lstStyle/>
                    <a:p>
                      <a:r>
                        <a:rPr lang="en-GB" dirty="0"/>
                        <a:t>62</a:t>
                      </a:r>
                    </a:p>
                  </a:txBody>
                  <a:tcPr/>
                </a:tc>
                <a:tc>
                  <a:txBody>
                    <a:bodyPr/>
                    <a:lstStyle/>
                    <a:p>
                      <a:r>
                        <a:rPr lang="en-GB" dirty="0"/>
                        <a:t>Normal</a:t>
                      </a:r>
                    </a:p>
                  </a:txBody>
                  <a:tcPr/>
                </a:tc>
                <a:tc>
                  <a:txBody>
                    <a:bodyPr/>
                    <a:lstStyle/>
                    <a:p>
                      <a:r>
                        <a:rPr lang="en-GB" dirty="0"/>
                        <a:t>13</a:t>
                      </a:r>
                    </a:p>
                  </a:txBody>
                  <a:tcPr/>
                </a:tc>
                <a:tc>
                  <a:txBody>
                    <a:bodyPr/>
                    <a:lstStyle/>
                    <a:p>
                      <a:r>
                        <a:rPr lang="en-GB" dirty="0"/>
                        <a:t>8</a:t>
                      </a:r>
                    </a:p>
                  </a:txBody>
                  <a:tcPr/>
                </a:tc>
                <a:extLst>
                  <a:ext uri="{0D108BD9-81ED-4DB2-BD59-A6C34878D82A}">
                    <a16:rowId xmlns:a16="http://schemas.microsoft.com/office/drawing/2014/main" val="2020881325"/>
                  </a:ext>
                </a:extLst>
              </a:tr>
              <a:tr h="370840">
                <a:tc>
                  <a:txBody>
                    <a:bodyPr/>
                    <a:lstStyle/>
                    <a:p>
                      <a:r>
                        <a:rPr lang="en-GB" dirty="0"/>
                        <a:t>176</a:t>
                      </a:r>
                    </a:p>
                  </a:txBody>
                  <a:tcPr/>
                </a:tc>
                <a:tc>
                  <a:txBody>
                    <a:bodyPr/>
                    <a:lstStyle/>
                    <a:p>
                      <a:r>
                        <a:rPr lang="en-GB" dirty="0"/>
                        <a:t>69</a:t>
                      </a:r>
                    </a:p>
                  </a:txBody>
                  <a:tcPr/>
                </a:tc>
                <a:tc>
                  <a:txBody>
                    <a:bodyPr/>
                    <a:lstStyle/>
                    <a:p>
                      <a:r>
                        <a:rPr lang="en-GB" dirty="0"/>
                        <a:t>Normal</a:t>
                      </a:r>
                    </a:p>
                  </a:txBody>
                  <a:tcPr/>
                </a:tc>
                <a:tc>
                  <a:txBody>
                    <a:bodyPr/>
                    <a:lstStyle/>
                    <a:p>
                      <a:r>
                        <a:rPr lang="en-GB" dirty="0"/>
                        <a:t>13.4</a:t>
                      </a:r>
                    </a:p>
                  </a:txBody>
                  <a:tcPr/>
                </a:tc>
                <a:tc>
                  <a:txBody>
                    <a:bodyPr/>
                    <a:lstStyle/>
                    <a:p>
                      <a:r>
                        <a:rPr lang="en-GB" dirty="0"/>
                        <a:t>9</a:t>
                      </a:r>
                    </a:p>
                  </a:txBody>
                  <a:tcPr/>
                </a:tc>
                <a:extLst>
                  <a:ext uri="{0D108BD9-81ED-4DB2-BD59-A6C34878D82A}">
                    <a16:rowId xmlns:a16="http://schemas.microsoft.com/office/drawing/2014/main" val="741610871"/>
                  </a:ext>
                </a:extLst>
              </a:tr>
              <a:tr h="370840">
                <a:tc>
                  <a:txBody>
                    <a:bodyPr/>
                    <a:lstStyle/>
                    <a:p>
                      <a:r>
                        <a:rPr lang="en-GB" dirty="0">
                          <a:solidFill>
                            <a:srgbClr val="FF0000"/>
                          </a:solidFill>
                        </a:rPr>
                        <a:t>170</a:t>
                      </a:r>
                    </a:p>
                  </a:txBody>
                  <a:tcPr/>
                </a:tc>
                <a:tc>
                  <a:txBody>
                    <a:bodyPr/>
                    <a:lstStyle/>
                    <a:p>
                      <a:r>
                        <a:rPr lang="en-GB" dirty="0">
                          <a:solidFill>
                            <a:srgbClr val="FF0000"/>
                          </a:solidFill>
                        </a:rPr>
                        <a:t>57</a:t>
                      </a:r>
                    </a:p>
                  </a:txBody>
                  <a:tcPr/>
                </a:tc>
                <a:tc>
                  <a:txBody>
                    <a:bodyPr/>
                    <a:lstStyle/>
                    <a:p>
                      <a:r>
                        <a:rPr lang="en-GB" dirty="0">
                          <a:solidFill>
                            <a:srgbClr val="FF0000"/>
                          </a:solidFill>
                        </a:rPr>
                        <a:t>?</a:t>
                      </a:r>
                    </a:p>
                  </a:txBody>
                  <a:tcPr/>
                </a:tc>
                <a:tc>
                  <a:txBody>
                    <a:bodyPr/>
                    <a:lstStyle/>
                    <a:p>
                      <a:endParaRPr lang="en-GB" dirty="0">
                        <a:solidFill>
                          <a:srgbClr val="FF0000"/>
                        </a:solidFill>
                      </a:endParaRPr>
                    </a:p>
                  </a:txBody>
                  <a:tcPr/>
                </a:tc>
                <a:tc>
                  <a:txBody>
                    <a:bodyPr/>
                    <a:lstStyle/>
                    <a:p>
                      <a:endParaRPr lang="en-GB" dirty="0">
                        <a:solidFill>
                          <a:srgbClr val="FF0000"/>
                        </a:solidFill>
                      </a:endParaRPr>
                    </a:p>
                  </a:txBody>
                  <a:tcPr/>
                </a:tc>
                <a:extLst>
                  <a:ext uri="{0D108BD9-81ED-4DB2-BD59-A6C34878D82A}">
                    <a16:rowId xmlns:a16="http://schemas.microsoft.com/office/drawing/2014/main" val="2879317720"/>
                  </a:ext>
                </a:extLst>
              </a:tr>
            </a:tbl>
          </a:graphicData>
        </a:graphic>
      </p:graphicFrame>
      <p:sp>
        <p:nvSpPr>
          <p:cNvPr id="5" name="Right Brace 4">
            <a:extLst>
              <a:ext uri="{FF2B5EF4-FFF2-40B4-BE49-F238E27FC236}">
                <a16:creationId xmlns:a16="http://schemas.microsoft.com/office/drawing/2014/main" id="{5FD02436-660F-4F0C-4268-FD7883E86269}"/>
              </a:ext>
            </a:extLst>
          </p:cNvPr>
          <p:cNvSpPr/>
          <p:nvPr/>
        </p:nvSpPr>
        <p:spPr>
          <a:xfrm>
            <a:off x="6324600" y="2362199"/>
            <a:ext cx="457200" cy="1752601"/>
          </a:xfrm>
          <a:prstGeom prst="rightBrace">
            <a:avLst>
              <a:gd name="adj1" fmla="val 833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7" name="TextBox 6">
            <a:extLst>
              <a:ext uri="{FF2B5EF4-FFF2-40B4-BE49-F238E27FC236}">
                <a16:creationId xmlns:a16="http://schemas.microsoft.com/office/drawing/2014/main" id="{5F159376-9248-776C-C9A4-69AF93AA1BFA}"/>
              </a:ext>
            </a:extLst>
          </p:cNvPr>
          <p:cNvSpPr txBox="1"/>
          <p:nvPr/>
        </p:nvSpPr>
        <p:spPr>
          <a:xfrm>
            <a:off x="6781800" y="3059668"/>
            <a:ext cx="838200" cy="369332"/>
          </a:xfrm>
          <a:prstGeom prst="rect">
            <a:avLst/>
          </a:prstGeom>
          <a:noFill/>
        </p:spPr>
        <p:txBody>
          <a:bodyPr wrap="square">
            <a:spAutoFit/>
          </a:bodyPr>
          <a:lstStyle/>
          <a:p>
            <a:r>
              <a:rPr lang="en-GB" dirty="0"/>
              <a:t>K=5</a:t>
            </a:r>
          </a:p>
        </p:txBody>
      </p:sp>
    </p:spTree>
    <p:extLst>
      <p:ext uri="{BB962C8B-B14F-4D97-AF65-F5344CB8AC3E}">
        <p14:creationId xmlns:p14="http://schemas.microsoft.com/office/powerpoint/2010/main" val="2365000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KNN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KNN Code:</a:t>
            </a:r>
          </a:p>
          <a:p>
            <a:pPr algn="just"/>
            <a:r>
              <a:rPr lang="en-US" sz="1800" dirty="0">
                <a:solidFill>
                  <a:schemeClr val="tx1"/>
                </a:solidFill>
                <a:latin typeface="Times New Roman" pitchFamily="18" charset="0"/>
                <a:cs typeface="Times New Roman" pitchFamily="18" charset="0"/>
                <a:hlinkClick r:id="rId2"/>
              </a:rPr>
              <a:t>https://colab.research.google.com/drive/1WvzjLHrb2Yf0ocPfUPUAIL7lYTIAvGwl?usp=sharing</a:t>
            </a:r>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901266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KNN</a:t>
            </a:r>
          </a:p>
        </p:txBody>
      </p:sp>
      <p:sp>
        <p:nvSpPr>
          <p:cNvPr id="3" name="Subtitle 2"/>
          <p:cNvSpPr>
            <a:spLocks noGrp="1"/>
          </p:cNvSpPr>
          <p:nvPr>
            <p:ph type="subTitle" idx="1"/>
          </p:nvPr>
        </p:nvSpPr>
        <p:spPr>
          <a:xfrm>
            <a:off x="685800" y="1371600"/>
            <a:ext cx="7467600" cy="4343400"/>
          </a:xfrm>
        </p:spPr>
        <p:txBody>
          <a:bodyPr>
            <a:normAutofit lnSpcReduction="10000"/>
          </a:bodyPr>
          <a:lstStyle/>
          <a:p>
            <a:pPr algn="just"/>
            <a:r>
              <a:rPr lang="en-US" sz="1800" b="1" dirty="0">
                <a:solidFill>
                  <a:schemeClr val="tx1"/>
                </a:solidFill>
                <a:latin typeface="Times New Roman" pitchFamily="18" charset="0"/>
                <a:cs typeface="Times New Roman" pitchFamily="18" charset="0"/>
              </a:rPr>
              <a:t>Disadvantages of KNN:</a:t>
            </a:r>
          </a:p>
          <a:p>
            <a:pPr algn="just"/>
            <a:endParaRPr lang="en-US" sz="1800" b="1"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Computationally Expensive: </a:t>
            </a:r>
            <a:r>
              <a:rPr lang="en-US" sz="1800" dirty="0">
                <a:solidFill>
                  <a:schemeClr val="tx1"/>
                </a:solidFill>
                <a:latin typeface="Times New Roman" pitchFamily="18" charset="0"/>
                <a:cs typeface="Times New Roman" pitchFamily="18" charset="0"/>
              </a:rPr>
              <a:t>As the size of the dataset increases, the algorithm becomes slow because it has to calculate the distance for each test point with every training point.</a:t>
            </a:r>
          </a:p>
          <a:p>
            <a:pPr algn="just"/>
            <a:endParaRPr lang="en-US"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Sensitive to Noisy Data: </a:t>
            </a:r>
            <a:r>
              <a:rPr lang="en-US" sz="1800" dirty="0">
                <a:solidFill>
                  <a:schemeClr val="tx1"/>
                </a:solidFill>
                <a:latin typeface="Times New Roman" pitchFamily="18" charset="0"/>
                <a:cs typeface="Times New Roman" pitchFamily="18" charset="0"/>
              </a:rPr>
              <a:t>Outliers or irrelevant features can significantly affect predictions.</a:t>
            </a:r>
          </a:p>
          <a:p>
            <a:pPr algn="just"/>
            <a:endParaRPr lang="en-US"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Feature Scaling Required: </a:t>
            </a:r>
            <a:r>
              <a:rPr lang="en-US" sz="1800" dirty="0">
                <a:solidFill>
                  <a:schemeClr val="tx1"/>
                </a:solidFill>
                <a:latin typeface="Times New Roman" pitchFamily="18" charset="0"/>
                <a:cs typeface="Times New Roman" pitchFamily="18" charset="0"/>
              </a:rPr>
              <a:t>Since KNN relies on distance calculations, features must be scaled properly to prevent features with larger ranges from dominating the distance calculation.</a:t>
            </a:r>
          </a:p>
          <a:p>
            <a:pPr algn="just"/>
            <a:endParaRPr lang="en-US"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Memory-Intensive:</a:t>
            </a:r>
            <a:r>
              <a:rPr lang="en-US" sz="1800" dirty="0">
                <a:solidFill>
                  <a:schemeClr val="tx1"/>
                </a:solidFill>
                <a:latin typeface="Times New Roman" pitchFamily="18" charset="0"/>
                <a:cs typeface="Times New Roman" pitchFamily="18" charset="0"/>
              </a:rPr>
              <a:t> The algorithm needs to store the entire training dataset, making it less memory-efficient for large datasets.</a:t>
            </a:r>
          </a:p>
        </p:txBody>
      </p:sp>
    </p:spTree>
    <p:extLst>
      <p:ext uri="{BB962C8B-B14F-4D97-AF65-F5344CB8AC3E}">
        <p14:creationId xmlns:p14="http://schemas.microsoft.com/office/powerpoint/2010/main" val="979955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C1C3D-3599-8613-3DC7-239C7E7BD7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D8D9B-3532-09DE-3201-EE78B3042A27}"/>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p:sp>
        <p:nvSpPr>
          <p:cNvPr id="3" name="Subtitle 2">
            <a:extLst>
              <a:ext uri="{FF2B5EF4-FFF2-40B4-BE49-F238E27FC236}">
                <a16:creationId xmlns:a16="http://schemas.microsoft.com/office/drawing/2014/main" id="{C40281CB-21B3-87AE-FB2E-76DEE75E7F56}"/>
              </a:ext>
            </a:extLst>
          </p:cNvPr>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Decision Trees</a:t>
            </a:r>
            <a:r>
              <a:rPr lang="en-US" sz="1800" dirty="0">
                <a:solidFill>
                  <a:schemeClr val="tx1"/>
                </a:solidFill>
                <a:latin typeface="Times New Roman" pitchFamily="18" charset="0"/>
                <a:cs typeface="Times New Roman" pitchFamily="18" charset="0"/>
              </a:rPr>
              <a:t> are a popular supervised machine learning algorithm used for both </a:t>
            </a:r>
            <a:r>
              <a:rPr lang="en-US" sz="1800" b="1" dirty="0">
                <a:solidFill>
                  <a:schemeClr val="tx1"/>
                </a:solidFill>
                <a:latin typeface="Times New Roman" pitchFamily="18" charset="0"/>
                <a:cs typeface="Times New Roman" pitchFamily="18" charset="0"/>
              </a:rPr>
              <a:t>classification</a:t>
            </a:r>
            <a:r>
              <a:rPr lang="en-US" sz="1800" dirty="0">
                <a:solidFill>
                  <a:schemeClr val="tx1"/>
                </a:solidFill>
                <a:latin typeface="Times New Roman" pitchFamily="18" charset="0"/>
                <a:cs typeface="Times New Roman" pitchFamily="18" charset="0"/>
              </a:rPr>
              <a:t> and regression tasks. They work by learning simple decision rules inferred from the data features to predict a target label. </a:t>
            </a:r>
          </a:p>
          <a:p>
            <a:pPr marL="285750" indent="-285750" algn="just">
              <a:lnSpc>
                <a:spcPct val="150000"/>
              </a:lnSpc>
              <a:buFont typeface="Arial" panose="020B0604020202020204" pitchFamily="34" charset="0"/>
              <a:buChar char="•"/>
            </a:pPr>
            <a:r>
              <a:rPr lang="en-US" sz="1800" dirty="0">
                <a:solidFill>
                  <a:schemeClr val="tx1"/>
                </a:solidFill>
                <a:latin typeface="Times New Roman" pitchFamily="18" charset="0"/>
                <a:cs typeface="Times New Roman" pitchFamily="18" charset="0"/>
              </a:rPr>
              <a:t>A Decision Tree is structured as a tree where each node represents a decision based on a feature of the data, and each branch represents an outcome of that decision.</a:t>
            </a:r>
          </a:p>
          <a:p>
            <a:pPr marL="285750" indent="-285750" algn="just">
              <a:lnSpc>
                <a:spcPct val="150000"/>
              </a:lnSpc>
              <a:buFont typeface="Arial" panose="020B0604020202020204" pitchFamily="34" charset="0"/>
              <a:buChar char="•"/>
            </a:pPr>
            <a:r>
              <a:rPr lang="en-US" sz="1800" dirty="0">
                <a:solidFill>
                  <a:schemeClr val="tx1"/>
                </a:solidFill>
                <a:latin typeface="Times New Roman" pitchFamily="18" charset="0"/>
                <a:cs typeface="Times New Roman" pitchFamily="18" charset="0"/>
              </a:rPr>
              <a:t>The root node is the topmost node, representing the first decision.</a:t>
            </a:r>
          </a:p>
          <a:p>
            <a:pPr marL="285750" indent="-285750" algn="just">
              <a:lnSpc>
                <a:spcPct val="150000"/>
              </a:lnSpc>
              <a:buFont typeface="Arial" panose="020B0604020202020204" pitchFamily="34" charset="0"/>
              <a:buChar char="•"/>
            </a:pPr>
            <a:r>
              <a:rPr lang="en-US" sz="1800" dirty="0">
                <a:solidFill>
                  <a:schemeClr val="tx1"/>
                </a:solidFill>
                <a:latin typeface="Times New Roman" pitchFamily="18" charset="0"/>
                <a:cs typeface="Times New Roman" pitchFamily="18" charset="0"/>
              </a:rPr>
              <a:t>The internal nodes are decision points, splitting based on feature values.</a:t>
            </a:r>
          </a:p>
          <a:p>
            <a:pPr marL="285750" indent="-285750" algn="just">
              <a:lnSpc>
                <a:spcPct val="150000"/>
              </a:lnSpc>
              <a:buFont typeface="Arial" panose="020B0604020202020204" pitchFamily="34" charset="0"/>
              <a:buChar char="•"/>
            </a:pPr>
            <a:r>
              <a:rPr lang="en-US" sz="1800" dirty="0">
                <a:solidFill>
                  <a:schemeClr val="tx1"/>
                </a:solidFill>
                <a:latin typeface="Times New Roman" pitchFamily="18" charset="0"/>
                <a:cs typeface="Times New Roman" pitchFamily="18" charset="0"/>
              </a:rPr>
              <a:t>Leaf nodes are the endpoints representing the final prediction or output.</a:t>
            </a:r>
          </a:p>
        </p:txBody>
      </p:sp>
    </p:spTree>
    <p:extLst>
      <p:ext uri="{BB962C8B-B14F-4D97-AF65-F5344CB8AC3E}">
        <p14:creationId xmlns:p14="http://schemas.microsoft.com/office/powerpoint/2010/main" val="1262064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7E31C-6104-8D07-7A91-321DD4B3E8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ED8F68-23DD-7B88-7117-6C5FA46A2D80}"/>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p:graphicFrame>
        <p:nvGraphicFramePr>
          <p:cNvPr id="4" name="Object 1024">
            <a:extLst>
              <a:ext uri="{FF2B5EF4-FFF2-40B4-BE49-F238E27FC236}">
                <a16:creationId xmlns:a16="http://schemas.microsoft.com/office/drawing/2014/main" id="{18005720-4F9D-8B5E-C4DF-1395E7CB816C}"/>
              </a:ext>
            </a:extLst>
          </p:cNvPr>
          <p:cNvGraphicFramePr>
            <a:graphicFrameLocks/>
          </p:cNvGraphicFramePr>
          <p:nvPr>
            <p:extLst>
              <p:ext uri="{D42A27DB-BD31-4B8C-83A1-F6EECF244321}">
                <p14:modId xmlns:p14="http://schemas.microsoft.com/office/powerpoint/2010/main" val="3316492392"/>
              </p:ext>
            </p:extLst>
          </p:nvPr>
        </p:nvGraphicFramePr>
        <p:xfrm>
          <a:off x="228600" y="990600"/>
          <a:ext cx="3951287" cy="3429000"/>
        </p:xfrm>
        <a:graphic>
          <a:graphicData uri="http://schemas.openxmlformats.org/presentationml/2006/ole">
            <mc:AlternateContent xmlns:mc="http://schemas.openxmlformats.org/markup-compatibility/2006">
              <mc:Choice xmlns:v="urn:schemas-microsoft-com:vml" Requires="v">
                <p:oleObj name="Worksheet" r:id="rId2" imgW="5772150" imgH="4457700" progId="Excel.Sheet.8">
                  <p:embed/>
                </p:oleObj>
              </mc:Choice>
              <mc:Fallback>
                <p:oleObj name="Worksheet" r:id="rId2" imgW="5772150" imgH="4457700" progId="Excel.Sheet.8">
                  <p:embed/>
                  <p:pic>
                    <p:nvPicPr>
                      <p:cNvPr id="5125" name="Object 1024">
                        <a:extLst>
                          <a:ext uri="{FF2B5EF4-FFF2-40B4-BE49-F238E27FC236}">
                            <a16:creationId xmlns:a16="http://schemas.microsoft.com/office/drawing/2014/main" id="{FCE77FEC-B384-9934-C8EA-8CA677F8971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990600"/>
                        <a:ext cx="3951287"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0" name="Picture 29">
            <a:extLst>
              <a:ext uri="{FF2B5EF4-FFF2-40B4-BE49-F238E27FC236}">
                <a16:creationId xmlns:a16="http://schemas.microsoft.com/office/drawing/2014/main" id="{5C554AE4-A212-9B1E-F597-563154E9E38C}"/>
              </a:ext>
            </a:extLst>
          </p:cNvPr>
          <p:cNvPicPr>
            <a:picLocks noChangeAspect="1"/>
          </p:cNvPicPr>
          <p:nvPr/>
        </p:nvPicPr>
        <p:blipFill>
          <a:blip r:embed="rId4"/>
          <a:stretch>
            <a:fillRect/>
          </a:stretch>
        </p:blipFill>
        <p:spPr>
          <a:xfrm>
            <a:off x="2728022" y="3543300"/>
            <a:ext cx="6224555" cy="3462828"/>
          </a:xfrm>
          <a:prstGeom prst="rect">
            <a:avLst/>
          </a:prstGeom>
        </p:spPr>
      </p:pic>
    </p:spTree>
    <p:extLst>
      <p:ext uri="{BB962C8B-B14F-4D97-AF65-F5344CB8AC3E}">
        <p14:creationId xmlns:p14="http://schemas.microsoft.com/office/powerpoint/2010/main" val="3844443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DF0C0-6689-7239-DC1A-7941304240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2F80D2-E7C0-AA3E-6DAF-4B2BA74AE19A}"/>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p:sp>
        <p:nvSpPr>
          <p:cNvPr id="3" name="Subtitle 2">
            <a:extLst>
              <a:ext uri="{FF2B5EF4-FFF2-40B4-BE49-F238E27FC236}">
                <a16:creationId xmlns:a16="http://schemas.microsoft.com/office/drawing/2014/main" id="{24CE82A3-2377-8F72-5D3B-11DA9B3DFA31}"/>
              </a:ext>
            </a:extLst>
          </p:cNvPr>
          <p:cNvSpPr>
            <a:spLocks noGrp="1"/>
          </p:cNvSpPr>
          <p:nvPr>
            <p:ph type="subTitle" idx="1"/>
          </p:nvPr>
        </p:nvSpPr>
        <p:spPr>
          <a:xfrm>
            <a:off x="685800" y="1371600"/>
            <a:ext cx="8229600" cy="2590800"/>
          </a:xfrm>
        </p:spPr>
        <p:txBody>
          <a:bodyPr>
            <a:normAutofit/>
          </a:bodyPr>
          <a:lstStyle/>
          <a:p>
            <a:pPr algn="just"/>
            <a:r>
              <a:rPr lang="en-US" sz="1800" b="1" dirty="0">
                <a:solidFill>
                  <a:schemeClr val="tx1"/>
                </a:solidFill>
                <a:latin typeface="Times New Roman" pitchFamily="18" charset="0"/>
                <a:cs typeface="Times New Roman" pitchFamily="18" charset="0"/>
              </a:rPr>
              <a:t>Basic algorithm (a greedy algorithm):</a:t>
            </a:r>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marL="285750" indent="-285750" algn="just">
              <a:buFont typeface="Arial" panose="020B0604020202020204" pitchFamily="34" charset="0"/>
              <a:buChar char="•"/>
            </a:pPr>
            <a:r>
              <a:rPr lang="en-US" sz="1700" dirty="0">
                <a:solidFill>
                  <a:schemeClr val="tx1"/>
                </a:solidFill>
                <a:latin typeface="Times New Roman" pitchFamily="18" charset="0"/>
                <a:cs typeface="Times New Roman" pitchFamily="18" charset="0"/>
              </a:rPr>
              <a:t>Tree is constructed in a </a:t>
            </a:r>
            <a:r>
              <a:rPr lang="en-US" sz="1700" dirty="0">
                <a:solidFill>
                  <a:srgbClr val="00B050"/>
                </a:solidFill>
                <a:latin typeface="Times New Roman" pitchFamily="18" charset="0"/>
                <a:cs typeface="Times New Roman" pitchFamily="18" charset="0"/>
              </a:rPr>
              <a:t>top-down recursive divide-and-conquer</a:t>
            </a:r>
            <a:r>
              <a:rPr lang="en-US" sz="1700" dirty="0">
                <a:solidFill>
                  <a:schemeClr val="tx1"/>
                </a:solidFill>
                <a:latin typeface="Times New Roman" pitchFamily="18" charset="0"/>
                <a:cs typeface="Times New Roman" pitchFamily="18" charset="0"/>
              </a:rPr>
              <a:t> manner</a:t>
            </a:r>
          </a:p>
          <a:p>
            <a:pPr marL="285750" indent="-285750" algn="just">
              <a:buFont typeface="Arial" panose="020B0604020202020204" pitchFamily="34" charset="0"/>
              <a:buChar char="•"/>
            </a:pPr>
            <a:r>
              <a:rPr lang="en-US" sz="1700" dirty="0">
                <a:solidFill>
                  <a:schemeClr val="tx1"/>
                </a:solidFill>
                <a:latin typeface="Times New Roman" pitchFamily="18" charset="0"/>
                <a:cs typeface="Times New Roman" pitchFamily="18" charset="0"/>
              </a:rPr>
              <a:t>At start, all the training examples are at the root</a:t>
            </a:r>
          </a:p>
          <a:p>
            <a:pPr marL="285750" indent="-285750" algn="just">
              <a:buFont typeface="Arial" panose="020B0604020202020204" pitchFamily="34" charset="0"/>
              <a:buChar char="•"/>
            </a:pPr>
            <a:r>
              <a:rPr lang="en-US" sz="1700" dirty="0">
                <a:solidFill>
                  <a:schemeClr val="tx1"/>
                </a:solidFill>
                <a:latin typeface="Times New Roman" pitchFamily="18" charset="0"/>
                <a:cs typeface="Times New Roman" pitchFamily="18" charset="0"/>
              </a:rPr>
              <a:t>Attributes are categorical (if continuous-valued, they are discretized in advance)</a:t>
            </a:r>
          </a:p>
          <a:p>
            <a:pPr marL="285750" indent="-285750" algn="just">
              <a:buFont typeface="Arial" panose="020B0604020202020204" pitchFamily="34" charset="0"/>
              <a:buChar char="•"/>
            </a:pPr>
            <a:r>
              <a:rPr lang="en-US" sz="1700" dirty="0">
                <a:solidFill>
                  <a:schemeClr val="tx1"/>
                </a:solidFill>
                <a:latin typeface="Times New Roman" pitchFamily="18" charset="0"/>
                <a:cs typeface="Times New Roman" pitchFamily="18" charset="0"/>
              </a:rPr>
              <a:t>Examples are partitioned recursively based on selected attributes</a:t>
            </a:r>
          </a:p>
          <a:p>
            <a:pPr marL="285750" indent="-285750" algn="just">
              <a:buFont typeface="Arial" panose="020B0604020202020204" pitchFamily="34" charset="0"/>
              <a:buChar char="•"/>
            </a:pPr>
            <a:r>
              <a:rPr lang="en-US" sz="1700" dirty="0">
                <a:solidFill>
                  <a:schemeClr val="tx1"/>
                </a:solidFill>
                <a:latin typeface="Times New Roman" pitchFamily="18" charset="0"/>
                <a:cs typeface="Times New Roman" pitchFamily="18" charset="0"/>
              </a:rPr>
              <a:t>Test attributes are selected based on a heuristic or statistical measure (e.g., </a:t>
            </a:r>
            <a:r>
              <a:rPr lang="en-US" sz="1700" dirty="0">
                <a:solidFill>
                  <a:srgbClr val="FF0000"/>
                </a:solidFill>
                <a:latin typeface="Times New Roman" pitchFamily="18" charset="0"/>
                <a:cs typeface="Times New Roman" pitchFamily="18" charset="0"/>
              </a:rPr>
              <a:t>information gain</a:t>
            </a:r>
            <a:r>
              <a:rPr lang="en-US" sz="1700" dirty="0">
                <a:solidFill>
                  <a:schemeClr val="tx1"/>
                </a:solidFill>
                <a:latin typeface="Times New Roman" pitchFamily="18" charset="0"/>
                <a:cs typeface="Times New Roman" pitchFamily="18" charset="0"/>
              </a:rPr>
              <a:t>)</a:t>
            </a:r>
          </a:p>
          <a:p>
            <a:pPr algn="just"/>
            <a:endParaRPr lang="en-US" sz="1800" b="1" dirty="0">
              <a:solidFill>
                <a:schemeClr val="tx1"/>
              </a:solidFill>
              <a:latin typeface="Times New Roman" pitchFamily="18" charset="0"/>
              <a:cs typeface="Times New Roman" pitchFamily="18" charset="0"/>
            </a:endParaRPr>
          </a:p>
        </p:txBody>
      </p:sp>
      <p:pic>
        <p:nvPicPr>
          <p:cNvPr id="30" name="Picture 29">
            <a:extLst>
              <a:ext uri="{FF2B5EF4-FFF2-40B4-BE49-F238E27FC236}">
                <a16:creationId xmlns:a16="http://schemas.microsoft.com/office/drawing/2014/main" id="{6599FD78-CAF7-CD77-710D-974A08890ACE}"/>
              </a:ext>
            </a:extLst>
          </p:cNvPr>
          <p:cNvPicPr>
            <a:picLocks noChangeAspect="1"/>
          </p:cNvPicPr>
          <p:nvPr/>
        </p:nvPicPr>
        <p:blipFill>
          <a:blip r:embed="rId2"/>
          <a:stretch>
            <a:fillRect/>
          </a:stretch>
        </p:blipFill>
        <p:spPr>
          <a:xfrm>
            <a:off x="2209800" y="3810000"/>
            <a:ext cx="5181600" cy="2882614"/>
          </a:xfrm>
          <a:prstGeom prst="rect">
            <a:avLst/>
          </a:prstGeom>
        </p:spPr>
      </p:pic>
    </p:spTree>
    <p:extLst>
      <p:ext uri="{BB962C8B-B14F-4D97-AF65-F5344CB8AC3E}">
        <p14:creationId xmlns:p14="http://schemas.microsoft.com/office/powerpoint/2010/main" val="5967361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C1C3D-3599-8613-3DC7-239C7E7BD7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D8D9B-3532-09DE-3201-EE78B3042A27}"/>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p:sp>
        <p:nvSpPr>
          <p:cNvPr id="3" name="Subtitle 2">
            <a:extLst>
              <a:ext uri="{FF2B5EF4-FFF2-40B4-BE49-F238E27FC236}">
                <a16:creationId xmlns:a16="http://schemas.microsoft.com/office/drawing/2014/main" id="{C40281CB-21B3-87AE-FB2E-76DEE75E7F56}"/>
              </a:ext>
            </a:extLst>
          </p:cNvPr>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ID3 (Iterative </a:t>
            </a:r>
            <a:r>
              <a:rPr lang="en-US" sz="1800" b="1" dirty="0" err="1">
                <a:solidFill>
                  <a:schemeClr val="tx1"/>
                </a:solidFill>
                <a:latin typeface="Times New Roman" pitchFamily="18" charset="0"/>
                <a:cs typeface="Times New Roman" pitchFamily="18" charset="0"/>
              </a:rPr>
              <a:t>Dichotomiser</a:t>
            </a:r>
            <a:r>
              <a:rPr lang="en-US" sz="1800" b="1" dirty="0">
                <a:solidFill>
                  <a:schemeClr val="tx1"/>
                </a:solidFill>
                <a:latin typeface="Times New Roman" pitchFamily="18" charset="0"/>
                <a:cs typeface="Times New Roman" pitchFamily="18" charset="0"/>
              </a:rPr>
              <a:t> 3) </a:t>
            </a:r>
            <a:r>
              <a:rPr lang="en-US" sz="1800" dirty="0">
                <a:solidFill>
                  <a:schemeClr val="tx1"/>
                </a:solidFill>
                <a:latin typeface="Times New Roman" pitchFamily="18" charset="0"/>
                <a:cs typeface="Times New Roman" pitchFamily="18" charset="0"/>
              </a:rPr>
              <a:t>is a classic algorithm used to construct a Decision Tree, primarily for classification tasks. It was developed by Ross Quinlan and serves as one of the earliest algorithms in Decision Tree-based models. </a:t>
            </a:r>
          </a:p>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D3 aims to create a Decision Tree by selecting the most </a:t>
            </a:r>
            <a:r>
              <a:rPr lang="en-US" sz="1800" b="1" dirty="0">
                <a:solidFill>
                  <a:schemeClr val="tx1"/>
                </a:solidFill>
                <a:latin typeface="Times New Roman" pitchFamily="18" charset="0"/>
                <a:cs typeface="Times New Roman" pitchFamily="18" charset="0"/>
              </a:rPr>
              <a:t>significant feature </a:t>
            </a:r>
            <a:r>
              <a:rPr lang="en-US" sz="1800" dirty="0">
                <a:solidFill>
                  <a:schemeClr val="tx1"/>
                </a:solidFill>
                <a:latin typeface="Times New Roman" pitchFamily="18" charset="0"/>
                <a:cs typeface="Times New Roman" pitchFamily="18" charset="0"/>
              </a:rPr>
              <a:t>at each step that best separates the data for classification.</a:t>
            </a:r>
          </a:p>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It does this by using </a:t>
            </a:r>
            <a:r>
              <a:rPr lang="en-US" sz="1800" b="1" dirty="0">
                <a:solidFill>
                  <a:schemeClr val="tx1"/>
                </a:solidFill>
                <a:latin typeface="Times New Roman" pitchFamily="18" charset="0"/>
                <a:cs typeface="Times New Roman" pitchFamily="18" charset="0"/>
              </a:rPr>
              <a:t>information gain </a:t>
            </a:r>
            <a:r>
              <a:rPr lang="en-US" sz="1800" dirty="0">
                <a:solidFill>
                  <a:schemeClr val="tx1"/>
                </a:solidFill>
                <a:latin typeface="Times New Roman" pitchFamily="18" charset="0"/>
                <a:cs typeface="Times New Roman" pitchFamily="18" charset="0"/>
              </a:rPr>
              <a:t>(based on entropy) as the criterion to determine the best feature to split on.</a:t>
            </a:r>
          </a:p>
          <a:p>
            <a:pPr marL="285750" indent="-285750" algn="just">
              <a:buFont typeface="Arial" pitchFamily="34" charset="0"/>
              <a:buChar char="•"/>
            </a:pPr>
            <a:endParaRPr lang="en-US"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Conditions for stopping partitioning:</a:t>
            </a:r>
          </a:p>
          <a:p>
            <a:pPr marL="285750" indent="-285750" algn="just">
              <a:buFont typeface="Arial" panose="020B0604020202020204" pitchFamily="34" charset="0"/>
              <a:buChar char="•"/>
            </a:pPr>
            <a:r>
              <a:rPr lang="en-US" sz="1800" dirty="0">
                <a:solidFill>
                  <a:schemeClr val="tx1"/>
                </a:solidFill>
                <a:latin typeface="Times New Roman" pitchFamily="18" charset="0"/>
                <a:cs typeface="Times New Roman" pitchFamily="18" charset="0"/>
              </a:rPr>
              <a:t>All records have the same target class (pure leaf node).</a:t>
            </a:r>
          </a:p>
          <a:p>
            <a:pPr marL="285750" indent="-285750" algn="just">
              <a:buFont typeface="Arial" panose="020B0604020202020204" pitchFamily="34" charset="0"/>
              <a:buChar char="•"/>
            </a:pPr>
            <a:r>
              <a:rPr lang="en-US" sz="1800" dirty="0">
                <a:solidFill>
                  <a:schemeClr val="tx1"/>
                </a:solidFill>
                <a:latin typeface="Times New Roman" pitchFamily="18" charset="0"/>
                <a:cs typeface="Times New Roman" pitchFamily="18" charset="0"/>
              </a:rPr>
              <a:t>No more features to split on (terminate as a leaf node).</a:t>
            </a:r>
          </a:p>
          <a:p>
            <a:pPr marL="285750" indent="-285750" algn="just">
              <a:buFont typeface="Arial" panose="020B0604020202020204" pitchFamily="34" charset="0"/>
              <a:buChar char="•"/>
            </a:pPr>
            <a:r>
              <a:rPr lang="en-US" sz="1800" dirty="0">
                <a:solidFill>
                  <a:schemeClr val="tx1"/>
                </a:solidFill>
                <a:latin typeface="Times New Roman" pitchFamily="18" charset="0"/>
                <a:cs typeface="Times New Roman" pitchFamily="18" charset="0"/>
              </a:rPr>
              <a:t>Reaching a specified maximum depth or minimum samples threshold to prevent </a:t>
            </a:r>
            <a:r>
              <a:rPr lang="en-US" sz="1800" dirty="0" err="1">
                <a:solidFill>
                  <a:schemeClr val="tx1"/>
                </a:solidFill>
                <a:latin typeface="Times New Roman" pitchFamily="18" charset="0"/>
                <a:cs typeface="Times New Roman" pitchFamily="18" charset="0"/>
              </a:rPr>
              <a:t>overfitting</a:t>
            </a:r>
            <a:r>
              <a:rPr lang="en-US" sz="1800" dirty="0">
                <a:solidFill>
                  <a:schemeClr val="tx1"/>
                </a:solidFill>
                <a:latin typeface="Times New Roman" pitchFamily="18" charset="0"/>
                <a:cs typeface="Times New Roman" pitchFamily="18" charset="0"/>
              </a:rPr>
              <a:t>.</a:t>
            </a:r>
            <a:endParaRPr lang="en-US" sz="18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9715188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8E897-C3C6-A4CD-F1E6-698A6985CF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244A17-DE37-B8C0-BA6D-944D80AF1340}"/>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64FEA187-ACEB-8A44-D112-8C02DEADB13B}"/>
                  </a:ext>
                </a:extLst>
              </p:cNvPr>
              <p:cNvSpPr>
                <a:spLocks noGrp="1"/>
              </p:cNvSpPr>
              <p:nvPr>
                <p:ph type="subTitle" idx="1"/>
              </p:nvPr>
            </p:nvSpPr>
            <p:spPr>
              <a:xfrm>
                <a:off x="685800" y="1371600"/>
                <a:ext cx="3951287" cy="5257800"/>
              </a:xfrm>
            </p:spPr>
            <p:txBody>
              <a:bodyPr>
                <a:normAutofit/>
              </a:bodyPr>
              <a:lstStyle/>
              <a:p>
                <a:pPr algn="just"/>
                <a:r>
                  <a:rPr lang="en-US" sz="1800" b="1" dirty="0">
                    <a:solidFill>
                      <a:schemeClr val="tx1"/>
                    </a:solidFill>
                    <a:latin typeface="Times New Roman" pitchFamily="18" charset="0"/>
                    <a:cs typeface="Times New Roman" pitchFamily="18" charset="0"/>
                  </a:rPr>
                  <a:t>Attribute Selection Measure: Information Gain</a:t>
                </a:r>
              </a:p>
              <a:p>
                <a:pPr algn="just"/>
                <a:endParaRPr lang="en-US" sz="1800" b="1" dirty="0">
                  <a:solidFill>
                    <a:schemeClr val="tx1"/>
                  </a:solidFill>
                  <a:latin typeface="Times New Roman" pitchFamily="18" charset="0"/>
                  <a:cs typeface="Times New Roman" pitchFamily="18" charset="0"/>
                </a:endParaRPr>
              </a:p>
              <a:p>
                <a:pPr algn="just"/>
                <a14:m>
                  <m:oMath xmlns:m="http://schemas.openxmlformats.org/officeDocument/2006/math">
                    <m:r>
                      <a:rPr lang="en-US" sz="1800" b="1" i="1" dirty="0" smtClean="0">
                        <a:solidFill>
                          <a:schemeClr val="tx1"/>
                        </a:solidFill>
                        <a:latin typeface="Cambria Math" panose="02040503050406030204" pitchFamily="18" charset="0"/>
                        <a:cs typeface="Times New Roman" pitchFamily="18" charset="0"/>
                      </a:rPr>
                      <m:t>𝑫</m:t>
                    </m:r>
                  </m:oMath>
                </a14:m>
                <a:r>
                  <a:rPr lang="en-US" sz="1800" dirty="0">
                    <a:solidFill>
                      <a:schemeClr val="tx1"/>
                    </a:solidFill>
                    <a:latin typeface="Times New Roman" pitchFamily="18" charset="0"/>
                    <a:cs typeface="Times New Roman" pitchFamily="18" charset="0"/>
                  </a:rPr>
                  <a:t> = set of data instances</a:t>
                </a:r>
              </a:p>
              <a:p>
                <a:pPr algn="just"/>
                <a14:m>
                  <m:oMath xmlns:m="http://schemas.openxmlformats.org/officeDocument/2006/math">
                    <m:d>
                      <m:dPr>
                        <m:begChr m:val="|"/>
                        <m:endChr m:val="|"/>
                        <m:ctrlPr>
                          <a:rPr lang="en-US" sz="1800" b="1" i="1" dirty="0" smtClean="0">
                            <a:solidFill>
                              <a:schemeClr val="tx1"/>
                            </a:solidFill>
                            <a:latin typeface="Cambria Math" panose="02040503050406030204" pitchFamily="18" charset="0"/>
                            <a:cs typeface="Times New Roman" pitchFamily="18" charset="0"/>
                          </a:rPr>
                        </m:ctrlPr>
                      </m:dPr>
                      <m:e>
                        <m:r>
                          <a:rPr lang="en-GB" sz="1800" b="1" i="1" dirty="0" smtClean="0">
                            <a:solidFill>
                              <a:schemeClr val="tx1"/>
                            </a:solidFill>
                            <a:latin typeface="Cambria Math" panose="02040503050406030204" pitchFamily="18" charset="0"/>
                            <a:cs typeface="Times New Roman" pitchFamily="18" charset="0"/>
                          </a:rPr>
                          <m:t>𝑫</m:t>
                        </m:r>
                      </m:e>
                    </m:d>
                  </m:oMath>
                </a14:m>
                <a:r>
                  <a:rPr lang="en-US" sz="1800" b="1" dirty="0">
                    <a:solidFill>
                      <a:schemeClr val="tx1"/>
                    </a:solidFill>
                    <a:latin typeface="Times New Roman" pitchFamily="18" charset="0"/>
                    <a:cs typeface="Times New Roman" pitchFamily="18" charset="0"/>
                  </a:rPr>
                  <a:t> </a:t>
                </a:r>
                <a:r>
                  <a:rPr lang="en-US" sz="1800" dirty="0">
                    <a:solidFill>
                      <a:schemeClr val="tx1"/>
                    </a:solidFill>
                    <a:latin typeface="Times New Roman" pitchFamily="18" charset="0"/>
                    <a:cs typeface="Times New Roman" pitchFamily="18" charset="0"/>
                  </a:rPr>
                  <a:t>= number of data instances (14)</a:t>
                </a:r>
              </a:p>
              <a:p>
                <a:pPr algn="just"/>
                <a:endParaRPr lang="en-US" sz="1800" dirty="0">
                  <a:solidFill>
                    <a:schemeClr val="tx1"/>
                  </a:solidFill>
                  <a:latin typeface="Times New Roman" pitchFamily="18" charset="0"/>
                  <a:cs typeface="Times New Roman" pitchFamily="18" charset="0"/>
                </a:endParaRPr>
              </a:p>
              <a:p>
                <a:pPr algn="just"/>
                <a14:m>
                  <m:oMath xmlns:m="http://schemas.openxmlformats.org/officeDocument/2006/math">
                    <m:sSub>
                      <m:sSubPr>
                        <m:ctrlPr>
                          <a:rPr lang="en-US" sz="1800" b="1" i="1" smtClean="0">
                            <a:solidFill>
                              <a:schemeClr val="tx1"/>
                            </a:solidFill>
                            <a:latin typeface="Cambria Math" panose="02040503050406030204" pitchFamily="18" charset="0"/>
                            <a:cs typeface="Times New Roman" pitchFamily="18" charset="0"/>
                          </a:rPr>
                        </m:ctrlPr>
                      </m:sSubPr>
                      <m:e>
                        <m:r>
                          <a:rPr lang="en-GB" sz="1800" b="1" i="1" smtClean="0">
                            <a:solidFill>
                              <a:schemeClr val="tx1"/>
                            </a:solidFill>
                            <a:latin typeface="Cambria Math" panose="02040503050406030204" pitchFamily="18" charset="0"/>
                            <a:cs typeface="Times New Roman" pitchFamily="18" charset="0"/>
                          </a:rPr>
                          <m:t>𝒑</m:t>
                        </m:r>
                      </m:e>
                      <m:sub>
                        <m:r>
                          <a:rPr lang="en-GB" sz="1800" b="1" i="1" smtClean="0">
                            <a:solidFill>
                              <a:schemeClr val="tx1"/>
                            </a:solidFill>
                            <a:latin typeface="Cambria Math" panose="02040503050406030204" pitchFamily="18" charset="0"/>
                            <a:cs typeface="Times New Roman" pitchFamily="18" charset="0"/>
                          </a:rPr>
                          <m:t>𝒊</m:t>
                        </m:r>
                      </m:sub>
                    </m:sSub>
                  </m:oMath>
                </a14:m>
                <a:r>
                  <a:rPr lang="en-US" sz="1800" dirty="0">
                    <a:solidFill>
                      <a:schemeClr val="tx1"/>
                    </a:solidFill>
                    <a:latin typeface="Times New Roman" pitchFamily="18" charset="0"/>
                    <a:cs typeface="Times New Roman" pitchFamily="18" charset="0"/>
                  </a:rPr>
                  <a:t>=the probability that an arbitrary tuple in </a:t>
                </a:r>
                <a14:m>
                  <m:oMath xmlns:m="http://schemas.openxmlformats.org/officeDocument/2006/math">
                    <m:r>
                      <a:rPr lang="en-US" sz="1800" b="1" i="1" dirty="0" smtClean="0">
                        <a:solidFill>
                          <a:schemeClr val="tx1"/>
                        </a:solidFill>
                        <a:latin typeface="Cambria Math" panose="02040503050406030204" pitchFamily="18" charset="0"/>
                        <a:cs typeface="Times New Roman" pitchFamily="18" charset="0"/>
                      </a:rPr>
                      <m:t>𝑫</m:t>
                    </m:r>
                  </m:oMath>
                </a14:m>
                <a:r>
                  <a:rPr lang="en-US" sz="1800" dirty="0">
                    <a:solidFill>
                      <a:schemeClr val="tx1"/>
                    </a:solidFill>
                    <a:latin typeface="Times New Roman" pitchFamily="18" charset="0"/>
                    <a:cs typeface="Times New Roman" pitchFamily="18" charset="0"/>
                  </a:rPr>
                  <a:t> belongs to class </a:t>
                </a:r>
                <a14:m>
                  <m:oMath xmlns:m="http://schemas.openxmlformats.org/officeDocument/2006/math">
                    <m:sSub>
                      <m:sSubPr>
                        <m:ctrlPr>
                          <a:rPr lang="en-US" sz="1800" b="1" i="1" smtClean="0">
                            <a:solidFill>
                              <a:schemeClr val="tx1"/>
                            </a:solidFill>
                            <a:latin typeface="Cambria Math" panose="02040503050406030204" pitchFamily="18" charset="0"/>
                            <a:cs typeface="Times New Roman" pitchFamily="18" charset="0"/>
                          </a:rPr>
                        </m:ctrlPr>
                      </m:sSubPr>
                      <m:e>
                        <m:r>
                          <a:rPr lang="en-GB" sz="1800" b="1" i="1" smtClean="0">
                            <a:solidFill>
                              <a:schemeClr val="tx1"/>
                            </a:solidFill>
                            <a:latin typeface="Cambria Math" panose="02040503050406030204" pitchFamily="18" charset="0"/>
                            <a:cs typeface="Times New Roman" pitchFamily="18" charset="0"/>
                          </a:rPr>
                          <m:t>𝑪</m:t>
                        </m:r>
                      </m:e>
                      <m:sub>
                        <m:r>
                          <a:rPr lang="en-GB" sz="1800" b="1" i="1" smtClean="0">
                            <a:solidFill>
                              <a:schemeClr val="tx1"/>
                            </a:solidFill>
                            <a:latin typeface="Cambria Math" panose="02040503050406030204" pitchFamily="18" charset="0"/>
                            <a:cs typeface="Times New Roman" pitchFamily="18" charset="0"/>
                          </a:rPr>
                          <m:t>𝒊</m:t>
                        </m:r>
                      </m:sub>
                    </m:sSub>
                  </m:oMath>
                </a14:m>
                <a:endParaRPr lang="en-US" sz="1800" b="1"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US" sz="1800" b="1" i="1" smtClean="0">
                              <a:solidFill>
                                <a:schemeClr val="tx1"/>
                              </a:solidFill>
                              <a:latin typeface="Cambria Math" panose="02040503050406030204" pitchFamily="18" charset="0"/>
                              <a:cs typeface="Times New Roman" pitchFamily="18" charset="0"/>
                            </a:rPr>
                          </m:ctrlPr>
                        </m:sSubPr>
                        <m:e>
                          <m:r>
                            <a:rPr lang="en-GB" sz="1800" b="1" i="1" smtClean="0">
                              <a:solidFill>
                                <a:schemeClr val="tx1"/>
                              </a:solidFill>
                              <a:latin typeface="Cambria Math" panose="02040503050406030204" pitchFamily="18" charset="0"/>
                              <a:cs typeface="Times New Roman" pitchFamily="18" charset="0"/>
                            </a:rPr>
                            <m:t>𝒑</m:t>
                          </m:r>
                        </m:e>
                        <m:sub>
                          <m:r>
                            <a:rPr lang="en-GB" sz="1800" b="1" i="1" smtClean="0">
                              <a:solidFill>
                                <a:schemeClr val="tx1"/>
                              </a:solidFill>
                              <a:latin typeface="Cambria Math" panose="02040503050406030204" pitchFamily="18" charset="0"/>
                              <a:cs typeface="Times New Roman" pitchFamily="18" charset="0"/>
                            </a:rPr>
                            <m:t>𝒊</m:t>
                          </m:r>
                        </m:sub>
                      </m:sSub>
                      <m:r>
                        <a:rPr lang="en-GB" sz="1800" b="1" i="1" smtClean="0">
                          <a:solidFill>
                            <a:schemeClr val="tx1"/>
                          </a:solidFill>
                          <a:latin typeface="Cambria Math" panose="02040503050406030204" pitchFamily="18" charset="0"/>
                          <a:cs typeface="Times New Roman" pitchFamily="18" charset="0"/>
                        </a:rPr>
                        <m:t>=</m:t>
                      </m:r>
                      <m:f>
                        <m:fPr>
                          <m:ctrlPr>
                            <a:rPr lang="en-GB" sz="1800" b="1" i="1" smtClean="0">
                              <a:solidFill>
                                <a:schemeClr val="tx1"/>
                              </a:solidFill>
                              <a:latin typeface="Cambria Math" panose="02040503050406030204" pitchFamily="18" charset="0"/>
                              <a:cs typeface="Times New Roman" pitchFamily="18" charset="0"/>
                            </a:rPr>
                          </m:ctrlPr>
                        </m:fPr>
                        <m:num>
                          <m:d>
                            <m:dPr>
                              <m:begChr m:val="|"/>
                              <m:endChr m:val="|"/>
                              <m:ctrlPr>
                                <a:rPr lang="en-GB" sz="1800" b="1" i="1" smtClean="0">
                                  <a:solidFill>
                                    <a:schemeClr val="tx1"/>
                                  </a:solidFill>
                                  <a:latin typeface="Cambria Math" panose="02040503050406030204" pitchFamily="18" charset="0"/>
                                  <a:cs typeface="Times New Roman" pitchFamily="18" charset="0"/>
                                </a:rPr>
                              </m:ctrlPr>
                            </m:dPr>
                            <m:e>
                              <m:sSub>
                                <m:sSubPr>
                                  <m:ctrlPr>
                                    <a:rPr lang="en-GB" sz="1800" b="1" i="1" smtClean="0">
                                      <a:solidFill>
                                        <a:schemeClr val="tx1"/>
                                      </a:solidFill>
                                      <a:latin typeface="Cambria Math" panose="02040503050406030204" pitchFamily="18" charset="0"/>
                                      <a:cs typeface="Times New Roman" pitchFamily="18" charset="0"/>
                                    </a:rPr>
                                  </m:ctrlPr>
                                </m:sSubPr>
                                <m:e>
                                  <m:r>
                                    <a:rPr lang="en-GB" sz="1800" b="1" i="1" smtClean="0">
                                      <a:solidFill>
                                        <a:schemeClr val="tx1"/>
                                      </a:solidFill>
                                      <a:latin typeface="Cambria Math" panose="02040503050406030204" pitchFamily="18" charset="0"/>
                                      <a:cs typeface="Times New Roman" pitchFamily="18" charset="0"/>
                                    </a:rPr>
                                    <m:t>𝑪</m:t>
                                  </m:r>
                                </m:e>
                                <m:sub>
                                  <m:r>
                                    <a:rPr lang="en-GB" sz="1800" b="1" i="1" smtClean="0">
                                      <a:solidFill>
                                        <a:schemeClr val="tx1"/>
                                      </a:solidFill>
                                      <a:latin typeface="Cambria Math" panose="02040503050406030204" pitchFamily="18" charset="0"/>
                                      <a:cs typeface="Times New Roman" pitchFamily="18" charset="0"/>
                                    </a:rPr>
                                    <m:t>𝒊</m:t>
                                  </m:r>
                                  <m:r>
                                    <a:rPr lang="en-GB" sz="1800" b="1" i="1" smtClean="0">
                                      <a:solidFill>
                                        <a:schemeClr val="tx1"/>
                                      </a:solidFill>
                                      <a:latin typeface="Cambria Math" panose="02040503050406030204" pitchFamily="18" charset="0"/>
                                      <a:cs typeface="Times New Roman" pitchFamily="18" charset="0"/>
                                    </a:rPr>
                                    <m:t>,</m:t>
                                  </m:r>
                                  <m:r>
                                    <a:rPr lang="en-GB" sz="1800" b="1" i="1" smtClean="0">
                                      <a:solidFill>
                                        <a:schemeClr val="tx1"/>
                                      </a:solidFill>
                                      <a:latin typeface="Cambria Math" panose="02040503050406030204" pitchFamily="18" charset="0"/>
                                      <a:cs typeface="Times New Roman" pitchFamily="18" charset="0"/>
                                    </a:rPr>
                                    <m:t>𝑫</m:t>
                                  </m:r>
                                </m:sub>
                              </m:sSub>
                            </m:e>
                          </m:d>
                        </m:num>
                        <m:den>
                          <m:d>
                            <m:dPr>
                              <m:begChr m:val="|"/>
                              <m:endChr m:val="|"/>
                              <m:ctrlPr>
                                <a:rPr lang="en-GB" sz="1800" b="1" i="1" smtClean="0">
                                  <a:solidFill>
                                    <a:schemeClr val="tx1"/>
                                  </a:solidFill>
                                  <a:latin typeface="Cambria Math" panose="02040503050406030204" pitchFamily="18" charset="0"/>
                                  <a:cs typeface="Times New Roman" pitchFamily="18" charset="0"/>
                                </a:rPr>
                              </m:ctrlPr>
                            </m:dPr>
                            <m:e>
                              <m:r>
                                <a:rPr lang="en-GB" sz="1800" b="1" i="1" smtClean="0">
                                  <a:solidFill>
                                    <a:schemeClr val="tx1"/>
                                  </a:solidFill>
                                  <a:latin typeface="Cambria Math" panose="02040503050406030204" pitchFamily="18" charset="0"/>
                                  <a:cs typeface="Times New Roman" pitchFamily="18" charset="0"/>
                                </a:rPr>
                                <m:t>𝑫</m:t>
                              </m:r>
                            </m:e>
                          </m:d>
                        </m:den>
                      </m:f>
                    </m:oMath>
                  </m:oMathPara>
                </a14:m>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Example: class yes is 1</a:t>
                </a:r>
              </a:p>
              <a:p>
                <a:pPr algn="just"/>
                <a14:m>
                  <m:oMathPara xmlns:m="http://schemas.openxmlformats.org/officeDocument/2006/math">
                    <m:oMathParaPr>
                      <m:jc m:val="left"/>
                    </m:oMathParaPr>
                    <m:oMath xmlns:m="http://schemas.openxmlformats.org/officeDocument/2006/math">
                      <m:sSub>
                        <m:sSubPr>
                          <m:ctrlPr>
                            <a:rPr lang="en-US" sz="1800" b="1" i="1" smtClean="0">
                              <a:solidFill>
                                <a:schemeClr val="tx1"/>
                              </a:solidFill>
                              <a:latin typeface="Cambria Math" panose="02040503050406030204" pitchFamily="18" charset="0"/>
                              <a:cs typeface="Times New Roman" pitchFamily="18" charset="0"/>
                            </a:rPr>
                          </m:ctrlPr>
                        </m:sSubPr>
                        <m:e>
                          <m:r>
                            <a:rPr lang="en-GB" sz="1800" b="1" i="1" smtClean="0">
                              <a:solidFill>
                                <a:schemeClr val="tx1"/>
                              </a:solidFill>
                              <a:latin typeface="Cambria Math" panose="02040503050406030204" pitchFamily="18" charset="0"/>
                              <a:cs typeface="Times New Roman" pitchFamily="18" charset="0"/>
                            </a:rPr>
                            <m:t>𝒑</m:t>
                          </m:r>
                        </m:e>
                        <m:sub>
                          <m:r>
                            <a:rPr lang="en-GB" sz="1800" b="1" i="1" smtClean="0">
                              <a:solidFill>
                                <a:schemeClr val="tx1"/>
                              </a:solidFill>
                              <a:latin typeface="Cambria Math" panose="02040503050406030204" pitchFamily="18" charset="0"/>
                              <a:cs typeface="Times New Roman" pitchFamily="18" charset="0"/>
                            </a:rPr>
                            <m:t>𝟏</m:t>
                          </m:r>
                        </m:sub>
                      </m:sSub>
                      <m:r>
                        <a:rPr lang="en-GB" sz="1800" b="1" i="1" smtClean="0">
                          <a:solidFill>
                            <a:schemeClr val="tx1"/>
                          </a:solidFill>
                          <a:latin typeface="Cambria Math" panose="02040503050406030204" pitchFamily="18" charset="0"/>
                          <a:cs typeface="Times New Roman" pitchFamily="18" charset="0"/>
                        </a:rPr>
                        <m:t>=</m:t>
                      </m:r>
                      <m:f>
                        <m:fPr>
                          <m:ctrlPr>
                            <a:rPr lang="en-GB" sz="1800" b="1" i="1" smtClean="0">
                              <a:solidFill>
                                <a:schemeClr val="tx1"/>
                              </a:solidFill>
                              <a:latin typeface="Cambria Math" panose="02040503050406030204" pitchFamily="18" charset="0"/>
                              <a:cs typeface="Times New Roman" pitchFamily="18" charset="0"/>
                            </a:rPr>
                          </m:ctrlPr>
                        </m:fPr>
                        <m:num>
                          <m:d>
                            <m:dPr>
                              <m:begChr m:val="|"/>
                              <m:endChr m:val="|"/>
                              <m:ctrlPr>
                                <a:rPr lang="en-GB" sz="1800" b="1" i="1" smtClean="0">
                                  <a:solidFill>
                                    <a:schemeClr val="tx1"/>
                                  </a:solidFill>
                                  <a:latin typeface="Cambria Math" panose="02040503050406030204" pitchFamily="18" charset="0"/>
                                  <a:cs typeface="Times New Roman" pitchFamily="18" charset="0"/>
                                </a:rPr>
                              </m:ctrlPr>
                            </m:dPr>
                            <m:e>
                              <m:sSub>
                                <m:sSubPr>
                                  <m:ctrlPr>
                                    <a:rPr lang="en-GB" sz="1800" b="1" i="1" smtClean="0">
                                      <a:solidFill>
                                        <a:schemeClr val="tx1"/>
                                      </a:solidFill>
                                      <a:latin typeface="Cambria Math" panose="02040503050406030204" pitchFamily="18" charset="0"/>
                                      <a:cs typeface="Times New Roman" pitchFamily="18" charset="0"/>
                                    </a:rPr>
                                  </m:ctrlPr>
                                </m:sSubPr>
                                <m:e>
                                  <m:r>
                                    <a:rPr lang="en-GB" sz="1800" b="1" i="1" smtClean="0">
                                      <a:solidFill>
                                        <a:schemeClr val="tx1"/>
                                      </a:solidFill>
                                      <a:latin typeface="Cambria Math" panose="02040503050406030204" pitchFamily="18" charset="0"/>
                                      <a:cs typeface="Times New Roman" pitchFamily="18" charset="0"/>
                                    </a:rPr>
                                    <m:t>𝑪</m:t>
                                  </m:r>
                                </m:e>
                                <m:sub>
                                  <m:r>
                                    <a:rPr lang="en-GB" sz="1800" b="1" i="1" smtClean="0">
                                      <a:solidFill>
                                        <a:schemeClr val="tx1"/>
                                      </a:solidFill>
                                      <a:latin typeface="Cambria Math" panose="02040503050406030204" pitchFamily="18" charset="0"/>
                                      <a:cs typeface="Times New Roman" pitchFamily="18" charset="0"/>
                                    </a:rPr>
                                    <m:t>𝟏</m:t>
                                  </m:r>
                                  <m:r>
                                    <a:rPr lang="en-GB" sz="1800" b="1" i="1" smtClean="0">
                                      <a:solidFill>
                                        <a:schemeClr val="tx1"/>
                                      </a:solidFill>
                                      <a:latin typeface="Cambria Math" panose="02040503050406030204" pitchFamily="18" charset="0"/>
                                      <a:cs typeface="Times New Roman" pitchFamily="18" charset="0"/>
                                    </a:rPr>
                                    <m:t>,</m:t>
                                  </m:r>
                                  <m:r>
                                    <a:rPr lang="en-GB" sz="1800" b="1" i="1" smtClean="0">
                                      <a:solidFill>
                                        <a:schemeClr val="tx1"/>
                                      </a:solidFill>
                                      <a:latin typeface="Cambria Math" panose="02040503050406030204" pitchFamily="18" charset="0"/>
                                      <a:cs typeface="Times New Roman" pitchFamily="18" charset="0"/>
                                    </a:rPr>
                                    <m:t>𝑫</m:t>
                                  </m:r>
                                </m:sub>
                              </m:sSub>
                            </m:e>
                          </m:d>
                        </m:num>
                        <m:den>
                          <m:d>
                            <m:dPr>
                              <m:begChr m:val="|"/>
                              <m:endChr m:val="|"/>
                              <m:ctrlPr>
                                <a:rPr lang="en-GB" sz="1800" b="1" i="1" smtClean="0">
                                  <a:solidFill>
                                    <a:schemeClr val="tx1"/>
                                  </a:solidFill>
                                  <a:latin typeface="Cambria Math" panose="02040503050406030204" pitchFamily="18" charset="0"/>
                                  <a:cs typeface="Times New Roman" pitchFamily="18" charset="0"/>
                                </a:rPr>
                              </m:ctrlPr>
                            </m:dPr>
                            <m:e>
                              <m:r>
                                <a:rPr lang="en-GB" sz="1800" b="1" i="1" smtClean="0">
                                  <a:solidFill>
                                    <a:schemeClr val="tx1"/>
                                  </a:solidFill>
                                  <a:latin typeface="Cambria Math" panose="02040503050406030204" pitchFamily="18" charset="0"/>
                                  <a:cs typeface="Times New Roman" pitchFamily="18" charset="0"/>
                                </a:rPr>
                                <m:t>𝑫</m:t>
                              </m:r>
                            </m:e>
                          </m:d>
                        </m:den>
                      </m:f>
                      <m:r>
                        <a:rPr lang="en-GB" sz="1800" b="1" i="1" smtClean="0">
                          <a:solidFill>
                            <a:schemeClr val="tx1"/>
                          </a:solidFill>
                          <a:latin typeface="Cambria Math" panose="02040503050406030204" pitchFamily="18" charset="0"/>
                          <a:cs typeface="Times New Roman" pitchFamily="18" charset="0"/>
                        </a:rPr>
                        <m:t>=</m:t>
                      </m:r>
                      <m:f>
                        <m:fPr>
                          <m:ctrlPr>
                            <a:rPr lang="en-GB" sz="1800" b="1" i="1" smtClean="0">
                              <a:solidFill>
                                <a:schemeClr val="tx1"/>
                              </a:solidFill>
                              <a:latin typeface="Cambria Math" panose="02040503050406030204" pitchFamily="18" charset="0"/>
                              <a:cs typeface="Times New Roman" pitchFamily="18" charset="0"/>
                            </a:rPr>
                          </m:ctrlPr>
                        </m:fPr>
                        <m:num>
                          <m:r>
                            <a:rPr lang="en-GB" sz="1800" b="1" i="1" smtClean="0">
                              <a:solidFill>
                                <a:schemeClr val="tx1"/>
                              </a:solidFill>
                              <a:latin typeface="Cambria Math" panose="02040503050406030204" pitchFamily="18" charset="0"/>
                              <a:cs typeface="Times New Roman" pitchFamily="18" charset="0"/>
                            </a:rPr>
                            <m:t>𝟗</m:t>
                          </m:r>
                        </m:num>
                        <m:den>
                          <m:r>
                            <a:rPr lang="en-GB" sz="1800" b="1" i="1" smtClean="0">
                              <a:solidFill>
                                <a:schemeClr val="tx1"/>
                              </a:solidFill>
                              <a:latin typeface="Cambria Math" panose="02040503050406030204" pitchFamily="18" charset="0"/>
                              <a:cs typeface="Times New Roman" pitchFamily="18" charset="0"/>
                            </a:rPr>
                            <m:t>𝟏𝟒</m:t>
                          </m:r>
                        </m:den>
                      </m:f>
                    </m:oMath>
                  </m:oMathPara>
                </a14:m>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US" sz="1800" b="1" i="1" smtClean="0">
                              <a:solidFill>
                                <a:schemeClr val="tx1"/>
                              </a:solidFill>
                              <a:latin typeface="Cambria Math" panose="02040503050406030204" pitchFamily="18" charset="0"/>
                              <a:cs typeface="Times New Roman" pitchFamily="18" charset="0"/>
                            </a:rPr>
                          </m:ctrlPr>
                        </m:sSubPr>
                        <m:e>
                          <m:r>
                            <a:rPr lang="en-GB" sz="1800" b="1" i="1" smtClean="0">
                              <a:solidFill>
                                <a:schemeClr val="tx1"/>
                              </a:solidFill>
                              <a:latin typeface="Cambria Math" panose="02040503050406030204" pitchFamily="18" charset="0"/>
                              <a:cs typeface="Times New Roman" pitchFamily="18" charset="0"/>
                            </a:rPr>
                            <m:t>𝒑</m:t>
                          </m:r>
                        </m:e>
                        <m:sub>
                          <m:r>
                            <a:rPr lang="en-GB" sz="1800" b="1" i="1" smtClean="0">
                              <a:solidFill>
                                <a:schemeClr val="tx1"/>
                              </a:solidFill>
                              <a:latin typeface="Cambria Math" panose="02040503050406030204" pitchFamily="18" charset="0"/>
                              <a:cs typeface="Times New Roman" pitchFamily="18" charset="0"/>
                            </a:rPr>
                            <m:t>𝟐</m:t>
                          </m:r>
                        </m:sub>
                      </m:sSub>
                      <m:r>
                        <a:rPr lang="en-GB" sz="1800" b="1" i="1" smtClean="0">
                          <a:solidFill>
                            <a:schemeClr val="tx1"/>
                          </a:solidFill>
                          <a:latin typeface="Cambria Math" panose="02040503050406030204" pitchFamily="18" charset="0"/>
                          <a:cs typeface="Times New Roman" pitchFamily="18" charset="0"/>
                        </a:rPr>
                        <m:t>=</m:t>
                      </m:r>
                      <m:f>
                        <m:fPr>
                          <m:ctrlPr>
                            <a:rPr lang="en-GB" sz="1800" b="1" i="1" smtClean="0">
                              <a:solidFill>
                                <a:schemeClr val="tx1"/>
                              </a:solidFill>
                              <a:latin typeface="Cambria Math" panose="02040503050406030204" pitchFamily="18" charset="0"/>
                              <a:cs typeface="Times New Roman" pitchFamily="18" charset="0"/>
                            </a:rPr>
                          </m:ctrlPr>
                        </m:fPr>
                        <m:num>
                          <m:d>
                            <m:dPr>
                              <m:begChr m:val="|"/>
                              <m:endChr m:val="|"/>
                              <m:ctrlPr>
                                <a:rPr lang="en-GB" sz="1800" b="1" i="1" smtClean="0">
                                  <a:solidFill>
                                    <a:schemeClr val="tx1"/>
                                  </a:solidFill>
                                  <a:latin typeface="Cambria Math" panose="02040503050406030204" pitchFamily="18" charset="0"/>
                                  <a:cs typeface="Times New Roman" pitchFamily="18" charset="0"/>
                                </a:rPr>
                              </m:ctrlPr>
                            </m:dPr>
                            <m:e>
                              <m:sSub>
                                <m:sSubPr>
                                  <m:ctrlPr>
                                    <a:rPr lang="en-GB" sz="1800" b="1" i="1" smtClean="0">
                                      <a:solidFill>
                                        <a:schemeClr val="tx1"/>
                                      </a:solidFill>
                                      <a:latin typeface="Cambria Math" panose="02040503050406030204" pitchFamily="18" charset="0"/>
                                      <a:cs typeface="Times New Roman" pitchFamily="18" charset="0"/>
                                    </a:rPr>
                                  </m:ctrlPr>
                                </m:sSubPr>
                                <m:e>
                                  <m:r>
                                    <a:rPr lang="en-GB" sz="1800" b="1" i="1" smtClean="0">
                                      <a:solidFill>
                                        <a:schemeClr val="tx1"/>
                                      </a:solidFill>
                                      <a:latin typeface="Cambria Math" panose="02040503050406030204" pitchFamily="18" charset="0"/>
                                      <a:cs typeface="Times New Roman" pitchFamily="18" charset="0"/>
                                    </a:rPr>
                                    <m:t>𝑪</m:t>
                                  </m:r>
                                </m:e>
                                <m:sub>
                                  <m:r>
                                    <a:rPr lang="en-GB" sz="1800" b="1" i="1" smtClean="0">
                                      <a:solidFill>
                                        <a:schemeClr val="tx1"/>
                                      </a:solidFill>
                                      <a:latin typeface="Cambria Math" panose="02040503050406030204" pitchFamily="18" charset="0"/>
                                      <a:cs typeface="Times New Roman" pitchFamily="18" charset="0"/>
                                    </a:rPr>
                                    <m:t>𝟐</m:t>
                                  </m:r>
                                  <m:r>
                                    <a:rPr lang="en-GB" sz="1800" b="1" i="1" smtClean="0">
                                      <a:solidFill>
                                        <a:schemeClr val="tx1"/>
                                      </a:solidFill>
                                      <a:latin typeface="Cambria Math" panose="02040503050406030204" pitchFamily="18" charset="0"/>
                                      <a:cs typeface="Times New Roman" pitchFamily="18" charset="0"/>
                                    </a:rPr>
                                    <m:t>,</m:t>
                                  </m:r>
                                  <m:r>
                                    <a:rPr lang="en-GB" sz="1800" b="1" i="1" smtClean="0">
                                      <a:solidFill>
                                        <a:schemeClr val="tx1"/>
                                      </a:solidFill>
                                      <a:latin typeface="Cambria Math" panose="02040503050406030204" pitchFamily="18" charset="0"/>
                                      <a:cs typeface="Times New Roman" pitchFamily="18" charset="0"/>
                                    </a:rPr>
                                    <m:t>𝑫</m:t>
                                  </m:r>
                                </m:sub>
                              </m:sSub>
                            </m:e>
                          </m:d>
                        </m:num>
                        <m:den>
                          <m:d>
                            <m:dPr>
                              <m:begChr m:val="|"/>
                              <m:endChr m:val="|"/>
                              <m:ctrlPr>
                                <a:rPr lang="en-GB" sz="1800" b="1" i="1" smtClean="0">
                                  <a:solidFill>
                                    <a:schemeClr val="tx1"/>
                                  </a:solidFill>
                                  <a:latin typeface="Cambria Math" panose="02040503050406030204" pitchFamily="18" charset="0"/>
                                  <a:cs typeface="Times New Roman" pitchFamily="18" charset="0"/>
                                </a:rPr>
                              </m:ctrlPr>
                            </m:dPr>
                            <m:e>
                              <m:r>
                                <a:rPr lang="en-GB" sz="1800" b="1" i="1" smtClean="0">
                                  <a:solidFill>
                                    <a:schemeClr val="tx1"/>
                                  </a:solidFill>
                                  <a:latin typeface="Cambria Math" panose="02040503050406030204" pitchFamily="18" charset="0"/>
                                  <a:cs typeface="Times New Roman" pitchFamily="18" charset="0"/>
                                </a:rPr>
                                <m:t>𝑫</m:t>
                              </m:r>
                            </m:e>
                          </m:d>
                        </m:den>
                      </m:f>
                      <m:r>
                        <a:rPr lang="en-GB" sz="1800" b="1" i="1" smtClean="0">
                          <a:solidFill>
                            <a:schemeClr val="tx1"/>
                          </a:solidFill>
                          <a:latin typeface="Cambria Math" panose="02040503050406030204" pitchFamily="18" charset="0"/>
                          <a:cs typeface="Times New Roman" pitchFamily="18" charset="0"/>
                        </a:rPr>
                        <m:t>=</m:t>
                      </m:r>
                      <m:f>
                        <m:fPr>
                          <m:ctrlPr>
                            <a:rPr lang="en-GB" sz="1800" b="1" i="1" smtClean="0">
                              <a:solidFill>
                                <a:schemeClr val="tx1"/>
                              </a:solidFill>
                              <a:latin typeface="Cambria Math" panose="02040503050406030204" pitchFamily="18" charset="0"/>
                              <a:cs typeface="Times New Roman" pitchFamily="18" charset="0"/>
                            </a:rPr>
                          </m:ctrlPr>
                        </m:fPr>
                        <m:num>
                          <m:r>
                            <a:rPr lang="en-GB" sz="1800" b="1" i="1" smtClean="0">
                              <a:solidFill>
                                <a:schemeClr val="tx1"/>
                              </a:solidFill>
                              <a:latin typeface="Cambria Math" panose="02040503050406030204" pitchFamily="18" charset="0"/>
                              <a:cs typeface="Times New Roman" pitchFamily="18" charset="0"/>
                            </a:rPr>
                            <m:t>𝟓</m:t>
                          </m:r>
                        </m:num>
                        <m:den>
                          <m:r>
                            <a:rPr lang="en-GB" sz="1800" b="1" i="1" smtClean="0">
                              <a:solidFill>
                                <a:schemeClr val="tx1"/>
                              </a:solidFill>
                              <a:latin typeface="Cambria Math" panose="02040503050406030204" pitchFamily="18" charset="0"/>
                              <a:cs typeface="Times New Roman" pitchFamily="18" charset="0"/>
                            </a:rPr>
                            <m:t>𝟏𝟒</m:t>
                          </m:r>
                        </m:den>
                      </m:f>
                    </m:oMath>
                  </m:oMathPara>
                </a14:m>
                <a:endParaRPr lang="en-US" sz="1800" dirty="0">
                  <a:solidFill>
                    <a:schemeClr val="tx1"/>
                  </a:solidFill>
                  <a:latin typeface="Times New Roman" pitchFamily="18" charset="0"/>
                  <a:cs typeface="Times New Roman" pitchFamily="18" charset="0"/>
                </a:endParaRPr>
              </a:p>
            </p:txBody>
          </p:sp>
        </mc:Choice>
        <mc:Fallback xmlns="">
          <p:sp>
            <p:nvSpPr>
              <p:cNvPr id="3" name="Subtitle 2">
                <a:extLst>
                  <a:ext uri="{FF2B5EF4-FFF2-40B4-BE49-F238E27FC236}">
                    <a16:creationId xmlns:a16="http://schemas.microsoft.com/office/drawing/2014/main" xmlns:a14="http://schemas.microsoft.com/office/drawing/2010/main" xmlns="" id="{64FEA187-ACEB-8A44-D112-8C02DEADB13B}"/>
                  </a:ext>
                </a:extLst>
              </p:cNvPr>
              <p:cNvSpPr>
                <a:spLocks noGrp="1" noRot="1" noChangeAspect="1" noMove="1" noResize="1" noEditPoints="1" noAdjustHandles="1" noChangeArrowheads="1" noChangeShapeType="1" noTextEdit="1"/>
              </p:cNvSpPr>
              <p:nvPr>
                <p:ph type="subTitle" idx="1"/>
              </p:nvPr>
            </p:nvSpPr>
            <p:spPr>
              <a:xfrm>
                <a:off x="685800" y="1371600"/>
                <a:ext cx="3951287" cy="5257800"/>
              </a:xfrm>
              <a:blipFill rotWithShape="1">
                <a:blip r:embed="rId3"/>
                <a:stretch>
                  <a:fillRect l="-1389" t="-579" r="-1235"/>
                </a:stretch>
              </a:blipFill>
            </p:spPr>
            <p:txBody>
              <a:bodyPr/>
              <a:lstStyle/>
              <a:p>
                <a:r>
                  <a:rPr lang="en-US">
                    <a:noFill/>
                  </a:rPr>
                  <a:t> </a:t>
                </a:r>
              </a:p>
            </p:txBody>
          </p:sp>
        </mc:Fallback>
      </mc:AlternateContent>
      <p:graphicFrame>
        <p:nvGraphicFramePr>
          <p:cNvPr id="5" name="Object 1024">
            <a:extLst>
              <a:ext uri="{FF2B5EF4-FFF2-40B4-BE49-F238E27FC236}">
                <a16:creationId xmlns:a16="http://schemas.microsoft.com/office/drawing/2014/main" id="{36FCF41C-F335-18FA-6F89-E7E158D7BE9E}"/>
              </a:ext>
            </a:extLst>
          </p:cNvPr>
          <p:cNvGraphicFramePr>
            <a:graphicFrameLocks/>
          </p:cNvGraphicFramePr>
          <p:nvPr>
            <p:extLst>
              <p:ext uri="{D42A27DB-BD31-4B8C-83A1-F6EECF244321}">
                <p14:modId xmlns:p14="http://schemas.microsoft.com/office/powerpoint/2010/main" val="29805084"/>
              </p:ext>
            </p:extLst>
          </p:nvPr>
        </p:nvGraphicFramePr>
        <p:xfrm>
          <a:off x="4637088" y="1371600"/>
          <a:ext cx="4474256" cy="5105400"/>
        </p:xfrm>
        <a:graphic>
          <a:graphicData uri="http://schemas.openxmlformats.org/presentationml/2006/ole">
            <mc:AlternateContent xmlns:mc="http://schemas.openxmlformats.org/markup-compatibility/2006">
              <mc:Choice xmlns:v="urn:schemas-microsoft-com:vml" Requires="v">
                <p:oleObj name="Worksheet" r:id="rId4" imgW="5772150" imgH="4457700" progId="Excel.Sheet.8">
                  <p:embed/>
                </p:oleObj>
              </mc:Choice>
              <mc:Fallback>
                <p:oleObj name="Worksheet" r:id="rId4" imgW="5772150" imgH="4457700" progId="Excel.Sheet.8">
                  <p:embed/>
                  <p:pic>
                    <p:nvPicPr>
                      <p:cNvPr id="4" name="Object 1024">
                        <a:extLst>
                          <a:ext uri="{FF2B5EF4-FFF2-40B4-BE49-F238E27FC236}">
                            <a16:creationId xmlns:a16="http://schemas.microsoft.com/office/drawing/2014/main" id="{18005720-4F9D-8B5E-C4DF-1395E7CB816C}"/>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37088" y="1371600"/>
                        <a:ext cx="4474256" cy="5105400"/>
                      </a:xfrm>
                      <a:prstGeom prst="rect">
                        <a:avLst/>
                      </a:prstGeom>
                      <a:noFill/>
                      <a:ln>
                        <a:noFill/>
                      </a:ln>
                    </p:spPr>
                  </p:pic>
                </p:oleObj>
              </mc:Fallback>
            </mc:AlternateContent>
          </a:graphicData>
        </a:graphic>
      </p:graphicFrame>
      <p:graphicFrame>
        <p:nvGraphicFramePr>
          <p:cNvPr id="6" name="Object 1024">
            <a:extLst>
              <a:ext uri="{FF2B5EF4-FFF2-40B4-BE49-F238E27FC236}">
                <a16:creationId xmlns:a16="http://schemas.microsoft.com/office/drawing/2014/main" id="{4E136E52-60C9-0730-52F6-5B8A306335D8}"/>
              </a:ext>
            </a:extLst>
          </p:cNvPr>
          <p:cNvGraphicFramePr>
            <a:graphicFrameLocks/>
          </p:cNvGraphicFramePr>
          <p:nvPr>
            <p:extLst>
              <p:ext uri="{D42A27DB-BD31-4B8C-83A1-F6EECF244321}">
                <p14:modId xmlns:p14="http://schemas.microsoft.com/office/powerpoint/2010/main" val="2521153673"/>
              </p:ext>
            </p:extLst>
          </p:nvPr>
        </p:nvGraphicFramePr>
        <p:xfrm>
          <a:off x="4637088" y="1371600"/>
          <a:ext cx="4474256" cy="5105400"/>
        </p:xfrm>
        <a:graphic>
          <a:graphicData uri="http://schemas.openxmlformats.org/presentationml/2006/ole">
            <mc:AlternateContent xmlns:mc="http://schemas.openxmlformats.org/markup-compatibility/2006">
              <mc:Choice xmlns:v="urn:schemas-microsoft-com:vml" Requires="v">
                <p:oleObj name="Worksheet" r:id="rId4" imgW="5772150" imgH="4457700" progId="Excel.Sheet.8">
                  <p:embed/>
                </p:oleObj>
              </mc:Choice>
              <mc:Fallback>
                <p:oleObj name="Worksheet" r:id="rId4" imgW="5772150" imgH="4457700" progId="Excel.Sheet.8">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37088" y="1371600"/>
                        <a:ext cx="4474256" cy="5105400"/>
                      </a:xfrm>
                      <a:prstGeom prst="rect">
                        <a:avLst/>
                      </a:prstGeom>
                      <a:noFill/>
                      <a:ln>
                        <a:noFill/>
                      </a:ln>
                    </p:spPr>
                  </p:pic>
                </p:oleObj>
              </mc:Fallback>
            </mc:AlternateContent>
          </a:graphicData>
        </a:graphic>
      </p:graphicFrame>
      <p:sp>
        <p:nvSpPr>
          <p:cNvPr id="7" name="Oval 6">
            <a:extLst>
              <a:ext uri="{FF2B5EF4-FFF2-40B4-BE49-F238E27FC236}">
                <a16:creationId xmlns:a16="http://schemas.microsoft.com/office/drawing/2014/main" id="{D874F52E-6079-49BC-CA9E-7CC11A68D86A}"/>
              </a:ext>
            </a:extLst>
          </p:cNvPr>
          <p:cNvSpPr/>
          <p:nvPr/>
        </p:nvSpPr>
        <p:spPr>
          <a:xfrm>
            <a:off x="8139023" y="17526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D874F52E-6079-49BC-CA9E-7CC11A68D86A}"/>
              </a:ext>
            </a:extLst>
          </p:cNvPr>
          <p:cNvSpPr/>
          <p:nvPr/>
        </p:nvSpPr>
        <p:spPr>
          <a:xfrm>
            <a:off x="8153400" y="2119223"/>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D874F52E-6079-49BC-CA9E-7CC11A68D86A}"/>
              </a:ext>
            </a:extLst>
          </p:cNvPr>
          <p:cNvSpPr/>
          <p:nvPr/>
        </p:nvSpPr>
        <p:spPr>
          <a:xfrm>
            <a:off x="8183183" y="34290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D874F52E-6079-49BC-CA9E-7CC11A68D86A}"/>
              </a:ext>
            </a:extLst>
          </p:cNvPr>
          <p:cNvSpPr/>
          <p:nvPr/>
        </p:nvSpPr>
        <p:spPr>
          <a:xfrm>
            <a:off x="8153400" y="41148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D874F52E-6079-49BC-CA9E-7CC11A68D86A}"/>
              </a:ext>
            </a:extLst>
          </p:cNvPr>
          <p:cNvSpPr/>
          <p:nvPr/>
        </p:nvSpPr>
        <p:spPr>
          <a:xfrm>
            <a:off x="8153400" y="61722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D874F52E-6079-49BC-CA9E-7CC11A68D86A}"/>
              </a:ext>
            </a:extLst>
          </p:cNvPr>
          <p:cNvSpPr/>
          <p:nvPr/>
        </p:nvSpPr>
        <p:spPr>
          <a:xfrm>
            <a:off x="8155456" y="2424023"/>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D874F52E-6079-49BC-CA9E-7CC11A68D86A}"/>
              </a:ext>
            </a:extLst>
          </p:cNvPr>
          <p:cNvSpPr/>
          <p:nvPr/>
        </p:nvSpPr>
        <p:spPr>
          <a:xfrm>
            <a:off x="8139023" y="28194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D874F52E-6079-49BC-CA9E-7CC11A68D86A}"/>
              </a:ext>
            </a:extLst>
          </p:cNvPr>
          <p:cNvSpPr/>
          <p:nvPr/>
        </p:nvSpPr>
        <p:spPr>
          <a:xfrm>
            <a:off x="8133481" y="31242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D874F52E-6079-49BC-CA9E-7CC11A68D86A}"/>
              </a:ext>
            </a:extLst>
          </p:cNvPr>
          <p:cNvSpPr/>
          <p:nvPr/>
        </p:nvSpPr>
        <p:spPr>
          <a:xfrm>
            <a:off x="8139023" y="3761117"/>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D874F52E-6079-49BC-CA9E-7CC11A68D86A}"/>
              </a:ext>
            </a:extLst>
          </p:cNvPr>
          <p:cNvSpPr/>
          <p:nvPr/>
        </p:nvSpPr>
        <p:spPr>
          <a:xfrm>
            <a:off x="8105754" y="4444042"/>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D874F52E-6079-49BC-CA9E-7CC11A68D86A}"/>
              </a:ext>
            </a:extLst>
          </p:cNvPr>
          <p:cNvSpPr/>
          <p:nvPr/>
        </p:nvSpPr>
        <p:spPr>
          <a:xfrm>
            <a:off x="8155456" y="48006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D874F52E-6079-49BC-CA9E-7CC11A68D86A}"/>
              </a:ext>
            </a:extLst>
          </p:cNvPr>
          <p:cNvSpPr/>
          <p:nvPr/>
        </p:nvSpPr>
        <p:spPr>
          <a:xfrm>
            <a:off x="8133481" y="51054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D874F52E-6079-49BC-CA9E-7CC11A68D86A}"/>
              </a:ext>
            </a:extLst>
          </p:cNvPr>
          <p:cNvSpPr/>
          <p:nvPr/>
        </p:nvSpPr>
        <p:spPr>
          <a:xfrm>
            <a:off x="8153400" y="54864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D874F52E-6079-49BC-CA9E-7CC11A68D86A}"/>
              </a:ext>
            </a:extLst>
          </p:cNvPr>
          <p:cNvSpPr/>
          <p:nvPr/>
        </p:nvSpPr>
        <p:spPr>
          <a:xfrm>
            <a:off x="8167986" y="5794076"/>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2735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84E11-46A9-373F-CD35-7662BC63E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DB60B3-3383-9436-3B65-7B84B87A7C3E}"/>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061FB598-E4C5-66EC-DD14-03E5D1A9E365}"/>
                  </a:ext>
                </a:extLst>
              </p:cNvPr>
              <p:cNvSpPr>
                <a:spLocks noGrp="1"/>
              </p:cNvSpPr>
              <p:nvPr>
                <p:ph type="subTitle" idx="1"/>
              </p:nvPr>
            </p:nvSpPr>
            <p:spPr>
              <a:xfrm>
                <a:off x="685800" y="1371600"/>
                <a:ext cx="3951287" cy="5257800"/>
              </a:xfrm>
            </p:spPr>
            <p:txBody>
              <a:bodyPr>
                <a:normAutofit/>
              </a:bodyPr>
              <a:lstStyle/>
              <a:p>
                <a:pPr algn="just"/>
                <a:r>
                  <a:rPr lang="en-US" sz="1800" b="1" dirty="0">
                    <a:solidFill>
                      <a:schemeClr val="tx1"/>
                    </a:solidFill>
                    <a:latin typeface="Times New Roman" pitchFamily="18" charset="0"/>
                    <a:cs typeface="Times New Roman" pitchFamily="18" charset="0"/>
                  </a:rPr>
                  <a:t>Expected information (entropy) needed to classify a tuple in D:</a:t>
                </a:r>
              </a:p>
              <a:p>
                <a:pPr algn="just"/>
                <a:endParaRPr lang="en-US" sz="1800" b="1"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GB" sz="1800" b="1" i="1" dirty="0" smtClean="0">
                          <a:solidFill>
                            <a:schemeClr val="tx1"/>
                          </a:solidFill>
                          <a:latin typeface="Cambria Math" panose="02040503050406030204" pitchFamily="18" charset="0"/>
                          <a:cs typeface="Times New Roman" pitchFamily="18" charset="0"/>
                        </a:rPr>
                        <m:t>𝑰𝒏𝒇𝒐</m:t>
                      </m:r>
                      <m:d>
                        <m:dPr>
                          <m:ctrlPr>
                            <a:rPr lang="en-GB" sz="1800" b="1" i="1" dirty="0" smtClean="0">
                              <a:solidFill>
                                <a:schemeClr val="tx1"/>
                              </a:solidFill>
                              <a:latin typeface="Cambria Math" panose="02040503050406030204" pitchFamily="18" charset="0"/>
                              <a:cs typeface="Times New Roman" pitchFamily="18" charset="0"/>
                            </a:rPr>
                          </m:ctrlPr>
                        </m:dPr>
                        <m:e>
                          <m:r>
                            <a:rPr lang="en-GB" sz="1800" b="1" i="1" dirty="0" smtClean="0">
                              <a:solidFill>
                                <a:schemeClr val="tx1"/>
                              </a:solidFill>
                              <a:latin typeface="Cambria Math" panose="02040503050406030204" pitchFamily="18" charset="0"/>
                              <a:cs typeface="Times New Roman" pitchFamily="18" charset="0"/>
                            </a:rPr>
                            <m:t>𝑫</m:t>
                          </m:r>
                        </m:e>
                      </m:d>
                      <m:r>
                        <a:rPr lang="en-GB" sz="1800" b="1" i="1" dirty="0" smtClean="0">
                          <a:solidFill>
                            <a:schemeClr val="tx1"/>
                          </a:solidFill>
                          <a:latin typeface="Cambria Math" panose="02040503050406030204" pitchFamily="18" charset="0"/>
                          <a:cs typeface="Times New Roman" pitchFamily="18" charset="0"/>
                        </a:rPr>
                        <m:t>=−</m:t>
                      </m:r>
                      <m:nary>
                        <m:naryPr>
                          <m:chr m:val="∑"/>
                          <m:ctrlPr>
                            <a:rPr lang="en-GB" sz="1800" b="1" i="1" dirty="0" smtClean="0">
                              <a:solidFill>
                                <a:schemeClr val="tx1"/>
                              </a:solidFill>
                              <a:latin typeface="Cambria Math" panose="02040503050406030204" pitchFamily="18" charset="0"/>
                              <a:cs typeface="Times New Roman" pitchFamily="18" charset="0"/>
                            </a:rPr>
                          </m:ctrlPr>
                        </m:naryPr>
                        <m:sub>
                          <m:r>
                            <m:rPr>
                              <m:brk m:alnAt="23"/>
                            </m:rPr>
                            <a:rPr lang="en-GB" sz="1800" b="1" i="1" dirty="0" smtClean="0">
                              <a:solidFill>
                                <a:schemeClr val="tx1"/>
                              </a:solidFill>
                              <a:latin typeface="Cambria Math" panose="02040503050406030204" pitchFamily="18" charset="0"/>
                              <a:cs typeface="Times New Roman" pitchFamily="18" charset="0"/>
                            </a:rPr>
                            <m:t>𝒊</m:t>
                          </m:r>
                          <m:r>
                            <a:rPr lang="en-GB" sz="1800" b="1" i="1" dirty="0" smtClean="0">
                              <a:solidFill>
                                <a:schemeClr val="tx1"/>
                              </a:solidFill>
                              <a:latin typeface="Cambria Math" panose="02040503050406030204" pitchFamily="18" charset="0"/>
                              <a:cs typeface="Times New Roman" pitchFamily="18" charset="0"/>
                            </a:rPr>
                            <m:t>=</m:t>
                          </m:r>
                          <m:r>
                            <a:rPr lang="en-GB" sz="1800" b="1" i="1" dirty="0" smtClean="0">
                              <a:solidFill>
                                <a:schemeClr val="tx1"/>
                              </a:solidFill>
                              <a:latin typeface="Cambria Math" panose="02040503050406030204" pitchFamily="18" charset="0"/>
                              <a:cs typeface="Times New Roman" pitchFamily="18" charset="0"/>
                            </a:rPr>
                            <m:t>𝟏</m:t>
                          </m:r>
                        </m:sub>
                        <m:sup>
                          <m:r>
                            <a:rPr lang="en-GB" sz="1800" b="1" i="1" dirty="0" smtClean="0">
                              <a:solidFill>
                                <a:schemeClr val="tx1"/>
                              </a:solidFill>
                              <a:latin typeface="Cambria Math" panose="02040503050406030204" pitchFamily="18" charset="0"/>
                              <a:cs typeface="Times New Roman" pitchFamily="18" charset="0"/>
                            </a:rPr>
                            <m:t>𝒎</m:t>
                          </m:r>
                        </m:sup>
                        <m:e>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𝒑</m:t>
                              </m:r>
                            </m:e>
                            <m:sub>
                              <m:r>
                                <a:rPr lang="en-GB" sz="1800" b="1" i="1" dirty="0" smtClean="0">
                                  <a:solidFill>
                                    <a:schemeClr val="tx1"/>
                                  </a:solidFill>
                                  <a:latin typeface="Cambria Math" panose="02040503050406030204" pitchFamily="18" charset="0"/>
                                  <a:cs typeface="Times New Roman" pitchFamily="18" charset="0"/>
                                </a:rPr>
                                <m:t>𝒊</m:t>
                              </m:r>
                            </m:sub>
                          </m:sSub>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𝒍𝒐𝒈</m:t>
                              </m:r>
                            </m:e>
                            <m:sub>
                              <m:r>
                                <a:rPr lang="en-GB" sz="1800" b="1" i="1" dirty="0" smtClean="0">
                                  <a:solidFill>
                                    <a:schemeClr val="tx1"/>
                                  </a:solidFill>
                                  <a:latin typeface="Cambria Math" panose="02040503050406030204" pitchFamily="18" charset="0"/>
                                  <a:cs typeface="Times New Roman" pitchFamily="18" charset="0"/>
                                </a:rPr>
                                <m:t>𝟐</m:t>
                              </m:r>
                            </m:sub>
                          </m:sSub>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𝒑</m:t>
                              </m:r>
                            </m:e>
                            <m:sub>
                              <m:r>
                                <a:rPr lang="en-GB" sz="1800" b="1" i="1" dirty="0">
                                  <a:solidFill>
                                    <a:schemeClr val="tx1"/>
                                  </a:solidFill>
                                  <a:latin typeface="Cambria Math" panose="02040503050406030204" pitchFamily="18" charset="0"/>
                                  <a:cs typeface="Times New Roman" pitchFamily="18" charset="0"/>
                                </a:rPr>
                                <m:t>𝒊</m:t>
                              </m:r>
                            </m:sub>
                          </m:sSub>
                        </m:e>
                      </m:nary>
                    </m:oMath>
                  </m:oMathPara>
                </a14:m>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For the given data</a:t>
                </a:r>
              </a:p>
              <a:p>
                <a:pPr algn="just"/>
                <a14:m>
                  <m:oMathPara xmlns:m="http://schemas.openxmlformats.org/officeDocument/2006/math">
                    <m:oMathParaPr>
                      <m:jc m:val="left"/>
                    </m:oMathParaPr>
                    <m:oMath xmlns:m="http://schemas.openxmlformats.org/officeDocument/2006/math">
                      <m:r>
                        <a:rPr lang="en-GB" sz="1800" b="1" i="1" dirty="0" smtClean="0">
                          <a:solidFill>
                            <a:schemeClr val="tx1"/>
                          </a:solidFill>
                          <a:latin typeface="Cambria Math" panose="02040503050406030204" pitchFamily="18" charset="0"/>
                          <a:cs typeface="Times New Roman" pitchFamily="18" charset="0"/>
                        </a:rPr>
                        <m:t>𝑰𝒏𝒇𝒐</m:t>
                      </m:r>
                      <m:d>
                        <m:dPr>
                          <m:ctrlPr>
                            <a:rPr lang="en-GB" sz="1800" b="1" i="1" dirty="0" smtClean="0">
                              <a:solidFill>
                                <a:schemeClr val="tx1"/>
                              </a:solidFill>
                              <a:latin typeface="Cambria Math" panose="02040503050406030204" pitchFamily="18" charset="0"/>
                              <a:cs typeface="Times New Roman" pitchFamily="18" charset="0"/>
                            </a:rPr>
                          </m:ctrlPr>
                        </m:dPr>
                        <m:e>
                          <m:r>
                            <a:rPr lang="en-GB" sz="1800" b="1" i="1" dirty="0" smtClean="0">
                              <a:solidFill>
                                <a:schemeClr val="tx1"/>
                              </a:solidFill>
                              <a:latin typeface="Cambria Math" panose="02040503050406030204" pitchFamily="18" charset="0"/>
                              <a:cs typeface="Times New Roman" pitchFamily="18" charset="0"/>
                            </a:rPr>
                            <m:t>𝑫</m:t>
                          </m:r>
                        </m:e>
                      </m:d>
                      <m:r>
                        <a:rPr lang="en-GB" sz="1800" b="1" i="1" dirty="0" smtClean="0">
                          <a:solidFill>
                            <a:schemeClr val="tx1"/>
                          </a:solidFill>
                          <a:latin typeface="Cambria Math" panose="02040503050406030204" pitchFamily="18" charset="0"/>
                          <a:cs typeface="Times New Roman" pitchFamily="18" charset="0"/>
                        </a:rPr>
                        <m:t>=−</m:t>
                      </m:r>
                      <m:nary>
                        <m:naryPr>
                          <m:chr m:val="∑"/>
                          <m:ctrlPr>
                            <a:rPr lang="en-GB" sz="1800" b="1" i="1" dirty="0" smtClean="0">
                              <a:solidFill>
                                <a:schemeClr val="tx1"/>
                              </a:solidFill>
                              <a:latin typeface="Cambria Math" panose="02040503050406030204" pitchFamily="18" charset="0"/>
                              <a:cs typeface="Times New Roman" pitchFamily="18" charset="0"/>
                            </a:rPr>
                          </m:ctrlPr>
                        </m:naryPr>
                        <m:sub>
                          <m:r>
                            <m:rPr>
                              <m:brk m:alnAt="23"/>
                            </m:rPr>
                            <a:rPr lang="en-GB" sz="1800" b="1" i="1" dirty="0" smtClean="0">
                              <a:solidFill>
                                <a:schemeClr val="tx1"/>
                              </a:solidFill>
                              <a:latin typeface="Cambria Math" panose="02040503050406030204" pitchFamily="18" charset="0"/>
                              <a:cs typeface="Times New Roman" pitchFamily="18" charset="0"/>
                            </a:rPr>
                            <m:t>𝒊</m:t>
                          </m:r>
                          <m:r>
                            <a:rPr lang="en-GB" sz="1800" b="1" i="1" dirty="0" smtClean="0">
                              <a:solidFill>
                                <a:schemeClr val="tx1"/>
                              </a:solidFill>
                              <a:latin typeface="Cambria Math" panose="02040503050406030204" pitchFamily="18" charset="0"/>
                              <a:cs typeface="Times New Roman" pitchFamily="18" charset="0"/>
                            </a:rPr>
                            <m:t>=</m:t>
                          </m:r>
                          <m:r>
                            <a:rPr lang="en-GB" sz="1800" b="1" i="1" dirty="0" smtClean="0">
                              <a:solidFill>
                                <a:schemeClr val="tx1"/>
                              </a:solidFill>
                              <a:latin typeface="Cambria Math" panose="02040503050406030204" pitchFamily="18" charset="0"/>
                              <a:cs typeface="Times New Roman" pitchFamily="18" charset="0"/>
                            </a:rPr>
                            <m:t>𝟏</m:t>
                          </m:r>
                        </m:sub>
                        <m:sup>
                          <m:r>
                            <a:rPr lang="en-GB" sz="1800" b="1" i="1" dirty="0" smtClean="0">
                              <a:solidFill>
                                <a:schemeClr val="tx1"/>
                              </a:solidFill>
                              <a:latin typeface="Cambria Math" panose="02040503050406030204" pitchFamily="18" charset="0"/>
                              <a:cs typeface="Times New Roman" pitchFamily="18" charset="0"/>
                            </a:rPr>
                            <m:t>𝟐</m:t>
                          </m:r>
                        </m:sup>
                        <m:e>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𝒑</m:t>
                              </m:r>
                            </m:e>
                            <m:sub>
                              <m:r>
                                <a:rPr lang="en-GB" sz="1800" b="1" i="1" dirty="0" smtClean="0">
                                  <a:solidFill>
                                    <a:schemeClr val="tx1"/>
                                  </a:solidFill>
                                  <a:latin typeface="Cambria Math" panose="02040503050406030204" pitchFamily="18" charset="0"/>
                                  <a:cs typeface="Times New Roman" pitchFamily="18" charset="0"/>
                                </a:rPr>
                                <m:t>𝒊</m:t>
                              </m:r>
                            </m:sub>
                          </m:sSub>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𝒍𝒐𝒈</m:t>
                              </m:r>
                            </m:e>
                            <m:sub>
                              <m:r>
                                <a:rPr lang="en-GB" sz="1800" b="1" i="1" dirty="0" smtClean="0">
                                  <a:solidFill>
                                    <a:schemeClr val="tx1"/>
                                  </a:solidFill>
                                  <a:latin typeface="Cambria Math" panose="02040503050406030204" pitchFamily="18" charset="0"/>
                                  <a:cs typeface="Times New Roman" pitchFamily="18" charset="0"/>
                                </a:rPr>
                                <m:t>𝟐</m:t>
                              </m:r>
                            </m:sub>
                          </m:sSub>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𝒑</m:t>
                              </m:r>
                            </m:e>
                            <m:sub>
                              <m:r>
                                <a:rPr lang="en-GB" sz="1800" b="1" i="1" dirty="0">
                                  <a:solidFill>
                                    <a:schemeClr val="tx1"/>
                                  </a:solidFill>
                                  <a:latin typeface="Cambria Math" panose="02040503050406030204" pitchFamily="18" charset="0"/>
                                  <a:cs typeface="Times New Roman" pitchFamily="18" charset="0"/>
                                </a:rPr>
                                <m:t>𝒊</m:t>
                              </m:r>
                            </m:sub>
                          </m:sSub>
                        </m:e>
                      </m:nary>
                    </m:oMath>
                  </m:oMathPara>
                </a14:m>
                <a:endParaRPr lang="en-US" sz="1800" dirty="0">
                  <a:solidFill>
                    <a:schemeClr val="tx1"/>
                  </a:solidFill>
                  <a:latin typeface="Times New Roman" pitchFamily="18" charset="0"/>
                  <a:cs typeface="Times New Roman" pitchFamily="18" charset="0"/>
                </a:endParaRPr>
              </a:p>
              <a:p>
                <a:pPr algn="just"/>
                <a:endParaRPr lang="en-GB" sz="1800" b="1" i="1" dirty="0">
                  <a:solidFill>
                    <a:schemeClr val="tx1"/>
                  </a:solidFill>
                  <a:latin typeface="Cambria Math" panose="02040503050406030204"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m:t>
                          </m:r>
                          <m:r>
                            <a:rPr lang="en-US" sz="1800" b="1" i="1" dirty="0" smtClean="0">
                              <a:solidFill>
                                <a:schemeClr val="tx1"/>
                              </a:solidFill>
                              <a:latin typeface="Cambria Math"/>
                              <a:cs typeface="Times New Roman" pitchFamily="18" charset="0"/>
                            </a:rPr>
                            <m:t>−</m:t>
                          </m:r>
                          <m:r>
                            <a:rPr lang="en-GB" sz="1800" b="1" i="1" dirty="0" smtClean="0">
                              <a:solidFill>
                                <a:schemeClr val="tx1"/>
                              </a:solidFill>
                              <a:latin typeface="Cambria Math" panose="02040503050406030204" pitchFamily="18" charset="0"/>
                              <a:cs typeface="Times New Roman" pitchFamily="18" charset="0"/>
                            </a:rPr>
                            <m:t>𝒑</m:t>
                          </m:r>
                        </m:e>
                        <m:sub>
                          <m:r>
                            <a:rPr lang="en-GB" sz="1800" b="1" i="1" dirty="0" smtClean="0">
                              <a:solidFill>
                                <a:schemeClr val="tx1"/>
                              </a:solidFill>
                              <a:latin typeface="Cambria Math" panose="02040503050406030204" pitchFamily="18" charset="0"/>
                              <a:cs typeface="Times New Roman" pitchFamily="18" charset="0"/>
                            </a:rPr>
                            <m:t>𝟏</m:t>
                          </m:r>
                        </m:sub>
                      </m:sSub>
                      <m:sSub>
                        <m:sSubPr>
                          <m:ctrlPr>
                            <a:rPr lang="en-GB" sz="1800" b="1" i="1" dirty="0" smtClean="0">
                              <a:solidFill>
                                <a:schemeClr val="tx1"/>
                              </a:solidFill>
                              <a:latin typeface="Cambria Math" panose="02040503050406030204" pitchFamily="18" charset="0"/>
                              <a:cs typeface="Times New Roman" pitchFamily="18" charset="0"/>
                            </a:rPr>
                          </m:ctrlPr>
                        </m:sSubPr>
                        <m:e>
                          <m:r>
                            <a:rPr lang="en-GB" sz="1800" b="1" i="1" dirty="0" smtClean="0">
                              <a:solidFill>
                                <a:schemeClr val="tx1"/>
                              </a:solidFill>
                              <a:latin typeface="Cambria Math" panose="02040503050406030204" pitchFamily="18" charset="0"/>
                              <a:cs typeface="Times New Roman" pitchFamily="18" charset="0"/>
                            </a:rPr>
                            <m:t>𝒍𝒐𝒈</m:t>
                          </m:r>
                        </m:e>
                        <m:sub>
                          <m:r>
                            <a:rPr lang="en-GB" sz="1800" b="1" i="1" dirty="0" smtClean="0">
                              <a:solidFill>
                                <a:schemeClr val="tx1"/>
                              </a:solidFill>
                              <a:latin typeface="Cambria Math" panose="02040503050406030204" pitchFamily="18" charset="0"/>
                              <a:cs typeface="Times New Roman" pitchFamily="18" charset="0"/>
                            </a:rPr>
                            <m:t>𝟐</m:t>
                          </m:r>
                        </m:sub>
                      </m:sSub>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𝒑</m:t>
                          </m:r>
                        </m:e>
                        <m:sub>
                          <m:r>
                            <a:rPr lang="en-GB" sz="1800" b="1" i="1" dirty="0" smtClean="0">
                              <a:solidFill>
                                <a:schemeClr val="tx1"/>
                              </a:solidFill>
                              <a:latin typeface="Cambria Math" panose="02040503050406030204" pitchFamily="18" charset="0"/>
                              <a:cs typeface="Times New Roman" pitchFamily="18" charset="0"/>
                            </a:rPr>
                            <m:t>𝟏</m:t>
                          </m:r>
                        </m:sub>
                      </m:sSub>
                      <m:r>
                        <a:rPr lang="en-US" sz="1800" b="1" i="1" dirty="0" smtClean="0">
                          <a:solidFill>
                            <a:schemeClr val="tx1"/>
                          </a:solidFill>
                          <a:latin typeface="Cambria Math"/>
                          <a:cs typeface="Times New Roman" pitchFamily="18" charset="0"/>
                        </a:rPr>
                        <m:t>−</m:t>
                      </m:r>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𝒑</m:t>
                          </m:r>
                        </m:e>
                        <m:sub>
                          <m:r>
                            <a:rPr lang="en-GB" sz="1800" b="1" i="1" dirty="0" smtClean="0">
                              <a:solidFill>
                                <a:schemeClr val="tx1"/>
                              </a:solidFill>
                              <a:latin typeface="Cambria Math" panose="02040503050406030204" pitchFamily="18" charset="0"/>
                              <a:cs typeface="Times New Roman" pitchFamily="18" charset="0"/>
                            </a:rPr>
                            <m:t>𝟐</m:t>
                          </m:r>
                        </m:sub>
                      </m:sSub>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𝒍𝒐𝒈</m:t>
                          </m:r>
                        </m:e>
                        <m:sub>
                          <m:r>
                            <a:rPr lang="en-GB" sz="1800" b="1" i="1" dirty="0">
                              <a:solidFill>
                                <a:schemeClr val="tx1"/>
                              </a:solidFill>
                              <a:latin typeface="Cambria Math" panose="02040503050406030204" pitchFamily="18" charset="0"/>
                              <a:cs typeface="Times New Roman" pitchFamily="18" charset="0"/>
                            </a:rPr>
                            <m:t>𝟐</m:t>
                          </m:r>
                        </m:sub>
                      </m:sSub>
                      <m:sSub>
                        <m:sSubPr>
                          <m:ctrlPr>
                            <a:rPr lang="en-GB" sz="1800" b="1" i="1" dirty="0">
                              <a:solidFill>
                                <a:schemeClr val="tx1"/>
                              </a:solidFill>
                              <a:latin typeface="Cambria Math" panose="02040503050406030204" pitchFamily="18" charset="0"/>
                              <a:cs typeface="Times New Roman" pitchFamily="18" charset="0"/>
                            </a:rPr>
                          </m:ctrlPr>
                        </m:sSubPr>
                        <m:e>
                          <m:r>
                            <a:rPr lang="en-GB" sz="1800" b="1" i="1" dirty="0">
                              <a:solidFill>
                                <a:schemeClr val="tx1"/>
                              </a:solidFill>
                              <a:latin typeface="Cambria Math" panose="02040503050406030204" pitchFamily="18" charset="0"/>
                              <a:cs typeface="Times New Roman" pitchFamily="18" charset="0"/>
                            </a:rPr>
                            <m:t>𝒑</m:t>
                          </m:r>
                        </m:e>
                        <m:sub>
                          <m:r>
                            <a:rPr lang="en-GB" sz="1800" b="1" i="1" dirty="0" smtClean="0">
                              <a:solidFill>
                                <a:schemeClr val="tx1"/>
                              </a:solidFill>
                              <a:latin typeface="Cambria Math" panose="02040503050406030204" pitchFamily="18" charset="0"/>
                              <a:cs typeface="Times New Roman" pitchFamily="18" charset="0"/>
                            </a:rPr>
                            <m:t>𝟐</m:t>
                          </m:r>
                        </m:sub>
                      </m:sSub>
                    </m:oMath>
                  </m:oMathPara>
                </a14:m>
                <a:endParaRPr lang="en-GB" sz="1800" b="1" dirty="0">
                  <a:solidFill>
                    <a:schemeClr val="tx1"/>
                  </a:solidFill>
                  <a:latin typeface="Times New Roman" pitchFamily="18" charset="0"/>
                  <a:cs typeface="Times New Roman" pitchFamily="18" charset="0"/>
                </a:endParaRPr>
              </a:p>
              <a:p>
                <a:pPr algn="just"/>
                <a:endParaRPr lang="en-GB" sz="1800" b="0" i="1" dirty="0">
                  <a:solidFill>
                    <a:schemeClr val="tx1"/>
                  </a:solidFill>
                  <a:latin typeface="Cambria Math" panose="02040503050406030204"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GB" sz="1800" b="0" i="1" smtClean="0">
                          <a:solidFill>
                            <a:schemeClr val="tx1"/>
                          </a:solidFill>
                          <a:latin typeface="Cambria Math" panose="02040503050406030204" pitchFamily="18" charset="0"/>
                          <a:cs typeface="Times New Roman" pitchFamily="18" charset="0"/>
                        </a:rPr>
                        <m:t>=</m:t>
                      </m:r>
                      <m:r>
                        <a:rPr lang="en-US" sz="1800" b="0" i="1" smtClean="0">
                          <a:solidFill>
                            <a:schemeClr val="tx1"/>
                          </a:solidFill>
                          <a:latin typeface="Cambria Math"/>
                          <a:cs typeface="Times New Roman" pitchFamily="18" charset="0"/>
                        </a:rPr>
                        <m:t>−</m:t>
                      </m:r>
                      <m:f>
                        <m:fPr>
                          <m:ctrlPr>
                            <a:rPr lang="en-GB" sz="1800" b="0" i="1" smtClean="0">
                              <a:solidFill>
                                <a:srgbClr val="00B050"/>
                              </a:solidFill>
                              <a:latin typeface="Cambria Math" panose="02040503050406030204" pitchFamily="18" charset="0"/>
                              <a:cs typeface="Times New Roman" pitchFamily="18" charset="0"/>
                            </a:rPr>
                          </m:ctrlPr>
                        </m:fPr>
                        <m:num>
                          <m:r>
                            <a:rPr lang="en-GB" sz="1800" b="0" i="1" smtClean="0">
                              <a:solidFill>
                                <a:srgbClr val="00B050"/>
                              </a:solidFill>
                              <a:latin typeface="Cambria Math" panose="02040503050406030204" pitchFamily="18" charset="0"/>
                              <a:cs typeface="Times New Roman" pitchFamily="18" charset="0"/>
                            </a:rPr>
                            <m:t>9</m:t>
                          </m:r>
                        </m:num>
                        <m:den>
                          <m:r>
                            <a:rPr lang="en-GB" sz="1800" b="0" i="1" smtClean="0">
                              <a:solidFill>
                                <a:srgbClr val="00B050"/>
                              </a:solidFill>
                              <a:latin typeface="Cambria Math" panose="02040503050406030204" pitchFamily="18" charset="0"/>
                              <a:cs typeface="Times New Roman" pitchFamily="18" charset="0"/>
                            </a:rPr>
                            <m:t>14</m:t>
                          </m:r>
                        </m:den>
                      </m:f>
                      <m:func>
                        <m:funcPr>
                          <m:ctrlPr>
                            <a:rPr lang="en-GB" sz="1800" b="0" i="1" smtClean="0">
                              <a:solidFill>
                                <a:srgbClr val="00B050"/>
                              </a:solidFill>
                              <a:latin typeface="Cambria Math" panose="02040503050406030204" pitchFamily="18" charset="0"/>
                              <a:cs typeface="Times New Roman" pitchFamily="18" charset="0"/>
                            </a:rPr>
                          </m:ctrlPr>
                        </m:funcPr>
                        <m:fName>
                          <m:r>
                            <m:rPr>
                              <m:sty m:val="p"/>
                            </m:rPr>
                            <a:rPr lang="en-GB" sz="1800" b="0" i="0" smtClean="0">
                              <a:solidFill>
                                <a:srgbClr val="00B050"/>
                              </a:solidFill>
                              <a:latin typeface="Cambria Math" panose="02040503050406030204" pitchFamily="18" charset="0"/>
                              <a:cs typeface="Times New Roman" pitchFamily="18" charset="0"/>
                            </a:rPr>
                            <m:t>log</m:t>
                          </m:r>
                        </m:fName>
                        <m:e>
                          <m:f>
                            <m:fPr>
                              <m:ctrlPr>
                                <a:rPr lang="en-GB" sz="1800" b="0" i="1" smtClean="0">
                                  <a:solidFill>
                                    <a:srgbClr val="00B050"/>
                                  </a:solidFill>
                                  <a:latin typeface="Cambria Math" panose="02040503050406030204" pitchFamily="18" charset="0"/>
                                  <a:cs typeface="Times New Roman" pitchFamily="18" charset="0"/>
                                </a:rPr>
                              </m:ctrlPr>
                            </m:fPr>
                            <m:num>
                              <m:r>
                                <a:rPr lang="en-GB" sz="1800" b="0" i="1" smtClean="0">
                                  <a:solidFill>
                                    <a:srgbClr val="00B050"/>
                                  </a:solidFill>
                                  <a:latin typeface="Cambria Math" panose="02040503050406030204" pitchFamily="18" charset="0"/>
                                  <a:cs typeface="Times New Roman" pitchFamily="18" charset="0"/>
                                </a:rPr>
                                <m:t>9</m:t>
                              </m:r>
                            </m:num>
                            <m:den>
                              <m:r>
                                <a:rPr lang="en-GB" sz="1800" b="0" i="1" smtClean="0">
                                  <a:solidFill>
                                    <a:srgbClr val="00B050"/>
                                  </a:solidFill>
                                  <a:latin typeface="Cambria Math" panose="02040503050406030204" pitchFamily="18" charset="0"/>
                                  <a:cs typeface="Times New Roman" pitchFamily="18" charset="0"/>
                                </a:rPr>
                                <m:t>14</m:t>
                              </m:r>
                            </m:den>
                          </m:f>
                        </m:e>
                      </m:func>
                      <m:r>
                        <a:rPr lang="en-US" sz="1800" b="0" i="1" smtClean="0">
                          <a:solidFill>
                            <a:schemeClr val="tx1"/>
                          </a:solidFill>
                          <a:latin typeface="Cambria Math"/>
                          <a:cs typeface="Times New Roman" pitchFamily="18" charset="0"/>
                        </a:rPr>
                        <m:t>−</m:t>
                      </m:r>
                      <m:f>
                        <m:fPr>
                          <m:ctrlPr>
                            <a:rPr lang="en-GB" sz="1800" i="1" smtClean="0">
                              <a:solidFill>
                                <a:srgbClr val="FF0000"/>
                              </a:solidFill>
                              <a:latin typeface="Cambria Math" panose="02040503050406030204" pitchFamily="18" charset="0"/>
                              <a:cs typeface="Times New Roman" pitchFamily="18" charset="0"/>
                            </a:rPr>
                          </m:ctrlPr>
                        </m:fPr>
                        <m:num>
                          <m:r>
                            <a:rPr lang="en-GB" sz="1800" b="0" i="1" smtClean="0">
                              <a:solidFill>
                                <a:srgbClr val="FF0000"/>
                              </a:solidFill>
                              <a:latin typeface="Cambria Math" panose="02040503050406030204" pitchFamily="18" charset="0"/>
                              <a:cs typeface="Times New Roman" pitchFamily="18" charset="0"/>
                            </a:rPr>
                            <m:t>5</m:t>
                          </m:r>
                        </m:num>
                        <m:den>
                          <m:r>
                            <a:rPr lang="en-GB" sz="1800" i="1">
                              <a:solidFill>
                                <a:srgbClr val="FF0000"/>
                              </a:solidFill>
                              <a:latin typeface="Cambria Math" panose="02040503050406030204" pitchFamily="18" charset="0"/>
                              <a:cs typeface="Times New Roman" pitchFamily="18" charset="0"/>
                            </a:rPr>
                            <m:t>14</m:t>
                          </m:r>
                        </m:den>
                      </m:f>
                      <m:func>
                        <m:funcPr>
                          <m:ctrlPr>
                            <a:rPr lang="en-GB" sz="1800" i="1">
                              <a:solidFill>
                                <a:srgbClr val="FF0000"/>
                              </a:solidFill>
                              <a:latin typeface="Cambria Math" panose="02040503050406030204" pitchFamily="18" charset="0"/>
                              <a:cs typeface="Times New Roman" pitchFamily="18" charset="0"/>
                            </a:rPr>
                          </m:ctrlPr>
                        </m:funcPr>
                        <m:fName>
                          <m:r>
                            <m:rPr>
                              <m:sty m:val="p"/>
                            </m:rPr>
                            <a:rPr lang="en-GB" sz="1800">
                              <a:solidFill>
                                <a:srgbClr val="FF0000"/>
                              </a:solidFill>
                              <a:latin typeface="Cambria Math" panose="02040503050406030204" pitchFamily="18" charset="0"/>
                              <a:cs typeface="Times New Roman" pitchFamily="18" charset="0"/>
                            </a:rPr>
                            <m:t>log</m:t>
                          </m:r>
                        </m:fName>
                        <m:e>
                          <m:f>
                            <m:fPr>
                              <m:ctrlPr>
                                <a:rPr lang="en-GB" sz="1800" i="1">
                                  <a:solidFill>
                                    <a:srgbClr val="FF0000"/>
                                  </a:solidFill>
                                  <a:latin typeface="Cambria Math" panose="02040503050406030204" pitchFamily="18" charset="0"/>
                                  <a:cs typeface="Times New Roman" pitchFamily="18" charset="0"/>
                                </a:rPr>
                              </m:ctrlPr>
                            </m:fPr>
                            <m:num>
                              <m:r>
                                <a:rPr lang="en-GB" sz="1800" b="0" i="1" smtClean="0">
                                  <a:solidFill>
                                    <a:srgbClr val="FF0000"/>
                                  </a:solidFill>
                                  <a:latin typeface="Cambria Math" panose="02040503050406030204" pitchFamily="18" charset="0"/>
                                  <a:cs typeface="Times New Roman" pitchFamily="18" charset="0"/>
                                </a:rPr>
                                <m:t>5</m:t>
                              </m:r>
                            </m:num>
                            <m:den>
                              <m:r>
                                <a:rPr lang="en-GB" sz="1800" i="1">
                                  <a:solidFill>
                                    <a:srgbClr val="FF0000"/>
                                  </a:solidFill>
                                  <a:latin typeface="Cambria Math" panose="02040503050406030204" pitchFamily="18" charset="0"/>
                                  <a:cs typeface="Times New Roman" pitchFamily="18" charset="0"/>
                                </a:rPr>
                                <m:t>14</m:t>
                              </m:r>
                            </m:den>
                          </m:f>
                        </m:e>
                      </m:func>
                      <m:r>
                        <a:rPr lang="en-GB" sz="1800" b="0" i="1" smtClean="0">
                          <a:solidFill>
                            <a:schemeClr val="tx1"/>
                          </a:solidFill>
                          <a:latin typeface="Cambria Math" panose="02040503050406030204" pitchFamily="18" charset="0"/>
                          <a:cs typeface="Times New Roman" pitchFamily="18" charset="0"/>
                        </a:rPr>
                        <m:t>=0.940</m:t>
                      </m:r>
                    </m:oMath>
                  </m:oMathPara>
                </a14:m>
                <a:endParaRPr lang="en-GB" sz="1800" b="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p:txBody>
          </p:sp>
        </mc:Choice>
        <mc:Fallback xmlns="">
          <p:sp>
            <p:nvSpPr>
              <p:cNvPr id="3" name="Subtitle 2">
                <a:extLst>
                  <a:ext uri="{FF2B5EF4-FFF2-40B4-BE49-F238E27FC236}">
                    <a16:creationId xmlns="" xmlns:a16="http://schemas.microsoft.com/office/drawing/2014/main" xmlns:a14="http://schemas.microsoft.com/office/drawing/2010/main" id="{061FB598-E4C5-66EC-DD14-03E5D1A9E365}"/>
                  </a:ext>
                </a:extLst>
              </p:cNvPr>
              <p:cNvSpPr>
                <a:spLocks noGrp="1" noRot="1" noChangeAspect="1" noMove="1" noResize="1" noEditPoints="1" noAdjustHandles="1" noChangeArrowheads="1" noChangeShapeType="1" noTextEdit="1"/>
              </p:cNvSpPr>
              <p:nvPr>
                <p:ph type="subTitle" idx="1"/>
              </p:nvPr>
            </p:nvSpPr>
            <p:spPr>
              <a:xfrm>
                <a:off x="685800" y="1371600"/>
                <a:ext cx="3951287" cy="5257800"/>
              </a:xfrm>
              <a:blipFill rotWithShape="1">
                <a:blip r:embed="rId3"/>
                <a:stretch>
                  <a:fillRect l="-1389" t="-579" r="-1235"/>
                </a:stretch>
              </a:blipFill>
            </p:spPr>
            <p:txBody>
              <a:bodyPr/>
              <a:lstStyle/>
              <a:p>
                <a:r>
                  <a:rPr lang="en-US">
                    <a:noFill/>
                  </a:rPr>
                  <a:t> </a:t>
                </a:r>
              </a:p>
            </p:txBody>
          </p:sp>
        </mc:Fallback>
      </mc:AlternateContent>
      <p:graphicFrame>
        <p:nvGraphicFramePr>
          <p:cNvPr id="5" name="Object 1024">
            <a:extLst>
              <a:ext uri="{FF2B5EF4-FFF2-40B4-BE49-F238E27FC236}">
                <a16:creationId xmlns:a16="http://schemas.microsoft.com/office/drawing/2014/main" id="{4E136E52-60C9-0730-52F6-5B8A306335D8}"/>
              </a:ext>
            </a:extLst>
          </p:cNvPr>
          <p:cNvGraphicFramePr>
            <a:graphicFrameLocks/>
          </p:cNvGraphicFramePr>
          <p:nvPr>
            <p:extLst>
              <p:ext uri="{D42A27DB-BD31-4B8C-83A1-F6EECF244321}">
                <p14:modId xmlns:p14="http://schemas.microsoft.com/office/powerpoint/2010/main" val="714012238"/>
              </p:ext>
            </p:extLst>
          </p:nvPr>
        </p:nvGraphicFramePr>
        <p:xfrm>
          <a:off x="4637088" y="1371600"/>
          <a:ext cx="4474256" cy="5105400"/>
        </p:xfrm>
        <a:graphic>
          <a:graphicData uri="http://schemas.openxmlformats.org/presentationml/2006/ole">
            <mc:AlternateContent xmlns:mc="http://schemas.openxmlformats.org/markup-compatibility/2006">
              <mc:Choice xmlns:v="urn:schemas-microsoft-com:vml" Requires="v">
                <p:oleObj name="Worksheet" r:id="rId4" imgW="5772150" imgH="4457700" progId="Excel.Sheet.8">
                  <p:embed/>
                </p:oleObj>
              </mc:Choice>
              <mc:Fallback>
                <p:oleObj name="Worksheet" r:id="rId4" imgW="5772150" imgH="4457700" progId="Excel.Sheet.8">
                  <p:embed/>
                  <p:pic>
                    <p:nvPicPr>
                      <p:cNvPr id="5" name="Object 1024">
                        <a:extLst>
                          <a:ext uri="{FF2B5EF4-FFF2-40B4-BE49-F238E27FC236}">
                            <a16:creationId xmlns:a16="http://schemas.microsoft.com/office/drawing/2014/main" id="{36FCF41C-F335-18FA-6F89-E7E158D7BE9E}"/>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37088" y="1371600"/>
                        <a:ext cx="4474256" cy="5105400"/>
                      </a:xfrm>
                      <a:prstGeom prst="rect">
                        <a:avLst/>
                      </a:prstGeom>
                      <a:noFill/>
                      <a:ln>
                        <a:noFill/>
                      </a:ln>
                    </p:spPr>
                  </p:pic>
                </p:oleObj>
              </mc:Fallback>
            </mc:AlternateContent>
          </a:graphicData>
        </a:graphic>
      </p:graphicFrame>
      <p:sp>
        <p:nvSpPr>
          <p:cNvPr id="6" name="Oval 5">
            <a:extLst>
              <a:ext uri="{FF2B5EF4-FFF2-40B4-BE49-F238E27FC236}">
                <a16:creationId xmlns:a16="http://schemas.microsoft.com/office/drawing/2014/main" id="{D874F52E-6079-49BC-CA9E-7CC11A68D86A}"/>
              </a:ext>
            </a:extLst>
          </p:cNvPr>
          <p:cNvSpPr/>
          <p:nvPr/>
        </p:nvSpPr>
        <p:spPr>
          <a:xfrm>
            <a:off x="8139023" y="17526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D874F52E-6079-49BC-CA9E-7CC11A68D86A}"/>
              </a:ext>
            </a:extLst>
          </p:cNvPr>
          <p:cNvSpPr/>
          <p:nvPr/>
        </p:nvSpPr>
        <p:spPr>
          <a:xfrm>
            <a:off x="8153400" y="2119223"/>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D874F52E-6079-49BC-CA9E-7CC11A68D86A}"/>
              </a:ext>
            </a:extLst>
          </p:cNvPr>
          <p:cNvSpPr/>
          <p:nvPr/>
        </p:nvSpPr>
        <p:spPr>
          <a:xfrm>
            <a:off x="8183183" y="34290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D874F52E-6079-49BC-CA9E-7CC11A68D86A}"/>
              </a:ext>
            </a:extLst>
          </p:cNvPr>
          <p:cNvSpPr/>
          <p:nvPr/>
        </p:nvSpPr>
        <p:spPr>
          <a:xfrm>
            <a:off x="8153400" y="41148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D874F52E-6079-49BC-CA9E-7CC11A68D86A}"/>
              </a:ext>
            </a:extLst>
          </p:cNvPr>
          <p:cNvSpPr/>
          <p:nvPr/>
        </p:nvSpPr>
        <p:spPr>
          <a:xfrm>
            <a:off x="8153400" y="61722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D874F52E-6079-49BC-CA9E-7CC11A68D86A}"/>
              </a:ext>
            </a:extLst>
          </p:cNvPr>
          <p:cNvSpPr/>
          <p:nvPr/>
        </p:nvSpPr>
        <p:spPr>
          <a:xfrm>
            <a:off x="8155456" y="2424023"/>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D874F52E-6079-49BC-CA9E-7CC11A68D86A}"/>
              </a:ext>
            </a:extLst>
          </p:cNvPr>
          <p:cNvSpPr/>
          <p:nvPr/>
        </p:nvSpPr>
        <p:spPr>
          <a:xfrm>
            <a:off x="8139023" y="28194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D874F52E-6079-49BC-CA9E-7CC11A68D86A}"/>
              </a:ext>
            </a:extLst>
          </p:cNvPr>
          <p:cNvSpPr/>
          <p:nvPr/>
        </p:nvSpPr>
        <p:spPr>
          <a:xfrm>
            <a:off x="8133481" y="31242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D874F52E-6079-49BC-CA9E-7CC11A68D86A}"/>
              </a:ext>
            </a:extLst>
          </p:cNvPr>
          <p:cNvSpPr/>
          <p:nvPr/>
        </p:nvSpPr>
        <p:spPr>
          <a:xfrm>
            <a:off x="8139023" y="3761117"/>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D874F52E-6079-49BC-CA9E-7CC11A68D86A}"/>
              </a:ext>
            </a:extLst>
          </p:cNvPr>
          <p:cNvSpPr/>
          <p:nvPr/>
        </p:nvSpPr>
        <p:spPr>
          <a:xfrm>
            <a:off x="8105754" y="4444042"/>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D874F52E-6079-49BC-CA9E-7CC11A68D86A}"/>
              </a:ext>
            </a:extLst>
          </p:cNvPr>
          <p:cNvSpPr/>
          <p:nvPr/>
        </p:nvSpPr>
        <p:spPr>
          <a:xfrm>
            <a:off x="8155456" y="48006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D874F52E-6079-49BC-CA9E-7CC11A68D86A}"/>
              </a:ext>
            </a:extLst>
          </p:cNvPr>
          <p:cNvSpPr/>
          <p:nvPr/>
        </p:nvSpPr>
        <p:spPr>
          <a:xfrm>
            <a:off x="8133481" y="51054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D874F52E-6079-49BC-CA9E-7CC11A68D86A}"/>
              </a:ext>
            </a:extLst>
          </p:cNvPr>
          <p:cNvSpPr/>
          <p:nvPr/>
        </p:nvSpPr>
        <p:spPr>
          <a:xfrm>
            <a:off x="8153400" y="54864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D874F52E-6079-49BC-CA9E-7CC11A68D86A}"/>
              </a:ext>
            </a:extLst>
          </p:cNvPr>
          <p:cNvSpPr/>
          <p:nvPr/>
        </p:nvSpPr>
        <p:spPr>
          <a:xfrm>
            <a:off x="8167986" y="5794076"/>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81159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0D7B3-1B86-ED3D-C67B-5208FC2703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7749EE-374C-903D-D46F-555862829B86}"/>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6BF7D91A-9699-4491-9BBC-839E0B89A409}"/>
                  </a:ext>
                </a:extLst>
              </p:cNvPr>
              <p:cNvSpPr>
                <a:spLocks noGrp="1"/>
              </p:cNvSpPr>
              <p:nvPr>
                <p:ph type="subTitle" idx="1"/>
              </p:nvPr>
            </p:nvSpPr>
            <p:spPr>
              <a:xfrm>
                <a:off x="685800" y="1371600"/>
                <a:ext cx="3951287" cy="5257800"/>
              </a:xfrm>
            </p:spPr>
            <p:txBody>
              <a:bodyPr>
                <a:normAutofit/>
              </a:bodyPr>
              <a:lstStyle/>
              <a:p>
                <a:pPr algn="just"/>
                <a:r>
                  <a:rPr lang="en-US" sz="1800" b="1" dirty="0">
                    <a:solidFill>
                      <a:schemeClr val="tx1"/>
                    </a:solidFill>
                    <a:latin typeface="Times New Roman" pitchFamily="18" charset="0"/>
                    <a:cs typeface="Times New Roman" pitchFamily="18" charset="0"/>
                  </a:rPr>
                  <a:t>Information needed (after using A to split D into v partitions)</a:t>
                </a:r>
              </a:p>
              <a:p>
                <a:pPr algn="just"/>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𝐼𝑛𝑓𝑜</m:t>
                          </m:r>
                        </m:e>
                        <m:sub>
                          <m:r>
                            <a:rPr lang="en-GB" sz="1800" b="0" i="1" smtClean="0">
                              <a:solidFill>
                                <a:schemeClr val="tx1"/>
                              </a:solidFill>
                              <a:latin typeface="Cambria Math" panose="02040503050406030204" pitchFamily="18" charset="0"/>
                              <a:cs typeface="Times New Roman" pitchFamily="18" charset="0"/>
                            </a:rPr>
                            <m:t>𝐴</m:t>
                          </m:r>
                        </m:sub>
                      </m:sSub>
                      <m:d>
                        <m:dPr>
                          <m:ctrlPr>
                            <a:rPr lang="en-GB" sz="1800" b="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r>
                        <a:rPr lang="en-GB" sz="1800" b="0" i="1" smtClean="0">
                          <a:solidFill>
                            <a:schemeClr val="tx1"/>
                          </a:solidFill>
                          <a:latin typeface="Cambria Math" panose="02040503050406030204" pitchFamily="18" charset="0"/>
                          <a:cs typeface="Times New Roman" pitchFamily="18" charset="0"/>
                        </a:rPr>
                        <m:t>=</m:t>
                      </m:r>
                      <m:nary>
                        <m:naryPr>
                          <m:chr m:val="∑"/>
                          <m:ctrlPr>
                            <a:rPr lang="en-GB" sz="1800" b="0" i="1" smtClean="0">
                              <a:solidFill>
                                <a:schemeClr val="tx1"/>
                              </a:solidFill>
                              <a:latin typeface="Cambria Math" panose="02040503050406030204" pitchFamily="18" charset="0"/>
                              <a:cs typeface="Times New Roman" pitchFamily="18" charset="0"/>
                            </a:rPr>
                          </m:ctrlPr>
                        </m:naryPr>
                        <m:sub>
                          <m:r>
                            <m:rPr>
                              <m:brk m:alnAt="23"/>
                            </m:rPr>
                            <a:rPr lang="en-GB" sz="1800" b="0" i="1" smtClean="0">
                              <a:solidFill>
                                <a:schemeClr val="tx1"/>
                              </a:solidFill>
                              <a:latin typeface="Cambria Math" panose="02040503050406030204" pitchFamily="18" charset="0"/>
                              <a:cs typeface="Times New Roman" pitchFamily="18" charset="0"/>
                            </a:rPr>
                            <m:t>𝑗</m:t>
                          </m:r>
                          <m:r>
                            <a:rPr lang="en-GB" sz="1800" b="0" i="1" smtClean="0">
                              <a:solidFill>
                                <a:schemeClr val="tx1"/>
                              </a:solidFill>
                              <a:latin typeface="Cambria Math" panose="02040503050406030204" pitchFamily="18" charset="0"/>
                              <a:cs typeface="Times New Roman" pitchFamily="18" charset="0"/>
                            </a:rPr>
                            <m:t>=1</m:t>
                          </m:r>
                        </m:sub>
                        <m:sup>
                          <m:r>
                            <a:rPr lang="en-GB" sz="1800" b="0" i="1" smtClean="0">
                              <a:solidFill>
                                <a:schemeClr val="tx1"/>
                              </a:solidFill>
                              <a:latin typeface="Cambria Math" panose="02040503050406030204" pitchFamily="18" charset="0"/>
                              <a:cs typeface="Times New Roman" pitchFamily="18" charset="0"/>
                            </a:rPr>
                            <m:t>𝑣</m:t>
                          </m:r>
                        </m:sup>
                        <m:e>
                          <m:f>
                            <m:fPr>
                              <m:ctrlPr>
                                <a:rPr lang="en-GB" sz="1800" b="0" i="1" smtClean="0">
                                  <a:solidFill>
                                    <a:schemeClr val="tx1"/>
                                  </a:solidFill>
                                  <a:latin typeface="Cambria Math" panose="02040503050406030204" pitchFamily="18" charset="0"/>
                                  <a:cs typeface="Times New Roman" pitchFamily="18" charset="0"/>
                                </a:rPr>
                              </m:ctrlPr>
                            </m:fPr>
                            <m:num>
                              <m:d>
                                <m:dPr>
                                  <m:begChr m:val="|"/>
                                  <m:endChr m:val="|"/>
                                  <m:ctrlPr>
                                    <a:rPr lang="en-GB" sz="1800" b="0" i="1" smtClean="0">
                                      <a:solidFill>
                                        <a:schemeClr val="tx1"/>
                                      </a:solidFill>
                                      <a:latin typeface="Cambria Math" panose="02040503050406030204" pitchFamily="18" charset="0"/>
                                      <a:cs typeface="Times New Roman" pitchFamily="18" charset="0"/>
                                    </a:rPr>
                                  </m:ctrlPr>
                                </m:dPr>
                                <m:e>
                                  <m:sSub>
                                    <m:sSubPr>
                                      <m:ctrlPr>
                                        <a:rPr lang="en-GB" sz="1800" b="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𝐷</m:t>
                                      </m:r>
                                    </m:e>
                                    <m:sub>
                                      <m:r>
                                        <a:rPr lang="en-GB" sz="1800" b="0" i="1" smtClean="0">
                                          <a:solidFill>
                                            <a:schemeClr val="tx1"/>
                                          </a:solidFill>
                                          <a:latin typeface="Cambria Math" panose="02040503050406030204" pitchFamily="18" charset="0"/>
                                          <a:cs typeface="Times New Roman" pitchFamily="18" charset="0"/>
                                        </a:rPr>
                                        <m:t>𝑗</m:t>
                                      </m:r>
                                    </m:sub>
                                  </m:sSub>
                                </m:e>
                              </m:d>
                            </m:num>
                            <m:den>
                              <m:d>
                                <m:dPr>
                                  <m:begChr m:val="|"/>
                                  <m:endChr m:val="|"/>
                                  <m:ctrlPr>
                                    <a:rPr lang="en-GB" sz="1800" b="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den>
                          </m:f>
                        </m:e>
                      </m:nary>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𝐼𝑛𝑓𝑜</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𝐷</m:t>
                          </m:r>
                        </m:e>
                        <m: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𝑗</m:t>
                          </m:r>
                        </m:sub>
                      </m:s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oMath>
                  </m:oMathPara>
                </a14:m>
                <a:endParaRPr lang="en-US" sz="1800" dirty="0">
                  <a:solidFill>
                    <a:schemeClr val="tx1"/>
                  </a:solidFill>
                  <a:latin typeface="Times New Roman" pitchFamily="18" charset="0"/>
                  <a:cs typeface="Times New Roman" pitchFamily="18" charset="0"/>
                </a:endParaRPr>
              </a:p>
              <a:p>
                <a:pPr algn="just"/>
                <a:endParaRPr lang="en-GB"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Example</a:t>
                </a:r>
              </a:p>
              <a:p>
                <a:pPr algn="just"/>
                <a14:m>
                  <m:oMathPara xmlns:m="http://schemas.openxmlformats.org/officeDocument/2006/math">
                    <m:oMathParaPr>
                      <m:jc m:val="left"/>
                    </m:oMathParaPr>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𝐼𝑛𝑓𝑜</m:t>
                          </m:r>
                        </m:e>
                        <m:sub>
                          <m:r>
                            <a:rPr lang="en-GB" sz="1800" b="0" i="1" smtClean="0">
                              <a:solidFill>
                                <a:schemeClr val="tx1"/>
                              </a:solidFill>
                              <a:latin typeface="Cambria Math" panose="02040503050406030204" pitchFamily="18" charset="0"/>
                              <a:cs typeface="Times New Roman" pitchFamily="18" charset="0"/>
                            </a:rPr>
                            <m:t>𝑎𝑔𝑒</m:t>
                          </m:r>
                        </m:sub>
                      </m:sSub>
                      <m:d>
                        <m:dPr>
                          <m:ctrlPr>
                            <a:rPr lang="en-GB" sz="1800" b="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r>
                        <a:rPr lang="en-GB" sz="1800" b="0" i="1" smtClean="0">
                          <a:solidFill>
                            <a:schemeClr val="tx1"/>
                          </a:solidFill>
                          <a:latin typeface="Cambria Math" panose="02040503050406030204" pitchFamily="18" charset="0"/>
                          <a:cs typeface="Times New Roman" pitchFamily="18" charset="0"/>
                        </a:rPr>
                        <m:t>=</m:t>
                      </m:r>
                      <m:nary>
                        <m:naryPr>
                          <m:chr m:val="∑"/>
                          <m:ctrlPr>
                            <a:rPr lang="en-GB" sz="1800" b="0" i="1" smtClean="0">
                              <a:solidFill>
                                <a:schemeClr val="tx1"/>
                              </a:solidFill>
                              <a:latin typeface="Cambria Math" panose="02040503050406030204" pitchFamily="18" charset="0"/>
                              <a:cs typeface="Times New Roman" pitchFamily="18" charset="0"/>
                            </a:rPr>
                          </m:ctrlPr>
                        </m:naryPr>
                        <m:sub>
                          <m:r>
                            <m:rPr>
                              <m:brk m:alnAt="23"/>
                            </m:rPr>
                            <a:rPr lang="en-GB" sz="1800" b="0" i="1" smtClean="0">
                              <a:solidFill>
                                <a:schemeClr val="tx1"/>
                              </a:solidFill>
                              <a:latin typeface="Cambria Math" panose="02040503050406030204" pitchFamily="18" charset="0"/>
                              <a:cs typeface="Times New Roman" pitchFamily="18" charset="0"/>
                            </a:rPr>
                            <m:t>𝑗</m:t>
                          </m:r>
                          <m:r>
                            <a:rPr lang="en-GB" sz="1800" b="0" i="1" smtClean="0">
                              <a:solidFill>
                                <a:schemeClr val="tx1"/>
                              </a:solidFill>
                              <a:latin typeface="Cambria Math" panose="02040503050406030204" pitchFamily="18" charset="0"/>
                              <a:cs typeface="Times New Roman" pitchFamily="18" charset="0"/>
                            </a:rPr>
                            <m:t>=1</m:t>
                          </m:r>
                        </m:sub>
                        <m:sup>
                          <m:r>
                            <a:rPr lang="en-GB" sz="1800" b="0" i="1" smtClean="0">
                              <a:solidFill>
                                <a:schemeClr val="tx1"/>
                              </a:solidFill>
                              <a:latin typeface="Cambria Math" panose="02040503050406030204" pitchFamily="18" charset="0"/>
                              <a:cs typeface="Times New Roman" pitchFamily="18" charset="0"/>
                            </a:rPr>
                            <m:t>3</m:t>
                          </m:r>
                        </m:sup>
                        <m:e>
                          <m:f>
                            <m:fPr>
                              <m:ctrlPr>
                                <a:rPr lang="en-GB" sz="1800" b="0" i="1" smtClean="0">
                                  <a:solidFill>
                                    <a:schemeClr val="tx1"/>
                                  </a:solidFill>
                                  <a:latin typeface="Cambria Math" panose="02040503050406030204" pitchFamily="18" charset="0"/>
                                  <a:cs typeface="Times New Roman" pitchFamily="18" charset="0"/>
                                </a:rPr>
                              </m:ctrlPr>
                            </m:fPr>
                            <m:num>
                              <m:d>
                                <m:dPr>
                                  <m:begChr m:val="|"/>
                                  <m:endChr m:val="|"/>
                                  <m:ctrlPr>
                                    <a:rPr lang="en-GB" sz="1800" b="0" i="1" smtClean="0">
                                      <a:solidFill>
                                        <a:schemeClr val="tx1"/>
                                      </a:solidFill>
                                      <a:latin typeface="Cambria Math" panose="02040503050406030204" pitchFamily="18" charset="0"/>
                                      <a:cs typeface="Times New Roman" pitchFamily="18" charset="0"/>
                                    </a:rPr>
                                  </m:ctrlPr>
                                </m:dPr>
                                <m:e>
                                  <m:sSub>
                                    <m:sSubPr>
                                      <m:ctrlPr>
                                        <a:rPr lang="en-GB" sz="1800" b="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𝐷</m:t>
                                      </m:r>
                                    </m:e>
                                    <m:sub>
                                      <m:r>
                                        <a:rPr lang="en-GB" sz="1800" b="0" i="1" smtClean="0">
                                          <a:solidFill>
                                            <a:schemeClr val="tx1"/>
                                          </a:solidFill>
                                          <a:latin typeface="Cambria Math" panose="02040503050406030204" pitchFamily="18" charset="0"/>
                                          <a:cs typeface="Times New Roman" pitchFamily="18" charset="0"/>
                                        </a:rPr>
                                        <m:t>𝑗</m:t>
                                      </m:r>
                                    </m:sub>
                                  </m:sSub>
                                </m:e>
                              </m:d>
                            </m:num>
                            <m:den>
                              <m:d>
                                <m:dPr>
                                  <m:begChr m:val="|"/>
                                  <m:endChr m:val="|"/>
                                  <m:ctrlPr>
                                    <a:rPr lang="en-GB" sz="1800" b="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den>
                          </m:f>
                        </m:e>
                      </m:nary>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𝐼𝑛𝑓𝑜</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𝐷</m:t>
                          </m:r>
                        </m:e>
                        <m: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𝑗</m:t>
                          </m:r>
                        </m:sub>
                      </m:s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oMath>
                  </m:oMathPara>
                </a14:m>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centerGroup"/>
                    </m:oMathParaPr>
                    <m:oMath xmlns:m="http://schemas.openxmlformats.org/officeDocument/2006/math">
                      <m:r>
                        <a:rPr lang="en-GB" sz="1800" b="0" i="1" smtClean="0">
                          <a:solidFill>
                            <a:schemeClr val="tx1"/>
                          </a:solidFill>
                          <a:latin typeface="Cambria Math" panose="02040503050406030204" pitchFamily="18" charset="0"/>
                          <a:cs typeface="Times New Roman" pitchFamily="18" charset="0"/>
                        </a:rPr>
                        <m:t>=</m:t>
                      </m:r>
                      <m:f>
                        <m:fPr>
                          <m:ctrlPr>
                            <a:rPr lang="en-GB" sz="1800" i="1" smtClean="0">
                              <a:solidFill>
                                <a:srgbClr val="00B0F0"/>
                              </a:solidFill>
                              <a:latin typeface="Cambria Math" panose="02040503050406030204" pitchFamily="18" charset="0"/>
                              <a:cs typeface="Times New Roman" pitchFamily="18" charset="0"/>
                            </a:rPr>
                          </m:ctrlPr>
                        </m:fPr>
                        <m:num>
                          <m:r>
                            <a:rPr lang="en-GB" sz="1800" i="1" smtClean="0">
                              <a:solidFill>
                                <a:srgbClr val="00B0F0"/>
                              </a:solidFill>
                              <a:latin typeface="Cambria Math" panose="02040503050406030204" pitchFamily="18" charset="0"/>
                              <a:cs typeface="Times New Roman" pitchFamily="18" charset="0"/>
                            </a:rPr>
                            <m:t>5</m:t>
                          </m:r>
                        </m:num>
                        <m:den>
                          <m:r>
                            <a:rPr lang="en-GB" sz="1800" b="0" i="1" smtClean="0">
                              <a:solidFill>
                                <a:srgbClr val="00B0F0"/>
                              </a:solidFill>
                              <a:latin typeface="Cambria Math" panose="02040503050406030204" pitchFamily="18" charset="0"/>
                              <a:cs typeface="Times New Roman" pitchFamily="18" charset="0"/>
                            </a:rPr>
                            <m:t>14</m:t>
                          </m:r>
                        </m:den>
                      </m:f>
                      <m:r>
                        <a:rPr lang="en-GB" sz="1800" i="1">
                          <a:solidFill>
                            <a:srgbClr val="00B0F0"/>
                          </a:solidFill>
                          <a:latin typeface="Cambria Math" panose="02040503050406030204" pitchFamily="18" charset="0"/>
                          <a:ea typeface="Cambria Math" panose="02040503050406030204" pitchFamily="18" charset="0"/>
                          <a:cs typeface="Times New Roman" pitchFamily="18" charset="0"/>
                        </a:rPr>
                        <m:t>×</m:t>
                      </m:r>
                      <m:r>
                        <a:rPr lang="en-GB" sz="1800" i="1" smtClean="0">
                          <a:solidFill>
                            <a:srgbClr val="00B0F0"/>
                          </a:solidFill>
                          <a:latin typeface="Cambria Math" panose="02040503050406030204" pitchFamily="18" charset="0"/>
                          <a:ea typeface="Cambria Math" panose="02040503050406030204" pitchFamily="18" charset="0"/>
                          <a:cs typeface="Times New Roman" pitchFamily="18" charset="0"/>
                        </a:rPr>
                        <m:t>𝐼</m:t>
                      </m:r>
                      <m:d>
                        <m:dPr>
                          <m:ctrlPr>
                            <a:rPr lang="en-GB" sz="1800" b="0" i="1" smtClean="0">
                              <a:solidFill>
                                <a:srgbClr val="00B0F0"/>
                              </a:solidFill>
                              <a:latin typeface="Cambria Math" panose="02040503050406030204" pitchFamily="18" charset="0"/>
                              <a:ea typeface="Cambria Math" panose="02040503050406030204" pitchFamily="18" charset="0"/>
                              <a:cs typeface="Times New Roman" pitchFamily="18" charset="0"/>
                            </a:rPr>
                          </m:ctrlPr>
                        </m:dPr>
                        <m:e>
                          <m:r>
                            <a:rPr lang="en-GB" sz="1800" b="0" i="1" smtClean="0">
                              <a:solidFill>
                                <a:srgbClr val="00B0F0"/>
                              </a:solidFill>
                              <a:latin typeface="Cambria Math" panose="02040503050406030204" pitchFamily="18" charset="0"/>
                              <a:ea typeface="Cambria Math" panose="02040503050406030204" pitchFamily="18" charset="0"/>
                              <a:cs typeface="Times New Roman" pitchFamily="18" charset="0"/>
                            </a:rPr>
                            <m:t>2,3</m:t>
                          </m:r>
                        </m:e>
                      </m:d>
                      <m:r>
                        <a:rPr lang="en-US" sz="1800" i="1" dirty="0" smtClean="0">
                          <a:solidFill>
                            <a:schemeClr val="tx1"/>
                          </a:solidFill>
                          <a:latin typeface="Cambria Math" panose="02040503050406030204" pitchFamily="18" charset="0"/>
                          <a:cs typeface="Times New Roman" pitchFamily="18" charset="0"/>
                        </a:rPr>
                        <m:t>+</m:t>
                      </m:r>
                      <m:f>
                        <m:fPr>
                          <m:ctrlPr>
                            <a:rPr lang="en-GB" sz="1800" i="1">
                              <a:solidFill>
                                <a:schemeClr val="tx1"/>
                              </a:solidFill>
                              <a:latin typeface="Cambria Math" panose="02040503050406030204" pitchFamily="18" charset="0"/>
                              <a:cs typeface="Times New Roman" pitchFamily="18" charset="0"/>
                            </a:rPr>
                          </m:ctrlPr>
                        </m:fPr>
                        <m:num>
                          <m:r>
                            <a:rPr lang="en-GB" sz="1800" b="0" i="1" smtClean="0">
                              <a:solidFill>
                                <a:schemeClr val="tx1"/>
                              </a:solidFill>
                              <a:latin typeface="Cambria Math" panose="02040503050406030204" pitchFamily="18" charset="0"/>
                              <a:cs typeface="Times New Roman" pitchFamily="18" charset="0"/>
                            </a:rPr>
                            <m:t>4</m:t>
                          </m:r>
                        </m:num>
                        <m:den>
                          <m:r>
                            <a:rPr lang="en-GB" sz="1800" i="1">
                              <a:solidFill>
                                <a:schemeClr val="tx1"/>
                              </a:solidFill>
                              <a:latin typeface="Cambria Math" panose="02040503050406030204" pitchFamily="18" charset="0"/>
                              <a:cs typeface="Times New Roman" pitchFamily="18" charset="0"/>
                            </a:rPr>
                            <m:t>14</m:t>
                          </m:r>
                        </m:den>
                      </m:f>
                      <m:r>
                        <a:rPr lang="en-GB" sz="1800" i="1">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ea typeface="Cambria Math" panose="02040503050406030204" pitchFamily="18" charset="0"/>
                          <a:cs typeface="Times New Roman" pitchFamily="18" charset="0"/>
                        </a:rPr>
                        <m:t>𝐼</m:t>
                      </m:r>
                      <m:d>
                        <m:dPr>
                          <m:ctrlPr>
                            <a:rPr lang="en-GB" sz="1800" i="1">
                              <a:solidFill>
                                <a:schemeClr val="tx1"/>
                              </a:solidFill>
                              <a:latin typeface="Cambria Math" panose="02040503050406030204" pitchFamily="18" charset="0"/>
                              <a:ea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4,0</m:t>
                          </m:r>
                        </m:e>
                      </m:d>
                      <m:r>
                        <a:rPr lang="en-US" sz="1800" i="1" dirty="0" smtClean="0">
                          <a:solidFill>
                            <a:schemeClr val="tx1"/>
                          </a:solidFill>
                          <a:latin typeface="Cambria Math" panose="02040503050406030204" pitchFamily="18" charset="0"/>
                          <a:cs typeface="Times New Roman" pitchFamily="18" charset="0"/>
                        </a:rPr>
                        <m:t>+</m:t>
                      </m:r>
                      <m:f>
                        <m:fPr>
                          <m:ctrlPr>
                            <a:rPr lang="en-GB" sz="1800" i="1">
                              <a:solidFill>
                                <a:schemeClr val="tx1"/>
                              </a:solidFill>
                              <a:latin typeface="Cambria Math" panose="02040503050406030204" pitchFamily="18" charset="0"/>
                              <a:cs typeface="Times New Roman" pitchFamily="18" charset="0"/>
                            </a:rPr>
                          </m:ctrlPr>
                        </m:fPr>
                        <m:num>
                          <m:r>
                            <a:rPr lang="en-GB" sz="1800" i="1">
                              <a:solidFill>
                                <a:schemeClr val="tx1"/>
                              </a:solidFill>
                              <a:latin typeface="Cambria Math" panose="02040503050406030204" pitchFamily="18" charset="0"/>
                              <a:cs typeface="Times New Roman" pitchFamily="18" charset="0"/>
                            </a:rPr>
                            <m:t>5</m:t>
                          </m:r>
                        </m:num>
                        <m:den>
                          <m:r>
                            <a:rPr lang="en-GB" sz="1800" i="1">
                              <a:solidFill>
                                <a:schemeClr val="tx1"/>
                              </a:solidFill>
                              <a:latin typeface="Cambria Math" panose="02040503050406030204" pitchFamily="18" charset="0"/>
                              <a:cs typeface="Times New Roman" pitchFamily="18" charset="0"/>
                            </a:rPr>
                            <m:t>14</m:t>
                          </m:r>
                        </m:den>
                      </m:f>
                      <m:r>
                        <a:rPr lang="en-GB" sz="1800" i="1">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ea typeface="Cambria Math" panose="02040503050406030204" pitchFamily="18" charset="0"/>
                          <a:cs typeface="Times New Roman" pitchFamily="18" charset="0"/>
                        </a:rPr>
                        <m:t>𝐼</m:t>
                      </m:r>
                      <m:d>
                        <m:dPr>
                          <m:ctrlPr>
                            <a:rPr lang="en-GB" sz="1800" i="1">
                              <a:solidFill>
                                <a:schemeClr val="tx1"/>
                              </a:solidFill>
                              <a:latin typeface="Cambria Math" panose="02040503050406030204" pitchFamily="18" charset="0"/>
                              <a:ea typeface="Cambria Math" panose="02040503050406030204" pitchFamily="18" charset="0"/>
                              <a:cs typeface="Times New Roman" pitchFamily="18" charset="0"/>
                            </a:rPr>
                          </m:ctrlPr>
                        </m:dPr>
                        <m:e>
                          <m:r>
                            <a:rPr lang="en-GB" sz="1800" i="1">
                              <a:solidFill>
                                <a:schemeClr val="tx1"/>
                              </a:solidFill>
                              <a:latin typeface="Cambria Math" panose="02040503050406030204" pitchFamily="18" charset="0"/>
                              <a:ea typeface="Cambria Math" panose="02040503050406030204" pitchFamily="18" charset="0"/>
                              <a:cs typeface="Times New Roman" pitchFamily="18" charset="0"/>
                            </a:rPr>
                            <m:t>2,3</m:t>
                          </m:r>
                        </m:e>
                      </m:d>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=0.694</m:t>
                      </m:r>
                    </m:oMath>
                  </m:oMathPara>
                </a14:m>
                <a:endParaRPr lang="en-US" sz="1800" dirty="0">
                  <a:solidFill>
                    <a:schemeClr val="tx1"/>
                  </a:solidFill>
                  <a:latin typeface="Times New Roman" pitchFamily="18" charset="0"/>
                  <a:cs typeface="Times New Roman" pitchFamily="18" charset="0"/>
                </a:endParaRPr>
              </a:p>
              <a:p>
                <a:pPr algn="just"/>
                <a14:m>
                  <m:oMath xmlns:m="http://schemas.openxmlformats.org/officeDocument/2006/math">
                    <m:f>
                      <m:fPr>
                        <m:ctrlPr>
                          <a:rPr lang="en-GB" sz="1800" b="1" i="1" smtClean="0">
                            <a:solidFill>
                              <a:schemeClr val="tx1"/>
                            </a:solidFill>
                            <a:latin typeface="Cambria Math" panose="02040503050406030204" pitchFamily="18" charset="0"/>
                            <a:cs typeface="Times New Roman" pitchFamily="18" charset="0"/>
                          </a:rPr>
                        </m:ctrlPr>
                      </m:fPr>
                      <m:num>
                        <m:r>
                          <a:rPr lang="en-GB" sz="1800" b="1" i="1" smtClean="0">
                            <a:solidFill>
                              <a:schemeClr val="tx1"/>
                            </a:solidFill>
                            <a:latin typeface="Cambria Math" panose="02040503050406030204" pitchFamily="18" charset="0"/>
                            <a:cs typeface="Times New Roman" pitchFamily="18" charset="0"/>
                          </a:rPr>
                          <m:t>𝟓</m:t>
                        </m:r>
                      </m:num>
                      <m:den>
                        <m:r>
                          <a:rPr lang="en-GB" sz="1800" b="1" i="1" smtClean="0">
                            <a:solidFill>
                              <a:schemeClr val="tx1"/>
                            </a:solidFill>
                            <a:latin typeface="Cambria Math" panose="02040503050406030204" pitchFamily="18" charset="0"/>
                            <a:cs typeface="Times New Roman" pitchFamily="18" charset="0"/>
                          </a:rPr>
                          <m:t>𝟏𝟒</m:t>
                        </m:r>
                      </m:den>
                    </m:f>
                    <m:r>
                      <a:rPr lang="en-GB" sz="1800" b="1" i="1">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1" i="1" smtClean="0">
                        <a:solidFill>
                          <a:schemeClr val="tx1"/>
                        </a:solidFill>
                        <a:latin typeface="Cambria Math" panose="02040503050406030204" pitchFamily="18" charset="0"/>
                        <a:ea typeface="Cambria Math" panose="02040503050406030204" pitchFamily="18" charset="0"/>
                        <a:cs typeface="Times New Roman" pitchFamily="18" charset="0"/>
                      </a:rPr>
                      <m:t>𝑰</m:t>
                    </m:r>
                    <m:r>
                      <a:rPr lang="en-GB" sz="1800" b="1"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1" i="1" smtClean="0">
                        <a:solidFill>
                          <a:schemeClr val="tx1"/>
                        </a:solidFill>
                        <a:latin typeface="Cambria Math" panose="02040503050406030204" pitchFamily="18" charset="0"/>
                        <a:ea typeface="Cambria Math" panose="02040503050406030204" pitchFamily="18" charset="0"/>
                        <a:cs typeface="Times New Roman" pitchFamily="18" charset="0"/>
                      </a:rPr>
                      <m:t>𝟐</m:t>
                    </m:r>
                    <m:r>
                      <a:rPr lang="en-GB" sz="1800" b="1"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1" i="1" smtClean="0">
                        <a:solidFill>
                          <a:schemeClr val="tx1"/>
                        </a:solidFill>
                        <a:latin typeface="Cambria Math" panose="02040503050406030204" pitchFamily="18" charset="0"/>
                        <a:ea typeface="Cambria Math" panose="02040503050406030204" pitchFamily="18" charset="0"/>
                        <a:cs typeface="Times New Roman" pitchFamily="18" charset="0"/>
                      </a:rPr>
                      <m:t>𝟑</m:t>
                    </m:r>
                    <m:r>
                      <a:rPr lang="en-GB" sz="1800" b="1" i="1" smtClean="0">
                        <a:solidFill>
                          <a:schemeClr val="tx1"/>
                        </a:solidFill>
                        <a:latin typeface="Cambria Math" panose="02040503050406030204" pitchFamily="18" charset="0"/>
                        <a:ea typeface="Cambria Math" panose="02040503050406030204" pitchFamily="18" charset="0"/>
                        <a:cs typeface="Times New Roman" pitchFamily="18" charset="0"/>
                      </a:rPr>
                      <m:t>)</m:t>
                    </m:r>
                  </m:oMath>
                </a14:m>
                <a:r>
                  <a:rPr lang="en-US" sz="1800" b="1" dirty="0">
                    <a:solidFill>
                      <a:schemeClr val="tx1"/>
                    </a:solidFill>
                    <a:latin typeface="Times New Roman" pitchFamily="18" charset="0"/>
                    <a:cs typeface="Times New Roman" pitchFamily="18" charset="0"/>
                  </a:rPr>
                  <a:t> </a:t>
                </a:r>
                <a:r>
                  <a:rPr lang="en-US" sz="1800" dirty="0">
                    <a:solidFill>
                      <a:schemeClr val="tx1"/>
                    </a:solidFill>
                    <a:latin typeface="Times New Roman" pitchFamily="18" charset="0"/>
                    <a:cs typeface="Times New Roman" pitchFamily="18" charset="0"/>
                  </a:rPr>
                  <a:t>means “age &lt;=30” has 5 out of 14 samples, with 2 yes’es  and 3 no’s. </a:t>
                </a:r>
              </a:p>
            </p:txBody>
          </p:sp>
        </mc:Choice>
        <mc:Fallback xmlns="">
          <p:sp>
            <p:nvSpPr>
              <p:cNvPr id="3" name="Subtitle 2">
                <a:extLst>
                  <a:ext uri="{FF2B5EF4-FFF2-40B4-BE49-F238E27FC236}">
                    <a16:creationId xmlns="" xmlns:a16="http://schemas.microsoft.com/office/drawing/2014/main" xmlns:a14="http://schemas.microsoft.com/office/drawing/2010/main" id="{6BF7D91A-9699-4491-9BBC-839E0B89A409}"/>
                  </a:ext>
                </a:extLst>
              </p:cNvPr>
              <p:cNvSpPr>
                <a:spLocks noGrp="1" noRot="1" noChangeAspect="1" noMove="1" noResize="1" noEditPoints="1" noAdjustHandles="1" noChangeArrowheads="1" noChangeShapeType="1" noTextEdit="1"/>
              </p:cNvSpPr>
              <p:nvPr>
                <p:ph type="subTitle" idx="1"/>
              </p:nvPr>
            </p:nvSpPr>
            <p:spPr>
              <a:xfrm>
                <a:off x="685800" y="1371600"/>
                <a:ext cx="3951287" cy="5257800"/>
              </a:xfrm>
              <a:blipFill rotWithShape="1">
                <a:blip r:embed="rId3"/>
                <a:stretch>
                  <a:fillRect l="-1389" t="-579" r="-1235"/>
                </a:stretch>
              </a:blipFill>
            </p:spPr>
            <p:txBody>
              <a:bodyPr/>
              <a:lstStyle/>
              <a:p>
                <a:r>
                  <a:rPr lang="en-US">
                    <a:noFill/>
                  </a:rPr>
                  <a:t> </a:t>
                </a:r>
              </a:p>
            </p:txBody>
          </p:sp>
        </mc:Fallback>
      </mc:AlternateContent>
      <p:graphicFrame>
        <p:nvGraphicFramePr>
          <p:cNvPr id="5" name="Object 1024">
            <a:extLst>
              <a:ext uri="{FF2B5EF4-FFF2-40B4-BE49-F238E27FC236}">
                <a16:creationId xmlns:a16="http://schemas.microsoft.com/office/drawing/2014/main" id="{89BF7636-D3A4-C0CC-B4E9-1F927EFC3978}"/>
              </a:ext>
            </a:extLst>
          </p:cNvPr>
          <p:cNvGraphicFramePr>
            <a:graphicFrameLocks/>
          </p:cNvGraphicFramePr>
          <p:nvPr>
            <p:extLst>
              <p:ext uri="{D42A27DB-BD31-4B8C-83A1-F6EECF244321}">
                <p14:modId xmlns:p14="http://schemas.microsoft.com/office/powerpoint/2010/main" val="3262456339"/>
              </p:ext>
            </p:extLst>
          </p:nvPr>
        </p:nvGraphicFramePr>
        <p:xfrm>
          <a:off x="4637088" y="1371600"/>
          <a:ext cx="4474256" cy="5105400"/>
        </p:xfrm>
        <a:graphic>
          <a:graphicData uri="http://schemas.openxmlformats.org/presentationml/2006/ole">
            <mc:AlternateContent xmlns:mc="http://schemas.openxmlformats.org/markup-compatibility/2006">
              <mc:Choice xmlns:v="urn:schemas-microsoft-com:vml" Requires="v">
                <p:oleObj name="Worksheet" r:id="rId4" imgW="5772150" imgH="4457700" progId="Excel.Sheet.8">
                  <p:embed/>
                </p:oleObj>
              </mc:Choice>
              <mc:Fallback>
                <p:oleObj name="Worksheet" r:id="rId4" imgW="5772150" imgH="4457700" progId="Excel.Sheet.8">
                  <p:embed/>
                  <p:pic>
                    <p:nvPicPr>
                      <p:cNvPr id="5" name="Object 1024">
                        <a:extLst>
                          <a:ext uri="{FF2B5EF4-FFF2-40B4-BE49-F238E27FC236}">
                            <a16:creationId xmlns:a16="http://schemas.microsoft.com/office/drawing/2014/main" id="{4E136E52-60C9-0730-52F6-5B8A306335D8}"/>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37088" y="1371600"/>
                        <a:ext cx="4474256" cy="5105400"/>
                      </a:xfrm>
                      <a:prstGeom prst="rect">
                        <a:avLst/>
                      </a:prstGeom>
                      <a:noFill/>
                      <a:ln>
                        <a:noFill/>
                      </a:ln>
                    </p:spPr>
                  </p:pic>
                </p:oleObj>
              </mc:Fallback>
            </mc:AlternateContent>
          </a:graphicData>
        </a:graphic>
      </p:graphicFrame>
      <p:sp>
        <p:nvSpPr>
          <p:cNvPr id="4" name="Oval 3">
            <a:extLst>
              <a:ext uri="{FF2B5EF4-FFF2-40B4-BE49-F238E27FC236}">
                <a16:creationId xmlns:a16="http://schemas.microsoft.com/office/drawing/2014/main" id="{D874F52E-6079-49BC-CA9E-7CC11A68D86A}"/>
              </a:ext>
            </a:extLst>
          </p:cNvPr>
          <p:cNvSpPr/>
          <p:nvPr/>
        </p:nvSpPr>
        <p:spPr>
          <a:xfrm>
            <a:off x="8153400" y="17526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8CFF9810-6207-D7A0-09D1-ACBE97A904ED}"/>
              </a:ext>
            </a:extLst>
          </p:cNvPr>
          <p:cNvSpPr/>
          <p:nvPr/>
        </p:nvSpPr>
        <p:spPr>
          <a:xfrm>
            <a:off x="8142514" y="20574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DD7CD11E-4C38-2A89-B8C2-1C04AC0AAA75}"/>
              </a:ext>
            </a:extLst>
          </p:cNvPr>
          <p:cNvSpPr/>
          <p:nvPr/>
        </p:nvSpPr>
        <p:spPr>
          <a:xfrm>
            <a:off x="8142514" y="4093029"/>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610FAFF8-2CEA-350E-CFB8-A24A61C696F5}"/>
              </a:ext>
            </a:extLst>
          </p:cNvPr>
          <p:cNvSpPr/>
          <p:nvPr/>
        </p:nvSpPr>
        <p:spPr>
          <a:xfrm>
            <a:off x="8142514" y="4430486"/>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2D6E01D9-E78B-67B9-7C6C-CE4C004A939F}"/>
              </a:ext>
            </a:extLst>
          </p:cNvPr>
          <p:cNvSpPr/>
          <p:nvPr/>
        </p:nvSpPr>
        <p:spPr>
          <a:xfrm>
            <a:off x="8142514" y="5116286"/>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D874F52E-6079-49BC-CA9E-7CC11A68D86A}"/>
              </a:ext>
            </a:extLst>
          </p:cNvPr>
          <p:cNvSpPr/>
          <p:nvPr/>
        </p:nvSpPr>
        <p:spPr>
          <a:xfrm>
            <a:off x="4648200" y="1752600"/>
            <a:ext cx="533400"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D874F52E-6079-49BC-CA9E-7CC11A68D86A}"/>
              </a:ext>
            </a:extLst>
          </p:cNvPr>
          <p:cNvSpPr/>
          <p:nvPr/>
        </p:nvSpPr>
        <p:spPr>
          <a:xfrm>
            <a:off x="4648200" y="2068902"/>
            <a:ext cx="533400"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D874F52E-6079-49BC-CA9E-7CC11A68D86A}"/>
              </a:ext>
            </a:extLst>
          </p:cNvPr>
          <p:cNvSpPr/>
          <p:nvPr/>
        </p:nvSpPr>
        <p:spPr>
          <a:xfrm>
            <a:off x="4635260" y="4125686"/>
            <a:ext cx="533400"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D874F52E-6079-49BC-CA9E-7CC11A68D86A}"/>
              </a:ext>
            </a:extLst>
          </p:cNvPr>
          <p:cNvSpPr/>
          <p:nvPr/>
        </p:nvSpPr>
        <p:spPr>
          <a:xfrm>
            <a:off x="4630947" y="4430486"/>
            <a:ext cx="533400"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D874F52E-6079-49BC-CA9E-7CC11A68D86A}"/>
              </a:ext>
            </a:extLst>
          </p:cNvPr>
          <p:cNvSpPr/>
          <p:nvPr/>
        </p:nvSpPr>
        <p:spPr>
          <a:xfrm>
            <a:off x="4630947" y="5116286"/>
            <a:ext cx="533400"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2032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0D7B3-1B86-ED3D-C67B-5208FC2703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7749EE-374C-903D-D46F-555862829B86}"/>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6BF7D91A-9699-4491-9BBC-839E0B89A409}"/>
                  </a:ext>
                </a:extLst>
              </p:cNvPr>
              <p:cNvSpPr>
                <a:spLocks noGrp="1"/>
              </p:cNvSpPr>
              <p:nvPr>
                <p:ph type="subTitle" idx="1"/>
              </p:nvPr>
            </p:nvSpPr>
            <p:spPr>
              <a:xfrm>
                <a:off x="685800" y="1371600"/>
                <a:ext cx="3951287" cy="5257800"/>
              </a:xfrm>
            </p:spPr>
            <p:txBody>
              <a:bodyPr>
                <a:normAutofit/>
              </a:bodyPr>
              <a:lstStyle/>
              <a:p>
                <a:pPr algn="just"/>
                <a:r>
                  <a:rPr lang="en-US" sz="1800" b="1" dirty="0">
                    <a:solidFill>
                      <a:schemeClr val="tx1"/>
                    </a:solidFill>
                    <a:latin typeface="Times New Roman" pitchFamily="18" charset="0"/>
                    <a:cs typeface="Times New Roman" pitchFamily="18" charset="0"/>
                  </a:rPr>
                  <a:t>Information needed (after using A to split D into v partitions)</a:t>
                </a:r>
              </a:p>
              <a:p>
                <a:pPr algn="just"/>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𝐼𝑛𝑓𝑜</m:t>
                          </m:r>
                        </m:e>
                        <m:sub>
                          <m:r>
                            <a:rPr lang="en-GB" sz="1800" b="0" i="1" smtClean="0">
                              <a:solidFill>
                                <a:schemeClr val="tx1"/>
                              </a:solidFill>
                              <a:latin typeface="Cambria Math" panose="02040503050406030204" pitchFamily="18" charset="0"/>
                              <a:cs typeface="Times New Roman" pitchFamily="18" charset="0"/>
                            </a:rPr>
                            <m:t>𝐴</m:t>
                          </m:r>
                        </m:sub>
                      </m:sSub>
                      <m:d>
                        <m:dPr>
                          <m:ctrlPr>
                            <a:rPr lang="en-GB" sz="1800" b="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r>
                        <a:rPr lang="en-GB" sz="1800" b="0" i="1" smtClean="0">
                          <a:solidFill>
                            <a:schemeClr val="tx1"/>
                          </a:solidFill>
                          <a:latin typeface="Cambria Math" panose="02040503050406030204" pitchFamily="18" charset="0"/>
                          <a:cs typeface="Times New Roman" pitchFamily="18" charset="0"/>
                        </a:rPr>
                        <m:t>=</m:t>
                      </m:r>
                      <m:nary>
                        <m:naryPr>
                          <m:chr m:val="∑"/>
                          <m:ctrlPr>
                            <a:rPr lang="en-GB" sz="1800" b="0" i="1" smtClean="0">
                              <a:solidFill>
                                <a:schemeClr val="tx1"/>
                              </a:solidFill>
                              <a:latin typeface="Cambria Math" panose="02040503050406030204" pitchFamily="18" charset="0"/>
                              <a:cs typeface="Times New Roman" pitchFamily="18" charset="0"/>
                            </a:rPr>
                          </m:ctrlPr>
                        </m:naryPr>
                        <m:sub>
                          <m:r>
                            <m:rPr>
                              <m:brk m:alnAt="23"/>
                            </m:rPr>
                            <a:rPr lang="en-GB" sz="1800" b="0" i="1" smtClean="0">
                              <a:solidFill>
                                <a:schemeClr val="tx1"/>
                              </a:solidFill>
                              <a:latin typeface="Cambria Math" panose="02040503050406030204" pitchFamily="18" charset="0"/>
                              <a:cs typeface="Times New Roman" pitchFamily="18" charset="0"/>
                            </a:rPr>
                            <m:t>𝑗</m:t>
                          </m:r>
                          <m:r>
                            <a:rPr lang="en-GB" sz="1800" b="0" i="1" smtClean="0">
                              <a:solidFill>
                                <a:schemeClr val="tx1"/>
                              </a:solidFill>
                              <a:latin typeface="Cambria Math" panose="02040503050406030204" pitchFamily="18" charset="0"/>
                              <a:cs typeface="Times New Roman" pitchFamily="18" charset="0"/>
                            </a:rPr>
                            <m:t>=1</m:t>
                          </m:r>
                        </m:sub>
                        <m:sup>
                          <m:r>
                            <a:rPr lang="en-GB" sz="1800" b="0" i="1" smtClean="0">
                              <a:solidFill>
                                <a:schemeClr val="tx1"/>
                              </a:solidFill>
                              <a:latin typeface="Cambria Math" panose="02040503050406030204" pitchFamily="18" charset="0"/>
                              <a:cs typeface="Times New Roman" pitchFamily="18" charset="0"/>
                            </a:rPr>
                            <m:t>𝑣</m:t>
                          </m:r>
                        </m:sup>
                        <m:e>
                          <m:f>
                            <m:fPr>
                              <m:ctrlPr>
                                <a:rPr lang="en-GB" sz="1800" b="0" i="1" smtClean="0">
                                  <a:solidFill>
                                    <a:schemeClr val="tx1"/>
                                  </a:solidFill>
                                  <a:latin typeface="Cambria Math" panose="02040503050406030204" pitchFamily="18" charset="0"/>
                                  <a:cs typeface="Times New Roman" pitchFamily="18" charset="0"/>
                                </a:rPr>
                              </m:ctrlPr>
                            </m:fPr>
                            <m:num>
                              <m:d>
                                <m:dPr>
                                  <m:begChr m:val="|"/>
                                  <m:endChr m:val="|"/>
                                  <m:ctrlPr>
                                    <a:rPr lang="en-GB" sz="1800" b="0" i="1" smtClean="0">
                                      <a:solidFill>
                                        <a:schemeClr val="tx1"/>
                                      </a:solidFill>
                                      <a:latin typeface="Cambria Math" panose="02040503050406030204" pitchFamily="18" charset="0"/>
                                      <a:cs typeface="Times New Roman" pitchFamily="18" charset="0"/>
                                    </a:rPr>
                                  </m:ctrlPr>
                                </m:dPr>
                                <m:e>
                                  <m:sSub>
                                    <m:sSubPr>
                                      <m:ctrlPr>
                                        <a:rPr lang="en-GB" sz="1800" b="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𝐷</m:t>
                                      </m:r>
                                    </m:e>
                                    <m:sub>
                                      <m:r>
                                        <a:rPr lang="en-GB" sz="1800" b="0" i="1" smtClean="0">
                                          <a:solidFill>
                                            <a:schemeClr val="tx1"/>
                                          </a:solidFill>
                                          <a:latin typeface="Cambria Math" panose="02040503050406030204" pitchFamily="18" charset="0"/>
                                          <a:cs typeface="Times New Roman" pitchFamily="18" charset="0"/>
                                        </a:rPr>
                                        <m:t>𝑗</m:t>
                                      </m:r>
                                    </m:sub>
                                  </m:sSub>
                                </m:e>
                              </m:d>
                            </m:num>
                            <m:den>
                              <m:d>
                                <m:dPr>
                                  <m:begChr m:val="|"/>
                                  <m:endChr m:val="|"/>
                                  <m:ctrlPr>
                                    <a:rPr lang="en-GB" sz="1800" b="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den>
                          </m:f>
                        </m:e>
                      </m:nary>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𝐼𝑛𝑓𝑜</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𝐷</m:t>
                          </m:r>
                        </m:e>
                        <m: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𝑗</m:t>
                          </m:r>
                        </m:sub>
                      </m:s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oMath>
                  </m:oMathPara>
                </a14:m>
                <a:endParaRPr lang="en-US" sz="1800" dirty="0">
                  <a:solidFill>
                    <a:schemeClr val="tx1"/>
                  </a:solidFill>
                  <a:latin typeface="Times New Roman" pitchFamily="18" charset="0"/>
                  <a:cs typeface="Times New Roman" pitchFamily="18" charset="0"/>
                </a:endParaRPr>
              </a:p>
              <a:p>
                <a:pPr algn="just"/>
                <a:endParaRPr lang="en-GB"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Example</a:t>
                </a:r>
              </a:p>
              <a:p>
                <a:pPr algn="just"/>
                <a14:m>
                  <m:oMathPara xmlns:m="http://schemas.openxmlformats.org/officeDocument/2006/math">
                    <m:oMathParaPr>
                      <m:jc m:val="left"/>
                    </m:oMathParaPr>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𝐼𝑛𝑓𝑜</m:t>
                          </m:r>
                        </m:e>
                        <m:sub>
                          <m:r>
                            <a:rPr lang="en-GB" sz="1800" b="0" i="1" smtClean="0">
                              <a:solidFill>
                                <a:schemeClr val="tx1"/>
                              </a:solidFill>
                              <a:latin typeface="Cambria Math" panose="02040503050406030204" pitchFamily="18" charset="0"/>
                              <a:cs typeface="Times New Roman" pitchFamily="18" charset="0"/>
                            </a:rPr>
                            <m:t>𝑎𝑔𝑒</m:t>
                          </m:r>
                        </m:sub>
                      </m:sSub>
                      <m:d>
                        <m:dPr>
                          <m:ctrlPr>
                            <a:rPr lang="en-GB" sz="1800" b="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r>
                        <a:rPr lang="en-GB" sz="1800" b="0" i="1" smtClean="0">
                          <a:solidFill>
                            <a:schemeClr val="tx1"/>
                          </a:solidFill>
                          <a:latin typeface="Cambria Math" panose="02040503050406030204" pitchFamily="18" charset="0"/>
                          <a:cs typeface="Times New Roman" pitchFamily="18" charset="0"/>
                        </a:rPr>
                        <m:t>=</m:t>
                      </m:r>
                      <m:nary>
                        <m:naryPr>
                          <m:chr m:val="∑"/>
                          <m:ctrlPr>
                            <a:rPr lang="en-GB" sz="1800" b="0" i="1" smtClean="0">
                              <a:solidFill>
                                <a:schemeClr val="tx1"/>
                              </a:solidFill>
                              <a:latin typeface="Cambria Math" panose="02040503050406030204" pitchFamily="18" charset="0"/>
                              <a:cs typeface="Times New Roman" pitchFamily="18" charset="0"/>
                            </a:rPr>
                          </m:ctrlPr>
                        </m:naryPr>
                        <m:sub>
                          <m:r>
                            <m:rPr>
                              <m:brk m:alnAt="23"/>
                            </m:rPr>
                            <a:rPr lang="en-GB" sz="1800" b="0" i="1" smtClean="0">
                              <a:solidFill>
                                <a:schemeClr val="tx1"/>
                              </a:solidFill>
                              <a:latin typeface="Cambria Math" panose="02040503050406030204" pitchFamily="18" charset="0"/>
                              <a:cs typeface="Times New Roman" pitchFamily="18" charset="0"/>
                            </a:rPr>
                            <m:t>𝑗</m:t>
                          </m:r>
                          <m:r>
                            <a:rPr lang="en-GB" sz="1800" b="0" i="1" smtClean="0">
                              <a:solidFill>
                                <a:schemeClr val="tx1"/>
                              </a:solidFill>
                              <a:latin typeface="Cambria Math" panose="02040503050406030204" pitchFamily="18" charset="0"/>
                              <a:cs typeface="Times New Roman" pitchFamily="18" charset="0"/>
                            </a:rPr>
                            <m:t>=1</m:t>
                          </m:r>
                        </m:sub>
                        <m:sup>
                          <m:r>
                            <a:rPr lang="en-GB" sz="1800" b="0" i="1" smtClean="0">
                              <a:solidFill>
                                <a:schemeClr val="tx1"/>
                              </a:solidFill>
                              <a:latin typeface="Cambria Math" panose="02040503050406030204" pitchFamily="18" charset="0"/>
                              <a:cs typeface="Times New Roman" pitchFamily="18" charset="0"/>
                            </a:rPr>
                            <m:t>3</m:t>
                          </m:r>
                        </m:sup>
                        <m:e>
                          <m:f>
                            <m:fPr>
                              <m:ctrlPr>
                                <a:rPr lang="en-GB" sz="1800" b="0" i="1" smtClean="0">
                                  <a:solidFill>
                                    <a:schemeClr val="tx1"/>
                                  </a:solidFill>
                                  <a:latin typeface="Cambria Math" panose="02040503050406030204" pitchFamily="18" charset="0"/>
                                  <a:cs typeface="Times New Roman" pitchFamily="18" charset="0"/>
                                </a:rPr>
                              </m:ctrlPr>
                            </m:fPr>
                            <m:num>
                              <m:d>
                                <m:dPr>
                                  <m:begChr m:val="|"/>
                                  <m:endChr m:val="|"/>
                                  <m:ctrlPr>
                                    <a:rPr lang="en-GB" sz="1800" b="0" i="1" smtClean="0">
                                      <a:solidFill>
                                        <a:schemeClr val="tx1"/>
                                      </a:solidFill>
                                      <a:latin typeface="Cambria Math" panose="02040503050406030204" pitchFamily="18" charset="0"/>
                                      <a:cs typeface="Times New Roman" pitchFamily="18" charset="0"/>
                                    </a:rPr>
                                  </m:ctrlPr>
                                </m:dPr>
                                <m:e>
                                  <m:sSub>
                                    <m:sSubPr>
                                      <m:ctrlPr>
                                        <a:rPr lang="en-GB" sz="1800" b="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𝐷</m:t>
                                      </m:r>
                                    </m:e>
                                    <m:sub>
                                      <m:r>
                                        <a:rPr lang="en-GB" sz="1800" b="0" i="1" smtClean="0">
                                          <a:solidFill>
                                            <a:schemeClr val="tx1"/>
                                          </a:solidFill>
                                          <a:latin typeface="Cambria Math" panose="02040503050406030204" pitchFamily="18" charset="0"/>
                                          <a:cs typeface="Times New Roman" pitchFamily="18" charset="0"/>
                                        </a:rPr>
                                        <m:t>𝑗</m:t>
                                      </m:r>
                                    </m:sub>
                                  </m:sSub>
                                </m:e>
                              </m:d>
                            </m:num>
                            <m:den>
                              <m:d>
                                <m:dPr>
                                  <m:begChr m:val="|"/>
                                  <m:endChr m:val="|"/>
                                  <m:ctrlPr>
                                    <a:rPr lang="en-GB" sz="1800" b="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den>
                          </m:f>
                        </m:e>
                      </m:nary>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𝐼𝑛𝑓𝑜</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𝐷</m:t>
                          </m:r>
                        </m:e>
                        <m: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𝑗</m:t>
                          </m:r>
                        </m:sub>
                      </m:s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oMath>
                  </m:oMathPara>
                </a14:m>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centerGroup"/>
                    </m:oMathParaPr>
                    <m:oMath xmlns:m="http://schemas.openxmlformats.org/officeDocument/2006/math">
                      <m:r>
                        <a:rPr lang="en-GB" sz="1800" b="0" i="1" smtClean="0">
                          <a:solidFill>
                            <a:schemeClr val="tx1"/>
                          </a:solidFill>
                          <a:latin typeface="Cambria Math" panose="02040503050406030204" pitchFamily="18" charset="0"/>
                          <a:cs typeface="Times New Roman" pitchFamily="18" charset="0"/>
                        </a:rPr>
                        <m:t>=</m:t>
                      </m:r>
                      <m:f>
                        <m:fPr>
                          <m:ctrlPr>
                            <a:rPr lang="en-GB" sz="1800" i="1">
                              <a:solidFill>
                                <a:schemeClr val="tx1"/>
                              </a:solidFill>
                              <a:latin typeface="Cambria Math" panose="02040503050406030204" pitchFamily="18" charset="0"/>
                              <a:cs typeface="Times New Roman" pitchFamily="18" charset="0"/>
                            </a:rPr>
                          </m:ctrlPr>
                        </m:fPr>
                        <m:num>
                          <m:r>
                            <a:rPr lang="en-GB" sz="1800" i="1" smtClean="0">
                              <a:solidFill>
                                <a:schemeClr val="tx1"/>
                              </a:solidFill>
                              <a:latin typeface="Cambria Math" panose="02040503050406030204" pitchFamily="18" charset="0"/>
                              <a:cs typeface="Times New Roman" pitchFamily="18" charset="0"/>
                            </a:rPr>
                            <m:t>5</m:t>
                          </m:r>
                        </m:num>
                        <m:den>
                          <m:r>
                            <a:rPr lang="en-GB" sz="1800" b="0" i="1" smtClean="0">
                              <a:solidFill>
                                <a:schemeClr val="tx1"/>
                              </a:solidFill>
                              <a:latin typeface="Cambria Math" panose="02040503050406030204" pitchFamily="18" charset="0"/>
                              <a:cs typeface="Times New Roman" pitchFamily="18" charset="0"/>
                            </a:rPr>
                            <m:t>14</m:t>
                          </m:r>
                        </m:den>
                      </m:f>
                      <m:r>
                        <a:rPr lang="en-GB" sz="1800" i="1">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smtClean="0">
                          <a:solidFill>
                            <a:schemeClr val="tx1"/>
                          </a:solidFill>
                          <a:latin typeface="Cambria Math" panose="02040503050406030204" pitchFamily="18" charset="0"/>
                          <a:ea typeface="Cambria Math" panose="02040503050406030204" pitchFamily="18" charset="0"/>
                          <a:cs typeface="Times New Roman" pitchFamily="18" charset="0"/>
                        </a:rPr>
                        <m:t>𝐼</m:t>
                      </m:r>
                      <m:d>
                        <m:d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2,3</m:t>
                          </m:r>
                        </m:e>
                      </m:d>
                      <m:r>
                        <a:rPr lang="en-US" sz="1800" i="1" dirty="0" smtClean="0">
                          <a:solidFill>
                            <a:schemeClr val="tx1"/>
                          </a:solidFill>
                          <a:latin typeface="Cambria Math" panose="02040503050406030204" pitchFamily="18" charset="0"/>
                          <a:cs typeface="Times New Roman" pitchFamily="18" charset="0"/>
                        </a:rPr>
                        <m:t>+</m:t>
                      </m:r>
                      <m:f>
                        <m:fPr>
                          <m:ctrlPr>
                            <a:rPr lang="en-GB" sz="1800" i="1" smtClean="0">
                              <a:solidFill>
                                <a:srgbClr val="00B0F0"/>
                              </a:solidFill>
                              <a:latin typeface="Cambria Math" panose="02040503050406030204" pitchFamily="18" charset="0"/>
                              <a:cs typeface="Times New Roman" pitchFamily="18" charset="0"/>
                            </a:rPr>
                          </m:ctrlPr>
                        </m:fPr>
                        <m:num>
                          <m:r>
                            <a:rPr lang="en-GB" sz="1800" b="0" i="1" smtClean="0">
                              <a:solidFill>
                                <a:srgbClr val="00B0F0"/>
                              </a:solidFill>
                              <a:latin typeface="Cambria Math" panose="02040503050406030204" pitchFamily="18" charset="0"/>
                              <a:cs typeface="Times New Roman" pitchFamily="18" charset="0"/>
                            </a:rPr>
                            <m:t>4</m:t>
                          </m:r>
                        </m:num>
                        <m:den>
                          <m:r>
                            <a:rPr lang="en-GB" sz="1800" i="1">
                              <a:solidFill>
                                <a:srgbClr val="00B0F0"/>
                              </a:solidFill>
                              <a:latin typeface="Cambria Math" panose="02040503050406030204" pitchFamily="18" charset="0"/>
                              <a:cs typeface="Times New Roman" pitchFamily="18" charset="0"/>
                            </a:rPr>
                            <m:t>14</m:t>
                          </m:r>
                        </m:den>
                      </m:f>
                      <m:r>
                        <a:rPr lang="en-GB" sz="1800" i="1">
                          <a:solidFill>
                            <a:srgbClr val="00B0F0"/>
                          </a:solidFill>
                          <a:latin typeface="Cambria Math" panose="02040503050406030204" pitchFamily="18" charset="0"/>
                          <a:ea typeface="Cambria Math" panose="02040503050406030204" pitchFamily="18" charset="0"/>
                          <a:cs typeface="Times New Roman" pitchFamily="18" charset="0"/>
                        </a:rPr>
                        <m:t>×</m:t>
                      </m:r>
                      <m:r>
                        <a:rPr lang="en-GB" sz="1800" i="1">
                          <a:solidFill>
                            <a:srgbClr val="00B0F0"/>
                          </a:solidFill>
                          <a:latin typeface="Cambria Math" panose="02040503050406030204" pitchFamily="18" charset="0"/>
                          <a:ea typeface="Cambria Math" panose="02040503050406030204" pitchFamily="18" charset="0"/>
                          <a:cs typeface="Times New Roman" pitchFamily="18" charset="0"/>
                        </a:rPr>
                        <m:t>𝐼</m:t>
                      </m:r>
                      <m:d>
                        <m:dPr>
                          <m:ctrlPr>
                            <a:rPr lang="en-GB" sz="1800" i="1">
                              <a:solidFill>
                                <a:srgbClr val="00B0F0"/>
                              </a:solidFill>
                              <a:latin typeface="Cambria Math" panose="02040503050406030204" pitchFamily="18" charset="0"/>
                              <a:ea typeface="Cambria Math" panose="02040503050406030204" pitchFamily="18" charset="0"/>
                              <a:cs typeface="Times New Roman" pitchFamily="18" charset="0"/>
                            </a:rPr>
                          </m:ctrlPr>
                        </m:dPr>
                        <m:e>
                          <m:r>
                            <a:rPr lang="en-GB" sz="1800" b="0" i="1" smtClean="0">
                              <a:solidFill>
                                <a:srgbClr val="00B0F0"/>
                              </a:solidFill>
                              <a:latin typeface="Cambria Math" panose="02040503050406030204" pitchFamily="18" charset="0"/>
                              <a:ea typeface="Cambria Math" panose="02040503050406030204" pitchFamily="18" charset="0"/>
                              <a:cs typeface="Times New Roman" pitchFamily="18" charset="0"/>
                            </a:rPr>
                            <m:t>4,0</m:t>
                          </m:r>
                        </m:e>
                      </m:d>
                      <m:r>
                        <a:rPr lang="en-US" sz="1800" i="1" dirty="0" smtClean="0">
                          <a:solidFill>
                            <a:schemeClr val="tx1"/>
                          </a:solidFill>
                          <a:latin typeface="Cambria Math" panose="02040503050406030204" pitchFamily="18" charset="0"/>
                          <a:cs typeface="Times New Roman" pitchFamily="18" charset="0"/>
                        </a:rPr>
                        <m:t>+</m:t>
                      </m:r>
                      <m:f>
                        <m:fPr>
                          <m:ctrlPr>
                            <a:rPr lang="en-GB" sz="1800" i="1">
                              <a:solidFill>
                                <a:schemeClr val="tx1"/>
                              </a:solidFill>
                              <a:latin typeface="Cambria Math" panose="02040503050406030204" pitchFamily="18" charset="0"/>
                              <a:cs typeface="Times New Roman" pitchFamily="18" charset="0"/>
                            </a:rPr>
                          </m:ctrlPr>
                        </m:fPr>
                        <m:num>
                          <m:r>
                            <a:rPr lang="en-GB" sz="1800" i="1">
                              <a:solidFill>
                                <a:schemeClr val="tx1"/>
                              </a:solidFill>
                              <a:latin typeface="Cambria Math" panose="02040503050406030204" pitchFamily="18" charset="0"/>
                              <a:cs typeface="Times New Roman" pitchFamily="18" charset="0"/>
                            </a:rPr>
                            <m:t>5</m:t>
                          </m:r>
                        </m:num>
                        <m:den>
                          <m:r>
                            <a:rPr lang="en-GB" sz="1800" i="1">
                              <a:solidFill>
                                <a:schemeClr val="tx1"/>
                              </a:solidFill>
                              <a:latin typeface="Cambria Math" panose="02040503050406030204" pitchFamily="18" charset="0"/>
                              <a:cs typeface="Times New Roman" pitchFamily="18" charset="0"/>
                            </a:rPr>
                            <m:t>14</m:t>
                          </m:r>
                        </m:den>
                      </m:f>
                      <m:r>
                        <a:rPr lang="en-GB" sz="1800" i="1">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ea typeface="Cambria Math" panose="02040503050406030204" pitchFamily="18" charset="0"/>
                          <a:cs typeface="Times New Roman" pitchFamily="18" charset="0"/>
                        </a:rPr>
                        <m:t>𝐼</m:t>
                      </m:r>
                      <m:d>
                        <m:dPr>
                          <m:ctrlPr>
                            <a:rPr lang="en-GB" sz="1800" i="1">
                              <a:solidFill>
                                <a:schemeClr val="tx1"/>
                              </a:solidFill>
                              <a:latin typeface="Cambria Math" panose="02040503050406030204" pitchFamily="18" charset="0"/>
                              <a:ea typeface="Cambria Math" panose="02040503050406030204" pitchFamily="18" charset="0"/>
                              <a:cs typeface="Times New Roman" pitchFamily="18" charset="0"/>
                            </a:rPr>
                          </m:ctrlPr>
                        </m:dPr>
                        <m:e>
                          <m:r>
                            <a:rPr lang="en-GB" sz="1800" i="1">
                              <a:solidFill>
                                <a:schemeClr val="tx1"/>
                              </a:solidFill>
                              <a:latin typeface="Cambria Math" panose="02040503050406030204" pitchFamily="18" charset="0"/>
                              <a:ea typeface="Cambria Math" panose="02040503050406030204" pitchFamily="18" charset="0"/>
                              <a:cs typeface="Times New Roman" pitchFamily="18" charset="0"/>
                            </a:rPr>
                            <m:t>2,3</m:t>
                          </m:r>
                        </m:e>
                      </m:d>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=0.694</m:t>
                      </m:r>
                    </m:oMath>
                  </m:oMathPara>
                </a14:m>
                <a:endParaRPr lang="en-US" sz="1800" dirty="0">
                  <a:solidFill>
                    <a:schemeClr val="tx1"/>
                  </a:solidFill>
                  <a:latin typeface="Times New Roman" pitchFamily="18" charset="0"/>
                  <a:cs typeface="Times New Roman" pitchFamily="18" charset="0"/>
                </a:endParaRPr>
              </a:p>
              <a:p>
                <a:pPr algn="just"/>
                <a14:m>
                  <m:oMath xmlns:m="http://schemas.openxmlformats.org/officeDocument/2006/math">
                    <m:f>
                      <m:fPr>
                        <m:ctrlPr>
                          <a:rPr lang="en-GB" sz="1800" b="1" i="1" smtClean="0">
                            <a:solidFill>
                              <a:schemeClr val="tx1"/>
                            </a:solidFill>
                            <a:latin typeface="Cambria Math" panose="02040503050406030204" pitchFamily="18" charset="0"/>
                            <a:cs typeface="Times New Roman" pitchFamily="18" charset="0"/>
                          </a:rPr>
                        </m:ctrlPr>
                      </m:fPr>
                      <m:num>
                        <m:r>
                          <a:rPr lang="en-GB" sz="1800" b="1" i="1" smtClean="0">
                            <a:solidFill>
                              <a:schemeClr val="tx1"/>
                            </a:solidFill>
                            <a:latin typeface="Cambria Math" panose="02040503050406030204" pitchFamily="18" charset="0"/>
                            <a:cs typeface="Times New Roman" pitchFamily="18" charset="0"/>
                          </a:rPr>
                          <m:t>𝟓</m:t>
                        </m:r>
                      </m:num>
                      <m:den>
                        <m:r>
                          <a:rPr lang="en-GB" sz="1800" b="1" i="1" smtClean="0">
                            <a:solidFill>
                              <a:schemeClr val="tx1"/>
                            </a:solidFill>
                            <a:latin typeface="Cambria Math" panose="02040503050406030204" pitchFamily="18" charset="0"/>
                            <a:cs typeface="Times New Roman" pitchFamily="18" charset="0"/>
                          </a:rPr>
                          <m:t>𝟏𝟒</m:t>
                        </m:r>
                      </m:den>
                    </m:f>
                    <m:r>
                      <a:rPr lang="en-GB" sz="1800" b="1" i="1">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1" i="1" smtClean="0">
                        <a:solidFill>
                          <a:schemeClr val="tx1"/>
                        </a:solidFill>
                        <a:latin typeface="Cambria Math" panose="02040503050406030204" pitchFamily="18" charset="0"/>
                        <a:ea typeface="Cambria Math" panose="02040503050406030204" pitchFamily="18" charset="0"/>
                        <a:cs typeface="Times New Roman" pitchFamily="18" charset="0"/>
                      </a:rPr>
                      <m:t>𝑰</m:t>
                    </m:r>
                    <m:r>
                      <a:rPr lang="en-GB" sz="1800" b="1"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1" i="1" smtClean="0">
                        <a:solidFill>
                          <a:schemeClr val="tx1"/>
                        </a:solidFill>
                        <a:latin typeface="Cambria Math" panose="02040503050406030204" pitchFamily="18" charset="0"/>
                        <a:ea typeface="Cambria Math" panose="02040503050406030204" pitchFamily="18" charset="0"/>
                        <a:cs typeface="Times New Roman" pitchFamily="18" charset="0"/>
                      </a:rPr>
                      <m:t>𝟐</m:t>
                    </m:r>
                    <m:r>
                      <a:rPr lang="en-GB" sz="1800" b="1"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1" i="1" smtClean="0">
                        <a:solidFill>
                          <a:schemeClr val="tx1"/>
                        </a:solidFill>
                        <a:latin typeface="Cambria Math" panose="02040503050406030204" pitchFamily="18" charset="0"/>
                        <a:ea typeface="Cambria Math" panose="02040503050406030204" pitchFamily="18" charset="0"/>
                        <a:cs typeface="Times New Roman" pitchFamily="18" charset="0"/>
                      </a:rPr>
                      <m:t>𝟑</m:t>
                    </m:r>
                    <m:r>
                      <a:rPr lang="en-GB" sz="1800" b="1" i="1" smtClean="0">
                        <a:solidFill>
                          <a:schemeClr val="tx1"/>
                        </a:solidFill>
                        <a:latin typeface="Cambria Math" panose="02040503050406030204" pitchFamily="18" charset="0"/>
                        <a:ea typeface="Cambria Math" panose="02040503050406030204" pitchFamily="18" charset="0"/>
                        <a:cs typeface="Times New Roman" pitchFamily="18" charset="0"/>
                      </a:rPr>
                      <m:t>)</m:t>
                    </m:r>
                  </m:oMath>
                </a14:m>
                <a:r>
                  <a:rPr lang="en-US" sz="1800" b="1" dirty="0">
                    <a:solidFill>
                      <a:schemeClr val="tx1"/>
                    </a:solidFill>
                    <a:latin typeface="Times New Roman" pitchFamily="18" charset="0"/>
                    <a:cs typeface="Times New Roman" pitchFamily="18" charset="0"/>
                  </a:rPr>
                  <a:t> </a:t>
                </a:r>
                <a:r>
                  <a:rPr lang="en-US" sz="1800" dirty="0">
                    <a:solidFill>
                      <a:schemeClr val="tx1"/>
                    </a:solidFill>
                    <a:latin typeface="Times New Roman" pitchFamily="18" charset="0"/>
                    <a:cs typeface="Times New Roman" pitchFamily="18" charset="0"/>
                  </a:rPr>
                  <a:t>means “age &lt;=30” has 5 out of 14 samples, with 2 yes’es  and 3 no’s. </a:t>
                </a:r>
              </a:p>
            </p:txBody>
          </p:sp>
        </mc:Choice>
        <mc:Fallback xmlns="">
          <p:sp>
            <p:nvSpPr>
              <p:cNvPr id="3" name="Subtitle 2">
                <a:extLst>
                  <a:ext uri="{FF2B5EF4-FFF2-40B4-BE49-F238E27FC236}">
                    <a16:creationId xmlns="" xmlns:a16="http://schemas.microsoft.com/office/drawing/2014/main" xmlns:a14="http://schemas.microsoft.com/office/drawing/2010/main" id="{6BF7D91A-9699-4491-9BBC-839E0B89A409}"/>
                  </a:ext>
                </a:extLst>
              </p:cNvPr>
              <p:cNvSpPr>
                <a:spLocks noGrp="1" noRot="1" noChangeAspect="1" noMove="1" noResize="1" noEditPoints="1" noAdjustHandles="1" noChangeArrowheads="1" noChangeShapeType="1" noTextEdit="1"/>
              </p:cNvSpPr>
              <p:nvPr>
                <p:ph type="subTitle" idx="1"/>
              </p:nvPr>
            </p:nvSpPr>
            <p:spPr>
              <a:xfrm>
                <a:off x="685800" y="1371600"/>
                <a:ext cx="3951287" cy="5257800"/>
              </a:xfrm>
              <a:blipFill rotWithShape="1">
                <a:blip r:embed="rId3"/>
                <a:stretch>
                  <a:fillRect l="-1389" t="-579" r="-1235"/>
                </a:stretch>
              </a:blipFill>
            </p:spPr>
            <p:txBody>
              <a:bodyPr/>
              <a:lstStyle/>
              <a:p>
                <a:r>
                  <a:rPr lang="en-US">
                    <a:noFill/>
                  </a:rPr>
                  <a:t> </a:t>
                </a:r>
              </a:p>
            </p:txBody>
          </p:sp>
        </mc:Fallback>
      </mc:AlternateContent>
      <p:graphicFrame>
        <p:nvGraphicFramePr>
          <p:cNvPr id="5" name="Object 1024">
            <a:extLst>
              <a:ext uri="{FF2B5EF4-FFF2-40B4-BE49-F238E27FC236}">
                <a16:creationId xmlns:a16="http://schemas.microsoft.com/office/drawing/2014/main" id="{89BF7636-D3A4-C0CC-B4E9-1F927EFC3978}"/>
              </a:ext>
            </a:extLst>
          </p:cNvPr>
          <p:cNvGraphicFramePr>
            <a:graphicFrameLocks/>
          </p:cNvGraphicFramePr>
          <p:nvPr>
            <p:extLst>
              <p:ext uri="{D42A27DB-BD31-4B8C-83A1-F6EECF244321}">
                <p14:modId xmlns:p14="http://schemas.microsoft.com/office/powerpoint/2010/main" val="188157168"/>
              </p:ext>
            </p:extLst>
          </p:nvPr>
        </p:nvGraphicFramePr>
        <p:xfrm>
          <a:off x="4637088" y="1371600"/>
          <a:ext cx="4474256" cy="5105400"/>
        </p:xfrm>
        <a:graphic>
          <a:graphicData uri="http://schemas.openxmlformats.org/presentationml/2006/ole">
            <mc:AlternateContent xmlns:mc="http://schemas.openxmlformats.org/markup-compatibility/2006">
              <mc:Choice xmlns:v="urn:schemas-microsoft-com:vml" Requires="v">
                <p:oleObj name="Worksheet" r:id="rId4" imgW="5772300" imgH="4457700" progId="Excel.Sheet.8">
                  <p:embed/>
                </p:oleObj>
              </mc:Choice>
              <mc:Fallback>
                <p:oleObj name="Worksheet" r:id="rId4" imgW="5772300" imgH="4457700" progId="Excel.Sheet.8">
                  <p:embed/>
                  <p:pic>
                    <p:nvPicPr>
                      <p:cNvPr id="0" name=""/>
                      <p:cNvPicPr>
                        <a:picLocks noChangeArrowheads="1"/>
                      </p:cNvPicPr>
                      <p:nvPr/>
                    </p:nvPicPr>
                    <p:blipFill>
                      <a:blip r:embed="rId5"/>
                      <a:srcRect/>
                      <a:stretch>
                        <a:fillRect/>
                      </a:stretch>
                    </p:blipFill>
                    <p:spPr bwMode="auto">
                      <a:xfrm>
                        <a:off x="4637088" y="1371600"/>
                        <a:ext cx="4474256" cy="5105400"/>
                      </a:xfrm>
                      <a:prstGeom prst="rect">
                        <a:avLst/>
                      </a:prstGeom>
                      <a:noFill/>
                      <a:ln>
                        <a:noFill/>
                      </a:ln>
                    </p:spPr>
                  </p:pic>
                </p:oleObj>
              </mc:Fallback>
            </mc:AlternateContent>
          </a:graphicData>
        </a:graphic>
      </p:graphicFrame>
      <p:sp>
        <p:nvSpPr>
          <p:cNvPr id="4" name="Oval 3">
            <a:extLst>
              <a:ext uri="{FF2B5EF4-FFF2-40B4-BE49-F238E27FC236}">
                <a16:creationId xmlns:a16="http://schemas.microsoft.com/office/drawing/2014/main" id="{D874F52E-6079-49BC-CA9E-7CC11A68D86A}"/>
              </a:ext>
            </a:extLst>
          </p:cNvPr>
          <p:cNvSpPr/>
          <p:nvPr/>
        </p:nvSpPr>
        <p:spPr>
          <a:xfrm>
            <a:off x="8142514" y="24384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DD7CD11E-4C38-2A89-B8C2-1C04AC0AAA75}"/>
              </a:ext>
            </a:extLst>
          </p:cNvPr>
          <p:cNvSpPr/>
          <p:nvPr/>
        </p:nvSpPr>
        <p:spPr>
          <a:xfrm>
            <a:off x="8142514" y="3788229"/>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610FAFF8-2CEA-350E-CFB8-A24A61C696F5}"/>
              </a:ext>
            </a:extLst>
          </p:cNvPr>
          <p:cNvSpPr/>
          <p:nvPr/>
        </p:nvSpPr>
        <p:spPr>
          <a:xfrm>
            <a:off x="8135325" y="5457029"/>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2D6E01D9-E78B-67B9-7C6C-CE4C004A939F}"/>
              </a:ext>
            </a:extLst>
          </p:cNvPr>
          <p:cNvSpPr/>
          <p:nvPr/>
        </p:nvSpPr>
        <p:spPr>
          <a:xfrm>
            <a:off x="8135325" y="57912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D874F52E-6079-49BC-CA9E-7CC11A68D86A}"/>
              </a:ext>
            </a:extLst>
          </p:cNvPr>
          <p:cNvSpPr/>
          <p:nvPr/>
        </p:nvSpPr>
        <p:spPr>
          <a:xfrm>
            <a:off x="4572000" y="2428336"/>
            <a:ext cx="762000"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D874F52E-6079-49BC-CA9E-7CC11A68D86A}"/>
              </a:ext>
            </a:extLst>
          </p:cNvPr>
          <p:cNvSpPr/>
          <p:nvPr/>
        </p:nvSpPr>
        <p:spPr>
          <a:xfrm>
            <a:off x="4572000" y="3788229"/>
            <a:ext cx="762000"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D874F52E-6079-49BC-CA9E-7CC11A68D86A}"/>
              </a:ext>
            </a:extLst>
          </p:cNvPr>
          <p:cNvSpPr/>
          <p:nvPr/>
        </p:nvSpPr>
        <p:spPr>
          <a:xfrm>
            <a:off x="4572000" y="5457029"/>
            <a:ext cx="762000"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D874F52E-6079-49BC-CA9E-7CC11A68D86A}"/>
              </a:ext>
            </a:extLst>
          </p:cNvPr>
          <p:cNvSpPr/>
          <p:nvPr/>
        </p:nvSpPr>
        <p:spPr>
          <a:xfrm>
            <a:off x="4572000" y="5791200"/>
            <a:ext cx="762000"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19607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0D7B3-1B86-ED3D-C67B-5208FC2703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7749EE-374C-903D-D46F-555862829B86}"/>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6BF7D91A-9699-4491-9BBC-839E0B89A409}"/>
                  </a:ext>
                </a:extLst>
              </p:cNvPr>
              <p:cNvSpPr>
                <a:spLocks noGrp="1"/>
              </p:cNvSpPr>
              <p:nvPr>
                <p:ph type="subTitle" idx="1"/>
              </p:nvPr>
            </p:nvSpPr>
            <p:spPr>
              <a:xfrm>
                <a:off x="685800" y="1371600"/>
                <a:ext cx="3951287" cy="5257800"/>
              </a:xfrm>
            </p:spPr>
            <p:txBody>
              <a:bodyPr>
                <a:normAutofit/>
              </a:bodyPr>
              <a:lstStyle/>
              <a:p>
                <a:pPr algn="just"/>
                <a:r>
                  <a:rPr lang="en-US" sz="1800" b="1" dirty="0">
                    <a:solidFill>
                      <a:schemeClr val="tx1"/>
                    </a:solidFill>
                    <a:latin typeface="Times New Roman" pitchFamily="18" charset="0"/>
                    <a:cs typeface="Times New Roman" pitchFamily="18" charset="0"/>
                  </a:rPr>
                  <a:t>Information needed (after using A to split D into v partitions)</a:t>
                </a:r>
              </a:p>
              <a:p>
                <a:pPr algn="just"/>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𝐼𝑛𝑓𝑜</m:t>
                          </m:r>
                        </m:e>
                        <m:sub>
                          <m:r>
                            <a:rPr lang="en-GB" sz="1800" b="0" i="1" smtClean="0">
                              <a:solidFill>
                                <a:schemeClr val="tx1"/>
                              </a:solidFill>
                              <a:latin typeface="Cambria Math" panose="02040503050406030204" pitchFamily="18" charset="0"/>
                              <a:cs typeface="Times New Roman" pitchFamily="18" charset="0"/>
                            </a:rPr>
                            <m:t>𝐴</m:t>
                          </m:r>
                        </m:sub>
                      </m:sSub>
                      <m:d>
                        <m:dPr>
                          <m:ctrlPr>
                            <a:rPr lang="en-GB" sz="1800" b="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r>
                        <a:rPr lang="en-GB" sz="1800" b="0" i="1" smtClean="0">
                          <a:solidFill>
                            <a:schemeClr val="tx1"/>
                          </a:solidFill>
                          <a:latin typeface="Cambria Math" panose="02040503050406030204" pitchFamily="18" charset="0"/>
                          <a:cs typeface="Times New Roman" pitchFamily="18" charset="0"/>
                        </a:rPr>
                        <m:t>=</m:t>
                      </m:r>
                      <m:nary>
                        <m:naryPr>
                          <m:chr m:val="∑"/>
                          <m:ctrlPr>
                            <a:rPr lang="en-GB" sz="1800" b="0" i="1" smtClean="0">
                              <a:solidFill>
                                <a:schemeClr val="tx1"/>
                              </a:solidFill>
                              <a:latin typeface="Cambria Math" panose="02040503050406030204" pitchFamily="18" charset="0"/>
                              <a:cs typeface="Times New Roman" pitchFamily="18" charset="0"/>
                            </a:rPr>
                          </m:ctrlPr>
                        </m:naryPr>
                        <m:sub>
                          <m:r>
                            <m:rPr>
                              <m:brk m:alnAt="23"/>
                            </m:rPr>
                            <a:rPr lang="en-GB" sz="1800" b="0" i="1" smtClean="0">
                              <a:solidFill>
                                <a:schemeClr val="tx1"/>
                              </a:solidFill>
                              <a:latin typeface="Cambria Math" panose="02040503050406030204" pitchFamily="18" charset="0"/>
                              <a:cs typeface="Times New Roman" pitchFamily="18" charset="0"/>
                            </a:rPr>
                            <m:t>𝑗</m:t>
                          </m:r>
                          <m:r>
                            <a:rPr lang="en-GB" sz="1800" b="0" i="1" smtClean="0">
                              <a:solidFill>
                                <a:schemeClr val="tx1"/>
                              </a:solidFill>
                              <a:latin typeface="Cambria Math" panose="02040503050406030204" pitchFamily="18" charset="0"/>
                              <a:cs typeface="Times New Roman" pitchFamily="18" charset="0"/>
                            </a:rPr>
                            <m:t>=1</m:t>
                          </m:r>
                        </m:sub>
                        <m:sup>
                          <m:r>
                            <a:rPr lang="en-GB" sz="1800" b="0" i="1" smtClean="0">
                              <a:solidFill>
                                <a:schemeClr val="tx1"/>
                              </a:solidFill>
                              <a:latin typeface="Cambria Math" panose="02040503050406030204" pitchFamily="18" charset="0"/>
                              <a:cs typeface="Times New Roman" pitchFamily="18" charset="0"/>
                            </a:rPr>
                            <m:t>𝑣</m:t>
                          </m:r>
                        </m:sup>
                        <m:e>
                          <m:f>
                            <m:fPr>
                              <m:ctrlPr>
                                <a:rPr lang="en-GB" sz="1800" b="0" i="1" smtClean="0">
                                  <a:solidFill>
                                    <a:schemeClr val="tx1"/>
                                  </a:solidFill>
                                  <a:latin typeface="Cambria Math" panose="02040503050406030204" pitchFamily="18" charset="0"/>
                                  <a:cs typeface="Times New Roman" pitchFamily="18" charset="0"/>
                                </a:rPr>
                              </m:ctrlPr>
                            </m:fPr>
                            <m:num>
                              <m:d>
                                <m:dPr>
                                  <m:begChr m:val="|"/>
                                  <m:endChr m:val="|"/>
                                  <m:ctrlPr>
                                    <a:rPr lang="en-GB" sz="1800" b="0" i="1" smtClean="0">
                                      <a:solidFill>
                                        <a:schemeClr val="tx1"/>
                                      </a:solidFill>
                                      <a:latin typeface="Cambria Math" panose="02040503050406030204" pitchFamily="18" charset="0"/>
                                      <a:cs typeface="Times New Roman" pitchFamily="18" charset="0"/>
                                    </a:rPr>
                                  </m:ctrlPr>
                                </m:dPr>
                                <m:e>
                                  <m:sSub>
                                    <m:sSubPr>
                                      <m:ctrlPr>
                                        <a:rPr lang="en-GB" sz="1800" b="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𝐷</m:t>
                                      </m:r>
                                    </m:e>
                                    <m:sub>
                                      <m:r>
                                        <a:rPr lang="en-GB" sz="1800" b="0" i="1" smtClean="0">
                                          <a:solidFill>
                                            <a:schemeClr val="tx1"/>
                                          </a:solidFill>
                                          <a:latin typeface="Cambria Math" panose="02040503050406030204" pitchFamily="18" charset="0"/>
                                          <a:cs typeface="Times New Roman" pitchFamily="18" charset="0"/>
                                        </a:rPr>
                                        <m:t>𝑗</m:t>
                                      </m:r>
                                    </m:sub>
                                  </m:sSub>
                                </m:e>
                              </m:d>
                            </m:num>
                            <m:den>
                              <m:d>
                                <m:dPr>
                                  <m:begChr m:val="|"/>
                                  <m:endChr m:val="|"/>
                                  <m:ctrlPr>
                                    <a:rPr lang="en-GB" sz="1800" b="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den>
                          </m:f>
                        </m:e>
                      </m:nary>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𝐼𝑛𝑓𝑜</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𝐷</m:t>
                          </m:r>
                        </m:e>
                        <m: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𝑗</m:t>
                          </m:r>
                        </m:sub>
                      </m:s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oMath>
                  </m:oMathPara>
                </a14:m>
                <a:endParaRPr lang="en-US" sz="1800" dirty="0">
                  <a:solidFill>
                    <a:schemeClr val="tx1"/>
                  </a:solidFill>
                  <a:latin typeface="Times New Roman" pitchFamily="18" charset="0"/>
                  <a:cs typeface="Times New Roman" pitchFamily="18" charset="0"/>
                </a:endParaRPr>
              </a:p>
              <a:p>
                <a:pPr algn="just"/>
                <a:endParaRPr lang="en-GB"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Example</a:t>
                </a:r>
              </a:p>
              <a:p>
                <a:pPr algn="just"/>
                <a14:m>
                  <m:oMathPara xmlns:m="http://schemas.openxmlformats.org/officeDocument/2006/math">
                    <m:oMathParaPr>
                      <m:jc m:val="left"/>
                    </m:oMathParaPr>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𝐼𝑛𝑓𝑜</m:t>
                          </m:r>
                        </m:e>
                        <m:sub>
                          <m:r>
                            <a:rPr lang="en-GB" sz="1800" b="0" i="1" smtClean="0">
                              <a:solidFill>
                                <a:schemeClr val="tx1"/>
                              </a:solidFill>
                              <a:latin typeface="Cambria Math" panose="02040503050406030204" pitchFamily="18" charset="0"/>
                              <a:cs typeface="Times New Roman" pitchFamily="18" charset="0"/>
                            </a:rPr>
                            <m:t>𝑎𝑔𝑒</m:t>
                          </m:r>
                        </m:sub>
                      </m:sSub>
                      <m:d>
                        <m:dPr>
                          <m:ctrlPr>
                            <a:rPr lang="en-GB" sz="1800" b="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r>
                        <a:rPr lang="en-GB" sz="1800" b="0" i="1" smtClean="0">
                          <a:solidFill>
                            <a:schemeClr val="tx1"/>
                          </a:solidFill>
                          <a:latin typeface="Cambria Math" panose="02040503050406030204" pitchFamily="18" charset="0"/>
                          <a:cs typeface="Times New Roman" pitchFamily="18" charset="0"/>
                        </a:rPr>
                        <m:t>=</m:t>
                      </m:r>
                      <m:nary>
                        <m:naryPr>
                          <m:chr m:val="∑"/>
                          <m:ctrlPr>
                            <a:rPr lang="en-GB" sz="1800" b="0" i="1" smtClean="0">
                              <a:solidFill>
                                <a:schemeClr val="tx1"/>
                              </a:solidFill>
                              <a:latin typeface="Cambria Math" panose="02040503050406030204" pitchFamily="18" charset="0"/>
                              <a:cs typeface="Times New Roman" pitchFamily="18" charset="0"/>
                            </a:rPr>
                          </m:ctrlPr>
                        </m:naryPr>
                        <m:sub>
                          <m:r>
                            <m:rPr>
                              <m:brk m:alnAt="23"/>
                            </m:rPr>
                            <a:rPr lang="en-GB" sz="1800" b="0" i="1" smtClean="0">
                              <a:solidFill>
                                <a:schemeClr val="tx1"/>
                              </a:solidFill>
                              <a:latin typeface="Cambria Math" panose="02040503050406030204" pitchFamily="18" charset="0"/>
                              <a:cs typeface="Times New Roman" pitchFamily="18" charset="0"/>
                            </a:rPr>
                            <m:t>𝑗</m:t>
                          </m:r>
                          <m:r>
                            <a:rPr lang="en-GB" sz="1800" b="0" i="1" smtClean="0">
                              <a:solidFill>
                                <a:schemeClr val="tx1"/>
                              </a:solidFill>
                              <a:latin typeface="Cambria Math" panose="02040503050406030204" pitchFamily="18" charset="0"/>
                              <a:cs typeface="Times New Roman" pitchFamily="18" charset="0"/>
                            </a:rPr>
                            <m:t>=1</m:t>
                          </m:r>
                        </m:sub>
                        <m:sup>
                          <m:r>
                            <a:rPr lang="en-GB" sz="1800" b="0" i="1" smtClean="0">
                              <a:solidFill>
                                <a:schemeClr val="tx1"/>
                              </a:solidFill>
                              <a:latin typeface="Cambria Math" panose="02040503050406030204" pitchFamily="18" charset="0"/>
                              <a:cs typeface="Times New Roman" pitchFamily="18" charset="0"/>
                            </a:rPr>
                            <m:t>3</m:t>
                          </m:r>
                        </m:sup>
                        <m:e>
                          <m:f>
                            <m:fPr>
                              <m:ctrlPr>
                                <a:rPr lang="en-GB" sz="1800" b="0" i="1" smtClean="0">
                                  <a:solidFill>
                                    <a:schemeClr val="tx1"/>
                                  </a:solidFill>
                                  <a:latin typeface="Cambria Math" panose="02040503050406030204" pitchFamily="18" charset="0"/>
                                  <a:cs typeface="Times New Roman" pitchFamily="18" charset="0"/>
                                </a:rPr>
                              </m:ctrlPr>
                            </m:fPr>
                            <m:num>
                              <m:d>
                                <m:dPr>
                                  <m:begChr m:val="|"/>
                                  <m:endChr m:val="|"/>
                                  <m:ctrlPr>
                                    <a:rPr lang="en-GB" sz="1800" b="0" i="1" smtClean="0">
                                      <a:solidFill>
                                        <a:schemeClr val="tx1"/>
                                      </a:solidFill>
                                      <a:latin typeface="Cambria Math" panose="02040503050406030204" pitchFamily="18" charset="0"/>
                                      <a:cs typeface="Times New Roman" pitchFamily="18" charset="0"/>
                                    </a:rPr>
                                  </m:ctrlPr>
                                </m:dPr>
                                <m:e>
                                  <m:sSub>
                                    <m:sSubPr>
                                      <m:ctrlPr>
                                        <a:rPr lang="en-GB" sz="1800" b="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𝐷</m:t>
                                      </m:r>
                                    </m:e>
                                    <m:sub>
                                      <m:r>
                                        <a:rPr lang="en-GB" sz="1800" b="0" i="1" smtClean="0">
                                          <a:solidFill>
                                            <a:schemeClr val="tx1"/>
                                          </a:solidFill>
                                          <a:latin typeface="Cambria Math" panose="02040503050406030204" pitchFamily="18" charset="0"/>
                                          <a:cs typeface="Times New Roman" pitchFamily="18" charset="0"/>
                                        </a:rPr>
                                        <m:t>𝑗</m:t>
                                      </m:r>
                                    </m:sub>
                                  </m:sSub>
                                </m:e>
                              </m:d>
                            </m:num>
                            <m:den>
                              <m:d>
                                <m:dPr>
                                  <m:begChr m:val="|"/>
                                  <m:endChr m:val="|"/>
                                  <m:ctrlPr>
                                    <a:rPr lang="en-GB" sz="1800" b="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den>
                          </m:f>
                        </m:e>
                      </m:nary>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𝐼𝑛𝑓𝑜</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𝐷</m:t>
                          </m:r>
                        </m:e>
                        <m: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𝑗</m:t>
                          </m:r>
                        </m:sub>
                      </m:s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oMath>
                  </m:oMathPara>
                </a14:m>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centerGroup"/>
                    </m:oMathParaPr>
                    <m:oMath xmlns:m="http://schemas.openxmlformats.org/officeDocument/2006/math">
                      <m:r>
                        <a:rPr lang="en-GB" sz="1800" b="0" i="1" smtClean="0">
                          <a:solidFill>
                            <a:schemeClr val="tx1"/>
                          </a:solidFill>
                          <a:latin typeface="Cambria Math" panose="02040503050406030204" pitchFamily="18" charset="0"/>
                          <a:cs typeface="Times New Roman" pitchFamily="18" charset="0"/>
                        </a:rPr>
                        <m:t>=</m:t>
                      </m:r>
                      <m:f>
                        <m:fPr>
                          <m:ctrlPr>
                            <a:rPr lang="en-GB" sz="1800" i="1">
                              <a:solidFill>
                                <a:schemeClr val="tx1"/>
                              </a:solidFill>
                              <a:latin typeface="Cambria Math" panose="02040503050406030204" pitchFamily="18" charset="0"/>
                              <a:cs typeface="Times New Roman" pitchFamily="18" charset="0"/>
                            </a:rPr>
                          </m:ctrlPr>
                        </m:fPr>
                        <m:num>
                          <m:r>
                            <a:rPr lang="en-GB" sz="1800" i="1" smtClean="0">
                              <a:solidFill>
                                <a:schemeClr val="tx1"/>
                              </a:solidFill>
                              <a:latin typeface="Cambria Math" panose="02040503050406030204" pitchFamily="18" charset="0"/>
                              <a:cs typeface="Times New Roman" pitchFamily="18" charset="0"/>
                            </a:rPr>
                            <m:t>5</m:t>
                          </m:r>
                        </m:num>
                        <m:den>
                          <m:r>
                            <a:rPr lang="en-GB" sz="1800" b="0" i="1" smtClean="0">
                              <a:solidFill>
                                <a:schemeClr val="tx1"/>
                              </a:solidFill>
                              <a:latin typeface="Cambria Math" panose="02040503050406030204" pitchFamily="18" charset="0"/>
                              <a:cs typeface="Times New Roman" pitchFamily="18" charset="0"/>
                            </a:rPr>
                            <m:t>14</m:t>
                          </m:r>
                        </m:den>
                      </m:f>
                      <m:r>
                        <a:rPr lang="en-GB" sz="1800" i="1">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smtClean="0">
                          <a:solidFill>
                            <a:schemeClr val="tx1"/>
                          </a:solidFill>
                          <a:latin typeface="Cambria Math" panose="02040503050406030204" pitchFamily="18" charset="0"/>
                          <a:ea typeface="Cambria Math" panose="02040503050406030204" pitchFamily="18" charset="0"/>
                          <a:cs typeface="Times New Roman" pitchFamily="18" charset="0"/>
                        </a:rPr>
                        <m:t>𝐼</m:t>
                      </m:r>
                      <m:d>
                        <m:d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2,3</m:t>
                          </m:r>
                        </m:e>
                      </m:d>
                      <m:r>
                        <a:rPr lang="en-US" sz="1800" i="1" dirty="0" smtClean="0">
                          <a:solidFill>
                            <a:schemeClr val="tx1"/>
                          </a:solidFill>
                          <a:latin typeface="Cambria Math" panose="02040503050406030204" pitchFamily="18" charset="0"/>
                          <a:cs typeface="Times New Roman" pitchFamily="18" charset="0"/>
                        </a:rPr>
                        <m:t>+</m:t>
                      </m:r>
                      <m:f>
                        <m:fPr>
                          <m:ctrlPr>
                            <a:rPr lang="en-GB" sz="1800" i="1" smtClean="0">
                              <a:solidFill>
                                <a:schemeClr val="tx1"/>
                              </a:solidFill>
                              <a:latin typeface="Cambria Math" panose="02040503050406030204" pitchFamily="18" charset="0"/>
                              <a:cs typeface="Times New Roman" pitchFamily="18" charset="0"/>
                            </a:rPr>
                          </m:ctrlPr>
                        </m:fPr>
                        <m:num>
                          <m:r>
                            <a:rPr lang="en-GB" sz="1800" b="0" i="1" smtClean="0">
                              <a:solidFill>
                                <a:schemeClr val="tx1"/>
                              </a:solidFill>
                              <a:latin typeface="Cambria Math" panose="02040503050406030204" pitchFamily="18" charset="0"/>
                              <a:cs typeface="Times New Roman" pitchFamily="18" charset="0"/>
                            </a:rPr>
                            <m:t>4</m:t>
                          </m:r>
                        </m:num>
                        <m:den>
                          <m:r>
                            <a:rPr lang="en-GB" sz="1800" i="1">
                              <a:solidFill>
                                <a:schemeClr val="tx1"/>
                              </a:solidFill>
                              <a:latin typeface="Cambria Math" panose="02040503050406030204" pitchFamily="18" charset="0"/>
                              <a:cs typeface="Times New Roman" pitchFamily="18" charset="0"/>
                            </a:rPr>
                            <m:t>14</m:t>
                          </m:r>
                        </m:den>
                      </m:f>
                      <m:r>
                        <a:rPr lang="en-GB" sz="1800" i="1">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ea typeface="Cambria Math" panose="02040503050406030204" pitchFamily="18" charset="0"/>
                          <a:cs typeface="Times New Roman" pitchFamily="18" charset="0"/>
                        </a:rPr>
                        <m:t>𝐼</m:t>
                      </m:r>
                      <m:d>
                        <m:dPr>
                          <m:ctrlPr>
                            <a:rPr lang="en-GB" sz="1800" i="1">
                              <a:solidFill>
                                <a:schemeClr val="tx1"/>
                              </a:solidFill>
                              <a:latin typeface="Cambria Math" panose="02040503050406030204" pitchFamily="18" charset="0"/>
                              <a:ea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4,0</m:t>
                          </m:r>
                        </m:e>
                      </m:d>
                      <m:r>
                        <a:rPr lang="en-US" sz="1800" i="1" dirty="0" smtClean="0">
                          <a:solidFill>
                            <a:schemeClr val="tx1"/>
                          </a:solidFill>
                          <a:latin typeface="Cambria Math" panose="02040503050406030204" pitchFamily="18" charset="0"/>
                          <a:cs typeface="Times New Roman" pitchFamily="18" charset="0"/>
                        </a:rPr>
                        <m:t>+</m:t>
                      </m:r>
                      <m:f>
                        <m:fPr>
                          <m:ctrlPr>
                            <a:rPr lang="en-GB" sz="1800" i="1" smtClean="0">
                              <a:solidFill>
                                <a:srgbClr val="00B0F0"/>
                              </a:solidFill>
                              <a:latin typeface="Cambria Math" panose="02040503050406030204" pitchFamily="18" charset="0"/>
                              <a:cs typeface="Times New Roman" pitchFamily="18" charset="0"/>
                            </a:rPr>
                          </m:ctrlPr>
                        </m:fPr>
                        <m:num>
                          <m:r>
                            <a:rPr lang="en-GB" sz="1800" i="1">
                              <a:solidFill>
                                <a:srgbClr val="00B0F0"/>
                              </a:solidFill>
                              <a:latin typeface="Cambria Math" panose="02040503050406030204" pitchFamily="18" charset="0"/>
                              <a:cs typeface="Times New Roman" pitchFamily="18" charset="0"/>
                            </a:rPr>
                            <m:t>5</m:t>
                          </m:r>
                        </m:num>
                        <m:den>
                          <m:r>
                            <a:rPr lang="en-GB" sz="1800" i="1">
                              <a:solidFill>
                                <a:srgbClr val="00B0F0"/>
                              </a:solidFill>
                              <a:latin typeface="Cambria Math" panose="02040503050406030204" pitchFamily="18" charset="0"/>
                              <a:cs typeface="Times New Roman" pitchFamily="18" charset="0"/>
                            </a:rPr>
                            <m:t>14</m:t>
                          </m:r>
                        </m:den>
                      </m:f>
                      <m:r>
                        <a:rPr lang="en-GB" sz="1800" i="1">
                          <a:solidFill>
                            <a:srgbClr val="00B0F0"/>
                          </a:solidFill>
                          <a:latin typeface="Cambria Math" panose="02040503050406030204" pitchFamily="18" charset="0"/>
                          <a:ea typeface="Cambria Math" panose="02040503050406030204" pitchFamily="18" charset="0"/>
                          <a:cs typeface="Times New Roman" pitchFamily="18" charset="0"/>
                        </a:rPr>
                        <m:t>×</m:t>
                      </m:r>
                      <m:r>
                        <a:rPr lang="en-GB" sz="1800" i="1">
                          <a:solidFill>
                            <a:srgbClr val="00B0F0"/>
                          </a:solidFill>
                          <a:latin typeface="Cambria Math" panose="02040503050406030204" pitchFamily="18" charset="0"/>
                          <a:ea typeface="Cambria Math" panose="02040503050406030204" pitchFamily="18" charset="0"/>
                          <a:cs typeface="Times New Roman" pitchFamily="18" charset="0"/>
                        </a:rPr>
                        <m:t>𝐼</m:t>
                      </m:r>
                      <m:d>
                        <m:dPr>
                          <m:ctrlPr>
                            <a:rPr lang="en-GB" sz="1800" i="1">
                              <a:solidFill>
                                <a:srgbClr val="00B0F0"/>
                              </a:solidFill>
                              <a:latin typeface="Cambria Math" panose="02040503050406030204" pitchFamily="18" charset="0"/>
                              <a:ea typeface="Cambria Math" panose="02040503050406030204" pitchFamily="18" charset="0"/>
                              <a:cs typeface="Times New Roman" pitchFamily="18" charset="0"/>
                            </a:rPr>
                          </m:ctrlPr>
                        </m:dPr>
                        <m:e>
                          <m:r>
                            <a:rPr lang="en-US" sz="1800" b="0" i="1" smtClean="0">
                              <a:solidFill>
                                <a:srgbClr val="00B0F0"/>
                              </a:solidFill>
                              <a:latin typeface="Cambria Math"/>
                              <a:ea typeface="Cambria Math" panose="02040503050406030204" pitchFamily="18" charset="0"/>
                              <a:cs typeface="Times New Roman" pitchFamily="18" charset="0"/>
                            </a:rPr>
                            <m:t>3</m:t>
                          </m:r>
                          <m:r>
                            <a:rPr lang="en-GB" sz="1800" i="1">
                              <a:solidFill>
                                <a:srgbClr val="00B0F0"/>
                              </a:solidFill>
                              <a:latin typeface="Cambria Math" panose="02040503050406030204" pitchFamily="18" charset="0"/>
                              <a:ea typeface="Cambria Math" panose="02040503050406030204" pitchFamily="18" charset="0"/>
                              <a:cs typeface="Times New Roman" pitchFamily="18" charset="0"/>
                            </a:rPr>
                            <m:t>,</m:t>
                          </m:r>
                          <m:r>
                            <a:rPr lang="en-US" sz="1800" b="0" i="1" smtClean="0">
                              <a:solidFill>
                                <a:srgbClr val="00B0F0"/>
                              </a:solidFill>
                              <a:latin typeface="Cambria Math"/>
                              <a:ea typeface="Cambria Math" panose="02040503050406030204" pitchFamily="18" charset="0"/>
                              <a:cs typeface="Times New Roman" pitchFamily="18" charset="0"/>
                            </a:rPr>
                            <m:t>2</m:t>
                          </m:r>
                        </m:e>
                      </m:d>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=0.694</m:t>
                      </m:r>
                    </m:oMath>
                  </m:oMathPara>
                </a14:m>
                <a:endParaRPr lang="en-US" sz="1800" dirty="0">
                  <a:solidFill>
                    <a:schemeClr val="tx1"/>
                  </a:solidFill>
                  <a:latin typeface="Times New Roman" pitchFamily="18" charset="0"/>
                  <a:cs typeface="Times New Roman" pitchFamily="18" charset="0"/>
                </a:endParaRPr>
              </a:p>
              <a:p>
                <a:pPr algn="just"/>
                <a14:m>
                  <m:oMath xmlns:m="http://schemas.openxmlformats.org/officeDocument/2006/math">
                    <m:f>
                      <m:fPr>
                        <m:ctrlPr>
                          <a:rPr lang="en-GB" sz="1800" b="1" i="1" smtClean="0">
                            <a:solidFill>
                              <a:schemeClr val="tx1"/>
                            </a:solidFill>
                            <a:latin typeface="Cambria Math" panose="02040503050406030204" pitchFamily="18" charset="0"/>
                            <a:cs typeface="Times New Roman" pitchFamily="18" charset="0"/>
                          </a:rPr>
                        </m:ctrlPr>
                      </m:fPr>
                      <m:num>
                        <m:r>
                          <a:rPr lang="en-GB" sz="1800" b="1" i="1" smtClean="0">
                            <a:solidFill>
                              <a:schemeClr val="tx1"/>
                            </a:solidFill>
                            <a:latin typeface="Cambria Math" panose="02040503050406030204" pitchFamily="18" charset="0"/>
                            <a:cs typeface="Times New Roman" pitchFamily="18" charset="0"/>
                          </a:rPr>
                          <m:t>𝟓</m:t>
                        </m:r>
                      </m:num>
                      <m:den>
                        <m:r>
                          <a:rPr lang="en-GB" sz="1800" b="1" i="1" smtClean="0">
                            <a:solidFill>
                              <a:schemeClr val="tx1"/>
                            </a:solidFill>
                            <a:latin typeface="Cambria Math" panose="02040503050406030204" pitchFamily="18" charset="0"/>
                            <a:cs typeface="Times New Roman" pitchFamily="18" charset="0"/>
                          </a:rPr>
                          <m:t>𝟏𝟒</m:t>
                        </m:r>
                      </m:den>
                    </m:f>
                    <m:r>
                      <a:rPr lang="en-GB" sz="1800" b="1" i="1">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1" i="1" smtClean="0">
                        <a:solidFill>
                          <a:schemeClr val="tx1"/>
                        </a:solidFill>
                        <a:latin typeface="Cambria Math" panose="02040503050406030204" pitchFamily="18" charset="0"/>
                        <a:ea typeface="Cambria Math" panose="02040503050406030204" pitchFamily="18" charset="0"/>
                        <a:cs typeface="Times New Roman" pitchFamily="18" charset="0"/>
                      </a:rPr>
                      <m:t>𝑰</m:t>
                    </m:r>
                    <m:r>
                      <a:rPr lang="en-GB" sz="1800" b="1"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1" i="1" smtClean="0">
                        <a:solidFill>
                          <a:schemeClr val="tx1"/>
                        </a:solidFill>
                        <a:latin typeface="Cambria Math" panose="02040503050406030204" pitchFamily="18" charset="0"/>
                        <a:ea typeface="Cambria Math" panose="02040503050406030204" pitchFamily="18" charset="0"/>
                        <a:cs typeface="Times New Roman" pitchFamily="18" charset="0"/>
                      </a:rPr>
                      <m:t>𝟐</m:t>
                    </m:r>
                    <m:r>
                      <a:rPr lang="en-GB" sz="1800" b="1"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1" i="1" smtClean="0">
                        <a:solidFill>
                          <a:schemeClr val="tx1"/>
                        </a:solidFill>
                        <a:latin typeface="Cambria Math" panose="02040503050406030204" pitchFamily="18" charset="0"/>
                        <a:ea typeface="Cambria Math" panose="02040503050406030204" pitchFamily="18" charset="0"/>
                        <a:cs typeface="Times New Roman" pitchFamily="18" charset="0"/>
                      </a:rPr>
                      <m:t>𝟑</m:t>
                    </m:r>
                    <m:r>
                      <a:rPr lang="en-GB" sz="1800" b="1" i="1" smtClean="0">
                        <a:solidFill>
                          <a:schemeClr val="tx1"/>
                        </a:solidFill>
                        <a:latin typeface="Cambria Math" panose="02040503050406030204" pitchFamily="18" charset="0"/>
                        <a:ea typeface="Cambria Math" panose="02040503050406030204" pitchFamily="18" charset="0"/>
                        <a:cs typeface="Times New Roman" pitchFamily="18" charset="0"/>
                      </a:rPr>
                      <m:t>)</m:t>
                    </m:r>
                  </m:oMath>
                </a14:m>
                <a:r>
                  <a:rPr lang="en-US" sz="1800" b="1" dirty="0">
                    <a:solidFill>
                      <a:schemeClr val="tx1"/>
                    </a:solidFill>
                    <a:latin typeface="Times New Roman" pitchFamily="18" charset="0"/>
                    <a:cs typeface="Times New Roman" pitchFamily="18" charset="0"/>
                  </a:rPr>
                  <a:t> </a:t>
                </a:r>
                <a:r>
                  <a:rPr lang="en-US" sz="1800" dirty="0">
                    <a:solidFill>
                      <a:schemeClr val="tx1"/>
                    </a:solidFill>
                    <a:latin typeface="Times New Roman" pitchFamily="18" charset="0"/>
                    <a:cs typeface="Times New Roman" pitchFamily="18" charset="0"/>
                  </a:rPr>
                  <a:t>means “age &lt;=30” has 5 out of 14 samples, with 2 yes’es  and 3 no’s. </a:t>
                </a:r>
              </a:p>
            </p:txBody>
          </p:sp>
        </mc:Choice>
        <mc:Fallback xmlns="">
          <p:sp>
            <p:nvSpPr>
              <p:cNvPr id="3" name="Subtitle 2">
                <a:extLst>
                  <a:ext uri="{FF2B5EF4-FFF2-40B4-BE49-F238E27FC236}">
                    <a16:creationId xmlns:a16="http://schemas.microsoft.com/office/drawing/2014/main" xmlns="" xmlns:a14="http://schemas.microsoft.com/office/drawing/2010/main" id="{6BF7D91A-9699-4491-9BBC-839E0B89A409}"/>
                  </a:ext>
                </a:extLst>
              </p:cNvPr>
              <p:cNvSpPr>
                <a:spLocks noGrp="1" noRot="1" noChangeAspect="1" noMove="1" noResize="1" noEditPoints="1" noAdjustHandles="1" noChangeArrowheads="1" noChangeShapeType="1" noTextEdit="1"/>
              </p:cNvSpPr>
              <p:nvPr>
                <p:ph type="subTitle" idx="1"/>
              </p:nvPr>
            </p:nvSpPr>
            <p:spPr>
              <a:xfrm>
                <a:off x="685800" y="1371600"/>
                <a:ext cx="3951287" cy="5257800"/>
              </a:xfrm>
              <a:blipFill rotWithShape="1">
                <a:blip r:embed="rId3"/>
                <a:stretch>
                  <a:fillRect l="-1389" t="-579" r="-1235"/>
                </a:stretch>
              </a:blipFill>
            </p:spPr>
            <p:txBody>
              <a:bodyPr/>
              <a:lstStyle/>
              <a:p>
                <a:r>
                  <a:rPr lang="en-US">
                    <a:noFill/>
                  </a:rPr>
                  <a:t> </a:t>
                </a:r>
              </a:p>
            </p:txBody>
          </p:sp>
        </mc:Fallback>
      </mc:AlternateContent>
      <p:graphicFrame>
        <p:nvGraphicFramePr>
          <p:cNvPr id="5" name="Object 1024">
            <a:extLst>
              <a:ext uri="{FF2B5EF4-FFF2-40B4-BE49-F238E27FC236}">
                <a16:creationId xmlns:a16="http://schemas.microsoft.com/office/drawing/2014/main" id="{89BF7636-D3A4-C0CC-B4E9-1F927EFC3978}"/>
              </a:ext>
            </a:extLst>
          </p:cNvPr>
          <p:cNvGraphicFramePr>
            <a:graphicFrameLocks/>
          </p:cNvGraphicFramePr>
          <p:nvPr>
            <p:extLst>
              <p:ext uri="{D42A27DB-BD31-4B8C-83A1-F6EECF244321}">
                <p14:modId xmlns:p14="http://schemas.microsoft.com/office/powerpoint/2010/main" val="316819668"/>
              </p:ext>
            </p:extLst>
          </p:nvPr>
        </p:nvGraphicFramePr>
        <p:xfrm>
          <a:off x="4637088" y="1371600"/>
          <a:ext cx="4474256" cy="5105400"/>
        </p:xfrm>
        <a:graphic>
          <a:graphicData uri="http://schemas.openxmlformats.org/presentationml/2006/ole">
            <mc:AlternateContent xmlns:mc="http://schemas.openxmlformats.org/markup-compatibility/2006">
              <mc:Choice xmlns:v="urn:schemas-microsoft-com:vml" Requires="v">
                <p:oleObj name="Worksheet" r:id="rId4" imgW="5772150" imgH="4457700" progId="Excel.Sheet.8">
                  <p:embed/>
                </p:oleObj>
              </mc:Choice>
              <mc:Fallback>
                <p:oleObj name="Worksheet" r:id="rId4" imgW="5772150" imgH="4457700" progId="Excel.Sheet.8">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37088" y="1371600"/>
                        <a:ext cx="4474256" cy="5105400"/>
                      </a:xfrm>
                      <a:prstGeom prst="rect">
                        <a:avLst/>
                      </a:prstGeom>
                      <a:noFill/>
                      <a:ln>
                        <a:noFill/>
                      </a:ln>
                    </p:spPr>
                  </p:pic>
                </p:oleObj>
              </mc:Fallback>
            </mc:AlternateContent>
          </a:graphicData>
        </a:graphic>
      </p:graphicFrame>
      <p:sp>
        <p:nvSpPr>
          <p:cNvPr id="4" name="Oval 3">
            <a:extLst>
              <a:ext uri="{FF2B5EF4-FFF2-40B4-BE49-F238E27FC236}">
                <a16:creationId xmlns:a16="http://schemas.microsoft.com/office/drawing/2014/main" id="{D874F52E-6079-49BC-CA9E-7CC11A68D86A}"/>
              </a:ext>
            </a:extLst>
          </p:cNvPr>
          <p:cNvSpPr/>
          <p:nvPr/>
        </p:nvSpPr>
        <p:spPr>
          <a:xfrm>
            <a:off x="8142514" y="27432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8CFF9810-6207-D7A0-09D1-ACBE97A904ED}"/>
              </a:ext>
            </a:extLst>
          </p:cNvPr>
          <p:cNvSpPr/>
          <p:nvPr/>
        </p:nvSpPr>
        <p:spPr>
          <a:xfrm>
            <a:off x="8142514" y="31242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DD7CD11E-4C38-2A89-B8C2-1C04AC0AAA75}"/>
              </a:ext>
            </a:extLst>
          </p:cNvPr>
          <p:cNvSpPr/>
          <p:nvPr/>
        </p:nvSpPr>
        <p:spPr>
          <a:xfrm>
            <a:off x="8142514" y="34290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610FAFF8-2CEA-350E-CFB8-A24A61C696F5}"/>
              </a:ext>
            </a:extLst>
          </p:cNvPr>
          <p:cNvSpPr/>
          <p:nvPr/>
        </p:nvSpPr>
        <p:spPr>
          <a:xfrm>
            <a:off x="8118072" y="48006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2D6E01D9-E78B-67B9-7C6C-CE4C004A939F}"/>
              </a:ext>
            </a:extLst>
          </p:cNvPr>
          <p:cNvSpPr/>
          <p:nvPr/>
        </p:nvSpPr>
        <p:spPr>
          <a:xfrm>
            <a:off x="8124028" y="61722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D874F52E-6079-49BC-CA9E-7CC11A68D86A}"/>
              </a:ext>
            </a:extLst>
          </p:cNvPr>
          <p:cNvSpPr/>
          <p:nvPr/>
        </p:nvSpPr>
        <p:spPr>
          <a:xfrm>
            <a:off x="4572000" y="2773392"/>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D874F52E-6079-49BC-CA9E-7CC11A68D86A}"/>
              </a:ext>
            </a:extLst>
          </p:cNvPr>
          <p:cNvSpPr/>
          <p:nvPr/>
        </p:nvSpPr>
        <p:spPr>
          <a:xfrm>
            <a:off x="4572000" y="3124200"/>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D874F52E-6079-49BC-CA9E-7CC11A68D86A}"/>
              </a:ext>
            </a:extLst>
          </p:cNvPr>
          <p:cNvSpPr/>
          <p:nvPr/>
        </p:nvSpPr>
        <p:spPr>
          <a:xfrm>
            <a:off x="4561936" y="3429000"/>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D874F52E-6079-49BC-CA9E-7CC11A68D86A}"/>
              </a:ext>
            </a:extLst>
          </p:cNvPr>
          <p:cNvSpPr/>
          <p:nvPr/>
        </p:nvSpPr>
        <p:spPr>
          <a:xfrm>
            <a:off x="4606712" y="4758905"/>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D874F52E-6079-49BC-CA9E-7CC11A68D86A}"/>
              </a:ext>
            </a:extLst>
          </p:cNvPr>
          <p:cNvSpPr/>
          <p:nvPr/>
        </p:nvSpPr>
        <p:spPr>
          <a:xfrm>
            <a:off x="4580833" y="6139132"/>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134017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95F06-7CC3-BA12-3585-F295B2BF1F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173478-5F13-1A52-A0C4-4A7A179E2030}"/>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4FABF2A3-3801-1558-0428-BA50959181C7}"/>
                  </a:ext>
                </a:extLst>
              </p:cNvPr>
              <p:cNvSpPr>
                <a:spLocks noGrp="1"/>
              </p:cNvSpPr>
              <p:nvPr>
                <p:ph type="subTitle" idx="1"/>
              </p:nvPr>
            </p:nvSpPr>
            <p:spPr>
              <a:xfrm>
                <a:off x="685800" y="1371600"/>
                <a:ext cx="3951287" cy="5257800"/>
              </a:xfrm>
            </p:spPr>
            <p:txBody>
              <a:bodyPr>
                <a:normAutofit/>
              </a:bodyPr>
              <a:lstStyle/>
              <a:p>
                <a:pPr algn="just"/>
                <a:r>
                  <a:rPr lang="en-US" sz="1800" b="1" dirty="0">
                    <a:solidFill>
                      <a:schemeClr val="tx1"/>
                    </a:solidFill>
                    <a:latin typeface="Times New Roman" pitchFamily="18" charset="0"/>
                    <a:cs typeface="Times New Roman" pitchFamily="18" charset="0"/>
                  </a:rPr>
                  <a:t>Information needed (after using A to split D into v partitions)</a:t>
                </a:r>
              </a:p>
              <a:p>
                <a:pPr algn="just"/>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𝐼𝑛𝑓𝑜</m:t>
                          </m:r>
                        </m:e>
                        <m:sub>
                          <m:r>
                            <a:rPr lang="en-GB" sz="1800" b="0" i="1" smtClean="0">
                              <a:solidFill>
                                <a:schemeClr val="tx1"/>
                              </a:solidFill>
                              <a:latin typeface="Cambria Math" panose="02040503050406030204" pitchFamily="18" charset="0"/>
                              <a:cs typeface="Times New Roman" pitchFamily="18" charset="0"/>
                            </a:rPr>
                            <m:t>𝐴</m:t>
                          </m:r>
                        </m:sub>
                      </m:sSub>
                      <m:d>
                        <m:dPr>
                          <m:ctrlPr>
                            <a:rPr lang="en-GB" sz="1800" b="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r>
                        <a:rPr lang="en-GB" sz="1800" b="0" i="1" smtClean="0">
                          <a:solidFill>
                            <a:schemeClr val="tx1"/>
                          </a:solidFill>
                          <a:latin typeface="Cambria Math" panose="02040503050406030204" pitchFamily="18" charset="0"/>
                          <a:cs typeface="Times New Roman" pitchFamily="18" charset="0"/>
                        </a:rPr>
                        <m:t>=</m:t>
                      </m:r>
                      <m:nary>
                        <m:naryPr>
                          <m:chr m:val="∑"/>
                          <m:ctrlPr>
                            <a:rPr lang="en-GB" sz="1800" b="0" i="1" smtClean="0">
                              <a:solidFill>
                                <a:schemeClr val="tx1"/>
                              </a:solidFill>
                              <a:latin typeface="Cambria Math" panose="02040503050406030204" pitchFamily="18" charset="0"/>
                              <a:cs typeface="Times New Roman" pitchFamily="18" charset="0"/>
                            </a:rPr>
                          </m:ctrlPr>
                        </m:naryPr>
                        <m:sub>
                          <m:r>
                            <m:rPr>
                              <m:brk m:alnAt="23"/>
                            </m:rPr>
                            <a:rPr lang="en-GB" sz="1800" b="0" i="1" smtClean="0">
                              <a:solidFill>
                                <a:schemeClr val="tx1"/>
                              </a:solidFill>
                              <a:latin typeface="Cambria Math" panose="02040503050406030204" pitchFamily="18" charset="0"/>
                              <a:cs typeface="Times New Roman" pitchFamily="18" charset="0"/>
                            </a:rPr>
                            <m:t>𝑗</m:t>
                          </m:r>
                          <m:r>
                            <a:rPr lang="en-GB" sz="1800" b="0" i="1" smtClean="0">
                              <a:solidFill>
                                <a:schemeClr val="tx1"/>
                              </a:solidFill>
                              <a:latin typeface="Cambria Math" panose="02040503050406030204" pitchFamily="18" charset="0"/>
                              <a:cs typeface="Times New Roman" pitchFamily="18" charset="0"/>
                            </a:rPr>
                            <m:t>=1</m:t>
                          </m:r>
                        </m:sub>
                        <m:sup>
                          <m:r>
                            <a:rPr lang="en-GB" sz="1800" b="0" i="1" smtClean="0">
                              <a:solidFill>
                                <a:schemeClr val="tx1"/>
                              </a:solidFill>
                              <a:latin typeface="Cambria Math" panose="02040503050406030204" pitchFamily="18" charset="0"/>
                              <a:cs typeface="Times New Roman" pitchFamily="18" charset="0"/>
                            </a:rPr>
                            <m:t>𝑣</m:t>
                          </m:r>
                        </m:sup>
                        <m:e>
                          <m:f>
                            <m:fPr>
                              <m:ctrlPr>
                                <a:rPr lang="en-GB" sz="1800" b="0" i="1" smtClean="0">
                                  <a:solidFill>
                                    <a:schemeClr val="tx1"/>
                                  </a:solidFill>
                                  <a:latin typeface="Cambria Math" panose="02040503050406030204" pitchFamily="18" charset="0"/>
                                  <a:cs typeface="Times New Roman" pitchFamily="18" charset="0"/>
                                </a:rPr>
                              </m:ctrlPr>
                            </m:fPr>
                            <m:num>
                              <m:d>
                                <m:dPr>
                                  <m:begChr m:val="|"/>
                                  <m:endChr m:val="|"/>
                                  <m:ctrlPr>
                                    <a:rPr lang="en-GB" sz="1800" b="0" i="1" smtClean="0">
                                      <a:solidFill>
                                        <a:schemeClr val="tx1"/>
                                      </a:solidFill>
                                      <a:latin typeface="Cambria Math" panose="02040503050406030204" pitchFamily="18" charset="0"/>
                                      <a:cs typeface="Times New Roman" pitchFamily="18" charset="0"/>
                                    </a:rPr>
                                  </m:ctrlPr>
                                </m:dPr>
                                <m:e>
                                  <m:sSub>
                                    <m:sSubPr>
                                      <m:ctrlPr>
                                        <a:rPr lang="en-GB" sz="1800" b="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𝐷</m:t>
                                      </m:r>
                                    </m:e>
                                    <m:sub>
                                      <m:r>
                                        <a:rPr lang="en-GB" sz="1800" b="0" i="1" smtClean="0">
                                          <a:solidFill>
                                            <a:schemeClr val="tx1"/>
                                          </a:solidFill>
                                          <a:latin typeface="Cambria Math" panose="02040503050406030204" pitchFamily="18" charset="0"/>
                                          <a:cs typeface="Times New Roman" pitchFamily="18" charset="0"/>
                                        </a:rPr>
                                        <m:t>𝑗</m:t>
                                      </m:r>
                                    </m:sub>
                                  </m:sSub>
                                </m:e>
                              </m:d>
                            </m:num>
                            <m:den>
                              <m:d>
                                <m:dPr>
                                  <m:begChr m:val="|"/>
                                  <m:endChr m:val="|"/>
                                  <m:ctrlPr>
                                    <a:rPr lang="en-GB" sz="1800" b="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den>
                          </m:f>
                        </m:e>
                      </m:nary>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𝐼𝑛𝑓𝑜</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𝐷</m:t>
                          </m:r>
                        </m:e>
                        <m: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𝑗</m:t>
                          </m:r>
                        </m:sub>
                      </m:s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oMath>
                  </m:oMathPara>
                </a14:m>
                <a:endParaRPr lang="en-US" sz="1800" dirty="0">
                  <a:solidFill>
                    <a:schemeClr val="tx1"/>
                  </a:solidFill>
                  <a:latin typeface="Times New Roman" pitchFamily="18" charset="0"/>
                  <a:cs typeface="Times New Roman" pitchFamily="18" charset="0"/>
                </a:endParaRPr>
              </a:p>
              <a:p>
                <a:pPr algn="just"/>
                <a:endParaRPr lang="en-GB"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Similarly</a:t>
                </a:r>
              </a:p>
              <a:p>
                <a:pPr algn="just"/>
                <a14:m>
                  <m:oMathPara xmlns:m="http://schemas.openxmlformats.org/officeDocument/2006/math">
                    <m:oMathParaPr>
                      <m:jc m:val="left"/>
                    </m:oMathParaPr>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𝐼𝑛𝑓𝑜</m:t>
                          </m:r>
                        </m:e>
                        <m:sub>
                          <m:r>
                            <a:rPr lang="en-GB" sz="1800" b="0" i="1" smtClean="0">
                              <a:solidFill>
                                <a:schemeClr val="tx1"/>
                              </a:solidFill>
                              <a:latin typeface="Cambria Math" panose="02040503050406030204" pitchFamily="18" charset="0"/>
                              <a:cs typeface="Times New Roman" pitchFamily="18" charset="0"/>
                            </a:rPr>
                            <m:t>𝑖𝑛𝑐𝑜𝑚𝑒</m:t>
                          </m:r>
                        </m:sub>
                      </m:sSub>
                      <m:d>
                        <m:dPr>
                          <m:ctrlPr>
                            <a:rPr lang="en-GB" sz="1800" b="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r>
                        <a:rPr lang="en-GB" sz="1800" b="0" i="1" smtClean="0">
                          <a:solidFill>
                            <a:schemeClr val="tx1"/>
                          </a:solidFill>
                          <a:latin typeface="Cambria Math" panose="02040503050406030204" pitchFamily="18" charset="0"/>
                          <a:cs typeface="Times New Roman" pitchFamily="18" charset="0"/>
                        </a:rPr>
                        <m:t>=</m:t>
                      </m:r>
                      <m:nary>
                        <m:naryPr>
                          <m:chr m:val="∑"/>
                          <m:ctrlPr>
                            <a:rPr lang="en-GB" sz="1800" b="0" i="1" smtClean="0">
                              <a:solidFill>
                                <a:schemeClr val="tx1"/>
                              </a:solidFill>
                              <a:latin typeface="Cambria Math" panose="02040503050406030204" pitchFamily="18" charset="0"/>
                              <a:cs typeface="Times New Roman" pitchFamily="18" charset="0"/>
                            </a:rPr>
                          </m:ctrlPr>
                        </m:naryPr>
                        <m:sub>
                          <m:r>
                            <m:rPr>
                              <m:brk m:alnAt="23"/>
                            </m:rPr>
                            <a:rPr lang="en-GB" sz="1800" b="0" i="1" smtClean="0">
                              <a:solidFill>
                                <a:schemeClr val="tx1"/>
                              </a:solidFill>
                              <a:latin typeface="Cambria Math" panose="02040503050406030204" pitchFamily="18" charset="0"/>
                              <a:cs typeface="Times New Roman" pitchFamily="18" charset="0"/>
                            </a:rPr>
                            <m:t>𝑗</m:t>
                          </m:r>
                          <m:r>
                            <a:rPr lang="en-GB" sz="1800" b="0" i="1" smtClean="0">
                              <a:solidFill>
                                <a:schemeClr val="tx1"/>
                              </a:solidFill>
                              <a:latin typeface="Cambria Math" panose="02040503050406030204" pitchFamily="18" charset="0"/>
                              <a:cs typeface="Times New Roman" pitchFamily="18" charset="0"/>
                            </a:rPr>
                            <m:t>=1</m:t>
                          </m:r>
                        </m:sub>
                        <m:sup>
                          <m:r>
                            <a:rPr lang="en-GB" sz="1800" b="0" i="1" smtClean="0">
                              <a:solidFill>
                                <a:schemeClr val="tx1"/>
                              </a:solidFill>
                              <a:latin typeface="Cambria Math" panose="02040503050406030204" pitchFamily="18" charset="0"/>
                              <a:cs typeface="Times New Roman" pitchFamily="18" charset="0"/>
                            </a:rPr>
                            <m:t>3</m:t>
                          </m:r>
                        </m:sup>
                        <m:e>
                          <m:f>
                            <m:fPr>
                              <m:ctrlPr>
                                <a:rPr lang="en-GB" sz="1800" b="0" i="1" smtClean="0">
                                  <a:solidFill>
                                    <a:schemeClr val="tx1"/>
                                  </a:solidFill>
                                  <a:latin typeface="Cambria Math" panose="02040503050406030204" pitchFamily="18" charset="0"/>
                                  <a:cs typeface="Times New Roman" pitchFamily="18" charset="0"/>
                                </a:rPr>
                              </m:ctrlPr>
                            </m:fPr>
                            <m:num>
                              <m:d>
                                <m:dPr>
                                  <m:begChr m:val="|"/>
                                  <m:endChr m:val="|"/>
                                  <m:ctrlPr>
                                    <a:rPr lang="en-GB" sz="1800" b="0" i="1" smtClean="0">
                                      <a:solidFill>
                                        <a:schemeClr val="tx1"/>
                                      </a:solidFill>
                                      <a:latin typeface="Cambria Math" panose="02040503050406030204" pitchFamily="18" charset="0"/>
                                      <a:cs typeface="Times New Roman" pitchFamily="18" charset="0"/>
                                    </a:rPr>
                                  </m:ctrlPr>
                                </m:dPr>
                                <m:e>
                                  <m:sSub>
                                    <m:sSubPr>
                                      <m:ctrlPr>
                                        <a:rPr lang="en-GB" sz="1800" b="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𝐷</m:t>
                                      </m:r>
                                    </m:e>
                                    <m:sub>
                                      <m:r>
                                        <a:rPr lang="en-GB" sz="1800" b="0" i="1" smtClean="0">
                                          <a:solidFill>
                                            <a:schemeClr val="tx1"/>
                                          </a:solidFill>
                                          <a:latin typeface="Cambria Math" panose="02040503050406030204" pitchFamily="18" charset="0"/>
                                          <a:cs typeface="Times New Roman" pitchFamily="18" charset="0"/>
                                        </a:rPr>
                                        <m:t>𝑗</m:t>
                                      </m:r>
                                    </m:sub>
                                  </m:sSub>
                                </m:e>
                              </m:d>
                            </m:num>
                            <m:den>
                              <m:d>
                                <m:dPr>
                                  <m:begChr m:val="|"/>
                                  <m:endChr m:val="|"/>
                                  <m:ctrlPr>
                                    <a:rPr lang="en-GB" sz="1800" b="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den>
                          </m:f>
                        </m:e>
                      </m:nary>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𝐼𝑛𝑓𝑜</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𝐷</m:t>
                          </m:r>
                        </m:e>
                        <m: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𝑗</m:t>
                          </m:r>
                        </m:sub>
                      </m:s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oMath>
                  </m:oMathPara>
                </a14:m>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centerGroup"/>
                    </m:oMathParaPr>
                    <m:oMath xmlns:m="http://schemas.openxmlformats.org/officeDocument/2006/math">
                      <m:r>
                        <a:rPr lang="en-GB" sz="1800" b="0" i="1" smtClean="0">
                          <a:solidFill>
                            <a:schemeClr val="tx1"/>
                          </a:solidFill>
                          <a:latin typeface="Cambria Math" panose="02040503050406030204" pitchFamily="18" charset="0"/>
                          <a:cs typeface="Times New Roman" pitchFamily="18" charset="0"/>
                        </a:rPr>
                        <m:t>=</m:t>
                      </m:r>
                      <m:f>
                        <m:fPr>
                          <m:ctrlPr>
                            <a:rPr lang="en-GB" sz="1800" i="1" smtClean="0">
                              <a:solidFill>
                                <a:srgbClr val="0070C0"/>
                              </a:solidFill>
                              <a:latin typeface="Cambria Math" panose="02040503050406030204" pitchFamily="18" charset="0"/>
                              <a:cs typeface="Times New Roman" pitchFamily="18" charset="0"/>
                            </a:rPr>
                          </m:ctrlPr>
                        </m:fPr>
                        <m:num>
                          <m:r>
                            <a:rPr lang="en-GB" sz="1800" b="0" i="1" smtClean="0">
                              <a:solidFill>
                                <a:srgbClr val="0070C0"/>
                              </a:solidFill>
                              <a:latin typeface="Cambria Math" panose="02040503050406030204" pitchFamily="18" charset="0"/>
                              <a:cs typeface="Times New Roman" pitchFamily="18" charset="0"/>
                            </a:rPr>
                            <m:t>4</m:t>
                          </m:r>
                        </m:num>
                        <m:den>
                          <m:r>
                            <a:rPr lang="en-GB" sz="1800" b="0" i="1" smtClean="0">
                              <a:solidFill>
                                <a:srgbClr val="0070C0"/>
                              </a:solidFill>
                              <a:latin typeface="Cambria Math" panose="02040503050406030204" pitchFamily="18" charset="0"/>
                              <a:cs typeface="Times New Roman" pitchFamily="18" charset="0"/>
                            </a:rPr>
                            <m:t>14</m:t>
                          </m:r>
                        </m:den>
                      </m:f>
                      <m:r>
                        <a:rPr lang="en-GB" sz="1800" i="1">
                          <a:solidFill>
                            <a:srgbClr val="0070C0"/>
                          </a:solidFill>
                          <a:latin typeface="Cambria Math" panose="02040503050406030204" pitchFamily="18" charset="0"/>
                          <a:ea typeface="Cambria Math" panose="02040503050406030204" pitchFamily="18" charset="0"/>
                          <a:cs typeface="Times New Roman" pitchFamily="18" charset="0"/>
                        </a:rPr>
                        <m:t>×</m:t>
                      </m:r>
                      <m:r>
                        <a:rPr lang="en-GB" sz="1800" i="1" smtClean="0">
                          <a:solidFill>
                            <a:srgbClr val="0070C0"/>
                          </a:solidFill>
                          <a:latin typeface="Cambria Math" panose="02040503050406030204" pitchFamily="18" charset="0"/>
                          <a:ea typeface="Cambria Math" panose="02040503050406030204" pitchFamily="18" charset="0"/>
                          <a:cs typeface="Times New Roman" pitchFamily="18" charset="0"/>
                        </a:rPr>
                        <m:t>𝐼</m:t>
                      </m:r>
                      <m:d>
                        <m:dPr>
                          <m:ctrlPr>
                            <a:rPr lang="en-GB" sz="1800" b="0" i="1" smtClean="0">
                              <a:solidFill>
                                <a:srgbClr val="0070C0"/>
                              </a:solidFill>
                              <a:latin typeface="Cambria Math" panose="02040503050406030204" pitchFamily="18" charset="0"/>
                              <a:ea typeface="Cambria Math" panose="02040503050406030204" pitchFamily="18" charset="0"/>
                              <a:cs typeface="Times New Roman" pitchFamily="18" charset="0"/>
                            </a:rPr>
                          </m:ctrlPr>
                        </m:dPr>
                        <m:e>
                          <m:r>
                            <a:rPr lang="en-GB" sz="1800" b="0" i="1" smtClean="0">
                              <a:solidFill>
                                <a:srgbClr val="0070C0"/>
                              </a:solidFill>
                              <a:latin typeface="Cambria Math" panose="02040503050406030204" pitchFamily="18" charset="0"/>
                              <a:ea typeface="Cambria Math" panose="02040503050406030204" pitchFamily="18" charset="0"/>
                              <a:cs typeface="Times New Roman" pitchFamily="18" charset="0"/>
                            </a:rPr>
                            <m:t>2,2</m:t>
                          </m:r>
                        </m:e>
                      </m:d>
                      <m:r>
                        <a:rPr lang="en-US" sz="1800" i="1" dirty="0" smtClean="0">
                          <a:solidFill>
                            <a:schemeClr val="tx1"/>
                          </a:solidFill>
                          <a:latin typeface="Cambria Math" panose="02040503050406030204" pitchFamily="18" charset="0"/>
                          <a:cs typeface="Times New Roman" pitchFamily="18" charset="0"/>
                        </a:rPr>
                        <m:t>+</m:t>
                      </m:r>
                      <m:f>
                        <m:fPr>
                          <m:ctrlPr>
                            <a:rPr lang="en-GB" sz="1800" i="1">
                              <a:solidFill>
                                <a:schemeClr val="tx1"/>
                              </a:solidFill>
                              <a:latin typeface="Cambria Math" panose="02040503050406030204" pitchFamily="18" charset="0"/>
                              <a:cs typeface="Times New Roman" pitchFamily="18" charset="0"/>
                            </a:rPr>
                          </m:ctrlPr>
                        </m:fPr>
                        <m:num>
                          <m:r>
                            <a:rPr lang="en-GB" sz="1800" b="0" i="1" smtClean="0">
                              <a:solidFill>
                                <a:schemeClr val="tx1"/>
                              </a:solidFill>
                              <a:latin typeface="Cambria Math" panose="02040503050406030204" pitchFamily="18" charset="0"/>
                              <a:cs typeface="Times New Roman" pitchFamily="18" charset="0"/>
                            </a:rPr>
                            <m:t>6</m:t>
                          </m:r>
                        </m:num>
                        <m:den>
                          <m:r>
                            <a:rPr lang="en-GB" sz="1800" i="1">
                              <a:solidFill>
                                <a:schemeClr val="tx1"/>
                              </a:solidFill>
                              <a:latin typeface="Cambria Math" panose="02040503050406030204" pitchFamily="18" charset="0"/>
                              <a:cs typeface="Times New Roman" pitchFamily="18" charset="0"/>
                            </a:rPr>
                            <m:t>14</m:t>
                          </m:r>
                        </m:den>
                      </m:f>
                      <m:r>
                        <a:rPr lang="en-GB" sz="1800" i="1">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ea typeface="Cambria Math" panose="02040503050406030204" pitchFamily="18" charset="0"/>
                          <a:cs typeface="Times New Roman" pitchFamily="18" charset="0"/>
                        </a:rPr>
                        <m:t>𝐼</m:t>
                      </m:r>
                      <m:d>
                        <m:dPr>
                          <m:ctrlPr>
                            <a:rPr lang="en-GB" sz="1800" i="1">
                              <a:solidFill>
                                <a:schemeClr val="tx1"/>
                              </a:solidFill>
                              <a:latin typeface="Cambria Math" panose="02040503050406030204" pitchFamily="18" charset="0"/>
                              <a:ea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4,2</m:t>
                          </m:r>
                        </m:e>
                      </m:d>
                      <m:r>
                        <a:rPr lang="en-US" sz="1800" i="1" dirty="0" smtClean="0">
                          <a:solidFill>
                            <a:schemeClr val="tx1"/>
                          </a:solidFill>
                          <a:latin typeface="Cambria Math" panose="02040503050406030204" pitchFamily="18" charset="0"/>
                          <a:cs typeface="Times New Roman" pitchFamily="18" charset="0"/>
                        </a:rPr>
                        <m:t>+</m:t>
                      </m:r>
                      <m:f>
                        <m:fPr>
                          <m:ctrlPr>
                            <a:rPr lang="en-GB" sz="1800" i="1">
                              <a:solidFill>
                                <a:schemeClr val="tx1"/>
                              </a:solidFill>
                              <a:latin typeface="Cambria Math" panose="02040503050406030204" pitchFamily="18" charset="0"/>
                              <a:cs typeface="Times New Roman" pitchFamily="18" charset="0"/>
                            </a:rPr>
                          </m:ctrlPr>
                        </m:fPr>
                        <m:num>
                          <m:r>
                            <a:rPr lang="en-GB" sz="1800" b="0" i="1" smtClean="0">
                              <a:solidFill>
                                <a:schemeClr val="tx1"/>
                              </a:solidFill>
                              <a:latin typeface="Cambria Math" panose="02040503050406030204" pitchFamily="18" charset="0"/>
                              <a:cs typeface="Times New Roman" pitchFamily="18" charset="0"/>
                            </a:rPr>
                            <m:t>4</m:t>
                          </m:r>
                        </m:num>
                        <m:den>
                          <m:r>
                            <a:rPr lang="en-GB" sz="1800" i="1">
                              <a:solidFill>
                                <a:schemeClr val="tx1"/>
                              </a:solidFill>
                              <a:latin typeface="Cambria Math" panose="02040503050406030204" pitchFamily="18" charset="0"/>
                              <a:cs typeface="Times New Roman" pitchFamily="18" charset="0"/>
                            </a:rPr>
                            <m:t>14</m:t>
                          </m:r>
                        </m:den>
                      </m:f>
                      <m:r>
                        <a:rPr lang="en-GB" sz="1800" i="1">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ea typeface="Cambria Math" panose="02040503050406030204" pitchFamily="18" charset="0"/>
                          <a:cs typeface="Times New Roman" pitchFamily="18" charset="0"/>
                        </a:rPr>
                        <m:t>𝐼</m:t>
                      </m:r>
                      <m:d>
                        <m:dPr>
                          <m:ctrlPr>
                            <a:rPr lang="en-GB" sz="1800" i="1">
                              <a:solidFill>
                                <a:schemeClr val="tx1"/>
                              </a:solidFill>
                              <a:latin typeface="Cambria Math" panose="02040503050406030204" pitchFamily="18" charset="0"/>
                              <a:ea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3</m:t>
                          </m:r>
                          <m:r>
                            <a:rPr lang="en-GB" sz="1800" i="1">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1</m:t>
                          </m:r>
                        </m:e>
                      </m:d>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=0.911</m:t>
                      </m:r>
                    </m:oMath>
                  </m:oMathPara>
                </a14:m>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p:txBody>
          </p:sp>
        </mc:Choice>
        <mc:Fallback xmlns="">
          <p:sp>
            <p:nvSpPr>
              <p:cNvPr id="3" name="Subtitle 2">
                <a:extLst>
                  <a:ext uri="{FF2B5EF4-FFF2-40B4-BE49-F238E27FC236}">
                    <a16:creationId xmlns:a16="http://schemas.microsoft.com/office/drawing/2014/main" xmlns="" xmlns:a14="http://schemas.microsoft.com/office/drawing/2010/main" id="{4FABF2A3-3801-1558-0428-BA50959181C7}"/>
                  </a:ext>
                </a:extLst>
              </p:cNvPr>
              <p:cNvSpPr>
                <a:spLocks noGrp="1" noRot="1" noChangeAspect="1" noMove="1" noResize="1" noEditPoints="1" noAdjustHandles="1" noChangeArrowheads="1" noChangeShapeType="1" noTextEdit="1"/>
              </p:cNvSpPr>
              <p:nvPr>
                <p:ph type="subTitle" idx="1"/>
              </p:nvPr>
            </p:nvSpPr>
            <p:spPr>
              <a:xfrm>
                <a:off x="685800" y="1371600"/>
                <a:ext cx="3951287" cy="5257800"/>
              </a:xfrm>
              <a:blipFill rotWithShape="1">
                <a:blip r:embed="rId3"/>
                <a:stretch>
                  <a:fillRect l="-1389" t="-579" r="-1235"/>
                </a:stretch>
              </a:blipFill>
            </p:spPr>
            <p:txBody>
              <a:bodyPr/>
              <a:lstStyle/>
              <a:p>
                <a:r>
                  <a:rPr lang="en-US">
                    <a:noFill/>
                  </a:rPr>
                  <a:t> </a:t>
                </a:r>
              </a:p>
            </p:txBody>
          </p:sp>
        </mc:Fallback>
      </mc:AlternateContent>
      <p:graphicFrame>
        <p:nvGraphicFramePr>
          <p:cNvPr id="5" name="Object 1024">
            <a:extLst>
              <a:ext uri="{FF2B5EF4-FFF2-40B4-BE49-F238E27FC236}">
                <a16:creationId xmlns:a16="http://schemas.microsoft.com/office/drawing/2014/main" id="{2E99C7F1-6C91-8E0F-D25E-ACA836202DC5}"/>
              </a:ext>
            </a:extLst>
          </p:cNvPr>
          <p:cNvGraphicFramePr>
            <a:graphicFrameLocks/>
          </p:cNvGraphicFramePr>
          <p:nvPr>
            <p:extLst>
              <p:ext uri="{D42A27DB-BD31-4B8C-83A1-F6EECF244321}">
                <p14:modId xmlns:p14="http://schemas.microsoft.com/office/powerpoint/2010/main" val="1202036319"/>
              </p:ext>
            </p:extLst>
          </p:nvPr>
        </p:nvGraphicFramePr>
        <p:xfrm>
          <a:off x="4637088" y="1371600"/>
          <a:ext cx="4474256" cy="5105400"/>
        </p:xfrm>
        <a:graphic>
          <a:graphicData uri="http://schemas.openxmlformats.org/presentationml/2006/ole">
            <mc:AlternateContent xmlns:mc="http://schemas.openxmlformats.org/markup-compatibility/2006">
              <mc:Choice xmlns:v="urn:schemas-microsoft-com:vml" Requires="v">
                <p:oleObj name="Worksheet" r:id="rId4" imgW="5772150" imgH="4457700" progId="Excel.Sheet.8">
                  <p:embed/>
                </p:oleObj>
              </mc:Choice>
              <mc:Fallback>
                <p:oleObj name="Worksheet" r:id="rId4" imgW="5772150" imgH="4457700" progId="Excel.Sheet.8">
                  <p:embed/>
                  <p:pic>
                    <p:nvPicPr>
                      <p:cNvPr id="5" name="Object 1024">
                        <a:extLst>
                          <a:ext uri="{FF2B5EF4-FFF2-40B4-BE49-F238E27FC236}">
                            <a16:creationId xmlns:a16="http://schemas.microsoft.com/office/drawing/2014/main" id="{89BF7636-D3A4-C0CC-B4E9-1F927EFC3978}"/>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37088" y="1371600"/>
                        <a:ext cx="4474256" cy="5105400"/>
                      </a:xfrm>
                      <a:prstGeom prst="rect">
                        <a:avLst/>
                      </a:prstGeom>
                      <a:noFill/>
                      <a:ln>
                        <a:noFill/>
                      </a:ln>
                    </p:spPr>
                  </p:pic>
                </p:oleObj>
              </mc:Fallback>
            </mc:AlternateContent>
          </a:graphicData>
        </a:graphic>
      </p:graphicFrame>
      <p:sp>
        <p:nvSpPr>
          <p:cNvPr id="10" name="Oval 9">
            <a:extLst>
              <a:ext uri="{FF2B5EF4-FFF2-40B4-BE49-F238E27FC236}">
                <a16:creationId xmlns:a16="http://schemas.microsoft.com/office/drawing/2014/main" id="{D874F52E-6079-49BC-CA9E-7CC11A68D86A}"/>
              </a:ext>
            </a:extLst>
          </p:cNvPr>
          <p:cNvSpPr/>
          <p:nvPr/>
        </p:nvSpPr>
        <p:spPr>
          <a:xfrm>
            <a:off x="5257800" y="1752600"/>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D874F52E-6079-49BC-CA9E-7CC11A68D86A}"/>
              </a:ext>
            </a:extLst>
          </p:cNvPr>
          <p:cNvSpPr/>
          <p:nvPr/>
        </p:nvSpPr>
        <p:spPr>
          <a:xfrm>
            <a:off x="5257800" y="2133600"/>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D874F52E-6079-49BC-CA9E-7CC11A68D86A}"/>
              </a:ext>
            </a:extLst>
          </p:cNvPr>
          <p:cNvSpPr/>
          <p:nvPr/>
        </p:nvSpPr>
        <p:spPr>
          <a:xfrm>
            <a:off x="5257800" y="2438400"/>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D874F52E-6079-49BC-CA9E-7CC11A68D86A}"/>
              </a:ext>
            </a:extLst>
          </p:cNvPr>
          <p:cNvSpPr/>
          <p:nvPr/>
        </p:nvSpPr>
        <p:spPr>
          <a:xfrm>
            <a:off x="5276491" y="5791200"/>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D874F52E-6079-49BC-CA9E-7CC11A68D86A}"/>
              </a:ext>
            </a:extLst>
          </p:cNvPr>
          <p:cNvSpPr/>
          <p:nvPr/>
        </p:nvSpPr>
        <p:spPr>
          <a:xfrm>
            <a:off x="8142514" y="17526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D874F52E-6079-49BC-CA9E-7CC11A68D86A}"/>
              </a:ext>
            </a:extLst>
          </p:cNvPr>
          <p:cNvSpPr/>
          <p:nvPr/>
        </p:nvSpPr>
        <p:spPr>
          <a:xfrm>
            <a:off x="8142514" y="2107721"/>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D874F52E-6079-49BC-CA9E-7CC11A68D86A}"/>
              </a:ext>
            </a:extLst>
          </p:cNvPr>
          <p:cNvSpPr/>
          <p:nvPr/>
        </p:nvSpPr>
        <p:spPr>
          <a:xfrm>
            <a:off x="8142514" y="24384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D874F52E-6079-49BC-CA9E-7CC11A68D86A}"/>
              </a:ext>
            </a:extLst>
          </p:cNvPr>
          <p:cNvSpPr/>
          <p:nvPr/>
        </p:nvSpPr>
        <p:spPr>
          <a:xfrm>
            <a:off x="8142514" y="57912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844156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95F06-7CC3-BA12-3585-F295B2BF1F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173478-5F13-1A52-A0C4-4A7A179E2030}"/>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4FABF2A3-3801-1558-0428-BA50959181C7}"/>
                  </a:ext>
                </a:extLst>
              </p:cNvPr>
              <p:cNvSpPr>
                <a:spLocks noGrp="1"/>
              </p:cNvSpPr>
              <p:nvPr>
                <p:ph type="subTitle" idx="1"/>
              </p:nvPr>
            </p:nvSpPr>
            <p:spPr>
              <a:xfrm>
                <a:off x="685800" y="1371600"/>
                <a:ext cx="3951287" cy="5257800"/>
              </a:xfrm>
            </p:spPr>
            <p:txBody>
              <a:bodyPr>
                <a:normAutofit/>
              </a:bodyPr>
              <a:lstStyle/>
              <a:p>
                <a:pPr algn="just"/>
                <a:r>
                  <a:rPr lang="en-US" sz="1800" b="1" dirty="0">
                    <a:solidFill>
                      <a:schemeClr val="tx1"/>
                    </a:solidFill>
                    <a:latin typeface="Times New Roman" pitchFamily="18" charset="0"/>
                    <a:cs typeface="Times New Roman" pitchFamily="18" charset="0"/>
                  </a:rPr>
                  <a:t>Information needed (after using A to split D into v partitions)</a:t>
                </a:r>
              </a:p>
              <a:p>
                <a:pPr algn="just"/>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𝐼𝑛𝑓𝑜</m:t>
                          </m:r>
                        </m:e>
                        <m:sub>
                          <m:r>
                            <a:rPr lang="en-GB" sz="1800" b="0" i="1" smtClean="0">
                              <a:solidFill>
                                <a:schemeClr val="tx1"/>
                              </a:solidFill>
                              <a:latin typeface="Cambria Math" panose="02040503050406030204" pitchFamily="18" charset="0"/>
                              <a:cs typeface="Times New Roman" pitchFamily="18" charset="0"/>
                            </a:rPr>
                            <m:t>𝐴</m:t>
                          </m:r>
                        </m:sub>
                      </m:sSub>
                      <m:d>
                        <m:dPr>
                          <m:ctrlPr>
                            <a:rPr lang="en-GB" sz="1800" b="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r>
                        <a:rPr lang="en-GB" sz="1800" b="0" i="1" smtClean="0">
                          <a:solidFill>
                            <a:schemeClr val="tx1"/>
                          </a:solidFill>
                          <a:latin typeface="Cambria Math" panose="02040503050406030204" pitchFamily="18" charset="0"/>
                          <a:cs typeface="Times New Roman" pitchFamily="18" charset="0"/>
                        </a:rPr>
                        <m:t>=</m:t>
                      </m:r>
                      <m:nary>
                        <m:naryPr>
                          <m:chr m:val="∑"/>
                          <m:ctrlPr>
                            <a:rPr lang="en-GB" sz="1800" b="0" i="1" smtClean="0">
                              <a:solidFill>
                                <a:schemeClr val="tx1"/>
                              </a:solidFill>
                              <a:latin typeface="Cambria Math" panose="02040503050406030204" pitchFamily="18" charset="0"/>
                              <a:cs typeface="Times New Roman" pitchFamily="18" charset="0"/>
                            </a:rPr>
                          </m:ctrlPr>
                        </m:naryPr>
                        <m:sub>
                          <m:r>
                            <m:rPr>
                              <m:brk m:alnAt="23"/>
                            </m:rPr>
                            <a:rPr lang="en-GB" sz="1800" b="0" i="1" smtClean="0">
                              <a:solidFill>
                                <a:schemeClr val="tx1"/>
                              </a:solidFill>
                              <a:latin typeface="Cambria Math" panose="02040503050406030204" pitchFamily="18" charset="0"/>
                              <a:cs typeface="Times New Roman" pitchFamily="18" charset="0"/>
                            </a:rPr>
                            <m:t>𝑗</m:t>
                          </m:r>
                          <m:r>
                            <a:rPr lang="en-GB" sz="1800" b="0" i="1" smtClean="0">
                              <a:solidFill>
                                <a:schemeClr val="tx1"/>
                              </a:solidFill>
                              <a:latin typeface="Cambria Math" panose="02040503050406030204" pitchFamily="18" charset="0"/>
                              <a:cs typeface="Times New Roman" pitchFamily="18" charset="0"/>
                            </a:rPr>
                            <m:t>=1</m:t>
                          </m:r>
                        </m:sub>
                        <m:sup>
                          <m:r>
                            <a:rPr lang="en-GB" sz="1800" b="0" i="1" smtClean="0">
                              <a:solidFill>
                                <a:schemeClr val="tx1"/>
                              </a:solidFill>
                              <a:latin typeface="Cambria Math" panose="02040503050406030204" pitchFamily="18" charset="0"/>
                              <a:cs typeface="Times New Roman" pitchFamily="18" charset="0"/>
                            </a:rPr>
                            <m:t>𝑣</m:t>
                          </m:r>
                        </m:sup>
                        <m:e>
                          <m:f>
                            <m:fPr>
                              <m:ctrlPr>
                                <a:rPr lang="en-GB" sz="1800" b="0" i="1" smtClean="0">
                                  <a:solidFill>
                                    <a:schemeClr val="tx1"/>
                                  </a:solidFill>
                                  <a:latin typeface="Cambria Math" panose="02040503050406030204" pitchFamily="18" charset="0"/>
                                  <a:cs typeface="Times New Roman" pitchFamily="18" charset="0"/>
                                </a:rPr>
                              </m:ctrlPr>
                            </m:fPr>
                            <m:num>
                              <m:d>
                                <m:dPr>
                                  <m:begChr m:val="|"/>
                                  <m:endChr m:val="|"/>
                                  <m:ctrlPr>
                                    <a:rPr lang="en-GB" sz="1800" b="0" i="1" smtClean="0">
                                      <a:solidFill>
                                        <a:schemeClr val="tx1"/>
                                      </a:solidFill>
                                      <a:latin typeface="Cambria Math" panose="02040503050406030204" pitchFamily="18" charset="0"/>
                                      <a:cs typeface="Times New Roman" pitchFamily="18" charset="0"/>
                                    </a:rPr>
                                  </m:ctrlPr>
                                </m:dPr>
                                <m:e>
                                  <m:sSub>
                                    <m:sSubPr>
                                      <m:ctrlPr>
                                        <a:rPr lang="en-GB" sz="1800" b="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𝐷</m:t>
                                      </m:r>
                                    </m:e>
                                    <m:sub>
                                      <m:r>
                                        <a:rPr lang="en-GB" sz="1800" b="0" i="1" smtClean="0">
                                          <a:solidFill>
                                            <a:schemeClr val="tx1"/>
                                          </a:solidFill>
                                          <a:latin typeface="Cambria Math" panose="02040503050406030204" pitchFamily="18" charset="0"/>
                                          <a:cs typeface="Times New Roman" pitchFamily="18" charset="0"/>
                                        </a:rPr>
                                        <m:t>𝑗</m:t>
                                      </m:r>
                                    </m:sub>
                                  </m:sSub>
                                </m:e>
                              </m:d>
                            </m:num>
                            <m:den>
                              <m:d>
                                <m:dPr>
                                  <m:begChr m:val="|"/>
                                  <m:endChr m:val="|"/>
                                  <m:ctrlPr>
                                    <a:rPr lang="en-GB" sz="1800" b="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den>
                          </m:f>
                        </m:e>
                      </m:nary>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𝐼𝑛𝑓𝑜</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𝐷</m:t>
                          </m:r>
                        </m:e>
                        <m: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𝑗</m:t>
                          </m:r>
                        </m:sub>
                      </m:s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oMath>
                  </m:oMathPara>
                </a14:m>
                <a:endParaRPr lang="en-US" sz="1800" dirty="0">
                  <a:solidFill>
                    <a:schemeClr val="tx1"/>
                  </a:solidFill>
                  <a:latin typeface="Times New Roman" pitchFamily="18" charset="0"/>
                  <a:cs typeface="Times New Roman" pitchFamily="18" charset="0"/>
                </a:endParaRPr>
              </a:p>
              <a:p>
                <a:pPr algn="just"/>
                <a:endParaRPr lang="en-GB"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Similarly</a:t>
                </a:r>
              </a:p>
              <a:p>
                <a:pPr algn="just"/>
                <a14:m>
                  <m:oMathPara xmlns:m="http://schemas.openxmlformats.org/officeDocument/2006/math">
                    <m:oMathParaPr>
                      <m:jc m:val="left"/>
                    </m:oMathParaPr>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𝐼𝑛𝑓𝑜</m:t>
                          </m:r>
                        </m:e>
                        <m:sub>
                          <m:r>
                            <a:rPr lang="en-GB" sz="1800" b="0" i="1" smtClean="0">
                              <a:solidFill>
                                <a:schemeClr val="tx1"/>
                              </a:solidFill>
                              <a:latin typeface="Cambria Math" panose="02040503050406030204" pitchFamily="18" charset="0"/>
                              <a:cs typeface="Times New Roman" pitchFamily="18" charset="0"/>
                            </a:rPr>
                            <m:t>𝑖𝑛𝑐𝑜𝑚𝑒</m:t>
                          </m:r>
                        </m:sub>
                      </m:sSub>
                      <m:d>
                        <m:dPr>
                          <m:ctrlPr>
                            <a:rPr lang="en-GB" sz="1800" b="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r>
                        <a:rPr lang="en-GB" sz="1800" b="0" i="1" smtClean="0">
                          <a:solidFill>
                            <a:schemeClr val="tx1"/>
                          </a:solidFill>
                          <a:latin typeface="Cambria Math" panose="02040503050406030204" pitchFamily="18" charset="0"/>
                          <a:cs typeface="Times New Roman" pitchFamily="18" charset="0"/>
                        </a:rPr>
                        <m:t>=</m:t>
                      </m:r>
                      <m:nary>
                        <m:naryPr>
                          <m:chr m:val="∑"/>
                          <m:ctrlPr>
                            <a:rPr lang="en-GB" sz="1800" b="0" i="1" smtClean="0">
                              <a:solidFill>
                                <a:schemeClr val="tx1"/>
                              </a:solidFill>
                              <a:latin typeface="Cambria Math" panose="02040503050406030204" pitchFamily="18" charset="0"/>
                              <a:cs typeface="Times New Roman" pitchFamily="18" charset="0"/>
                            </a:rPr>
                          </m:ctrlPr>
                        </m:naryPr>
                        <m:sub>
                          <m:r>
                            <m:rPr>
                              <m:brk m:alnAt="23"/>
                            </m:rPr>
                            <a:rPr lang="en-GB" sz="1800" b="0" i="1" smtClean="0">
                              <a:solidFill>
                                <a:schemeClr val="tx1"/>
                              </a:solidFill>
                              <a:latin typeface="Cambria Math" panose="02040503050406030204" pitchFamily="18" charset="0"/>
                              <a:cs typeface="Times New Roman" pitchFamily="18" charset="0"/>
                            </a:rPr>
                            <m:t>𝑗</m:t>
                          </m:r>
                          <m:r>
                            <a:rPr lang="en-GB" sz="1800" b="0" i="1" smtClean="0">
                              <a:solidFill>
                                <a:schemeClr val="tx1"/>
                              </a:solidFill>
                              <a:latin typeface="Cambria Math" panose="02040503050406030204" pitchFamily="18" charset="0"/>
                              <a:cs typeface="Times New Roman" pitchFamily="18" charset="0"/>
                            </a:rPr>
                            <m:t>=1</m:t>
                          </m:r>
                        </m:sub>
                        <m:sup>
                          <m:r>
                            <a:rPr lang="en-GB" sz="1800" b="0" i="1" smtClean="0">
                              <a:solidFill>
                                <a:schemeClr val="tx1"/>
                              </a:solidFill>
                              <a:latin typeface="Cambria Math" panose="02040503050406030204" pitchFamily="18" charset="0"/>
                              <a:cs typeface="Times New Roman" pitchFamily="18" charset="0"/>
                            </a:rPr>
                            <m:t>3</m:t>
                          </m:r>
                        </m:sup>
                        <m:e>
                          <m:f>
                            <m:fPr>
                              <m:ctrlPr>
                                <a:rPr lang="en-GB" sz="1800" b="0" i="1" smtClean="0">
                                  <a:solidFill>
                                    <a:schemeClr val="tx1"/>
                                  </a:solidFill>
                                  <a:latin typeface="Cambria Math" panose="02040503050406030204" pitchFamily="18" charset="0"/>
                                  <a:cs typeface="Times New Roman" pitchFamily="18" charset="0"/>
                                </a:rPr>
                              </m:ctrlPr>
                            </m:fPr>
                            <m:num>
                              <m:d>
                                <m:dPr>
                                  <m:begChr m:val="|"/>
                                  <m:endChr m:val="|"/>
                                  <m:ctrlPr>
                                    <a:rPr lang="en-GB" sz="1800" b="0" i="1" smtClean="0">
                                      <a:solidFill>
                                        <a:schemeClr val="tx1"/>
                                      </a:solidFill>
                                      <a:latin typeface="Cambria Math" panose="02040503050406030204" pitchFamily="18" charset="0"/>
                                      <a:cs typeface="Times New Roman" pitchFamily="18" charset="0"/>
                                    </a:rPr>
                                  </m:ctrlPr>
                                </m:dPr>
                                <m:e>
                                  <m:sSub>
                                    <m:sSubPr>
                                      <m:ctrlPr>
                                        <a:rPr lang="en-GB" sz="1800" b="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𝐷</m:t>
                                      </m:r>
                                    </m:e>
                                    <m:sub>
                                      <m:r>
                                        <a:rPr lang="en-GB" sz="1800" b="0" i="1" smtClean="0">
                                          <a:solidFill>
                                            <a:schemeClr val="tx1"/>
                                          </a:solidFill>
                                          <a:latin typeface="Cambria Math" panose="02040503050406030204" pitchFamily="18" charset="0"/>
                                          <a:cs typeface="Times New Roman" pitchFamily="18" charset="0"/>
                                        </a:rPr>
                                        <m:t>𝑗</m:t>
                                      </m:r>
                                    </m:sub>
                                  </m:sSub>
                                </m:e>
                              </m:d>
                            </m:num>
                            <m:den>
                              <m:d>
                                <m:dPr>
                                  <m:begChr m:val="|"/>
                                  <m:endChr m:val="|"/>
                                  <m:ctrlPr>
                                    <a:rPr lang="en-GB" sz="1800" b="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den>
                          </m:f>
                        </m:e>
                      </m:nary>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𝐼𝑛𝑓𝑜</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𝐷</m:t>
                          </m:r>
                        </m:e>
                        <m: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𝑗</m:t>
                          </m:r>
                        </m:sub>
                      </m:s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oMath>
                  </m:oMathPara>
                </a14:m>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centerGroup"/>
                    </m:oMathParaPr>
                    <m:oMath xmlns:m="http://schemas.openxmlformats.org/officeDocument/2006/math">
                      <m:r>
                        <a:rPr lang="en-GB" sz="1800" b="0" i="1" smtClean="0">
                          <a:solidFill>
                            <a:schemeClr val="tx1"/>
                          </a:solidFill>
                          <a:latin typeface="Cambria Math" panose="02040503050406030204" pitchFamily="18" charset="0"/>
                          <a:cs typeface="Times New Roman" pitchFamily="18" charset="0"/>
                        </a:rPr>
                        <m:t>=</m:t>
                      </m:r>
                      <m:f>
                        <m:fPr>
                          <m:ctrlPr>
                            <a:rPr lang="en-GB" sz="1800" i="1">
                              <a:solidFill>
                                <a:schemeClr val="tx1"/>
                              </a:solidFill>
                              <a:latin typeface="Cambria Math" panose="02040503050406030204" pitchFamily="18" charset="0"/>
                              <a:cs typeface="Times New Roman" pitchFamily="18" charset="0"/>
                            </a:rPr>
                          </m:ctrlPr>
                        </m:fPr>
                        <m:num>
                          <m:r>
                            <a:rPr lang="en-GB" sz="1800" b="0" i="1" smtClean="0">
                              <a:solidFill>
                                <a:schemeClr val="tx1"/>
                              </a:solidFill>
                              <a:latin typeface="Cambria Math" panose="02040503050406030204" pitchFamily="18" charset="0"/>
                              <a:cs typeface="Times New Roman" pitchFamily="18" charset="0"/>
                            </a:rPr>
                            <m:t>4</m:t>
                          </m:r>
                        </m:num>
                        <m:den>
                          <m:r>
                            <a:rPr lang="en-GB" sz="1800" b="0" i="1" smtClean="0">
                              <a:solidFill>
                                <a:schemeClr val="tx1"/>
                              </a:solidFill>
                              <a:latin typeface="Cambria Math" panose="02040503050406030204" pitchFamily="18" charset="0"/>
                              <a:cs typeface="Times New Roman" pitchFamily="18" charset="0"/>
                            </a:rPr>
                            <m:t>14</m:t>
                          </m:r>
                        </m:den>
                      </m:f>
                      <m:r>
                        <a:rPr lang="en-GB" sz="1800" i="1">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smtClean="0">
                          <a:solidFill>
                            <a:schemeClr val="tx1"/>
                          </a:solidFill>
                          <a:latin typeface="Cambria Math" panose="02040503050406030204" pitchFamily="18" charset="0"/>
                          <a:ea typeface="Cambria Math" panose="02040503050406030204" pitchFamily="18" charset="0"/>
                          <a:cs typeface="Times New Roman" pitchFamily="18" charset="0"/>
                        </a:rPr>
                        <m:t>𝐼</m:t>
                      </m:r>
                      <m:d>
                        <m:d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2,2</m:t>
                          </m:r>
                        </m:e>
                      </m:d>
                      <m:r>
                        <a:rPr lang="en-US" sz="1800" i="1" dirty="0" smtClean="0">
                          <a:solidFill>
                            <a:schemeClr val="tx1"/>
                          </a:solidFill>
                          <a:latin typeface="Cambria Math" panose="02040503050406030204" pitchFamily="18" charset="0"/>
                          <a:cs typeface="Times New Roman" pitchFamily="18" charset="0"/>
                        </a:rPr>
                        <m:t>+</m:t>
                      </m:r>
                      <m:f>
                        <m:fPr>
                          <m:ctrlPr>
                            <a:rPr lang="en-GB" sz="1800" i="1" smtClean="0">
                              <a:solidFill>
                                <a:srgbClr val="0070C0"/>
                              </a:solidFill>
                              <a:latin typeface="Cambria Math" panose="02040503050406030204" pitchFamily="18" charset="0"/>
                              <a:cs typeface="Times New Roman" pitchFamily="18" charset="0"/>
                            </a:rPr>
                          </m:ctrlPr>
                        </m:fPr>
                        <m:num>
                          <m:r>
                            <a:rPr lang="en-GB" sz="1800" b="0" i="1" smtClean="0">
                              <a:solidFill>
                                <a:srgbClr val="0070C0"/>
                              </a:solidFill>
                              <a:latin typeface="Cambria Math" panose="02040503050406030204" pitchFamily="18" charset="0"/>
                              <a:cs typeface="Times New Roman" pitchFamily="18" charset="0"/>
                            </a:rPr>
                            <m:t>6</m:t>
                          </m:r>
                        </m:num>
                        <m:den>
                          <m:r>
                            <a:rPr lang="en-GB" sz="1800" i="1">
                              <a:solidFill>
                                <a:srgbClr val="0070C0"/>
                              </a:solidFill>
                              <a:latin typeface="Cambria Math" panose="02040503050406030204" pitchFamily="18" charset="0"/>
                              <a:cs typeface="Times New Roman" pitchFamily="18" charset="0"/>
                            </a:rPr>
                            <m:t>14</m:t>
                          </m:r>
                        </m:den>
                      </m:f>
                      <m:r>
                        <a:rPr lang="en-GB" sz="1800" i="1">
                          <a:solidFill>
                            <a:srgbClr val="0070C0"/>
                          </a:solidFill>
                          <a:latin typeface="Cambria Math" panose="02040503050406030204" pitchFamily="18" charset="0"/>
                          <a:ea typeface="Cambria Math" panose="02040503050406030204" pitchFamily="18" charset="0"/>
                          <a:cs typeface="Times New Roman" pitchFamily="18" charset="0"/>
                        </a:rPr>
                        <m:t>×</m:t>
                      </m:r>
                      <m:r>
                        <a:rPr lang="en-GB" sz="1800" i="1">
                          <a:solidFill>
                            <a:srgbClr val="0070C0"/>
                          </a:solidFill>
                          <a:latin typeface="Cambria Math" panose="02040503050406030204" pitchFamily="18" charset="0"/>
                          <a:ea typeface="Cambria Math" panose="02040503050406030204" pitchFamily="18" charset="0"/>
                          <a:cs typeface="Times New Roman" pitchFamily="18" charset="0"/>
                        </a:rPr>
                        <m:t>𝐼</m:t>
                      </m:r>
                      <m:d>
                        <m:dPr>
                          <m:ctrlPr>
                            <a:rPr lang="en-GB" sz="1800" i="1">
                              <a:solidFill>
                                <a:srgbClr val="0070C0"/>
                              </a:solidFill>
                              <a:latin typeface="Cambria Math" panose="02040503050406030204" pitchFamily="18" charset="0"/>
                              <a:ea typeface="Cambria Math" panose="02040503050406030204" pitchFamily="18" charset="0"/>
                              <a:cs typeface="Times New Roman" pitchFamily="18" charset="0"/>
                            </a:rPr>
                          </m:ctrlPr>
                        </m:dPr>
                        <m:e>
                          <m:r>
                            <a:rPr lang="en-GB" sz="1800" b="0" i="1" smtClean="0">
                              <a:solidFill>
                                <a:srgbClr val="0070C0"/>
                              </a:solidFill>
                              <a:latin typeface="Cambria Math" panose="02040503050406030204" pitchFamily="18" charset="0"/>
                              <a:ea typeface="Cambria Math" panose="02040503050406030204" pitchFamily="18" charset="0"/>
                              <a:cs typeface="Times New Roman" pitchFamily="18" charset="0"/>
                            </a:rPr>
                            <m:t>4,2</m:t>
                          </m:r>
                        </m:e>
                      </m:d>
                      <m:r>
                        <a:rPr lang="en-US" sz="1800" i="1" dirty="0" smtClean="0">
                          <a:solidFill>
                            <a:schemeClr val="tx1"/>
                          </a:solidFill>
                          <a:latin typeface="Cambria Math" panose="02040503050406030204" pitchFamily="18" charset="0"/>
                          <a:cs typeface="Times New Roman" pitchFamily="18" charset="0"/>
                        </a:rPr>
                        <m:t>+</m:t>
                      </m:r>
                      <m:f>
                        <m:fPr>
                          <m:ctrlPr>
                            <a:rPr lang="en-GB" sz="1800" i="1">
                              <a:solidFill>
                                <a:schemeClr val="tx1"/>
                              </a:solidFill>
                              <a:latin typeface="Cambria Math" panose="02040503050406030204" pitchFamily="18" charset="0"/>
                              <a:cs typeface="Times New Roman" pitchFamily="18" charset="0"/>
                            </a:rPr>
                          </m:ctrlPr>
                        </m:fPr>
                        <m:num>
                          <m:r>
                            <a:rPr lang="en-GB" sz="1800" b="0" i="1" smtClean="0">
                              <a:solidFill>
                                <a:schemeClr val="tx1"/>
                              </a:solidFill>
                              <a:latin typeface="Cambria Math" panose="02040503050406030204" pitchFamily="18" charset="0"/>
                              <a:cs typeface="Times New Roman" pitchFamily="18" charset="0"/>
                            </a:rPr>
                            <m:t>4</m:t>
                          </m:r>
                        </m:num>
                        <m:den>
                          <m:r>
                            <a:rPr lang="en-GB" sz="1800" i="1">
                              <a:solidFill>
                                <a:schemeClr val="tx1"/>
                              </a:solidFill>
                              <a:latin typeface="Cambria Math" panose="02040503050406030204" pitchFamily="18" charset="0"/>
                              <a:cs typeface="Times New Roman" pitchFamily="18" charset="0"/>
                            </a:rPr>
                            <m:t>14</m:t>
                          </m:r>
                        </m:den>
                      </m:f>
                      <m:r>
                        <a:rPr lang="en-GB" sz="1800" i="1">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ea typeface="Cambria Math" panose="02040503050406030204" pitchFamily="18" charset="0"/>
                          <a:cs typeface="Times New Roman" pitchFamily="18" charset="0"/>
                        </a:rPr>
                        <m:t>𝐼</m:t>
                      </m:r>
                      <m:d>
                        <m:dPr>
                          <m:ctrlPr>
                            <a:rPr lang="en-GB" sz="1800" i="1">
                              <a:solidFill>
                                <a:schemeClr val="tx1"/>
                              </a:solidFill>
                              <a:latin typeface="Cambria Math" panose="02040503050406030204" pitchFamily="18" charset="0"/>
                              <a:ea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3</m:t>
                          </m:r>
                          <m:r>
                            <a:rPr lang="en-GB" sz="1800" i="1">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1</m:t>
                          </m:r>
                        </m:e>
                      </m:d>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=0.911</m:t>
                      </m:r>
                    </m:oMath>
                  </m:oMathPara>
                </a14:m>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p:txBody>
          </p:sp>
        </mc:Choice>
        <mc:Fallback xmlns="">
          <p:sp>
            <p:nvSpPr>
              <p:cNvPr id="3" name="Subtitle 2">
                <a:extLst>
                  <a:ext uri="{FF2B5EF4-FFF2-40B4-BE49-F238E27FC236}">
                    <a16:creationId xmlns:a16="http://schemas.microsoft.com/office/drawing/2014/main" xmlns="" xmlns:a14="http://schemas.microsoft.com/office/drawing/2010/main" id="{4FABF2A3-3801-1558-0428-BA50959181C7}"/>
                  </a:ext>
                </a:extLst>
              </p:cNvPr>
              <p:cNvSpPr>
                <a:spLocks noGrp="1" noRot="1" noChangeAspect="1" noMove="1" noResize="1" noEditPoints="1" noAdjustHandles="1" noChangeArrowheads="1" noChangeShapeType="1" noTextEdit="1"/>
              </p:cNvSpPr>
              <p:nvPr>
                <p:ph type="subTitle" idx="1"/>
              </p:nvPr>
            </p:nvSpPr>
            <p:spPr>
              <a:xfrm>
                <a:off x="685800" y="1371600"/>
                <a:ext cx="3951287" cy="5257800"/>
              </a:xfrm>
              <a:blipFill rotWithShape="1">
                <a:blip r:embed="rId3"/>
                <a:stretch>
                  <a:fillRect l="-1389" t="-579" r="-1235"/>
                </a:stretch>
              </a:blipFill>
            </p:spPr>
            <p:txBody>
              <a:bodyPr/>
              <a:lstStyle/>
              <a:p>
                <a:r>
                  <a:rPr lang="en-US">
                    <a:noFill/>
                  </a:rPr>
                  <a:t> </a:t>
                </a:r>
              </a:p>
            </p:txBody>
          </p:sp>
        </mc:Fallback>
      </mc:AlternateContent>
      <p:graphicFrame>
        <p:nvGraphicFramePr>
          <p:cNvPr id="5" name="Object 1024">
            <a:extLst>
              <a:ext uri="{FF2B5EF4-FFF2-40B4-BE49-F238E27FC236}">
                <a16:creationId xmlns:a16="http://schemas.microsoft.com/office/drawing/2014/main" id="{2E99C7F1-6C91-8E0F-D25E-ACA836202DC5}"/>
              </a:ext>
            </a:extLst>
          </p:cNvPr>
          <p:cNvGraphicFramePr>
            <a:graphicFrameLocks/>
          </p:cNvGraphicFramePr>
          <p:nvPr>
            <p:extLst>
              <p:ext uri="{D42A27DB-BD31-4B8C-83A1-F6EECF244321}">
                <p14:modId xmlns:p14="http://schemas.microsoft.com/office/powerpoint/2010/main" val="2812744842"/>
              </p:ext>
            </p:extLst>
          </p:nvPr>
        </p:nvGraphicFramePr>
        <p:xfrm>
          <a:off x="4637088" y="1371600"/>
          <a:ext cx="4474256" cy="5105400"/>
        </p:xfrm>
        <a:graphic>
          <a:graphicData uri="http://schemas.openxmlformats.org/presentationml/2006/ole">
            <mc:AlternateContent xmlns:mc="http://schemas.openxmlformats.org/markup-compatibility/2006">
              <mc:Choice xmlns:v="urn:schemas-microsoft-com:vml" Requires="v">
                <p:oleObj name="Worksheet" r:id="rId4" imgW="5772150" imgH="4457700" progId="Excel.Sheet.8">
                  <p:embed/>
                </p:oleObj>
              </mc:Choice>
              <mc:Fallback>
                <p:oleObj name="Worksheet" r:id="rId4" imgW="5772150" imgH="4457700" progId="Excel.Sheet.8">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37088" y="1371600"/>
                        <a:ext cx="4474256" cy="5105400"/>
                      </a:xfrm>
                      <a:prstGeom prst="rect">
                        <a:avLst/>
                      </a:prstGeom>
                      <a:noFill/>
                      <a:ln>
                        <a:noFill/>
                      </a:ln>
                    </p:spPr>
                  </p:pic>
                </p:oleObj>
              </mc:Fallback>
            </mc:AlternateContent>
          </a:graphicData>
        </a:graphic>
      </p:graphicFrame>
      <p:sp>
        <p:nvSpPr>
          <p:cNvPr id="6" name="Oval 5">
            <a:extLst>
              <a:ext uri="{FF2B5EF4-FFF2-40B4-BE49-F238E27FC236}">
                <a16:creationId xmlns:a16="http://schemas.microsoft.com/office/drawing/2014/main" id="{D874F52E-6079-49BC-CA9E-7CC11A68D86A}"/>
              </a:ext>
            </a:extLst>
          </p:cNvPr>
          <p:cNvSpPr/>
          <p:nvPr/>
        </p:nvSpPr>
        <p:spPr>
          <a:xfrm>
            <a:off x="5257800" y="2743200"/>
            <a:ext cx="762000" cy="3810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D874F52E-6079-49BC-CA9E-7CC11A68D86A}"/>
              </a:ext>
            </a:extLst>
          </p:cNvPr>
          <p:cNvSpPr/>
          <p:nvPr/>
        </p:nvSpPr>
        <p:spPr>
          <a:xfrm>
            <a:off x="5334000" y="4038600"/>
            <a:ext cx="762000" cy="3810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D874F52E-6079-49BC-CA9E-7CC11A68D86A}"/>
              </a:ext>
            </a:extLst>
          </p:cNvPr>
          <p:cNvSpPr/>
          <p:nvPr/>
        </p:nvSpPr>
        <p:spPr>
          <a:xfrm>
            <a:off x="5313872" y="4724400"/>
            <a:ext cx="762000" cy="3810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D874F52E-6079-49BC-CA9E-7CC11A68D86A}"/>
              </a:ext>
            </a:extLst>
          </p:cNvPr>
          <p:cNvSpPr/>
          <p:nvPr/>
        </p:nvSpPr>
        <p:spPr>
          <a:xfrm>
            <a:off x="5334000" y="5029200"/>
            <a:ext cx="762000" cy="3810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D874F52E-6079-49BC-CA9E-7CC11A68D86A}"/>
              </a:ext>
            </a:extLst>
          </p:cNvPr>
          <p:cNvSpPr/>
          <p:nvPr/>
        </p:nvSpPr>
        <p:spPr>
          <a:xfrm>
            <a:off x="5313872" y="5410200"/>
            <a:ext cx="762000" cy="3810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D874F52E-6079-49BC-CA9E-7CC11A68D86A}"/>
              </a:ext>
            </a:extLst>
          </p:cNvPr>
          <p:cNvSpPr/>
          <p:nvPr/>
        </p:nvSpPr>
        <p:spPr>
          <a:xfrm>
            <a:off x="5334000" y="6096000"/>
            <a:ext cx="762000" cy="3810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D874F52E-6079-49BC-CA9E-7CC11A68D86A}"/>
              </a:ext>
            </a:extLst>
          </p:cNvPr>
          <p:cNvSpPr/>
          <p:nvPr/>
        </p:nvSpPr>
        <p:spPr>
          <a:xfrm>
            <a:off x="8142514" y="27813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D874F52E-6079-49BC-CA9E-7CC11A68D86A}"/>
              </a:ext>
            </a:extLst>
          </p:cNvPr>
          <p:cNvSpPr/>
          <p:nvPr/>
        </p:nvSpPr>
        <p:spPr>
          <a:xfrm>
            <a:off x="8142514" y="41148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D874F52E-6079-49BC-CA9E-7CC11A68D86A}"/>
              </a:ext>
            </a:extLst>
          </p:cNvPr>
          <p:cNvSpPr/>
          <p:nvPr/>
        </p:nvSpPr>
        <p:spPr>
          <a:xfrm>
            <a:off x="8153400" y="48006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D874F52E-6079-49BC-CA9E-7CC11A68D86A}"/>
              </a:ext>
            </a:extLst>
          </p:cNvPr>
          <p:cNvSpPr/>
          <p:nvPr/>
        </p:nvSpPr>
        <p:spPr>
          <a:xfrm>
            <a:off x="8133478" y="51054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D874F52E-6079-49BC-CA9E-7CC11A68D86A}"/>
              </a:ext>
            </a:extLst>
          </p:cNvPr>
          <p:cNvSpPr/>
          <p:nvPr/>
        </p:nvSpPr>
        <p:spPr>
          <a:xfrm>
            <a:off x="8133478" y="54864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D874F52E-6079-49BC-CA9E-7CC11A68D86A}"/>
              </a:ext>
            </a:extLst>
          </p:cNvPr>
          <p:cNvSpPr/>
          <p:nvPr/>
        </p:nvSpPr>
        <p:spPr>
          <a:xfrm>
            <a:off x="8163464" y="6172200"/>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324656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95F06-7CC3-BA12-3585-F295B2BF1F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173478-5F13-1A52-A0C4-4A7A179E2030}"/>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4FABF2A3-3801-1558-0428-BA50959181C7}"/>
                  </a:ext>
                </a:extLst>
              </p:cNvPr>
              <p:cNvSpPr>
                <a:spLocks noGrp="1"/>
              </p:cNvSpPr>
              <p:nvPr>
                <p:ph type="subTitle" idx="1"/>
              </p:nvPr>
            </p:nvSpPr>
            <p:spPr>
              <a:xfrm>
                <a:off x="685800" y="1371600"/>
                <a:ext cx="3951287" cy="5257800"/>
              </a:xfrm>
            </p:spPr>
            <p:txBody>
              <a:bodyPr>
                <a:normAutofit/>
              </a:bodyPr>
              <a:lstStyle/>
              <a:p>
                <a:pPr algn="just"/>
                <a:r>
                  <a:rPr lang="en-US" sz="1800" b="1" dirty="0">
                    <a:solidFill>
                      <a:schemeClr val="tx1"/>
                    </a:solidFill>
                    <a:latin typeface="Times New Roman" pitchFamily="18" charset="0"/>
                    <a:cs typeface="Times New Roman" pitchFamily="18" charset="0"/>
                  </a:rPr>
                  <a:t>Information needed (after using A to split D into v partitions)</a:t>
                </a:r>
              </a:p>
              <a:p>
                <a:pPr algn="just"/>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𝐼𝑛𝑓𝑜</m:t>
                          </m:r>
                        </m:e>
                        <m:sub>
                          <m:r>
                            <a:rPr lang="en-GB" sz="1800" b="0" i="1" smtClean="0">
                              <a:solidFill>
                                <a:schemeClr val="tx1"/>
                              </a:solidFill>
                              <a:latin typeface="Cambria Math" panose="02040503050406030204" pitchFamily="18" charset="0"/>
                              <a:cs typeface="Times New Roman" pitchFamily="18" charset="0"/>
                            </a:rPr>
                            <m:t>𝐴</m:t>
                          </m:r>
                        </m:sub>
                      </m:sSub>
                      <m:d>
                        <m:dPr>
                          <m:ctrlPr>
                            <a:rPr lang="en-GB" sz="1800" b="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r>
                        <a:rPr lang="en-GB" sz="1800" b="0" i="1" smtClean="0">
                          <a:solidFill>
                            <a:schemeClr val="tx1"/>
                          </a:solidFill>
                          <a:latin typeface="Cambria Math" panose="02040503050406030204" pitchFamily="18" charset="0"/>
                          <a:cs typeface="Times New Roman" pitchFamily="18" charset="0"/>
                        </a:rPr>
                        <m:t>=</m:t>
                      </m:r>
                      <m:nary>
                        <m:naryPr>
                          <m:chr m:val="∑"/>
                          <m:ctrlPr>
                            <a:rPr lang="en-GB" sz="1800" b="0" i="1" smtClean="0">
                              <a:solidFill>
                                <a:schemeClr val="tx1"/>
                              </a:solidFill>
                              <a:latin typeface="Cambria Math" panose="02040503050406030204" pitchFamily="18" charset="0"/>
                              <a:cs typeface="Times New Roman" pitchFamily="18" charset="0"/>
                            </a:rPr>
                          </m:ctrlPr>
                        </m:naryPr>
                        <m:sub>
                          <m:r>
                            <m:rPr>
                              <m:brk m:alnAt="23"/>
                            </m:rPr>
                            <a:rPr lang="en-GB" sz="1800" b="0" i="1" smtClean="0">
                              <a:solidFill>
                                <a:schemeClr val="tx1"/>
                              </a:solidFill>
                              <a:latin typeface="Cambria Math" panose="02040503050406030204" pitchFamily="18" charset="0"/>
                              <a:cs typeface="Times New Roman" pitchFamily="18" charset="0"/>
                            </a:rPr>
                            <m:t>𝑗</m:t>
                          </m:r>
                          <m:r>
                            <a:rPr lang="en-GB" sz="1800" b="0" i="1" smtClean="0">
                              <a:solidFill>
                                <a:schemeClr val="tx1"/>
                              </a:solidFill>
                              <a:latin typeface="Cambria Math" panose="02040503050406030204" pitchFamily="18" charset="0"/>
                              <a:cs typeface="Times New Roman" pitchFamily="18" charset="0"/>
                            </a:rPr>
                            <m:t>=1</m:t>
                          </m:r>
                        </m:sub>
                        <m:sup>
                          <m:r>
                            <a:rPr lang="en-GB" sz="1800" b="0" i="1" smtClean="0">
                              <a:solidFill>
                                <a:schemeClr val="tx1"/>
                              </a:solidFill>
                              <a:latin typeface="Cambria Math" panose="02040503050406030204" pitchFamily="18" charset="0"/>
                              <a:cs typeface="Times New Roman" pitchFamily="18" charset="0"/>
                            </a:rPr>
                            <m:t>𝑣</m:t>
                          </m:r>
                        </m:sup>
                        <m:e>
                          <m:f>
                            <m:fPr>
                              <m:ctrlPr>
                                <a:rPr lang="en-GB" sz="1800" b="0" i="1" smtClean="0">
                                  <a:solidFill>
                                    <a:schemeClr val="tx1"/>
                                  </a:solidFill>
                                  <a:latin typeface="Cambria Math" panose="02040503050406030204" pitchFamily="18" charset="0"/>
                                  <a:cs typeface="Times New Roman" pitchFamily="18" charset="0"/>
                                </a:rPr>
                              </m:ctrlPr>
                            </m:fPr>
                            <m:num>
                              <m:d>
                                <m:dPr>
                                  <m:begChr m:val="|"/>
                                  <m:endChr m:val="|"/>
                                  <m:ctrlPr>
                                    <a:rPr lang="en-GB" sz="1800" b="0" i="1" smtClean="0">
                                      <a:solidFill>
                                        <a:schemeClr val="tx1"/>
                                      </a:solidFill>
                                      <a:latin typeface="Cambria Math" panose="02040503050406030204" pitchFamily="18" charset="0"/>
                                      <a:cs typeface="Times New Roman" pitchFamily="18" charset="0"/>
                                    </a:rPr>
                                  </m:ctrlPr>
                                </m:dPr>
                                <m:e>
                                  <m:sSub>
                                    <m:sSubPr>
                                      <m:ctrlPr>
                                        <a:rPr lang="en-GB" sz="1800" b="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𝐷</m:t>
                                      </m:r>
                                    </m:e>
                                    <m:sub>
                                      <m:r>
                                        <a:rPr lang="en-GB" sz="1800" b="0" i="1" smtClean="0">
                                          <a:solidFill>
                                            <a:schemeClr val="tx1"/>
                                          </a:solidFill>
                                          <a:latin typeface="Cambria Math" panose="02040503050406030204" pitchFamily="18" charset="0"/>
                                          <a:cs typeface="Times New Roman" pitchFamily="18" charset="0"/>
                                        </a:rPr>
                                        <m:t>𝑗</m:t>
                                      </m:r>
                                    </m:sub>
                                  </m:sSub>
                                </m:e>
                              </m:d>
                            </m:num>
                            <m:den>
                              <m:d>
                                <m:dPr>
                                  <m:begChr m:val="|"/>
                                  <m:endChr m:val="|"/>
                                  <m:ctrlPr>
                                    <a:rPr lang="en-GB" sz="1800" b="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den>
                          </m:f>
                        </m:e>
                      </m:nary>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𝐼𝑛𝑓𝑜</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𝐷</m:t>
                          </m:r>
                        </m:e>
                        <m: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𝑗</m:t>
                          </m:r>
                        </m:sub>
                      </m:s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oMath>
                  </m:oMathPara>
                </a14:m>
                <a:endParaRPr lang="en-US" sz="1800" dirty="0">
                  <a:solidFill>
                    <a:schemeClr val="tx1"/>
                  </a:solidFill>
                  <a:latin typeface="Times New Roman" pitchFamily="18" charset="0"/>
                  <a:cs typeface="Times New Roman" pitchFamily="18" charset="0"/>
                </a:endParaRPr>
              </a:p>
              <a:p>
                <a:pPr algn="just"/>
                <a:endParaRPr lang="en-GB"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Similarly</a:t>
                </a:r>
              </a:p>
              <a:p>
                <a:pPr algn="just"/>
                <a14:m>
                  <m:oMathPara xmlns:m="http://schemas.openxmlformats.org/officeDocument/2006/math">
                    <m:oMathParaPr>
                      <m:jc m:val="left"/>
                    </m:oMathParaPr>
                    <m:oMath xmlns:m="http://schemas.openxmlformats.org/officeDocument/2006/math">
                      <m:sSub>
                        <m:sSubPr>
                          <m:ctrlPr>
                            <a:rPr lang="en-US"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𝐼𝑛𝑓𝑜</m:t>
                          </m:r>
                        </m:e>
                        <m:sub>
                          <m:r>
                            <a:rPr lang="en-GB" sz="1800" b="0" i="1" smtClean="0">
                              <a:solidFill>
                                <a:schemeClr val="tx1"/>
                              </a:solidFill>
                              <a:latin typeface="Cambria Math" panose="02040503050406030204" pitchFamily="18" charset="0"/>
                              <a:cs typeface="Times New Roman" pitchFamily="18" charset="0"/>
                            </a:rPr>
                            <m:t>𝑖𝑛𝑐𝑜𝑚𝑒</m:t>
                          </m:r>
                        </m:sub>
                      </m:sSub>
                      <m:d>
                        <m:dPr>
                          <m:ctrlPr>
                            <a:rPr lang="en-GB" sz="1800" b="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r>
                        <a:rPr lang="en-GB" sz="1800" b="0" i="1" smtClean="0">
                          <a:solidFill>
                            <a:schemeClr val="tx1"/>
                          </a:solidFill>
                          <a:latin typeface="Cambria Math" panose="02040503050406030204" pitchFamily="18" charset="0"/>
                          <a:cs typeface="Times New Roman" pitchFamily="18" charset="0"/>
                        </a:rPr>
                        <m:t>=</m:t>
                      </m:r>
                      <m:nary>
                        <m:naryPr>
                          <m:chr m:val="∑"/>
                          <m:ctrlPr>
                            <a:rPr lang="en-GB" sz="1800" b="0" i="1" smtClean="0">
                              <a:solidFill>
                                <a:schemeClr val="tx1"/>
                              </a:solidFill>
                              <a:latin typeface="Cambria Math" panose="02040503050406030204" pitchFamily="18" charset="0"/>
                              <a:cs typeface="Times New Roman" pitchFamily="18" charset="0"/>
                            </a:rPr>
                          </m:ctrlPr>
                        </m:naryPr>
                        <m:sub>
                          <m:r>
                            <m:rPr>
                              <m:brk m:alnAt="23"/>
                            </m:rPr>
                            <a:rPr lang="en-GB" sz="1800" b="0" i="1" smtClean="0">
                              <a:solidFill>
                                <a:schemeClr val="tx1"/>
                              </a:solidFill>
                              <a:latin typeface="Cambria Math" panose="02040503050406030204" pitchFamily="18" charset="0"/>
                              <a:cs typeface="Times New Roman" pitchFamily="18" charset="0"/>
                            </a:rPr>
                            <m:t>𝑗</m:t>
                          </m:r>
                          <m:r>
                            <a:rPr lang="en-GB" sz="1800" b="0" i="1" smtClean="0">
                              <a:solidFill>
                                <a:schemeClr val="tx1"/>
                              </a:solidFill>
                              <a:latin typeface="Cambria Math" panose="02040503050406030204" pitchFamily="18" charset="0"/>
                              <a:cs typeface="Times New Roman" pitchFamily="18" charset="0"/>
                            </a:rPr>
                            <m:t>=1</m:t>
                          </m:r>
                        </m:sub>
                        <m:sup>
                          <m:r>
                            <a:rPr lang="en-GB" sz="1800" b="0" i="1" smtClean="0">
                              <a:solidFill>
                                <a:schemeClr val="tx1"/>
                              </a:solidFill>
                              <a:latin typeface="Cambria Math" panose="02040503050406030204" pitchFamily="18" charset="0"/>
                              <a:cs typeface="Times New Roman" pitchFamily="18" charset="0"/>
                            </a:rPr>
                            <m:t>3</m:t>
                          </m:r>
                        </m:sup>
                        <m:e>
                          <m:f>
                            <m:fPr>
                              <m:ctrlPr>
                                <a:rPr lang="en-GB" sz="1800" b="0" i="1" smtClean="0">
                                  <a:solidFill>
                                    <a:schemeClr val="tx1"/>
                                  </a:solidFill>
                                  <a:latin typeface="Cambria Math" panose="02040503050406030204" pitchFamily="18" charset="0"/>
                                  <a:cs typeface="Times New Roman" pitchFamily="18" charset="0"/>
                                </a:rPr>
                              </m:ctrlPr>
                            </m:fPr>
                            <m:num>
                              <m:d>
                                <m:dPr>
                                  <m:begChr m:val="|"/>
                                  <m:endChr m:val="|"/>
                                  <m:ctrlPr>
                                    <a:rPr lang="en-GB" sz="1800" b="0" i="1" smtClean="0">
                                      <a:solidFill>
                                        <a:schemeClr val="tx1"/>
                                      </a:solidFill>
                                      <a:latin typeface="Cambria Math" panose="02040503050406030204" pitchFamily="18" charset="0"/>
                                      <a:cs typeface="Times New Roman" pitchFamily="18" charset="0"/>
                                    </a:rPr>
                                  </m:ctrlPr>
                                </m:dPr>
                                <m:e>
                                  <m:sSub>
                                    <m:sSubPr>
                                      <m:ctrlPr>
                                        <a:rPr lang="en-GB" sz="1800" b="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𝐷</m:t>
                                      </m:r>
                                    </m:e>
                                    <m:sub>
                                      <m:r>
                                        <a:rPr lang="en-GB" sz="1800" b="0" i="1" smtClean="0">
                                          <a:solidFill>
                                            <a:schemeClr val="tx1"/>
                                          </a:solidFill>
                                          <a:latin typeface="Cambria Math" panose="02040503050406030204" pitchFamily="18" charset="0"/>
                                          <a:cs typeface="Times New Roman" pitchFamily="18" charset="0"/>
                                        </a:rPr>
                                        <m:t>𝑗</m:t>
                                      </m:r>
                                    </m:sub>
                                  </m:sSub>
                                </m:e>
                              </m:d>
                            </m:num>
                            <m:den>
                              <m:d>
                                <m:dPr>
                                  <m:begChr m:val="|"/>
                                  <m:endChr m:val="|"/>
                                  <m:ctrlPr>
                                    <a:rPr lang="en-GB" sz="1800" b="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den>
                          </m:f>
                        </m:e>
                      </m:nary>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𝐼𝑛𝑓𝑜</m:t>
                      </m:r>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sSub>
                        <m:sSub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𝐷</m:t>
                          </m:r>
                        </m:e>
                        <m: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𝑗</m:t>
                          </m:r>
                        </m:sub>
                      </m:sSub>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m:t>
                      </m:r>
                    </m:oMath>
                  </m:oMathPara>
                </a14:m>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centerGroup"/>
                    </m:oMathParaPr>
                    <m:oMath xmlns:m="http://schemas.openxmlformats.org/officeDocument/2006/math">
                      <m:r>
                        <a:rPr lang="en-GB" sz="1800" b="0" i="1" smtClean="0">
                          <a:solidFill>
                            <a:schemeClr val="tx1"/>
                          </a:solidFill>
                          <a:latin typeface="Cambria Math" panose="02040503050406030204" pitchFamily="18" charset="0"/>
                          <a:cs typeface="Times New Roman" pitchFamily="18" charset="0"/>
                        </a:rPr>
                        <m:t>=</m:t>
                      </m:r>
                      <m:f>
                        <m:fPr>
                          <m:ctrlPr>
                            <a:rPr lang="en-GB" sz="1800" i="1">
                              <a:solidFill>
                                <a:schemeClr val="tx1"/>
                              </a:solidFill>
                              <a:latin typeface="Cambria Math" panose="02040503050406030204" pitchFamily="18" charset="0"/>
                              <a:cs typeface="Times New Roman" pitchFamily="18" charset="0"/>
                            </a:rPr>
                          </m:ctrlPr>
                        </m:fPr>
                        <m:num>
                          <m:r>
                            <a:rPr lang="en-GB" sz="1800" b="0" i="1" smtClean="0">
                              <a:solidFill>
                                <a:schemeClr val="tx1"/>
                              </a:solidFill>
                              <a:latin typeface="Cambria Math" panose="02040503050406030204" pitchFamily="18" charset="0"/>
                              <a:cs typeface="Times New Roman" pitchFamily="18" charset="0"/>
                            </a:rPr>
                            <m:t>4</m:t>
                          </m:r>
                        </m:num>
                        <m:den>
                          <m:r>
                            <a:rPr lang="en-GB" sz="1800" b="0" i="1" smtClean="0">
                              <a:solidFill>
                                <a:schemeClr val="tx1"/>
                              </a:solidFill>
                              <a:latin typeface="Cambria Math" panose="02040503050406030204" pitchFamily="18" charset="0"/>
                              <a:cs typeface="Times New Roman" pitchFamily="18" charset="0"/>
                            </a:rPr>
                            <m:t>14</m:t>
                          </m:r>
                        </m:den>
                      </m:f>
                      <m:r>
                        <a:rPr lang="en-GB" sz="1800" i="1">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smtClean="0">
                          <a:solidFill>
                            <a:schemeClr val="tx1"/>
                          </a:solidFill>
                          <a:latin typeface="Cambria Math" panose="02040503050406030204" pitchFamily="18" charset="0"/>
                          <a:ea typeface="Cambria Math" panose="02040503050406030204" pitchFamily="18" charset="0"/>
                          <a:cs typeface="Times New Roman" pitchFamily="18" charset="0"/>
                        </a:rPr>
                        <m:t>𝐼</m:t>
                      </m:r>
                      <m:d>
                        <m:dPr>
                          <m:ctrlP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2,2</m:t>
                          </m:r>
                        </m:e>
                      </m:d>
                      <m:r>
                        <a:rPr lang="en-US" sz="1800" i="1" dirty="0" smtClean="0">
                          <a:solidFill>
                            <a:schemeClr val="tx1"/>
                          </a:solidFill>
                          <a:latin typeface="Cambria Math" panose="02040503050406030204" pitchFamily="18" charset="0"/>
                          <a:cs typeface="Times New Roman" pitchFamily="18" charset="0"/>
                        </a:rPr>
                        <m:t>+</m:t>
                      </m:r>
                      <m:f>
                        <m:fPr>
                          <m:ctrlPr>
                            <a:rPr lang="en-GB" sz="1800" i="1">
                              <a:solidFill>
                                <a:schemeClr val="tx1"/>
                              </a:solidFill>
                              <a:latin typeface="Cambria Math" panose="02040503050406030204" pitchFamily="18" charset="0"/>
                              <a:cs typeface="Times New Roman" pitchFamily="18" charset="0"/>
                            </a:rPr>
                          </m:ctrlPr>
                        </m:fPr>
                        <m:num>
                          <m:r>
                            <a:rPr lang="en-GB" sz="1800" b="0" i="1" smtClean="0">
                              <a:solidFill>
                                <a:schemeClr val="tx1"/>
                              </a:solidFill>
                              <a:latin typeface="Cambria Math" panose="02040503050406030204" pitchFamily="18" charset="0"/>
                              <a:cs typeface="Times New Roman" pitchFamily="18" charset="0"/>
                            </a:rPr>
                            <m:t>6</m:t>
                          </m:r>
                        </m:num>
                        <m:den>
                          <m:r>
                            <a:rPr lang="en-GB" sz="1800" i="1">
                              <a:solidFill>
                                <a:schemeClr val="tx1"/>
                              </a:solidFill>
                              <a:latin typeface="Cambria Math" panose="02040503050406030204" pitchFamily="18" charset="0"/>
                              <a:cs typeface="Times New Roman" pitchFamily="18" charset="0"/>
                            </a:rPr>
                            <m:t>14</m:t>
                          </m:r>
                        </m:den>
                      </m:f>
                      <m:r>
                        <a:rPr lang="en-GB" sz="1800" i="1">
                          <a:solidFill>
                            <a:schemeClr val="tx1"/>
                          </a:solidFill>
                          <a:latin typeface="Cambria Math" panose="02040503050406030204" pitchFamily="18" charset="0"/>
                          <a:ea typeface="Cambria Math" panose="02040503050406030204" pitchFamily="18" charset="0"/>
                          <a:cs typeface="Times New Roman" pitchFamily="18" charset="0"/>
                        </a:rPr>
                        <m:t>×</m:t>
                      </m:r>
                      <m:r>
                        <a:rPr lang="en-GB" sz="1800" i="1">
                          <a:solidFill>
                            <a:schemeClr val="tx1"/>
                          </a:solidFill>
                          <a:latin typeface="Cambria Math" panose="02040503050406030204" pitchFamily="18" charset="0"/>
                          <a:ea typeface="Cambria Math" panose="02040503050406030204" pitchFamily="18" charset="0"/>
                          <a:cs typeface="Times New Roman" pitchFamily="18" charset="0"/>
                        </a:rPr>
                        <m:t>𝐼</m:t>
                      </m:r>
                      <m:d>
                        <m:dPr>
                          <m:ctrlPr>
                            <a:rPr lang="en-GB" sz="1800" i="1">
                              <a:solidFill>
                                <a:schemeClr val="tx1"/>
                              </a:solidFill>
                              <a:latin typeface="Cambria Math" panose="02040503050406030204" pitchFamily="18" charset="0"/>
                              <a:ea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4,2</m:t>
                          </m:r>
                        </m:e>
                      </m:d>
                      <m:r>
                        <a:rPr lang="en-US" sz="1800" i="1" dirty="0" smtClean="0">
                          <a:solidFill>
                            <a:schemeClr val="tx1"/>
                          </a:solidFill>
                          <a:latin typeface="Cambria Math" panose="02040503050406030204" pitchFamily="18" charset="0"/>
                          <a:cs typeface="Times New Roman" pitchFamily="18" charset="0"/>
                        </a:rPr>
                        <m:t>+</m:t>
                      </m:r>
                      <m:f>
                        <m:fPr>
                          <m:ctrlPr>
                            <a:rPr lang="en-GB" sz="1800" i="1" smtClean="0">
                              <a:solidFill>
                                <a:srgbClr val="0070C0"/>
                              </a:solidFill>
                              <a:latin typeface="Cambria Math" panose="02040503050406030204" pitchFamily="18" charset="0"/>
                              <a:cs typeface="Times New Roman" pitchFamily="18" charset="0"/>
                            </a:rPr>
                          </m:ctrlPr>
                        </m:fPr>
                        <m:num>
                          <m:r>
                            <a:rPr lang="en-GB" sz="1800" b="0" i="1" smtClean="0">
                              <a:solidFill>
                                <a:srgbClr val="0070C0"/>
                              </a:solidFill>
                              <a:latin typeface="Cambria Math" panose="02040503050406030204" pitchFamily="18" charset="0"/>
                              <a:cs typeface="Times New Roman" pitchFamily="18" charset="0"/>
                            </a:rPr>
                            <m:t>4</m:t>
                          </m:r>
                        </m:num>
                        <m:den>
                          <m:r>
                            <a:rPr lang="en-GB" sz="1800" i="1">
                              <a:solidFill>
                                <a:srgbClr val="0070C0"/>
                              </a:solidFill>
                              <a:latin typeface="Cambria Math" panose="02040503050406030204" pitchFamily="18" charset="0"/>
                              <a:cs typeface="Times New Roman" pitchFamily="18" charset="0"/>
                            </a:rPr>
                            <m:t>14</m:t>
                          </m:r>
                        </m:den>
                      </m:f>
                      <m:r>
                        <a:rPr lang="en-GB" sz="1800" i="1">
                          <a:solidFill>
                            <a:srgbClr val="0070C0"/>
                          </a:solidFill>
                          <a:latin typeface="Cambria Math" panose="02040503050406030204" pitchFamily="18" charset="0"/>
                          <a:ea typeface="Cambria Math" panose="02040503050406030204" pitchFamily="18" charset="0"/>
                          <a:cs typeface="Times New Roman" pitchFamily="18" charset="0"/>
                        </a:rPr>
                        <m:t>×</m:t>
                      </m:r>
                      <m:r>
                        <a:rPr lang="en-GB" sz="1800" i="1">
                          <a:solidFill>
                            <a:srgbClr val="0070C0"/>
                          </a:solidFill>
                          <a:latin typeface="Cambria Math" panose="02040503050406030204" pitchFamily="18" charset="0"/>
                          <a:ea typeface="Cambria Math" panose="02040503050406030204" pitchFamily="18" charset="0"/>
                          <a:cs typeface="Times New Roman" pitchFamily="18" charset="0"/>
                        </a:rPr>
                        <m:t>𝐼</m:t>
                      </m:r>
                      <m:d>
                        <m:dPr>
                          <m:ctrlPr>
                            <a:rPr lang="en-GB" sz="1800" i="1">
                              <a:solidFill>
                                <a:srgbClr val="0070C0"/>
                              </a:solidFill>
                              <a:latin typeface="Cambria Math" panose="02040503050406030204" pitchFamily="18" charset="0"/>
                              <a:ea typeface="Cambria Math" panose="02040503050406030204" pitchFamily="18" charset="0"/>
                              <a:cs typeface="Times New Roman" pitchFamily="18" charset="0"/>
                            </a:rPr>
                          </m:ctrlPr>
                        </m:dPr>
                        <m:e>
                          <m:r>
                            <a:rPr lang="en-GB" sz="1800" b="0" i="1" smtClean="0">
                              <a:solidFill>
                                <a:srgbClr val="0070C0"/>
                              </a:solidFill>
                              <a:latin typeface="Cambria Math" panose="02040503050406030204" pitchFamily="18" charset="0"/>
                              <a:ea typeface="Cambria Math" panose="02040503050406030204" pitchFamily="18" charset="0"/>
                              <a:cs typeface="Times New Roman" pitchFamily="18" charset="0"/>
                            </a:rPr>
                            <m:t>3</m:t>
                          </m:r>
                          <m:r>
                            <a:rPr lang="en-GB" sz="1800" i="1">
                              <a:solidFill>
                                <a:srgbClr val="0070C0"/>
                              </a:solidFill>
                              <a:latin typeface="Cambria Math" panose="02040503050406030204" pitchFamily="18" charset="0"/>
                              <a:ea typeface="Cambria Math" panose="02040503050406030204" pitchFamily="18" charset="0"/>
                              <a:cs typeface="Times New Roman" pitchFamily="18" charset="0"/>
                            </a:rPr>
                            <m:t>,</m:t>
                          </m:r>
                          <m:r>
                            <a:rPr lang="en-GB" sz="1800" b="0" i="1" smtClean="0">
                              <a:solidFill>
                                <a:srgbClr val="0070C0"/>
                              </a:solidFill>
                              <a:latin typeface="Cambria Math" panose="02040503050406030204" pitchFamily="18" charset="0"/>
                              <a:ea typeface="Cambria Math" panose="02040503050406030204" pitchFamily="18" charset="0"/>
                              <a:cs typeface="Times New Roman" pitchFamily="18" charset="0"/>
                            </a:rPr>
                            <m:t>1</m:t>
                          </m:r>
                        </m:e>
                      </m:d>
                      <m:r>
                        <a:rPr lang="en-GB" sz="1800" b="0" i="1" smtClean="0">
                          <a:solidFill>
                            <a:schemeClr val="tx1"/>
                          </a:solidFill>
                          <a:latin typeface="Cambria Math" panose="02040503050406030204" pitchFamily="18" charset="0"/>
                          <a:ea typeface="Cambria Math" panose="02040503050406030204" pitchFamily="18" charset="0"/>
                          <a:cs typeface="Times New Roman" pitchFamily="18" charset="0"/>
                        </a:rPr>
                        <m:t>=0.911</m:t>
                      </m:r>
                    </m:oMath>
                  </m:oMathPara>
                </a14:m>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p:txBody>
          </p:sp>
        </mc:Choice>
        <mc:Fallback xmlns="">
          <p:sp>
            <p:nvSpPr>
              <p:cNvPr id="3" name="Subtitle 2">
                <a:extLst>
                  <a:ext uri="{FF2B5EF4-FFF2-40B4-BE49-F238E27FC236}">
                    <a16:creationId xmlns:a16="http://schemas.microsoft.com/office/drawing/2014/main" xmlns="" xmlns:a14="http://schemas.microsoft.com/office/drawing/2010/main" id="{4FABF2A3-3801-1558-0428-BA50959181C7}"/>
                  </a:ext>
                </a:extLst>
              </p:cNvPr>
              <p:cNvSpPr>
                <a:spLocks noGrp="1" noRot="1" noChangeAspect="1" noMove="1" noResize="1" noEditPoints="1" noAdjustHandles="1" noChangeArrowheads="1" noChangeShapeType="1" noTextEdit="1"/>
              </p:cNvSpPr>
              <p:nvPr>
                <p:ph type="subTitle" idx="1"/>
              </p:nvPr>
            </p:nvSpPr>
            <p:spPr>
              <a:xfrm>
                <a:off x="685800" y="1371600"/>
                <a:ext cx="3951287" cy="5257800"/>
              </a:xfrm>
              <a:blipFill rotWithShape="1">
                <a:blip r:embed="rId3"/>
                <a:stretch>
                  <a:fillRect l="-1389" t="-579" r="-1235"/>
                </a:stretch>
              </a:blipFill>
            </p:spPr>
            <p:txBody>
              <a:bodyPr/>
              <a:lstStyle/>
              <a:p>
                <a:r>
                  <a:rPr lang="en-US">
                    <a:noFill/>
                  </a:rPr>
                  <a:t> </a:t>
                </a:r>
              </a:p>
            </p:txBody>
          </p:sp>
        </mc:Fallback>
      </mc:AlternateContent>
      <p:graphicFrame>
        <p:nvGraphicFramePr>
          <p:cNvPr id="5" name="Object 1024">
            <a:extLst>
              <a:ext uri="{FF2B5EF4-FFF2-40B4-BE49-F238E27FC236}">
                <a16:creationId xmlns:a16="http://schemas.microsoft.com/office/drawing/2014/main" id="{2E99C7F1-6C91-8E0F-D25E-ACA836202DC5}"/>
              </a:ext>
            </a:extLst>
          </p:cNvPr>
          <p:cNvGraphicFramePr>
            <a:graphicFrameLocks/>
          </p:cNvGraphicFramePr>
          <p:nvPr>
            <p:extLst>
              <p:ext uri="{D42A27DB-BD31-4B8C-83A1-F6EECF244321}">
                <p14:modId xmlns:p14="http://schemas.microsoft.com/office/powerpoint/2010/main" val="413771345"/>
              </p:ext>
            </p:extLst>
          </p:nvPr>
        </p:nvGraphicFramePr>
        <p:xfrm>
          <a:off x="4637088" y="1371600"/>
          <a:ext cx="4474256" cy="5105400"/>
        </p:xfrm>
        <a:graphic>
          <a:graphicData uri="http://schemas.openxmlformats.org/presentationml/2006/ole">
            <mc:AlternateContent xmlns:mc="http://schemas.openxmlformats.org/markup-compatibility/2006">
              <mc:Choice xmlns:v="urn:schemas-microsoft-com:vml" Requires="v">
                <p:oleObj name="Worksheet" r:id="rId4" imgW="5772150" imgH="4457700" progId="Excel.Sheet.8">
                  <p:embed/>
                </p:oleObj>
              </mc:Choice>
              <mc:Fallback>
                <p:oleObj name="Worksheet" r:id="rId4" imgW="5772150" imgH="4457700" progId="Excel.Sheet.8">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37088" y="1371600"/>
                        <a:ext cx="4474256" cy="5105400"/>
                      </a:xfrm>
                      <a:prstGeom prst="rect">
                        <a:avLst/>
                      </a:prstGeom>
                      <a:noFill/>
                      <a:ln>
                        <a:noFill/>
                      </a:ln>
                    </p:spPr>
                  </p:pic>
                </p:oleObj>
              </mc:Fallback>
            </mc:AlternateContent>
          </a:graphicData>
        </a:graphic>
      </p:graphicFrame>
      <p:sp>
        <p:nvSpPr>
          <p:cNvPr id="6" name="Oval 5">
            <a:extLst>
              <a:ext uri="{FF2B5EF4-FFF2-40B4-BE49-F238E27FC236}">
                <a16:creationId xmlns:a16="http://schemas.microsoft.com/office/drawing/2014/main" id="{D874F52E-6079-49BC-CA9E-7CC11A68D86A}"/>
              </a:ext>
            </a:extLst>
          </p:cNvPr>
          <p:cNvSpPr/>
          <p:nvPr/>
        </p:nvSpPr>
        <p:spPr>
          <a:xfrm>
            <a:off x="5257800" y="3124200"/>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D874F52E-6079-49BC-CA9E-7CC11A68D86A}"/>
              </a:ext>
            </a:extLst>
          </p:cNvPr>
          <p:cNvSpPr/>
          <p:nvPr/>
        </p:nvSpPr>
        <p:spPr>
          <a:xfrm>
            <a:off x="5264989" y="3429000"/>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D874F52E-6079-49BC-CA9E-7CC11A68D86A}"/>
              </a:ext>
            </a:extLst>
          </p:cNvPr>
          <p:cNvSpPr/>
          <p:nvPr/>
        </p:nvSpPr>
        <p:spPr>
          <a:xfrm>
            <a:off x="5286761" y="3788434"/>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D874F52E-6079-49BC-CA9E-7CC11A68D86A}"/>
              </a:ext>
            </a:extLst>
          </p:cNvPr>
          <p:cNvSpPr/>
          <p:nvPr/>
        </p:nvSpPr>
        <p:spPr>
          <a:xfrm>
            <a:off x="8142514" y="3119887"/>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D874F52E-6079-49BC-CA9E-7CC11A68D86A}"/>
              </a:ext>
            </a:extLst>
          </p:cNvPr>
          <p:cNvSpPr/>
          <p:nvPr/>
        </p:nvSpPr>
        <p:spPr>
          <a:xfrm>
            <a:off x="8142514" y="3463506"/>
            <a:ext cx="566058" cy="304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D874F52E-6079-49BC-CA9E-7CC11A68D86A}"/>
              </a:ext>
            </a:extLst>
          </p:cNvPr>
          <p:cNvSpPr/>
          <p:nvPr/>
        </p:nvSpPr>
        <p:spPr>
          <a:xfrm>
            <a:off x="8142514" y="3759679"/>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D874F52E-6079-49BC-CA9E-7CC11A68D86A}"/>
              </a:ext>
            </a:extLst>
          </p:cNvPr>
          <p:cNvSpPr/>
          <p:nvPr/>
        </p:nvSpPr>
        <p:spPr>
          <a:xfrm>
            <a:off x="8109446" y="4495800"/>
            <a:ext cx="566058" cy="304800"/>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D874F52E-6079-49BC-CA9E-7CC11A68D86A}"/>
              </a:ext>
            </a:extLst>
          </p:cNvPr>
          <p:cNvSpPr/>
          <p:nvPr/>
        </p:nvSpPr>
        <p:spPr>
          <a:xfrm>
            <a:off x="5309971" y="4475672"/>
            <a:ext cx="566058" cy="304800"/>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807491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7CF93-A7AE-CC25-CAA5-B656CC829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372BD-09D7-39C9-9AF1-53192EFBA58C}"/>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C84F5B74-D5AC-443A-2D7F-155384100D7E}"/>
                  </a:ext>
                </a:extLst>
              </p:cNvPr>
              <p:cNvSpPr>
                <a:spLocks noGrp="1"/>
              </p:cNvSpPr>
              <p:nvPr>
                <p:ph type="subTitle" idx="1"/>
              </p:nvPr>
            </p:nvSpPr>
            <p:spPr>
              <a:xfrm>
                <a:off x="685800" y="1371600"/>
                <a:ext cx="3951287" cy="5257800"/>
              </a:xfrm>
            </p:spPr>
            <p:txBody>
              <a:bodyPr>
                <a:normAutofit/>
              </a:bodyPr>
              <a:lstStyle/>
              <a:p>
                <a:pPr algn="just"/>
                <a:r>
                  <a:rPr lang="en-US" sz="1800" b="1" dirty="0">
                    <a:solidFill>
                      <a:schemeClr val="tx1"/>
                    </a:solidFill>
                    <a:latin typeface="Times New Roman" pitchFamily="18" charset="0"/>
                    <a:cs typeface="Times New Roman" pitchFamily="18" charset="0"/>
                  </a:rPr>
                  <a:t>Information gained by branching on attribute A</a:t>
                </a:r>
              </a:p>
              <a:p>
                <a:pPr algn="just"/>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GB" sz="1800" b="1" i="1" smtClean="0">
                          <a:solidFill>
                            <a:schemeClr val="tx1"/>
                          </a:solidFill>
                          <a:latin typeface="Cambria Math" panose="02040503050406030204" pitchFamily="18" charset="0"/>
                          <a:cs typeface="Times New Roman" pitchFamily="18" charset="0"/>
                        </a:rPr>
                        <m:t>𝑮𝒂𝒊𝒏</m:t>
                      </m:r>
                      <m:d>
                        <m:dPr>
                          <m:ctrlPr>
                            <a:rPr lang="en-GB" sz="1800" b="1" i="1" smtClean="0">
                              <a:solidFill>
                                <a:schemeClr val="tx1"/>
                              </a:solidFill>
                              <a:latin typeface="Cambria Math" panose="02040503050406030204" pitchFamily="18" charset="0"/>
                              <a:cs typeface="Times New Roman" pitchFamily="18" charset="0"/>
                            </a:rPr>
                          </m:ctrlPr>
                        </m:dPr>
                        <m:e>
                          <m:r>
                            <a:rPr lang="en-GB" sz="1800" b="1" i="1" smtClean="0">
                              <a:solidFill>
                                <a:schemeClr val="tx1"/>
                              </a:solidFill>
                              <a:latin typeface="Cambria Math" panose="02040503050406030204" pitchFamily="18" charset="0"/>
                              <a:cs typeface="Times New Roman" pitchFamily="18" charset="0"/>
                            </a:rPr>
                            <m:t>𝑨</m:t>
                          </m:r>
                        </m:e>
                      </m:d>
                      <m:r>
                        <a:rPr lang="en-GB" sz="1800" b="1" i="1" smtClean="0">
                          <a:solidFill>
                            <a:schemeClr val="tx1"/>
                          </a:solidFill>
                          <a:latin typeface="Cambria Math" panose="02040503050406030204" pitchFamily="18" charset="0"/>
                          <a:cs typeface="Times New Roman" pitchFamily="18" charset="0"/>
                        </a:rPr>
                        <m:t>=</m:t>
                      </m:r>
                      <m:r>
                        <a:rPr lang="en-GB" sz="1800" b="1" i="1" smtClean="0">
                          <a:solidFill>
                            <a:schemeClr val="tx1"/>
                          </a:solidFill>
                          <a:latin typeface="Cambria Math" panose="02040503050406030204" pitchFamily="18" charset="0"/>
                          <a:cs typeface="Times New Roman" pitchFamily="18" charset="0"/>
                        </a:rPr>
                        <m:t>𝑰𝒏𝒇𝒐</m:t>
                      </m:r>
                      <m:d>
                        <m:dPr>
                          <m:ctrlPr>
                            <a:rPr lang="en-GB" sz="1800" b="1" i="1" smtClean="0">
                              <a:solidFill>
                                <a:schemeClr val="tx1"/>
                              </a:solidFill>
                              <a:latin typeface="Cambria Math" panose="02040503050406030204" pitchFamily="18" charset="0"/>
                              <a:cs typeface="Times New Roman" pitchFamily="18" charset="0"/>
                            </a:rPr>
                          </m:ctrlPr>
                        </m:dPr>
                        <m:e>
                          <m:r>
                            <a:rPr lang="en-GB" sz="1800" b="1" i="1" smtClean="0">
                              <a:solidFill>
                                <a:schemeClr val="tx1"/>
                              </a:solidFill>
                              <a:latin typeface="Cambria Math" panose="02040503050406030204" pitchFamily="18" charset="0"/>
                              <a:cs typeface="Times New Roman" pitchFamily="18" charset="0"/>
                            </a:rPr>
                            <m:t>𝑫</m:t>
                          </m:r>
                        </m:e>
                      </m:d>
                      <m:r>
                        <a:rPr lang="en-GB" sz="1800" b="1" i="1" smtClean="0">
                          <a:solidFill>
                            <a:schemeClr val="tx1"/>
                          </a:solidFill>
                          <a:latin typeface="Cambria Math" panose="02040503050406030204" pitchFamily="18" charset="0"/>
                          <a:cs typeface="Times New Roman" pitchFamily="18" charset="0"/>
                        </a:rPr>
                        <m:t>−</m:t>
                      </m:r>
                      <m:sSub>
                        <m:sSubPr>
                          <m:ctrlPr>
                            <a:rPr lang="en-GB" sz="1800" b="1" i="1" smtClean="0">
                              <a:solidFill>
                                <a:schemeClr val="tx1"/>
                              </a:solidFill>
                              <a:latin typeface="Cambria Math" panose="02040503050406030204" pitchFamily="18" charset="0"/>
                              <a:cs typeface="Times New Roman" pitchFamily="18" charset="0"/>
                            </a:rPr>
                          </m:ctrlPr>
                        </m:sSubPr>
                        <m:e>
                          <m:r>
                            <a:rPr lang="en-GB" sz="1800" b="1" i="1" smtClean="0">
                              <a:solidFill>
                                <a:schemeClr val="tx1"/>
                              </a:solidFill>
                              <a:latin typeface="Cambria Math" panose="02040503050406030204" pitchFamily="18" charset="0"/>
                              <a:cs typeface="Times New Roman" pitchFamily="18" charset="0"/>
                            </a:rPr>
                            <m:t>𝑰𝒏𝒇𝒐</m:t>
                          </m:r>
                        </m:e>
                        <m:sub>
                          <m:r>
                            <a:rPr lang="en-GB" sz="1800" b="1" i="1" smtClean="0">
                              <a:solidFill>
                                <a:schemeClr val="tx1"/>
                              </a:solidFill>
                              <a:latin typeface="Cambria Math" panose="02040503050406030204" pitchFamily="18" charset="0"/>
                              <a:cs typeface="Times New Roman" pitchFamily="18" charset="0"/>
                            </a:rPr>
                            <m:t>𝑨</m:t>
                          </m:r>
                        </m:sub>
                      </m:sSub>
                      <m:r>
                        <a:rPr lang="en-GB" sz="1800" b="1" i="1" smtClean="0">
                          <a:solidFill>
                            <a:schemeClr val="tx1"/>
                          </a:solidFill>
                          <a:latin typeface="Cambria Math" panose="02040503050406030204" pitchFamily="18" charset="0"/>
                          <a:cs typeface="Times New Roman" pitchFamily="18" charset="0"/>
                        </a:rPr>
                        <m:t>(</m:t>
                      </m:r>
                      <m:r>
                        <a:rPr lang="en-GB" sz="1800" b="1" i="1" smtClean="0">
                          <a:solidFill>
                            <a:schemeClr val="tx1"/>
                          </a:solidFill>
                          <a:latin typeface="Cambria Math" panose="02040503050406030204" pitchFamily="18" charset="0"/>
                          <a:cs typeface="Times New Roman" pitchFamily="18" charset="0"/>
                        </a:rPr>
                        <m:t>𝑫</m:t>
                      </m:r>
                      <m:r>
                        <a:rPr lang="en-GB" sz="1800" b="1" i="1" smtClean="0">
                          <a:solidFill>
                            <a:schemeClr val="tx1"/>
                          </a:solidFill>
                          <a:latin typeface="Cambria Math" panose="02040503050406030204" pitchFamily="18" charset="0"/>
                          <a:cs typeface="Times New Roman" pitchFamily="18" charset="0"/>
                        </a:rPr>
                        <m:t>)</m:t>
                      </m:r>
                    </m:oMath>
                  </m:oMathPara>
                </a14:m>
                <a:endParaRPr lang="en-US" sz="1800" b="1"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 </a:t>
                </a:r>
              </a:p>
              <a:p>
                <a:pPr algn="just"/>
                <a14:m>
                  <m:oMathPara xmlns:m="http://schemas.openxmlformats.org/officeDocument/2006/math">
                    <m:oMathParaPr>
                      <m:jc m:val="left"/>
                    </m:oMathParaPr>
                    <m:oMath xmlns:m="http://schemas.openxmlformats.org/officeDocument/2006/math">
                      <m:r>
                        <a:rPr lang="en-GB" sz="1800" b="0" i="1" smtClean="0">
                          <a:solidFill>
                            <a:schemeClr val="tx1"/>
                          </a:solidFill>
                          <a:latin typeface="Cambria Math" panose="02040503050406030204" pitchFamily="18" charset="0"/>
                          <a:cs typeface="Times New Roman" pitchFamily="18" charset="0"/>
                        </a:rPr>
                        <m:t>𝐺𝑎𝑖𝑛</m:t>
                      </m:r>
                      <m:d>
                        <m:dPr>
                          <m:ctrlPr>
                            <a:rPr lang="en-GB" sz="180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𝑎𝑔𝑒</m:t>
                          </m:r>
                        </m:e>
                      </m:d>
                      <m:r>
                        <a:rPr lang="en-GB" sz="1800" b="0" i="1" smtClean="0">
                          <a:solidFill>
                            <a:schemeClr val="tx1"/>
                          </a:solidFill>
                          <a:latin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cs typeface="Times New Roman" pitchFamily="18" charset="0"/>
                        </a:rPr>
                        <m:t>𝐼𝑛𝑓𝑜</m:t>
                      </m:r>
                      <m:d>
                        <m:dPr>
                          <m:ctrlPr>
                            <a:rPr lang="en-GB" sz="180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r>
                        <a:rPr lang="en-GB" sz="1800" b="0" i="1" smtClean="0">
                          <a:solidFill>
                            <a:schemeClr val="tx1"/>
                          </a:solidFill>
                          <a:latin typeface="Cambria Math" panose="02040503050406030204" pitchFamily="18" charset="0"/>
                          <a:cs typeface="Times New Roman" pitchFamily="18" charset="0"/>
                        </a:rPr>
                        <m:t>−</m:t>
                      </m:r>
                      <m:sSub>
                        <m:sSubPr>
                          <m:ctrlPr>
                            <a:rPr lang="en-GB"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𝐼𝑛𝑓𝑜</m:t>
                          </m:r>
                        </m:e>
                        <m:sub>
                          <m:r>
                            <a:rPr lang="en-GB" sz="1800" b="0" i="1" smtClean="0">
                              <a:solidFill>
                                <a:schemeClr val="tx1"/>
                              </a:solidFill>
                              <a:latin typeface="Cambria Math" panose="02040503050406030204" pitchFamily="18" charset="0"/>
                              <a:cs typeface="Times New Roman" pitchFamily="18" charset="0"/>
                            </a:rPr>
                            <m:t>𝑎𝑔𝑒</m:t>
                          </m:r>
                        </m:sub>
                      </m:sSub>
                      <m:r>
                        <a:rPr lang="en-GB" sz="1800" b="0" i="1" smtClean="0">
                          <a:solidFill>
                            <a:schemeClr val="tx1"/>
                          </a:solidFill>
                          <a:latin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cs typeface="Times New Roman" pitchFamily="18" charset="0"/>
                        </a:rPr>
                        <m:t>𝐷</m:t>
                      </m:r>
                      <m:r>
                        <a:rPr lang="en-GB" sz="1800" b="0" i="1" smtClean="0">
                          <a:solidFill>
                            <a:schemeClr val="tx1"/>
                          </a:solidFill>
                          <a:latin typeface="Cambria Math" panose="02040503050406030204" pitchFamily="18" charset="0"/>
                          <a:cs typeface="Times New Roman" pitchFamily="18" charset="0"/>
                        </a:rPr>
                        <m:t>)</m:t>
                      </m:r>
                    </m:oMath>
                  </m:oMathPara>
                </a14:m>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GB" sz="1800" b="0" i="1" smtClean="0">
                          <a:solidFill>
                            <a:schemeClr val="tx1"/>
                          </a:solidFill>
                          <a:latin typeface="Cambria Math" panose="02040503050406030204" pitchFamily="18" charset="0"/>
                          <a:cs typeface="Times New Roman" pitchFamily="18" charset="0"/>
                        </a:rPr>
                        <m:t>=0.940−0.694=0.246</m:t>
                      </m:r>
                    </m:oMath>
                  </m:oMathPara>
                </a14:m>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GB" sz="1800" b="0" i="1" smtClean="0">
                          <a:solidFill>
                            <a:schemeClr val="tx1"/>
                          </a:solidFill>
                          <a:latin typeface="Cambria Math" panose="02040503050406030204" pitchFamily="18" charset="0"/>
                          <a:cs typeface="Times New Roman" pitchFamily="18" charset="0"/>
                        </a:rPr>
                        <m:t>𝐺𝑎𝑖𝑛</m:t>
                      </m:r>
                      <m:d>
                        <m:dPr>
                          <m:ctrlPr>
                            <a:rPr lang="en-GB" sz="180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𝑖𝑛𝑐𝑜𝑚𝑒</m:t>
                          </m:r>
                        </m:e>
                      </m:d>
                      <m:r>
                        <a:rPr lang="en-GB" sz="1800" b="0" i="1" smtClean="0">
                          <a:solidFill>
                            <a:schemeClr val="tx1"/>
                          </a:solidFill>
                          <a:latin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cs typeface="Times New Roman" pitchFamily="18" charset="0"/>
                        </a:rPr>
                        <m:t>𝐼𝑛𝑓𝑜</m:t>
                      </m:r>
                      <m:d>
                        <m:dPr>
                          <m:ctrlPr>
                            <a:rPr lang="en-GB" sz="180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r>
                        <a:rPr lang="en-GB" sz="1800" b="0" i="1" smtClean="0">
                          <a:solidFill>
                            <a:schemeClr val="tx1"/>
                          </a:solidFill>
                          <a:latin typeface="Cambria Math" panose="02040503050406030204" pitchFamily="18" charset="0"/>
                          <a:cs typeface="Times New Roman" pitchFamily="18" charset="0"/>
                        </a:rPr>
                        <m:t>−</m:t>
                      </m:r>
                      <m:sSub>
                        <m:sSubPr>
                          <m:ctrlPr>
                            <a:rPr lang="en-GB"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𝐼𝑛𝑓𝑜</m:t>
                          </m:r>
                        </m:e>
                        <m:sub>
                          <m:r>
                            <a:rPr lang="en-GB" sz="1800" b="0" i="1" smtClean="0">
                              <a:solidFill>
                                <a:schemeClr val="tx1"/>
                              </a:solidFill>
                              <a:latin typeface="Cambria Math" panose="02040503050406030204" pitchFamily="18" charset="0"/>
                              <a:cs typeface="Times New Roman" pitchFamily="18" charset="0"/>
                            </a:rPr>
                            <m:t>𝑖𝑛𝑐𝑜𝑚𝑒</m:t>
                          </m:r>
                        </m:sub>
                      </m:sSub>
                      <m:r>
                        <a:rPr lang="en-GB" sz="1800" b="0" i="1" smtClean="0">
                          <a:solidFill>
                            <a:schemeClr val="tx1"/>
                          </a:solidFill>
                          <a:latin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cs typeface="Times New Roman" pitchFamily="18" charset="0"/>
                        </a:rPr>
                        <m:t>𝐷</m:t>
                      </m:r>
                      <m:r>
                        <a:rPr lang="en-GB" sz="1800" b="0" i="1" smtClean="0">
                          <a:solidFill>
                            <a:schemeClr val="tx1"/>
                          </a:solidFill>
                          <a:latin typeface="Cambria Math" panose="02040503050406030204" pitchFamily="18" charset="0"/>
                          <a:cs typeface="Times New Roman" pitchFamily="18" charset="0"/>
                        </a:rPr>
                        <m:t>)</m:t>
                      </m:r>
                    </m:oMath>
                  </m:oMathPara>
                </a14:m>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GB" sz="1800" b="0" i="1" smtClean="0">
                          <a:solidFill>
                            <a:schemeClr val="tx1"/>
                          </a:solidFill>
                          <a:latin typeface="Cambria Math" panose="02040503050406030204" pitchFamily="18" charset="0"/>
                          <a:cs typeface="Times New Roman" pitchFamily="18" charset="0"/>
                        </a:rPr>
                        <m:t>=0.940−0.</m:t>
                      </m:r>
                      <m:r>
                        <a:rPr lang="en-US" sz="1800" b="0" i="1" smtClean="0">
                          <a:solidFill>
                            <a:schemeClr val="tx1"/>
                          </a:solidFill>
                          <a:latin typeface="Cambria Math"/>
                          <a:cs typeface="Times New Roman" pitchFamily="18" charset="0"/>
                        </a:rPr>
                        <m:t>911</m:t>
                      </m:r>
                      <m:r>
                        <a:rPr lang="en-GB" sz="1800" b="0" i="1" smtClean="0">
                          <a:solidFill>
                            <a:schemeClr val="tx1"/>
                          </a:solidFill>
                          <a:latin typeface="Cambria Math" panose="02040503050406030204" pitchFamily="18" charset="0"/>
                          <a:cs typeface="Times New Roman" pitchFamily="18" charset="0"/>
                        </a:rPr>
                        <m:t>=0.</m:t>
                      </m:r>
                      <m:r>
                        <a:rPr lang="en-US" sz="1800" b="0" i="1" smtClean="0">
                          <a:solidFill>
                            <a:schemeClr val="tx1"/>
                          </a:solidFill>
                          <a:latin typeface="Cambria Math"/>
                          <a:cs typeface="Times New Roman" pitchFamily="18" charset="0"/>
                        </a:rPr>
                        <m:t>029</m:t>
                      </m:r>
                    </m:oMath>
                  </m:oMathPara>
                </a14:m>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Similarly,</a:t>
                </a:r>
              </a:p>
              <a:p>
                <a:pPr algn="just"/>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GB" sz="1800" b="0" i="1">
                          <a:solidFill>
                            <a:schemeClr val="tx1"/>
                          </a:solidFill>
                          <a:latin typeface="Cambria Math" panose="02040503050406030204" pitchFamily="18" charset="0"/>
                          <a:cs typeface="Times New Roman" pitchFamily="18" charset="0"/>
                        </a:rPr>
                        <m:t>𝐺𝑎𝑖𝑛</m:t>
                      </m:r>
                      <m:d>
                        <m:dPr>
                          <m:ctrlPr>
                            <a:rPr lang="en-GB" sz="1800" i="1">
                              <a:solidFill>
                                <a:schemeClr val="tx1"/>
                              </a:solidFill>
                              <a:latin typeface="Cambria Math" panose="02040503050406030204" pitchFamily="18" charset="0"/>
                              <a:cs typeface="Times New Roman" pitchFamily="18" charset="0"/>
                            </a:rPr>
                          </m:ctrlPr>
                        </m:dPr>
                        <m:e>
                          <m:r>
                            <a:rPr lang="en-US" sz="1800" b="0" i="1" smtClean="0">
                              <a:solidFill>
                                <a:schemeClr val="tx1"/>
                              </a:solidFill>
                              <a:latin typeface="Cambria Math"/>
                              <a:cs typeface="Times New Roman" pitchFamily="18" charset="0"/>
                            </a:rPr>
                            <m:t>𝑠𝑡𝑢𝑑𝑒𝑛𝑡</m:t>
                          </m:r>
                        </m:e>
                      </m:d>
                      <m:r>
                        <a:rPr lang="en-US" sz="1800" b="0" i="1" smtClean="0">
                          <a:solidFill>
                            <a:schemeClr val="tx1"/>
                          </a:solidFill>
                          <a:latin typeface="Cambria Math"/>
                          <a:cs typeface="Times New Roman" pitchFamily="18" charset="0"/>
                        </a:rPr>
                        <m:t>=0.151</m:t>
                      </m:r>
                    </m:oMath>
                  </m:oMathPara>
                </a14:m>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GB" sz="1800" b="0" i="1">
                          <a:solidFill>
                            <a:schemeClr val="tx1"/>
                          </a:solidFill>
                          <a:latin typeface="Cambria Math" panose="02040503050406030204" pitchFamily="18" charset="0"/>
                          <a:cs typeface="Times New Roman" pitchFamily="18" charset="0"/>
                        </a:rPr>
                        <m:t>𝐺𝑎𝑖𝑛</m:t>
                      </m:r>
                      <m:d>
                        <m:dPr>
                          <m:ctrlPr>
                            <a:rPr lang="en-GB" sz="1800" i="1">
                              <a:solidFill>
                                <a:schemeClr val="tx1"/>
                              </a:solidFill>
                              <a:latin typeface="Cambria Math" panose="02040503050406030204" pitchFamily="18" charset="0"/>
                              <a:cs typeface="Times New Roman" pitchFamily="18" charset="0"/>
                            </a:rPr>
                          </m:ctrlPr>
                        </m:dPr>
                        <m:e>
                          <m:r>
                            <a:rPr lang="en-US" sz="1800" b="0" i="1" smtClean="0">
                              <a:solidFill>
                                <a:schemeClr val="tx1"/>
                              </a:solidFill>
                              <a:latin typeface="Cambria Math"/>
                              <a:cs typeface="Times New Roman" pitchFamily="18" charset="0"/>
                            </a:rPr>
                            <m:t>𝑐𝑟𝑒𝑑𝑖𝑡</m:t>
                          </m:r>
                          <m:r>
                            <a:rPr lang="en-US" sz="1800" b="0" i="1" smtClean="0">
                              <a:solidFill>
                                <a:schemeClr val="tx1"/>
                              </a:solidFill>
                              <a:latin typeface="Cambria Math"/>
                              <a:cs typeface="Times New Roman" pitchFamily="18" charset="0"/>
                            </a:rPr>
                            <m:t>_</m:t>
                          </m:r>
                          <m:r>
                            <a:rPr lang="en-US" sz="1800" b="0" i="1" smtClean="0">
                              <a:solidFill>
                                <a:schemeClr val="tx1"/>
                              </a:solidFill>
                              <a:latin typeface="Cambria Math"/>
                              <a:cs typeface="Times New Roman" pitchFamily="18" charset="0"/>
                            </a:rPr>
                            <m:t>𝑟𝑎𝑡𝑖𝑛𝑔</m:t>
                          </m:r>
                        </m:e>
                      </m:d>
                      <m:r>
                        <a:rPr lang="en-US" sz="1800" b="0" i="1" smtClean="0">
                          <a:solidFill>
                            <a:schemeClr val="tx1"/>
                          </a:solidFill>
                          <a:latin typeface="Cambria Math"/>
                          <a:cs typeface="Times New Roman" pitchFamily="18" charset="0"/>
                        </a:rPr>
                        <m:t>=0.048</m:t>
                      </m:r>
                    </m:oMath>
                  </m:oMathPara>
                </a14:m>
                <a:endParaRPr lang="en-US" sz="1800" dirty="0">
                  <a:solidFill>
                    <a:schemeClr val="tx1"/>
                  </a:solidFill>
                  <a:latin typeface="Times New Roman" pitchFamily="18" charset="0"/>
                  <a:cs typeface="Times New Roman" pitchFamily="18" charset="0"/>
                </a:endParaRPr>
              </a:p>
            </p:txBody>
          </p:sp>
        </mc:Choice>
        <mc:Fallback xmlns="">
          <p:sp>
            <p:nvSpPr>
              <p:cNvPr id="3" name="Subtitle 2">
                <a:extLst>
                  <a:ext uri="{FF2B5EF4-FFF2-40B4-BE49-F238E27FC236}">
                    <a16:creationId xmlns:a16="http://schemas.microsoft.com/office/drawing/2014/main" xmlns="" xmlns:a14="http://schemas.microsoft.com/office/drawing/2010/main" id="{C84F5B74-D5AC-443A-2D7F-155384100D7E}"/>
                  </a:ext>
                </a:extLst>
              </p:cNvPr>
              <p:cNvSpPr>
                <a:spLocks noGrp="1" noRot="1" noChangeAspect="1" noMove="1" noResize="1" noEditPoints="1" noAdjustHandles="1" noChangeArrowheads="1" noChangeShapeType="1" noTextEdit="1"/>
              </p:cNvSpPr>
              <p:nvPr>
                <p:ph type="subTitle" idx="1"/>
              </p:nvPr>
            </p:nvSpPr>
            <p:spPr>
              <a:xfrm>
                <a:off x="685800" y="1371600"/>
                <a:ext cx="3951287" cy="5257800"/>
              </a:xfrm>
              <a:blipFill rotWithShape="1">
                <a:blip r:embed="rId3"/>
                <a:stretch>
                  <a:fillRect l="-1389" t="-579" r="-1235"/>
                </a:stretch>
              </a:blipFill>
            </p:spPr>
            <p:txBody>
              <a:bodyPr/>
              <a:lstStyle/>
              <a:p>
                <a:r>
                  <a:rPr lang="en-US">
                    <a:noFill/>
                  </a:rPr>
                  <a:t> </a:t>
                </a:r>
              </a:p>
            </p:txBody>
          </p:sp>
        </mc:Fallback>
      </mc:AlternateContent>
      <p:graphicFrame>
        <p:nvGraphicFramePr>
          <p:cNvPr id="5" name="Object 1024">
            <a:extLst>
              <a:ext uri="{FF2B5EF4-FFF2-40B4-BE49-F238E27FC236}">
                <a16:creationId xmlns:a16="http://schemas.microsoft.com/office/drawing/2014/main" id="{AA3FF751-CCD1-9EF0-33FA-C2B082207B3B}"/>
              </a:ext>
            </a:extLst>
          </p:cNvPr>
          <p:cNvGraphicFramePr>
            <a:graphicFrameLocks/>
          </p:cNvGraphicFramePr>
          <p:nvPr/>
        </p:nvGraphicFramePr>
        <p:xfrm>
          <a:off x="4637088" y="1371600"/>
          <a:ext cx="4474256" cy="5105400"/>
        </p:xfrm>
        <a:graphic>
          <a:graphicData uri="http://schemas.openxmlformats.org/presentationml/2006/ole">
            <mc:AlternateContent xmlns:mc="http://schemas.openxmlformats.org/markup-compatibility/2006">
              <mc:Choice xmlns:v="urn:schemas-microsoft-com:vml" Requires="v">
                <p:oleObj name="Worksheet" r:id="rId4" imgW="5772150" imgH="4457700" progId="Excel.Sheet.8">
                  <p:embed/>
                </p:oleObj>
              </mc:Choice>
              <mc:Fallback>
                <p:oleObj name="Worksheet" r:id="rId4" imgW="5772150" imgH="4457700" progId="Excel.Sheet.8">
                  <p:embed/>
                  <p:pic>
                    <p:nvPicPr>
                      <p:cNvPr id="5" name="Object 1024">
                        <a:extLst>
                          <a:ext uri="{FF2B5EF4-FFF2-40B4-BE49-F238E27FC236}">
                            <a16:creationId xmlns:a16="http://schemas.microsoft.com/office/drawing/2014/main" id="{89BF7636-D3A4-C0CC-B4E9-1F927EFC3978}"/>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37088" y="1371600"/>
                        <a:ext cx="4474256" cy="510540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9871964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7CF93-A7AE-CC25-CAA5-B656CC829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372BD-09D7-39C9-9AF1-53192EFBA58C}"/>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C84F5B74-D5AC-443A-2D7F-155384100D7E}"/>
                  </a:ext>
                </a:extLst>
              </p:cNvPr>
              <p:cNvSpPr>
                <a:spLocks noGrp="1"/>
              </p:cNvSpPr>
              <p:nvPr>
                <p:ph type="subTitle" idx="1"/>
              </p:nvPr>
            </p:nvSpPr>
            <p:spPr>
              <a:xfrm>
                <a:off x="685800" y="1371600"/>
                <a:ext cx="3951287" cy="5257800"/>
              </a:xfrm>
            </p:spPr>
            <p:txBody>
              <a:bodyPr>
                <a:normAutofit/>
              </a:bodyPr>
              <a:lstStyle/>
              <a:p>
                <a:pPr algn="just"/>
                <a:r>
                  <a:rPr lang="en-US" sz="1800" b="1" dirty="0">
                    <a:solidFill>
                      <a:schemeClr val="tx1"/>
                    </a:solidFill>
                    <a:latin typeface="Times New Roman" pitchFamily="18" charset="0"/>
                    <a:cs typeface="Times New Roman" pitchFamily="18" charset="0"/>
                  </a:rPr>
                  <a:t>Information gained by branching on attribute A</a:t>
                </a:r>
              </a:p>
              <a:p>
                <a:pPr algn="just"/>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GB" sz="1800" b="1" i="1" smtClean="0">
                          <a:solidFill>
                            <a:schemeClr val="tx1"/>
                          </a:solidFill>
                          <a:latin typeface="Cambria Math" panose="02040503050406030204" pitchFamily="18" charset="0"/>
                          <a:cs typeface="Times New Roman" pitchFamily="18" charset="0"/>
                        </a:rPr>
                        <m:t>𝑮𝒂𝒊𝒏</m:t>
                      </m:r>
                      <m:d>
                        <m:dPr>
                          <m:ctrlPr>
                            <a:rPr lang="en-GB" sz="1800" b="1" i="1" smtClean="0">
                              <a:solidFill>
                                <a:schemeClr val="tx1"/>
                              </a:solidFill>
                              <a:latin typeface="Cambria Math" panose="02040503050406030204" pitchFamily="18" charset="0"/>
                              <a:cs typeface="Times New Roman" pitchFamily="18" charset="0"/>
                            </a:rPr>
                          </m:ctrlPr>
                        </m:dPr>
                        <m:e>
                          <m:r>
                            <a:rPr lang="en-GB" sz="1800" b="1" i="1" smtClean="0">
                              <a:solidFill>
                                <a:schemeClr val="tx1"/>
                              </a:solidFill>
                              <a:latin typeface="Cambria Math" panose="02040503050406030204" pitchFamily="18" charset="0"/>
                              <a:cs typeface="Times New Roman" pitchFamily="18" charset="0"/>
                            </a:rPr>
                            <m:t>𝑨</m:t>
                          </m:r>
                        </m:e>
                      </m:d>
                      <m:r>
                        <a:rPr lang="en-GB" sz="1800" b="1" i="1" smtClean="0">
                          <a:solidFill>
                            <a:schemeClr val="tx1"/>
                          </a:solidFill>
                          <a:latin typeface="Cambria Math" panose="02040503050406030204" pitchFamily="18" charset="0"/>
                          <a:cs typeface="Times New Roman" pitchFamily="18" charset="0"/>
                        </a:rPr>
                        <m:t>=</m:t>
                      </m:r>
                      <m:r>
                        <a:rPr lang="en-GB" sz="1800" b="1" i="1" smtClean="0">
                          <a:solidFill>
                            <a:schemeClr val="tx1"/>
                          </a:solidFill>
                          <a:latin typeface="Cambria Math" panose="02040503050406030204" pitchFamily="18" charset="0"/>
                          <a:cs typeface="Times New Roman" pitchFamily="18" charset="0"/>
                        </a:rPr>
                        <m:t>𝑰𝒏𝒇𝒐</m:t>
                      </m:r>
                      <m:d>
                        <m:dPr>
                          <m:ctrlPr>
                            <a:rPr lang="en-GB" sz="1800" b="1" i="1" smtClean="0">
                              <a:solidFill>
                                <a:schemeClr val="tx1"/>
                              </a:solidFill>
                              <a:latin typeface="Cambria Math" panose="02040503050406030204" pitchFamily="18" charset="0"/>
                              <a:cs typeface="Times New Roman" pitchFamily="18" charset="0"/>
                            </a:rPr>
                          </m:ctrlPr>
                        </m:dPr>
                        <m:e>
                          <m:r>
                            <a:rPr lang="en-GB" sz="1800" b="1" i="1" smtClean="0">
                              <a:solidFill>
                                <a:schemeClr val="tx1"/>
                              </a:solidFill>
                              <a:latin typeface="Cambria Math" panose="02040503050406030204" pitchFamily="18" charset="0"/>
                              <a:cs typeface="Times New Roman" pitchFamily="18" charset="0"/>
                            </a:rPr>
                            <m:t>𝑫</m:t>
                          </m:r>
                        </m:e>
                      </m:d>
                      <m:r>
                        <a:rPr lang="en-GB" sz="1800" b="1" i="1" smtClean="0">
                          <a:solidFill>
                            <a:schemeClr val="tx1"/>
                          </a:solidFill>
                          <a:latin typeface="Cambria Math" panose="02040503050406030204" pitchFamily="18" charset="0"/>
                          <a:cs typeface="Times New Roman" pitchFamily="18" charset="0"/>
                        </a:rPr>
                        <m:t>−</m:t>
                      </m:r>
                      <m:sSub>
                        <m:sSubPr>
                          <m:ctrlPr>
                            <a:rPr lang="en-GB" sz="1800" b="1" i="1" smtClean="0">
                              <a:solidFill>
                                <a:schemeClr val="tx1"/>
                              </a:solidFill>
                              <a:latin typeface="Cambria Math" panose="02040503050406030204" pitchFamily="18" charset="0"/>
                              <a:cs typeface="Times New Roman" pitchFamily="18" charset="0"/>
                            </a:rPr>
                          </m:ctrlPr>
                        </m:sSubPr>
                        <m:e>
                          <m:r>
                            <a:rPr lang="en-GB" sz="1800" b="1" i="1" smtClean="0">
                              <a:solidFill>
                                <a:schemeClr val="tx1"/>
                              </a:solidFill>
                              <a:latin typeface="Cambria Math" panose="02040503050406030204" pitchFamily="18" charset="0"/>
                              <a:cs typeface="Times New Roman" pitchFamily="18" charset="0"/>
                            </a:rPr>
                            <m:t>𝑰𝒏𝒇𝒐</m:t>
                          </m:r>
                        </m:e>
                        <m:sub>
                          <m:r>
                            <a:rPr lang="en-GB" sz="1800" b="1" i="1" smtClean="0">
                              <a:solidFill>
                                <a:schemeClr val="tx1"/>
                              </a:solidFill>
                              <a:latin typeface="Cambria Math" panose="02040503050406030204" pitchFamily="18" charset="0"/>
                              <a:cs typeface="Times New Roman" pitchFamily="18" charset="0"/>
                            </a:rPr>
                            <m:t>𝑨</m:t>
                          </m:r>
                        </m:sub>
                      </m:sSub>
                      <m:r>
                        <a:rPr lang="en-GB" sz="1800" b="1" i="1" smtClean="0">
                          <a:solidFill>
                            <a:schemeClr val="tx1"/>
                          </a:solidFill>
                          <a:latin typeface="Cambria Math" panose="02040503050406030204" pitchFamily="18" charset="0"/>
                          <a:cs typeface="Times New Roman" pitchFamily="18" charset="0"/>
                        </a:rPr>
                        <m:t>(</m:t>
                      </m:r>
                      <m:r>
                        <a:rPr lang="en-GB" sz="1800" b="1" i="1" smtClean="0">
                          <a:solidFill>
                            <a:schemeClr val="tx1"/>
                          </a:solidFill>
                          <a:latin typeface="Cambria Math" panose="02040503050406030204" pitchFamily="18" charset="0"/>
                          <a:cs typeface="Times New Roman" pitchFamily="18" charset="0"/>
                        </a:rPr>
                        <m:t>𝑫</m:t>
                      </m:r>
                      <m:r>
                        <a:rPr lang="en-GB" sz="1800" b="1" i="1" smtClean="0">
                          <a:solidFill>
                            <a:schemeClr val="tx1"/>
                          </a:solidFill>
                          <a:latin typeface="Cambria Math" panose="02040503050406030204" pitchFamily="18" charset="0"/>
                          <a:cs typeface="Times New Roman" pitchFamily="18" charset="0"/>
                        </a:rPr>
                        <m:t>)</m:t>
                      </m:r>
                    </m:oMath>
                  </m:oMathPara>
                </a14:m>
                <a:endParaRPr lang="en-US" sz="1800" b="1"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 </a:t>
                </a:r>
              </a:p>
              <a:p>
                <a:pPr algn="just"/>
                <a14:m>
                  <m:oMathPara xmlns:m="http://schemas.openxmlformats.org/officeDocument/2006/math">
                    <m:oMathParaPr>
                      <m:jc m:val="left"/>
                    </m:oMathParaPr>
                    <m:oMath xmlns:m="http://schemas.openxmlformats.org/officeDocument/2006/math">
                      <m:r>
                        <a:rPr lang="en-GB" sz="1800" b="1" i="1" smtClean="0">
                          <a:solidFill>
                            <a:srgbClr val="00B050"/>
                          </a:solidFill>
                          <a:latin typeface="Cambria Math" panose="02040503050406030204" pitchFamily="18" charset="0"/>
                          <a:cs typeface="Times New Roman" pitchFamily="18" charset="0"/>
                        </a:rPr>
                        <m:t>𝑮𝒂𝒊𝒏</m:t>
                      </m:r>
                      <m:d>
                        <m:dPr>
                          <m:ctrlPr>
                            <a:rPr lang="en-GB" sz="1800" b="1" i="1" smtClean="0">
                              <a:solidFill>
                                <a:srgbClr val="00B050"/>
                              </a:solidFill>
                              <a:latin typeface="Cambria Math" panose="02040503050406030204" pitchFamily="18" charset="0"/>
                              <a:cs typeface="Times New Roman" pitchFamily="18" charset="0"/>
                            </a:rPr>
                          </m:ctrlPr>
                        </m:dPr>
                        <m:e>
                          <m:r>
                            <a:rPr lang="en-GB" sz="1800" b="1" i="1" smtClean="0">
                              <a:solidFill>
                                <a:srgbClr val="00B050"/>
                              </a:solidFill>
                              <a:latin typeface="Cambria Math" panose="02040503050406030204" pitchFamily="18" charset="0"/>
                              <a:cs typeface="Times New Roman" pitchFamily="18" charset="0"/>
                            </a:rPr>
                            <m:t>𝒂𝒈𝒆</m:t>
                          </m:r>
                        </m:e>
                      </m:d>
                      <m:r>
                        <a:rPr lang="en-GB" sz="1800" b="0" i="1" smtClean="0">
                          <a:solidFill>
                            <a:schemeClr val="tx1"/>
                          </a:solidFill>
                          <a:latin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cs typeface="Times New Roman" pitchFamily="18" charset="0"/>
                        </a:rPr>
                        <m:t>𝐼𝑛𝑓𝑜</m:t>
                      </m:r>
                      <m:d>
                        <m:dPr>
                          <m:ctrlPr>
                            <a:rPr lang="en-GB" sz="180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r>
                        <a:rPr lang="en-GB" sz="1800" b="0" i="1" smtClean="0">
                          <a:solidFill>
                            <a:schemeClr val="tx1"/>
                          </a:solidFill>
                          <a:latin typeface="Cambria Math" panose="02040503050406030204" pitchFamily="18" charset="0"/>
                          <a:cs typeface="Times New Roman" pitchFamily="18" charset="0"/>
                        </a:rPr>
                        <m:t>−</m:t>
                      </m:r>
                      <m:sSub>
                        <m:sSubPr>
                          <m:ctrlPr>
                            <a:rPr lang="en-GB"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𝐼𝑛𝑓𝑜</m:t>
                          </m:r>
                        </m:e>
                        <m:sub>
                          <m:r>
                            <a:rPr lang="en-GB" sz="1800" b="0" i="1" smtClean="0">
                              <a:solidFill>
                                <a:schemeClr val="tx1"/>
                              </a:solidFill>
                              <a:latin typeface="Cambria Math" panose="02040503050406030204" pitchFamily="18" charset="0"/>
                              <a:cs typeface="Times New Roman" pitchFamily="18" charset="0"/>
                            </a:rPr>
                            <m:t>𝑎𝑔𝑒</m:t>
                          </m:r>
                        </m:sub>
                      </m:sSub>
                      <m:r>
                        <a:rPr lang="en-GB" sz="1800" b="0" i="1" smtClean="0">
                          <a:solidFill>
                            <a:schemeClr val="tx1"/>
                          </a:solidFill>
                          <a:latin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cs typeface="Times New Roman" pitchFamily="18" charset="0"/>
                        </a:rPr>
                        <m:t>𝐷</m:t>
                      </m:r>
                      <m:r>
                        <a:rPr lang="en-GB" sz="1800" b="0" i="1" smtClean="0">
                          <a:solidFill>
                            <a:schemeClr val="tx1"/>
                          </a:solidFill>
                          <a:latin typeface="Cambria Math" panose="02040503050406030204" pitchFamily="18" charset="0"/>
                          <a:cs typeface="Times New Roman" pitchFamily="18" charset="0"/>
                        </a:rPr>
                        <m:t>)</m:t>
                      </m:r>
                    </m:oMath>
                  </m:oMathPara>
                </a14:m>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GB" sz="1800" b="0" i="1" smtClean="0">
                          <a:solidFill>
                            <a:schemeClr val="tx1"/>
                          </a:solidFill>
                          <a:latin typeface="Cambria Math" panose="02040503050406030204" pitchFamily="18" charset="0"/>
                          <a:cs typeface="Times New Roman" pitchFamily="18" charset="0"/>
                        </a:rPr>
                        <m:t>=0.940−0.694=</m:t>
                      </m:r>
                      <m:r>
                        <a:rPr lang="en-GB" sz="1800" b="1" i="1" smtClean="0">
                          <a:solidFill>
                            <a:srgbClr val="00B050"/>
                          </a:solidFill>
                          <a:latin typeface="Cambria Math" panose="02040503050406030204" pitchFamily="18" charset="0"/>
                          <a:cs typeface="Times New Roman" pitchFamily="18" charset="0"/>
                        </a:rPr>
                        <m:t>𝟎</m:t>
                      </m:r>
                      <m:r>
                        <a:rPr lang="en-GB" sz="1800" b="1" i="1" smtClean="0">
                          <a:solidFill>
                            <a:srgbClr val="00B050"/>
                          </a:solidFill>
                          <a:latin typeface="Cambria Math" panose="02040503050406030204" pitchFamily="18" charset="0"/>
                          <a:cs typeface="Times New Roman" pitchFamily="18" charset="0"/>
                        </a:rPr>
                        <m:t>.</m:t>
                      </m:r>
                      <m:r>
                        <a:rPr lang="en-GB" sz="1800" b="1" i="1" smtClean="0">
                          <a:solidFill>
                            <a:srgbClr val="00B050"/>
                          </a:solidFill>
                          <a:latin typeface="Cambria Math" panose="02040503050406030204" pitchFamily="18" charset="0"/>
                          <a:cs typeface="Times New Roman" pitchFamily="18" charset="0"/>
                        </a:rPr>
                        <m:t>𝟐𝟒𝟔</m:t>
                      </m:r>
                    </m:oMath>
                  </m:oMathPara>
                </a14:m>
                <a:endParaRPr lang="en-US" sz="1800" b="1"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GB" sz="1800" b="0" i="1" smtClean="0">
                          <a:solidFill>
                            <a:schemeClr val="tx1"/>
                          </a:solidFill>
                          <a:latin typeface="Cambria Math" panose="02040503050406030204" pitchFamily="18" charset="0"/>
                          <a:cs typeface="Times New Roman" pitchFamily="18" charset="0"/>
                        </a:rPr>
                        <m:t>𝐺𝑎𝑖𝑛</m:t>
                      </m:r>
                      <m:d>
                        <m:dPr>
                          <m:ctrlPr>
                            <a:rPr lang="en-GB" sz="180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𝑖𝑛𝑐𝑜𝑚𝑒</m:t>
                          </m:r>
                        </m:e>
                      </m:d>
                      <m:r>
                        <a:rPr lang="en-GB" sz="1800" b="0" i="1" smtClean="0">
                          <a:solidFill>
                            <a:schemeClr val="tx1"/>
                          </a:solidFill>
                          <a:latin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cs typeface="Times New Roman" pitchFamily="18" charset="0"/>
                        </a:rPr>
                        <m:t>𝐼𝑛𝑓𝑜</m:t>
                      </m:r>
                      <m:d>
                        <m:dPr>
                          <m:ctrlPr>
                            <a:rPr lang="en-GB" sz="1800" i="1" smtClean="0">
                              <a:solidFill>
                                <a:schemeClr val="tx1"/>
                              </a:solidFill>
                              <a:latin typeface="Cambria Math" panose="02040503050406030204" pitchFamily="18" charset="0"/>
                              <a:cs typeface="Times New Roman" pitchFamily="18" charset="0"/>
                            </a:rPr>
                          </m:ctrlPr>
                        </m:dPr>
                        <m:e>
                          <m:r>
                            <a:rPr lang="en-GB" sz="1800" b="0" i="1" smtClean="0">
                              <a:solidFill>
                                <a:schemeClr val="tx1"/>
                              </a:solidFill>
                              <a:latin typeface="Cambria Math" panose="02040503050406030204" pitchFamily="18" charset="0"/>
                              <a:cs typeface="Times New Roman" pitchFamily="18" charset="0"/>
                            </a:rPr>
                            <m:t>𝐷</m:t>
                          </m:r>
                        </m:e>
                      </m:d>
                      <m:r>
                        <a:rPr lang="en-GB" sz="1800" b="0" i="1" smtClean="0">
                          <a:solidFill>
                            <a:schemeClr val="tx1"/>
                          </a:solidFill>
                          <a:latin typeface="Cambria Math" panose="02040503050406030204" pitchFamily="18" charset="0"/>
                          <a:cs typeface="Times New Roman" pitchFamily="18" charset="0"/>
                        </a:rPr>
                        <m:t>−</m:t>
                      </m:r>
                      <m:sSub>
                        <m:sSubPr>
                          <m:ctrlPr>
                            <a:rPr lang="en-GB" sz="1800" i="1" smtClean="0">
                              <a:solidFill>
                                <a:schemeClr val="tx1"/>
                              </a:solidFill>
                              <a:latin typeface="Cambria Math" panose="02040503050406030204" pitchFamily="18" charset="0"/>
                              <a:cs typeface="Times New Roman" pitchFamily="18" charset="0"/>
                            </a:rPr>
                          </m:ctrlPr>
                        </m:sSubPr>
                        <m:e>
                          <m:r>
                            <a:rPr lang="en-GB" sz="1800" b="0" i="1" smtClean="0">
                              <a:solidFill>
                                <a:schemeClr val="tx1"/>
                              </a:solidFill>
                              <a:latin typeface="Cambria Math" panose="02040503050406030204" pitchFamily="18" charset="0"/>
                              <a:cs typeface="Times New Roman" pitchFamily="18" charset="0"/>
                            </a:rPr>
                            <m:t>𝐼𝑛𝑓𝑜</m:t>
                          </m:r>
                        </m:e>
                        <m:sub>
                          <m:r>
                            <a:rPr lang="en-GB" sz="1800" b="0" i="1" smtClean="0">
                              <a:solidFill>
                                <a:schemeClr val="tx1"/>
                              </a:solidFill>
                              <a:latin typeface="Cambria Math" panose="02040503050406030204" pitchFamily="18" charset="0"/>
                              <a:cs typeface="Times New Roman" pitchFamily="18" charset="0"/>
                            </a:rPr>
                            <m:t>𝑖𝑛𝑐𝑜𝑚𝑒</m:t>
                          </m:r>
                        </m:sub>
                      </m:sSub>
                      <m:r>
                        <a:rPr lang="en-GB" sz="1800" b="0" i="1" smtClean="0">
                          <a:solidFill>
                            <a:schemeClr val="tx1"/>
                          </a:solidFill>
                          <a:latin typeface="Cambria Math" panose="02040503050406030204" pitchFamily="18" charset="0"/>
                          <a:cs typeface="Times New Roman" pitchFamily="18" charset="0"/>
                        </a:rPr>
                        <m:t>(</m:t>
                      </m:r>
                      <m:r>
                        <a:rPr lang="en-GB" sz="1800" b="0" i="1" smtClean="0">
                          <a:solidFill>
                            <a:schemeClr val="tx1"/>
                          </a:solidFill>
                          <a:latin typeface="Cambria Math" panose="02040503050406030204" pitchFamily="18" charset="0"/>
                          <a:cs typeface="Times New Roman" pitchFamily="18" charset="0"/>
                        </a:rPr>
                        <m:t>𝐷</m:t>
                      </m:r>
                      <m:r>
                        <a:rPr lang="en-GB" sz="1800" b="0" i="1" smtClean="0">
                          <a:solidFill>
                            <a:schemeClr val="tx1"/>
                          </a:solidFill>
                          <a:latin typeface="Cambria Math" panose="02040503050406030204" pitchFamily="18" charset="0"/>
                          <a:cs typeface="Times New Roman" pitchFamily="18" charset="0"/>
                        </a:rPr>
                        <m:t>)</m:t>
                      </m:r>
                    </m:oMath>
                  </m:oMathPara>
                </a14:m>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GB" sz="1800" b="0" i="1" smtClean="0">
                          <a:solidFill>
                            <a:schemeClr val="tx1"/>
                          </a:solidFill>
                          <a:latin typeface="Cambria Math" panose="02040503050406030204" pitchFamily="18" charset="0"/>
                          <a:cs typeface="Times New Roman" pitchFamily="18" charset="0"/>
                        </a:rPr>
                        <m:t>=0.940−0.</m:t>
                      </m:r>
                      <m:r>
                        <a:rPr lang="en-US" sz="1800" b="0" i="1" smtClean="0">
                          <a:solidFill>
                            <a:schemeClr val="tx1"/>
                          </a:solidFill>
                          <a:latin typeface="Cambria Math"/>
                          <a:cs typeface="Times New Roman" pitchFamily="18" charset="0"/>
                        </a:rPr>
                        <m:t>911</m:t>
                      </m:r>
                      <m:r>
                        <a:rPr lang="en-GB" sz="1800" b="0" i="1" smtClean="0">
                          <a:solidFill>
                            <a:schemeClr val="tx1"/>
                          </a:solidFill>
                          <a:latin typeface="Cambria Math" panose="02040503050406030204" pitchFamily="18" charset="0"/>
                          <a:cs typeface="Times New Roman" pitchFamily="18" charset="0"/>
                        </a:rPr>
                        <m:t>=0.</m:t>
                      </m:r>
                      <m:r>
                        <a:rPr lang="en-US" sz="1800" b="0" i="1" smtClean="0">
                          <a:solidFill>
                            <a:schemeClr val="tx1"/>
                          </a:solidFill>
                          <a:latin typeface="Cambria Math"/>
                          <a:cs typeface="Times New Roman" pitchFamily="18" charset="0"/>
                        </a:rPr>
                        <m:t>029</m:t>
                      </m:r>
                    </m:oMath>
                  </m:oMathPara>
                </a14:m>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Similarly,</a:t>
                </a:r>
              </a:p>
              <a:p>
                <a:pPr algn="just"/>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GB" sz="1800" b="0" i="1">
                          <a:solidFill>
                            <a:schemeClr val="tx1"/>
                          </a:solidFill>
                          <a:latin typeface="Cambria Math" panose="02040503050406030204" pitchFamily="18" charset="0"/>
                          <a:cs typeface="Times New Roman" pitchFamily="18" charset="0"/>
                        </a:rPr>
                        <m:t>𝐺𝑎𝑖𝑛</m:t>
                      </m:r>
                      <m:d>
                        <m:dPr>
                          <m:ctrlPr>
                            <a:rPr lang="en-GB" sz="1800" i="1">
                              <a:solidFill>
                                <a:schemeClr val="tx1"/>
                              </a:solidFill>
                              <a:latin typeface="Cambria Math" panose="02040503050406030204" pitchFamily="18" charset="0"/>
                              <a:cs typeface="Times New Roman" pitchFamily="18" charset="0"/>
                            </a:rPr>
                          </m:ctrlPr>
                        </m:dPr>
                        <m:e>
                          <m:r>
                            <a:rPr lang="en-US" sz="1800" b="0" i="1" smtClean="0">
                              <a:solidFill>
                                <a:schemeClr val="tx1"/>
                              </a:solidFill>
                              <a:latin typeface="Cambria Math"/>
                              <a:cs typeface="Times New Roman" pitchFamily="18" charset="0"/>
                            </a:rPr>
                            <m:t>𝑠𝑡𝑢𝑑𝑒𝑛𝑡</m:t>
                          </m:r>
                        </m:e>
                      </m:d>
                      <m:r>
                        <a:rPr lang="en-US" sz="1800" b="0" i="1" smtClean="0">
                          <a:solidFill>
                            <a:schemeClr val="tx1"/>
                          </a:solidFill>
                          <a:latin typeface="Cambria Math"/>
                          <a:cs typeface="Times New Roman" pitchFamily="18" charset="0"/>
                        </a:rPr>
                        <m:t>=0.151</m:t>
                      </m:r>
                    </m:oMath>
                  </m:oMathPara>
                </a14:m>
                <a:endParaRPr lang="en-US" sz="1800" dirty="0">
                  <a:solidFill>
                    <a:schemeClr val="tx1"/>
                  </a:solidFill>
                  <a:latin typeface="Times New Roman" pitchFamily="18" charset="0"/>
                  <a:cs typeface="Times New Roman" pitchFamily="18" charset="0"/>
                </a:endParaRPr>
              </a:p>
              <a:p>
                <a:pPr algn="just"/>
                <a14:m>
                  <m:oMathPara xmlns:m="http://schemas.openxmlformats.org/officeDocument/2006/math">
                    <m:oMathParaPr>
                      <m:jc m:val="left"/>
                    </m:oMathParaPr>
                    <m:oMath xmlns:m="http://schemas.openxmlformats.org/officeDocument/2006/math">
                      <m:r>
                        <a:rPr lang="en-GB" sz="1800" b="0" i="1">
                          <a:solidFill>
                            <a:schemeClr val="tx1"/>
                          </a:solidFill>
                          <a:latin typeface="Cambria Math" panose="02040503050406030204" pitchFamily="18" charset="0"/>
                          <a:cs typeface="Times New Roman" pitchFamily="18" charset="0"/>
                        </a:rPr>
                        <m:t>𝐺𝑎𝑖𝑛</m:t>
                      </m:r>
                      <m:d>
                        <m:dPr>
                          <m:ctrlPr>
                            <a:rPr lang="en-GB" sz="1800" i="1">
                              <a:solidFill>
                                <a:schemeClr val="tx1"/>
                              </a:solidFill>
                              <a:latin typeface="Cambria Math" panose="02040503050406030204" pitchFamily="18" charset="0"/>
                              <a:cs typeface="Times New Roman" pitchFamily="18" charset="0"/>
                            </a:rPr>
                          </m:ctrlPr>
                        </m:dPr>
                        <m:e>
                          <m:r>
                            <a:rPr lang="en-US" sz="1800" b="0" i="1" smtClean="0">
                              <a:solidFill>
                                <a:schemeClr val="tx1"/>
                              </a:solidFill>
                              <a:latin typeface="Cambria Math"/>
                              <a:cs typeface="Times New Roman" pitchFamily="18" charset="0"/>
                            </a:rPr>
                            <m:t>𝑐𝑟𝑒𝑑𝑖𝑡</m:t>
                          </m:r>
                          <m:r>
                            <a:rPr lang="en-US" sz="1800" b="0" i="1" smtClean="0">
                              <a:solidFill>
                                <a:schemeClr val="tx1"/>
                              </a:solidFill>
                              <a:latin typeface="Cambria Math"/>
                              <a:cs typeface="Times New Roman" pitchFamily="18" charset="0"/>
                            </a:rPr>
                            <m:t>_</m:t>
                          </m:r>
                          <m:r>
                            <a:rPr lang="en-US" sz="1800" b="0" i="1" smtClean="0">
                              <a:solidFill>
                                <a:schemeClr val="tx1"/>
                              </a:solidFill>
                              <a:latin typeface="Cambria Math"/>
                              <a:cs typeface="Times New Roman" pitchFamily="18" charset="0"/>
                            </a:rPr>
                            <m:t>𝑟𝑎𝑡𝑖𝑛𝑔</m:t>
                          </m:r>
                        </m:e>
                      </m:d>
                      <m:r>
                        <a:rPr lang="en-US" sz="1800" b="0" i="1" smtClean="0">
                          <a:solidFill>
                            <a:schemeClr val="tx1"/>
                          </a:solidFill>
                          <a:latin typeface="Cambria Math"/>
                          <a:cs typeface="Times New Roman" pitchFamily="18" charset="0"/>
                        </a:rPr>
                        <m:t>=0.048</m:t>
                      </m:r>
                    </m:oMath>
                  </m:oMathPara>
                </a14:m>
                <a:endParaRPr lang="en-US" sz="1800" dirty="0">
                  <a:solidFill>
                    <a:schemeClr val="tx1"/>
                  </a:solidFill>
                  <a:latin typeface="Times New Roman" pitchFamily="18" charset="0"/>
                  <a:cs typeface="Times New Roman" pitchFamily="18" charset="0"/>
                </a:endParaRPr>
              </a:p>
            </p:txBody>
          </p:sp>
        </mc:Choice>
        <mc:Fallback xmlns="">
          <p:sp>
            <p:nvSpPr>
              <p:cNvPr id="3" name="Subtitle 2">
                <a:extLst>
                  <a:ext uri="{FF2B5EF4-FFF2-40B4-BE49-F238E27FC236}">
                    <a16:creationId xmlns:a16="http://schemas.microsoft.com/office/drawing/2014/main" xmlns="" xmlns:a14="http://schemas.microsoft.com/office/drawing/2010/main" id="{C84F5B74-D5AC-443A-2D7F-155384100D7E}"/>
                  </a:ext>
                </a:extLst>
              </p:cNvPr>
              <p:cNvSpPr>
                <a:spLocks noGrp="1" noRot="1" noChangeAspect="1" noMove="1" noResize="1" noEditPoints="1" noAdjustHandles="1" noChangeArrowheads="1" noChangeShapeType="1" noTextEdit="1"/>
              </p:cNvSpPr>
              <p:nvPr>
                <p:ph type="subTitle" idx="1"/>
              </p:nvPr>
            </p:nvSpPr>
            <p:spPr>
              <a:xfrm>
                <a:off x="685800" y="1371600"/>
                <a:ext cx="3951287" cy="5257800"/>
              </a:xfrm>
              <a:blipFill rotWithShape="1">
                <a:blip r:embed="rId3"/>
                <a:stretch>
                  <a:fillRect l="-1389" t="-579" r="-1235"/>
                </a:stretch>
              </a:blipFill>
            </p:spPr>
            <p:txBody>
              <a:bodyPr/>
              <a:lstStyle/>
              <a:p>
                <a:r>
                  <a:rPr lang="en-US">
                    <a:noFill/>
                  </a:rPr>
                  <a:t> </a:t>
                </a:r>
              </a:p>
            </p:txBody>
          </p:sp>
        </mc:Fallback>
      </mc:AlternateContent>
      <p:graphicFrame>
        <p:nvGraphicFramePr>
          <p:cNvPr id="5" name="Object 1024">
            <a:extLst>
              <a:ext uri="{FF2B5EF4-FFF2-40B4-BE49-F238E27FC236}">
                <a16:creationId xmlns:a16="http://schemas.microsoft.com/office/drawing/2014/main" id="{AA3FF751-CCD1-9EF0-33FA-C2B082207B3B}"/>
              </a:ext>
            </a:extLst>
          </p:cNvPr>
          <p:cNvGraphicFramePr>
            <a:graphicFrameLocks/>
          </p:cNvGraphicFramePr>
          <p:nvPr/>
        </p:nvGraphicFramePr>
        <p:xfrm>
          <a:off x="4637088" y="1371600"/>
          <a:ext cx="4474256" cy="5105400"/>
        </p:xfrm>
        <a:graphic>
          <a:graphicData uri="http://schemas.openxmlformats.org/presentationml/2006/ole">
            <mc:AlternateContent xmlns:mc="http://schemas.openxmlformats.org/markup-compatibility/2006">
              <mc:Choice xmlns:v="urn:schemas-microsoft-com:vml" Requires="v">
                <p:oleObj name="Worksheet" r:id="rId4" imgW="5772150" imgH="4457700" progId="Excel.Sheet.8">
                  <p:embed/>
                </p:oleObj>
              </mc:Choice>
              <mc:Fallback>
                <p:oleObj name="Worksheet" r:id="rId4" imgW="5772150" imgH="4457700" progId="Excel.Sheet.8">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37088" y="1371600"/>
                        <a:ext cx="4474256" cy="5105400"/>
                      </a:xfrm>
                      <a:prstGeom prst="rect">
                        <a:avLst/>
                      </a:prstGeom>
                      <a:noFill/>
                      <a:ln>
                        <a:noFill/>
                      </a:ln>
                    </p:spPr>
                  </p:pic>
                </p:oleObj>
              </mc:Fallback>
            </mc:AlternateContent>
          </a:graphicData>
        </a:graphic>
      </p:graphicFrame>
      <p:sp>
        <p:nvSpPr>
          <p:cNvPr id="4" name="Down Arrow 3"/>
          <p:cNvSpPr/>
          <p:nvPr/>
        </p:nvSpPr>
        <p:spPr>
          <a:xfrm>
            <a:off x="4800600" y="1012166"/>
            <a:ext cx="304800" cy="435634"/>
          </a:xfrm>
          <a:prstGeom prst="down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61741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7CF93-A7AE-CC25-CAA5-B656CC829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372BD-09D7-39C9-9AF1-53192EFBA58C}"/>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p:sp>
        <p:nvSpPr>
          <p:cNvPr id="3" name="Subtitle 2">
            <a:extLst>
              <a:ext uri="{FF2B5EF4-FFF2-40B4-BE49-F238E27FC236}">
                <a16:creationId xmlns:a16="http://schemas.microsoft.com/office/drawing/2014/main" id="{C84F5B74-D5AC-443A-2D7F-155384100D7E}"/>
              </a:ext>
            </a:extLst>
          </p:cNvPr>
          <p:cNvSpPr>
            <a:spLocks noGrp="1"/>
          </p:cNvSpPr>
          <p:nvPr>
            <p:ph type="subTitle" idx="1"/>
          </p:nvPr>
        </p:nvSpPr>
        <p:spPr>
          <a:xfrm>
            <a:off x="685800" y="1371600"/>
            <a:ext cx="4038600" cy="533400"/>
          </a:xfrm>
        </p:spPr>
        <p:txBody>
          <a:bodyPr>
            <a:normAutofit/>
          </a:bodyPr>
          <a:lstStyle/>
          <a:p>
            <a:pPr algn="just"/>
            <a:r>
              <a:rPr lang="en-US" sz="1800" dirty="0">
                <a:solidFill>
                  <a:schemeClr val="tx1"/>
                </a:solidFill>
                <a:latin typeface="Times New Roman" pitchFamily="18" charset="0"/>
                <a:cs typeface="Times New Roman" pitchFamily="18" charset="0"/>
              </a:rPr>
              <a:t>So, the first split is on the </a:t>
            </a:r>
            <a:r>
              <a:rPr lang="en-US" sz="1800" b="1" dirty="0">
                <a:solidFill>
                  <a:schemeClr val="tx1"/>
                </a:solidFill>
                <a:latin typeface="Times New Roman" pitchFamily="18" charset="0"/>
                <a:cs typeface="Times New Roman" pitchFamily="18" charset="0"/>
              </a:rPr>
              <a:t>age </a:t>
            </a:r>
            <a:r>
              <a:rPr lang="en-US" sz="1800" dirty="0">
                <a:solidFill>
                  <a:schemeClr val="tx1"/>
                </a:solidFill>
                <a:latin typeface="Times New Roman" pitchFamily="18" charset="0"/>
                <a:cs typeface="Times New Roman" pitchFamily="18" charset="0"/>
              </a:rPr>
              <a:t>attribute</a:t>
            </a:r>
            <a:endParaRPr lang="en-US" sz="1800" b="1" dirty="0">
              <a:solidFill>
                <a:schemeClr val="tx1"/>
              </a:solidFill>
              <a:latin typeface="Times New Roman" pitchFamily="18" charset="0"/>
              <a:cs typeface="Times New Roman" pitchFamily="18" charset="0"/>
            </a:endParaRPr>
          </a:p>
        </p:txBody>
      </p:sp>
      <p:sp>
        <p:nvSpPr>
          <p:cNvPr id="8" name="Subtitle 2">
            <a:extLst>
              <a:ext uri="{FF2B5EF4-FFF2-40B4-BE49-F238E27FC236}">
                <a16:creationId xmlns:a16="http://schemas.microsoft.com/office/drawing/2014/main" id="{C84F5B74-D5AC-443A-2D7F-155384100D7E}"/>
              </a:ext>
            </a:extLst>
          </p:cNvPr>
          <p:cNvSpPr txBox="1">
            <a:spLocks/>
          </p:cNvSpPr>
          <p:nvPr/>
        </p:nvSpPr>
        <p:spPr>
          <a:xfrm>
            <a:off x="6172200" y="1172812"/>
            <a:ext cx="2667000" cy="103698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dirty="0">
                <a:solidFill>
                  <a:schemeClr val="tx1"/>
                </a:solidFill>
                <a:latin typeface="Times New Roman" pitchFamily="18" charset="0"/>
                <a:cs typeface="Times New Roman" pitchFamily="18" charset="0"/>
              </a:rPr>
              <a:t>Next, repeat the same process with the other nodes with smaller dataset.</a:t>
            </a:r>
          </a:p>
          <a:p>
            <a:pPr algn="just"/>
            <a:endParaRPr lang="en-US" sz="1800" b="1" dirty="0">
              <a:solidFill>
                <a:schemeClr val="tx1"/>
              </a:solidFill>
              <a:latin typeface="Times New Roman" pitchFamily="18" charset="0"/>
              <a:cs typeface="Times New Roman" pitchFamily="18" charset="0"/>
            </a:endParaRPr>
          </a:p>
        </p:txBody>
      </p:sp>
      <p:pic>
        <p:nvPicPr>
          <p:cNvPr id="122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981200"/>
            <a:ext cx="622935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3411753"/>
            <a:ext cx="2855194" cy="1447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3371785"/>
            <a:ext cx="2876550" cy="15959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4200" y="3512817"/>
            <a:ext cx="2519063" cy="1348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45113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7CF93-A7AE-CC25-CAA5-B656CC829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372BD-09D7-39C9-9AF1-53192EFBA58C}"/>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p:sp>
        <p:nvSpPr>
          <p:cNvPr id="3" name="Subtitle 2">
            <a:extLst>
              <a:ext uri="{FF2B5EF4-FFF2-40B4-BE49-F238E27FC236}">
                <a16:creationId xmlns:a16="http://schemas.microsoft.com/office/drawing/2014/main" id="{C84F5B74-D5AC-443A-2D7F-155384100D7E}"/>
              </a:ext>
            </a:extLst>
          </p:cNvPr>
          <p:cNvSpPr>
            <a:spLocks noGrp="1"/>
          </p:cNvSpPr>
          <p:nvPr>
            <p:ph type="subTitle" idx="1"/>
          </p:nvPr>
        </p:nvSpPr>
        <p:spPr>
          <a:xfrm>
            <a:off x="685800" y="1371600"/>
            <a:ext cx="3657600" cy="533400"/>
          </a:xfrm>
        </p:spPr>
        <p:txBody>
          <a:bodyPr>
            <a:normAutofit/>
          </a:bodyPr>
          <a:lstStyle/>
          <a:p>
            <a:pPr algn="just"/>
            <a:r>
              <a:rPr lang="en-US" sz="1800" dirty="0">
                <a:solidFill>
                  <a:schemeClr val="tx1"/>
                </a:solidFill>
                <a:latin typeface="Times New Roman" pitchFamily="18" charset="0"/>
                <a:cs typeface="Times New Roman" pitchFamily="18" charset="0"/>
              </a:rPr>
              <a:t>Next split is on </a:t>
            </a:r>
            <a:r>
              <a:rPr lang="en-US" sz="1800" b="1" dirty="0">
                <a:solidFill>
                  <a:schemeClr val="tx1"/>
                </a:solidFill>
                <a:latin typeface="Times New Roman" pitchFamily="18" charset="0"/>
                <a:cs typeface="Times New Roman" pitchFamily="18" charset="0"/>
              </a:rPr>
              <a:t>student </a:t>
            </a:r>
            <a:r>
              <a:rPr lang="en-US" sz="1800" dirty="0">
                <a:solidFill>
                  <a:schemeClr val="tx1"/>
                </a:solidFill>
                <a:latin typeface="Times New Roman" pitchFamily="18" charset="0"/>
                <a:cs typeface="Times New Roman" pitchFamily="18" charset="0"/>
              </a:rPr>
              <a:t>at node </a:t>
            </a:r>
            <a:r>
              <a:rPr lang="en-US" sz="1800" b="1" dirty="0">
                <a:solidFill>
                  <a:schemeClr val="tx1"/>
                </a:solidFill>
                <a:latin typeface="Times New Roman" pitchFamily="18" charset="0"/>
                <a:cs typeface="Times New Roman" pitchFamily="18" charset="0"/>
              </a:rPr>
              <a:t>&lt;=30</a:t>
            </a:r>
          </a:p>
          <a:p>
            <a:pPr algn="just"/>
            <a:endParaRPr lang="en-US" sz="1800" b="1" dirty="0">
              <a:solidFill>
                <a:schemeClr val="tx1"/>
              </a:solidFill>
              <a:latin typeface="Times New Roman" pitchFamily="18" charset="0"/>
              <a:cs typeface="Times New Roman" pitchFamily="18" charset="0"/>
            </a:endParaRP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857" y="2057400"/>
            <a:ext cx="8534400" cy="383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3302528"/>
            <a:ext cx="1295400" cy="8186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3104126"/>
            <a:ext cx="2190750" cy="1215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Subtitle 2">
            <a:extLst>
              <a:ext uri="{FF2B5EF4-FFF2-40B4-BE49-F238E27FC236}">
                <a16:creationId xmlns:a16="http://schemas.microsoft.com/office/drawing/2014/main" id="{C84F5B74-D5AC-443A-2D7F-155384100D7E}"/>
              </a:ext>
            </a:extLst>
          </p:cNvPr>
          <p:cNvSpPr txBox="1">
            <a:spLocks/>
          </p:cNvSpPr>
          <p:nvPr/>
        </p:nvSpPr>
        <p:spPr>
          <a:xfrm>
            <a:off x="381000" y="5629453"/>
            <a:ext cx="2398143" cy="780151"/>
          </a:xfrm>
          <a:prstGeom prst="rect">
            <a:avLst/>
          </a:prstGeom>
          <a:solidFill>
            <a:schemeClr val="bg1">
              <a:lumMod val="75000"/>
            </a:schemeClr>
          </a:solidFill>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dirty="0">
                <a:solidFill>
                  <a:schemeClr val="tx1"/>
                </a:solidFill>
                <a:latin typeface="Times New Roman" pitchFamily="18" charset="0"/>
                <a:cs typeface="Times New Roman" pitchFamily="18" charset="0"/>
              </a:rPr>
              <a:t>All are </a:t>
            </a:r>
            <a:r>
              <a:rPr lang="en-US" sz="1800" b="1" dirty="0">
                <a:solidFill>
                  <a:schemeClr val="tx1"/>
                </a:solidFill>
                <a:latin typeface="Times New Roman" pitchFamily="18" charset="0"/>
                <a:cs typeface="Times New Roman" pitchFamily="18" charset="0"/>
              </a:rPr>
              <a:t>no</a:t>
            </a:r>
          </a:p>
          <a:p>
            <a:pPr algn="just"/>
            <a:r>
              <a:rPr lang="en-US" sz="1800" dirty="0">
                <a:solidFill>
                  <a:schemeClr val="tx1"/>
                </a:solidFill>
                <a:latin typeface="Times New Roman" pitchFamily="18" charset="0"/>
                <a:cs typeface="Times New Roman" pitchFamily="18" charset="0"/>
              </a:rPr>
              <a:t>So, no further split here</a:t>
            </a:r>
          </a:p>
        </p:txBody>
      </p:sp>
      <p:sp>
        <p:nvSpPr>
          <p:cNvPr id="20" name="Subtitle 2">
            <a:extLst>
              <a:ext uri="{FF2B5EF4-FFF2-40B4-BE49-F238E27FC236}">
                <a16:creationId xmlns:a16="http://schemas.microsoft.com/office/drawing/2014/main" id="{C84F5B74-D5AC-443A-2D7F-155384100D7E}"/>
              </a:ext>
            </a:extLst>
          </p:cNvPr>
          <p:cNvSpPr txBox="1">
            <a:spLocks/>
          </p:cNvSpPr>
          <p:nvPr/>
        </p:nvSpPr>
        <p:spPr>
          <a:xfrm>
            <a:off x="3644661" y="5359426"/>
            <a:ext cx="2398143" cy="780151"/>
          </a:xfrm>
          <a:prstGeom prst="rect">
            <a:avLst/>
          </a:prstGeom>
          <a:solidFill>
            <a:schemeClr val="bg1">
              <a:lumMod val="75000"/>
            </a:schemeClr>
          </a:solidFill>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dirty="0">
                <a:solidFill>
                  <a:schemeClr val="tx1"/>
                </a:solidFill>
                <a:latin typeface="Times New Roman" pitchFamily="18" charset="0"/>
                <a:cs typeface="Times New Roman" pitchFamily="18" charset="0"/>
              </a:rPr>
              <a:t>All are </a:t>
            </a:r>
            <a:r>
              <a:rPr lang="en-US" sz="1800" b="1" dirty="0">
                <a:solidFill>
                  <a:schemeClr val="tx1"/>
                </a:solidFill>
                <a:latin typeface="Times New Roman" pitchFamily="18" charset="0"/>
                <a:cs typeface="Times New Roman" pitchFamily="18" charset="0"/>
              </a:rPr>
              <a:t>yes</a:t>
            </a:r>
          </a:p>
          <a:p>
            <a:pPr algn="just"/>
            <a:r>
              <a:rPr lang="en-US" sz="1800" dirty="0">
                <a:solidFill>
                  <a:schemeClr val="tx1"/>
                </a:solidFill>
                <a:latin typeface="Times New Roman" pitchFamily="18" charset="0"/>
                <a:cs typeface="Times New Roman" pitchFamily="18" charset="0"/>
              </a:rPr>
              <a:t>So, no further split here</a:t>
            </a:r>
          </a:p>
        </p:txBody>
      </p:sp>
    </p:spTree>
    <p:extLst>
      <p:ext uri="{BB962C8B-B14F-4D97-AF65-F5344CB8AC3E}">
        <p14:creationId xmlns:p14="http://schemas.microsoft.com/office/powerpoint/2010/main" val="19374774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7CF93-A7AE-CC25-CAA5-B656CC829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372BD-09D7-39C9-9AF1-53192EFBA58C}"/>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286000"/>
            <a:ext cx="5781675" cy="383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3741664"/>
            <a:ext cx="2133599" cy="1348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9275" y="3200400"/>
            <a:ext cx="2190750" cy="1215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Subtitle 2">
            <a:extLst>
              <a:ext uri="{FF2B5EF4-FFF2-40B4-BE49-F238E27FC236}">
                <a16:creationId xmlns:a16="http://schemas.microsoft.com/office/drawing/2014/main" id="{C84F5B74-D5AC-443A-2D7F-155384100D7E}"/>
              </a:ext>
            </a:extLst>
          </p:cNvPr>
          <p:cNvSpPr txBox="1">
            <a:spLocks/>
          </p:cNvSpPr>
          <p:nvPr/>
        </p:nvSpPr>
        <p:spPr>
          <a:xfrm>
            <a:off x="3644660" y="5181600"/>
            <a:ext cx="2398143" cy="780151"/>
          </a:xfrm>
          <a:prstGeom prst="rect">
            <a:avLst/>
          </a:prstGeom>
          <a:solidFill>
            <a:schemeClr val="bg1">
              <a:lumMod val="75000"/>
            </a:schemeClr>
          </a:solidFill>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dirty="0">
                <a:solidFill>
                  <a:schemeClr val="tx1"/>
                </a:solidFill>
                <a:latin typeface="Times New Roman" pitchFamily="18" charset="0"/>
                <a:cs typeface="Times New Roman" pitchFamily="18" charset="0"/>
              </a:rPr>
              <a:t>All are </a:t>
            </a:r>
            <a:r>
              <a:rPr lang="en-US" sz="1800" b="1" dirty="0">
                <a:solidFill>
                  <a:schemeClr val="tx1"/>
                </a:solidFill>
                <a:latin typeface="Times New Roman" pitchFamily="18" charset="0"/>
                <a:cs typeface="Times New Roman" pitchFamily="18" charset="0"/>
              </a:rPr>
              <a:t>yes</a:t>
            </a:r>
          </a:p>
          <a:p>
            <a:pPr algn="just"/>
            <a:r>
              <a:rPr lang="en-US" sz="1800" dirty="0">
                <a:solidFill>
                  <a:schemeClr val="tx1"/>
                </a:solidFill>
                <a:latin typeface="Times New Roman" pitchFamily="18" charset="0"/>
                <a:cs typeface="Times New Roman" pitchFamily="18" charset="0"/>
              </a:rPr>
              <a:t>So, no further split here</a:t>
            </a:r>
          </a:p>
        </p:txBody>
      </p:sp>
      <p:sp>
        <p:nvSpPr>
          <p:cNvPr id="13" name="Subtitle 2">
            <a:extLst>
              <a:ext uri="{FF2B5EF4-FFF2-40B4-BE49-F238E27FC236}">
                <a16:creationId xmlns:a16="http://schemas.microsoft.com/office/drawing/2014/main" id="{C84F5B74-D5AC-443A-2D7F-155384100D7E}"/>
              </a:ext>
            </a:extLst>
          </p:cNvPr>
          <p:cNvSpPr>
            <a:spLocks noGrp="1"/>
          </p:cNvSpPr>
          <p:nvPr>
            <p:ph type="subTitle" idx="1"/>
          </p:nvPr>
        </p:nvSpPr>
        <p:spPr>
          <a:xfrm>
            <a:off x="685800" y="1371600"/>
            <a:ext cx="4114800" cy="533400"/>
          </a:xfrm>
        </p:spPr>
        <p:txBody>
          <a:bodyPr>
            <a:normAutofit/>
          </a:bodyPr>
          <a:lstStyle/>
          <a:p>
            <a:pPr algn="just"/>
            <a:r>
              <a:rPr lang="en-US" sz="1800" dirty="0">
                <a:solidFill>
                  <a:schemeClr val="tx1"/>
                </a:solidFill>
                <a:latin typeface="Times New Roman" pitchFamily="18" charset="0"/>
                <a:cs typeface="Times New Roman" pitchFamily="18" charset="0"/>
              </a:rPr>
              <a:t>No split is required at node </a:t>
            </a:r>
            <a:r>
              <a:rPr lang="en-US" sz="1800" b="1" dirty="0">
                <a:solidFill>
                  <a:schemeClr val="tx1"/>
                </a:solidFill>
                <a:latin typeface="Times New Roman" pitchFamily="18" charset="0"/>
                <a:cs typeface="Times New Roman" pitchFamily="18" charset="0"/>
              </a:rPr>
              <a:t>31..40</a:t>
            </a:r>
          </a:p>
          <a:p>
            <a:pPr algn="just"/>
            <a:endParaRPr lang="en-US" sz="18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5599677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7CF93-A7AE-CC25-CAA5-B656CC829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372BD-09D7-39C9-9AF1-53192EFBA58C}"/>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438400"/>
            <a:ext cx="7058025" cy="383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399" y="4038600"/>
            <a:ext cx="3158989"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94382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7CF93-A7AE-CC25-CAA5-B656CC829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372BD-09D7-39C9-9AF1-53192EFBA58C}"/>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p:sp>
        <p:nvSpPr>
          <p:cNvPr id="8" name="Subtitle 2">
            <a:extLst>
              <a:ext uri="{FF2B5EF4-FFF2-40B4-BE49-F238E27FC236}">
                <a16:creationId xmlns:a16="http://schemas.microsoft.com/office/drawing/2014/main" id="{C84F5B74-D5AC-443A-2D7F-155384100D7E}"/>
              </a:ext>
            </a:extLst>
          </p:cNvPr>
          <p:cNvSpPr txBox="1">
            <a:spLocks/>
          </p:cNvSpPr>
          <p:nvPr/>
        </p:nvSpPr>
        <p:spPr>
          <a:xfrm>
            <a:off x="685800" y="1371600"/>
            <a:ext cx="4114800" cy="533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just"/>
            <a:r>
              <a:rPr lang="en-US" sz="1800">
                <a:solidFill>
                  <a:schemeClr val="tx1"/>
                </a:solidFill>
                <a:latin typeface="Times New Roman" pitchFamily="18" charset="0"/>
                <a:cs typeface="Times New Roman" pitchFamily="18" charset="0"/>
              </a:rPr>
              <a:t>Next split is on </a:t>
            </a:r>
            <a:r>
              <a:rPr lang="en-US" sz="1800" b="1">
                <a:solidFill>
                  <a:schemeClr val="tx1"/>
                </a:solidFill>
                <a:latin typeface="Times New Roman" pitchFamily="18" charset="0"/>
                <a:cs typeface="Times New Roman" pitchFamily="18" charset="0"/>
              </a:rPr>
              <a:t>credit_rating </a:t>
            </a:r>
            <a:r>
              <a:rPr lang="en-US" sz="1800">
                <a:solidFill>
                  <a:schemeClr val="tx1"/>
                </a:solidFill>
                <a:latin typeface="Times New Roman" pitchFamily="18" charset="0"/>
                <a:cs typeface="Times New Roman" pitchFamily="18" charset="0"/>
              </a:rPr>
              <a:t>at node </a:t>
            </a:r>
            <a:r>
              <a:rPr lang="en-US" sz="1800" b="1">
                <a:solidFill>
                  <a:schemeClr val="tx1"/>
                </a:solidFill>
                <a:latin typeface="Times New Roman" pitchFamily="18" charset="0"/>
                <a:cs typeface="Times New Roman" pitchFamily="18" charset="0"/>
              </a:rPr>
              <a:t>&gt;40 </a:t>
            </a:r>
          </a:p>
          <a:p>
            <a:pPr algn="just"/>
            <a:endParaRPr lang="en-US" sz="1800" b="1" dirty="0">
              <a:solidFill>
                <a:schemeClr val="tx1"/>
              </a:solidFill>
              <a:latin typeface="Times New Roman" pitchFamily="18" charset="0"/>
              <a:cs typeface="Times New Roman" pitchFamily="18" charset="0"/>
            </a:endParaRPr>
          </a:p>
        </p:txBody>
      </p:sp>
      <p:pic>
        <p:nvPicPr>
          <p:cNvPr id="1946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828800"/>
            <a:ext cx="6057900" cy="355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4648200"/>
            <a:ext cx="2895599" cy="92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4529137"/>
            <a:ext cx="2600325"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40820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7CF93-A7AE-CC25-CAA5-B656CC829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372BD-09D7-39C9-9AF1-53192EFBA58C}"/>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752600"/>
            <a:ext cx="6238875" cy="353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595399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7CF93-A7AE-CC25-CAA5-B656CC829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372BD-09D7-39C9-9AF1-53192EFBA58C}"/>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2819400"/>
            <a:ext cx="6238875" cy="353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62000" y="1115221"/>
            <a:ext cx="7543800" cy="646331"/>
          </a:xfrm>
          <a:prstGeom prst="rect">
            <a:avLst/>
          </a:prstGeom>
        </p:spPr>
        <p:txBody>
          <a:bodyPr wrap="square">
            <a:spAutoFit/>
          </a:bodyPr>
          <a:lstStyle/>
          <a:p>
            <a:r>
              <a:rPr lang="en-US" b="1" dirty="0"/>
              <a:t>Classify a new instance</a:t>
            </a:r>
          </a:p>
          <a:p>
            <a:r>
              <a:rPr lang="en-US" dirty="0"/>
              <a:t>(</a:t>
            </a:r>
            <a:r>
              <a:rPr lang="en-US" b="1" dirty="0"/>
              <a:t>age</a:t>
            </a:r>
            <a:r>
              <a:rPr lang="en-US" dirty="0"/>
              <a:t>: &lt;=30, </a:t>
            </a:r>
            <a:r>
              <a:rPr lang="en-US" b="1" dirty="0"/>
              <a:t>income</a:t>
            </a:r>
            <a:r>
              <a:rPr lang="en-US" dirty="0"/>
              <a:t>: low, </a:t>
            </a:r>
            <a:r>
              <a:rPr lang="en-US" b="1" dirty="0"/>
              <a:t>student</a:t>
            </a:r>
            <a:r>
              <a:rPr lang="en-US" dirty="0"/>
              <a:t>: yes, </a:t>
            </a:r>
            <a:r>
              <a:rPr lang="en-US" b="1" dirty="0" err="1"/>
              <a:t>credit_rating</a:t>
            </a:r>
            <a:r>
              <a:rPr lang="en-US" dirty="0"/>
              <a:t>: fair) = </a:t>
            </a:r>
            <a:r>
              <a:rPr lang="en-US" dirty="0" err="1">
                <a:solidFill>
                  <a:srgbClr val="FF0000"/>
                </a:solidFill>
              </a:rPr>
              <a:t>buys_computer</a:t>
            </a:r>
            <a:r>
              <a:rPr lang="en-US" dirty="0">
                <a:solidFill>
                  <a:srgbClr val="FF0000"/>
                </a:solidFill>
              </a:rPr>
              <a:t>?</a:t>
            </a:r>
          </a:p>
        </p:txBody>
      </p:sp>
      <p:cxnSp>
        <p:nvCxnSpPr>
          <p:cNvPr id="5" name="Straight Arrow Connector 4"/>
          <p:cNvCxnSpPr/>
          <p:nvPr/>
        </p:nvCxnSpPr>
        <p:spPr>
          <a:xfrm>
            <a:off x="2286000" y="5105400"/>
            <a:ext cx="609600" cy="9144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7" name="Straight Arrow Connector 6"/>
          <p:cNvCxnSpPr/>
          <p:nvPr/>
        </p:nvCxnSpPr>
        <p:spPr>
          <a:xfrm flipH="1">
            <a:off x="2133600" y="2895600"/>
            <a:ext cx="1219200" cy="1295400"/>
          </a:xfrm>
          <a:prstGeom prst="straightConnector1">
            <a:avLst/>
          </a:prstGeom>
          <a:ln>
            <a:tailEnd type="arrow"/>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2466388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7CF93-A7AE-CC25-CAA5-B656CC829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372BD-09D7-39C9-9AF1-53192EFBA58C}"/>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676400"/>
            <a:ext cx="35052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2133600"/>
            <a:ext cx="5065321" cy="2845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762000" y="1115221"/>
            <a:ext cx="7543800" cy="369332"/>
          </a:xfrm>
          <a:prstGeom prst="rect">
            <a:avLst/>
          </a:prstGeom>
        </p:spPr>
        <p:txBody>
          <a:bodyPr wrap="square">
            <a:spAutoFit/>
          </a:bodyPr>
          <a:lstStyle/>
          <a:p>
            <a:r>
              <a:rPr lang="en-US" b="1" dirty="0"/>
              <a:t>Exercise</a:t>
            </a:r>
          </a:p>
        </p:txBody>
      </p:sp>
    </p:spTree>
    <p:extLst>
      <p:ext uri="{BB962C8B-B14F-4D97-AF65-F5344CB8AC3E}">
        <p14:creationId xmlns:p14="http://schemas.microsoft.com/office/powerpoint/2010/main" val="34080789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7CF93-A7AE-CC25-CAA5-B656CC829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372BD-09D7-39C9-9AF1-53192EFBA58C}"/>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p:sp>
        <p:nvSpPr>
          <p:cNvPr id="3" name="Rectangle 2"/>
          <p:cNvSpPr/>
          <p:nvPr/>
        </p:nvSpPr>
        <p:spPr>
          <a:xfrm>
            <a:off x="1295400" y="1581834"/>
            <a:ext cx="6096000" cy="923330"/>
          </a:xfrm>
          <a:prstGeom prst="rect">
            <a:avLst/>
          </a:prstGeom>
        </p:spPr>
        <p:txBody>
          <a:bodyPr wrap="square">
            <a:spAutoFit/>
          </a:bodyPr>
          <a:lstStyle/>
          <a:p>
            <a:pPr algn="ctr"/>
            <a:r>
              <a:rPr lang="en-US" b="1" dirty="0"/>
              <a:t>Code</a:t>
            </a:r>
          </a:p>
          <a:p>
            <a:r>
              <a:rPr lang="en-US" dirty="0"/>
              <a:t>https://colab.research.google.com/drive/1YsHFA55DZ5iQBNq7S11qoS-_WVYtxUYH?usp=sharing</a:t>
            </a:r>
          </a:p>
        </p:txBody>
      </p:sp>
    </p:spTree>
    <p:extLst>
      <p:ext uri="{BB962C8B-B14F-4D97-AF65-F5344CB8AC3E}">
        <p14:creationId xmlns:p14="http://schemas.microsoft.com/office/powerpoint/2010/main" val="1096663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C1C3D-3599-8613-3DC7-239C7E7BD7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D8D9B-3532-09DE-3201-EE78B3042A27}"/>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C40281CB-21B3-87AE-FB2E-76DEE75E7F56}"/>
                  </a:ext>
                </a:extLst>
              </p:cNvPr>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Computing Information-Gain for Continuous-Valued Attributes</a:t>
                </a:r>
              </a:p>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Let attribute </a:t>
                </a:r>
                <a:r>
                  <a:rPr lang="en-US" sz="1800" b="1" dirty="0">
                    <a:solidFill>
                      <a:schemeClr val="tx1"/>
                    </a:solidFill>
                    <a:latin typeface="Times New Roman" pitchFamily="18" charset="0"/>
                    <a:cs typeface="Times New Roman" pitchFamily="18" charset="0"/>
                  </a:rPr>
                  <a:t>A</a:t>
                </a:r>
                <a:r>
                  <a:rPr lang="en-US" sz="1800" dirty="0">
                    <a:solidFill>
                      <a:schemeClr val="tx1"/>
                    </a:solidFill>
                    <a:latin typeface="Times New Roman" pitchFamily="18" charset="0"/>
                    <a:cs typeface="Times New Roman" pitchFamily="18" charset="0"/>
                  </a:rPr>
                  <a:t> be a continuous-valued attribute</a:t>
                </a:r>
              </a:p>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Must determine the best split point for </a:t>
                </a:r>
                <a:r>
                  <a:rPr lang="en-US" sz="1800" b="1" dirty="0">
                    <a:solidFill>
                      <a:schemeClr val="tx1"/>
                    </a:solidFill>
                    <a:latin typeface="Times New Roman" pitchFamily="18" charset="0"/>
                    <a:cs typeface="Times New Roman" pitchFamily="18" charset="0"/>
                  </a:rPr>
                  <a:t>A</a:t>
                </a:r>
              </a:p>
              <a:p>
                <a:pPr marL="742950" lvl="1" indent="-285750" algn="just">
                  <a:buFont typeface="Arial" pitchFamily="34" charset="0"/>
                  <a:buChar char="•"/>
                </a:pPr>
                <a:r>
                  <a:rPr lang="en-US" sz="1800" dirty="0">
                    <a:solidFill>
                      <a:schemeClr val="tx1"/>
                    </a:solidFill>
                    <a:latin typeface="Times New Roman" pitchFamily="18" charset="0"/>
                    <a:cs typeface="Times New Roman" pitchFamily="18" charset="0"/>
                  </a:rPr>
                  <a:t>Sort the value A in increasing order</a:t>
                </a:r>
              </a:p>
              <a:p>
                <a:pPr marL="742950" lvl="1" indent="-285750" algn="just">
                  <a:buFont typeface="Arial" pitchFamily="34" charset="0"/>
                  <a:buChar char="•"/>
                </a:pPr>
                <a:r>
                  <a:rPr lang="en-US" sz="1800" dirty="0">
                    <a:solidFill>
                      <a:schemeClr val="tx1"/>
                    </a:solidFill>
                    <a:latin typeface="Times New Roman" pitchFamily="18" charset="0"/>
                    <a:cs typeface="Times New Roman" pitchFamily="18" charset="0"/>
                  </a:rPr>
                  <a:t>Typically, the midpoint between each pair of adjacent values is considered as a possible split point</a:t>
                </a:r>
              </a:p>
              <a:p>
                <a:pPr marL="1200150" lvl="2" indent="-285750" algn="just">
                  <a:buFont typeface="Arial" pitchFamily="34" charset="0"/>
                  <a:buChar char="•"/>
                </a:pPr>
                <a14:m>
                  <m:oMath xmlns:m="http://schemas.openxmlformats.org/officeDocument/2006/math">
                    <m:sSub>
                      <m:sSubPr>
                        <m:ctrlPr>
                          <a:rPr lang="en-US" sz="1800" b="1" i="1" smtClean="0">
                            <a:solidFill>
                              <a:schemeClr val="tx1"/>
                            </a:solidFill>
                            <a:latin typeface="Cambria Math" panose="02040503050406030204" pitchFamily="18" charset="0"/>
                            <a:cs typeface="Times New Roman" pitchFamily="18" charset="0"/>
                          </a:rPr>
                        </m:ctrlPr>
                      </m:sSubPr>
                      <m:e>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𝒂</m:t>
                        </m:r>
                      </m:e>
                      <m:sub>
                        <m:r>
                          <a:rPr lang="en-US" sz="1800" b="1" i="1" smtClean="0">
                            <a:solidFill>
                              <a:schemeClr val="tx1"/>
                            </a:solidFill>
                            <a:latin typeface="Cambria Math"/>
                            <a:cs typeface="Times New Roman" pitchFamily="18" charset="0"/>
                          </a:rPr>
                          <m:t>𝒊</m:t>
                        </m:r>
                      </m:sub>
                    </m:sSub>
                    <m:r>
                      <a:rPr lang="en-US" sz="1800" b="1" i="1" smtClean="0">
                        <a:solidFill>
                          <a:schemeClr val="tx1"/>
                        </a:solidFill>
                        <a:latin typeface="Cambria Math"/>
                        <a:cs typeface="Times New Roman" pitchFamily="18" charset="0"/>
                      </a:rPr>
                      <m:t>+</m:t>
                    </m:r>
                    <m:sSub>
                      <m:sSubPr>
                        <m:ctrlPr>
                          <a:rPr lang="en-US" sz="1800" b="1" i="1">
                            <a:solidFill>
                              <a:schemeClr val="tx1"/>
                            </a:solidFill>
                            <a:latin typeface="Cambria Math" panose="02040503050406030204" pitchFamily="18" charset="0"/>
                            <a:cs typeface="Times New Roman" pitchFamily="18" charset="0"/>
                          </a:rPr>
                        </m:ctrlPr>
                      </m:sSubPr>
                      <m:e>
                        <m:r>
                          <a:rPr lang="en-US" sz="1800" b="1" i="1">
                            <a:solidFill>
                              <a:schemeClr val="tx1"/>
                            </a:solidFill>
                            <a:latin typeface="Cambria Math"/>
                            <a:cs typeface="Times New Roman" pitchFamily="18" charset="0"/>
                          </a:rPr>
                          <m:t>𝒂</m:t>
                        </m:r>
                      </m:e>
                      <m:sub>
                        <m:r>
                          <a:rPr lang="en-US" sz="1800" b="1" i="1">
                            <a:solidFill>
                              <a:schemeClr val="tx1"/>
                            </a:solidFill>
                            <a:latin typeface="Cambria Math"/>
                            <a:cs typeface="Times New Roman" pitchFamily="18" charset="0"/>
                          </a:rPr>
                          <m:t>𝒊</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𝟏</m:t>
                        </m:r>
                      </m:sub>
                    </m:sSub>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𝟐</m:t>
                    </m:r>
                  </m:oMath>
                </a14:m>
                <a:r>
                  <a:rPr lang="en-US" sz="1800" b="1" dirty="0">
                    <a:solidFill>
                      <a:schemeClr val="tx1"/>
                    </a:solidFill>
                    <a:latin typeface="Times New Roman" pitchFamily="18" charset="0"/>
                    <a:cs typeface="Times New Roman" pitchFamily="18" charset="0"/>
                  </a:rPr>
                  <a:t> </a:t>
                </a:r>
                <a:r>
                  <a:rPr lang="en-US" sz="1800" dirty="0">
                    <a:solidFill>
                      <a:schemeClr val="tx1"/>
                    </a:solidFill>
                    <a:latin typeface="Times New Roman" pitchFamily="18" charset="0"/>
                    <a:cs typeface="Times New Roman" pitchFamily="18" charset="0"/>
                  </a:rPr>
                  <a:t>is the midpoint between the values of </a:t>
                </a:r>
                <a14:m>
                  <m:oMath xmlns:m="http://schemas.openxmlformats.org/officeDocument/2006/math">
                    <m:sSub>
                      <m:sSubPr>
                        <m:ctrlPr>
                          <a:rPr lang="en-US" sz="1800" b="1" i="1">
                            <a:solidFill>
                              <a:schemeClr val="tx1"/>
                            </a:solidFill>
                            <a:latin typeface="Cambria Math" panose="02040503050406030204" pitchFamily="18" charset="0"/>
                            <a:cs typeface="Times New Roman" pitchFamily="18" charset="0"/>
                          </a:rPr>
                        </m:ctrlPr>
                      </m:sSubPr>
                      <m:e>
                        <m:r>
                          <a:rPr lang="en-US" sz="1800" b="1" i="1">
                            <a:solidFill>
                              <a:schemeClr val="tx1"/>
                            </a:solidFill>
                            <a:latin typeface="Cambria Math"/>
                            <a:cs typeface="Times New Roman" pitchFamily="18" charset="0"/>
                          </a:rPr>
                          <m:t>𝒂</m:t>
                        </m:r>
                      </m:e>
                      <m:sub>
                        <m:r>
                          <a:rPr lang="en-US" sz="1800" b="1" i="1">
                            <a:solidFill>
                              <a:schemeClr val="tx1"/>
                            </a:solidFill>
                            <a:latin typeface="Cambria Math"/>
                            <a:cs typeface="Times New Roman" pitchFamily="18" charset="0"/>
                          </a:rPr>
                          <m:t>𝒊</m:t>
                        </m:r>
                      </m:sub>
                    </m:sSub>
                  </m:oMath>
                </a14:m>
                <a:r>
                  <a:rPr lang="en-US" sz="1800" b="1" dirty="0">
                    <a:solidFill>
                      <a:schemeClr val="tx1"/>
                    </a:solidFill>
                    <a:latin typeface="Times New Roman" pitchFamily="18" charset="0"/>
                    <a:cs typeface="Times New Roman" pitchFamily="18" charset="0"/>
                  </a:rPr>
                  <a:t> </a:t>
                </a:r>
                <a:r>
                  <a:rPr lang="en-US" sz="1800" dirty="0">
                    <a:solidFill>
                      <a:schemeClr val="tx1"/>
                    </a:solidFill>
                    <a:latin typeface="Times New Roman" pitchFamily="18" charset="0"/>
                    <a:cs typeface="Times New Roman" pitchFamily="18" charset="0"/>
                  </a:rPr>
                  <a:t>and </a:t>
                </a:r>
                <a14:m>
                  <m:oMath xmlns:m="http://schemas.openxmlformats.org/officeDocument/2006/math">
                    <m:sSub>
                      <m:sSubPr>
                        <m:ctrlPr>
                          <a:rPr lang="en-US" sz="1800" b="1" i="1">
                            <a:solidFill>
                              <a:schemeClr val="tx1"/>
                            </a:solidFill>
                            <a:latin typeface="Cambria Math" panose="02040503050406030204" pitchFamily="18" charset="0"/>
                            <a:cs typeface="Times New Roman" pitchFamily="18" charset="0"/>
                          </a:rPr>
                        </m:ctrlPr>
                      </m:sSubPr>
                      <m:e>
                        <m:r>
                          <a:rPr lang="en-US" sz="1800" b="1" i="1">
                            <a:solidFill>
                              <a:schemeClr val="tx1"/>
                            </a:solidFill>
                            <a:latin typeface="Cambria Math"/>
                            <a:cs typeface="Times New Roman" pitchFamily="18" charset="0"/>
                          </a:rPr>
                          <m:t>𝒂</m:t>
                        </m:r>
                      </m:e>
                      <m:sub>
                        <m:r>
                          <a:rPr lang="en-US" sz="1800" b="1" i="1">
                            <a:solidFill>
                              <a:schemeClr val="tx1"/>
                            </a:solidFill>
                            <a:latin typeface="Cambria Math"/>
                            <a:cs typeface="Times New Roman" pitchFamily="18" charset="0"/>
                          </a:rPr>
                          <m:t>𝒊</m:t>
                        </m:r>
                        <m:r>
                          <a:rPr lang="en-US" sz="1800" b="1" i="1">
                            <a:solidFill>
                              <a:schemeClr val="tx1"/>
                            </a:solidFill>
                            <a:latin typeface="Cambria Math"/>
                            <a:cs typeface="Times New Roman" pitchFamily="18" charset="0"/>
                          </a:rPr>
                          <m:t>+</m:t>
                        </m:r>
                        <m:r>
                          <a:rPr lang="en-US" sz="1800" b="1" i="1">
                            <a:solidFill>
                              <a:schemeClr val="tx1"/>
                            </a:solidFill>
                            <a:latin typeface="Cambria Math"/>
                            <a:cs typeface="Times New Roman" pitchFamily="18" charset="0"/>
                          </a:rPr>
                          <m:t>𝟏</m:t>
                        </m:r>
                      </m:sub>
                    </m:sSub>
                  </m:oMath>
                </a14:m>
                <a:endParaRPr lang="en-US" sz="1800" b="1" dirty="0">
                  <a:solidFill>
                    <a:schemeClr val="tx1"/>
                  </a:solidFill>
                  <a:latin typeface="Times New Roman" pitchFamily="18" charset="0"/>
                  <a:cs typeface="Times New Roman" pitchFamily="18" charset="0"/>
                </a:endParaRPr>
              </a:p>
              <a:p>
                <a:pPr marL="1200150" lvl="2" indent="-285750" algn="just">
                  <a:buFont typeface="Arial" pitchFamily="34" charset="0"/>
                  <a:buChar char="•"/>
                </a:pPr>
                <a:r>
                  <a:rPr lang="en-US" sz="1800" dirty="0">
                    <a:solidFill>
                      <a:schemeClr val="tx1"/>
                    </a:solidFill>
                    <a:latin typeface="Times New Roman" pitchFamily="18" charset="0"/>
                    <a:cs typeface="Times New Roman" pitchFamily="18" charset="0"/>
                  </a:rPr>
                  <a:t>The point with the minimum expected information requirement for </a:t>
                </a:r>
                <a:r>
                  <a:rPr lang="en-US" sz="1800" b="1" dirty="0">
                    <a:solidFill>
                      <a:schemeClr val="tx1"/>
                    </a:solidFill>
                    <a:latin typeface="Times New Roman" pitchFamily="18" charset="0"/>
                    <a:cs typeface="Times New Roman" pitchFamily="18" charset="0"/>
                  </a:rPr>
                  <a:t>A</a:t>
                </a:r>
                <a:r>
                  <a:rPr lang="en-US" sz="1800" dirty="0">
                    <a:solidFill>
                      <a:schemeClr val="tx1"/>
                    </a:solidFill>
                    <a:latin typeface="Times New Roman" pitchFamily="18" charset="0"/>
                    <a:cs typeface="Times New Roman" pitchFamily="18" charset="0"/>
                  </a:rPr>
                  <a:t> is selected as the split-point for </a:t>
                </a:r>
                <a:r>
                  <a:rPr lang="en-US" sz="1800" b="1" dirty="0">
                    <a:solidFill>
                      <a:schemeClr val="tx1"/>
                    </a:solidFill>
                    <a:latin typeface="Times New Roman" pitchFamily="18" charset="0"/>
                    <a:cs typeface="Times New Roman" pitchFamily="18" charset="0"/>
                  </a:rPr>
                  <a:t>A</a:t>
                </a:r>
              </a:p>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Split:</a:t>
                </a:r>
              </a:p>
              <a:p>
                <a:pPr marL="742950" lvl="1" indent="-285750" algn="just">
                  <a:buFont typeface="Arial" pitchFamily="34" charset="0"/>
                  <a:buChar char="•"/>
                </a:pPr>
                <a:r>
                  <a:rPr lang="en-US" sz="1800" b="1" dirty="0">
                    <a:solidFill>
                      <a:schemeClr val="tx1"/>
                    </a:solidFill>
                    <a:latin typeface="Times New Roman" pitchFamily="18" charset="0"/>
                    <a:cs typeface="Times New Roman" pitchFamily="18" charset="0"/>
                  </a:rPr>
                  <a:t>D1</a:t>
                </a:r>
                <a:r>
                  <a:rPr lang="en-US" sz="1800" dirty="0">
                    <a:solidFill>
                      <a:schemeClr val="tx1"/>
                    </a:solidFill>
                    <a:latin typeface="Times New Roman" pitchFamily="18" charset="0"/>
                    <a:cs typeface="Times New Roman" pitchFamily="18" charset="0"/>
                  </a:rPr>
                  <a:t> is the set of tuples in </a:t>
                </a:r>
                <a:r>
                  <a:rPr lang="en-US" sz="1800" b="1" dirty="0">
                    <a:solidFill>
                      <a:schemeClr val="tx1"/>
                    </a:solidFill>
                    <a:latin typeface="Times New Roman" pitchFamily="18" charset="0"/>
                    <a:cs typeface="Times New Roman" pitchFamily="18" charset="0"/>
                  </a:rPr>
                  <a:t>D</a:t>
                </a:r>
                <a:r>
                  <a:rPr lang="en-US" sz="1800" dirty="0">
                    <a:solidFill>
                      <a:schemeClr val="tx1"/>
                    </a:solidFill>
                    <a:latin typeface="Times New Roman" pitchFamily="18" charset="0"/>
                    <a:cs typeface="Times New Roman" pitchFamily="18" charset="0"/>
                  </a:rPr>
                  <a:t> satisfying </a:t>
                </a:r>
                <a:r>
                  <a:rPr lang="en-US" sz="1800" b="1" dirty="0">
                    <a:solidFill>
                      <a:schemeClr val="tx1"/>
                    </a:solidFill>
                    <a:latin typeface="Times New Roman" pitchFamily="18" charset="0"/>
                    <a:cs typeface="Times New Roman" pitchFamily="18" charset="0"/>
                  </a:rPr>
                  <a:t>A ≤ split-point</a:t>
                </a:r>
                <a:r>
                  <a:rPr lang="en-US" sz="1800" dirty="0">
                    <a:solidFill>
                      <a:schemeClr val="tx1"/>
                    </a:solidFill>
                    <a:latin typeface="Times New Roman" pitchFamily="18" charset="0"/>
                    <a:cs typeface="Times New Roman" pitchFamily="18" charset="0"/>
                  </a:rPr>
                  <a:t>, and </a:t>
                </a:r>
                <a:r>
                  <a:rPr lang="en-US" sz="1800" b="1" dirty="0">
                    <a:solidFill>
                      <a:schemeClr val="tx1"/>
                    </a:solidFill>
                    <a:latin typeface="Times New Roman" pitchFamily="18" charset="0"/>
                    <a:cs typeface="Times New Roman" pitchFamily="18" charset="0"/>
                  </a:rPr>
                  <a:t>D2</a:t>
                </a:r>
                <a:r>
                  <a:rPr lang="en-US" sz="1800" dirty="0">
                    <a:solidFill>
                      <a:schemeClr val="tx1"/>
                    </a:solidFill>
                    <a:latin typeface="Times New Roman" pitchFamily="18" charset="0"/>
                    <a:cs typeface="Times New Roman" pitchFamily="18" charset="0"/>
                  </a:rPr>
                  <a:t> is the set of tuples in </a:t>
                </a:r>
                <a:r>
                  <a:rPr lang="en-US" sz="1800" b="1" dirty="0">
                    <a:solidFill>
                      <a:schemeClr val="tx1"/>
                    </a:solidFill>
                    <a:latin typeface="Times New Roman" pitchFamily="18" charset="0"/>
                    <a:cs typeface="Times New Roman" pitchFamily="18" charset="0"/>
                  </a:rPr>
                  <a:t>D</a:t>
                </a:r>
                <a:r>
                  <a:rPr lang="en-US" sz="1800" dirty="0">
                    <a:solidFill>
                      <a:schemeClr val="tx1"/>
                    </a:solidFill>
                    <a:latin typeface="Times New Roman" pitchFamily="18" charset="0"/>
                    <a:cs typeface="Times New Roman" pitchFamily="18" charset="0"/>
                  </a:rPr>
                  <a:t> satisfying </a:t>
                </a:r>
                <a:r>
                  <a:rPr lang="en-US" sz="1800" b="1" dirty="0">
                    <a:solidFill>
                      <a:schemeClr val="tx1"/>
                    </a:solidFill>
                    <a:latin typeface="Times New Roman" pitchFamily="18" charset="0"/>
                    <a:cs typeface="Times New Roman" pitchFamily="18" charset="0"/>
                  </a:rPr>
                  <a:t>A &gt; split-point</a:t>
                </a:r>
              </a:p>
              <a:p>
                <a:pPr algn="just"/>
                <a:endParaRPr lang="en-US" sz="1800" dirty="0">
                  <a:solidFill>
                    <a:schemeClr val="tx1"/>
                  </a:solidFill>
                  <a:latin typeface="Times New Roman" pitchFamily="18" charset="0"/>
                  <a:cs typeface="Times New Roman" pitchFamily="18" charset="0"/>
                </a:endParaRPr>
              </a:p>
            </p:txBody>
          </p:sp>
        </mc:Choice>
        <mc:Fallback xmlns="">
          <p:sp>
            <p:nvSpPr>
              <p:cNvPr id="3" name="Subtitle 2">
                <a:extLst>
                  <a:ext uri="{FF2B5EF4-FFF2-40B4-BE49-F238E27FC236}">
                    <a16:creationId xmlns:a16="http://schemas.microsoft.com/office/drawing/2014/main" xmlns="" id="{C40281CB-21B3-87AE-FB2E-76DEE75E7F56}"/>
                  </a:ext>
                </a:extLst>
              </p:cNvPr>
              <p:cNvSpPr>
                <a:spLocks noGrp="1" noRot="1" noChangeAspect="1" noMove="1" noResize="1" noEditPoints="1" noAdjustHandles="1" noChangeArrowheads="1" noChangeShapeType="1" noTextEdit="1"/>
              </p:cNvSpPr>
              <p:nvPr>
                <p:ph type="subTitle" idx="1"/>
              </p:nvPr>
            </p:nvSpPr>
            <p:spPr>
              <a:xfrm>
                <a:off x="685800" y="1371600"/>
                <a:ext cx="7467600" cy="4343400"/>
              </a:xfrm>
              <a:blipFill rotWithShape="1">
                <a:blip r:embed="rId2"/>
                <a:stretch>
                  <a:fillRect l="-735" t="-701" r="-653"/>
                </a:stretch>
              </a:blipFill>
            </p:spPr>
            <p:txBody>
              <a:bodyPr/>
              <a:lstStyle/>
              <a:p>
                <a:r>
                  <a:rPr lang="en-US">
                    <a:noFill/>
                  </a:rPr>
                  <a:t> </a:t>
                </a:r>
              </a:p>
            </p:txBody>
          </p:sp>
        </mc:Fallback>
      </mc:AlternateContent>
    </p:spTree>
    <p:extLst>
      <p:ext uri="{BB962C8B-B14F-4D97-AF65-F5344CB8AC3E}">
        <p14:creationId xmlns:p14="http://schemas.microsoft.com/office/powerpoint/2010/main" val="35332894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C1C3D-3599-8613-3DC7-239C7E7BD7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D8D9B-3532-09DE-3201-EE78B3042A27}"/>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p:sp>
        <p:nvSpPr>
          <p:cNvPr id="3" name="Subtitle 2">
            <a:extLst>
              <a:ext uri="{FF2B5EF4-FFF2-40B4-BE49-F238E27FC236}">
                <a16:creationId xmlns:a16="http://schemas.microsoft.com/office/drawing/2014/main" id="{C40281CB-21B3-87AE-FB2E-76DEE75E7F56}"/>
              </a:ext>
            </a:extLst>
          </p:cNvPr>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Gain Ratio for Attribute Selection (C4.5)</a:t>
            </a:r>
          </a:p>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Information gain measure is biased towards attributes with many values</a:t>
            </a:r>
          </a:p>
          <a:p>
            <a:pPr marL="285750" indent="-285750" algn="just">
              <a:buFont typeface="Arial" pitchFamily="34" charset="0"/>
              <a:buChar char="•"/>
            </a:pPr>
            <a:r>
              <a:rPr lang="en-US" sz="1800" b="1" dirty="0">
                <a:solidFill>
                  <a:schemeClr val="tx1"/>
                </a:solidFill>
                <a:latin typeface="Times New Roman" pitchFamily="18" charset="0"/>
                <a:cs typeface="Times New Roman" pitchFamily="18" charset="0"/>
              </a:rPr>
              <a:t>C4.5</a:t>
            </a:r>
            <a:r>
              <a:rPr lang="en-US" sz="1800" dirty="0">
                <a:solidFill>
                  <a:schemeClr val="tx1"/>
                </a:solidFill>
                <a:latin typeface="Times New Roman" pitchFamily="18" charset="0"/>
                <a:cs typeface="Times New Roman" pitchFamily="18" charset="0"/>
              </a:rPr>
              <a:t> (a successor of ID3) uses gain ratio to overcome the problem (normalization to information gain)</a:t>
            </a:r>
          </a:p>
          <a:p>
            <a:pPr marL="742950" lvl="1" indent="-285750" algn="just">
              <a:buFont typeface="Arial" pitchFamily="34" charset="0"/>
              <a:buChar char="•"/>
            </a:pPr>
            <a:r>
              <a:rPr lang="en-US" sz="1800" dirty="0" err="1">
                <a:solidFill>
                  <a:schemeClr val="tx1"/>
                </a:solidFill>
                <a:latin typeface="Times New Roman" pitchFamily="18" charset="0"/>
                <a:cs typeface="Times New Roman" pitchFamily="18" charset="0"/>
              </a:rPr>
              <a:t>GainRatio</a:t>
            </a:r>
            <a:r>
              <a:rPr lang="en-US" sz="1800" dirty="0">
                <a:solidFill>
                  <a:schemeClr val="tx1"/>
                </a:solidFill>
                <a:latin typeface="Times New Roman" pitchFamily="18" charset="0"/>
                <a:cs typeface="Times New Roman" pitchFamily="18" charset="0"/>
              </a:rPr>
              <a:t>(A) = Gain(A)/</a:t>
            </a:r>
            <a:r>
              <a:rPr lang="en-US" sz="1800" dirty="0" err="1">
                <a:solidFill>
                  <a:schemeClr val="tx1"/>
                </a:solidFill>
                <a:latin typeface="Times New Roman" pitchFamily="18" charset="0"/>
                <a:cs typeface="Times New Roman" pitchFamily="18" charset="0"/>
              </a:rPr>
              <a:t>SplitInfo</a:t>
            </a:r>
            <a:r>
              <a:rPr lang="en-US" sz="1800" dirty="0">
                <a:solidFill>
                  <a:schemeClr val="tx1"/>
                </a:solidFill>
                <a:latin typeface="Times New Roman" pitchFamily="18" charset="0"/>
                <a:cs typeface="Times New Roman" pitchFamily="18" charset="0"/>
              </a:rPr>
              <a:t>(A)</a:t>
            </a:r>
          </a:p>
          <a:p>
            <a:pPr marL="742950" lvl="1" indent="-285750" algn="just">
              <a:buFont typeface="Arial" pitchFamily="34" charset="0"/>
              <a:buChar char="•"/>
            </a:pPr>
            <a:endParaRPr lang="en-US" sz="1800" dirty="0">
              <a:solidFill>
                <a:schemeClr val="tx1"/>
              </a:solidFill>
              <a:latin typeface="Times New Roman" pitchFamily="18" charset="0"/>
              <a:cs typeface="Times New Roman" pitchFamily="18" charset="0"/>
            </a:endParaRPr>
          </a:p>
          <a:p>
            <a:pPr marL="742950" lvl="1" indent="-285750" algn="just">
              <a:buFont typeface="Arial" pitchFamily="34" charset="0"/>
              <a:buChar char="•"/>
            </a:pPr>
            <a:endParaRPr lang="en-US" sz="1800" dirty="0">
              <a:solidFill>
                <a:schemeClr val="tx1"/>
              </a:solidFill>
              <a:latin typeface="Times New Roman" pitchFamily="18" charset="0"/>
              <a:cs typeface="Times New Roman" pitchFamily="18" charset="0"/>
            </a:endParaRPr>
          </a:p>
          <a:p>
            <a:pPr marL="742950" lvl="1" indent="-285750" algn="just">
              <a:buFont typeface="Arial" pitchFamily="34" charset="0"/>
              <a:buChar char="•"/>
            </a:pPr>
            <a:endParaRPr lang="en-US" sz="1800" dirty="0">
              <a:solidFill>
                <a:schemeClr val="tx1"/>
              </a:solidFill>
              <a:latin typeface="Times New Roman" pitchFamily="18" charset="0"/>
              <a:cs typeface="Times New Roman" pitchFamily="18" charset="0"/>
            </a:endParaRPr>
          </a:p>
          <a:p>
            <a:pPr marL="742950" lvl="1" indent="-285750" algn="just">
              <a:buFont typeface="Arial" pitchFamily="34" charset="0"/>
              <a:buChar char="•"/>
            </a:pPr>
            <a:endParaRPr lang="en-US" sz="1800" dirty="0">
              <a:solidFill>
                <a:schemeClr val="tx1"/>
              </a:solidFill>
              <a:latin typeface="Times New Roman" pitchFamily="18" charset="0"/>
              <a:cs typeface="Times New Roman" pitchFamily="18" charset="0"/>
            </a:endParaRPr>
          </a:p>
          <a:p>
            <a:pPr marL="742950" lvl="1" indent="-285750" algn="just">
              <a:buFont typeface="Arial" pitchFamily="34" charset="0"/>
              <a:buChar char="•"/>
            </a:pPr>
            <a:endParaRPr lang="en-US" sz="1800" dirty="0">
              <a:solidFill>
                <a:schemeClr val="tx1"/>
              </a:solidFill>
              <a:latin typeface="Times New Roman" pitchFamily="18" charset="0"/>
              <a:cs typeface="Times New Roman" pitchFamily="18" charset="0"/>
            </a:endParaRPr>
          </a:p>
          <a:p>
            <a:pPr marL="742950" lvl="1" indent="-285750" algn="just">
              <a:buFont typeface="Arial" pitchFamily="34" charset="0"/>
              <a:buChar char="•"/>
            </a:pPr>
            <a:r>
              <a:rPr lang="en-US" sz="1800" dirty="0" err="1">
                <a:solidFill>
                  <a:schemeClr val="tx1"/>
                </a:solidFill>
                <a:latin typeface="Times New Roman" pitchFamily="18" charset="0"/>
                <a:cs typeface="Times New Roman" pitchFamily="18" charset="0"/>
              </a:rPr>
              <a:t>gain_ratio</a:t>
            </a:r>
            <a:r>
              <a:rPr lang="en-US" sz="1800" dirty="0">
                <a:solidFill>
                  <a:schemeClr val="tx1"/>
                </a:solidFill>
                <a:latin typeface="Times New Roman" pitchFamily="18" charset="0"/>
                <a:cs typeface="Times New Roman" pitchFamily="18" charset="0"/>
              </a:rPr>
              <a:t>(income) = 0.029/1.557 = 0.019</a:t>
            </a:r>
          </a:p>
          <a:p>
            <a:pPr marL="742950" lvl="1" indent="-285750" algn="just">
              <a:buFont typeface="Arial" pitchFamily="34" charset="0"/>
              <a:buChar char="•"/>
            </a:pPr>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p:txBody>
      </p:sp>
      <p:graphicFrame>
        <p:nvGraphicFramePr>
          <p:cNvPr id="4" name="Object 3"/>
          <p:cNvGraphicFramePr>
            <a:graphicFrameLocks/>
          </p:cNvGraphicFramePr>
          <p:nvPr>
            <p:extLst>
              <p:ext uri="{D42A27DB-BD31-4B8C-83A1-F6EECF244321}">
                <p14:modId xmlns:p14="http://schemas.microsoft.com/office/powerpoint/2010/main" val="1265866478"/>
              </p:ext>
            </p:extLst>
          </p:nvPr>
        </p:nvGraphicFramePr>
        <p:xfrm>
          <a:off x="5638800" y="2438400"/>
          <a:ext cx="3432175" cy="2667000"/>
        </p:xfrm>
        <a:graphic>
          <a:graphicData uri="http://schemas.openxmlformats.org/presentationml/2006/ole">
            <mc:AlternateContent xmlns:mc="http://schemas.openxmlformats.org/markup-compatibility/2006">
              <mc:Choice xmlns:v="urn:schemas-microsoft-com:vml" Requires="v">
                <p:oleObj name="Worksheet" r:id="rId2" imgW="6115431" imgH="4458208" progId="Excel.Sheet.8">
                  <p:embed/>
                </p:oleObj>
              </mc:Choice>
              <mc:Fallback>
                <p:oleObj name="Worksheet" r:id="rId2" imgW="6115431" imgH="4458208" progId="Excel.Sheet.8">
                  <p:embed/>
                  <p:pic>
                    <p:nvPicPr>
                      <p:cNvPr id="0" name="Object 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2438400"/>
                        <a:ext cx="3432175" cy="2667000"/>
                      </a:xfrm>
                      <a:prstGeom prst="rect">
                        <a:avLst/>
                      </a:prstGeom>
                      <a:noFill/>
                      <a:ln>
                        <a:noFill/>
                      </a:ln>
                      <a:effectLst/>
                    </p:spPr>
                  </p:pic>
                </p:oleObj>
              </mc:Fallback>
            </mc:AlternateContent>
          </a:graphicData>
        </a:graphic>
      </p:graphicFrame>
      <p:pic>
        <p:nvPicPr>
          <p:cNvPr id="5" name="Picture 10" descr="8splitinf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3848100"/>
            <a:ext cx="525462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Object 5"/>
          <p:cNvGraphicFramePr>
            <a:graphicFrameLocks noChangeAspect="1"/>
          </p:cNvGraphicFramePr>
          <p:nvPr>
            <p:extLst>
              <p:ext uri="{D42A27DB-BD31-4B8C-83A1-F6EECF244321}">
                <p14:modId xmlns:p14="http://schemas.microsoft.com/office/powerpoint/2010/main" val="1159144019"/>
              </p:ext>
            </p:extLst>
          </p:nvPr>
        </p:nvGraphicFramePr>
        <p:xfrm>
          <a:off x="609600" y="2973118"/>
          <a:ext cx="4343400" cy="831850"/>
        </p:xfrm>
        <a:graphic>
          <a:graphicData uri="http://schemas.openxmlformats.org/presentationml/2006/ole">
            <mc:AlternateContent xmlns:mc="http://schemas.openxmlformats.org/markup-compatibility/2006">
              <mc:Choice xmlns:v="urn:schemas-microsoft-com:vml" Requires="v">
                <p:oleObj name="Equation" r:id="rId5" imgW="2387600" imgH="457200" progId="Equation.3">
                  <p:embed/>
                </p:oleObj>
              </mc:Choice>
              <mc:Fallback>
                <p:oleObj name="Equation" r:id="rId5" imgW="2387600" imgH="457200" progId="Equation.3">
                  <p:embed/>
                  <p:pic>
                    <p:nvPicPr>
                      <p:cNvPr id="0" name="Object 20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2973118"/>
                        <a:ext cx="4343400" cy="831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325927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C1C3D-3599-8613-3DC7-239C7E7BD7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D8D9B-3532-09DE-3201-EE78B3042A27}"/>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p:sp>
        <p:nvSpPr>
          <p:cNvPr id="3" name="Subtitle 2">
            <a:extLst>
              <a:ext uri="{FF2B5EF4-FFF2-40B4-BE49-F238E27FC236}">
                <a16:creationId xmlns:a16="http://schemas.microsoft.com/office/drawing/2014/main" id="{C40281CB-21B3-87AE-FB2E-76DEE75E7F56}"/>
              </a:ext>
            </a:extLst>
          </p:cNvPr>
          <p:cNvSpPr>
            <a:spLocks noGrp="1"/>
          </p:cNvSpPr>
          <p:nvPr>
            <p:ph type="subTitle" idx="1"/>
          </p:nvPr>
        </p:nvSpPr>
        <p:spPr>
          <a:xfrm>
            <a:off x="685800" y="1371600"/>
            <a:ext cx="7467600" cy="4343400"/>
          </a:xfrm>
        </p:spPr>
        <p:txBody>
          <a:bodyPr>
            <a:normAutofit/>
          </a:bodyPr>
          <a:lstStyle/>
          <a:p>
            <a:pPr algn="just"/>
            <a:r>
              <a:rPr lang="en-US" sz="1800" b="1" dirty="0" err="1">
                <a:solidFill>
                  <a:schemeClr val="tx1"/>
                </a:solidFill>
                <a:latin typeface="Times New Roman" pitchFamily="18" charset="0"/>
                <a:cs typeface="Times New Roman" pitchFamily="18" charset="0"/>
              </a:rPr>
              <a:t>Gini</a:t>
            </a:r>
            <a:r>
              <a:rPr lang="en-US" sz="1800" b="1" dirty="0">
                <a:solidFill>
                  <a:schemeClr val="tx1"/>
                </a:solidFill>
                <a:latin typeface="Times New Roman" pitchFamily="18" charset="0"/>
                <a:cs typeface="Times New Roman" pitchFamily="18" charset="0"/>
              </a:rPr>
              <a:t> Index (CART-Classification and Regression Trees)</a:t>
            </a:r>
          </a:p>
          <a:p>
            <a:pPr algn="just"/>
            <a:r>
              <a:rPr lang="en-US" sz="1800" b="1" dirty="0">
                <a:solidFill>
                  <a:schemeClr val="tx1"/>
                </a:solidFill>
                <a:latin typeface="Times New Roman" pitchFamily="18" charset="0"/>
                <a:cs typeface="Times New Roman" pitchFamily="18" charset="0"/>
              </a:rPr>
              <a:t>Information Gain </a:t>
            </a:r>
            <a:r>
              <a:rPr lang="en-US" sz="1800" dirty="0">
                <a:solidFill>
                  <a:schemeClr val="tx1"/>
                </a:solidFill>
                <a:latin typeface="Times New Roman" pitchFamily="18" charset="0"/>
                <a:cs typeface="Times New Roman" pitchFamily="18" charset="0"/>
              </a:rPr>
              <a:t>and Gain Ratio can sometimes exhibit a bias toward features with many unique values. For example, if a feature has many unique categories, Information Gain might prefer it because it creates more distinct subsets.</a:t>
            </a:r>
          </a:p>
          <a:p>
            <a:pPr algn="just"/>
            <a:r>
              <a:rPr lang="en-US" sz="1800" dirty="0">
                <a:solidFill>
                  <a:schemeClr val="tx1"/>
                </a:solidFill>
                <a:latin typeface="Times New Roman" pitchFamily="18" charset="0"/>
                <a:cs typeface="Times New Roman" pitchFamily="18" charset="0"/>
              </a:rPr>
              <a:t>To address this, </a:t>
            </a:r>
            <a:r>
              <a:rPr lang="en-US" sz="1800" b="1" dirty="0">
                <a:solidFill>
                  <a:schemeClr val="tx1"/>
                </a:solidFill>
                <a:latin typeface="Times New Roman" pitchFamily="18" charset="0"/>
                <a:cs typeface="Times New Roman" pitchFamily="18" charset="0"/>
              </a:rPr>
              <a:t>Gain Ratio </a:t>
            </a:r>
            <a:r>
              <a:rPr lang="en-US" sz="1800" dirty="0">
                <a:solidFill>
                  <a:schemeClr val="tx1"/>
                </a:solidFill>
                <a:latin typeface="Times New Roman" pitchFamily="18" charset="0"/>
                <a:cs typeface="Times New Roman" pitchFamily="18" charset="0"/>
              </a:rPr>
              <a:t>(an adaptation of Information Gain) is used in algorithms like C4.5 to counter this bias, but this additional step adds complexity.</a:t>
            </a:r>
          </a:p>
          <a:p>
            <a:pPr algn="just"/>
            <a:r>
              <a:rPr lang="en-US" sz="1800" b="1" dirty="0" err="1">
                <a:solidFill>
                  <a:schemeClr val="tx1"/>
                </a:solidFill>
                <a:latin typeface="Times New Roman" pitchFamily="18" charset="0"/>
                <a:cs typeface="Times New Roman" pitchFamily="18" charset="0"/>
              </a:rPr>
              <a:t>Gini</a:t>
            </a:r>
            <a:r>
              <a:rPr lang="en-US" sz="1800" b="1" dirty="0">
                <a:solidFill>
                  <a:schemeClr val="tx1"/>
                </a:solidFill>
                <a:latin typeface="Times New Roman" pitchFamily="18" charset="0"/>
                <a:cs typeface="Times New Roman" pitchFamily="18" charset="0"/>
              </a:rPr>
              <a:t> Index</a:t>
            </a:r>
            <a:r>
              <a:rPr lang="en-US" sz="1800" dirty="0">
                <a:solidFill>
                  <a:schemeClr val="tx1"/>
                </a:solidFill>
                <a:latin typeface="Times New Roman" pitchFamily="18" charset="0"/>
                <a:cs typeface="Times New Roman" pitchFamily="18" charset="0"/>
              </a:rPr>
              <a:t>, on the other hand, is less sensitive to the number of categories in a feature, reducing the need for an additional adjustment like Gain Ratio.</a:t>
            </a:r>
          </a:p>
          <a:p>
            <a:pPr algn="just"/>
            <a:endParaRPr lang="en-US" sz="1800" dirty="0">
              <a:solidFill>
                <a:schemeClr val="tx1"/>
              </a:solidFill>
              <a:latin typeface="Times New Roman" pitchFamily="18" charset="0"/>
              <a:cs typeface="Times New Roman" pitchFamily="18" charset="0"/>
            </a:endParaRPr>
          </a:p>
        </p:txBody>
      </p:sp>
      <p:pic>
        <p:nvPicPr>
          <p:cNvPr id="2150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4419600"/>
            <a:ext cx="6057900" cy="1133475"/>
          </a:xfrm>
          <a:prstGeom prst="rect">
            <a:avLst/>
          </a:prstGeom>
          <a:noFill/>
          <a:ln w="9525">
            <a:solidFill>
              <a:srgbClr val="007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5491" y="5657714"/>
            <a:ext cx="4724400" cy="1162500"/>
          </a:xfrm>
          <a:prstGeom prst="rect">
            <a:avLst/>
          </a:prstGeom>
          <a:noFill/>
          <a:ln w="9525">
            <a:solidFill>
              <a:srgbClr val="007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45299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C1C3D-3599-8613-3DC7-239C7E7BD7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D8D9B-3532-09DE-3201-EE78B3042A27}"/>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p:sp>
        <p:nvSpPr>
          <p:cNvPr id="3" name="Subtitle 2">
            <a:extLst>
              <a:ext uri="{FF2B5EF4-FFF2-40B4-BE49-F238E27FC236}">
                <a16:creationId xmlns:a16="http://schemas.microsoft.com/office/drawing/2014/main" id="{C40281CB-21B3-87AE-FB2E-76DEE75E7F56}"/>
              </a:ext>
            </a:extLst>
          </p:cNvPr>
          <p:cNvSpPr>
            <a:spLocks noGrp="1"/>
          </p:cNvSpPr>
          <p:nvPr>
            <p:ph type="subTitle" idx="1"/>
          </p:nvPr>
        </p:nvSpPr>
        <p:spPr>
          <a:xfrm>
            <a:off x="685800" y="1371600"/>
            <a:ext cx="7467600" cy="4343400"/>
          </a:xfrm>
        </p:spPr>
        <p:txBody>
          <a:bodyPr>
            <a:normAutofit/>
          </a:bodyPr>
          <a:lstStyle/>
          <a:p>
            <a:pPr algn="just"/>
            <a:r>
              <a:rPr lang="en-US" sz="1800" b="1" dirty="0" err="1">
                <a:solidFill>
                  <a:schemeClr val="tx1"/>
                </a:solidFill>
                <a:latin typeface="Times New Roman" pitchFamily="18" charset="0"/>
                <a:cs typeface="Times New Roman" pitchFamily="18" charset="0"/>
              </a:rPr>
              <a:t>Overfitting</a:t>
            </a:r>
            <a:r>
              <a:rPr lang="en-US" sz="1800" b="1" dirty="0">
                <a:solidFill>
                  <a:schemeClr val="tx1"/>
                </a:solidFill>
                <a:latin typeface="Times New Roman" pitchFamily="18" charset="0"/>
                <a:cs typeface="Times New Roman" pitchFamily="18" charset="0"/>
              </a:rPr>
              <a:t> in Decision Trees</a:t>
            </a:r>
          </a:p>
          <a:p>
            <a:pPr marL="285750" indent="-285750" algn="just">
              <a:buFont typeface="Arial" pitchFamily="34" charset="0"/>
              <a:buChar char="•"/>
            </a:pPr>
            <a:r>
              <a:rPr lang="en-US" sz="1800" dirty="0" err="1">
                <a:solidFill>
                  <a:schemeClr val="tx1"/>
                </a:solidFill>
                <a:latin typeface="Times New Roman" pitchFamily="18" charset="0"/>
                <a:cs typeface="Times New Roman" pitchFamily="18" charset="0"/>
              </a:rPr>
              <a:t>Overfitting</a:t>
            </a:r>
            <a:r>
              <a:rPr lang="en-US" sz="1800" dirty="0">
                <a:solidFill>
                  <a:schemeClr val="tx1"/>
                </a:solidFill>
                <a:latin typeface="Times New Roman" pitchFamily="18" charset="0"/>
                <a:cs typeface="Times New Roman" pitchFamily="18" charset="0"/>
              </a:rPr>
              <a:t> happens when a Decision Tree model becomes too complex, fitting too closely to the noise and specific details of the training data, resulting in poor generalization to new data.</a:t>
            </a:r>
          </a:p>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Signs of </a:t>
            </a:r>
            <a:r>
              <a:rPr lang="en-US" sz="1800" dirty="0" err="1">
                <a:solidFill>
                  <a:schemeClr val="tx1"/>
                </a:solidFill>
                <a:latin typeface="Times New Roman" pitchFamily="18" charset="0"/>
                <a:cs typeface="Times New Roman" pitchFamily="18" charset="0"/>
              </a:rPr>
              <a:t>Overfitting</a:t>
            </a:r>
            <a:r>
              <a:rPr lang="en-US" sz="1800" dirty="0">
                <a:solidFill>
                  <a:schemeClr val="tx1"/>
                </a:solidFill>
                <a:latin typeface="Times New Roman" pitchFamily="18" charset="0"/>
                <a:cs typeface="Times New Roman" pitchFamily="18" charset="0"/>
              </a:rPr>
              <a:t>: A decision tree that </a:t>
            </a:r>
            <a:r>
              <a:rPr lang="en-US" sz="1800" dirty="0" err="1">
                <a:solidFill>
                  <a:schemeClr val="tx1"/>
                </a:solidFill>
                <a:latin typeface="Times New Roman" pitchFamily="18" charset="0"/>
                <a:cs typeface="Times New Roman" pitchFamily="18" charset="0"/>
              </a:rPr>
              <a:t>overfits</a:t>
            </a:r>
            <a:r>
              <a:rPr lang="en-US" sz="1800" dirty="0">
                <a:solidFill>
                  <a:schemeClr val="tx1"/>
                </a:solidFill>
                <a:latin typeface="Times New Roman" pitchFamily="18" charset="0"/>
                <a:cs typeface="Times New Roman" pitchFamily="18" charset="0"/>
              </a:rPr>
              <a:t> will often have a </a:t>
            </a:r>
            <a:r>
              <a:rPr lang="en-US" sz="1800" b="1" dirty="0">
                <a:solidFill>
                  <a:schemeClr val="tx1"/>
                </a:solidFill>
                <a:latin typeface="Times New Roman" pitchFamily="18" charset="0"/>
                <a:cs typeface="Times New Roman" pitchFamily="18" charset="0"/>
              </a:rPr>
              <a:t>high accuracy on the training set but performs poorly on the test set</a:t>
            </a:r>
            <a:r>
              <a:rPr lang="en-US" sz="1800" dirty="0">
                <a:solidFill>
                  <a:schemeClr val="tx1"/>
                </a:solidFill>
                <a:latin typeface="Times New Roman" pitchFamily="18" charset="0"/>
                <a:cs typeface="Times New Roman" pitchFamily="18" charset="0"/>
              </a:rPr>
              <a:t>.</a:t>
            </a:r>
          </a:p>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Causes of </a:t>
            </a:r>
            <a:r>
              <a:rPr lang="en-US" sz="1800" dirty="0" err="1">
                <a:solidFill>
                  <a:schemeClr val="tx1"/>
                </a:solidFill>
                <a:latin typeface="Times New Roman" pitchFamily="18" charset="0"/>
                <a:cs typeface="Times New Roman" pitchFamily="18" charset="0"/>
              </a:rPr>
              <a:t>Overfitting</a:t>
            </a:r>
            <a:r>
              <a:rPr lang="en-US" sz="1800" dirty="0">
                <a:solidFill>
                  <a:schemeClr val="tx1"/>
                </a:solidFill>
                <a:latin typeface="Times New Roman" pitchFamily="18" charset="0"/>
                <a:cs typeface="Times New Roman" pitchFamily="18" charset="0"/>
              </a:rPr>
              <a:t>: </a:t>
            </a:r>
          </a:p>
          <a:p>
            <a:pPr marL="742950" lvl="1" indent="-285750" algn="just">
              <a:buFont typeface="Arial" pitchFamily="34" charset="0"/>
              <a:buChar char="•"/>
            </a:pPr>
            <a:r>
              <a:rPr lang="en-US" sz="1600" dirty="0">
                <a:solidFill>
                  <a:schemeClr val="tx1"/>
                </a:solidFill>
                <a:latin typeface="Times New Roman" pitchFamily="18" charset="0"/>
                <a:cs typeface="Times New Roman" pitchFamily="18" charset="0"/>
              </a:rPr>
              <a:t>Allowing the tree to grow too deep, with many nodes and branches.</a:t>
            </a:r>
          </a:p>
          <a:p>
            <a:pPr marL="742950" lvl="1" indent="-285750" algn="just">
              <a:buFont typeface="Arial" pitchFamily="34" charset="0"/>
              <a:buChar char="•"/>
            </a:pPr>
            <a:r>
              <a:rPr lang="en-US" sz="1600" dirty="0">
                <a:solidFill>
                  <a:schemeClr val="tx1"/>
                </a:solidFill>
                <a:latin typeface="Times New Roman" pitchFamily="18" charset="0"/>
                <a:cs typeface="Times New Roman" pitchFamily="18" charset="0"/>
              </a:rPr>
              <a:t>Having very specific branches (splits) that capture the peculiarities of the training data rather than general patterns.</a:t>
            </a:r>
          </a:p>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Consequences: </a:t>
            </a:r>
            <a:r>
              <a:rPr lang="en-US" sz="1800" dirty="0" err="1">
                <a:solidFill>
                  <a:schemeClr val="tx1"/>
                </a:solidFill>
                <a:latin typeface="Times New Roman" pitchFamily="18" charset="0"/>
                <a:cs typeface="Times New Roman" pitchFamily="18" charset="0"/>
              </a:rPr>
              <a:t>Overfitting</a:t>
            </a:r>
            <a:r>
              <a:rPr lang="en-US" sz="1800" dirty="0">
                <a:solidFill>
                  <a:schemeClr val="tx1"/>
                </a:solidFill>
                <a:latin typeface="Times New Roman" pitchFamily="18" charset="0"/>
                <a:cs typeface="Times New Roman" pitchFamily="18" charset="0"/>
              </a:rPr>
              <a:t> leads to a lack of model generalization, where the model captures random fluctuations instead of meaningful trends.</a:t>
            </a:r>
          </a:p>
          <a:p>
            <a:pPr algn="just"/>
            <a:endParaRPr lang="en-US" sz="1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1929778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C1C3D-3599-8613-3DC7-239C7E7BD7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D8D9B-3532-09DE-3201-EE78B3042A27}"/>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Classification : Decision Tree</a:t>
            </a:r>
          </a:p>
        </p:txBody>
      </p:sp>
      <p:sp>
        <p:nvSpPr>
          <p:cNvPr id="3" name="Subtitle 2">
            <a:extLst>
              <a:ext uri="{FF2B5EF4-FFF2-40B4-BE49-F238E27FC236}">
                <a16:creationId xmlns:a16="http://schemas.microsoft.com/office/drawing/2014/main" id="{C40281CB-21B3-87AE-FB2E-76DEE75E7F56}"/>
              </a:ext>
            </a:extLst>
          </p:cNvPr>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Pre-Pruning (Early Stopping): </a:t>
            </a:r>
          </a:p>
          <a:p>
            <a:pPr algn="just"/>
            <a:r>
              <a:rPr lang="en-US" sz="1800" dirty="0">
                <a:solidFill>
                  <a:schemeClr val="tx1"/>
                </a:solidFill>
                <a:latin typeface="Times New Roman" pitchFamily="18" charset="0"/>
                <a:cs typeface="Times New Roman" pitchFamily="18" charset="0"/>
              </a:rPr>
              <a:t>This approach stops the tree from growing once it meets certain conditions, such as reaching a maximum depth, minimum number of samples per leaf, or minimum information gain threshold. This prevents the tree from developing complex branches that might lead to </a:t>
            </a:r>
          </a:p>
          <a:p>
            <a:pPr algn="just"/>
            <a:endParaRPr lang="en-US"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Post-Pruning (Cost Complexity Pruning): </a:t>
            </a:r>
          </a:p>
          <a:p>
            <a:pPr algn="just"/>
            <a:r>
              <a:rPr lang="en-US" sz="1800" dirty="0">
                <a:solidFill>
                  <a:schemeClr val="tx1"/>
                </a:solidFill>
                <a:latin typeface="Times New Roman" pitchFamily="18" charset="0"/>
                <a:cs typeface="Times New Roman" pitchFamily="18" charset="0"/>
              </a:rPr>
              <a:t>This technique first grows the tree to its full depth, then prunes back branches that provide minimal value. Post-pruning can be based on measures like cross-validation to determine the optimal structure that minimizes errors on new data.</a:t>
            </a:r>
          </a:p>
        </p:txBody>
      </p:sp>
    </p:spTree>
    <p:extLst>
      <p:ext uri="{BB962C8B-B14F-4D97-AF65-F5344CB8AC3E}">
        <p14:creationId xmlns:p14="http://schemas.microsoft.com/office/powerpoint/2010/main" val="26361934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C1C3D-3599-8613-3DC7-239C7E7BD7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D8D9B-3532-09DE-3201-EE78B3042A27}"/>
              </a:ext>
            </a:extLst>
          </p:cNvPr>
          <p:cNvSpPr>
            <a:spLocks noGrp="1"/>
          </p:cNvSpPr>
          <p:nvPr>
            <p:ph type="ctrTitle"/>
          </p:nvPr>
        </p:nvSpPr>
        <p:spPr>
          <a:xfrm>
            <a:off x="1600200" y="381000"/>
            <a:ext cx="6096000" cy="708025"/>
          </a:xfrm>
        </p:spPr>
        <p:txBody>
          <a:bodyPr>
            <a:normAutofit/>
          </a:bodyPr>
          <a:lstStyle/>
          <a:p>
            <a:r>
              <a:rPr lang="en-US" sz="3200" dirty="0">
                <a:latin typeface="Times New Roman" pitchFamily="18" charset="0"/>
                <a:cs typeface="Times New Roman" pitchFamily="18" charset="0"/>
              </a:rPr>
              <a:t>Model Evaluation</a:t>
            </a:r>
          </a:p>
        </p:txBody>
      </p:sp>
      <p:sp>
        <p:nvSpPr>
          <p:cNvPr id="3" name="Subtitle 2">
            <a:extLst>
              <a:ext uri="{FF2B5EF4-FFF2-40B4-BE49-F238E27FC236}">
                <a16:creationId xmlns:a16="http://schemas.microsoft.com/office/drawing/2014/main" id="{C40281CB-21B3-87AE-FB2E-76DEE75E7F56}"/>
              </a:ext>
            </a:extLst>
          </p:cNvPr>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itchFamily="18" charset="0"/>
                <a:cs typeface="Times New Roman" pitchFamily="18" charset="0"/>
              </a:rPr>
              <a:t>Model evaluation metrics are used to measure the quality and performance of your machine learning models. The choice of metric depends on the type of problem you're solving, primarily </a:t>
            </a:r>
            <a:r>
              <a:rPr lang="en-US" sz="1800" b="1" dirty="0">
                <a:solidFill>
                  <a:schemeClr val="tx1"/>
                </a:solidFill>
                <a:latin typeface="Times New Roman" pitchFamily="18" charset="0"/>
                <a:cs typeface="Times New Roman" pitchFamily="18" charset="0"/>
              </a:rPr>
              <a:t>classification</a:t>
            </a:r>
            <a:r>
              <a:rPr lang="en-US" sz="1800" dirty="0">
                <a:solidFill>
                  <a:schemeClr val="tx1"/>
                </a:solidFill>
                <a:latin typeface="Times New Roman" pitchFamily="18" charset="0"/>
                <a:cs typeface="Times New Roman" pitchFamily="18" charset="0"/>
              </a:rPr>
              <a:t> or </a:t>
            </a:r>
            <a:r>
              <a:rPr lang="en-US" sz="1800" b="1" dirty="0">
                <a:solidFill>
                  <a:schemeClr val="tx1"/>
                </a:solidFill>
                <a:latin typeface="Times New Roman" pitchFamily="18" charset="0"/>
                <a:cs typeface="Times New Roman" pitchFamily="18" charset="0"/>
              </a:rPr>
              <a:t>regression</a:t>
            </a:r>
            <a:r>
              <a:rPr lang="en-US" sz="1800" dirty="0">
                <a:solidFill>
                  <a:schemeClr val="tx1"/>
                </a:solidFill>
                <a:latin typeface="Times New Roman" pitchFamily="18" charset="0"/>
                <a:cs typeface="Times New Roman" pitchFamily="18" charset="0"/>
              </a:rPr>
              <a:t>.</a:t>
            </a:r>
          </a:p>
          <a:p>
            <a:pPr algn="just"/>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2AF4AB84-1FF6-1771-6545-46B0D79A5F3A}"/>
              </a:ext>
            </a:extLst>
          </p:cNvPr>
          <p:cNvPicPr>
            <a:picLocks noChangeAspect="1"/>
          </p:cNvPicPr>
          <p:nvPr/>
        </p:nvPicPr>
        <p:blipFill rotWithShape="1">
          <a:blip r:embed="rId2"/>
          <a:srcRect l="15389" b="17403"/>
          <a:stretch/>
        </p:blipFill>
        <p:spPr>
          <a:xfrm>
            <a:off x="1981200" y="2833777"/>
            <a:ext cx="4996057" cy="2287438"/>
          </a:xfrm>
          <a:prstGeom prst="rect">
            <a:avLst/>
          </a:prstGeom>
        </p:spPr>
      </p:pic>
    </p:spTree>
    <p:extLst>
      <p:ext uri="{BB962C8B-B14F-4D97-AF65-F5344CB8AC3E}">
        <p14:creationId xmlns:p14="http://schemas.microsoft.com/office/powerpoint/2010/main" val="3648065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F7907-06C6-955D-F3BE-F5CA7BF9A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22C06C-742E-B9BB-ED99-3ECABA29D341}"/>
              </a:ext>
            </a:extLst>
          </p:cNvPr>
          <p:cNvSpPr>
            <a:spLocks noGrp="1"/>
          </p:cNvSpPr>
          <p:nvPr>
            <p:ph type="ctrTitle"/>
          </p:nvPr>
        </p:nvSpPr>
        <p:spPr>
          <a:xfrm>
            <a:off x="990600" y="381000"/>
            <a:ext cx="7086600" cy="708025"/>
          </a:xfrm>
        </p:spPr>
        <p:txBody>
          <a:bodyPr>
            <a:normAutofit/>
          </a:bodyPr>
          <a:lstStyle/>
          <a:p>
            <a:r>
              <a:rPr lang="en-US" sz="3200" dirty="0">
                <a:latin typeface="Times New Roman" pitchFamily="18" charset="0"/>
                <a:cs typeface="Times New Roman" pitchFamily="18" charset="0"/>
              </a:rPr>
              <a:t>Performance Measure in Classification</a:t>
            </a:r>
          </a:p>
        </p:txBody>
      </p:sp>
      <p:sp>
        <p:nvSpPr>
          <p:cNvPr id="3" name="Subtitle 2">
            <a:extLst>
              <a:ext uri="{FF2B5EF4-FFF2-40B4-BE49-F238E27FC236}">
                <a16:creationId xmlns:a16="http://schemas.microsoft.com/office/drawing/2014/main" id="{670B861F-8BE8-E644-509D-391CCBCB7069}"/>
              </a:ext>
            </a:extLst>
          </p:cNvPr>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itchFamily="18" charset="0"/>
                <a:cs typeface="Times New Roman" pitchFamily="18" charset="0"/>
              </a:rPr>
              <a:t>After building a model with a learning algorithm using </a:t>
            </a:r>
            <a:r>
              <a:rPr lang="en-US" sz="1800" b="1" dirty="0">
                <a:solidFill>
                  <a:schemeClr val="tx1"/>
                </a:solidFill>
                <a:latin typeface="Times New Roman" pitchFamily="18" charset="0"/>
                <a:cs typeface="Times New Roman" pitchFamily="18" charset="0"/>
              </a:rPr>
              <a:t>the training set</a:t>
            </a:r>
            <a:r>
              <a:rPr lang="en-US" sz="1800" dirty="0">
                <a:solidFill>
                  <a:schemeClr val="tx1"/>
                </a:solidFill>
                <a:latin typeface="Times New Roman" pitchFamily="18" charset="0"/>
                <a:cs typeface="Times New Roman" pitchFamily="18" charset="0"/>
              </a:rPr>
              <a:t>, how can you determine its effectiveness? </a:t>
            </a:r>
          </a:p>
          <a:p>
            <a:pPr algn="just"/>
            <a:endParaRPr lang="en-US"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The test set </a:t>
            </a:r>
            <a:r>
              <a:rPr lang="en-US" sz="1800" dirty="0">
                <a:solidFill>
                  <a:schemeClr val="tx1"/>
                </a:solidFill>
                <a:latin typeface="Times New Roman" pitchFamily="18" charset="0"/>
                <a:cs typeface="Times New Roman" pitchFamily="18" charset="0"/>
              </a:rPr>
              <a:t>is used for this evaluation. Since the test set includes examples the learning algorithm hasn’t seen before, good performance on predicting these labels suggests that the model generalizes well—in other words, it’s a strong model.</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Machine learning specialists use formal </a:t>
            </a:r>
            <a:r>
              <a:rPr lang="en-US" sz="1800" b="1" dirty="0">
                <a:solidFill>
                  <a:schemeClr val="tx1"/>
                </a:solidFill>
                <a:latin typeface="Times New Roman" pitchFamily="18" charset="0"/>
                <a:cs typeface="Times New Roman" pitchFamily="18" charset="0"/>
              </a:rPr>
              <a:t>metrics</a:t>
            </a:r>
            <a:r>
              <a:rPr lang="en-US" sz="1800" dirty="0">
                <a:solidFill>
                  <a:schemeClr val="tx1"/>
                </a:solidFill>
                <a:latin typeface="Times New Roman" pitchFamily="18" charset="0"/>
                <a:cs typeface="Times New Roman" pitchFamily="18" charset="0"/>
              </a:rPr>
              <a:t> to evaluate model performance. For classification, the most widely used metrics and tools to assess the classification model are:</a:t>
            </a:r>
          </a:p>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confusion matrix,</a:t>
            </a:r>
          </a:p>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accuracy,</a:t>
            </a:r>
          </a:p>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precision/recall</a:t>
            </a:r>
          </a:p>
        </p:txBody>
      </p:sp>
    </p:spTree>
    <p:extLst>
      <p:ext uri="{BB962C8B-B14F-4D97-AF65-F5344CB8AC3E}">
        <p14:creationId xmlns:p14="http://schemas.microsoft.com/office/powerpoint/2010/main" val="10903424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F7907-06C6-955D-F3BE-F5CA7BF9A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22C06C-742E-B9BB-ED99-3ECABA29D341}"/>
              </a:ext>
            </a:extLst>
          </p:cNvPr>
          <p:cNvSpPr>
            <a:spLocks noGrp="1"/>
          </p:cNvSpPr>
          <p:nvPr>
            <p:ph type="ctrTitle"/>
          </p:nvPr>
        </p:nvSpPr>
        <p:spPr>
          <a:xfrm>
            <a:off x="990600" y="381000"/>
            <a:ext cx="7086600" cy="708025"/>
          </a:xfrm>
        </p:spPr>
        <p:txBody>
          <a:bodyPr>
            <a:normAutofit/>
          </a:bodyPr>
          <a:lstStyle/>
          <a:p>
            <a:r>
              <a:rPr lang="en-US" sz="3200" dirty="0">
                <a:latin typeface="Times New Roman" pitchFamily="18" charset="0"/>
                <a:cs typeface="Times New Roman" pitchFamily="18" charset="0"/>
              </a:rPr>
              <a:t>Performance Measure in Classification</a:t>
            </a:r>
          </a:p>
        </p:txBody>
      </p:sp>
      <p:sp>
        <p:nvSpPr>
          <p:cNvPr id="3" name="Subtitle 2">
            <a:extLst>
              <a:ext uri="{FF2B5EF4-FFF2-40B4-BE49-F238E27FC236}">
                <a16:creationId xmlns:a16="http://schemas.microsoft.com/office/drawing/2014/main" id="{670B861F-8BE8-E644-509D-391CCBCB7069}"/>
              </a:ext>
            </a:extLst>
          </p:cNvPr>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Confusion Matrix</a:t>
            </a:r>
          </a:p>
          <a:p>
            <a:pPr algn="just"/>
            <a:r>
              <a:rPr lang="en-US" sz="1800" dirty="0">
                <a:solidFill>
                  <a:schemeClr val="tx1"/>
                </a:solidFill>
                <a:latin typeface="Times New Roman" pitchFamily="18" charset="0"/>
                <a:cs typeface="Times New Roman" pitchFamily="18" charset="0"/>
              </a:rPr>
              <a:t>The confusion matrix is a table that shows how well a classification model predicts examples across different classes. One axis represents the model’s predicted labels, and the other axis shows the actual labels. </a:t>
            </a:r>
          </a:p>
          <a:p>
            <a:pPr algn="just"/>
            <a:r>
              <a:rPr lang="en-US" sz="1800" dirty="0">
                <a:solidFill>
                  <a:schemeClr val="tx1"/>
                </a:solidFill>
                <a:latin typeface="Times New Roman" pitchFamily="18" charset="0"/>
                <a:cs typeface="Times New Roman" pitchFamily="18" charset="0"/>
              </a:rPr>
              <a:t>In binary classification, with two classes (for example, “spam” and “</a:t>
            </a:r>
            <a:r>
              <a:rPr lang="en-US" sz="1800" dirty="0" err="1">
                <a:solidFill>
                  <a:schemeClr val="tx1"/>
                </a:solidFill>
                <a:latin typeface="Times New Roman" pitchFamily="18" charset="0"/>
                <a:cs typeface="Times New Roman" pitchFamily="18" charset="0"/>
              </a:rPr>
              <a:t>not_spam</a:t>
            </a:r>
            <a:r>
              <a:rPr lang="en-US" sz="1800" dirty="0">
                <a:solidFill>
                  <a:schemeClr val="tx1"/>
                </a:solidFill>
                <a:latin typeface="Times New Roman" pitchFamily="18" charset="0"/>
                <a:cs typeface="Times New Roman" pitchFamily="18" charset="0"/>
              </a:rPr>
              <a:t>”), this matrix provides a summary of the model’s performance.</a:t>
            </a:r>
          </a:p>
          <a:p>
            <a:pPr algn="just"/>
            <a:endParaRPr lang="en-US" sz="1800" dirty="0">
              <a:solidFill>
                <a:schemeClr val="tx1"/>
              </a:solidFill>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1524000" y="3429000"/>
          <a:ext cx="6122798" cy="1112520"/>
        </p:xfrm>
        <a:graphic>
          <a:graphicData uri="http://schemas.openxmlformats.org/drawingml/2006/table">
            <a:tbl>
              <a:tblPr firstRow="1" bandRow="1">
                <a:tableStyleId>{D7AC3CCA-C797-4891-BE02-D94E43425B78}</a:tableStyleId>
              </a:tblPr>
              <a:tblGrid>
                <a:gridCol w="1952943">
                  <a:extLst>
                    <a:ext uri="{9D8B030D-6E8A-4147-A177-3AD203B41FA5}">
                      <a16:colId xmlns:a16="http://schemas.microsoft.com/office/drawing/2014/main" val="20000"/>
                    </a:ext>
                  </a:extLst>
                </a:gridCol>
                <a:gridCol w="1860296">
                  <a:extLst>
                    <a:ext uri="{9D8B030D-6E8A-4147-A177-3AD203B41FA5}">
                      <a16:colId xmlns:a16="http://schemas.microsoft.com/office/drawing/2014/main" val="20001"/>
                    </a:ext>
                  </a:extLst>
                </a:gridCol>
                <a:gridCol w="2309559">
                  <a:extLst>
                    <a:ext uri="{9D8B030D-6E8A-4147-A177-3AD203B41FA5}">
                      <a16:colId xmlns:a16="http://schemas.microsoft.com/office/drawing/2014/main" val="20002"/>
                    </a:ext>
                  </a:extLst>
                </a:gridCol>
              </a:tblGrid>
              <a:tr h="370840">
                <a:tc>
                  <a:txBody>
                    <a:bodyPr/>
                    <a:lstStyle/>
                    <a:p>
                      <a:endParaRPr lang="en-US" b="1" dirty="0"/>
                    </a:p>
                  </a:txBody>
                  <a:tcPr>
                    <a:solidFill>
                      <a:schemeClr val="accent1">
                        <a:lumMod val="40000"/>
                        <a:lumOff val="60000"/>
                      </a:schemeClr>
                    </a:solidFill>
                  </a:tcPr>
                </a:tc>
                <a:tc>
                  <a:txBody>
                    <a:bodyPr/>
                    <a:lstStyle/>
                    <a:p>
                      <a:r>
                        <a:rPr lang="en-US" dirty="0"/>
                        <a:t>Spam</a:t>
                      </a:r>
                      <a:r>
                        <a:rPr lang="en-US" baseline="0" dirty="0"/>
                        <a:t> (predicted)</a:t>
                      </a:r>
                      <a:endParaRPr lang="en-US" dirty="0"/>
                    </a:p>
                  </a:txBody>
                  <a:tcPr>
                    <a:solidFill>
                      <a:schemeClr val="accent1">
                        <a:lumMod val="40000"/>
                        <a:lumOff val="60000"/>
                      </a:schemeClr>
                    </a:solidFill>
                  </a:tcPr>
                </a:tc>
                <a:tc>
                  <a:txBody>
                    <a:bodyPr/>
                    <a:lstStyle/>
                    <a:p>
                      <a:r>
                        <a:rPr lang="en-US" dirty="0" err="1"/>
                        <a:t>Not_spam</a:t>
                      </a:r>
                      <a:r>
                        <a:rPr lang="en-US" dirty="0"/>
                        <a:t> (predicted)</a:t>
                      </a:r>
                    </a:p>
                  </a:txBody>
                  <a:tcPr>
                    <a:solidFill>
                      <a:schemeClr val="accent1">
                        <a:lumMod val="40000"/>
                        <a:lumOff val="60000"/>
                      </a:schemeClr>
                    </a:solidFill>
                  </a:tcPr>
                </a:tc>
                <a:extLst>
                  <a:ext uri="{0D108BD9-81ED-4DB2-BD59-A6C34878D82A}">
                    <a16:rowId xmlns:a16="http://schemas.microsoft.com/office/drawing/2014/main" val="10000"/>
                  </a:ext>
                </a:extLst>
              </a:tr>
              <a:tr h="370840">
                <a:tc>
                  <a:txBody>
                    <a:bodyPr/>
                    <a:lstStyle/>
                    <a:p>
                      <a:r>
                        <a:rPr lang="en-US" b="1" dirty="0"/>
                        <a:t>Spam (actual)</a:t>
                      </a:r>
                    </a:p>
                  </a:txBody>
                  <a:tcPr>
                    <a:solidFill>
                      <a:schemeClr val="accent1">
                        <a:lumMod val="40000"/>
                        <a:lumOff val="60000"/>
                      </a:schemeClr>
                    </a:solidFill>
                  </a:tcPr>
                </a:tc>
                <a:tc>
                  <a:txBody>
                    <a:bodyPr/>
                    <a:lstStyle/>
                    <a:p>
                      <a:pPr algn="ctr"/>
                      <a:r>
                        <a:rPr lang="en-US" dirty="0"/>
                        <a:t>23 (TP)</a:t>
                      </a:r>
                    </a:p>
                  </a:txBody>
                  <a:tcPr/>
                </a:tc>
                <a:tc>
                  <a:txBody>
                    <a:bodyPr/>
                    <a:lstStyle/>
                    <a:p>
                      <a:pPr algn="ctr"/>
                      <a:r>
                        <a:rPr lang="en-US" dirty="0"/>
                        <a:t>1 (FN)</a:t>
                      </a:r>
                    </a:p>
                  </a:txBody>
                  <a:tcPr/>
                </a:tc>
                <a:extLst>
                  <a:ext uri="{0D108BD9-81ED-4DB2-BD59-A6C34878D82A}">
                    <a16:rowId xmlns:a16="http://schemas.microsoft.com/office/drawing/2014/main" val="10001"/>
                  </a:ext>
                </a:extLst>
              </a:tr>
              <a:tr h="370840">
                <a:tc>
                  <a:txBody>
                    <a:bodyPr/>
                    <a:lstStyle/>
                    <a:p>
                      <a:r>
                        <a:rPr lang="en-US" b="1" dirty="0" err="1"/>
                        <a:t>Not_spam</a:t>
                      </a:r>
                      <a:r>
                        <a:rPr lang="en-US" b="1" dirty="0"/>
                        <a:t> (actual)</a:t>
                      </a:r>
                    </a:p>
                  </a:txBody>
                  <a:tcPr>
                    <a:solidFill>
                      <a:schemeClr val="accent1">
                        <a:lumMod val="40000"/>
                        <a:lumOff val="60000"/>
                      </a:schemeClr>
                    </a:solidFill>
                  </a:tcPr>
                </a:tc>
                <a:tc>
                  <a:txBody>
                    <a:bodyPr/>
                    <a:lstStyle/>
                    <a:p>
                      <a:pPr algn="ctr"/>
                      <a:r>
                        <a:rPr lang="en-US" dirty="0"/>
                        <a:t>12 (FP)</a:t>
                      </a:r>
                    </a:p>
                  </a:txBody>
                  <a:tcPr/>
                </a:tc>
                <a:tc>
                  <a:txBody>
                    <a:bodyPr/>
                    <a:lstStyle/>
                    <a:p>
                      <a:pPr algn="ctr"/>
                      <a:r>
                        <a:rPr lang="en-US" dirty="0"/>
                        <a:t>556</a:t>
                      </a:r>
                      <a:r>
                        <a:rPr lang="en-US" baseline="0" dirty="0"/>
                        <a:t> (TN)</a:t>
                      </a:r>
                      <a:endParaRPr lang="en-US"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0815031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F7907-06C6-955D-F3BE-F5CA7BF9A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22C06C-742E-B9BB-ED99-3ECABA29D341}"/>
              </a:ext>
            </a:extLst>
          </p:cNvPr>
          <p:cNvSpPr>
            <a:spLocks noGrp="1"/>
          </p:cNvSpPr>
          <p:nvPr>
            <p:ph type="ctrTitle"/>
          </p:nvPr>
        </p:nvSpPr>
        <p:spPr>
          <a:xfrm>
            <a:off x="990600" y="381000"/>
            <a:ext cx="7086600" cy="708025"/>
          </a:xfrm>
        </p:spPr>
        <p:txBody>
          <a:bodyPr>
            <a:normAutofit/>
          </a:bodyPr>
          <a:lstStyle/>
          <a:p>
            <a:r>
              <a:rPr lang="en-US" sz="3200" dirty="0">
                <a:latin typeface="Times New Roman" pitchFamily="18" charset="0"/>
                <a:cs typeface="Times New Roman" pitchFamily="18" charset="0"/>
              </a:rPr>
              <a:t>Performance Measure in Classification</a:t>
            </a:r>
          </a:p>
        </p:txBody>
      </p:sp>
      <p:sp>
        <p:nvSpPr>
          <p:cNvPr id="3" name="Subtitle 2">
            <a:extLst>
              <a:ext uri="{FF2B5EF4-FFF2-40B4-BE49-F238E27FC236}">
                <a16:creationId xmlns:a16="http://schemas.microsoft.com/office/drawing/2014/main" id="{670B861F-8BE8-E644-509D-391CCBCB7069}"/>
              </a:ext>
            </a:extLst>
          </p:cNvPr>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Confusion Matrix</a:t>
            </a:r>
          </a:p>
          <a:p>
            <a:pPr algn="just"/>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The above confusion matrix shows that of the </a:t>
            </a:r>
            <a:r>
              <a:rPr lang="en-US" sz="1800" b="1" dirty="0">
                <a:solidFill>
                  <a:schemeClr val="tx1"/>
                </a:solidFill>
                <a:latin typeface="Times New Roman" pitchFamily="18" charset="0"/>
                <a:cs typeface="Times New Roman" pitchFamily="18" charset="0"/>
              </a:rPr>
              <a:t>24 examples </a:t>
            </a:r>
            <a:r>
              <a:rPr lang="en-US" sz="1800" dirty="0">
                <a:solidFill>
                  <a:schemeClr val="tx1"/>
                </a:solidFill>
                <a:latin typeface="Times New Roman" pitchFamily="18" charset="0"/>
                <a:cs typeface="Times New Roman" pitchFamily="18" charset="0"/>
              </a:rPr>
              <a:t>that actually were </a:t>
            </a:r>
            <a:r>
              <a:rPr lang="en-US" sz="1800" b="1" dirty="0">
                <a:solidFill>
                  <a:schemeClr val="tx1"/>
                </a:solidFill>
                <a:latin typeface="Times New Roman" pitchFamily="18" charset="0"/>
                <a:cs typeface="Times New Roman" pitchFamily="18" charset="0"/>
              </a:rPr>
              <a:t>spam</a:t>
            </a:r>
            <a:r>
              <a:rPr lang="en-US" sz="1800" dirty="0">
                <a:solidFill>
                  <a:schemeClr val="tx1"/>
                </a:solidFill>
                <a:latin typeface="Times New Roman" pitchFamily="18" charset="0"/>
                <a:cs typeface="Times New Roman" pitchFamily="18" charset="0"/>
              </a:rPr>
              <a:t>, the model correctly classified </a:t>
            </a:r>
            <a:r>
              <a:rPr lang="en-US" sz="1800" b="1" dirty="0">
                <a:solidFill>
                  <a:schemeClr val="tx1"/>
                </a:solidFill>
                <a:latin typeface="Times New Roman" pitchFamily="18" charset="0"/>
                <a:cs typeface="Times New Roman" pitchFamily="18" charset="0"/>
              </a:rPr>
              <a:t>23 as spam</a:t>
            </a:r>
            <a:r>
              <a:rPr lang="en-US" sz="1800" dirty="0">
                <a:solidFill>
                  <a:schemeClr val="tx1"/>
                </a:solidFill>
                <a:latin typeface="Times New Roman" pitchFamily="18" charset="0"/>
                <a:cs typeface="Times New Roman" pitchFamily="18" charset="0"/>
              </a:rPr>
              <a:t>. In this case, we say that we have 23 true positives or </a:t>
            </a:r>
            <a:r>
              <a:rPr lang="en-US" sz="1800" b="1" dirty="0">
                <a:solidFill>
                  <a:schemeClr val="tx1"/>
                </a:solidFill>
                <a:latin typeface="Times New Roman" pitchFamily="18" charset="0"/>
                <a:cs typeface="Times New Roman" pitchFamily="18" charset="0"/>
              </a:rPr>
              <a:t>TP = 23</a:t>
            </a:r>
            <a:r>
              <a:rPr lang="en-US" sz="1800" dirty="0">
                <a:solidFill>
                  <a:schemeClr val="tx1"/>
                </a:solidFill>
                <a:latin typeface="Times New Roman" pitchFamily="18" charset="0"/>
                <a:cs typeface="Times New Roman" pitchFamily="18" charset="0"/>
              </a:rPr>
              <a:t>. The model incorrectly classified 1 example as </a:t>
            </a:r>
            <a:r>
              <a:rPr lang="en-US" sz="1800" dirty="0" err="1">
                <a:solidFill>
                  <a:schemeClr val="tx1"/>
                </a:solidFill>
                <a:latin typeface="Times New Roman" pitchFamily="18" charset="0"/>
                <a:cs typeface="Times New Roman" pitchFamily="18" charset="0"/>
              </a:rPr>
              <a:t>not_spam</a:t>
            </a:r>
            <a:r>
              <a:rPr lang="en-US" sz="1800" dirty="0">
                <a:solidFill>
                  <a:schemeClr val="tx1"/>
                </a:solidFill>
                <a:latin typeface="Times New Roman" pitchFamily="18" charset="0"/>
                <a:cs typeface="Times New Roman" pitchFamily="18" charset="0"/>
              </a:rPr>
              <a:t>. In this case, we have 1 false negative, or </a:t>
            </a:r>
            <a:r>
              <a:rPr lang="en-US" sz="1800" b="1" dirty="0">
                <a:solidFill>
                  <a:schemeClr val="tx1"/>
                </a:solidFill>
                <a:latin typeface="Times New Roman" pitchFamily="18" charset="0"/>
                <a:cs typeface="Times New Roman" pitchFamily="18" charset="0"/>
              </a:rPr>
              <a:t>FN = 1</a:t>
            </a:r>
            <a:r>
              <a:rPr lang="en-US" sz="1800" dirty="0">
                <a:solidFill>
                  <a:schemeClr val="tx1"/>
                </a:solidFill>
                <a:latin typeface="Times New Roman" pitchFamily="18" charset="0"/>
                <a:cs typeface="Times New Roman" pitchFamily="18" charset="0"/>
              </a:rPr>
              <a:t>. </a:t>
            </a:r>
          </a:p>
          <a:p>
            <a:pPr algn="just"/>
            <a:r>
              <a:rPr lang="en-US" sz="1800" dirty="0">
                <a:solidFill>
                  <a:schemeClr val="tx1"/>
                </a:solidFill>
                <a:latin typeface="Times New Roman" pitchFamily="18" charset="0"/>
                <a:cs typeface="Times New Roman" pitchFamily="18" charset="0"/>
              </a:rPr>
              <a:t>Similarly, of </a:t>
            </a:r>
            <a:r>
              <a:rPr lang="en-US" sz="1800" b="1" dirty="0">
                <a:solidFill>
                  <a:schemeClr val="tx1"/>
                </a:solidFill>
                <a:latin typeface="Times New Roman" pitchFamily="18" charset="0"/>
                <a:cs typeface="Times New Roman" pitchFamily="18" charset="0"/>
              </a:rPr>
              <a:t>568 examples </a:t>
            </a:r>
            <a:r>
              <a:rPr lang="en-US" sz="1800" dirty="0">
                <a:solidFill>
                  <a:schemeClr val="tx1"/>
                </a:solidFill>
                <a:latin typeface="Times New Roman" pitchFamily="18" charset="0"/>
                <a:cs typeface="Times New Roman" pitchFamily="18" charset="0"/>
              </a:rPr>
              <a:t>that actually were not spam, 556 were correctly classified (556 true negatives or </a:t>
            </a:r>
            <a:r>
              <a:rPr lang="en-US" sz="1800" b="1" dirty="0">
                <a:solidFill>
                  <a:schemeClr val="tx1"/>
                </a:solidFill>
                <a:latin typeface="Times New Roman" pitchFamily="18" charset="0"/>
                <a:cs typeface="Times New Roman" pitchFamily="18" charset="0"/>
              </a:rPr>
              <a:t>TN = 556</a:t>
            </a:r>
            <a:r>
              <a:rPr lang="en-US" sz="1800" dirty="0">
                <a:solidFill>
                  <a:schemeClr val="tx1"/>
                </a:solidFill>
                <a:latin typeface="Times New Roman" pitchFamily="18" charset="0"/>
                <a:cs typeface="Times New Roman" pitchFamily="18" charset="0"/>
              </a:rPr>
              <a:t>), and 12 were incorrectly classified (12 false positives, </a:t>
            </a:r>
            <a:r>
              <a:rPr lang="en-US" sz="1800" b="1" dirty="0">
                <a:solidFill>
                  <a:schemeClr val="tx1"/>
                </a:solidFill>
                <a:latin typeface="Times New Roman" pitchFamily="18" charset="0"/>
                <a:cs typeface="Times New Roman" pitchFamily="18" charset="0"/>
              </a:rPr>
              <a:t>FP = 12</a:t>
            </a:r>
            <a:r>
              <a:rPr lang="en-US" sz="1800" dirty="0">
                <a:solidFill>
                  <a:schemeClr val="tx1"/>
                </a:solidFill>
                <a:latin typeface="Times New Roman" pitchFamily="18" charset="0"/>
                <a:cs typeface="Times New Roman" pitchFamily="18" charset="0"/>
              </a:rPr>
              <a:t>).</a:t>
            </a:r>
          </a:p>
        </p:txBody>
      </p:sp>
      <p:graphicFrame>
        <p:nvGraphicFramePr>
          <p:cNvPr id="4" name="Table 3"/>
          <p:cNvGraphicFramePr>
            <a:graphicFrameLocks noGrp="1"/>
          </p:cNvGraphicFramePr>
          <p:nvPr/>
        </p:nvGraphicFramePr>
        <p:xfrm>
          <a:off x="1219200" y="1828800"/>
          <a:ext cx="6122798" cy="1112520"/>
        </p:xfrm>
        <a:graphic>
          <a:graphicData uri="http://schemas.openxmlformats.org/drawingml/2006/table">
            <a:tbl>
              <a:tblPr firstRow="1" bandRow="1">
                <a:tableStyleId>{D7AC3CCA-C797-4891-BE02-D94E43425B78}</a:tableStyleId>
              </a:tblPr>
              <a:tblGrid>
                <a:gridCol w="1952943">
                  <a:extLst>
                    <a:ext uri="{9D8B030D-6E8A-4147-A177-3AD203B41FA5}">
                      <a16:colId xmlns:a16="http://schemas.microsoft.com/office/drawing/2014/main" val="20000"/>
                    </a:ext>
                  </a:extLst>
                </a:gridCol>
                <a:gridCol w="1860296">
                  <a:extLst>
                    <a:ext uri="{9D8B030D-6E8A-4147-A177-3AD203B41FA5}">
                      <a16:colId xmlns:a16="http://schemas.microsoft.com/office/drawing/2014/main" val="20001"/>
                    </a:ext>
                  </a:extLst>
                </a:gridCol>
                <a:gridCol w="2309559">
                  <a:extLst>
                    <a:ext uri="{9D8B030D-6E8A-4147-A177-3AD203B41FA5}">
                      <a16:colId xmlns:a16="http://schemas.microsoft.com/office/drawing/2014/main" val="20002"/>
                    </a:ext>
                  </a:extLst>
                </a:gridCol>
              </a:tblGrid>
              <a:tr h="370840">
                <a:tc>
                  <a:txBody>
                    <a:bodyPr/>
                    <a:lstStyle/>
                    <a:p>
                      <a:endParaRPr lang="en-US" b="1" dirty="0"/>
                    </a:p>
                  </a:txBody>
                  <a:tcPr>
                    <a:solidFill>
                      <a:schemeClr val="accent1">
                        <a:lumMod val="40000"/>
                        <a:lumOff val="60000"/>
                      </a:schemeClr>
                    </a:solidFill>
                  </a:tcPr>
                </a:tc>
                <a:tc>
                  <a:txBody>
                    <a:bodyPr/>
                    <a:lstStyle/>
                    <a:p>
                      <a:r>
                        <a:rPr lang="en-US" dirty="0"/>
                        <a:t>Spam</a:t>
                      </a:r>
                      <a:r>
                        <a:rPr lang="en-US" baseline="0" dirty="0"/>
                        <a:t> (predicted)</a:t>
                      </a:r>
                      <a:endParaRPr lang="en-US" dirty="0"/>
                    </a:p>
                  </a:txBody>
                  <a:tcPr>
                    <a:solidFill>
                      <a:schemeClr val="accent1">
                        <a:lumMod val="40000"/>
                        <a:lumOff val="60000"/>
                      </a:schemeClr>
                    </a:solidFill>
                  </a:tcPr>
                </a:tc>
                <a:tc>
                  <a:txBody>
                    <a:bodyPr/>
                    <a:lstStyle/>
                    <a:p>
                      <a:r>
                        <a:rPr lang="en-US" dirty="0" err="1"/>
                        <a:t>Not_spam</a:t>
                      </a:r>
                      <a:r>
                        <a:rPr lang="en-US" dirty="0"/>
                        <a:t> (predicted)</a:t>
                      </a:r>
                    </a:p>
                  </a:txBody>
                  <a:tcPr>
                    <a:solidFill>
                      <a:schemeClr val="accent1">
                        <a:lumMod val="40000"/>
                        <a:lumOff val="60000"/>
                      </a:schemeClr>
                    </a:solidFill>
                  </a:tcPr>
                </a:tc>
                <a:extLst>
                  <a:ext uri="{0D108BD9-81ED-4DB2-BD59-A6C34878D82A}">
                    <a16:rowId xmlns:a16="http://schemas.microsoft.com/office/drawing/2014/main" val="10000"/>
                  </a:ext>
                </a:extLst>
              </a:tr>
              <a:tr h="370840">
                <a:tc>
                  <a:txBody>
                    <a:bodyPr/>
                    <a:lstStyle/>
                    <a:p>
                      <a:r>
                        <a:rPr lang="en-US" b="1" dirty="0"/>
                        <a:t>Spam (actual)</a:t>
                      </a:r>
                    </a:p>
                  </a:txBody>
                  <a:tcPr>
                    <a:solidFill>
                      <a:schemeClr val="accent1">
                        <a:lumMod val="40000"/>
                        <a:lumOff val="60000"/>
                      </a:schemeClr>
                    </a:solidFill>
                  </a:tcPr>
                </a:tc>
                <a:tc>
                  <a:txBody>
                    <a:bodyPr/>
                    <a:lstStyle/>
                    <a:p>
                      <a:pPr algn="ctr"/>
                      <a:r>
                        <a:rPr lang="en-US" dirty="0"/>
                        <a:t>23 (TP)</a:t>
                      </a:r>
                    </a:p>
                  </a:txBody>
                  <a:tcPr/>
                </a:tc>
                <a:tc>
                  <a:txBody>
                    <a:bodyPr/>
                    <a:lstStyle/>
                    <a:p>
                      <a:pPr algn="ctr"/>
                      <a:r>
                        <a:rPr lang="en-US" dirty="0"/>
                        <a:t>1 (FN)</a:t>
                      </a:r>
                    </a:p>
                  </a:txBody>
                  <a:tcPr/>
                </a:tc>
                <a:extLst>
                  <a:ext uri="{0D108BD9-81ED-4DB2-BD59-A6C34878D82A}">
                    <a16:rowId xmlns:a16="http://schemas.microsoft.com/office/drawing/2014/main" val="10001"/>
                  </a:ext>
                </a:extLst>
              </a:tr>
              <a:tr h="370840">
                <a:tc>
                  <a:txBody>
                    <a:bodyPr/>
                    <a:lstStyle/>
                    <a:p>
                      <a:r>
                        <a:rPr lang="en-US" b="1" dirty="0" err="1"/>
                        <a:t>Not_spam</a:t>
                      </a:r>
                      <a:r>
                        <a:rPr lang="en-US" b="1" dirty="0"/>
                        <a:t> (actual)</a:t>
                      </a:r>
                    </a:p>
                  </a:txBody>
                  <a:tcPr>
                    <a:solidFill>
                      <a:schemeClr val="accent1">
                        <a:lumMod val="40000"/>
                        <a:lumOff val="60000"/>
                      </a:schemeClr>
                    </a:solidFill>
                  </a:tcPr>
                </a:tc>
                <a:tc>
                  <a:txBody>
                    <a:bodyPr/>
                    <a:lstStyle/>
                    <a:p>
                      <a:pPr algn="ctr"/>
                      <a:r>
                        <a:rPr lang="en-US" dirty="0"/>
                        <a:t>12 (FP)</a:t>
                      </a:r>
                    </a:p>
                  </a:txBody>
                  <a:tcPr/>
                </a:tc>
                <a:tc>
                  <a:txBody>
                    <a:bodyPr/>
                    <a:lstStyle/>
                    <a:p>
                      <a:pPr algn="ctr"/>
                      <a:r>
                        <a:rPr lang="en-US" dirty="0"/>
                        <a:t>556</a:t>
                      </a:r>
                      <a:r>
                        <a:rPr lang="en-US" baseline="0" dirty="0"/>
                        <a:t> (TN)</a:t>
                      </a:r>
                      <a:endParaRPr lang="en-US"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3799771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F7907-06C6-955D-F3BE-F5CA7BF9A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22C06C-742E-B9BB-ED99-3ECABA29D341}"/>
              </a:ext>
            </a:extLst>
          </p:cNvPr>
          <p:cNvSpPr>
            <a:spLocks noGrp="1"/>
          </p:cNvSpPr>
          <p:nvPr>
            <p:ph type="ctrTitle"/>
          </p:nvPr>
        </p:nvSpPr>
        <p:spPr>
          <a:xfrm>
            <a:off x="990600" y="381000"/>
            <a:ext cx="7086600" cy="708025"/>
          </a:xfrm>
        </p:spPr>
        <p:txBody>
          <a:bodyPr>
            <a:normAutofit/>
          </a:bodyPr>
          <a:lstStyle/>
          <a:p>
            <a:r>
              <a:rPr lang="en-US" sz="3200" dirty="0">
                <a:latin typeface="Times New Roman" pitchFamily="18" charset="0"/>
                <a:cs typeface="Times New Roman" pitchFamily="18" charset="0"/>
              </a:rPr>
              <a:t>Performance Measure in Classification</a:t>
            </a:r>
          </a:p>
        </p:txBody>
      </p:sp>
      <p:sp>
        <p:nvSpPr>
          <p:cNvPr id="3" name="Subtitle 2">
            <a:extLst>
              <a:ext uri="{FF2B5EF4-FFF2-40B4-BE49-F238E27FC236}">
                <a16:creationId xmlns:a16="http://schemas.microsoft.com/office/drawing/2014/main" id="{670B861F-8BE8-E644-509D-391CCBCB7069}"/>
              </a:ext>
            </a:extLst>
          </p:cNvPr>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Confusion Matrix</a:t>
            </a:r>
          </a:p>
          <a:p>
            <a:pPr algn="just"/>
            <a:r>
              <a:rPr lang="en-US" sz="1800" dirty="0">
                <a:solidFill>
                  <a:schemeClr val="tx1"/>
                </a:solidFill>
                <a:latin typeface="Times New Roman" pitchFamily="18" charset="0"/>
                <a:cs typeface="Times New Roman" pitchFamily="18" charset="0"/>
              </a:rPr>
              <a:t>The confusion matrix for </a:t>
            </a:r>
            <a:r>
              <a:rPr lang="en-US" sz="1800" b="1" dirty="0">
                <a:solidFill>
                  <a:schemeClr val="tx1"/>
                </a:solidFill>
                <a:latin typeface="Times New Roman" pitchFamily="18" charset="0"/>
                <a:cs typeface="Times New Roman" pitchFamily="18" charset="0"/>
              </a:rPr>
              <a:t>multiclass classification </a:t>
            </a:r>
            <a:r>
              <a:rPr lang="en-US" sz="1800" dirty="0">
                <a:solidFill>
                  <a:schemeClr val="tx1"/>
                </a:solidFill>
                <a:latin typeface="Times New Roman" pitchFamily="18" charset="0"/>
                <a:cs typeface="Times New Roman" pitchFamily="18" charset="0"/>
              </a:rPr>
              <a:t>has as many rows and columns as there are different classes. It can help you to determine mistake patterns. </a:t>
            </a:r>
          </a:p>
          <a:p>
            <a:pPr algn="just"/>
            <a:r>
              <a:rPr lang="en-US" sz="1800" dirty="0">
                <a:solidFill>
                  <a:schemeClr val="tx1"/>
                </a:solidFill>
                <a:latin typeface="Times New Roman" pitchFamily="18" charset="0"/>
                <a:cs typeface="Times New Roman" pitchFamily="18" charset="0"/>
              </a:rPr>
              <a:t>For example, a confusion matrix could reveal that a model trained to recognize different species of animals tends to mistakenly predict “cat” instead of “panther,” or “mouse” instead of “rat.” </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In this case, you can decide to </a:t>
            </a:r>
            <a:r>
              <a:rPr lang="en-US" sz="1800" b="1" dirty="0">
                <a:solidFill>
                  <a:schemeClr val="tx1"/>
                </a:solidFill>
                <a:latin typeface="Times New Roman" pitchFamily="18" charset="0"/>
                <a:cs typeface="Times New Roman" pitchFamily="18" charset="0"/>
              </a:rPr>
              <a:t>add more labeled examples </a:t>
            </a:r>
            <a:r>
              <a:rPr lang="en-US" sz="1800" dirty="0">
                <a:solidFill>
                  <a:schemeClr val="tx1"/>
                </a:solidFill>
                <a:latin typeface="Times New Roman" pitchFamily="18" charset="0"/>
                <a:cs typeface="Times New Roman" pitchFamily="18" charset="0"/>
              </a:rPr>
              <a:t>of these species to help the learning algorithm to “see” the difference between them. </a:t>
            </a: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Alternatively, you might </a:t>
            </a:r>
            <a:r>
              <a:rPr lang="en-US" sz="1800" b="1" dirty="0">
                <a:solidFill>
                  <a:schemeClr val="tx1"/>
                </a:solidFill>
                <a:latin typeface="Times New Roman" pitchFamily="18" charset="0"/>
                <a:cs typeface="Times New Roman" pitchFamily="18" charset="0"/>
              </a:rPr>
              <a:t>add additional features </a:t>
            </a:r>
            <a:r>
              <a:rPr lang="en-US" sz="1800" dirty="0">
                <a:solidFill>
                  <a:schemeClr val="tx1"/>
                </a:solidFill>
                <a:latin typeface="Times New Roman" pitchFamily="18" charset="0"/>
                <a:cs typeface="Times New Roman" pitchFamily="18" charset="0"/>
              </a:rPr>
              <a:t>the learning algorithm can use to build a model that would better distinguish between these species.</a:t>
            </a:r>
          </a:p>
          <a:p>
            <a:pPr algn="just"/>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2800387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F7907-06C6-955D-F3BE-F5CA7BF9A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22C06C-742E-B9BB-ED99-3ECABA29D341}"/>
              </a:ext>
            </a:extLst>
          </p:cNvPr>
          <p:cNvSpPr>
            <a:spLocks noGrp="1"/>
          </p:cNvSpPr>
          <p:nvPr>
            <p:ph type="ctrTitle"/>
          </p:nvPr>
        </p:nvSpPr>
        <p:spPr>
          <a:xfrm>
            <a:off x="990600" y="381000"/>
            <a:ext cx="7086600" cy="708025"/>
          </a:xfrm>
        </p:spPr>
        <p:txBody>
          <a:bodyPr>
            <a:normAutofit/>
          </a:bodyPr>
          <a:lstStyle/>
          <a:p>
            <a:r>
              <a:rPr lang="en-US" sz="3200" dirty="0">
                <a:latin typeface="Times New Roman" pitchFamily="18" charset="0"/>
                <a:cs typeface="Times New Roman" pitchFamily="18" charset="0"/>
              </a:rPr>
              <a:t>Performance Measure in Classification</a:t>
            </a: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670B861F-8BE8-E644-509D-391CCBCB7069}"/>
                  </a:ext>
                </a:extLst>
              </p:cNvPr>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Precision and Recall</a:t>
                </a:r>
              </a:p>
              <a:p>
                <a:pPr algn="just"/>
                <a:r>
                  <a:rPr lang="en-US" sz="1800" dirty="0">
                    <a:solidFill>
                      <a:schemeClr val="tx1"/>
                    </a:solidFill>
                    <a:latin typeface="Times New Roman" pitchFamily="18" charset="0"/>
                    <a:cs typeface="Times New Roman" pitchFamily="18" charset="0"/>
                  </a:rPr>
                  <a:t>The two most frequently used metrics to assess the model are precision and recall. </a:t>
                </a:r>
              </a:p>
              <a:p>
                <a:pPr algn="just"/>
                <a:r>
                  <a:rPr lang="en-US" sz="1800" b="1" dirty="0">
                    <a:solidFill>
                      <a:schemeClr val="tx1"/>
                    </a:solidFill>
                    <a:latin typeface="Times New Roman" pitchFamily="18" charset="0"/>
                    <a:cs typeface="Times New Roman" pitchFamily="18" charset="0"/>
                  </a:rPr>
                  <a:t>Precision </a:t>
                </a:r>
                <a:r>
                  <a:rPr lang="en-US" sz="1800" dirty="0">
                    <a:solidFill>
                      <a:schemeClr val="tx1"/>
                    </a:solidFill>
                    <a:latin typeface="Times New Roman" pitchFamily="18" charset="0"/>
                    <a:cs typeface="Times New Roman" pitchFamily="18" charset="0"/>
                  </a:rPr>
                  <a:t>is the ratio of correct positive predictions to the overall number of positive predictions:</a:t>
                </a:r>
              </a:p>
              <a:p>
                <a:pPr algn="just"/>
                <a14:m>
                  <m:oMathPara xmlns:m="http://schemas.openxmlformats.org/officeDocument/2006/math">
                    <m:oMathParaPr>
                      <m:jc m:val="left"/>
                    </m:oMathParaPr>
                    <m:oMath xmlns:m="http://schemas.openxmlformats.org/officeDocument/2006/math">
                      <m:r>
                        <a:rPr lang="en-US" sz="1800" b="1" i="1" smtClean="0">
                          <a:solidFill>
                            <a:schemeClr val="tx1"/>
                          </a:solidFill>
                          <a:latin typeface="Cambria Math"/>
                          <a:cs typeface="Times New Roman" pitchFamily="18" charset="0"/>
                        </a:rPr>
                        <m:t>𝒑𝒓𝒆𝒄𝒊𝒔𝒊𝒐𝒏</m:t>
                      </m:r>
                      <m:r>
                        <a:rPr lang="en-US" sz="1800" b="1" i="1" smtClean="0">
                          <a:solidFill>
                            <a:schemeClr val="tx1"/>
                          </a:solidFill>
                          <a:latin typeface="Cambria Math"/>
                          <a:cs typeface="Times New Roman" pitchFamily="18" charset="0"/>
                        </a:rPr>
                        <m:t>=</m:t>
                      </m:r>
                      <m:f>
                        <m:fPr>
                          <m:ctrlPr>
                            <a:rPr lang="en-US" sz="1800" b="1" i="1" smtClean="0">
                              <a:solidFill>
                                <a:schemeClr val="tx1"/>
                              </a:solidFill>
                              <a:latin typeface="Cambria Math" panose="02040503050406030204" pitchFamily="18" charset="0"/>
                              <a:cs typeface="Times New Roman" pitchFamily="18" charset="0"/>
                            </a:rPr>
                          </m:ctrlPr>
                        </m:fPr>
                        <m:num>
                          <m:r>
                            <a:rPr lang="en-US" sz="1800" b="1" i="1" smtClean="0">
                              <a:solidFill>
                                <a:schemeClr val="tx1"/>
                              </a:solidFill>
                              <a:latin typeface="Cambria Math"/>
                              <a:cs typeface="Times New Roman" pitchFamily="18" charset="0"/>
                            </a:rPr>
                            <m:t>𝑻𝑷</m:t>
                          </m:r>
                        </m:num>
                        <m:den>
                          <m:r>
                            <a:rPr lang="en-US" sz="1800" b="1" i="1" smtClean="0">
                              <a:solidFill>
                                <a:schemeClr val="tx1"/>
                              </a:solidFill>
                              <a:latin typeface="Cambria Math"/>
                              <a:cs typeface="Times New Roman" pitchFamily="18" charset="0"/>
                            </a:rPr>
                            <m:t>𝑻𝑷</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𝑭𝑷</m:t>
                          </m:r>
                        </m:den>
                      </m:f>
                    </m:oMath>
                  </m:oMathPara>
                </a14:m>
                <a:endParaRPr lang="en-US" sz="1800" b="1" dirty="0">
                  <a:solidFill>
                    <a:schemeClr val="tx1"/>
                  </a:solidFill>
                  <a:latin typeface="Times New Roman" pitchFamily="18" charset="0"/>
                  <a:cs typeface="Times New Roman" pitchFamily="18" charset="0"/>
                </a:endParaRPr>
              </a:p>
              <a:p>
                <a:pPr algn="just"/>
                <a:endParaRPr lang="en-US" sz="1800" b="1"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Recall</a:t>
                </a:r>
                <a:r>
                  <a:rPr lang="en-US" sz="1800" dirty="0">
                    <a:solidFill>
                      <a:schemeClr val="tx1"/>
                    </a:solidFill>
                    <a:latin typeface="Times New Roman" pitchFamily="18" charset="0"/>
                    <a:cs typeface="Times New Roman" pitchFamily="18" charset="0"/>
                  </a:rPr>
                  <a:t> is the ratio of correct positive predictions to the overall number of positive examples in the dataset:</a:t>
                </a:r>
              </a:p>
              <a:p>
                <a:pPr algn="just"/>
                <a14:m>
                  <m:oMathPara xmlns:m="http://schemas.openxmlformats.org/officeDocument/2006/math">
                    <m:oMathParaPr>
                      <m:jc m:val="left"/>
                    </m:oMathParaPr>
                    <m:oMath xmlns:m="http://schemas.openxmlformats.org/officeDocument/2006/math">
                      <m:r>
                        <a:rPr lang="en-US" sz="1800" b="1" i="1" smtClean="0">
                          <a:solidFill>
                            <a:schemeClr val="tx1"/>
                          </a:solidFill>
                          <a:latin typeface="Cambria Math"/>
                          <a:cs typeface="Times New Roman" pitchFamily="18" charset="0"/>
                        </a:rPr>
                        <m:t>𝒓𝒆𝒄𝒂𝒍𝒍</m:t>
                      </m:r>
                      <m:r>
                        <a:rPr lang="en-US" sz="1800" b="1" i="1">
                          <a:solidFill>
                            <a:schemeClr val="tx1"/>
                          </a:solidFill>
                          <a:latin typeface="Cambria Math"/>
                          <a:cs typeface="Times New Roman" pitchFamily="18" charset="0"/>
                        </a:rPr>
                        <m:t>=</m:t>
                      </m:r>
                      <m:f>
                        <m:fPr>
                          <m:ctrlPr>
                            <a:rPr lang="en-US" sz="1800" b="1" i="1">
                              <a:solidFill>
                                <a:schemeClr val="tx1"/>
                              </a:solidFill>
                              <a:latin typeface="Cambria Math" panose="02040503050406030204" pitchFamily="18" charset="0"/>
                              <a:cs typeface="Times New Roman" pitchFamily="18" charset="0"/>
                            </a:rPr>
                          </m:ctrlPr>
                        </m:fPr>
                        <m:num>
                          <m:r>
                            <a:rPr lang="en-US" sz="1800" b="1" i="1">
                              <a:solidFill>
                                <a:schemeClr val="tx1"/>
                              </a:solidFill>
                              <a:latin typeface="Cambria Math"/>
                              <a:cs typeface="Times New Roman" pitchFamily="18" charset="0"/>
                            </a:rPr>
                            <m:t>𝑻𝑷</m:t>
                          </m:r>
                        </m:num>
                        <m:den>
                          <m:r>
                            <a:rPr lang="en-US" sz="1800" b="1" i="1">
                              <a:solidFill>
                                <a:schemeClr val="tx1"/>
                              </a:solidFill>
                              <a:latin typeface="Cambria Math"/>
                              <a:cs typeface="Times New Roman" pitchFamily="18" charset="0"/>
                            </a:rPr>
                            <m:t>𝑻𝑷</m:t>
                          </m:r>
                          <m:r>
                            <a:rPr lang="en-US" sz="1800" b="1" i="1">
                              <a:solidFill>
                                <a:schemeClr val="tx1"/>
                              </a:solidFill>
                              <a:latin typeface="Cambria Math"/>
                              <a:cs typeface="Times New Roman" pitchFamily="18" charset="0"/>
                            </a:rPr>
                            <m:t>+</m:t>
                          </m:r>
                          <m:r>
                            <a:rPr lang="en-US" sz="1800" b="1" i="1">
                              <a:solidFill>
                                <a:schemeClr val="tx1"/>
                              </a:solidFill>
                              <a:latin typeface="Cambria Math"/>
                              <a:cs typeface="Times New Roman" pitchFamily="18" charset="0"/>
                            </a:rPr>
                            <m:t>𝑭𝑵</m:t>
                          </m:r>
                        </m:den>
                      </m:f>
                    </m:oMath>
                  </m:oMathPara>
                </a14:m>
                <a:endParaRPr lang="en-US" sz="1800" b="1" dirty="0">
                  <a:solidFill>
                    <a:schemeClr val="tx1"/>
                  </a:solidFill>
                  <a:latin typeface="Times New Roman" pitchFamily="18" charset="0"/>
                  <a:cs typeface="Times New Roman" pitchFamily="18" charset="0"/>
                </a:endParaRPr>
              </a:p>
            </p:txBody>
          </p:sp>
        </mc:Choice>
        <mc:Fallback xmlns="">
          <p:sp>
            <p:nvSpPr>
              <p:cNvPr id="3" name="Subtitle 2">
                <a:extLst>
                  <a:ext uri="{FF2B5EF4-FFF2-40B4-BE49-F238E27FC236}">
                    <a16:creationId xmlns="" xmlns:a16="http://schemas.microsoft.com/office/drawing/2014/main" id="{670B861F-8BE8-E644-509D-391CCBCB7069}"/>
                  </a:ext>
                </a:extLst>
              </p:cNvPr>
              <p:cNvSpPr>
                <a:spLocks noGrp="1" noRot="1" noChangeAspect="1" noMove="1" noResize="1" noEditPoints="1" noAdjustHandles="1" noChangeArrowheads="1" noChangeShapeType="1" noTextEdit="1"/>
              </p:cNvSpPr>
              <p:nvPr>
                <p:ph type="subTitle" idx="1"/>
              </p:nvPr>
            </p:nvSpPr>
            <p:spPr>
              <a:xfrm>
                <a:off x="685800" y="1371600"/>
                <a:ext cx="7467600" cy="4343400"/>
              </a:xfrm>
              <a:blipFill rotWithShape="1">
                <a:blip r:embed="rId2"/>
                <a:stretch>
                  <a:fillRect l="-735" t="-701" r="-653"/>
                </a:stretch>
              </a:blipFill>
            </p:spPr>
            <p:txBody>
              <a:bodyPr/>
              <a:lstStyle/>
              <a:p>
                <a:r>
                  <a:rPr lang="en-US">
                    <a:noFill/>
                  </a:rPr>
                  <a:t> </a:t>
                </a:r>
              </a:p>
            </p:txBody>
          </p:sp>
        </mc:Fallback>
      </mc:AlternateContent>
    </p:spTree>
    <p:extLst>
      <p:ext uri="{BB962C8B-B14F-4D97-AF65-F5344CB8AC3E}">
        <p14:creationId xmlns:p14="http://schemas.microsoft.com/office/powerpoint/2010/main" val="24855664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F7907-06C6-955D-F3BE-F5CA7BF9A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22C06C-742E-B9BB-ED99-3ECABA29D341}"/>
              </a:ext>
            </a:extLst>
          </p:cNvPr>
          <p:cNvSpPr>
            <a:spLocks noGrp="1"/>
          </p:cNvSpPr>
          <p:nvPr>
            <p:ph type="ctrTitle"/>
          </p:nvPr>
        </p:nvSpPr>
        <p:spPr>
          <a:xfrm>
            <a:off x="990600" y="381000"/>
            <a:ext cx="7086600" cy="708025"/>
          </a:xfrm>
        </p:spPr>
        <p:txBody>
          <a:bodyPr>
            <a:normAutofit/>
          </a:bodyPr>
          <a:lstStyle/>
          <a:p>
            <a:r>
              <a:rPr lang="en-US" sz="3200" dirty="0">
                <a:latin typeface="Times New Roman" pitchFamily="18" charset="0"/>
                <a:cs typeface="Times New Roman" pitchFamily="18" charset="0"/>
              </a:rPr>
              <a:t>Performance Measure in Classification</a:t>
            </a: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670B861F-8BE8-E644-509D-391CCBCB7069}"/>
                  </a:ext>
                </a:extLst>
              </p:cNvPr>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Precision and Recall</a:t>
                </a:r>
              </a:p>
              <a:p>
                <a:pPr algn="just"/>
                <a:endParaRPr lang="en-US" sz="1800" dirty="0">
                  <a:solidFill>
                    <a:schemeClr val="tx1"/>
                  </a:solidFill>
                  <a:latin typeface="Times New Roman" pitchFamily="18" charset="0"/>
                  <a:cs typeface="Times New Roman" pitchFamily="18" charset="0"/>
                </a:endParaRPr>
              </a:p>
              <a:p>
                <a:pPr algn="just"/>
                <a:endParaRPr lang="en-US" sz="1800" b="1" i="1" dirty="0">
                  <a:solidFill>
                    <a:schemeClr val="tx1"/>
                  </a:solidFill>
                  <a:latin typeface="Cambria Math"/>
                  <a:cs typeface="Times New Roman" pitchFamily="18" charset="0"/>
                </a:endParaRPr>
              </a:p>
              <a:p>
                <a:pPr algn="just"/>
                <a:endParaRPr lang="en-US" sz="1800" b="1" i="1" dirty="0">
                  <a:solidFill>
                    <a:schemeClr val="tx1"/>
                  </a:solidFill>
                  <a:latin typeface="Cambria Math"/>
                  <a:cs typeface="Times New Roman" pitchFamily="18" charset="0"/>
                </a:endParaRPr>
              </a:p>
              <a:p>
                <a:pPr algn="just"/>
                <a:endParaRPr lang="en-US" sz="1800" b="1" i="1" dirty="0">
                  <a:solidFill>
                    <a:schemeClr val="tx1"/>
                  </a:solidFill>
                  <a:latin typeface="Cambria Math"/>
                  <a:cs typeface="Times New Roman" pitchFamily="18" charset="0"/>
                </a:endParaRPr>
              </a:p>
              <a:p>
                <a:pPr algn="just"/>
                <a:endParaRPr lang="en-US" sz="1800" b="1" i="1" dirty="0">
                  <a:solidFill>
                    <a:schemeClr val="tx1"/>
                  </a:solidFill>
                  <a:latin typeface="Cambria Math"/>
                  <a:cs typeface="Times New Roman" pitchFamily="18" charset="0"/>
                </a:endParaRPr>
              </a:p>
              <a:p>
                <a:pPr algn="just"/>
                <a14:m>
                  <m:oMath xmlns:m="http://schemas.openxmlformats.org/officeDocument/2006/math">
                    <m:r>
                      <a:rPr lang="en-US" sz="1800" b="1" i="1" smtClean="0">
                        <a:solidFill>
                          <a:schemeClr val="tx1"/>
                        </a:solidFill>
                        <a:latin typeface="Cambria Math"/>
                        <a:cs typeface="Times New Roman" pitchFamily="18" charset="0"/>
                      </a:rPr>
                      <m:t>𝒑𝒓𝒆𝒄𝒊𝒔𝒊𝒐𝒏</m:t>
                    </m:r>
                    <m:r>
                      <a:rPr lang="en-US" sz="1800" b="1" i="1" smtClean="0">
                        <a:solidFill>
                          <a:schemeClr val="tx1"/>
                        </a:solidFill>
                        <a:latin typeface="Cambria Math"/>
                        <a:cs typeface="Times New Roman" pitchFamily="18" charset="0"/>
                      </a:rPr>
                      <m:t>=</m:t>
                    </m:r>
                    <m:f>
                      <m:fPr>
                        <m:ctrlPr>
                          <a:rPr lang="en-US" sz="1800" b="1" i="1" smtClean="0">
                            <a:solidFill>
                              <a:schemeClr val="tx1"/>
                            </a:solidFill>
                            <a:latin typeface="Cambria Math" panose="02040503050406030204" pitchFamily="18" charset="0"/>
                            <a:cs typeface="Times New Roman" pitchFamily="18" charset="0"/>
                          </a:rPr>
                        </m:ctrlPr>
                      </m:fPr>
                      <m:num>
                        <m:r>
                          <a:rPr lang="en-US" sz="1800" b="1" i="1" smtClean="0">
                            <a:solidFill>
                              <a:schemeClr val="tx1"/>
                            </a:solidFill>
                            <a:latin typeface="Cambria Math"/>
                            <a:cs typeface="Times New Roman" pitchFamily="18" charset="0"/>
                          </a:rPr>
                          <m:t>𝑻𝑷</m:t>
                        </m:r>
                      </m:num>
                      <m:den>
                        <m:r>
                          <a:rPr lang="en-US" sz="1800" b="1" i="1" smtClean="0">
                            <a:solidFill>
                              <a:schemeClr val="tx1"/>
                            </a:solidFill>
                            <a:latin typeface="Cambria Math"/>
                            <a:cs typeface="Times New Roman" pitchFamily="18" charset="0"/>
                          </a:rPr>
                          <m:t>𝑻𝑷</m:t>
                        </m:r>
                        <m:r>
                          <a:rPr lang="en-US" sz="1800" b="1" i="1" smtClean="0">
                            <a:solidFill>
                              <a:schemeClr val="tx1"/>
                            </a:solidFill>
                            <a:latin typeface="Cambria Math"/>
                            <a:cs typeface="Times New Roman" pitchFamily="18" charset="0"/>
                          </a:rPr>
                          <m:t>+</m:t>
                        </m:r>
                        <m:r>
                          <a:rPr lang="en-US" sz="1800" b="1" i="1" smtClean="0">
                            <a:solidFill>
                              <a:srgbClr val="FF0000"/>
                            </a:solidFill>
                            <a:latin typeface="Cambria Math"/>
                            <a:cs typeface="Times New Roman" pitchFamily="18" charset="0"/>
                          </a:rPr>
                          <m:t>𝑭𝑷</m:t>
                        </m:r>
                      </m:den>
                    </m:f>
                  </m:oMath>
                </a14:m>
                <a:r>
                  <a:rPr lang="en-US" sz="1800" b="1" dirty="0">
                    <a:solidFill>
                      <a:schemeClr val="tx1"/>
                    </a:solidFill>
                    <a:latin typeface="Times New Roman" pitchFamily="18" charset="0"/>
                    <a:cs typeface="Times New Roman" pitchFamily="18" charset="0"/>
                  </a:rPr>
                  <a:t>	</a:t>
                </a:r>
                <a14:m>
                  <m:oMath xmlns:m="http://schemas.openxmlformats.org/officeDocument/2006/math">
                    <m:r>
                      <a:rPr lang="en-US" sz="1800" b="1" i="1" smtClean="0">
                        <a:solidFill>
                          <a:schemeClr val="tx1"/>
                        </a:solidFill>
                        <a:latin typeface="Cambria Math"/>
                        <a:cs typeface="Times New Roman" pitchFamily="18" charset="0"/>
                      </a:rPr>
                      <m:t>𝒓𝒆𝒄𝒂𝒍𝒍</m:t>
                    </m:r>
                    <m:r>
                      <a:rPr lang="en-US" sz="1800" b="1" i="1">
                        <a:solidFill>
                          <a:schemeClr val="tx1"/>
                        </a:solidFill>
                        <a:latin typeface="Cambria Math"/>
                        <a:cs typeface="Times New Roman" pitchFamily="18" charset="0"/>
                      </a:rPr>
                      <m:t>=</m:t>
                    </m:r>
                    <m:f>
                      <m:fPr>
                        <m:ctrlPr>
                          <a:rPr lang="en-US" sz="1800" b="1" i="1">
                            <a:solidFill>
                              <a:schemeClr val="tx1"/>
                            </a:solidFill>
                            <a:latin typeface="Cambria Math" panose="02040503050406030204" pitchFamily="18" charset="0"/>
                            <a:cs typeface="Times New Roman" pitchFamily="18" charset="0"/>
                          </a:rPr>
                        </m:ctrlPr>
                      </m:fPr>
                      <m:num>
                        <m:r>
                          <a:rPr lang="en-US" sz="1800" b="1" i="1">
                            <a:solidFill>
                              <a:schemeClr val="tx1"/>
                            </a:solidFill>
                            <a:latin typeface="Cambria Math"/>
                            <a:cs typeface="Times New Roman" pitchFamily="18" charset="0"/>
                          </a:rPr>
                          <m:t>𝑻𝑷</m:t>
                        </m:r>
                      </m:num>
                      <m:den>
                        <m:r>
                          <a:rPr lang="en-US" sz="1800" b="1" i="1">
                            <a:solidFill>
                              <a:schemeClr val="tx1"/>
                            </a:solidFill>
                            <a:latin typeface="Cambria Math"/>
                            <a:cs typeface="Times New Roman" pitchFamily="18" charset="0"/>
                          </a:rPr>
                          <m:t>𝑻𝑷</m:t>
                        </m:r>
                        <m:r>
                          <a:rPr lang="en-US" sz="1800" b="1" i="1">
                            <a:solidFill>
                              <a:schemeClr val="tx1"/>
                            </a:solidFill>
                            <a:latin typeface="Cambria Math"/>
                            <a:cs typeface="Times New Roman" pitchFamily="18" charset="0"/>
                          </a:rPr>
                          <m:t>+</m:t>
                        </m:r>
                        <m:r>
                          <a:rPr lang="en-US" sz="1800" b="1" i="1">
                            <a:solidFill>
                              <a:schemeClr val="tx1"/>
                            </a:solidFill>
                            <a:latin typeface="Cambria Math"/>
                            <a:cs typeface="Times New Roman" pitchFamily="18" charset="0"/>
                          </a:rPr>
                          <m:t>𝑭𝑵</m:t>
                        </m:r>
                      </m:den>
                    </m:f>
                  </m:oMath>
                </a14:m>
                <a:endParaRPr lang="en-US" sz="1800" b="1"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In the case of the spam detection problem, we want to have </a:t>
                </a:r>
                <a:r>
                  <a:rPr lang="en-US" sz="1800" b="1" dirty="0">
                    <a:solidFill>
                      <a:schemeClr val="tx1"/>
                    </a:solidFill>
                    <a:latin typeface="Times New Roman" pitchFamily="18" charset="0"/>
                    <a:cs typeface="Times New Roman" pitchFamily="18" charset="0"/>
                  </a:rPr>
                  <a:t>high precision </a:t>
                </a:r>
                <a:r>
                  <a:rPr lang="en-US" sz="1800" dirty="0">
                    <a:solidFill>
                      <a:schemeClr val="tx1"/>
                    </a:solidFill>
                    <a:latin typeface="Times New Roman" pitchFamily="18" charset="0"/>
                    <a:cs typeface="Times New Roman" pitchFamily="18" charset="0"/>
                  </a:rPr>
                  <a:t>(</a:t>
                </a:r>
                <a:r>
                  <a:rPr lang="en-US" sz="1800" dirty="0">
                    <a:solidFill>
                      <a:srgbClr val="FF0000"/>
                    </a:solidFill>
                    <a:latin typeface="Times New Roman" pitchFamily="18" charset="0"/>
                    <a:cs typeface="Times New Roman" pitchFamily="18" charset="0"/>
                  </a:rPr>
                  <a:t>we want to avoid making mistakes by detecting that a legitimate message is spam</a:t>
                </a:r>
                <a:r>
                  <a:rPr lang="en-US" sz="1800" dirty="0">
                    <a:solidFill>
                      <a:schemeClr val="tx1"/>
                    </a:solidFill>
                    <a:latin typeface="Times New Roman" pitchFamily="18" charset="0"/>
                    <a:cs typeface="Times New Roman" pitchFamily="18" charset="0"/>
                  </a:rPr>
                  <a:t>) and we are ready to tolerate </a:t>
                </a:r>
                <a:r>
                  <a:rPr lang="en-US" sz="1800" b="1" dirty="0">
                    <a:solidFill>
                      <a:schemeClr val="tx1"/>
                    </a:solidFill>
                    <a:latin typeface="Times New Roman" pitchFamily="18" charset="0"/>
                    <a:cs typeface="Times New Roman" pitchFamily="18" charset="0"/>
                  </a:rPr>
                  <a:t>lower recall </a:t>
                </a:r>
                <a:r>
                  <a:rPr lang="en-US" sz="1800" dirty="0">
                    <a:solidFill>
                      <a:schemeClr val="tx1"/>
                    </a:solidFill>
                    <a:latin typeface="Times New Roman" pitchFamily="18" charset="0"/>
                    <a:cs typeface="Times New Roman" pitchFamily="18" charset="0"/>
                  </a:rPr>
                  <a:t>(we tolerate some spam messages in our inbox).</a:t>
                </a:r>
              </a:p>
            </p:txBody>
          </p:sp>
        </mc:Choice>
        <mc:Fallback xmlns="">
          <p:sp>
            <p:nvSpPr>
              <p:cNvPr id="3" name="Subtitle 2">
                <a:extLst>
                  <a:ext uri="{FF2B5EF4-FFF2-40B4-BE49-F238E27FC236}">
                    <a16:creationId xmlns="" xmlns:a16="http://schemas.microsoft.com/office/drawing/2014/main" id="{670B861F-8BE8-E644-509D-391CCBCB7069}"/>
                  </a:ext>
                </a:extLst>
              </p:cNvPr>
              <p:cNvSpPr>
                <a:spLocks noGrp="1" noRot="1" noChangeAspect="1" noMove="1" noResize="1" noEditPoints="1" noAdjustHandles="1" noChangeArrowheads="1" noChangeShapeType="1" noTextEdit="1"/>
              </p:cNvSpPr>
              <p:nvPr>
                <p:ph type="subTitle" idx="1"/>
              </p:nvPr>
            </p:nvSpPr>
            <p:spPr>
              <a:xfrm>
                <a:off x="685800" y="1371600"/>
                <a:ext cx="7467600" cy="4343400"/>
              </a:xfrm>
              <a:blipFill rotWithShape="1">
                <a:blip r:embed="rId2"/>
                <a:stretch>
                  <a:fillRect l="-735" t="-701" r="-653"/>
                </a:stretch>
              </a:blipFill>
            </p:spPr>
            <p:txBody>
              <a:bodyPr/>
              <a:lstStyle/>
              <a:p>
                <a:r>
                  <a:rPr lang="en-US">
                    <a:noFill/>
                  </a:rPr>
                  <a:t> </a:t>
                </a:r>
              </a:p>
            </p:txBody>
          </p:sp>
        </mc:Fallback>
      </mc:AlternateContent>
      <p:graphicFrame>
        <p:nvGraphicFramePr>
          <p:cNvPr id="4" name="Table 3"/>
          <p:cNvGraphicFramePr>
            <a:graphicFrameLocks noGrp="1"/>
          </p:cNvGraphicFramePr>
          <p:nvPr/>
        </p:nvGraphicFramePr>
        <p:xfrm>
          <a:off x="1219200" y="1828800"/>
          <a:ext cx="6122798" cy="1112520"/>
        </p:xfrm>
        <a:graphic>
          <a:graphicData uri="http://schemas.openxmlformats.org/drawingml/2006/table">
            <a:tbl>
              <a:tblPr firstRow="1" bandRow="1">
                <a:tableStyleId>{D7AC3CCA-C797-4891-BE02-D94E43425B78}</a:tableStyleId>
              </a:tblPr>
              <a:tblGrid>
                <a:gridCol w="1952943">
                  <a:extLst>
                    <a:ext uri="{9D8B030D-6E8A-4147-A177-3AD203B41FA5}">
                      <a16:colId xmlns:a16="http://schemas.microsoft.com/office/drawing/2014/main" val="20000"/>
                    </a:ext>
                  </a:extLst>
                </a:gridCol>
                <a:gridCol w="1860296">
                  <a:extLst>
                    <a:ext uri="{9D8B030D-6E8A-4147-A177-3AD203B41FA5}">
                      <a16:colId xmlns:a16="http://schemas.microsoft.com/office/drawing/2014/main" val="20001"/>
                    </a:ext>
                  </a:extLst>
                </a:gridCol>
                <a:gridCol w="2309559">
                  <a:extLst>
                    <a:ext uri="{9D8B030D-6E8A-4147-A177-3AD203B41FA5}">
                      <a16:colId xmlns:a16="http://schemas.microsoft.com/office/drawing/2014/main" val="20002"/>
                    </a:ext>
                  </a:extLst>
                </a:gridCol>
              </a:tblGrid>
              <a:tr h="370840">
                <a:tc>
                  <a:txBody>
                    <a:bodyPr/>
                    <a:lstStyle/>
                    <a:p>
                      <a:endParaRPr lang="en-US" b="1" dirty="0"/>
                    </a:p>
                  </a:txBody>
                  <a:tcPr>
                    <a:solidFill>
                      <a:schemeClr val="accent1">
                        <a:lumMod val="40000"/>
                        <a:lumOff val="60000"/>
                      </a:schemeClr>
                    </a:solidFill>
                  </a:tcPr>
                </a:tc>
                <a:tc>
                  <a:txBody>
                    <a:bodyPr/>
                    <a:lstStyle/>
                    <a:p>
                      <a:r>
                        <a:rPr lang="en-US" dirty="0"/>
                        <a:t>Spam</a:t>
                      </a:r>
                      <a:r>
                        <a:rPr lang="en-US" baseline="0" dirty="0"/>
                        <a:t> (predicted)</a:t>
                      </a:r>
                      <a:endParaRPr lang="en-US" dirty="0"/>
                    </a:p>
                  </a:txBody>
                  <a:tcPr>
                    <a:solidFill>
                      <a:schemeClr val="accent1">
                        <a:lumMod val="40000"/>
                        <a:lumOff val="60000"/>
                      </a:schemeClr>
                    </a:solidFill>
                  </a:tcPr>
                </a:tc>
                <a:tc>
                  <a:txBody>
                    <a:bodyPr/>
                    <a:lstStyle/>
                    <a:p>
                      <a:r>
                        <a:rPr lang="en-US" dirty="0" err="1"/>
                        <a:t>Not_spam</a:t>
                      </a:r>
                      <a:r>
                        <a:rPr lang="en-US" dirty="0"/>
                        <a:t> (predicted)</a:t>
                      </a:r>
                    </a:p>
                  </a:txBody>
                  <a:tcPr>
                    <a:solidFill>
                      <a:schemeClr val="accent1">
                        <a:lumMod val="40000"/>
                        <a:lumOff val="60000"/>
                      </a:schemeClr>
                    </a:solidFill>
                  </a:tcPr>
                </a:tc>
                <a:extLst>
                  <a:ext uri="{0D108BD9-81ED-4DB2-BD59-A6C34878D82A}">
                    <a16:rowId xmlns:a16="http://schemas.microsoft.com/office/drawing/2014/main" val="10000"/>
                  </a:ext>
                </a:extLst>
              </a:tr>
              <a:tr h="370840">
                <a:tc>
                  <a:txBody>
                    <a:bodyPr/>
                    <a:lstStyle/>
                    <a:p>
                      <a:r>
                        <a:rPr lang="en-US" b="1" dirty="0"/>
                        <a:t>Spam (actual)</a:t>
                      </a:r>
                    </a:p>
                  </a:txBody>
                  <a:tcPr>
                    <a:solidFill>
                      <a:schemeClr val="accent1">
                        <a:lumMod val="40000"/>
                        <a:lumOff val="60000"/>
                      </a:schemeClr>
                    </a:solidFill>
                  </a:tcPr>
                </a:tc>
                <a:tc>
                  <a:txBody>
                    <a:bodyPr/>
                    <a:lstStyle/>
                    <a:p>
                      <a:pPr algn="ctr"/>
                      <a:r>
                        <a:rPr lang="en-US" dirty="0"/>
                        <a:t>23 (TP)</a:t>
                      </a:r>
                    </a:p>
                  </a:txBody>
                  <a:tcPr/>
                </a:tc>
                <a:tc>
                  <a:txBody>
                    <a:bodyPr/>
                    <a:lstStyle/>
                    <a:p>
                      <a:pPr algn="ctr"/>
                      <a:r>
                        <a:rPr lang="en-US" dirty="0"/>
                        <a:t>1 (FN)</a:t>
                      </a:r>
                    </a:p>
                  </a:txBody>
                  <a:tcPr/>
                </a:tc>
                <a:extLst>
                  <a:ext uri="{0D108BD9-81ED-4DB2-BD59-A6C34878D82A}">
                    <a16:rowId xmlns:a16="http://schemas.microsoft.com/office/drawing/2014/main" val="10001"/>
                  </a:ext>
                </a:extLst>
              </a:tr>
              <a:tr h="370840">
                <a:tc>
                  <a:txBody>
                    <a:bodyPr/>
                    <a:lstStyle/>
                    <a:p>
                      <a:r>
                        <a:rPr lang="en-US" b="1" dirty="0" err="1"/>
                        <a:t>Not_spam</a:t>
                      </a:r>
                      <a:r>
                        <a:rPr lang="en-US" b="1" dirty="0"/>
                        <a:t> (actual)</a:t>
                      </a:r>
                    </a:p>
                  </a:txBody>
                  <a:tcPr>
                    <a:solidFill>
                      <a:schemeClr val="accent1">
                        <a:lumMod val="40000"/>
                        <a:lumOff val="60000"/>
                      </a:schemeClr>
                    </a:solidFill>
                  </a:tcPr>
                </a:tc>
                <a:tc>
                  <a:txBody>
                    <a:bodyPr/>
                    <a:lstStyle/>
                    <a:p>
                      <a:pPr algn="ctr"/>
                      <a:r>
                        <a:rPr lang="en-US" dirty="0"/>
                        <a:t>12 (FP)</a:t>
                      </a:r>
                    </a:p>
                  </a:txBody>
                  <a:tcPr/>
                </a:tc>
                <a:tc>
                  <a:txBody>
                    <a:bodyPr/>
                    <a:lstStyle/>
                    <a:p>
                      <a:pPr algn="ctr"/>
                      <a:r>
                        <a:rPr lang="en-US" dirty="0"/>
                        <a:t>556</a:t>
                      </a:r>
                      <a:r>
                        <a:rPr lang="en-US" baseline="0" dirty="0"/>
                        <a:t> (TN)</a:t>
                      </a:r>
                      <a:endParaRPr lang="en-US"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7404657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F7907-06C6-955D-F3BE-F5CA7BF9A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22C06C-742E-B9BB-ED99-3ECABA29D341}"/>
              </a:ext>
            </a:extLst>
          </p:cNvPr>
          <p:cNvSpPr>
            <a:spLocks noGrp="1"/>
          </p:cNvSpPr>
          <p:nvPr>
            <p:ph type="ctrTitle"/>
          </p:nvPr>
        </p:nvSpPr>
        <p:spPr>
          <a:xfrm>
            <a:off x="990600" y="381000"/>
            <a:ext cx="7086600" cy="708025"/>
          </a:xfrm>
        </p:spPr>
        <p:txBody>
          <a:bodyPr>
            <a:normAutofit/>
          </a:bodyPr>
          <a:lstStyle/>
          <a:p>
            <a:r>
              <a:rPr lang="en-US" sz="3200" dirty="0">
                <a:latin typeface="Times New Roman" pitchFamily="18" charset="0"/>
                <a:cs typeface="Times New Roman" pitchFamily="18" charset="0"/>
              </a:rPr>
              <a:t>Performance Measure in Classification</a:t>
            </a: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670B861F-8BE8-E644-509D-391CCBCB7069}"/>
                  </a:ext>
                </a:extLst>
              </p:cNvPr>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Precision and Recall</a:t>
                </a:r>
              </a:p>
              <a:p>
                <a:pPr algn="just"/>
                <a:r>
                  <a:rPr lang="en-US" sz="1800" dirty="0">
                    <a:solidFill>
                      <a:schemeClr val="tx1"/>
                    </a:solidFill>
                    <a:latin typeface="Times New Roman" pitchFamily="18" charset="0"/>
                    <a:cs typeface="Times New Roman" pitchFamily="18" charset="0"/>
                  </a:rPr>
                  <a:t>Even if precision and recall are defined for the </a:t>
                </a:r>
                <a:r>
                  <a:rPr lang="en-US" sz="1800" b="1" dirty="0">
                    <a:solidFill>
                      <a:schemeClr val="tx1"/>
                    </a:solidFill>
                    <a:latin typeface="Times New Roman" pitchFamily="18" charset="0"/>
                    <a:cs typeface="Times New Roman" pitchFamily="18" charset="0"/>
                  </a:rPr>
                  <a:t>binary classification </a:t>
                </a:r>
                <a:r>
                  <a:rPr lang="en-US" sz="1800" dirty="0">
                    <a:solidFill>
                      <a:schemeClr val="tx1"/>
                    </a:solidFill>
                    <a:latin typeface="Times New Roman" pitchFamily="18" charset="0"/>
                    <a:cs typeface="Times New Roman" pitchFamily="18" charset="0"/>
                  </a:rPr>
                  <a:t>case, you can always use it to assess a multiclass classification model. </a:t>
                </a:r>
              </a:p>
              <a:p>
                <a:pPr algn="just"/>
                <a:r>
                  <a:rPr lang="en-US" sz="1800" dirty="0">
                    <a:solidFill>
                      <a:schemeClr val="tx1"/>
                    </a:solidFill>
                    <a:latin typeface="Times New Roman" pitchFamily="18" charset="0"/>
                    <a:cs typeface="Times New Roman" pitchFamily="18" charset="0"/>
                  </a:rPr>
                  <a:t>To do that, first select a class for which you want to assess these metrics. Then you consider all examples of the selected class as </a:t>
                </a:r>
                <a:r>
                  <a:rPr lang="en-US" sz="1800" b="1" dirty="0">
                    <a:solidFill>
                      <a:schemeClr val="tx1"/>
                    </a:solidFill>
                    <a:latin typeface="Times New Roman" pitchFamily="18" charset="0"/>
                    <a:cs typeface="Times New Roman" pitchFamily="18" charset="0"/>
                  </a:rPr>
                  <a:t>positives</a:t>
                </a:r>
                <a:r>
                  <a:rPr lang="en-US" sz="1800" dirty="0">
                    <a:solidFill>
                      <a:schemeClr val="tx1"/>
                    </a:solidFill>
                    <a:latin typeface="Times New Roman" pitchFamily="18" charset="0"/>
                    <a:cs typeface="Times New Roman" pitchFamily="18" charset="0"/>
                  </a:rPr>
                  <a:t> and all examples of the remaining classes as </a:t>
                </a:r>
                <a:r>
                  <a:rPr lang="en-US" sz="1800" b="1" dirty="0">
                    <a:solidFill>
                      <a:schemeClr val="tx1"/>
                    </a:solidFill>
                    <a:latin typeface="Times New Roman" pitchFamily="18" charset="0"/>
                    <a:cs typeface="Times New Roman" pitchFamily="18" charset="0"/>
                  </a:rPr>
                  <a:t>negatives</a:t>
                </a:r>
                <a:r>
                  <a:rPr lang="en-US" sz="1800" dirty="0">
                    <a:solidFill>
                      <a:schemeClr val="tx1"/>
                    </a:solidFill>
                    <a:latin typeface="Times New Roman" pitchFamily="18" charset="0"/>
                    <a:cs typeface="Times New Roman" pitchFamily="18" charset="0"/>
                  </a:rPr>
                  <a:t>.</a:t>
                </a:r>
              </a:p>
              <a:p>
                <a:pPr algn="just"/>
                <a:endParaRPr lang="en-US"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F1 Score</a:t>
                </a:r>
              </a:p>
              <a:p>
                <a:pPr algn="just"/>
                <a:r>
                  <a:rPr lang="en-US" sz="1800" dirty="0">
                    <a:solidFill>
                      <a:schemeClr val="tx1"/>
                    </a:solidFill>
                    <a:latin typeface="Times New Roman" pitchFamily="18" charset="0"/>
                    <a:cs typeface="Times New Roman" pitchFamily="18" charset="0"/>
                  </a:rPr>
                  <a:t>The F1 Score is a performance metric used in classification tasks, especially when dealing with </a:t>
                </a:r>
                <a:r>
                  <a:rPr lang="en-US" sz="1800" b="1" dirty="0">
                    <a:solidFill>
                      <a:schemeClr val="tx1"/>
                    </a:solidFill>
                    <a:latin typeface="Times New Roman" pitchFamily="18" charset="0"/>
                    <a:cs typeface="Times New Roman" pitchFamily="18" charset="0"/>
                  </a:rPr>
                  <a:t>imbalanced datasets</a:t>
                </a:r>
                <a:r>
                  <a:rPr lang="en-US" sz="1800" dirty="0">
                    <a:solidFill>
                      <a:schemeClr val="tx1"/>
                    </a:solidFill>
                    <a:latin typeface="Times New Roman" pitchFamily="18" charset="0"/>
                    <a:cs typeface="Times New Roman" pitchFamily="18" charset="0"/>
                  </a:rPr>
                  <a:t>. It is the harmonic mean of </a:t>
                </a:r>
                <a:r>
                  <a:rPr lang="en-US" sz="1800" b="1" dirty="0">
                    <a:solidFill>
                      <a:schemeClr val="tx1"/>
                    </a:solidFill>
                    <a:latin typeface="Times New Roman" pitchFamily="18" charset="0"/>
                    <a:cs typeface="Times New Roman" pitchFamily="18" charset="0"/>
                  </a:rPr>
                  <a:t>precision </a:t>
                </a:r>
                <a:r>
                  <a:rPr lang="en-US" sz="1800" dirty="0">
                    <a:solidFill>
                      <a:schemeClr val="tx1"/>
                    </a:solidFill>
                    <a:latin typeface="Times New Roman" pitchFamily="18" charset="0"/>
                    <a:cs typeface="Times New Roman" pitchFamily="18" charset="0"/>
                  </a:rPr>
                  <a:t>and </a:t>
                </a:r>
                <a:r>
                  <a:rPr lang="en-US" sz="1800" b="1" dirty="0">
                    <a:solidFill>
                      <a:schemeClr val="tx1"/>
                    </a:solidFill>
                    <a:latin typeface="Times New Roman" pitchFamily="18" charset="0"/>
                    <a:cs typeface="Times New Roman" pitchFamily="18" charset="0"/>
                  </a:rPr>
                  <a:t>recall</a:t>
                </a:r>
                <a:r>
                  <a:rPr lang="en-US" sz="1800" dirty="0">
                    <a:solidFill>
                      <a:schemeClr val="tx1"/>
                    </a:solidFill>
                    <a:latin typeface="Times New Roman" pitchFamily="18" charset="0"/>
                    <a:cs typeface="Times New Roman" pitchFamily="18" charset="0"/>
                  </a:rPr>
                  <a:t>, balancing both metrics into a single value. </a:t>
                </a:r>
              </a:p>
              <a:p>
                <a:pPr algn="just"/>
                <a14:m>
                  <m:oMathPara xmlns:m="http://schemas.openxmlformats.org/officeDocument/2006/math">
                    <m:oMathParaPr>
                      <m:jc m:val="left"/>
                    </m:oMathParaPr>
                    <m:oMath xmlns:m="http://schemas.openxmlformats.org/officeDocument/2006/math">
                      <m:r>
                        <a:rPr lang="en-US" sz="1800" b="1" i="1" smtClean="0">
                          <a:solidFill>
                            <a:schemeClr val="tx1"/>
                          </a:solidFill>
                          <a:latin typeface="Cambria Math"/>
                          <a:cs typeface="Times New Roman" pitchFamily="18" charset="0"/>
                        </a:rPr>
                        <m:t>𝑭</m:t>
                      </m:r>
                      <m:r>
                        <a:rPr lang="en-US" sz="1800" b="1" i="1" smtClean="0">
                          <a:solidFill>
                            <a:schemeClr val="tx1"/>
                          </a:solidFill>
                          <a:latin typeface="Cambria Math"/>
                          <a:cs typeface="Times New Roman" pitchFamily="18" charset="0"/>
                        </a:rPr>
                        <m:t>𝟏</m:t>
                      </m:r>
                      <m:r>
                        <a:rPr lang="en-US" sz="1800" b="1" i="1">
                          <a:solidFill>
                            <a:schemeClr val="tx1"/>
                          </a:solidFill>
                          <a:latin typeface="Cambria Math"/>
                          <a:cs typeface="Times New Roman" pitchFamily="18" charset="0"/>
                        </a:rPr>
                        <m:t>=</m:t>
                      </m:r>
                      <m:f>
                        <m:fPr>
                          <m:ctrlPr>
                            <a:rPr lang="en-US" sz="1800" b="1" i="1">
                              <a:solidFill>
                                <a:schemeClr val="tx1"/>
                              </a:solidFill>
                              <a:latin typeface="Cambria Math" panose="02040503050406030204" pitchFamily="18" charset="0"/>
                              <a:cs typeface="Times New Roman" pitchFamily="18" charset="0"/>
                            </a:rPr>
                          </m:ctrlPr>
                        </m:fPr>
                        <m:num>
                          <m:r>
                            <a:rPr lang="en-GB" sz="1800" b="1" i="1" smtClean="0">
                              <a:solidFill>
                                <a:schemeClr val="tx1"/>
                              </a:solidFill>
                              <a:latin typeface="Cambria Math" panose="02040503050406030204" pitchFamily="18" charset="0"/>
                              <a:cs typeface="Times New Roman" pitchFamily="18" charset="0"/>
                            </a:rPr>
                            <m:t>𝟐</m:t>
                          </m:r>
                          <m:r>
                            <a:rPr lang="en-GB" sz="1800" b="1" i="1" smtClean="0">
                              <a:solidFill>
                                <a:schemeClr val="tx1"/>
                              </a:solidFill>
                              <a:latin typeface="Cambria Math" panose="02040503050406030204" pitchFamily="18" charset="0"/>
                              <a:ea typeface="Cambria Math" panose="02040503050406030204" pitchFamily="18" charset="0"/>
                              <a:cs typeface="Times New Roman" pitchFamily="18" charset="0"/>
                            </a:rPr>
                            <m:t>×</m:t>
                          </m:r>
                          <m:r>
                            <a:rPr lang="en-US" sz="1800" b="1" i="1" smtClean="0">
                              <a:solidFill>
                                <a:schemeClr val="tx1"/>
                              </a:solidFill>
                              <a:latin typeface="Cambria Math"/>
                              <a:cs typeface="Times New Roman" pitchFamily="18" charset="0"/>
                            </a:rPr>
                            <m:t>𝒑𝒓𝒆𝒄𝒊𝒐𝒏</m:t>
                          </m:r>
                          <m:r>
                            <a:rPr lang="en-US" sz="1800" b="1" i="1" smtClean="0">
                              <a:solidFill>
                                <a:schemeClr val="tx1"/>
                              </a:solidFill>
                              <a:latin typeface="Cambria Math"/>
                              <a:ea typeface="Cambria Math"/>
                              <a:cs typeface="Times New Roman" pitchFamily="18" charset="0"/>
                            </a:rPr>
                            <m:t>×</m:t>
                          </m:r>
                          <m:r>
                            <a:rPr lang="en-US" sz="1800" b="1" i="1" smtClean="0">
                              <a:solidFill>
                                <a:schemeClr val="tx1"/>
                              </a:solidFill>
                              <a:latin typeface="Cambria Math"/>
                              <a:ea typeface="Cambria Math"/>
                              <a:cs typeface="Times New Roman" pitchFamily="18" charset="0"/>
                            </a:rPr>
                            <m:t>𝒓𝒆𝒄𝒂𝒍𝒍</m:t>
                          </m:r>
                        </m:num>
                        <m:den>
                          <m:r>
                            <a:rPr lang="en-US" sz="1800" b="1" i="1" smtClean="0">
                              <a:solidFill>
                                <a:schemeClr val="tx1"/>
                              </a:solidFill>
                              <a:latin typeface="Cambria Math"/>
                              <a:cs typeface="Times New Roman" pitchFamily="18" charset="0"/>
                            </a:rPr>
                            <m:t>𝒑𝒓𝒆𝒄𝒊𝒔𝒊𝒐𝒏</m:t>
                          </m:r>
                          <m:r>
                            <a:rPr lang="en-US" sz="1800" b="1" i="1">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𝒓𝒆𝒄𝒂𝒍𝒍</m:t>
                          </m:r>
                        </m:den>
                      </m:f>
                    </m:oMath>
                  </m:oMathPara>
                </a14:m>
                <a:endParaRPr lang="en-US" sz="1800" dirty="0">
                  <a:solidFill>
                    <a:schemeClr val="tx1"/>
                  </a:solidFill>
                  <a:latin typeface="Times New Roman" pitchFamily="18" charset="0"/>
                  <a:cs typeface="Times New Roman" pitchFamily="18" charset="0"/>
                </a:endParaRPr>
              </a:p>
              <a:p>
                <a:pPr algn="just"/>
                <a:endParaRPr lang="en-US" sz="1800" dirty="0">
                  <a:solidFill>
                    <a:schemeClr val="tx1"/>
                  </a:solidFill>
                  <a:latin typeface="Times New Roman" pitchFamily="18" charset="0"/>
                  <a:cs typeface="Times New Roman" pitchFamily="18" charset="0"/>
                </a:endParaRPr>
              </a:p>
            </p:txBody>
          </p:sp>
        </mc:Choice>
        <mc:Fallback xmlns="">
          <p:sp>
            <p:nvSpPr>
              <p:cNvPr id="3" name="Subtitle 2">
                <a:extLst>
                  <a:ext uri="{FF2B5EF4-FFF2-40B4-BE49-F238E27FC236}">
                    <a16:creationId xmlns:a16="http://schemas.microsoft.com/office/drawing/2014/main" id="{670B861F-8BE8-E644-509D-391CCBCB7069}"/>
                  </a:ext>
                </a:extLst>
              </p:cNvPr>
              <p:cNvSpPr>
                <a:spLocks noGrp="1" noRot="1" noChangeAspect="1" noMove="1" noResize="1" noEditPoints="1" noAdjustHandles="1" noChangeArrowheads="1" noChangeShapeType="1" noTextEdit="1"/>
              </p:cNvSpPr>
              <p:nvPr>
                <p:ph type="subTitle" idx="1"/>
              </p:nvPr>
            </p:nvSpPr>
            <p:spPr>
              <a:xfrm>
                <a:off x="685800" y="1371600"/>
                <a:ext cx="7467600" cy="4343400"/>
              </a:xfrm>
              <a:blipFill>
                <a:blip r:embed="rId2"/>
                <a:stretch>
                  <a:fillRect l="-735" t="-701" r="-653"/>
                </a:stretch>
              </a:blipFill>
            </p:spPr>
            <p:txBody>
              <a:bodyPr/>
              <a:lstStyle/>
              <a:p>
                <a:r>
                  <a:rPr lang="en-GB">
                    <a:noFill/>
                  </a:rPr>
                  <a:t> </a:t>
                </a:r>
              </a:p>
            </p:txBody>
          </p:sp>
        </mc:Fallback>
      </mc:AlternateContent>
    </p:spTree>
    <p:extLst>
      <p:ext uri="{BB962C8B-B14F-4D97-AF65-F5344CB8AC3E}">
        <p14:creationId xmlns:p14="http://schemas.microsoft.com/office/powerpoint/2010/main" val="24290401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F7907-06C6-955D-F3BE-F5CA7BF9A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22C06C-742E-B9BB-ED99-3ECABA29D341}"/>
              </a:ext>
            </a:extLst>
          </p:cNvPr>
          <p:cNvSpPr>
            <a:spLocks noGrp="1"/>
          </p:cNvSpPr>
          <p:nvPr>
            <p:ph type="ctrTitle"/>
          </p:nvPr>
        </p:nvSpPr>
        <p:spPr>
          <a:xfrm>
            <a:off x="990600" y="381000"/>
            <a:ext cx="7086600" cy="708025"/>
          </a:xfrm>
        </p:spPr>
        <p:txBody>
          <a:bodyPr>
            <a:normAutofit/>
          </a:bodyPr>
          <a:lstStyle/>
          <a:p>
            <a:r>
              <a:rPr lang="en-US" sz="3200" dirty="0">
                <a:latin typeface="Times New Roman" pitchFamily="18" charset="0"/>
                <a:cs typeface="Times New Roman" pitchFamily="18" charset="0"/>
              </a:rPr>
              <a:t>Performance Measure in Classification</a:t>
            </a: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670B861F-8BE8-E644-509D-391CCBCB7069}"/>
                  </a:ext>
                </a:extLst>
              </p:cNvPr>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itchFamily="18" charset="0"/>
                    <a:cs typeface="Times New Roman" pitchFamily="18" charset="0"/>
                  </a:rPr>
                  <a:t>Accuracy</a:t>
                </a:r>
              </a:p>
              <a:p>
                <a:pPr algn="just"/>
                <a:r>
                  <a:rPr lang="en-US" sz="1800" dirty="0">
                    <a:solidFill>
                      <a:schemeClr val="tx1"/>
                    </a:solidFill>
                    <a:latin typeface="Times New Roman" pitchFamily="18" charset="0"/>
                    <a:cs typeface="Times New Roman" pitchFamily="18" charset="0"/>
                  </a:rPr>
                  <a:t>Accuracy is given by the number of correctly classified examples divided by the total number of classified examples. In terms of the confusion matrix, it is given by: </a:t>
                </a:r>
              </a:p>
              <a:p>
                <a:pPr algn="just"/>
                <a14:m>
                  <m:oMathPara xmlns:m="http://schemas.openxmlformats.org/officeDocument/2006/math">
                    <m:oMathParaPr>
                      <m:jc m:val="left"/>
                    </m:oMathParaPr>
                    <m:oMath xmlns:m="http://schemas.openxmlformats.org/officeDocument/2006/math">
                      <m:r>
                        <a:rPr lang="en-US" sz="1800" b="1" i="1" smtClean="0">
                          <a:solidFill>
                            <a:schemeClr val="tx1"/>
                          </a:solidFill>
                          <a:latin typeface="Cambria Math"/>
                          <a:cs typeface="Times New Roman" pitchFamily="18" charset="0"/>
                        </a:rPr>
                        <m:t>𝒂𝒄𝒄𝒖𝒓𝒂𝒄𝒚</m:t>
                      </m:r>
                      <m:r>
                        <a:rPr lang="en-US" sz="1800" b="1" i="1">
                          <a:solidFill>
                            <a:schemeClr val="tx1"/>
                          </a:solidFill>
                          <a:latin typeface="Cambria Math"/>
                          <a:cs typeface="Times New Roman" pitchFamily="18" charset="0"/>
                        </a:rPr>
                        <m:t>=</m:t>
                      </m:r>
                      <m:f>
                        <m:fPr>
                          <m:ctrlPr>
                            <a:rPr lang="en-US" sz="1800" b="1" i="1">
                              <a:solidFill>
                                <a:schemeClr val="tx1"/>
                              </a:solidFill>
                              <a:latin typeface="Cambria Math" panose="02040503050406030204" pitchFamily="18" charset="0"/>
                              <a:cs typeface="Times New Roman" pitchFamily="18" charset="0"/>
                            </a:rPr>
                          </m:ctrlPr>
                        </m:fPr>
                        <m:num>
                          <m:r>
                            <a:rPr lang="en-US" sz="1800" b="1" i="1" smtClean="0">
                              <a:solidFill>
                                <a:schemeClr val="tx1"/>
                              </a:solidFill>
                              <a:latin typeface="Cambria Math"/>
                              <a:cs typeface="Times New Roman" pitchFamily="18" charset="0"/>
                            </a:rPr>
                            <m:t>𝑻𝑷</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𝑻𝑵</m:t>
                          </m:r>
                        </m:num>
                        <m:den>
                          <m:r>
                            <a:rPr lang="en-US" sz="1800" b="1" i="1">
                              <a:solidFill>
                                <a:schemeClr val="tx1"/>
                              </a:solidFill>
                              <a:latin typeface="Cambria Math"/>
                              <a:cs typeface="Times New Roman" pitchFamily="18" charset="0"/>
                            </a:rPr>
                            <m:t>𝑻𝑷</m:t>
                          </m:r>
                          <m:r>
                            <a:rPr lang="en-US" sz="1800" b="1" i="1">
                              <a:solidFill>
                                <a:schemeClr val="tx1"/>
                              </a:solidFill>
                              <a:latin typeface="Cambria Math"/>
                              <a:cs typeface="Times New Roman" pitchFamily="18" charset="0"/>
                            </a:rPr>
                            <m:t>+</m:t>
                          </m:r>
                          <m:r>
                            <a:rPr lang="en-US" sz="1800" b="1" i="1">
                              <a:solidFill>
                                <a:schemeClr val="tx1"/>
                              </a:solidFill>
                              <a:latin typeface="Cambria Math"/>
                              <a:cs typeface="Times New Roman" pitchFamily="18" charset="0"/>
                            </a:rPr>
                            <m:t>𝑻𝑵</m:t>
                          </m:r>
                          <m:r>
                            <a:rPr lang="en-US" sz="1800" b="1" i="1">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𝑭𝑷</m:t>
                          </m:r>
                          <m:r>
                            <a:rPr lang="en-US" sz="1800" b="1" i="1" smtClean="0">
                              <a:solidFill>
                                <a:schemeClr val="tx1"/>
                              </a:solidFill>
                              <a:latin typeface="Cambria Math"/>
                              <a:cs typeface="Times New Roman" pitchFamily="18" charset="0"/>
                            </a:rPr>
                            <m:t>+</m:t>
                          </m:r>
                          <m:r>
                            <a:rPr lang="en-US" sz="1800" b="1" i="1" smtClean="0">
                              <a:solidFill>
                                <a:schemeClr val="tx1"/>
                              </a:solidFill>
                              <a:latin typeface="Cambria Math"/>
                              <a:cs typeface="Times New Roman" pitchFamily="18" charset="0"/>
                            </a:rPr>
                            <m:t>𝑭𝑵</m:t>
                          </m:r>
                        </m:den>
                      </m:f>
                    </m:oMath>
                  </m:oMathPara>
                </a14:m>
                <a:endParaRPr lang="en-US" sz="1800" dirty="0">
                  <a:solidFill>
                    <a:schemeClr val="tx1"/>
                  </a:solidFill>
                  <a:latin typeface="Times New Roman" pitchFamily="18" charset="0"/>
                  <a:cs typeface="Times New Roman" pitchFamily="18" charset="0"/>
                </a:endParaRPr>
              </a:p>
              <a:p>
                <a:pPr algn="just"/>
                <a:r>
                  <a:rPr lang="en-US" sz="1800" dirty="0">
                    <a:solidFill>
                      <a:schemeClr val="tx1"/>
                    </a:solidFill>
                    <a:latin typeface="Times New Roman" pitchFamily="18" charset="0"/>
                    <a:cs typeface="Times New Roman" pitchFamily="18" charset="0"/>
                  </a:rPr>
                  <a:t>Accuracy is a useful metric when errors in predicting all classes are equally important. In case of the spam/not spam, this may not be the case.</a:t>
                </a:r>
              </a:p>
              <a:p>
                <a:pPr algn="just"/>
                <a:r>
                  <a:rPr lang="en-US" sz="1800" b="1" dirty="0">
                    <a:solidFill>
                      <a:schemeClr val="tx1"/>
                    </a:solidFill>
                    <a:latin typeface="Times New Roman" pitchFamily="18" charset="0"/>
                    <a:cs typeface="Times New Roman" pitchFamily="18" charset="0"/>
                  </a:rPr>
                  <a:t>For example, </a:t>
                </a:r>
                <a:r>
                  <a:rPr lang="en-US" sz="1800" dirty="0">
                    <a:solidFill>
                      <a:schemeClr val="tx1"/>
                    </a:solidFill>
                    <a:latin typeface="Times New Roman" pitchFamily="18" charset="0"/>
                    <a:cs typeface="Times New Roman" pitchFamily="18" charset="0"/>
                  </a:rPr>
                  <a:t>you would tolerate false positives less than false negatives. A false positive in spam detection is the situation in which your friend sends you an email, but the model labels it as spam and doesn’t show you. On the other hand, the false negative is less of a problem: if your model doesn’t detect a small percentage of spam messages, it’s not a big deal.</a:t>
                </a:r>
              </a:p>
            </p:txBody>
          </p:sp>
        </mc:Choice>
        <mc:Fallback xmlns="">
          <p:sp>
            <p:nvSpPr>
              <p:cNvPr id="3" name="Subtitle 2">
                <a:extLst>
                  <a:ext uri="{FF2B5EF4-FFF2-40B4-BE49-F238E27FC236}">
                    <a16:creationId xmlns="" xmlns:a16="http://schemas.microsoft.com/office/drawing/2014/main" id="{670B861F-8BE8-E644-509D-391CCBCB7069}"/>
                  </a:ext>
                </a:extLst>
              </p:cNvPr>
              <p:cNvSpPr>
                <a:spLocks noGrp="1" noRot="1" noChangeAspect="1" noMove="1" noResize="1" noEditPoints="1" noAdjustHandles="1" noChangeArrowheads="1" noChangeShapeType="1" noTextEdit="1"/>
              </p:cNvSpPr>
              <p:nvPr>
                <p:ph type="subTitle" idx="1"/>
              </p:nvPr>
            </p:nvSpPr>
            <p:spPr>
              <a:xfrm>
                <a:off x="685800" y="1371600"/>
                <a:ext cx="7467600" cy="4343400"/>
              </a:xfrm>
              <a:blipFill rotWithShape="1">
                <a:blip r:embed="rId2"/>
                <a:stretch>
                  <a:fillRect l="-735" t="-701" r="-653"/>
                </a:stretch>
              </a:blipFill>
            </p:spPr>
            <p:txBody>
              <a:bodyPr/>
              <a:lstStyle/>
              <a:p>
                <a:r>
                  <a:rPr lang="en-US">
                    <a:noFill/>
                  </a:rPr>
                  <a:t> </a:t>
                </a:r>
              </a:p>
            </p:txBody>
          </p:sp>
        </mc:Fallback>
      </mc:AlternateContent>
    </p:spTree>
    <p:extLst>
      <p:ext uri="{BB962C8B-B14F-4D97-AF65-F5344CB8AC3E}">
        <p14:creationId xmlns:p14="http://schemas.microsoft.com/office/powerpoint/2010/main" val="37514773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C1C3D-3599-8613-3DC7-239C7E7BD7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D8D9B-3532-09DE-3201-EE78B3042A27}"/>
              </a:ext>
            </a:extLst>
          </p:cNvPr>
          <p:cNvSpPr>
            <a:spLocks noGrp="1"/>
          </p:cNvSpPr>
          <p:nvPr>
            <p:ph type="ctrTitle"/>
          </p:nvPr>
        </p:nvSpPr>
        <p:spPr>
          <a:xfrm>
            <a:off x="1600200" y="381000"/>
            <a:ext cx="6858000" cy="708025"/>
          </a:xfrm>
        </p:spPr>
        <p:txBody>
          <a:bodyPr>
            <a:normAutofit fontScale="90000"/>
          </a:bodyPr>
          <a:lstStyle/>
          <a:p>
            <a:r>
              <a:rPr lang="en-US" sz="3200" dirty="0">
                <a:latin typeface="Times New Roman" pitchFamily="18" charset="0"/>
                <a:cs typeface="Times New Roman" pitchFamily="18" charset="0"/>
              </a:rPr>
              <a:t>Model Evaluation: Classification Metrics</a:t>
            </a:r>
          </a:p>
        </p:txBody>
      </p:sp>
      <mc:AlternateContent xmlns:mc="http://schemas.openxmlformats.org/markup-compatibility/2006">
        <mc:Choice xmlns:a14="http://schemas.microsoft.com/office/drawing/2010/main" Requires="a14">
          <p:sp>
            <p:nvSpPr>
              <p:cNvPr id="3" name="Subtitle 2">
                <a:extLst>
                  <a:ext uri="{FF2B5EF4-FFF2-40B4-BE49-F238E27FC236}">
                    <a16:creationId xmlns:a16="http://schemas.microsoft.com/office/drawing/2014/main" id="{C40281CB-21B3-87AE-FB2E-76DEE75E7F56}"/>
                  </a:ext>
                </a:extLst>
              </p:cNvPr>
              <p:cNvSpPr>
                <a:spLocks noGrp="1"/>
              </p:cNvSpPr>
              <p:nvPr>
                <p:ph type="subTitle" idx="1"/>
              </p:nvPr>
            </p:nvSpPr>
            <p:spPr>
              <a:xfrm>
                <a:off x="685800" y="1371600"/>
                <a:ext cx="7467600" cy="4953000"/>
              </a:xfrm>
            </p:spPr>
            <p:txBody>
              <a:bodyPr>
                <a:normAutofit/>
              </a:bodyPr>
              <a:lstStyle/>
              <a:p>
                <a:pPr algn="just"/>
                <a:r>
                  <a:rPr lang="en-US" sz="1800" b="1" dirty="0">
                    <a:solidFill>
                      <a:schemeClr val="tx1"/>
                    </a:solidFill>
                    <a:latin typeface="Times New Roman" pitchFamily="18" charset="0"/>
                    <a:cs typeface="Times New Roman" pitchFamily="18" charset="0"/>
                  </a:rPr>
                  <a:t>F1-Score: </a:t>
                </a:r>
                <a:r>
                  <a:rPr lang="en-US" sz="1800" dirty="0">
                    <a:solidFill>
                      <a:schemeClr val="tx1"/>
                    </a:solidFill>
                    <a:latin typeface="Times New Roman" pitchFamily="18" charset="0"/>
                    <a:cs typeface="Times New Roman" pitchFamily="18" charset="0"/>
                  </a:rPr>
                  <a:t>The harmonic mean of Precision and Recall. It provides a single score that balances both metrics.</a:t>
                </a:r>
              </a:p>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Formula: </a:t>
                </a:r>
                <a14:m>
                  <m:oMath xmlns:m="http://schemas.openxmlformats.org/officeDocument/2006/math">
                    <m:r>
                      <a:rPr lang="en-US" sz="1800" i="1" dirty="0" smtClean="0">
                        <a:solidFill>
                          <a:schemeClr val="tx1"/>
                        </a:solidFill>
                        <a:latin typeface="Cambria Math"/>
                        <a:cs typeface="Times New Roman" pitchFamily="18" charset="0"/>
                      </a:rPr>
                      <m:t>2 ∗ (</m:t>
                    </m:r>
                    <m:r>
                      <a:rPr lang="en-US" sz="1800" i="1" dirty="0" smtClean="0">
                        <a:solidFill>
                          <a:schemeClr val="tx1"/>
                        </a:solidFill>
                        <a:latin typeface="Cambria Math"/>
                        <a:cs typeface="Times New Roman" pitchFamily="18" charset="0"/>
                      </a:rPr>
                      <m:t>𝑃𝑟𝑒𝑐𝑖𝑠𝑖𝑜𝑛</m:t>
                    </m:r>
                    <m:r>
                      <a:rPr lang="en-US" sz="1800" i="1" dirty="0" smtClean="0">
                        <a:solidFill>
                          <a:schemeClr val="tx1"/>
                        </a:solidFill>
                        <a:latin typeface="Cambria Math"/>
                        <a:cs typeface="Times New Roman" pitchFamily="18" charset="0"/>
                      </a:rPr>
                      <m:t> ∗ </m:t>
                    </m:r>
                    <m:r>
                      <a:rPr lang="en-US" sz="1800" i="1" dirty="0" smtClean="0">
                        <a:solidFill>
                          <a:schemeClr val="tx1"/>
                        </a:solidFill>
                        <a:latin typeface="Cambria Math"/>
                        <a:cs typeface="Times New Roman" pitchFamily="18" charset="0"/>
                      </a:rPr>
                      <m:t>𝑅𝑒𝑐𝑎𝑙𝑙</m:t>
                    </m:r>
                    <m:r>
                      <a:rPr lang="en-US" sz="1800" i="1" dirty="0" smtClean="0">
                        <a:solidFill>
                          <a:schemeClr val="tx1"/>
                        </a:solidFill>
                        <a:latin typeface="Cambria Math"/>
                        <a:cs typeface="Times New Roman" pitchFamily="18" charset="0"/>
                      </a:rPr>
                      <m:t>) / (</m:t>
                    </m:r>
                    <m:r>
                      <a:rPr lang="en-US" sz="1800" i="1" dirty="0" smtClean="0">
                        <a:solidFill>
                          <a:schemeClr val="tx1"/>
                        </a:solidFill>
                        <a:latin typeface="Cambria Math"/>
                        <a:cs typeface="Times New Roman" pitchFamily="18" charset="0"/>
                      </a:rPr>
                      <m:t>𝑃𝑟𝑒𝑐𝑖𝑠𝑖𝑜𝑛</m:t>
                    </m:r>
                    <m:r>
                      <a:rPr lang="en-US" sz="1800" i="1" dirty="0" smtClean="0">
                        <a:solidFill>
                          <a:schemeClr val="tx1"/>
                        </a:solidFill>
                        <a:latin typeface="Cambria Math"/>
                        <a:cs typeface="Times New Roman" pitchFamily="18" charset="0"/>
                      </a:rPr>
                      <m:t> + </m:t>
                    </m:r>
                    <m:r>
                      <a:rPr lang="en-US" sz="1800" i="1" dirty="0" smtClean="0">
                        <a:solidFill>
                          <a:schemeClr val="tx1"/>
                        </a:solidFill>
                        <a:latin typeface="Cambria Math"/>
                        <a:cs typeface="Times New Roman" pitchFamily="18" charset="0"/>
                      </a:rPr>
                      <m:t>𝑅𝑒𝑐𝑎𝑙𝑙</m:t>
                    </m:r>
                    <m:r>
                      <a:rPr lang="en-US" sz="1800" i="1" dirty="0" smtClean="0">
                        <a:solidFill>
                          <a:schemeClr val="tx1"/>
                        </a:solidFill>
                        <a:latin typeface="Cambria Math"/>
                        <a:cs typeface="Times New Roman" pitchFamily="18" charset="0"/>
                      </a:rPr>
                      <m:t>)</m:t>
                    </m:r>
                  </m:oMath>
                </a14:m>
                <a:endParaRPr lang="en-US" sz="1800" dirty="0">
                  <a:solidFill>
                    <a:schemeClr val="tx1"/>
                  </a:solidFill>
                  <a:latin typeface="Times New Roman" pitchFamily="18" charset="0"/>
                  <a:cs typeface="Times New Roman" pitchFamily="18" charset="0"/>
                </a:endParaRPr>
              </a:p>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Example: Useful when you need to find a balance between minimizing false positives and minimizing false negatives, especially in imbalanced datasets.</a:t>
                </a:r>
              </a:p>
              <a:p>
                <a:pPr algn="just"/>
                <a:endParaRPr lang="en-US" sz="1800" dirty="0">
                  <a:solidFill>
                    <a:schemeClr val="tx1"/>
                  </a:solidFill>
                  <a:latin typeface="Times New Roman" pitchFamily="18" charset="0"/>
                  <a:cs typeface="Times New Roman" pitchFamily="18" charset="0"/>
                </a:endParaRPr>
              </a:p>
            </p:txBody>
          </p:sp>
        </mc:Choice>
        <mc:Fallback>
          <p:sp>
            <p:nvSpPr>
              <p:cNvPr id="3" name="Subtitle 2">
                <a:extLst>
                  <a:ext uri="{FF2B5EF4-FFF2-40B4-BE49-F238E27FC236}">
                    <a16:creationId xmlns:a16="http://schemas.microsoft.com/office/drawing/2014/main" id="{C40281CB-21B3-87AE-FB2E-76DEE75E7F56}"/>
                  </a:ext>
                </a:extLst>
              </p:cNvPr>
              <p:cNvSpPr>
                <a:spLocks noGrp="1" noRot="1" noChangeAspect="1" noMove="1" noResize="1" noEditPoints="1" noAdjustHandles="1" noChangeArrowheads="1" noChangeShapeType="1" noTextEdit="1"/>
              </p:cNvSpPr>
              <p:nvPr>
                <p:ph type="subTitle" idx="1"/>
              </p:nvPr>
            </p:nvSpPr>
            <p:spPr>
              <a:xfrm>
                <a:off x="685800" y="1371600"/>
                <a:ext cx="7467600" cy="4953000"/>
              </a:xfrm>
              <a:blipFill>
                <a:blip r:embed="rId2"/>
                <a:stretch>
                  <a:fillRect l="-735" t="-615" r="-653"/>
                </a:stretch>
              </a:blipFill>
            </p:spPr>
            <p:txBody>
              <a:bodyPr/>
              <a:lstStyle/>
              <a:p>
                <a:r>
                  <a:rPr lang="en-US">
                    <a:noFill/>
                  </a:rPr>
                  <a:t> </a:t>
                </a:r>
              </a:p>
            </p:txBody>
          </p:sp>
        </mc:Fallback>
      </mc:AlternateContent>
    </p:spTree>
    <p:extLst>
      <p:ext uri="{BB962C8B-B14F-4D97-AF65-F5344CB8AC3E}">
        <p14:creationId xmlns:p14="http://schemas.microsoft.com/office/powerpoint/2010/main" val="31280898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C1C3D-3599-8613-3DC7-239C7E7BD7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D8D9B-3532-09DE-3201-EE78B3042A27}"/>
              </a:ext>
            </a:extLst>
          </p:cNvPr>
          <p:cNvSpPr>
            <a:spLocks noGrp="1"/>
          </p:cNvSpPr>
          <p:nvPr>
            <p:ph type="ctrTitle"/>
          </p:nvPr>
        </p:nvSpPr>
        <p:spPr>
          <a:xfrm>
            <a:off x="1600200" y="381000"/>
            <a:ext cx="6858000" cy="708025"/>
          </a:xfrm>
        </p:spPr>
        <p:txBody>
          <a:bodyPr>
            <a:normAutofit/>
          </a:bodyPr>
          <a:lstStyle/>
          <a:p>
            <a:r>
              <a:rPr lang="en-US" sz="3200" dirty="0">
                <a:latin typeface="Times New Roman" pitchFamily="18" charset="0"/>
                <a:cs typeface="Times New Roman" pitchFamily="18" charset="0"/>
              </a:rPr>
              <a:t>Model Evaluation: Regression Metrics</a:t>
            </a:r>
          </a:p>
        </p:txBody>
      </p:sp>
      <p:sp>
        <p:nvSpPr>
          <p:cNvPr id="3" name="Subtitle 2">
            <a:extLst>
              <a:ext uri="{FF2B5EF4-FFF2-40B4-BE49-F238E27FC236}">
                <a16:creationId xmlns:a16="http://schemas.microsoft.com/office/drawing/2014/main" id="{C40281CB-21B3-87AE-FB2E-76DEE75E7F56}"/>
              </a:ext>
            </a:extLst>
          </p:cNvPr>
          <p:cNvSpPr>
            <a:spLocks noGrp="1"/>
          </p:cNvSpPr>
          <p:nvPr>
            <p:ph type="subTitle" idx="1"/>
          </p:nvPr>
        </p:nvSpPr>
        <p:spPr>
          <a:xfrm>
            <a:off x="685800" y="1371600"/>
            <a:ext cx="7467600" cy="4953000"/>
          </a:xfrm>
        </p:spPr>
        <p:txBody>
          <a:bodyPr>
            <a:normAutofit/>
          </a:bodyPr>
          <a:lstStyle/>
          <a:p>
            <a:pPr algn="just"/>
            <a:r>
              <a:rPr lang="en-US" sz="1800" dirty="0">
                <a:solidFill>
                  <a:schemeClr val="tx1"/>
                </a:solidFill>
                <a:latin typeface="Times New Roman" pitchFamily="18" charset="0"/>
                <a:cs typeface="Times New Roman" pitchFamily="18" charset="0"/>
              </a:rPr>
              <a:t>These are used when the goal is to predict a continuous numerical value (e.g., a house price, a person's age).</a:t>
            </a:r>
          </a:p>
          <a:p>
            <a:pPr marL="285750" indent="-285750" algn="just">
              <a:buFont typeface="Arial" pitchFamily="34" charset="0"/>
              <a:buChar char="•"/>
            </a:pPr>
            <a:r>
              <a:rPr lang="en-US" sz="1800" b="1" dirty="0">
                <a:solidFill>
                  <a:schemeClr val="tx1"/>
                </a:solidFill>
                <a:latin typeface="Times New Roman" pitchFamily="18" charset="0"/>
                <a:cs typeface="Times New Roman" pitchFamily="18" charset="0"/>
              </a:rPr>
              <a:t>Mean Absolute Error (MAE): </a:t>
            </a:r>
            <a:r>
              <a:rPr lang="en-US" sz="1800" dirty="0">
                <a:solidFill>
                  <a:schemeClr val="tx1"/>
                </a:solidFill>
                <a:latin typeface="Times New Roman" pitchFamily="18" charset="0"/>
                <a:cs typeface="Times New Roman" pitchFamily="18" charset="0"/>
              </a:rPr>
              <a:t>The average of the absolute differences between the predicted and actual values.</a:t>
            </a:r>
          </a:p>
          <a:p>
            <a:pPr marL="742950" lvl="1" indent="-285750" algn="just">
              <a:buFont typeface="Arial" pitchFamily="34" charset="0"/>
              <a:buChar char="•"/>
            </a:pPr>
            <a:r>
              <a:rPr lang="en-US" sz="1800" dirty="0">
                <a:solidFill>
                  <a:schemeClr val="tx1"/>
                </a:solidFill>
                <a:latin typeface="Times New Roman" pitchFamily="18" charset="0"/>
                <a:cs typeface="Times New Roman" pitchFamily="18" charset="0"/>
              </a:rPr>
              <a:t>Example: If you are predicting house prices and your MAE is $10,000, it means that, on average, your model's prediction is off by $10,000. It's easy to interpret because it's in the same units as the output.</a:t>
            </a:r>
          </a:p>
          <a:p>
            <a:pPr marL="285750" indent="-285750" algn="just">
              <a:buFont typeface="Arial" pitchFamily="34" charset="0"/>
              <a:buChar char="•"/>
            </a:pPr>
            <a:endParaRPr lang="en-US" sz="1800" b="1" dirty="0">
              <a:solidFill>
                <a:schemeClr val="tx1"/>
              </a:solidFill>
              <a:latin typeface="Times New Roman" pitchFamily="18" charset="0"/>
              <a:cs typeface="Times New Roman" pitchFamily="18" charset="0"/>
            </a:endParaRPr>
          </a:p>
          <a:p>
            <a:pPr marL="285750" indent="-285750" algn="just">
              <a:buFont typeface="Arial" pitchFamily="34" charset="0"/>
              <a:buChar char="•"/>
            </a:pPr>
            <a:r>
              <a:rPr lang="en-US" sz="1800" b="1" dirty="0">
                <a:solidFill>
                  <a:schemeClr val="tx1"/>
                </a:solidFill>
                <a:latin typeface="Times New Roman" pitchFamily="18" charset="0"/>
                <a:cs typeface="Times New Roman" pitchFamily="18" charset="0"/>
              </a:rPr>
              <a:t>Mean Squared Error (MSE): </a:t>
            </a:r>
            <a:r>
              <a:rPr lang="en-US" sz="1800" dirty="0">
                <a:solidFill>
                  <a:schemeClr val="tx1"/>
                </a:solidFill>
                <a:latin typeface="Times New Roman" pitchFamily="18" charset="0"/>
                <a:cs typeface="Times New Roman" pitchFamily="18" charset="0"/>
              </a:rPr>
              <a:t>The average of the squared differences between the predicted and actual values.</a:t>
            </a:r>
          </a:p>
          <a:p>
            <a:pPr marL="742950" lvl="1" indent="-285750" algn="just">
              <a:buFont typeface="Arial" pitchFamily="34" charset="0"/>
              <a:buChar char="•"/>
            </a:pPr>
            <a:r>
              <a:rPr lang="en-US" sz="1800" dirty="0">
                <a:solidFill>
                  <a:schemeClr val="tx1"/>
                </a:solidFill>
                <a:latin typeface="Times New Roman" pitchFamily="18" charset="0"/>
                <a:cs typeface="Times New Roman" pitchFamily="18" charset="0"/>
              </a:rPr>
              <a:t>Example: Similar to MAE but punishes larger errors more heavily because it squares the difference. If your model predicts a price that is off by $50,000, the squared error is huge, which significantly raises the MSE.</a:t>
            </a:r>
          </a:p>
        </p:txBody>
      </p:sp>
    </p:spTree>
    <p:extLst>
      <p:ext uri="{BB962C8B-B14F-4D97-AF65-F5344CB8AC3E}">
        <p14:creationId xmlns:p14="http://schemas.microsoft.com/office/powerpoint/2010/main" val="13650368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C1C3D-3599-8613-3DC7-239C7E7BD7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D8D9B-3532-09DE-3201-EE78B3042A27}"/>
              </a:ext>
            </a:extLst>
          </p:cNvPr>
          <p:cNvSpPr>
            <a:spLocks noGrp="1"/>
          </p:cNvSpPr>
          <p:nvPr>
            <p:ph type="ctrTitle"/>
          </p:nvPr>
        </p:nvSpPr>
        <p:spPr>
          <a:xfrm>
            <a:off x="1600200" y="381000"/>
            <a:ext cx="6858000" cy="708025"/>
          </a:xfrm>
        </p:spPr>
        <p:txBody>
          <a:bodyPr>
            <a:normAutofit/>
          </a:bodyPr>
          <a:lstStyle/>
          <a:p>
            <a:r>
              <a:rPr lang="en-US" sz="3200" dirty="0">
                <a:latin typeface="Times New Roman" pitchFamily="18" charset="0"/>
                <a:cs typeface="Times New Roman" pitchFamily="18" charset="0"/>
              </a:rPr>
              <a:t>Model Evaluation: Regression Metrics</a:t>
            </a:r>
          </a:p>
        </p:txBody>
      </p:sp>
      <p:sp>
        <p:nvSpPr>
          <p:cNvPr id="3" name="Subtitle 2">
            <a:extLst>
              <a:ext uri="{FF2B5EF4-FFF2-40B4-BE49-F238E27FC236}">
                <a16:creationId xmlns:a16="http://schemas.microsoft.com/office/drawing/2014/main" id="{C40281CB-21B3-87AE-FB2E-76DEE75E7F56}"/>
              </a:ext>
            </a:extLst>
          </p:cNvPr>
          <p:cNvSpPr>
            <a:spLocks noGrp="1"/>
          </p:cNvSpPr>
          <p:nvPr>
            <p:ph type="subTitle" idx="1"/>
          </p:nvPr>
        </p:nvSpPr>
        <p:spPr>
          <a:xfrm>
            <a:off x="685800" y="1371600"/>
            <a:ext cx="7467600" cy="4953000"/>
          </a:xfrm>
        </p:spPr>
        <p:txBody>
          <a:bodyPr>
            <a:normAutofit/>
          </a:bodyPr>
          <a:lstStyle/>
          <a:p>
            <a:pPr algn="just"/>
            <a:r>
              <a:rPr lang="en-US" sz="1800" b="1" dirty="0">
                <a:solidFill>
                  <a:schemeClr val="tx1"/>
                </a:solidFill>
                <a:latin typeface="Times New Roman" pitchFamily="18" charset="0"/>
                <a:cs typeface="Times New Roman" pitchFamily="18" charset="0"/>
              </a:rPr>
              <a:t>Root Mean Squared Error (RMSE): </a:t>
            </a:r>
            <a:r>
              <a:rPr lang="en-US" sz="1800" dirty="0">
                <a:solidFill>
                  <a:schemeClr val="tx1"/>
                </a:solidFill>
                <a:latin typeface="Times New Roman" pitchFamily="18" charset="0"/>
                <a:cs typeface="Times New Roman" pitchFamily="18" charset="0"/>
              </a:rPr>
              <a:t>The square root of the MSE.</a:t>
            </a:r>
          </a:p>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Example: This is often preferred over MSE because taking the square root brings the metric back into the same units as the original target variable (e.g., dollars for house prices), making it more interpretable. It still penalizes large errors more than MAE.</a:t>
            </a:r>
          </a:p>
          <a:p>
            <a:pPr algn="just"/>
            <a:endParaRPr lang="en-US" sz="1800" dirty="0">
              <a:solidFill>
                <a:schemeClr val="tx1"/>
              </a:solidFill>
              <a:latin typeface="Times New Roman" pitchFamily="18" charset="0"/>
              <a:cs typeface="Times New Roman" pitchFamily="18" charset="0"/>
            </a:endParaRPr>
          </a:p>
          <a:p>
            <a:pPr algn="just"/>
            <a:r>
              <a:rPr lang="en-US" sz="1800" b="1" dirty="0">
                <a:solidFill>
                  <a:schemeClr val="tx1"/>
                </a:solidFill>
                <a:latin typeface="Times New Roman" pitchFamily="18" charset="0"/>
                <a:cs typeface="Times New Roman" pitchFamily="18" charset="0"/>
              </a:rPr>
              <a:t>R-Squared (R²): </a:t>
            </a:r>
            <a:r>
              <a:rPr lang="en-US" sz="1800" dirty="0">
                <a:solidFill>
                  <a:schemeClr val="tx1"/>
                </a:solidFill>
                <a:latin typeface="Times New Roman" pitchFamily="18" charset="0"/>
                <a:cs typeface="Times New Roman" pitchFamily="18" charset="0"/>
              </a:rPr>
              <a:t>Also known as the coefficient of determination. It represents the proportion of the variance in the dependent variable that is predictable from the independent variables.</a:t>
            </a:r>
          </a:p>
          <a:p>
            <a:pPr marL="285750" indent="-285750" algn="just">
              <a:buFont typeface="Arial" pitchFamily="34" charset="0"/>
              <a:buChar char="•"/>
            </a:pPr>
            <a:r>
              <a:rPr lang="en-US" sz="1800" dirty="0">
                <a:solidFill>
                  <a:schemeClr val="tx1"/>
                </a:solidFill>
                <a:latin typeface="Times New Roman" pitchFamily="18" charset="0"/>
                <a:cs typeface="Times New Roman" pitchFamily="18" charset="0"/>
              </a:rPr>
              <a:t>Interpretation: It ranges from 0 to 1. An R² of 0.82 means that 82% of the variance in the output variable can be explained by the model's inputs. A higher R² generally indicates a better fit.</a:t>
            </a:r>
          </a:p>
        </p:txBody>
      </p:sp>
    </p:spTree>
    <p:extLst>
      <p:ext uri="{BB962C8B-B14F-4D97-AF65-F5344CB8AC3E}">
        <p14:creationId xmlns:p14="http://schemas.microsoft.com/office/powerpoint/2010/main" val="34319629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920</TotalTime>
  <Words>3906</Words>
  <Application>Microsoft Office PowerPoint</Application>
  <PresentationFormat>On-screen Show (4:3)</PresentationFormat>
  <Paragraphs>691</Paragraphs>
  <Slides>54</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2</vt:i4>
      </vt:variant>
      <vt:variant>
        <vt:lpstr>Slide Titles</vt:lpstr>
      </vt:variant>
      <vt:variant>
        <vt:i4>54</vt:i4>
      </vt:variant>
    </vt:vector>
  </HeadingPairs>
  <TitlesOfParts>
    <vt:vector size="61" baseType="lpstr">
      <vt:lpstr>Arial</vt:lpstr>
      <vt:lpstr>Calibri</vt:lpstr>
      <vt:lpstr>Cambria Math</vt:lpstr>
      <vt:lpstr>Times New Roman</vt:lpstr>
      <vt:lpstr>Office Theme</vt:lpstr>
      <vt:lpstr>Worksheet</vt:lpstr>
      <vt:lpstr>Equation</vt:lpstr>
      <vt:lpstr>Supervised Learning: Classification</vt:lpstr>
      <vt:lpstr>Classification : KNN</vt:lpstr>
      <vt:lpstr>Classification : KNN</vt:lpstr>
      <vt:lpstr>Classification : KNN</vt:lpstr>
      <vt:lpstr>Classification : KNN</vt:lpstr>
      <vt:lpstr>Classification : KNN</vt:lpstr>
      <vt:lpstr>Classification : KNN</vt:lpstr>
      <vt:lpstr>Classification : KNN</vt:lpstr>
      <vt:lpstr>Classification : KNN</vt:lpstr>
      <vt:lpstr>Classification : KNN</vt:lpstr>
      <vt:lpstr>Classification : KNN</vt:lpstr>
      <vt:lpstr>Classification : KNN</vt:lpstr>
      <vt:lpstr>Classification : KNN</vt:lpstr>
      <vt:lpstr>Classification : KNN</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Classification : Decision Tree</vt:lpstr>
      <vt:lpstr>Model Evaluation</vt:lpstr>
      <vt:lpstr>Performance Measure in Classification</vt:lpstr>
      <vt:lpstr>Performance Measure in Classification</vt:lpstr>
      <vt:lpstr>Performance Measure in Classification</vt:lpstr>
      <vt:lpstr>Performance Measure in Classification</vt:lpstr>
      <vt:lpstr>Performance Measure in Classification</vt:lpstr>
      <vt:lpstr>Performance Measure in Classification</vt:lpstr>
      <vt:lpstr>Performance Measure in Classification</vt:lpstr>
      <vt:lpstr>Performance Measure in Classification</vt:lpstr>
      <vt:lpstr>Model Evaluation: Classification Metrics</vt:lpstr>
      <vt:lpstr>Model Evaluation: Regression Metrics</vt:lpstr>
      <vt:lpstr>Model Evaluation: Regression Metrics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Ashraf</dc:creator>
  <cp:lastModifiedBy>Teacher</cp:lastModifiedBy>
  <cp:revision>395</cp:revision>
  <dcterms:created xsi:type="dcterms:W3CDTF">2024-10-19T07:49:00Z</dcterms:created>
  <dcterms:modified xsi:type="dcterms:W3CDTF">2026-04-27T05:31:53Z</dcterms:modified>
</cp:coreProperties>
</file>