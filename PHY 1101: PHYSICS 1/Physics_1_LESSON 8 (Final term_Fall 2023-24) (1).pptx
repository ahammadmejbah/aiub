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ppt/revisionInfo.xml" ContentType="application/vnd.ms-powerpoint.revisioninfo+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3" r:id="rId3"/>
    <p:sldId id="264" r:id="rId4"/>
    <p:sldId id="265" r:id="rId5"/>
    <p:sldId id="266" r:id="rId6"/>
    <p:sldId id="267" r:id="rId7"/>
    <p:sldId id="269" r:id="rId8"/>
    <p:sldId id="270" r:id="rId9"/>
    <p:sldId id="272" r:id="rId10"/>
    <p:sldId id="273" r:id="rId11"/>
    <p:sldId id="271" r:id="rId12"/>
    <p:sldId id="274"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F0E88A-EBC8-4D54-A07B-E91F75D3FA1A}" v="356" dt="2023-07-12T09:29:51.0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E60705-4F61-4619-A9DD-9E8CC7572697}" type="doc">
      <dgm:prSet loTypeId="urn:microsoft.com/office/officeart/2008/layout/AlternatingHexagons" loCatId="list" qsTypeId="urn:microsoft.com/office/officeart/2005/8/quickstyle/simple4" qsCatId="simple" csTypeId="urn:microsoft.com/office/officeart/2005/8/colors/colorful5" csCatId="colorful" phldr="1"/>
      <dgm:spPr/>
      <dgm:t>
        <a:bodyPr/>
        <a:lstStyle/>
        <a:p>
          <a:endParaRPr lang="en-US"/>
        </a:p>
      </dgm:t>
    </dgm:pt>
    <dgm:pt modelId="{848F29BE-DDCC-41EF-8C8A-0317C3BFCB38}">
      <dgm:prSet/>
      <dgm:spPr/>
      <dgm:t>
        <a:bodyPr/>
        <a:lstStyle/>
        <a:p>
          <a:r>
            <a:rPr lang="en-US" b="1" u="sng" dirty="0"/>
            <a:t>BOOK CHAPTER 26</a:t>
          </a:r>
          <a:endParaRPr lang="en-US" dirty="0"/>
        </a:p>
      </dgm:t>
    </dgm:pt>
    <dgm:pt modelId="{2734F9BD-D7FA-4DE2-AF49-D47938152B05}" type="parTrans" cxnId="{FCC8E3EC-8507-4A20-A955-0FC4BF363891}">
      <dgm:prSet/>
      <dgm:spPr/>
      <dgm:t>
        <a:bodyPr/>
        <a:lstStyle/>
        <a:p>
          <a:endParaRPr lang="en-US"/>
        </a:p>
      </dgm:t>
    </dgm:pt>
    <dgm:pt modelId="{158CDFB1-A2CA-45E9-9D68-1BF53CDDD813}" type="sibTrans" cxnId="{FCC8E3EC-8507-4A20-A955-0FC4BF363891}">
      <dgm:prSet/>
      <dgm:spPr/>
      <dgm:t>
        <a:bodyPr/>
        <a:lstStyle/>
        <a:p>
          <a:endParaRPr lang="en-US"/>
        </a:p>
      </dgm:t>
    </dgm:pt>
    <dgm:pt modelId="{5AD413F8-121C-4E3C-9A04-58C24A3357B6}">
      <dgm:prSet custT="1"/>
      <dgm:spPr/>
      <dgm:t>
        <a:bodyPr/>
        <a:lstStyle/>
        <a:p>
          <a:r>
            <a:rPr lang="en-US" sz="2000" b="1" u="sng" dirty="0"/>
            <a:t>CURRENT and RESISTANCE and RC circuits</a:t>
          </a:r>
          <a:endParaRPr lang="en-US" sz="2000" dirty="0"/>
        </a:p>
      </dgm:t>
    </dgm:pt>
    <dgm:pt modelId="{A3C6FC51-4D5F-4222-A16D-A718B93ADEEA}" type="parTrans" cxnId="{6526CFB3-24BC-43EB-88E3-6423A880052D}">
      <dgm:prSet/>
      <dgm:spPr/>
      <dgm:t>
        <a:bodyPr/>
        <a:lstStyle/>
        <a:p>
          <a:endParaRPr lang="en-US"/>
        </a:p>
      </dgm:t>
    </dgm:pt>
    <dgm:pt modelId="{544D010E-B375-4B4F-A1EF-D09290AEDEB9}" type="sibTrans" cxnId="{6526CFB3-24BC-43EB-88E3-6423A880052D}">
      <dgm:prSet/>
      <dgm:spPr/>
      <dgm:t>
        <a:bodyPr/>
        <a:lstStyle/>
        <a:p>
          <a:endParaRPr lang="en-US"/>
        </a:p>
      </dgm:t>
    </dgm:pt>
    <dgm:pt modelId="{273DB759-F65E-4C66-AB6C-9CEF988C1C71}" type="pres">
      <dgm:prSet presAssocID="{DCE60705-4F61-4619-A9DD-9E8CC7572697}" presName="Name0" presStyleCnt="0">
        <dgm:presLayoutVars>
          <dgm:chMax/>
          <dgm:chPref/>
          <dgm:dir/>
          <dgm:animLvl val="lvl"/>
        </dgm:presLayoutVars>
      </dgm:prSet>
      <dgm:spPr/>
    </dgm:pt>
    <dgm:pt modelId="{DF32819D-1CD9-4A2F-9528-C5003A7E6CF4}" type="pres">
      <dgm:prSet presAssocID="{848F29BE-DDCC-41EF-8C8A-0317C3BFCB38}" presName="composite" presStyleCnt="0"/>
      <dgm:spPr/>
    </dgm:pt>
    <dgm:pt modelId="{78756FEF-1712-4CB8-8E6B-7112AEF2F726}" type="pres">
      <dgm:prSet presAssocID="{848F29BE-DDCC-41EF-8C8A-0317C3BFCB38}" presName="Parent1" presStyleLbl="node1" presStyleIdx="0" presStyleCnt="4" custScaleX="143554" custScaleY="173270">
        <dgm:presLayoutVars>
          <dgm:chMax val="1"/>
          <dgm:chPref val="1"/>
          <dgm:bulletEnabled val="1"/>
        </dgm:presLayoutVars>
      </dgm:prSet>
      <dgm:spPr/>
    </dgm:pt>
    <dgm:pt modelId="{8D02EA19-C436-4600-90F6-6366D65DCA72}" type="pres">
      <dgm:prSet presAssocID="{848F29BE-DDCC-41EF-8C8A-0317C3BFCB38}" presName="Childtext1" presStyleLbl="revTx" presStyleIdx="0" presStyleCnt="2">
        <dgm:presLayoutVars>
          <dgm:chMax val="0"/>
          <dgm:chPref val="0"/>
          <dgm:bulletEnabled val="1"/>
        </dgm:presLayoutVars>
      </dgm:prSet>
      <dgm:spPr/>
    </dgm:pt>
    <dgm:pt modelId="{C754DDEF-8D96-4306-80E0-F2D4FCC1862D}" type="pres">
      <dgm:prSet presAssocID="{848F29BE-DDCC-41EF-8C8A-0317C3BFCB38}" presName="BalanceSpacing" presStyleCnt="0"/>
      <dgm:spPr/>
    </dgm:pt>
    <dgm:pt modelId="{BB000A4A-0EF4-453C-A4AD-A52249A543A4}" type="pres">
      <dgm:prSet presAssocID="{848F29BE-DDCC-41EF-8C8A-0317C3BFCB38}" presName="BalanceSpacing1" presStyleCnt="0"/>
      <dgm:spPr/>
    </dgm:pt>
    <dgm:pt modelId="{A3FBE632-31EC-4A29-AA0A-697A673A502F}" type="pres">
      <dgm:prSet presAssocID="{158CDFB1-A2CA-45E9-9D68-1BF53CDDD813}" presName="Accent1Text" presStyleLbl="node1" presStyleIdx="1" presStyleCnt="4" custLinFactNeighborX="-22188" custLinFactNeighborY="46503"/>
      <dgm:spPr/>
    </dgm:pt>
    <dgm:pt modelId="{DF22F748-E11E-4DCD-BAA6-154D1CEE9F23}" type="pres">
      <dgm:prSet presAssocID="{158CDFB1-A2CA-45E9-9D68-1BF53CDDD813}" presName="spaceBetweenRectangles" presStyleCnt="0"/>
      <dgm:spPr/>
    </dgm:pt>
    <dgm:pt modelId="{80A487EB-3639-4E5C-AF4A-6B705AFD585F}" type="pres">
      <dgm:prSet presAssocID="{5AD413F8-121C-4E3C-9A04-58C24A3357B6}" presName="composite" presStyleCnt="0"/>
      <dgm:spPr/>
    </dgm:pt>
    <dgm:pt modelId="{7280A07D-B3DF-4F0B-95AA-2553E1170998}" type="pres">
      <dgm:prSet presAssocID="{5AD413F8-121C-4E3C-9A04-58C24A3357B6}" presName="Parent1" presStyleLbl="node1" presStyleIdx="2" presStyleCnt="4" custScaleX="173996" custScaleY="168391">
        <dgm:presLayoutVars>
          <dgm:chMax val="1"/>
          <dgm:chPref val="1"/>
          <dgm:bulletEnabled val="1"/>
        </dgm:presLayoutVars>
      </dgm:prSet>
      <dgm:spPr/>
    </dgm:pt>
    <dgm:pt modelId="{C45C1306-33C8-4D9B-837C-A87F0786A64F}" type="pres">
      <dgm:prSet presAssocID="{5AD413F8-121C-4E3C-9A04-58C24A3357B6}" presName="Childtext1" presStyleLbl="revTx" presStyleIdx="1" presStyleCnt="2">
        <dgm:presLayoutVars>
          <dgm:chMax val="0"/>
          <dgm:chPref val="0"/>
          <dgm:bulletEnabled val="1"/>
        </dgm:presLayoutVars>
      </dgm:prSet>
      <dgm:spPr/>
    </dgm:pt>
    <dgm:pt modelId="{BED80DAB-EDD8-468C-BC08-2C1DC8D73F59}" type="pres">
      <dgm:prSet presAssocID="{5AD413F8-121C-4E3C-9A04-58C24A3357B6}" presName="BalanceSpacing" presStyleCnt="0"/>
      <dgm:spPr/>
    </dgm:pt>
    <dgm:pt modelId="{91467237-CC13-46BE-8547-BA54B66812BE}" type="pres">
      <dgm:prSet presAssocID="{5AD413F8-121C-4E3C-9A04-58C24A3357B6}" presName="BalanceSpacing1" presStyleCnt="0"/>
      <dgm:spPr/>
    </dgm:pt>
    <dgm:pt modelId="{F76CC922-A1D1-4B55-B2F7-552675C226D4}" type="pres">
      <dgm:prSet presAssocID="{544D010E-B375-4B4F-A1EF-D09290AEDEB9}" presName="Accent1Text" presStyleLbl="node1" presStyleIdx="3" presStyleCnt="4" custLinFactNeighborX="31473" custLinFactNeighborY="-47178"/>
      <dgm:spPr/>
    </dgm:pt>
  </dgm:ptLst>
  <dgm:cxnLst>
    <dgm:cxn modelId="{E6B3DC91-FC78-4E12-AA63-B45AD9271489}" type="presOf" srcId="{848F29BE-DDCC-41EF-8C8A-0317C3BFCB38}" destId="{78756FEF-1712-4CB8-8E6B-7112AEF2F726}" srcOrd="0" destOrd="0" presId="urn:microsoft.com/office/officeart/2008/layout/AlternatingHexagons"/>
    <dgm:cxn modelId="{6526CFB3-24BC-43EB-88E3-6423A880052D}" srcId="{DCE60705-4F61-4619-A9DD-9E8CC7572697}" destId="{5AD413F8-121C-4E3C-9A04-58C24A3357B6}" srcOrd="1" destOrd="0" parTransId="{A3C6FC51-4D5F-4222-A16D-A718B93ADEEA}" sibTransId="{544D010E-B375-4B4F-A1EF-D09290AEDEB9}"/>
    <dgm:cxn modelId="{62A24FB6-BC47-463C-BBA8-566B66CF4B93}" type="presOf" srcId="{158CDFB1-A2CA-45E9-9D68-1BF53CDDD813}" destId="{A3FBE632-31EC-4A29-AA0A-697A673A502F}" srcOrd="0" destOrd="0" presId="urn:microsoft.com/office/officeart/2008/layout/AlternatingHexagons"/>
    <dgm:cxn modelId="{F72288CA-2478-46A8-BD18-A79679D8031D}" type="presOf" srcId="{DCE60705-4F61-4619-A9DD-9E8CC7572697}" destId="{273DB759-F65E-4C66-AB6C-9CEF988C1C71}" srcOrd="0" destOrd="0" presId="urn:microsoft.com/office/officeart/2008/layout/AlternatingHexagons"/>
    <dgm:cxn modelId="{FCC8E3EC-8507-4A20-A955-0FC4BF363891}" srcId="{DCE60705-4F61-4619-A9DD-9E8CC7572697}" destId="{848F29BE-DDCC-41EF-8C8A-0317C3BFCB38}" srcOrd="0" destOrd="0" parTransId="{2734F9BD-D7FA-4DE2-AF49-D47938152B05}" sibTransId="{158CDFB1-A2CA-45E9-9D68-1BF53CDDD813}"/>
    <dgm:cxn modelId="{A3288AF5-4A26-479F-B377-E38A3FAD4774}" type="presOf" srcId="{5AD413F8-121C-4E3C-9A04-58C24A3357B6}" destId="{7280A07D-B3DF-4F0B-95AA-2553E1170998}" srcOrd="0" destOrd="0" presId="urn:microsoft.com/office/officeart/2008/layout/AlternatingHexagons"/>
    <dgm:cxn modelId="{918CCDF8-19C7-4854-B876-A280B7B45E43}" type="presOf" srcId="{544D010E-B375-4B4F-A1EF-D09290AEDEB9}" destId="{F76CC922-A1D1-4B55-B2F7-552675C226D4}" srcOrd="0" destOrd="0" presId="urn:microsoft.com/office/officeart/2008/layout/AlternatingHexagons"/>
    <dgm:cxn modelId="{E10B19B1-E431-4A2F-A162-74DDFB74C1DA}" type="presParOf" srcId="{273DB759-F65E-4C66-AB6C-9CEF988C1C71}" destId="{DF32819D-1CD9-4A2F-9528-C5003A7E6CF4}" srcOrd="0" destOrd="0" presId="urn:microsoft.com/office/officeart/2008/layout/AlternatingHexagons"/>
    <dgm:cxn modelId="{44A6FAE9-5D49-4969-A161-1D5BC11421F6}" type="presParOf" srcId="{DF32819D-1CD9-4A2F-9528-C5003A7E6CF4}" destId="{78756FEF-1712-4CB8-8E6B-7112AEF2F726}" srcOrd="0" destOrd="0" presId="urn:microsoft.com/office/officeart/2008/layout/AlternatingHexagons"/>
    <dgm:cxn modelId="{A8E4C43D-BBB8-4D49-9F72-5E6E21607701}" type="presParOf" srcId="{DF32819D-1CD9-4A2F-9528-C5003A7E6CF4}" destId="{8D02EA19-C436-4600-90F6-6366D65DCA72}" srcOrd="1" destOrd="0" presId="urn:microsoft.com/office/officeart/2008/layout/AlternatingHexagons"/>
    <dgm:cxn modelId="{87D44A6F-BD73-4A64-B036-BFB11D63FB96}" type="presParOf" srcId="{DF32819D-1CD9-4A2F-9528-C5003A7E6CF4}" destId="{C754DDEF-8D96-4306-80E0-F2D4FCC1862D}" srcOrd="2" destOrd="0" presId="urn:microsoft.com/office/officeart/2008/layout/AlternatingHexagons"/>
    <dgm:cxn modelId="{96543436-C3A1-4CCC-A813-A0F9D0E0BD88}" type="presParOf" srcId="{DF32819D-1CD9-4A2F-9528-C5003A7E6CF4}" destId="{BB000A4A-0EF4-453C-A4AD-A52249A543A4}" srcOrd="3" destOrd="0" presId="urn:microsoft.com/office/officeart/2008/layout/AlternatingHexagons"/>
    <dgm:cxn modelId="{AA720EE3-509C-46D5-9866-313D7F2FC6C3}" type="presParOf" srcId="{DF32819D-1CD9-4A2F-9528-C5003A7E6CF4}" destId="{A3FBE632-31EC-4A29-AA0A-697A673A502F}" srcOrd="4" destOrd="0" presId="urn:microsoft.com/office/officeart/2008/layout/AlternatingHexagons"/>
    <dgm:cxn modelId="{8334D753-AEB7-4918-AEF0-0B1136B678C4}" type="presParOf" srcId="{273DB759-F65E-4C66-AB6C-9CEF988C1C71}" destId="{DF22F748-E11E-4DCD-BAA6-154D1CEE9F23}" srcOrd="1" destOrd="0" presId="urn:microsoft.com/office/officeart/2008/layout/AlternatingHexagons"/>
    <dgm:cxn modelId="{22C35B16-14C3-4334-8F9C-330C40536F99}" type="presParOf" srcId="{273DB759-F65E-4C66-AB6C-9CEF988C1C71}" destId="{80A487EB-3639-4E5C-AF4A-6B705AFD585F}" srcOrd="2" destOrd="0" presId="urn:microsoft.com/office/officeart/2008/layout/AlternatingHexagons"/>
    <dgm:cxn modelId="{013B6EA9-F13E-4F3F-86A3-F8A86F691FB7}" type="presParOf" srcId="{80A487EB-3639-4E5C-AF4A-6B705AFD585F}" destId="{7280A07D-B3DF-4F0B-95AA-2553E1170998}" srcOrd="0" destOrd="0" presId="urn:microsoft.com/office/officeart/2008/layout/AlternatingHexagons"/>
    <dgm:cxn modelId="{0FCE5CBC-21C8-4053-A001-AF7581F5CBAA}" type="presParOf" srcId="{80A487EB-3639-4E5C-AF4A-6B705AFD585F}" destId="{C45C1306-33C8-4D9B-837C-A87F0786A64F}" srcOrd="1" destOrd="0" presId="urn:microsoft.com/office/officeart/2008/layout/AlternatingHexagons"/>
    <dgm:cxn modelId="{A56FF0B5-27BD-4375-BE0A-F8907E2C1193}" type="presParOf" srcId="{80A487EB-3639-4E5C-AF4A-6B705AFD585F}" destId="{BED80DAB-EDD8-468C-BC08-2C1DC8D73F59}" srcOrd="2" destOrd="0" presId="urn:microsoft.com/office/officeart/2008/layout/AlternatingHexagons"/>
    <dgm:cxn modelId="{9E367A12-DD71-47E5-A58D-C0E6C91F8C5C}" type="presParOf" srcId="{80A487EB-3639-4E5C-AF4A-6B705AFD585F}" destId="{91467237-CC13-46BE-8547-BA54B66812BE}" srcOrd="3" destOrd="0" presId="urn:microsoft.com/office/officeart/2008/layout/AlternatingHexagons"/>
    <dgm:cxn modelId="{874B6060-2CD8-46C9-A98D-50B8DE665DA6}" type="presParOf" srcId="{80A487EB-3639-4E5C-AF4A-6B705AFD585F}" destId="{F76CC922-A1D1-4B55-B2F7-552675C226D4}"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756FEF-1712-4CB8-8E6B-7112AEF2F726}">
      <dsp:nvSpPr>
        <dsp:cNvPr id="0" name=""/>
        <dsp:cNvSpPr/>
      </dsp:nvSpPr>
      <dsp:spPr>
        <a:xfrm rot="5400000">
          <a:off x="1665134" y="350116"/>
          <a:ext cx="2491497" cy="1795856"/>
        </a:xfrm>
        <a:prstGeom prst="hexagon">
          <a:avLst>
            <a:gd name="adj" fmla="val 25000"/>
            <a:gd name="vf" fmla="val 11547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u="sng" kern="1200" dirty="0"/>
            <a:t>BOOK CHAPTER 26</a:t>
          </a:r>
          <a:endParaRPr lang="en-US" sz="2100" kern="1200" dirty="0"/>
        </a:p>
      </dsp:txBody>
      <dsp:txXfrm rot="-5400000">
        <a:off x="2270479" y="359575"/>
        <a:ext cx="1280806" cy="1776939"/>
      </dsp:txXfrm>
    </dsp:sp>
    <dsp:sp modelId="{8D02EA19-C436-4600-90F6-6366D65DCA72}">
      <dsp:nvSpPr>
        <dsp:cNvPr id="0" name=""/>
        <dsp:cNvSpPr/>
      </dsp:nvSpPr>
      <dsp:spPr>
        <a:xfrm>
          <a:off x="3574342" y="816666"/>
          <a:ext cx="1604727" cy="862756"/>
        </a:xfrm>
        <a:prstGeom prst="rect">
          <a:avLst/>
        </a:prstGeom>
        <a:noFill/>
        <a:ln>
          <a:noFill/>
        </a:ln>
        <a:effectLst/>
      </dsp:spPr>
      <dsp:style>
        <a:lnRef idx="0">
          <a:scrgbClr r="0" g="0" b="0"/>
        </a:lnRef>
        <a:fillRef idx="0">
          <a:scrgbClr r="0" g="0" b="0"/>
        </a:fillRef>
        <a:effectRef idx="0">
          <a:scrgbClr r="0" g="0" b="0"/>
        </a:effectRef>
        <a:fontRef idx="minor"/>
      </dsp:style>
    </dsp:sp>
    <dsp:sp modelId="{A3FBE632-31EC-4A29-AA0A-697A673A502F}">
      <dsp:nvSpPr>
        <dsp:cNvPr id="0" name=""/>
        <dsp:cNvSpPr/>
      </dsp:nvSpPr>
      <dsp:spPr>
        <a:xfrm rot="5400000">
          <a:off x="563270" y="1291225"/>
          <a:ext cx="1437927" cy="1250997"/>
        </a:xfrm>
        <a:prstGeom prst="hexagon">
          <a:avLst>
            <a:gd name="adj" fmla="val 25000"/>
            <a:gd name="vf" fmla="val 115470"/>
          </a:avLst>
        </a:prstGeom>
        <a:gradFill rotWithShape="0">
          <a:gsLst>
            <a:gs pos="0">
              <a:schemeClr val="accent5">
                <a:hueOff val="-3311292"/>
                <a:satOff val="13270"/>
                <a:lumOff val="2876"/>
                <a:alphaOff val="0"/>
                <a:shade val="51000"/>
                <a:satMod val="130000"/>
              </a:schemeClr>
            </a:gs>
            <a:gs pos="80000">
              <a:schemeClr val="accent5">
                <a:hueOff val="-3311292"/>
                <a:satOff val="13270"/>
                <a:lumOff val="2876"/>
                <a:alphaOff val="0"/>
                <a:shade val="93000"/>
                <a:satMod val="130000"/>
              </a:schemeClr>
            </a:gs>
            <a:gs pos="100000">
              <a:schemeClr val="accent5">
                <a:hueOff val="-3311292"/>
                <a:satOff val="13270"/>
                <a:lumOff val="287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851682" y="1421837"/>
        <a:ext cx="861103" cy="989773"/>
      </dsp:txXfrm>
    </dsp:sp>
    <dsp:sp modelId="{7280A07D-B3DF-4F0B-95AA-2553E1170998}">
      <dsp:nvSpPr>
        <dsp:cNvPr id="0" name=""/>
        <dsp:cNvSpPr/>
      </dsp:nvSpPr>
      <dsp:spPr>
        <a:xfrm rot="5400000">
          <a:off x="1022085" y="2398706"/>
          <a:ext cx="2421340" cy="2176684"/>
        </a:xfrm>
        <a:prstGeom prst="hexagon">
          <a:avLst>
            <a:gd name="adj" fmla="val 25000"/>
            <a:gd name="vf" fmla="val 115470"/>
          </a:avLst>
        </a:prstGeom>
        <a:gradFill rotWithShape="0">
          <a:gsLst>
            <a:gs pos="0">
              <a:schemeClr val="accent5">
                <a:hueOff val="-6622584"/>
                <a:satOff val="26541"/>
                <a:lumOff val="5752"/>
                <a:alphaOff val="0"/>
                <a:shade val="51000"/>
                <a:satMod val="130000"/>
              </a:schemeClr>
            </a:gs>
            <a:gs pos="80000">
              <a:schemeClr val="accent5">
                <a:hueOff val="-6622584"/>
                <a:satOff val="26541"/>
                <a:lumOff val="5752"/>
                <a:alphaOff val="0"/>
                <a:shade val="93000"/>
                <a:satMod val="130000"/>
              </a:schemeClr>
            </a:gs>
            <a:gs pos="100000">
              <a:schemeClr val="accent5">
                <a:hueOff val="-6622584"/>
                <a:satOff val="26541"/>
                <a:lumOff val="5752"/>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u="sng" kern="1200" dirty="0"/>
            <a:t>CURRENT and RESISTANCE and RC circuits</a:t>
          </a:r>
          <a:endParaRPr lang="en-US" sz="2000" kern="1200" dirty="0"/>
        </a:p>
      </dsp:txBody>
      <dsp:txXfrm rot="-5400000">
        <a:off x="1488866" y="2659547"/>
        <a:ext cx="1487778" cy="1655002"/>
      </dsp:txXfrm>
    </dsp:sp>
    <dsp:sp modelId="{C45C1306-33C8-4D9B-837C-A87F0786A64F}">
      <dsp:nvSpPr>
        <dsp:cNvPr id="0" name=""/>
        <dsp:cNvSpPr/>
      </dsp:nvSpPr>
      <dsp:spPr>
        <a:xfrm>
          <a:off x="2530" y="3055671"/>
          <a:ext cx="1552961" cy="862756"/>
        </a:xfrm>
        <a:prstGeom prst="rect">
          <a:avLst/>
        </a:prstGeom>
        <a:noFill/>
        <a:ln>
          <a:noFill/>
        </a:ln>
        <a:effectLst/>
      </dsp:spPr>
      <dsp:style>
        <a:lnRef idx="0">
          <a:scrgbClr r="0" g="0" b="0"/>
        </a:lnRef>
        <a:fillRef idx="0">
          <a:scrgbClr r="0" g="0" b="0"/>
        </a:fillRef>
        <a:effectRef idx="0">
          <a:scrgbClr r="0" g="0" b="0"/>
        </a:effectRef>
        <a:fontRef idx="minor"/>
      </dsp:style>
    </dsp:sp>
    <dsp:sp modelId="{F76CC922-A1D1-4B55-B2F7-552675C226D4}">
      <dsp:nvSpPr>
        <dsp:cNvPr id="0" name=""/>
        <dsp:cNvSpPr/>
      </dsp:nvSpPr>
      <dsp:spPr>
        <a:xfrm rot="5400000">
          <a:off x="3258595" y="2183165"/>
          <a:ext cx="1437927" cy="1250997"/>
        </a:xfrm>
        <a:prstGeom prst="hexagon">
          <a:avLst>
            <a:gd name="adj" fmla="val 25000"/>
            <a:gd name="vf" fmla="val 115470"/>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3547007" y="2313777"/>
        <a:ext cx="861103" cy="989773"/>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529DA45-0853-4CB9-978E-67C5BA48CC72}" type="datetimeFigureOut">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0329B-80BB-4F84-84CC-4457D00E6DD7}" type="slidenum">
              <a:rPr lang="en-US" smtClean="0"/>
              <a:t>‹#›</a:t>
            </a:fld>
            <a:endParaRPr lang="en-US"/>
          </a:p>
        </p:txBody>
      </p:sp>
    </p:spTree>
    <p:extLst>
      <p:ext uri="{BB962C8B-B14F-4D97-AF65-F5344CB8AC3E}">
        <p14:creationId xmlns:p14="http://schemas.microsoft.com/office/powerpoint/2010/main" val="607896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29DA45-0853-4CB9-978E-67C5BA48CC72}" type="datetimeFigureOut">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0329B-80BB-4F84-84CC-4457D00E6DD7}" type="slidenum">
              <a:rPr lang="en-US" smtClean="0"/>
              <a:t>‹#›</a:t>
            </a:fld>
            <a:endParaRPr lang="en-US"/>
          </a:p>
        </p:txBody>
      </p:sp>
    </p:spTree>
    <p:extLst>
      <p:ext uri="{BB962C8B-B14F-4D97-AF65-F5344CB8AC3E}">
        <p14:creationId xmlns:p14="http://schemas.microsoft.com/office/powerpoint/2010/main" val="3201813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29DA45-0853-4CB9-978E-67C5BA48CC72}" type="datetimeFigureOut">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0329B-80BB-4F84-84CC-4457D00E6DD7}" type="slidenum">
              <a:rPr lang="en-US" smtClean="0"/>
              <a:t>‹#›</a:t>
            </a:fld>
            <a:endParaRPr lang="en-US"/>
          </a:p>
        </p:txBody>
      </p:sp>
    </p:spTree>
    <p:extLst>
      <p:ext uri="{BB962C8B-B14F-4D97-AF65-F5344CB8AC3E}">
        <p14:creationId xmlns:p14="http://schemas.microsoft.com/office/powerpoint/2010/main" val="2603790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29DA45-0853-4CB9-978E-67C5BA48CC72}" type="datetimeFigureOut">
              <a:rPr lang="en-US" smtClean="0"/>
              <a:t>10/31/2023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0329B-80BB-4F84-84CC-4457D00E6DD7}" type="slidenum">
              <a:rPr lang="en-US" smtClean="0"/>
              <a:t>‹#›</a:t>
            </a:fld>
            <a:endParaRPr lang="en-US"/>
          </a:p>
        </p:txBody>
      </p:sp>
    </p:spTree>
    <p:extLst>
      <p:ext uri="{BB962C8B-B14F-4D97-AF65-F5344CB8AC3E}">
        <p14:creationId xmlns:p14="http://schemas.microsoft.com/office/powerpoint/2010/main" val="3510840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29DA45-0853-4CB9-978E-67C5BA48CC72}" type="datetimeFigureOut">
              <a:rPr lang="en-US" smtClean="0"/>
              <a:t>10/31/2023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B0329B-80BB-4F84-84CC-4457D00E6DD7}" type="slidenum">
              <a:rPr lang="en-US" smtClean="0"/>
              <a:t>‹#›</a:t>
            </a:fld>
            <a:endParaRPr lang="en-US"/>
          </a:p>
        </p:txBody>
      </p:sp>
    </p:spTree>
    <p:extLst>
      <p:ext uri="{BB962C8B-B14F-4D97-AF65-F5344CB8AC3E}">
        <p14:creationId xmlns:p14="http://schemas.microsoft.com/office/powerpoint/2010/main" val="2473873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29DA45-0853-4CB9-978E-67C5BA48CC72}" type="datetimeFigureOut">
              <a:rPr lang="en-US" smtClean="0"/>
              <a:t>10/31/2023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B0329B-80BB-4F84-84CC-4457D00E6DD7}" type="slidenum">
              <a:rPr lang="en-US" smtClean="0"/>
              <a:t>‹#›</a:t>
            </a:fld>
            <a:endParaRPr lang="en-US"/>
          </a:p>
        </p:txBody>
      </p:sp>
    </p:spTree>
    <p:extLst>
      <p:ext uri="{BB962C8B-B14F-4D97-AF65-F5344CB8AC3E}">
        <p14:creationId xmlns:p14="http://schemas.microsoft.com/office/powerpoint/2010/main" val="2622320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29DA45-0853-4CB9-978E-67C5BA48CC72}" type="datetimeFigureOut">
              <a:rPr lang="en-US" smtClean="0"/>
              <a:t>10/31/2023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B0329B-80BB-4F84-84CC-4457D00E6DD7}" type="slidenum">
              <a:rPr lang="en-US" smtClean="0"/>
              <a:t>‹#›</a:t>
            </a:fld>
            <a:endParaRPr lang="en-US"/>
          </a:p>
        </p:txBody>
      </p:sp>
    </p:spTree>
    <p:extLst>
      <p:ext uri="{BB962C8B-B14F-4D97-AF65-F5344CB8AC3E}">
        <p14:creationId xmlns:p14="http://schemas.microsoft.com/office/powerpoint/2010/main" val="3555538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529DA45-0853-4CB9-978E-67C5BA48CC72}" type="datetimeFigureOut">
              <a:rPr lang="en-US" smtClean="0"/>
              <a:t>10/31/2023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0329B-80BB-4F84-84CC-4457D00E6DD7}" type="slidenum">
              <a:rPr lang="en-US" smtClean="0"/>
              <a:t>‹#›</a:t>
            </a:fld>
            <a:endParaRPr lang="en-US"/>
          </a:p>
        </p:txBody>
      </p:sp>
    </p:spTree>
    <p:extLst>
      <p:ext uri="{BB962C8B-B14F-4D97-AF65-F5344CB8AC3E}">
        <p14:creationId xmlns:p14="http://schemas.microsoft.com/office/powerpoint/2010/main" val="310561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529DA45-0853-4CB9-978E-67C5BA48CC72}" type="datetimeFigureOut">
              <a:rPr lang="en-US" smtClean="0"/>
              <a:t>10/31/2023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0329B-80BB-4F84-84CC-4457D00E6DD7}" type="slidenum">
              <a:rPr lang="en-US" smtClean="0"/>
              <a:t>‹#›</a:t>
            </a:fld>
            <a:endParaRPr lang="en-US"/>
          </a:p>
        </p:txBody>
      </p:sp>
    </p:spTree>
    <p:extLst>
      <p:ext uri="{BB962C8B-B14F-4D97-AF65-F5344CB8AC3E}">
        <p14:creationId xmlns:p14="http://schemas.microsoft.com/office/powerpoint/2010/main" val="291253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29DA45-0853-4CB9-978E-67C5BA48CC72}" type="datetimeFigureOut">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0329B-80BB-4F84-84CC-4457D00E6DD7}" type="slidenum">
              <a:rPr lang="en-US" smtClean="0"/>
              <a:t>‹#›</a:t>
            </a:fld>
            <a:endParaRPr lang="en-US"/>
          </a:p>
        </p:txBody>
      </p:sp>
    </p:spTree>
    <p:extLst>
      <p:ext uri="{BB962C8B-B14F-4D97-AF65-F5344CB8AC3E}">
        <p14:creationId xmlns:p14="http://schemas.microsoft.com/office/powerpoint/2010/main" val="1291002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29DA45-0853-4CB9-978E-67C5BA48CC72}" type="datetimeFigureOut">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0329B-80BB-4F84-84CC-4457D00E6DD7}" type="slidenum">
              <a:rPr lang="en-US" smtClean="0"/>
              <a:t>‹#›</a:t>
            </a:fld>
            <a:endParaRPr lang="en-US"/>
          </a:p>
        </p:txBody>
      </p:sp>
    </p:spTree>
    <p:extLst>
      <p:ext uri="{BB962C8B-B14F-4D97-AF65-F5344CB8AC3E}">
        <p14:creationId xmlns:p14="http://schemas.microsoft.com/office/powerpoint/2010/main" val="4726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29DA45-0853-4CB9-978E-67C5BA48CC72}" type="datetimeFigureOut">
              <a:rPr lang="en-US" smtClean="0"/>
              <a:t>10/31/2023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B0329B-80BB-4F84-84CC-4457D00E6DD7}" type="slidenum">
              <a:rPr lang="en-US" smtClean="0"/>
              <a:t>‹#›</a:t>
            </a:fld>
            <a:endParaRPr lang="en-US"/>
          </a:p>
        </p:txBody>
      </p:sp>
    </p:spTree>
    <p:extLst>
      <p:ext uri="{BB962C8B-B14F-4D97-AF65-F5344CB8AC3E}">
        <p14:creationId xmlns:p14="http://schemas.microsoft.com/office/powerpoint/2010/main" val="3406350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113.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1010.png"/><Relationship Id="rId5" Type="http://schemas.openxmlformats.org/officeDocument/2006/relationships/image" Target="../media/image17.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50.png"/><Relationship Id="rId4" Type="http://schemas.openxmlformats.org/officeDocument/2006/relationships/image" Target="../media/image142.png"/></Relationships>
</file>

<file path=ppt/slides/_rels/slide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91.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0.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1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a:spLocks/>
          </p:cNvSpPr>
          <p:nvPr/>
        </p:nvSpPr>
        <p:spPr>
          <a:xfrm>
            <a:off x="3973321" y="329184"/>
            <a:ext cx="4688333" cy="75895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spcAft>
                <a:spcPts val="600"/>
              </a:spcAft>
            </a:pPr>
            <a:r>
              <a:rPr lang="en-US" sz="4700" b="1" dirty="0">
                <a:ln w="18000">
                  <a:solidFill>
                    <a:schemeClr val="accent2">
                      <a:satMod val="140000"/>
                    </a:schemeClr>
                  </a:solidFill>
                  <a:prstDash val="solid"/>
                  <a:miter lim="800000"/>
                </a:ln>
                <a:effectLst>
                  <a:outerShdw blurRad="25500" dist="23000" dir="7020000" algn="tl">
                    <a:srgbClr val="000000">
                      <a:alpha val="50000"/>
                    </a:srgbClr>
                  </a:outerShdw>
                </a:effectLst>
              </a:rPr>
              <a:t>LESSON 8</a:t>
            </a:r>
          </a:p>
        </p:txBody>
      </p:sp>
      <p:pic>
        <p:nvPicPr>
          <p:cNvPr id="3" name="Picture 2">
            <a:extLst>
              <a:ext uri="{FF2B5EF4-FFF2-40B4-BE49-F238E27FC236}">
                <a16:creationId xmlns:a16="http://schemas.microsoft.com/office/drawing/2014/main" id="{7FED9BA5-5B81-ABD0-8E18-7498A649A637}"/>
              </a:ext>
            </a:extLst>
          </p:cNvPr>
          <p:cNvPicPr>
            <a:picLocks noChangeAspect="1"/>
          </p:cNvPicPr>
          <p:nvPr/>
        </p:nvPicPr>
        <p:blipFill rotWithShape="1">
          <a:blip r:embed="rId2"/>
          <a:srcRect l="31934" r="34800"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0"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2">
            <a:extLst>
              <a:ext uri="{FF2B5EF4-FFF2-40B4-BE49-F238E27FC236}">
                <a16:creationId xmlns:a16="http://schemas.microsoft.com/office/drawing/2014/main" id="{C45F6580-188B-C671-17EA-B4E95A294FC4}"/>
              </a:ext>
            </a:extLst>
          </p:cNvPr>
          <p:cNvGraphicFramePr/>
          <p:nvPr>
            <p:extLst>
              <p:ext uri="{D42A27DB-BD31-4B8C-83A1-F6EECF244321}">
                <p14:modId xmlns:p14="http://schemas.microsoft.com/office/powerpoint/2010/main" val="3244662065"/>
              </p:ext>
            </p:extLst>
          </p:nvPr>
        </p:nvGraphicFramePr>
        <p:xfrm>
          <a:off x="3657600" y="1828800"/>
          <a:ext cx="5181600" cy="47000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43828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0493" y="34636"/>
            <a:ext cx="3226707" cy="18205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8989" y="1955005"/>
            <a:ext cx="3128211"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610805" y="73968"/>
            <a:ext cx="2597186" cy="461665"/>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2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Electric Current:</a:t>
            </a:r>
          </a:p>
        </p:txBody>
      </p:sp>
      <mc:AlternateContent xmlns:mc="http://schemas.openxmlformats.org/markup-compatibility/2006" xmlns:a14="http://schemas.microsoft.com/office/drawing/2010/main">
        <mc:Choice Requires="a14">
          <p:sp>
            <p:nvSpPr>
              <p:cNvPr id="6" name="Rectangle 5"/>
              <p:cNvSpPr/>
              <p:nvPr/>
            </p:nvSpPr>
            <p:spPr>
              <a:xfrm>
                <a:off x="180108" y="533400"/>
                <a:ext cx="4163292" cy="4369979"/>
              </a:xfrm>
              <a:prstGeom prst="rect">
                <a:avLst/>
              </a:prstGeom>
            </p:spPr>
            <p:txBody>
              <a:bodyPr wrap="square">
                <a:spAutoFit/>
              </a:bodyPr>
              <a:lstStyle/>
              <a:p>
                <a:pPr algn="just"/>
                <a:r>
                  <a:rPr lang="en-US" sz="2000" b="1" dirty="0">
                    <a:latin typeface="Arial" panose="020B0604020202020204" pitchFamily="34" charset="0"/>
                    <a:cs typeface="Arial" panose="020B0604020202020204" pitchFamily="34" charset="0"/>
                  </a:rPr>
                  <a:t>An electric current </a:t>
                </a:r>
                <a:r>
                  <a:rPr lang="en-US" sz="2000" i="1" dirty="0">
                    <a:latin typeface="Arial" panose="020B0604020202020204" pitchFamily="34" charset="0"/>
                    <a:cs typeface="Arial" panose="020B0604020202020204" pitchFamily="34" charset="0"/>
                  </a:rPr>
                  <a:t>i </a:t>
                </a:r>
                <a:r>
                  <a:rPr lang="en-US" sz="2000" dirty="0">
                    <a:latin typeface="Arial" panose="020B0604020202020204" pitchFamily="34" charset="0"/>
                    <a:cs typeface="Arial" panose="020B0604020202020204" pitchFamily="34" charset="0"/>
                  </a:rPr>
                  <a:t>in a conductor is defined by </a:t>
                </a:r>
              </a:p>
              <a:p>
                <a:pPr algn="just"/>
                <a14:m>
                  <m:oMathPara xmlns:m="http://schemas.openxmlformats.org/officeDocument/2006/math">
                    <m:oMathParaPr>
                      <m:jc m:val="centerGroup"/>
                    </m:oMathParaPr>
                    <m:oMath xmlns:m="http://schemas.openxmlformats.org/officeDocument/2006/math">
                      <m:r>
                        <a:rPr lang="en-US" sz="2000" b="0" i="1" smtClean="0">
                          <a:solidFill>
                            <a:srgbClr val="FF0000"/>
                          </a:solidFill>
                          <a:latin typeface="Cambria Math"/>
                        </a:rPr>
                        <m:t>𝑖</m:t>
                      </m:r>
                      <m:r>
                        <a:rPr lang="en-US" sz="2000" b="0" i="1" smtClean="0">
                          <a:solidFill>
                            <a:srgbClr val="FF0000"/>
                          </a:solidFill>
                          <a:latin typeface="Cambria Math"/>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a:rPr>
                            <m:t>𝑑𝑞</m:t>
                          </m:r>
                        </m:num>
                        <m:den>
                          <m:r>
                            <a:rPr lang="en-US" sz="2000" b="0" i="1" smtClean="0">
                              <a:solidFill>
                                <a:srgbClr val="FF0000"/>
                              </a:solidFill>
                              <a:latin typeface="Cambria Math"/>
                            </a:rPr>
                            <m:t>𝑑𝑡</m:t>
                          </m:r>
                        </m:den>
                      </m:f>
                    </m:oMath>
                  </m:oMathPara>
                </a14:m>
                <a:endParaRPr lang="en-US" sz="2000" i="1"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Here </a:t>
                </a:r>
                <a:r>
                  <a:rPr lang="en-US" sz="2000" i="1" dirty="0" err="1">
                    <a:latin typeface="Arial" panose="020B0604020202020204" pitchFamily="34" charset="0"/>
                    <a:cs typeface="Arial" panose="020B0604020202020204" pitchFamily="34" charset="0"/>
                  </a:rPr>
                  <a:t>dq</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is the amount of (positive) charge that passes in time </a:t>
                </a:r>
                <a:r>
                  <a:rPr lang="en-US" sz="2000" i="1" dirty="0" err="1">
                    <a:latin typeface="Arial" panose="020B0604020202020204" pitchFamily="34" charset="0"/>
                    <a:cs typeface="Arial" panose="020B0604020202020204" pitchFamily="34" charset="0"/>
                  </a:rPr>
                  <a:t>dt</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through a hypothetical surface that cuts across the conductor. By convention, the direction of electric current is taken as the direction in which positive charge carriers would move. The SI unit of</a:t>
                </a:r>
              </a:p>
              <a:p>
                <a:pPr algn="just"/>
                <a:r>
                  <a:rPr lang="en-US" sz="2000" dirty="0">
                    <a:latin typeface="Arial" panose="020B0604020202020204" pitchFamily="34" charset="0"/>
                    <a:cs typeface="Arial" panose="020B0604020202020204" pitchFamily="34" charset="0"/>
                  </a:rPr>
                  <a:t>electric current is the </a:t>
                </a:r>
                <a:r>
                  <a:rPr lang="en-US" sz="2000" b="1" dirty="0">
                    <a:latin typeface="Arial" panose="020B0604020202020204" pitchFamily="34" charset="0"/>
                    <a:cs typeface="Arial" panose="020B0604020202020204" pitchFamily="34" charset="0"/>
                  </a:rPr>
                  <a:t>ampere </a:t>
                </a:r>
                <a:r>
                  <a:rPr lang="en-US" sz="2000" dirty="0">
                    <a:latin typeface="Arial" panose="020B0604020202020204" pitchFamily="34" charset="0"/>
                    <a:cs typeface="Arial" panose="020B0604020202020204" pitchFamily="34" charset="0"/>
                  </a:rPr>
                  <a:t>(A): 1 A = 1 coulomb per second=1 </a:t>
                </a:r>
                <a:r>
                  <a:rPr lang="en-US" sz="2000" i="1" dirty="0">
                    <a:latin typeface="Arial" panose="020B0604020202020204" pitchFamily="34" charset="0"/>
                    <a:cs typeface="Arial" panose="020B0604020202020204" pitchFamily="34" charset="0"/>
                  </a:rPr>
                  <a:t>C/s.</a:t>
                </a:r>
                <a:endParaRPr lang="en-US" sz="2000" dirty="0">
                  <a:latin typeface="Arial" panose="020B0604020202020204" pitchFamily="34" charset="0"/>
                  <a:cs typeface="Arial" panose="020B0604020202020204" pitchFamily="34"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180108" y="533400"/>
                <a:ext cx="4163292" cy="4369979"/>
              </a:xfrm>
              <a:prstGeom prst="rect">
                <a:avLst/>
              </a:prstGeom>
              <a:blipFill rotWithShape="1">
                <a:blip r:embed="rId4"/>
                <a:stretch>
                  <a:fillRect l="-1611" t="-559" r="-1464" b="-1536"/>
                </a:stretch>
              </a:blipFill>
            </p:spPr>
            <p:txBody>
              <a:bodyPr/>
              <a:lstStyle/>
              <a:p>
                <a:r>
                  <a:rPr lang="en-US">
                    <a:noFill/>
                  </a:rPr>
                  <a:t> </a:t>
                </a:r>
              </a:p>
            </p:txBody>
          </p:sp>
        </mc:Fallback>
      </mc:AlternateContent>
      <p:sp>
        <p:nvSpPr>
          <p:cNvPr id="7" name="Rectangle 6"/>
          <p:cNvSpPr/>
          <p:nvPr/>
        </p:nvSpPr>
        <p:spPr>
          <a:xfrm>
            <a:off x="4474964" y="3962400"/>
            <a:ext cx="4592836" cy="2862322"/>
          </a:xfrm>
          <a:prstGeom prst="rect">
            <a:avLst/>
          </a:prstGeom>
        </p:spPr>
        <p:txBody>
          <a:bodyPr wrap="square">
            <a:spAutoFit/>
          </a:bodyPr>
          <a:lstStyle/>
          <a:p>
            <a:pPr algn="just"/>
            <a:r>
              <a:rPr lang="en-US" i="1" dirty="0"/>
              <a:t>a</a:t>
            </a:r>
            <a:r>
              <a:rPr lang="en-US" dirty="0"/>
              <a:t>) No electric field can exist within it or along its surface. Although conduction electrons are available, no net electric force acts on them and thus there is no current.(</a:t>
            </a:r>
            <a:r>
              <a:rPr lang="en-US" i="1" dirty="0"/>
              <a:t>b</a:t>
            </a:r>
            <a:r>
              <a:rPr lang="en-US" dirty="0"/>
              <a:t>) We insert a battery in the loop, the conducting loop is no longer at a single potential. Electric fields act inside the material making up the loop, exerting forces on the conduction electrons, causing them to move and thus establishing a current.</a:t>
            </a:r>
          </a:p>
        </p:txBody>
      </p:sp>
      <p:sp>
        <p:nvSpPr>
          <p:cNvPr id="2" name="Rectangle 1"/>
          <p:cNvSpPr/>
          <p:nvPr/>
        </p:nvSpPr>
        <p:spPr>
          <a:xfrm>
            <a:off x="0" y="5255061"/>
            <a:ext cx="4191000" cy="1477328"/>
          </a:xfrm>
          <a:prstGeom prst="rect">
            <a:avLst/>
          </a:prstGeom>
        </p:spPr>
        <p:txBody>
          <a:bodyPr wrap="square">
            <a:spAutoFit/>
          </a:bodyPr>
          <a:lstStyle/>
          <a:p>
            <a:pPr algn="just"/>
            <a:r>
              <a:rPr lang="en-US" b="1" dirty="0">
                <a:solidFill>
                  <a:srgbClr val="FF0000"/>
                </a:solidFill>
              </a:rPr>
              <a:t>NOTE: </a:t>
            </a:r>
            <a:r>
              <a:rPr lang="en-US" dirty="0"/>
              <a:t>A current arrow is drawn in the direction in which positive charge carriers would move, even if the actual charge carriers are negative and move in the opposite direction.</a:t>
            </a:r>
          </a:p>
        </p:txBody>
      </p:sp>
      <p:cxnSp>
        <p:nvCxnSpPr>
          <p:cNvPr id="5" name="Straight Connector 4"/>
          <p:cNvCxnSpPr/>
          <p:nvPr/>
        </p:nvCxnSpPr>
        <p:spPr>
          <a:xfrm>
            <a:off x="4343400" y="76200"/>
            <a:ext cx="131564" cy="665618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343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142" y="83127"/>
            <a:ext cx="2597186" cy="461665"/>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2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Current Density:</a:t>
            </a:r>
          </a:p>
        </p:txBody>
      </p:sp>
      <mc:AlternateContent xmlns:mc="http://schemas.openxmlformats.org/markup-compatibility/2006" xmlns:a14="http://schemas.microsoft.com/office/drawing/2010/main">
        <mc:Choice Requires="a14">
          <p:sp>
            <p:nvSpPr>
              <p:cNvPr id="5" name="Rectangle 4"/>
              <p:cNvSpPr/>
              <p:nvPr/>
            </p:nvSpPr>
            <p:spPr>
              <a:xfrm>
                <a:off x="148838" y="596436"/>
                <a:ext cx="5337561" cy="2785699"/>
              </a:xfrm>
              <a:prstGeom prst="rect">
                <a:avLst/>
              </a:prstGeom>
            </p:spPr>
            <p:txBody>
              <a:bodyPr wrap="square">
                <a:spAutoFit/>
              </a:bodyPr>
              <a:lstStyle/>
              <a:p>
                <a:pPr algn="just"/>
                <a:r>
                  <a:rPr lang="en-US" sz="2000" dirty="0">
                    <a:latin typeface="Arial" panose="020B0604020202020204" pitchFamily="34" charset="0"/>
                    <a:cs typeface="Arial" panose="020B0604020202020204" pitchFamily="34" charset="0"/>
                  </a:rPr>
                  <a:t>Current </a:t>
                </a:r>
                <a:r>
                  <a:rPr lang="en-US" sz="2000" i="1" dirty="0">
                    <a:latin typeface="Arial" panose="020B0604020202020204" pitchFamily="34" charset="0"/>
                    <a:cs typeface="Arial" panose="020B0604020202020204" pitchFamily="34" charset="0"/>
                  </a:rPr>
                  <a:t>i </a:t>
                </a:r>
                <a:r>
                  <a:rPr lang="en-US" sz="2000" dirty="0">
                    <a:latin typeface="Arial" panose="020B0604020202020204" pitchFamily="34" charset="0"/>
                    <a:cs typeface="Arial" panose="020B0604020202020204" pitchFamily="34" charset="0"/>
                  </a:rPr>
                  <a:t>(a scalar quantity) is related to current density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a:rPr>
                          <m:t>𝑗</m:t>
                        </m:r>
                      </m:e>
                    </m:acc>
                    <m:r>
                      <a:rPr lang="en-US" sz="2000" b="0" i="1" smtClean="0">
                        <a:latin typeface="Cambria Math"/>
                      </a:rPr>
                      <m:t> </m:t>
                    </m:r>
                  </m:oMath>
                </a14:m>
                <a:r>
                  <a:rPr lang="en-US" sz="2000" dirty="0">
                    <a:latin typeface="Arial" panose="020B0604020202020204" pitchFamily="34" charset="0"/>
                    <a:cs typeface="Arial" panose="020B0604020202020204" pitchFamily="34" charset="0"/>
                  </a:rPr>
                  <a:t>(a vector quantity) by</a:t>
                </a:r>
              </a:p>
              <a:p>
                <a:pPr algn="just"/>
                <a14:m>
                  <m:oMathPara xmlns:m="http://schemas.openxmlformats.org/officeDocument/2006/math">
                    <m:oMathParaPr>
                      <m:jc m:val="centerGroup"/>
                    </m:oMathParaPr>
                    <m:oMath xmlns:m="http://schemas.openxmlformats.org/officeDocument/2006/math">
                      <m:r>
                        <a:rPr lang="en-US" sz="2000" b="0" i="1" smtClean="0">
                          <a:latin typeface="Cambria Math"/>
                        </a:rPr>
                        <m:t>𝑖</m:t>
                      </m:r>
                      <m:r>
                        <a:rPr lang="en-US" sz="2000" b="0" i="1" smtClean="0">
                          <a:latin typeface="Cambria Math"/>
                        </a:rPr>
                        <m:t>=</m:t>
                      </m:r>
                      <m:nary>
                        <m:naryPr>
                          <m:limLoc m:val="undOvr"/>
                          <m:subHide m:val="on"/>
                          <m:supHide m:val="on"/>
                          <m:ctrlPr>
                            <a:rPr lang="en-US" sz="2000" b="0" i="1" smtClean="0">
                              <a:latin typeface="Cambria Math" panose="02040503050406030204" pitchFamily="18" charset="0"/>
                            </a:rPr>
                          </m:ctrlPr>
                        </m:naryPr>
                        <m:sub/>
                        <m:sup/>
                        <m:e>
                          <m:acc>
                            <m:accPr>
                              <m:chr m:val="⃗"/>
                              <m:ctrlPr>
                                <a:rPr lang="en-US" sz="2000" b="0" i="1" smtClean="0">
                                  <a:latin typeface="Cambria Math" panose="02040503050406030204" pitchFamily="18" charset="0"/>
                                </a:rPr>
                              </m:ctrlPr>
                            </m:accPr>
                            <m:e>
                              <m:r>
                                <a:rPr lang="en-US" sz="2000" b="0" i="1" smtClean="0">
                                  <a:latin typeface="Cambria Math"/>
                                </a:rPr>
                                <m:t>𝐽</m:t>
                              </m:r>
                            </m:e>
                          </m:acc>
                          <m:r>
                            <a:rPr lang="en-US" sz="2000" b="0" i="1" smtClean="0">
                              <a:latin typeface="Cambria Math"/>
                            </a:rPr>
                            <m:t>. </m:t>
                          </m:r>
                          <m:r>
                            <a:rPr lang="en-US" sz="2000" b="0" i="1" smtClean="0">
                              <a:latin typeface="Cambria Math"/>
                            </a:rPr>
                            <m:t>𝑑</m:t>
                          </m:r>
                          <m:acc>
                            <m:accPr>
                              <m:chr m:val="⃗"/>
                              <m:ctrlPr>
                                <a:rPr lang="en-US" sz="2000" b="0" i="1" smtClean="0">
                                  <a:latin typeface="Cambria Math" panose="02040503050406030204" pitchFamily="18" charset="0"/>
                                </a:rPr>
                              </m:ctrlPr>
                            </m:accPr>
                            <m:e>
                              <m:r>
                                <a:rPr lang="en-US" sz="2000" b="0" i="1" smtClean="0">
                                  <a:latin typeface="Cambria Math"/>
                                </a:rPr>
                                <m:t>𝐴</m:t>
                              </m:r>
                            </m:e>
                          </m:acc>
                        </m:e>
                      </m:nary>
                    </m:oMath>
                  </m:oMathPara>
                </a14:m>
                <a:endParaRPr lang="en-US" sz="20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Where </a:t>
                </a:r>
                <a14:m>
                  <m:oMath xmlns:m="http://schemas.openxmlformats.org/officeDocument/2006/math">
                    <m:r>
                      <m:rPr>
                        <m:sty m:val="p"/>
                      </m:rPr>
                      <a:rPr lang="en-US" sz="2000" b="0" i="0" smtClean="0">
                        <a:latin typeface="Cambria Math"/>
                      </a:rPr>
                      <m:t>d</m:t>
                    </m:r>
                    <m:acc>
                      <m:accPr>
                        <m:chr m:val="⃗"/>
                        <m:ctrlPr>
                          <a:rPr lang="en-US" sz="2000" i="1" smtClean="0">
                            <a:latin typeface="Cambria Math" panose="02040503050406030204" pitchFamily="18" charset="0"/>
                          </a:rPr>
                        </m:ctrlPr>
                      </m:accPr>
                      <m:e>
                        <m:r>
                          <a:rPr lang="en-US" sz="2000" b="0" i="1" smtClean="0">
                            <a:latin typeface="Cambria Math"/>
                          </a:rPr>
                          <m:t>𝐴</m:t>
                        </m:r>
                      </m:e>
                    </m:acc>
                  </m:oMath>
                </a14:m>
                <a:r>
                  <a:rPr lang="en-US" sz="2000" dirty="0">
                    <a:latin typeface="Arial" panose="020B0604020202020204" pitchFamily="34" charset="0"/>
                    <a:cs typeface="Arial" panose="020B0604020202020204" pitchFamily="34" charset="0"/>
                  </a:rPr>
                  <a:t> is a vector perpendicular to a surface element of area </a:t>
                </a:r>
                <a:r>
                  <a:rPr lang="en-US" sz="2000" i="1" dirty="0" err="1">
                    <a:latin typeface="Arial" panose="020B0604020202020204" pitchFamily="34" charset="0"/>
                    <a:cs typeface="Arial" panose="020B0604020202020204" pitchFamily="34" charset="0"/>
                  </a:rPr>
                  <a:t>dA</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and the integral is taken over any surface cutting across the conductor. </a:t>
                </a:r>
              </a:p>
            </p:txBody>
          </p:sp>
        </mc:Choice>
        <mc:Fallback xmlns="">
          <p:sp>
            <p:nvSpPr>
              <p:cNvPr id="5" name="Rectangle 4"/>
              <p:cNvSpPr>
                <a:spLocks noRot="1" noChangeAspect="1" noMove="1" noResize="1" noEditPoints="1" noAdjustHandles="1" noChangeArrowheads="1" noChangeShapeType="1" noTextEdit="1"/>
              </p:cNvSpPr>
              <p:nvPr/>
            </p:nvSpPr>
            <p:spPr>
              <a:xfrm>
                <a:off x="148838" y="596436"/>
                <a:ext cx="5337561" cy="2785699"/>
              </a:xfrm>
              <a:prstGeom prst="rect">
                <a:avLst/>
              </a:prstGeom>
              <a:blipFill rotWithShape="1">
                <a:blip r:embed="rId2"/>
                <a:stretch>
                  <a:fillRect l="-1142" t="-875" r="-1256" b="-30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48838" y="4199480"/>
                <a:ext cx="8960904" cy="786626"/>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If the current is uniform across the surface and parallel to </a:t>
                </a:r>
                <a14:m>
                  <m:oMath xmlns:m="http://schemas.openxmlformats.org/officeDocument/2006/math">
                    <m:r>
                      <m:rPr>
                        <m:sty m:val="p"/>
                      </m:rPr>
                      <a:rPr lang="en-US" sz="2000" b="0" i="0" smtClean="0">
                        <a:latin typeface="Cambria Math"/>
                      </a:rPr>
                      <m:t>d</m:t>
                    </m:r>
                    <m:acc>
                      <m:accPr>
                        <m:chr m:val="⃗"/>
                        <m:ctrlPr>
                          <a:rPr lang="en-US" sz="2000" i="1" smtClean="0">
                            <a:latin typeface="Cambria Math" panose="02040503050406030204" pitchFamily="18" charset="0"/>
                          </a:rPr>
                        </m:ctrlPr>
                      </m:accPr>
                      <m:e>
                        <m:r>
                          <a:rPr lang="en-US" sz="2000" b="0" i="1" smtClean="0">
                            <a:latin typeface="Cambria Math"/>
                          </a:rPr>
                          <m:t>𝐴</m:t>
                        </m:r>
                      </m:e>
                    </m:acc>
                  </m:oMath>
                </a14:m>
                <a:r>
                  <a:rPr lang="en-US" sz="2000" dirty="0">
                    <a:latin typeface="Arial" panose="020B0604020202020204" pitchFamily="34" charset="0"/>
                    <a:cs typeface="Arial" panose="020B0604020202020204" pitchFamily="34" charset="0"/>
                  </a:rPr>
                  <a:t> then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a:rPr>
                          <m:t>𝐽</m:t>
                        </m:r>
                      </m:e>
                    </m:acc>
                  </m:oMath>
                </a14:m>
                <a:r>
                  <a:rPr lang="en-US" sz="2000" dirty="0">
                    <a:latin typeface="Arial" panose="020B0604020202020204" pitchFamily="34" charset="0"/>
                    <a:cs typeface="Arial" panose="020B0604020202020204" pitchFamily="34" charset="0"/>
                  </a:rPr>
                  <a:t> is also uniform and parallel to </a:t>
                </a:r>
                <a14:m>
                  <m:oMath xmlns:m="http://schemas.openxmlformats.org/officeDocument/2006/math">
                    <m:r>
                      <m:rPr>
                        <m:sty m:val="p"/>
                      </m:rPr>
                      <a:rPr lang="en-US" sz="2000" b="0" i="0" smtClean="0">
                        <a:latin typeface="Cambria Math"/>
                      </a:rPr>
                      <m:t>d</m:t>
                    </m:r>
                    <m:acc>
                      <m:accPr>
                        <m:chr m:val="⃗"/>
                        <m:ctrlPr>
                          <a:rPr lang="en-US" sz="2000" i="1" smtClean="0">
                            <a:latin typeface="Cambria Math" panose="02040503050406030204" pitchFamily="18" charset="0"/>
                          </a:rPr>
                        </m:ctrlPr>
                      </m:accPr>
                      <m:e>
                        <m:r>
                          <a:rPr lang="en-US" sz="2000" b="0" i="1" smtClean="0">
                            <a:latin typeface="Cambria Math"/>
                          </a:rPr>
                          <m:t>𝐴</m:t>
                        </m:r>
                      </m:e>
                    </m:acc>
                  </m:oMath>
                </a14:m>
                <a:r>
                  <a:rPr lang="en-US" sz="2000" dirty="0">
                    <a:latin typeface="Arial" panose="020B0604020202020204" pitchFamily="34" charset="0"/>
                    <a:cs typeface="Arial" panose="020B0604020202020204" pitchFamily="34" charset="0"/>
                  </a:rPr>
                  <a:t> Then the above equation becomes</a:t>
                </a:r>
              </a:p>
            </p:txBody>
          </p:sp>
        </mc:Choice>
        <mc:Fallback xmlns="">
          <p:sp>
            <p:nvSpPr>
              <p:cNvPr id="6" name="Rectangle 5"/>
              <p:cNvSpPr>
                <a:spLocks noRot="1" noChangeAspect="1" noMove="1" noResize="1" noEditPoints="1" noAdjustHandles="1" noChangeArrowheads="1" noChangeShapeType="1" noTextEdit="1"/>
              </p:cNvSpPr>
              <p:nvPr/>
            </p:nvSpPr>
            <p:spPr>
              <a:xfrm>
                <a:off x="148838" y="4199480"/>
                <a:ext cx="8960904" cy="786626"/>
              </a:xfrm>
              <a:prstGeom prst="rect">
                <a:avLst/>
              </a:prstGeom>
              <a:blipFill rotWithShape="1">
                <a:blip r:embed="rId3"/>
                <a:stretch>
                  <a:fillRect l="-680" t="-9302" b="-13178"/>
                </a:stretch>
              </a:blipFill>
            </p:spPr>
            <p:txBody>
              <a:bodyPr/>
              <a:lstStyle/>
              <a:p>
                <a:r>
                  <a:rPr lang="en-US">
                    <a:noFill/>
                  </a:rPr>
                  <a:t> </a:t>
                </a:r>
              </a:p>
            </p:txBody>
          </p:sp>
        </mc:Fallback>
      </mc:AlternateContent>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6977" y="83127"/>
            <a:ext cx="3282765" cy="20574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7" name="Rectangle 6"/>
              <p:cNvSpPr/>
              <p:nvPr/>
            </p:nvSpPr>
            <p:spPr>
              <a:xfrm>
                <a:off x="118142" y="3382135"/>
                <a:ext cx="8963891" cy="745269"/>
              </a:xfrm>
              <a:prstGeom prst="rect">
                <a:avLst/>
              </a:prstGeom>
            </p:spPr>
            <p:txBody>
              <a:bodyPr wrap="square">
                <a:spAutoFit/>
              </a:bodyPr>
              <a:lstStyle/>
              <a:p>
                <a:pPr algn="just"/>
                <a:r>
                  <a:rPr lang="en-US" sz="2000" dirty="0">
                    <a:latin typeface="Arial" panose="020B0604020202020204" pitchFamily="34" charset="0"/>
                    <a:cs typeface="Arial" panose="020B0604020202020204" pitchFamily="34" charset="0"/>
                  </a:rPr>
                  <a:t>The current density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𝐽</m:t>
                        </m:r>
                      </m:e>
                    </m:acc>
                    <m:r>
                      <a:rPr lang="en-US" sz="2000" i="1">
                        <a:latin typeface="Cambria Math"/>
                      </a:rPr>
                      <m:t> </m:t>
                    </m:r>
                  </m:oMath>
                </a14:m>
                <a:r>
                  <a:rPr lang="en-US" sz="2000" dirty="0">
                    <a:latin typeface="Arial" panose="020B0604020202020204" pitchFamily="34" charset="0"/>
                    <a:cs typeface="Arial" panose="020B0604020202020204" pitchFamily="34" charset="0"/>
                  </a:rPr>
                  <a:t>has the same direction as the velocity of the moving charges if they are positive and the opposite direction if they are negative.</a:t>
                </a:r>
              </a:p>
            </p:txBody>
          </p:sp>
        </mc:Choice>
        <mc:Fallback xmlns="">
          <p:sp>
            <p:nvSpPr>
              <p:cNvPr id="7" name="Rectangle 6"/>
              <p:cNvSpPr>
                <a:spLocks noRot="1" noChangeAspect="1" noMove="1" noResize="1" noEditPoints="1" noAdjustHandles="1" noChangeArrowheads="1" noChangeShapeType="1" noTextEdit="1"/>
              </p:cNvSpPr>
              <p:nvPr/>
            </p:nvSpPr>
            <p:spPr>
              <a:xfrm>
                <a:off x="118142" y="3382135"/>
                <a:ext cx="8963891" cy="745269"/>
              </a:xfrm>
              <a:prstGeom prst="rect">
                <a:avLst/>
              </a:prstGeom>
              <a:blipFill>
                <a:blip r:embed="rId5"/>
                <a:stretch>
                  <a:fillRect l="-680" t="-9836" r="-680"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53291" y="5012285"/>
                <a:ext cx="3029740" cy="8996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rPr>
                        <m:t>𝑖</m:t>
                      </m:r>
                      <m:r>
                        <a:rPr lang="en-US" sz="2000" b="0" i="1" smtClean="0">
                          <a:latin typeface="Cambria Math"/>
                        </a:rPr>
                        <m:t>=</m:t>
                      </m:r>
                      <m:nary>
                        <m:naryPr>
                          <m:limLoc m:val="undOvr"/>
                          <m:subHide m:val="on"/>
                          <m:supHide m:val="on"/>
                          <m:ctrlPr>
                            <a:rPr lang="en-US" sz="2000" b="0" i="1" smtClean="0">
                              <a:latin typeface="Cambria Math" panose="02040503050406030204" pitchFamily="18" charset="0"/>
                            </a:rPr>
                          </m:ctrlPr>
                        </m:naryPr>
                        <m:sub/>
                        <m:sup/>
                        <m:e>
                          <m:r>
                            <a:rPr lang="en-US" sz="2000" b="0" i="1" smtClean="0">
                              <a:latin typeface="Cambria Math"/>
                            </a:rPr>
                            <m:t>𝐽</m:t>
                          </m:r>
                          <m:r>
                            <a:rPr lang="en-US" sz="2000" b="0" i="1" smtClean="0">
                              <a:latin typeface="Cambria Math"/>
                            </a:rPr>
                            <m:t> </m:t>
                          </m:r>
                          <m:r>
                            <a:rPr lang="en-US" sz="2000" b="0" i="1" smtClean="0">
                              <a:latin typeface="Cambria Math"/>
                            </a:rPr>
                            <m:t>𝑑𝐴</m:t>
                          </m:r>
                          <m:r>
                            <a:rPr lang="en-US" sz="2000" b="0" i="1" smtClean="0">
                              <a:latin typeface="Cambria Math"/>
                            </a:rPr>
                            <m:t>=</m:t>
                          </m:r>
                          <m:r>
                            <a:rPr lang="en-US" sz="2000" b="0" i="1" smtClean="0">
                              <a:latin typeface="Cambria Math"/>
                            </a:rPr>
                            <m:t>𝐽</m:t>
                          </m:r>
                          <m:nary>
                            <m:naryPr>
                              <m:limLoc m:val="undOvr"/>
                              <m:subHide m:val="on"/>
                              <m:supHide m:val="on"/>
                              <m:ctrlPr>
                                <a:rPr lang="en-US" sz="2000" b="0" i="1" smtClean="0">
                                  <a:latin typeface="Cambria Math" panose="02040503050406030204" pitchFamily="18" charset="0"/>
                                </a:rPr>
                              </m:ctrlPr>
                            </m:naryPr>
                            <m:sub/>
                            <m:sup/>
                            <m:e>
                              <m:r>
                                <a:rPr lang="en-US" sz="2000" b="0" i="1" smtClean="0">
                                  <a:latin typeface="Cambria Math"/>
                                </a:rPr>
                                <m:t>𝑑𝐴</m:t>
                              </m:r>
                              <m:r>
                                <a:rPr lang="en-US" sz="2000" b="0" i="1" smtClean="0">
                                  <a:latin typeface="Cambria Math"/>
                                </a:rPr>
                                <m:t>=</m:t>
                              </m:r>
                              <m:r>
                                <a:rPr lang="en-US" sz="2000" b="0" i="1" smtClean="0">
                                  <a:latin typeface="Cambria Math"/>
                                </a:rPr>
                                <m:t>𝐽𝐴</m:t>
                              </m:r>
                            </m:e>
                          </m:nary>
                        </m:e>
                      </m:nary>
                    </m:oMath>
                  </m:oMathPara>
                </a14:m>
                <a:endParaRPr lang="en-US" sz="2000" dirty="0"/>
              </a:p>
            </p:txBody>
          </p:sp>
        </mc:Choice>
        <mc:Fallback xmlns="">
          <p:sp>
            <p:nvSpPr>
              <p:cNvPr id="8" name="TextBox 7"/>
              <p:cNvSpPr txBox="1">
                <a:spLocks noRot="1" noChangeAspect="1" noMove="1" noResize="1" noEditPoints="1" noAdjustHandles="1" noChangeArrowheads="1" noChangeShapeType="1" noTextEdit="1"/>
              </p:cNvSpPr>
              <p:nvPr/>
            </p:nvSpPr>
            <p:spPr>
              <a:xfrm>
                <a:off x="353291" y="5012285"/>
                <a:ext cx="3029740" cy="899670"/>
              </a:xfrm>
              <a:prstGeom prst="rect">
                <a:avLst/>
              </a:prstGeom>
              <a:blipFill rotWithShape="1">
                <a:blip r:embed="rId6"/>
                <a:stretch>
                  <a:fillRect/>
                </a:stretch>
              </a:blipFill>
            </p:spPr>
            <p:txBody>
              <a:bodyPr/>
              <a:lstStyle/>
              <a:p>
                <a:r>
                  <a:rPr lang="en-US">
                    <a:noFill/>
                  </a:rPr>
                  <a:t> </a:t>
                </a:r>
              </a:p>
            </p:txBody>
          </p:sp>
        </mc:Fallback>
      </mc:AlternateContent>
      <p:grpSp>
        <p:nvGrpSpPr>
          <p:cNvPr id="14" name="Group 13"/>
          <p:cNvGrpSpPr/>
          <p:nvPr/>
        </p:nvGrpSpPr>
        <p:grpSpPr>
          <a:xfrm>
            <a:off x="148838" y="5711962"/>
            <a:ext cx="8933195" cy="1015663"/>
            <a:chOff x="148838" y="5711962"/>
            <a:chExt cx="8933195" cy="1015663"/>
          </a:xfrm>
        </p:grpSpPr>
        <p:sp>
          <p:nvSpPr>
            <p:cNvPr id="11" name="TextBox 10"/>
            <p:cNvSpPr txBox="1"/>
            <p:nvPr/>
          </p:nvSpPr>
          <p:spPr>
            <a:xfrm>
              <a:off x="148838" y="5935728"/>
              <a:ext cx="1366080"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Therefore,</a:t>
              </a:r>
            </a:p>
          </p:txBody>
        </p:sp>
        <mc:AlternateContent xmlns:mc="http://schemas.openxmlformats.org/markup-compatibility/2006" xmlns:a14="http://schemas.microsoft.com/office/drawing/2010/main">
          <mc:Choice Requires="a14">
            <p:sp>
              <p:nvSpPr>
                <p:cNvPr id="12" name="TextBox 11"/>
                <p:cNvSpPr txBox="1"/>
                <p:nvPr/>
              </p:nvSpPr>
              <p:spPr>
                <a:xfrm>
                  <a:off x="1868161" y="5830393"/>
                  <a:ext cx="975395" cy="7788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a:rPr>
                          <m:t>𝐽</m:t>
                        </m:r>
                        <m:r>
                          <a:rPr lang="en-US" sz="2400" b="0" i="1" smtClean="0">
                            <a:solidFill>
                              <a:srgbClr val="FF0000"/>
                            </a:solidFill>
                            <a:latin typeface="Cambria Math"/>
                          </a:rPr>
                          <m:t>=</m:t>
                        </m:r>
                        <m:f>
                          <m:fPr>
                            <m:ctrlPr>
                              <a:rPr lang="en-US" sz="2400" b="0" i="1" smtClean="0">
                                <a:solidFill>
                                  <a:srgbClr val="FF0000"/>
                                </a:solidFill>
                                <a:latin typeface="Cambria Math" panose="02040503050406030204" pitchFamily="18" charset="0"/>
                              </a:rPr>
                            </m:ctrlPr>
                          </m:fPr>
                          <m:num>
                            <m:r>
                              <a:rPr lang="en-US" sz="2400" b="0" i="1" smtClean="0">
                                <a:solidFill>
                                  <a:srgbClr val="FF0000"/>
                                </a:solidFill>
                                <a:latin typeface="Cambria Math"/>
                              </a:rPr>
                              <m:t>𝑖</m:t>
                            </m:r>
                          </m:num>
                          <m:den>
                            <m:r>
                              <a:rPr lang="en-US" sz="2400" b="0" i="1" smtClean="0">
                                <a:solidFill>
                                  <a:srgbClr val="FF0000"/>
                                </a:solidFill>
                                <a:latin typeface="Cambria Math"/>
                              </a:rPr>
                              <m:t>𝐴</m:t>
                            </m:r>
                          </m:den>
                        </m:f>
                      </m:oMath>
                    </m:oMathPara>
                  </a14:m>
                  <a:endParaRPr lang="en-US" sz="2400" dirty="0">
                    <a:solidFill>
                      <a:srgbClr val="FF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868161" y="5830393"/>
                  <a:ext cx="975395" cy="778803"/>
                </a:xfrm>
                <a:prstGeom prst="rect">
                  <a:avLst/>
                </a:prstGeom>
                <a:blipFill rotWithShape="1">
                  <a:blip r:embed="rId7"/>
                  <a:stretch>
                    <a:fillRect/>
                  </a:stretch>
                </a:blipFill>
              </p:spPr>
              <p:txBody>
                <a:bodyPr/>
                <a:lstStyle/>
                <a:p>
                  <a:r>
                    <a:rPr lang="en-US">
                      <a:noFill/>
                    </a:rPr>
                    <a:t> </a:t>
                  </a:r>
                </a:p>
              </p:txBody>
            </p:sp>
          </mc:Fallback>
        </mc:AlternateContent>
        <p:sp>
          <p:nvSpPr>
            <p:cNvPr id="13" name="Rectangle 12"/>
            <p:cNvSpPr/>
            <p:nvPr/>
          </p:nvSpPr>
          <p:spPr>
            <a:xfrm>
              <a:off x="3396886" y="5711962"/>
              <a:ext cx="5685147" cy="1015663"/>
            </a:xfrm>
            <a:prstGeom prst="rect">
              <a:avLst/>
            </a:prstGeom>
          </p:spPr>
          <p:txBody>
            <a:bodyPr wrap="square">
              <a:spAutoFit/>
            </a:bodyPr>
            <a:lstStyle/>
            <a:p>
              <a:pPr algn="just"/>
              <a:r>
                <a:rPr lang="en-US" sz="2000" dirty="0">
                  <a:solidFill>
                    <a:srgbClr val="FF0000"/>
                  </a:solidFill>
                  <a:latin typeface="Arial" panose="020B0604020202020204" pitchFamily="34" charset="0"/>
                  <a:cs typeface="Arial" panose="020B0604020202020204" pitchFamily="34" charset="0"/>
                </a:rPr>
                <a:t>That is, for each element of the cross section, the magnitude </a:t>
              </a:r>
              <a:r>
                <a:rPr lang="en-US" sz="2000" i="1" dirty="0">
                  <a:solidFill>
                    <a:srgbClr val="FF0000"/>
                  </a:solidFill>
                  <a:latin typeface="Arial" panose="020B0604020202020204" pitchFamily="34" charset="0"/>
                  <a:cs typeface="Arial" panose="020B0604020202020204" pitchFamily="34" charset="0"/>
                </a:rPr>
                <a:t>J </a:t>
              </a:r>
              <a:r>
                <a:rPr lang="en-US" sz="2000" dirty="0">
                  <a:solidFill>
                    <a:srgbClr val="FF0000"/>
                  </a:solidFill>
                  <a:latin typeface="Arial" panose="020B0604020202020204" pitchFamily="34" charset="0"/>
                  <a:cs typeface="Arial" panose="020B0604020202020204" pitchFamily="34" charset="0"/>
                </a:rPr>
                <a:t>is equal to the current per unit area through that element</a:t>
              </a:r>
            </a:p>
          </p:txBody>
        </p:sp>
      </p:grpSp>
    </p:spTree>
    <p:extLst>
      <p:ext uri="{BB962C8B-B14F-4D97-AF65-F5344CB8AC3E}">
        <p14:creationId xmlns:p14="http://schemas.microsoft.com/office/powerpoint/2010/main" val="1866799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8518" y="57789"/>
            <a:ext cx="4344266" cy="461665"/>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2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Resistance and  Ohm’s Law:</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0820" y="76200"/>
            <a:ext cx="3962400" cy="23202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Rectangle 4"/>
              <p:cNvSpPr/>
              <p:nvPr/>
            </p:nvSpPr>
            <p:spPr>
              <a:xfrm>
                <a:off x="78518" y="581575"/>
                <a:ext cx="4874482" cy="2014911"/>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The r</a:t>
                </a:r>
                <a:r>
                  <a:rPr lang="en-US" sz="2000" b="1" dirty="0">
                    <a:latin typeface="Arial" panose="020B0604020202020204" pitchFamily="34" charset="0"/>
                    <a:cs typeface="Arial" panose="020B0604020202020204" pitchFamily="34" charset="0"/>
                  </a:rPr>
                  <a:t>esistance</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R </a:t>
                </a:r>
                <a:r>
                  <a:rPr lang="en-US" sz="2000" dirty="0">
                    <a:latin typeface="Arial" panose="020B0604020202020204" pitchFamily="34" charset="0"/>
                    <a:cs typeface="Arial" panose="020B0604020202020204" pitchFamily="34" charset="0"/>
                  </a:rPr>
                  <a:t>of a conductor is defined as</a:t>
                </a:r>
              </a:p>
              <a:p>
                <a:pPr/>
                <a14:m>
                  <m:oMathPara xmlns:m="http://schemas.openxmlformats.org/officeDocument/2006/math">
                    <m:oMathParaPr>
                      <m:jc m:val="centerGroup"/>
                    </m:oMathParaPr>
                    <m:oMath xmlns:m="http://schemas.openxmlformats.org/officeDocument/2006/math">
                      <m:r>
                        <a:rPr lang="en-US" sz="2400" b="0" i="1" smtClean="0">
                          <a:latin typeface="Cambria Math"/>
                        </a:rPr>
                        <m:t>𝑅</m:t>
                      </m:r>
                      <m:r>
                        <a:rPr lang="en-US" sz="2400" b="0" i="1" smtClean="0">
                          <a:latin typeface="Cambria Math"/>
                        </a:rPr>
                        <m:t>=</m:t>
                      </m:r>
                      <m:f>
                        <m:fPr>
                          <m:ctrlPr>
                            <a:rPr lang="en-US" sz="2400" b="0" i="1" smtClean="0">
                              <a:latin typeface="Cambria Math" panose="02040503050406030204" pitchFamily="18" charset="0"/>
                            </a:rPr>
                          </m:ctrlPr>
                        </m:fPr>
                        <m:num>
                          <m:r>
                            <a:rPr lang="en-US" sz="2400" b="0" i="1" smtClean="0">
                              <a:latin typeface="Cambria Math"/>
                            </a:rPr>
                            <m:t>𝑉</m:t>
                          </m:r>
                        </m:num>
                        <m:den>
                          <m:r>
                            <a:rPr lang="en-US" sz="2400" b="0" i="1" smtClean="0">
                              <a:latin typeface="Cambria Math"/>
                            </a:rPr>
                            <m:t>𝑖</m:t>
                          </m:r>
                        </m:den>
                      </m:f>
                    </m:oMath>
                  </m:oMathPara>
                </a14:m>
                <a:endParaRPr lang="en-US" sz="24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where </a:t>
                </a:r>
                <a:r>
                  <a:rPr lang="en-US" sz="2000" i="1" dirty="0">
                    <a:latin typeface="Arial" panose="020B0604020202020204" pitchFamily="34" charset="0"/>
                    <a:cs typeface="Arial" panose="020B0604020202020204" pitchFamily="34" charset="0"/>
                  </a:rPr>
                  <a:t>V </a:t>
                </a:r>
                <a:r>
                  <a:rPr lang="en-US" sz="2000" dirty="0">
                    <a:latin typeface="Arial" panose="020B0604020202020204" pitchFamily="34" charset="0"/>
                    <a:cs typeface="Arial" panose="020B0604020202020204" pitchFamily="34" charset="0"/>
                  </a:rPr>
                  <a:t>is the potential difference across the conductor and </a:t>
                </a:r>
                <a:r>
                  <a:rPr lang="en-US" sz="2000" i="1" dirty="0">
                    <a:latin typeface="Arial" panose="020B0604020202020204" pitchFamily="34" charset="0"/>
                    <a:cs typeface="Arial" panose="020B0604020202020204" pitchFamily="34" charset="0"/>
                  </a:rPr>
                  <a:t>i </a:t>
                </a:r>
                <a:r>
                  <a:rPr lang="en-US" sz="2000" dirty="0">
                    <a:latin typeface="Arial" panose="020B0604020202020204" pitchFamily="34" charset="0"/>
                    <a:cs typeface="Arial" panose="020B0604020202020204" pitchFamily="34" charset="0"/>
                  </a:rPr>
                  <a:t>is the current.</a:t>
                </a:r>
              </a:p>
            </p:txBody>
          </p:sp>
        </mc:Choice>
        <mc:Fallback xmlns="">
          <p:sp>
            <p:nvSpPr>
              <p:cNvPr id="5" name="Rectangle 4"/>
              <p:cNvSpPr>
                <a:spLocks noRot="1" noChangeAspect="1" noMove="1" noResize="1" noEditPoints="1" noAdjustHandles="1" noChangeArrowheads="1" noChangeShapeType="1" noTextEdit="1"/>
              </p:cNvSpPr>
              <p:nvPr/>
            </p:nvSpPr>
            <p:spPr>
              <a:xfrm>
                <a:off x="78518" y="581575"/>
                <a:ext cx="4874482" cy="2014911"/>
              </a:xfrm>
              <a:prstGeom prst="rect">
                <a:avLst/>
              </a:prstGeom>
              <a:blipFill rotWithShape="1">
                <a:blip r:embed="rId3"/>
                <a:stretch>
                  <a:fillRect l="-1375" t="-1208" r="-1500" b="-45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8517" y="2669692"/>
                <a:ext cx="9044702" cy="1015663"/>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This relationship, called </a:t>
                </a:r>
                <a:r>
                  <a:rPr lang="en-US" sz="2000" b="1" dirty="0">
                    <a:latin typeface="Arial" panose="020B0604020202020204" pitchFamily="34" charset="0"/>
                    <a:cs typeface="Arial" panose="020B0604020202020204" pitchFamily="34" charset="0"/>
                  </a:rPr>
                  <a:t>Ohm’s law</a:t>
                </a:r>
                <a:r>
                  <a:rPr lang="en-US" sz="2000" dirty="0">
                    <a:latin typeface="Arial" panose="020B0604020202020204" pitchFamily="34" charset="0"/>
                    <a:cs typeface="Arial" panose="020B0604020202020204" pitchFamily="34" charset="0"/>
                  </a:rPr>
                  <a:t>, was discovered in 1826 by the German physicist Georg Simon Ohm (1787–1854). The SI unit for resistance is the </a:t>
                </a:r>
                <a:r>
                  <a:rPr lang="en-US" sz="2000" b="1" dirty="0">
                    <a:latin typeface="Arial" panose="020B0604020202020204" pitchFamily="34" charset="0"/>
                    <a:cs typeface="Arial" panose="020B0604020202020204" pitchFamily="34" charset="0"/>
                  </a:rPr>
                  <a:t>ohm </a:t>
                </a:r>
                <a:r>
                  <a:rPr lang="en-US" sz="2000" dirty="0">
                    <a:latin typeface="Arial" panose="020B0604020202020204" pitchFamily="34" charset="0"/>
                    <a:cs typeface="Arial" panose="020B0604020202020204" pitchFamily="34" charset="0"/>
                  </a:rPr>
                  <a:t>(symbol </a:t>
                </a:r>
                <a14:m>
                  <m:oMath xmlns:m="http://schemas.openxmlformats.org/officeDocument/2006/math">
                    <m:r>
                      <m:rPr>
                        <m:sty m:val="p"/>
                      </m:rPr>
                      <a:rPr lang="el-GR" sz="2000" i="1" smtClean="0">
                        <a:latin typeface="Cambria Math"/>
                        <a:ea typeface="Cambria Math"/>
                      </a:rPr>
                      <m:t>Ω</m:t>
                    </m:r>
                  </m:oMath>
                </a14:m>
                <a:r>
                  <a:rPr lang="en-US" sz="2000" dirty="0">
                    <a:latin typeface="Arial" panose="020B0604020202020204" pitchFamily="34" charset="0"/>
                    <a:cs typeface="Arial" panose="020B0604020202020204" pitchFamily="34" charset="0"/>
                  </a:rPr>
                  <a:t>).</a:t>
                </a:r>
              </a:p>
            </p:txBody>
          </p:sp>
        </mc:Choice>
        <mc:Fallback xmlns="">
          <p:sp>
            <p:nvSpPr>
              <p:cNvPr id="6" name="Rectangle 5"/>
              <p:cNvSpPr>
                <a:spLocks noRot="1" noChangeAspect="1" noMove="1" noResize="1" noEditPoints="1" noAdjustHandles="1" noChangeArrowheads="1" noChangeShapeType="1" noTextEdit="1"/>
              </p:cNvSpPr>
              <p:nvPr/>
            </p:nvSpPr>
            <p:spPr>
              <a:xfrm>
                <a:off x="78517" y="2669692"/>
                <a:ext cx="9044702" cy="1015663"/>
              </a:xfrm>
              <a:prstGeom prst="rect">
                <a:avLst/>
              </a:prstGeom>
              <a:blipFill rotWithShape="1">
                <a:blip r:embed="rId4"/>
                <a:stretch>
                  <a:fillRect l="-741" t="-2395" b="-10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258464" y="3685355"/>
                <a:ext cx="468480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1</m:t>
                      </m:r>
                      <m:r>
                        <m:rPr>
                          <m:sty m:val="p"/>
                        </m:rPr>
                        <a:rPr lang="el-GR" sz="2400" b="0" i="1" smtClean="0">
                          <a:latin typeface="Cambria Math"/>
                          <a:ea typeface="Cambria Math"/>
                        </a:rPr>
                        <m:t>Ω</m:t>
                      </m:r>
                      <m:r>
                        <a:rPr lang="en-US" sz="2400" b="0" i="1" smtClean="0">
                          <a:latin typeface="Cambria Math"/>
                          <a:ea typeface="Cambria Math"/>
                        </a:rPr>
                        <m:t>=1 </m:t>
                      </m:r>
                      <m:r>
                        <a:rPr lang="en-US" sz="2400" b="0" i="1" smtClean="0">
                          <a:latin typeface="Cambria Math"/>
                          <a:ea typeface="Cambria Math"/>
                        </a:rPr>
                        <m:t>𝑣𝑜𝑙𝑡</m:t>
                      </m:r>
                      <m:r>
                        <a:rPr lang="en-US" sz="2400" b="0" i="1" smtClean="0">
                          <a:latin typeface="Cambria Math"/>
                          <a:ea typeface="Cambria Math"/>
                        </a:rPr>
                        <m:t> </m:t>
                      </m:r>
                      <m:r>
                        <a:rPr lang="en-US" sz="2400" b="0" i="1" smtClean="0">
                          <a:latin typeface="Cambria Math"/>
                          <a:ea typeface="Cambria Math"/>
                        </a:rPr>
                        <m:t>𝑝𝑒𝑟</m:t>
                      </m:r>
                      <m:r>
                        <a:rPr lang="en-US" sz="2400" b="0" i="1" smtClean="0">
                          <a:latin typeface="Cambria Math"/>
                          <a:ea typeface="Cambria Math"/>
                        </a:rPr>
                        <m:t> </m:t>
                      </m:r>
                      <m:r>
                        <a:rPr lang="en-US" sz="2400" b="0" i="1" smtClean="0">
                          <a:latin typeface="Cambria Math"/>
                          <a:ea typeface="Cambria Math"/>
                        </a:rPr>
                        <m:t>𝑎𝑚𝑝𝑒𝑟𝑒</m:t>
                      </m:r>
                      <m:r>
                        <a:rPr lang="en-US" sz="2400" b="0" i="1" smtClean="0">
                          <a:latin typeface="Cambria Math"/>
                          <a:ea typeface="Cambria Math"/>
                        </a:rPr>
                        <m:t>=1 </m:t>
                      </m:r>
                      <m:r>
                        <a:rPr lang="en-US" sz="2400" b="0" i="1" smtClean="0">
                          <a:latin typeface="Cambria Math"/>
                          <a:ea typeface="Cambria Math"/>
                        </a:rPr>
                        <m:t>𝑉</m:t>
                      </m:r>
                      <m:r>
                        <a:rPr lang="en-US" sz="2400" b="0" i="1" smtClean="0">
                          <a:latin typeface="Cambria Math"/>
                          <a:ea typeface="Cambria Math"/>
                        </a:rPr>
                        <m:t>/</m:t>
                      </m:r>
                      <m:r>
                        <a:rPr lang="en-US" sz="2400" b="0" i="1" smtClean="0">
                          <a:latin typeface="Cambria Math"/>
                          <a:ea typeface="Cambria Math"/>
                        </a:rPr>
                        <m:t>𝐴</m:t>
                      </m:r>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2258464" y="3685355"/>
                <a:ext cx="4684809" cy="461665"/>
              </a:xfrm>
              <a:prstGeom prst="rect">
                <a:avLst/>
              </a:prstGeom>
              <a:blipFill rotWithShape="1">
                <a:blip r:embed="rId5"/>
                <a:stretch>
                  <a:fillRect b="-18667"/>
                </a:stretch>
              </a:blipFill>
            </p:spPr>
            <p:txBody>
              <a:bodyPr/>
              <a:lstStyle/>
              <a:p>
                <a:r>
                  <a:rPr lang="en-US">
                    <a:noFill/>
                  </a:rPr>
                  <a:t> </a:t>
                </a:r>
              </a:p>
            </p:txBody>
          </p:sp>
        </mc:Fallback>
      </mc:AlternateContent>
      <p:grpSp>
        <p:nvGrpSpPr>
          <p:cNvPr id="9" name="Group 8"/>
          <p:cNvGrpSpPr/>
          <p:nvPr/>
        </p:nvGrpSpPr>
        <p:grpSpPr>
          <a:xfrm>
            <a:off x="113154" y="4343400"/>
            <a:ext cx="8913081" cy="1015663"/>
            <a:chOff x="78518" y="4419600"/>
            <a:chExt cx="8913081" cy="1015663"/>
          </a:xfrm>
        </p:grpSpPr>
        <p:sp>
          <p:nvSpPr>
            <p:cNvPr id="8" name="Rectangle 7"/>
            <p:cNvSpPr/>
            <p:nvPr/>
          </p:nvSpPr>
          <p:spPr>
            <a:xfrm>
              <a:off x="78518" y="4419600"/>
              <a:ext cx="8913081" cy="1015663"/>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A conductor whose function in a circuit is to provide a specified resistance is called a </a:t>
              </a:r>
              <a:r>
                <a:rPr lang="en-US" sz="2000" b="1" dirty="0">
                  <a:latin typeface="Arial" panose="020B0604020202020204" pitchFamily="34" charset="0"/>
                  <a:cs typeface="Arial" panose="020B0604020202020204" pitchFamily="34" charset="0"/>
                </a:rPr>
                <a:t>resistor </a:t>
              </a:r>
              <a:r>
                <a:rPr lang="en-US" sz="2000" dirty="0">
                  <a:latin typeface="Arial" panose="020B0604020202020204" pitchFamily="34" charset="0"/>
                  <a:cs typeface="Arial" panose="020B0604020202020204" pitchFamily="34" charset="0"/>
                </a:rPr>
                <a:t>(as shown in the adjacent figure). In a circuit diagram, we represent a resistor and a resistance with the symbol           .</a:t>
              </a:r>
            </a:p>
          </p:txBody>
        </p:sp>
        <p:pic>
          <p:nvPicPr>
            <p:cNvPr id="20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8228" y="5083811"/>
              <a:ext cx="755946" cy="3149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683313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76200"/>
            <a:ext cx="1802096" cy="461665"/>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2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Resistivity</a:t>
            </a: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a:t>
            </a:r>
            <a:endParaRPr lang="en-US" dirty="0"/>
          </a:p>
        </p:txBody>
      </p:sp>
      <mc:AlternateContent xmlns:mc="http://schemas.openxmlformats.org/markup-compatibility/2006" xmlns:a14="http://schemas.microsoft.com/office/drawing/2010/main">
        <mc:Choice Requires="a14">
          <p:sp>
            <p:nvSpPr>
              <p:cNvPr id="5" name="Rectangle 4"/>
              <p:cNvSpPr/>
              <p:nvPr/>
            </p:nvSpPr>
            <p:spPr>
              <a:xfrm>
                <a:off x="117764" y="556368"/>
                <a:ext cx="8950036" cy="1301125"/>
              </a:xfrm>
              <a:prstGeom prst="rect">
                <a:avLst/>
              </a:prstGeom>
            </p:spPr>
            <p:txBody>
              <a:bodyPr wrap="square">
                <a:spAutoFit/>
              </a:bodyPr>
              <a:lstStyle/>
              <a:p>
                <a:pPr algn="just"/>
                <a:r>
                  <a:rPr lang="en-US" i="1" dirty="0">
                    <a:latin typeface="Arial" panose="020B0604020202020204" pitchFamily="34" charset="0"/>
                    <a:cs typeface="Arial" panose="020B0604020202020204" pitchFamily="34" charset="0"/>
                  </a:rPr>
                  <a:t>The current density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𝐽</m:t>
                        </m:r>
                      </m:e>
                    </m:acc>
                  </m:oMath>
                </a14:m>
                <a:r>
                  <a:rPr lang="en-US" i="1" dirty="0">
                    <a:latin typeface="Arial" panose="020B0604020202020204" pitchFamily="34" charset="0"/>
                    <a:cs typeface="Arial" panose="020B0604020202020204" pitchFamily="34" charset="0"/>
                  </a:rPr>
                  <a:t> in a conductor depends on the electric field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𝐸</m:t>
                        </m:r>
                      </m:e>
                    </m:acc>
                    <m:r>
                      <a:rPr lang="en-US" b="0" i="1" smtClean="0">
                        <a:latin typeface="Cambria Math"/>
                      </a:rPr>
                      <m:t> </m:t>
                    </m:r>
                  </m:oMath>
                </a14:m>
                <a:r>
                  <a:rPr lang="en-US" i="1" dirty="0">
                    <a:latin typeface="Arial" panose="020B0604020202020204" pitchFamily="34" charset="0"/>
                    <a:cs typeface="Arial" panose="020B0604020202020204" pitchFamily="34" charset="0"/>
                  </a:rPr>
                  <a:t>and on the properties of the material. In general, this dependence can be quite complex. But for some materials, especially metals, at a given temperature,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𝐽</m:t>
                        </m:r>
                      </m:e>
                    </m:acc>
                    <m:r>
                      <a:rPr lang="en-US" b="0" i="1" smtClean="0">
                        <a:latin typeface="Cambria Math"/>
                      </a:rPr>
                      <m:t> </m:t>
                    </m:r>
                  </m:oMath>
                </a14:m>
                <a:r>
                  <a:rPr lang="en-US" i="1" dirty="0">
                    <a:latin typeface="Arial" panose="020B0604020202020204" pitchFamily="34" charset="0"/>
                    <a:cs typeface="Arial" panose="020B0604020202020204" pitchFamily="34" charset="0"/>
                  </a:rPr>
                  <a:t>is nearly directly proportional to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𝐸</m:t>
                        </m:r>
                      </m:e>
                    </m:acc>
                    <m:r>
                      <a:rPr lang="en-US" b="0" i="1" smtClean="0">
                        <a:latin typeface="Cambria Math"/>
                      </a:rPr>
                      <m:t> </m:t>
                    </m:r>
                  </m:oMath>
                </a14:m>
                <a:r>
                  <a:rPr lang="en-US" i="1" dirty="0">
                    <a:latin typeface="Arial" panose="020B0604020202020204" pitchFamily="34" charset="0"/>
                    <a:cs typeface="Arial" panose="020B0604020202020204" pitchFamily="34" charset="0"/>
                  </a:rPr>
                  <a:t>and the ratio of the magnitudes of </a:t>
                </a:r>
                <a14:m>
                  <m:oMath xmlns:m="http://schemas.openxmlformats.org/officeDocument/2006/math">
                    <m:r>
                      <a:rPr lang="en-US" b="0" i="1" smtClean="0">
                        <a:latin typeface="Cambria Math"/>
                      </a:rPr>
                      <m:t>𝐸</m:t>
                    </m:r>
                  </m:oMath>
                </a14:m>
                <a:r>
                  <a:rPr lang="en-US" i="1" dirty="0">
                    <a:latin typeface="Arial" panose="020B0604020202020204" pitchFamily="34" charset="0"/>
                    <a:cs typeface="Arial" panose="020B0604020202020204" pitchFamily="34" charset="0"/>
                  </a:rPr>
                  <a:t> and </a:t>
                </a:r>
                <a14:m>
                  <m:oMath xmlns:m="http://schemas.openxmlformats.org/officeDocument/2006/math">
                    <m:r>
                      <a:rPr lang="en-US" b="0" i="1" smtClean="0">
                        <a:latin typeface="Cambria Math"/>
                      </a:rPr>
                      <m:t>𝐽</m:t>
                    </m:r>
                  </m:oMath>
                </a14:m>
                <a:r>
                  <a:rPr lang="en-US" i="1" dirty="0">
                    <a:latin typeface="Arial" panose="020B0604020202020204" pitchFamily="34" charset="0"/>
                    <a:cs typeface="Arial" panose="020B0604020202020204" pitchFamily="34" charset="0"/>
                  </a:rPr>
                  <a:t>  is constant.</a:t>
                </a:r>
              </a:p>
            </p:txBody>
          </p:sp>
        </mc:Choice>
        <mc:Fallback xmlns="">
          <p:sp>
            <p:nvSpPr>
              <p:cNvPr id="5" name="Rectangle 4"/>
              <p:cNvSpPr>
                <a:spLocks noRot="1" noChangeAspect="1" noMove="1" noResize="1" noEditPoints="1" noAdjustHandles="1" noChangeArrowheads="1" noChangeShapeType="1" noTextEdit="1"/>
              </p:cNvSpPr>
              <p:nvPr/>
            </p:nvSpPr>
            <p:spPr>
              <a:xfrm>
                <a:off x="117764" y="556368"/>
                <a:ext cx="8950036" cy="1301125"/>
              </a:xfrm>
              <a:prstGeom prst="rect">
                <a:avLst/>
              </a:prstGeom>
              <a:blipFill rotWithShape="1">
                <a:blip r:embed="rId2"/>
                <a:stretch>
                  <a:fillRect l="-545" t="-6542" r="-545" b="-65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56722" y="1864144"/>
                <a:ext cx="8839200" cy="707886"/>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We define the </a:t>
                </a:r>
                <a:r>
                  <a:rPr lang="en-US" sz="2000" b="1" dirty="0">
                    <a:latin typeface="Arial" panose="020B0604020202020204" pitchFamily="34" charset="0"/>
                    <a:cs typeface="Arial" panose="020B0604020202020204" pitchFamily="34" charset="0"/>
                  </a:rPr>
                  <a:t>resistivity </a:t>
                </a:r>
                <a14:m>
                  <m:oMath xmlns:m="http://schemas.openxmlformats.org/officeDocument/2006/math">
                    <m:r>
                      <a:rPr lang="en-US" sz="2000" b="1" i="1" smtClean="0">
                        <a:latin typeface="Cambria Math"/>
                        <a:ea typeface="Cambria Math"/>
                        <a:cs typeface="Arial" panose="020B0604020202020204" pitchFamily="34" charset="0"/>
                      </a:rPr>
                      <m:t>𝝆</m:t>
                    </m:r>
                  </m:oMath>
                </a14:m>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of a material as the ratio of the magnitudes of electric field (</a:t>
                </a:r>
                <a14:m>
                  <m:oMath xmlns:m="http://schemas.openxmlformats.org/officeDocument/2006/math">
                    <m:r>
                      <a:rPr lang="en-US" sz="2000" b="0" i="1" smtClean="0">
                        <a:latin typeface="Cambria Math"/>
                        <a:cs typeface="Arial" panose="020B0604020202020204" pitchFamily="34" charset="0"/>
                      </a:rPr>
                      <m:t>𝐸</m:t>
                    </m:r>
                    <m:r>
                      <a:rPr lang="en-US" sz="2000" b="0" i="1" smtClean="0">
                        <a:latin typeface="Cambria Math"/>
                        <a:cs typeface="Arial" panose="020B0604020202020204" pitchFamily="34" charset="0"/>
                      </a:rPr>
                      <m:t>)</m:t>
                    </m:r>
                  </m:oMath>
                </a14:m>
                <a:r>
                  <a:rPr lang="en-US" sz="2000" dirty="0">
                    <a:latin typeface="Arial" panose="020B0604020202020204" pitchFamily="34" charset="0"/>
                    <a:cs typeface="Arial" panose="020B0604020202020204" pitchFamily="34" charset="0"/>
                  </a:rPr>
                  <a:t> and current density (</a:t>
                </a:r>
                <a14:m>
                  <m:oMath xmlns:m="http://schemas.openxmlformats.org/officeDocument/2006/math">
                    <m:r>
                      <a:rPr lang="en-US" sz="2000" b="0" i="1" smtClean="0">
                        <a:latin typeface="Cambria Math"/>
                        <a:cs typeface="Arial" panose="020B0604020202020204" pitchFamily="34" charset="0"/>
                      </a:rPr>
                      <m:t>𝐽</m:t>
                    </m:r>
                    <m:r>
                      <a:rPr lang="en-US" sz="2000" b="0" i="1" smtClean="0">
                        <a:latin typeface="Cambria Math"/>
                        <a:cs typeface="Arial" panose="020B0604020202020204" pitchFamily="34" charset="0"/>
                      </a:rPr>
                      <m:t>)</m:t>
                    </m:r>
                  </m:oMath>
                </a14:m>
                <a:r>
                  <a:rPr lang="en-US" sz="2000" dirty="0">
                    <a:latin typeface="Arial" panose="020B0604020202020204" pitchFamily="34" charset="0"/>
                    <a:cs typeface="Arial" panose="020B0604020202020204" pitchFamily="34" charset="0"/>
                  </a:rPr>
                  <a:t>:</a:t>
                </a:r>
              </a:p>
            </p:txBody>
          </p:sp>
        </mc:Choice>
        <mc:Fallback xmlns="">
          <p:sp>
            <p:nvSpPr>
              <p:cNvPr id="6" name="Rectangle 5"/>
              <p:cNvSpPr>
                <a:spLocks noRot="1" noChangeAspect="1" noMove="1" noResize="1" noEditPoints="1" noAdjustHandles="1" noChangeArrowheads="1" noChangeShapeType="1" noTextEdit="1"/>
              </p:cNvSpPr>
              <p:nvPr/>
            </p:nvSpPr>
            <p:spPr>
              <a:xfrm>
                <a:off x="56722" y="1864144"/>
                <a:ext cx="8839200" cy="707886"/>
              </a:xfrm>
              <a:prstGeom prst="rect">
                <a:avLst/>
              </a:prstGeom>
              <a:blipFill rotWithShape="1">
                <a:blip r:embed="rId3"/>
                <a:stretch>
                  <a:fillRect l="-690" t="-3448" b="-155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063748" y="2438400"/>
                <a:ext cx="1046504" cy="8393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a:ea typeface="Cambria Math"/>
                        </a:rPr>
                        <m:t>𝜌</m:t>
                      </m:r>
                      <m:r>
                        <a:rPr lang="en-US" sz="2400" b="0" i="1" smtClean="0">
                          <a:solidFill>
                            <a:srgbClr val="FF0000"/>
                          </a:solidFill>
                          <a:latin typeface="Cambria Math"/>
                          <a:ea typeface="Cambria Math"/>
                        </a:rPr>
                        <m:t>=</m:t>
                      </m:r>
                      <m:f>
                        <m:fPr>
                          <m:ctrlPr>
                            <a:rPr lang="en-US" sz="2400" i="1" smtClean="0">
                              <a:solidFill>
                                <a:srgbClr val="FF0000"/>
                              </a:solidFill>
                              <a:latin typeface="Cambria Math" panose="02040503050406030204" pitchFamily="18" charset="0"/>
                              <a:ea typeface="Cambria Math"/>
                            </a:rPr>
                          </m:ctrlPr>
                        </m:fPr>
                        <m:num>
                          <m:r>
                            <a:rPr lang="en-US" sz="2400" b="0" i="1" smtClean="0">
                              <a:solidFill>
                                <a:srgbClr val="FF0000"/>
                              </a:solidFill>
                              <a:latin typeface="Cambria Math"/>
                              <a:ea typeface="Cambria Math"/>
                            </a:rPr>
                            <m:t>𝐸</m:t>
                          </m:r>
                        </m:num>
                        <m:den>
                          <m:r>
                            <a:rPr lang="en-US" sz="2400" b="0" i="1" smtClean="0">
                              <a:solidFill>
                                <a:srgbClr val="FF0000"/>
                              </a:solidFill>
                              <a:latin typeface="Cambria Math"/>
                              <a:ea typeface="Cambria Math"/>
                            </a:rPr>
                            <m:t>𝐽</m:t>
                          </m:r>
                        </m:den>
                      </m:f>
                    </m:oMath>
                  </m:oMathPara>
                </a14:m>
                <a:endParaRPr lang="en-US" sz="2400"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063748" y="2438400"/>
                <a:ext cx="1046504" cy="839397"/>
              </a:xfrm>
              <a:prstGeom prst="rect">
                <a:avLst/>
              </a:prstGeom>
              <a:blipFill rotWithShape="1">
                <a:blip r:embed="rId4"/>
                <a:stretch>
                  <a:fillRect/>
                </a:stretch>
              </a:blipFill>
            </p:spPr>
            <p:txBody>
              <a:bodyPr/>
              <a:lstStyle/>
              <a:p>
                <a:r>
                  <a:rPr lang="en-US">
                    <a:noFill/>
                  </a:rPr>
                  <a:t> </a:t>
                </a:r>
              </a:p>
            </p:txBody>
          </p:sp>
        </mc:Fallback>
      </mc:AlternateContent>
      <p:sp>
        <p:nvSpPr>
          <p:cNvPr id="8" name="Rectangle 7"/>
          <p:cNvSpPr/>
          <p:nvPr/>
        </p:nvSpPr>
        <p:spPr>
          <a:xfrm>
            <a:off x="110836" y="3296081"/>
            <a:ext cx="8950036" cy="707886"/>
          </a:xfrm>
          <a:prstGeom prst="rect">
            <a:avLst/>
          </a:prstGeom>
        </p:spPr>
        <p:txBody>
          <a:bodyPr wrap="square">
            <a:spAutoFit/>
          </a:bodyPr>
          <a:lstStyle/>
          <a:p>
            <a:pPr algn="just"/>
            <a:r>
              <a:rPr lang="en-US" sz="2000" dirty="0">
                <a:latin typeface="Arial" panose="020B0604020202020204" pitchFamily="34" charset="0"/>
                <a:cs typeface="Arial" panose="020B0604020202020204" pitchFamily="34" charset="0"/>
              </a:rPr>
              <a:t>The greater the resistivity, the greater the field needed to cause a given current density.</a:t>
            </a:r>
          </a:p>
        </p:txBody>
      </p:sp>
      <p:sp>
        <p:nvSpPr>
          <p:cNvPr id="9" name="Rectangle 8"/>
          <p:cNvSpPr/>
          <p:nvPr/>
        </p:nvSpPr>
        <p:spPr>
          <a:xfrm>
            <a:off x="76200" y="4357910"/>
            <a:ext cx="8984187" cy="707886"/>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The resistivity of a </a:t>
            </a:r>
            <a:r>
              <a:rPr lang="en-US" sz="2000" i="1" dirty="0">
                <a:latin typeface="Arial" panose="020B0604020202020204" pitchFamily="34" charset="0"/>
                <a:cs typeface="Arial" panose="020B0604020202020204" pitchFamily="34" charset="0"/>
              </a:rPr>
              <a:t>metallic </a:t>
            </a:r>
            <a:r>
              <a:rPr lang="en-US" sz="2000" dirty="0">
                <a:latin typeface="Arial" panose="020B0604020202020204" pitchFamily="34" charset="0"/>
                <a:cs typeface="Arial" panose="020B0604020202020204" pitchFamily="34" charset="0"/>
              </a:rPr>
              <a:t>conductor nearly always increases with increasing temperature as</a:t>
            </a:r>
          </a:p>
        </p:txBody>
      </p:sp>
      <p:sp>
        <p:nvSpPr>
          <p:cNvPr id="10" name="TextBox 9"/>
          <p:cNvSpPr txBox="1"/>
          <p:nvPr/>
        </p:nvSpPr>
        <p:spPr>
          <a:xfrm>
            <a:off x="132922" y="4003967"/>
            <a:ext cx="920445"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Note:</a:t>
            </a:r>
          </a:p>
        </p:txBody>
      </p:sp>
      <mc:AlternateContent xmlns:mc="http://schemas.openxmlformats.org/markup-compatibility/2006" xmlns:a14="http://schemas.microsoft.com/office/drawing/2010/main">
        <mc:Choice Requires="a14">
          <p:sp>
            <p:nvSpPr>
              <p:cNvPr id="12" name="TextBox 11"/>
              <p:cNvSpPr txBox="1"/>
              <p:nvPr/>
            </p:nvSpPr>
            <p:spPr>
              <a:xfrm>
                <a:off x="2362200" y="5065796"/>
                <a:ext cx="306167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a:ea typeface="Cambria Math"/>
                        </a:rPr>
                        <m:t>𝜌</m:t>
                      </m:r>
                      <m:d>
                        <m:dPr>
                          <m:ctrlPr>
                            <a:rPr lang="en-US" sz="2000" b="0" i="1" smtClean="0">
                              <a:latin typeface="Cambria Math" panose="02040503050406030204" pitchFamily="18" charset="0"/>
                              <a:ea typeface="Cambria Math"/>
                            </a:rPr>
                          </m:ctrlPr>
                        </m:dPr>
                        <m:e>
                          <m:r>
                            <a:rPr lang="en-US" sz="2000" b="0" i="1" smtClean="0">
                              <a:latin typeface="Cambria Math"/>
                              <a:ea typeface="Cambria Math"/>
                            </a:rPr>
                            <m:t>𝑇</m:t>
                          </m:r>
                        </m:e>
                      </m:d>
                      <m:r>
                        <a:rPr lang="en-US" sz="2000" b="0" i="1" smtClean="0">
                          <a:latin typeface="Cambria Math"/>
                          <a:ea typeface="Cambria Math"/>
                        </a:rPr>
                        <m:t>=</m:t>
                      </m:r>
                      <m:sSub>
                        <m:sSubPr>
                          <m:ctrlPr>
                            <a:rPr lang="en-US" sz="2000" b="0" i="1" smtClean="0">
                              <a:latin typeface="Cambria Math" panose="02040503050406030204" pitchFamily="18" charset="0"/>
                              <a:ea typeface="Cambria Math"/>
                            </a:rPr>
                          </m:ctrlPr>
                        </m:sSubPr>
                        <m:e>
                          <m:r>
                            <a:rPr lang="en-US" sz="2000" b="0" i="1" smtClean="0">
                              <a:latin typeface="Cambria Math"/>
                              <a:ea typeface="Cambria Math"/>
                            </a:rPr>
                            <m:t>𝜌</m:t>
                          </m:r>
                        </m:e>
                        <m:sub>
                          <m:r>
                            <a:rPr lang="en-US" sz="2000" b="0" i="1" smtClean="0">
                              <a:latin typeface="Cambria Math"/>
                              <a:ea typeface="Cambria Math"/>
                            </a:rPr>
                            <m:t>0</m:t>
                          </m:r>
                        </m:sub>
                      </m:sSub>
                      <m:d>
                        <m:dPr>
                          <m:begChr m:val="["/>
                          <m:endChr m:val="]"/>
                          <m:ctrlPr>
                            <a:rPr lang="en-US" sz="2000" b="0" i="1" smtClean="0">
                              <a:latin typeface="Cambria Math" panose="02040503050406030204" pitchFamily="18" charset="0"/>
                              <a:ea typeface="Cambria Math"/>
                            </a:rPr>
                          </m:ctrlPr>
                        </m:dPr>
                        <m:e>
                          <m:r>
                            <a:rPr lang="en-US" sz="2000" b="0" i="1" smtClean="0">
                              <a:latin typeface="Cambria Math"/>
                              <a:ea typeface="Cambria Math"/>
                            </a:rPr>
                            <m:t>1+</m:t>
                          </m:r>
                          <m:r>
                            <a:rPr lang="en-US" sz="2000" b="0" i="1" smtClean="0">
                              <a:latin typeface="Cambria Math"/>
                              <a:ea typeface="Cambria Math"/>
                            </a:rPr>
                            <m:t>𝛼</m:t>
                          </m:r>
                          <m:r>
                            <a:rPr lang="en-US" sz="2000" b="0" i="1" smtClean="0">
                              <a:latin typeface="Cambria Math"/>
                              <a:ea typeface="Cambria Math"/>
                            </a:rPr>
                            <m:t>(</m:t>
                          </m:r>
                          <m:r>
                            <a:rPr lang="en-US" sz="2000" b="0" i="1" smtClean="0">
                              <a:latin typeface="Cambria Math"/>
                              <a:ea typeface="Cambria Math"/>
                            </a:rPr>
                            <m:t>𝑇</m:t>
                          </m:r>
                          <m:r>
                            <a:rPr lang="en-US" sz="2000" b="0" i="1" smtClean="0">
                              <a:latin typeface="Cambria Math"/>
                              <a:ea typeface="Cambria Math"/>
                            </a:rPr>
                            <m:t>−</m:t>
                          </m:r>
                          <m:sSub>
                            <m:sSubPr>
                              <m:ctrlPr>
                                <a:rPr lang="en-US" sz="2000" b="0" i="1" smtClean="0">
                                  <a:latin typeface="Cambria Math" panose="02040503050406030204" pitchFamily="18" charset="0"/>
                                  <a:ea typeface="Cambria Math"/>
                                </a:rPr>
                              </m:ctrlPr>
                            </m:sSubPr>
                            <m:e>
                              <m:r>
                                <a:rPr lang="en-US" sz="2000" b="0" i="1" smtClean="0">
                                  <a:latin typeface="Cambria Math"/>
                                  <a:ea typeface="Cambria Math"/>
                                </a:rPr>
                                <m:t>𝑇</m:t>
                              </m:r>
                            </m:e>
                            <m:sub>
                              <m:r>
                                <a:rPr lang="en-US" sz="2000" b="0" i="1" smtClean="0">
                                  <a:latin typeface="Cambria Math"/>
                                  <a:ea typeface="Cambria Math"/>
                                </a:rPr>
                                <m:t>0</m:t>
                              </m:r>
                            </m:sub>
                          </m:sSub>
                          <m:r>
                            <a:rPr lang="en-US" sz="2000" b="0" i="1" smtClean="0">
                              <a:latin typeface="Cambria Math"/>
                              <a:ea typeface="Cambria Math"/>
                            </a:rPr>
                            <m:t>)</m:t>
                          </m:r>
                        </m:e>
                      </m:d>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362200" y="5065796"/>
                <a:ext cx="3061672" cy="400110"/>
              </a:xfrm>
              <a:prstGeom prst="rect">
                <a:avLst/>
              </a:prstGeom>
              <a:blipFill rotWithShape="1">
                <a:blip r:embed="rId5"/>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4636" y="5638800"/>
                <a:ext cx="9109364" cy="1015663"/>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Where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smtClean="0">
                            <a:latin typeface="Cambria Math"/>
                            <a:ea typeface="Cambria Math"/>
                            <a:cs typeface="Arial" panose="020B0604020202020204" pitchFamily="34" charset="0"/>
                          </a:rPr>
                          <m:t>𝜌</m:t>
                        </m:r>
                      </m:e>
                      <m:sub>
                        <m:r>
                          <a:rPr lang="en-US" sz="2000" b="0" i="1" smtClean="0">
                            <a:latin typeface="Cambria Math"/>
                            <a:cs typeface="Arial" panose="020B0604020202020204" pitchFamily="34" charset="0"/>
                          </a:rPr>
                          <m:t>0</m:t>
                        </m:r>
                      </m:sub>
                    </m:sSub>
                  </m:oMath>
                </a14:m>
                <a:r>
                  <a:rPr lang="en-US" sz="2000" dirty="0">
                    <a:latin typeface="Arial" panose="020B0604020202020204" pitchFamily="34" charset="0"/>
                    <a:cs typeface="Arial" panose="020B0604020202020204" pitchFamily="34" charset="0"/>
                  </a:rPr>
                  <a:t> is the resistivity at a reference temperature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𝑇</m:t>
                        </m:r>
                      </m:e>
                      <m:sub>
                        <m:r>
                          <a:rPr lang="en-US" sz="2000" b="0" i="1" smtClean="0">
                            <a:latin typeface="Cambria Math"/>
                            <a:cs typeface="Arial" panose="020B0604020202020204" pitchFamily="34" charset="0"/>
                          </a:rPr>
                          <m:t>0</m:t>
                        </m:r>
                      </m:sub>
                    </m:sSub>
                  </m:oMath>
                </a14:m>
                <a:r>
                  <a:rPr lang="en-US" sz="2000" dirty="0">
                    <a:latin typeface="Arial" panose="020B0604020202020204" pitchFamily="34" charset="0"/>
                    <a:cs typeface="Arial" panose="020B0604020202020204" pitchFamily="34" charset="0"/>
                  </a:rPr>
                  <a:t> (often taken as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a:cs typeface="Arial" panose="020B0604020202020204" pitchFamily="34" charset="0"/>
                          </a:rPr>
                          <m:t>0</m:t>
                        </m:r>
                      </m:e>
                      <m:sup>
                        <m:r>
                          <a:rPr lang="en-US" sz="2000" b="0" i="1" smtClean="0">
                            <a:latin typeface="Cambria Math"/>
                            <a:cs typeface="Arial" panose="020B0604020202020204" pitchFamily="34" charset="0"/>
                          </a:rPr>
                          <m:t>0</m:t>
                        </m:r>
                      </m:sup>
                    </m:sSup>
                    <m:r>
                      <a:rPr lang="en-US" sz="2000" b="0" i="1" smtClean="0">
                        <a:latin typeface="Cambria Math"/>
                        <a:cs typeface="Arial" panose="020B0604020202020204" pitchFamily="34" charset="0"/>
                      </a:rPr>
                      <m:t>𝐶</m:t>
                    </m:r>
                  </m:oMath>
                </a14:m>
                <a:r>
                  <a:rPr lang="en-US" sz="2000" dirty="0">
                    <a:latin typeface="Arial" panose="020B0604020202020204" pitchFamily="34" charset="0"/>
                    <a:cs typeface="Arial" panose="020B0604020202020204" pitchFamily="34" charset="0"/>
                  </a:rPr>
                  <a:t> or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a:cs typeface="Arial" panose="020B0604020202020204" pitchFamily="34" charset="0"/>
                          </a:rPr>
                          <m:t>20</m:t>
                        </m:r>
                      </m:e>
                      <m:sup>
                        <m:r>
                          <a:rPr lang="en-US" sz="2000" b="0" i="1" smtClean="0">
                            <a:latin typeface="Cambria Math"/>
                            <a:cs typeface="Arial" panose="020B0604020202020204" pitchFamily="34" charset="0"/>
                          </a:rPr>
                          <m:t>0</m:t>
                        </m:r>
                      </m:sup>
                    </m:sSup>
                    <m:r>
                      <a:rPr lang="en-US" sz="2000" b="0" i="1" smtClean="0">
                        <a:latin typeface="Cambria Math"/>
                        <a:cs typeface="Arial" panose="020B0604020202020204" pitchFamily="34" charset="0"/>
                      </a:rPr>
                      <m:t>𝐶</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smtClean="0">
                        <a:latin typeface="Cambria Math"/>
                        <a:ea typeface="Cambria Math"/>
                        <a:cs typeface="Arial" panose="020B0604020202020204" pitchFamily="34" charset="0"/>
                      </a:rPr>
                      <m:t>𝜌</m:t>
                    </m:r>
                    <m:r>
                      <a:rPr lang="en-US" sz="2000" b="0" i="1" smtClean="0">
                        <a:latin typeface="Cambria Math"/>
                        <a:ea typeface="Cambria Math"/>
                        <a:cs typeface="Arial" panose="020B0604020202020204" pitchFamily="34" charset="0"/>
                      </a:rPr>
                      <m:t>(</m:t>
                    </m:r>
                    <m:r>
                      <a:rPr lang="en-US" sz="2000" b="0" i="1" smtClean="0">
                        <a:latin typeface="Cambria Math"/>
                        <a:ea typeface="Cambria Math"/>
                        <a:cs typeface="Arial" panose="020B0604020202020204" pitchFamily="34" charset="0"/>
                      </a:rPr>
                      <m:t>𝑇</m:t>
                    </m:r>
                    <m:r>
                      <a:rPr lang="en-US" sz="2000" b="0" i="1" smtClean="0">
                        <a:latin typeface="Cambria Math"/>
                        <a:ea typeface="Cambria Math"/>
                        <a:cs typeface="Arial" panose="020B0604020202020204" pitchFamily="34" charset="0"/>
                      </a:rPr>
                      <m:t>)</m:t>
                    </m:r>
                  </m:oMath>
                </a14:m>
                <a:r>
                  <a:rPr lang="en-US" sz="2000" dirty="0">
                    <a:latin typeface="Arial" panose="020B0604020202020204" pitchFamily="34" charset="0"/>
                    <a:cs typeface="Arial" panose="020B0604020202020204" pitchFamily="34" charset="0"/>
                  </a:rPr>
                  <a:t> is the resistivity at temperature </a:t>
                </a:r>
                <a14:m>
                  <m:oMath xmlns:m="http://schemas.openxmlformats.org/officeDocument/2006/math">
                    <m:r>
                      <a:rPr lang="en-US" sz="2000" b="0" i="1" smtClean="0">
                        <a:latin typeface="Cambria Math"/>
                        <a:cs typeface="Arial" panose="020B0604020202020204" pitchFamily="34" charset="0"/>
                      </a:rPr>
                      <m:t>𝑇</m:t>
                    </m:r>
                  </m:oMath>
                </a14:m>
                <a:r>
                  <a:rPr lang="en-US" sz="2000" dirty="0">
                    <a:latin typeface="Arial" panose="020B0604020202020204" pitchFamily="34" charset="0"/>
                    <a:cs typeface="Arial" panose="020B0604020202020204" pitchFamily="34" charset="0"/>
                  </a:rPr>
                  <a:t>, which may be higher or lower than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𝑇</m:t>
                        </m:r>
                      </m:e>
                      <m:sub>
                        <m:r>
                          <a:rPr lang="en-US" sz="2000" b="0" i="1" smtClean="0">
                            <a:latin typeface="Cambria Math"/>
                            <a:cs typeface="Arial" panose="020B0604020202020204" pitchFamily="34" charset="0"/>
                          </a:rPr>
                          <m:t>0</m:t>
                        </m:r>
                      </m:sub>
                    </m:sSub>
                    <m:r>
                      <a:rPr lang="en-US" sz="2000" b="0" i="1" smtClean="0">
                        <a:latin typeface="Cambria Math"/>
                        <a:cs typeface="Arial" panose="020B0604020202020204" pitchFamily="34" charset="0"/>
                      </a:rPr>
                      <m:t>.</m:t>
                    </m:r>
                  </m:oMath>
                </a14:m>
                <a:r>
                  <a:rPr lang="en-US" sz="2000" dirty="0">
                    <a:latin typeface="Arial" panose="020B0604020202020204" pitchFamily="34" charset="0"/>
                    <a:cs typeface="Arial" panose="020B0604020202020204" pitchFamily="34" charset="0"/>
                  </a:rPr>
                  <a:t> The factor </a:t>
                </a:r>
                <a14:m>
                  <m:oMath xmlns:m="http://schemas.openxmlformats.org/officeDocument/2006/math">
                    <m:r>
                      <a:rPr lang="en-US" sz="2000" i="1" smtClean="0">
                        <a:latin typeface="Cambria Math"/>
                        <a:ea typeface="Cambria Math"/>
                        <a:cs typeface="Arial" panose="020B0604020202020204" pitchFamily="34" charset="0"/>
                      </a:rPr>
                      <m:t>𝛼</m:t>
                    </m:r>
                  </m:oMath>
                </a14:m>
                <a:r>
                  <a:rPr lang="en-US" sz="2000" dirty="0">
                    <a:latin typeface="Arial" panose="020B0604020202020204" pitchFamily="34" charset="0"/>
                    <a:cs typeface="Arial" panose="020B0604020202020204" pitchFamily="34" charset="0"/>
                  </a:rPr>
                  <a:t> is called the </a:t>
                </a:r>
                <a:r>
                  <a:rPr lang="en-US" sz="2000" b="1" dirty="0">
                    <a:latin typeface="Arial" panose="020B0604020202020204" pitchFamily="34" charset="0"/>
                    <a:cs typeface="Arial" panose="020B0604020202020204" pitchFamily="34" charset="0"/>
                  </a:rPr>
                  <a:t>temperature coefficient of resistivity.</a:t>
                </a:r>
                <a:endParaRPr lang="en-US" sz="2000" dirty="0">
                  <a:latin typeface="Arial" panose="020B0604020202020204" pitchFamily="34" charset="0"/>
                  <a:cs typeface="Arial" panose="020B0604020202020204" pitchFamily="34"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34636" y="5638800"/>
                <a:ext cx="9109364" cy="1015663"/>
              </a:xfrm>
              <a:prstGeom prst="rect">
                <a:avLst/>
              </a:prstGeom>
              <a:blipFill rotWithShape="1">
                <a:blip r:embed="rId6"/>
                <a:stretch>
                  <a:fillRect l="-736" t="-2395" r="-1138" b="-10180"/>
                </a:stretch>
              </a:blipFill>
            </p:spPr>
            <p:txBody>
              <a:bodyPr/>
              <a:lstStyle/>
              <a:p>
                <a:r>
                  <a:rPr lang="en-US">
                    <a:noFill/>
                  </a:rPr>
                  <a:t> </a:t>
                </a:r>
              </a:p>
            </p:txBody>
          </p:sp>
        </mc:Fallback>
      </mc:AlternateContent>
    </p:spTree>
    <p:extLst>
      <p:ext uri="{BB962C8B-B14F-4D97-AF65-F5344CB8AC3E}">
        <p14:creationId xmlns:p14="http://schemas.microsoft.com/office/powerpoint/2010/main" val="1579488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152400"/>
            <a:ext cx="8278805" cy="461665"/>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2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Loop Rule (Kirchhoff’s voltage law): (Book Chapter 27):</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3381" y="2284143"/>
            <a:ext cx="3904364" cy="2195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8" name="Rectangle 7"/>
              <p:cNvSpPr/>
              <p:nvPr/>
            </p:nvSpPr>
            <p:spPr>
              <a:xfrm>
                <a:off x="76199" y="3792579"/>
                <a:ext cx="4997181" cy="1323439"/>
              </a:xfrm>
              <a:prstGeom prst="rect">
                <a:avLst/>
              </a:prstGeom>
            </p:spPr>
            <p:txBody>
              <a:bodyPr wrap="square">
                <a:spAutoFit/>
              </a:bodyPr>
              <a:lstStyle/>
              <a:p>
                <a:pPr marL="285750" indent="-285750" algn="just">
                  <a:buFont typeface="Wingdings" panose="05000000000000000000" pitchFamily="2" charset="2"/>
                  <a:buChar char="q"/>
                </a:pPr>
                <a:r>
                  <a:rPr lang="en-US" sz="2000" dirty="0">
                    <a:latin typeface="Arial" panose="020B0604020202020204" pitchFamily="34" charset="0"/>
                    <a:cs typeface="Arial" panose="020B0604020202020204" pitchFamily="34" charset="0"/>
                  </a:rPr>
                  <a:t>The change in potential in traversing a resistance </a:t>
                </a:r>
                <a:r>
                  <a:rPr lang="en-US" sz="2000" i="1" dirty="0">
                    <a:latin typeface="Arial" panose="020B0604020202020204" pitchFamily="34" charset="0"/>
                    <a:cs typeface="Arial" panose="020B0604020202020204" pitchFamily="34" charset="0"/>
                  </a:rPr>
                  <a:t>R </a:t>
                </a:r>
                <a:r>
                  <a:rPr lang="en-US" sz="2000" dirty="0">
                    <a:latin typeface="Arial" panose="020B0604020202020204" pitchFamily="34" charset="0"/>
                    <a:cs typeface="Arial" panose="020B0604020202020204" pitchFamily="34" charset="0"/>
                  </a:rPr>
                  <a:t>in the direction of the current is  </a:t>
                </a:r>
                <a14:m>
                  <m:oMath xmlns:m="http://schemas.openxmlformats.org/officeDocument/2006/math">
                    <m:r>
                      <a:rPr lang="en-US" sz="2000" b="0" i="1" smtClean="0">
                        <a:latin typeface="Cambria Math"/>
                      </a:rPr>
                      <m:t>−</m:t>
                    </m:r>
                    <m:r>
                      <a:rPr lang="en-US" sz="2000" b="0" i="1" smtClean="0">
                        <a:latin typeface="Cambria Math"/>
                      </a:rPr>
                      <m:t>𝑖𝑅</m:t>
                    </m:r>
                  </m:oMath>
                </a14:m>
                <a:r>
                  <a:rPr lang="en-US" sz="2000" dirty="0">
                    <a:latin typeface="Arial" panose="020B0604020202020204" pitchFamily="34" charset="0"/>
                    <a:cs typeface="Arial" panose="020B0604020202020204" pitchFamily="34" charset="0"/>
                  </a:rPr>
                  <a:t>; in the opposite direction it is </a:t>
                </a:r>
                <a14:m>
                  <m:oMath xmlns:m="http://schemas.openxmlformats.org/officeDocument/2006/math">
                    <m:r>
                      <a:rPr lang="en-US" sz="2000" b="0" i="1" smtClean="0">
                        <a:latin typeface="Cambria Math"/>
                      </a:rPr>
                      <m:t>+</m:t>
                    </m:r>
                    <m:r>
                      <a:rPr lang="en-US" sz="2000" b="0" i="1" smtClean="0">
                        <a:latin typeface="Cambria Math"/>
                      </a:rPr>
                      <m:t>𝑖𝑅</m:t>
                    </m:r>
                  </m:oMath>
                </a14:m>
                <a:r>
                  <a:rPr lang="en-US" sz="2000" dirty="0">
                    <a:latin typeface="Arial" panose="020B0604020202020204" pitchFamily="34" charset="0"/>
                    <a:cs typeface="Arial" panose="020B0604020202020204" pitchFamily="34" charset="0"/>
                  </a:rPr>
                  <a:t> (resistance rule).</a:t>
                </a:r>
              </a:p>
            </p:txBody>
          </p:sp>
        </mc:Choice>
        <mc:Fallback xmlns="">
          <p:sp>
            <p:nvSpPr>
              <p:cNvPr id="8" name="Rectangle 7"/>
              <p:cNvSpPr>
                <a:spLocks noRot="1" noChangeAspect="1" noMove="1" noResize="1" noEditPoints="1" noAdjustHandles="1" noChangeArrowheads="1" noChangeShapeType="1" noTextEdit="1"/>
              </p:cNvSpPr>
              <p:nvPr/>
            </p:nvSpPr>
            <p:spPr>
              <a:xfrm>
                <a:off x="76199" y="3792579"/>
                <a:ext cx="4997181" cy="1323439"/>
              </a:xfrm>
              <a:prstGeom prst="rect">
                <a:avLst/>
              </a:prstGeom>
              <a:blipFill rotWithShape="1">
                <a:blip r:embed="rId3"/>
                <a:stretch>
                  <a:fillRect l="-976" t="-1843" r="-1341" b="-7834"/>
                </a:stretch>
              </a:blipFill>
            </p:spPr>
            <p:txBody>
              <a:bodyPr/>
              <a:lstStyle/>
              <a:p>
                <a:r>
                  <a:rPr lang="en-US">
                    <a:noFill/>
                  </a:rPr>
                  <a:t> </a:t>
                </a:r>
              </a:p>
            </p:txBody>
          </p:sp>
        </mc:Fallback>
      </mc:AlternateContent>
      <p:sp>
        <p:nvSpPr>
          <p:cNvPr id="9" name="TextBox 8"/>
          <p:cNvSpPr txBox="1"/>
          <p:nvPr/>
        </p:nvSpPr>
        <p:spPr>
          <a:xfrm>
            <a:off x="304800" y="3381683"/>
            <a:ext cx="838691" cy="369332"/>
          </a:xfrm>
          <a:prstGeom prst="rect">
            <a:avLst/>
          </a:prstGeom>
          <a:noFill/>
        </p:spPr>
        <p:txBody>
          <a:bodyPr wrap="none" rtlCol="0">
            <a:spAutoFit/>
          </a:bodyPr>
          <a:lstStyle/>
          <a:p>
            <a:r>
              <a:rPr lang="en-US" b="1" dirty="0">
                <a:solidFill>
                  <a:srgbClr val="FF0000"/>
                </a:solidFill>
                <a:latin typeface="Arial" panose="020B0604020202020204" pitchFamily="34" charset="0"/>
                <a:cs typeface="Arial" panose="020B0604020202020204" pitchFamily="34" charset="0"/>
              </a:rPr>
              <a:t>Note: </a:t>
            </a:r>
          </a:p>
        </p:txBody>
      </p:sp>
      <mc:AlternateContent xmlns:mc="http://schemas.openxmlformats.org/markup-compatibility/2006" xmlns:a14="http://schemas.microsoft.com/office/drawing/2010/main">
        <mc:Choice Requires="a14">
          <p:sp>
            <p:nvSpPr>
              <p:cNvPr id="10" name="Rectangle 9"/>
              <p:cNvSpPr/>
              <p:nvPr/>
            </p:nvSpPr>
            <p:spPr>
              <a:xfrm>
                <a:off x="122534" y="5236696"/>
                <a:ext cx="8855211" cy="707886"/>
              </a:xfrm>
              <a:prstGeom prst="rect">
                <a:avLst/>
              </a:prstGeom>
            </p:spPr>
            <p:txBody>
              <a:bodyPr wrap="square">
                <a:spAutoFit/>
              </a:bodyPr>
              <a:lstStyle/>
              <a:p>
                <a:pPr marL="285750" indent="-285750">
                  <a:buFont typeface="Wingdings" panose="05000000000000000000" pitchFamily="2" charset="2"/>
                  <a:buChar char="q"/>
                </a:pPr>
                <a:r>
                  <a:rPr lang="en-US" sz="2000" dirty="0">
                    <a:latin typeface="Arial" panose="020B0604020202020204" pitchFamily="34" charset="0"/>
                    <a:cs typeface="Arial" panose="020B0604020202020204" pitchFamily="34" charset="0"/>
                  </a:rPr>
                  <a:t>The change in potential in traversing an ideal </a:t>
                </a:r>
                <a:r>
                  <a:rPr lang="en-US" sz="2000" dirty="0" err="1">
                    <a:latin typeface="Arial" panose="020B0604020202020204" pitchFamily="34" charset="0"/>
                    <a:cs typeface="Arial" panose="020B0604020202020204" pitchFamily="34" charset="0"/>
                  </a:rPr>
                  <a:t>emf</a:t>
                </a:r>
                <a:r>
                  <a:rPr lang="en-US" sz="2000" dirty="0">
                    <a:latin typeface="Arial" panose="020B0604020202020204" pitchFamily="34" charset="0"/>
                    <a:cs typeface="Arial" panose="020B0604020202020204" pitchFamily="34" charset="0"/>
                  </a:rPr>
                  <a:t> device in the direction of the </a:t>
                </a:r>
                <a:r>
                  <a:rPr lang="en-US" sz="2000" dirty="0" err="1">
                    <a:latin typeface="Arial" panose="020B0604020202020204" pitchFamily="34" charset="0"/>
                    <a:cs typeface="Arial" panose="020B0604020202020204" pitchFamily="34" charset="0"/>
                  </a:rPr>
                  <a:t>emf</a:t>
                </a:r>
                <a:r>
                  <a:rPr lang="en-US" sz="2000" dirty="0">
                    <a:latin typeface="Arial" panose="020B0604020202020204" pitchFamily="34" charset="0"/>
                    <a:cs typeface="Arial" panose="020B0604020202020204" pitchFamily="34" charset="0"/>
                  </a:rPr>
                  <a:t> arrow is </a:t>
                </a:r>
                <a14:m>
                  <m:oMath xmlns:m="http://schemas.openxmlformats.org/officeDocument/2006/math">
                    <m:r>
                      <a:rPr lang="en-US" sz="2000" b="0" i="1" smtClean="0">
                        <a:latin typeface="Cambria Math"/>
                      </a:rPr>
                      <m:t>+</m:t>
                    </m:r>
                    <m:r>
                      <a:rPr lang="en-US" sz="2000" b="0" i="1" smtClean="0">
                        <a:latin typeface="Cambria Math"/>
                        <a:ea typeface="Cambria Math"/>
                      </a:rPr>
                      <m:t>𝜀</m:t>
                    </m:r>
                  </m:oMath>
                </a14:m>
                <a:r>
                  <a:rPr lang="en-US" sz="2000" dirty="0">
                    <a:latin typeface="Arial" panose="020B0604020202020204" pitchFamily="34" charset="0"/>
                    <a:cs typeface="Arial" panose="020B0604020202020204" pitchFamily="34" charset="0"/>
                  </a:rPr>
                  <a:t>; in the opposite direction it is </a:t>
                </a:r>
                <a14:m>
                  <m:oMath xmlns:m="http://schemas.openxmlformats.org/officeDocument/2006/math">
                    <m:r>
                      <a:rPr lang="en-US" sz="2000" b="0" i="1" smtClean="0">
                        <a:latin typeface="Cambria Math"/>
                      </a:rPr>
                      <m:t>−</m:t>
                    </m:r>
                    <m:r>
                      <a:rPr lang="en-US" sz="2000" b="0" i="1" smtClean="0">
                        <a:latin typeface="Cambria Math"/>
                        <a:ea typeface="Cambria Math"/>
                      </a:rPr>
                      <m:t>𝜀</m:t>
                    </m:r>
                  </m:oMath>
                </a14:m>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emf</a:t>
                </a:r>
                <a:r>
                  <a:rPr lang="en-US" sz="2000" dirty="0">
                    <a:latin typeface="Arial" panose="020B0604020202020204" pitchFamily="34" charset="0"/>
                    <a:cs typeface="Arial" panose="020B0604020202020204" pitchFamily="34" charset="0"/>
                  </a:rPr>
                  <a:t> rule).</a:t>
                </a:r>
              </a:p>
            </p:txBody>
          </p:sp>
        </mc:Choice>
        <mc:Fallback xmlns="">
          <p:sp>
            <p:nvSpPr>
              <p:cNvPr id="10" name="Rectangle 9"/>
              <p:cNvSpPr>
                <a:spLocks noRot="1" noChangeAspect="1" noMove="1" noResize="1" noEditPoints="1" noAdjustHandles="1" noChangeArrowheads="1" noChangeShapeType="1" noTextEdit="1"/>
              </p:cNvSpPr>
              <p:nvPr/>
            </p:nvSpPr>
            <p:spPr>
              <a:xfrm>
                <a:off x="122534" y="5236696"/>
                <a:ext cx="8855211" cy="707886"/>
              </a:xfrm>
              <a:prstGeom prst="rect">
                <a:avLst/>
              </a:prstGeom>
              <a:blipFill rotWithShape="1">
                <a:blip r:embed="rId4"/>
                <a:stretch>
                  <a:fillRect l="-551" t="-3448" r="-1170" b="-15517"/>
                </a:stretch>
              </a:blipFill>
            </p:spPr>
            <p:txBody>
              <a:bodyPr/>
              <a:lstStyle/>
              <a:p>
                <a:r>
                  <a:rPr lang="en-US">
                    <a:noFill/>
                  </a:rPr>
                  <a:t> </a:t>
                </a:r>
              </a:p>
            </p:txBody>
          </p:sp>
        </mc:Fallback>
      </mc:AlternateContent>
      <p:grpSp>
        <p:nvGrpSpPr>
          <p:cNvPr id="12" name="Group 11"/>
          <p:cNvGrpSpPr/>
          <p:nvPr/>
        </p:nvGrpSpPr>
        <p:grpSpPr>
          <a:xfrm>
            <a:off x="152400" y="868371"/>
            <a:ext cx="8991600" cy="2412693"/>
            <a:chOff x="152400" y="868371"/>
            <a:chExt cx="8991600" cy="2412693"/>
          </a:xfrm>
        </p:grpSpPr>
        <p:sp>
          <p:nvSpPr>
            <p:cNvPr id="4" name="Rectangle 3"/>
            <p:cNvSpPr/>
            <p:nvPr/>
          </p:nvSpPr>
          <p:spPr>
            <a:xfrm>
              <a:off x="152400" y="868371"/>
              <a:ext cx="8839200" cy="707886"/>
            </a:xfrm>
            <a:prstGeom prst="rect">
              <a:avLst/>
            </a:prstGeom>
          </p:spPr>
          <p:txBody>
            <a:bodyPr wrap="square">
              <a:spAutoFit/>
            </a:bodyPr>
            <a:lstStyle/>
            <a:p>
              <a:r>
                <a:rPr lang="en-US" sz="2000" dirty="0">
                  <a:solidFill>
                    <a:srgbClr val="FF0000"/>
                  </a:solidFill>
                  <a:latin typeface="Arial" panose="020B0604020202020204" pitchFamily="34" charset="0"/>
                  <a:cs typeface="Arial" panose="020B0604020202020204" pitchFamily="34" charset="0"/>
                </a:rPr>
                <a:t>The algebraic sum of the changes in potential encountered in a complete traversal of any loop of a circuit must be zero.</a:t>
              </a:r>
            </a:p>
          </p:txBody>
        </p:sp>
        <p:sp>
          <p:nvSpPr>
            <p:cNvPr id="6" name="Rectangle 5"/>
            <p:cNvSpPr/>
            <p:nvPr/>
          </p:nvSpPr>
          <p:spPr>
            <a:xfrm>
              <a:off x="152400" y="1576257"/>
              <a:ext cx="8991600" cy="707886"/>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This is often referred to as </a:t>
              </a:r>
              <a:r>
                <a:rPr lang="en-US" sz="2000" i="1" dirty="0">
                  <a:latin typeface="Arial" panose="020B0604020202020204" pitchFamily="34" charset="0"/>
                  <a:cs typeface="Arial" panose="020B0604020202020204" pitchFamily="34" charset="0"/>
                </a:rPr>
                <a:t>Kirchhoff’s loop rule </a:t>
              </a:r>
              <a:r>
                <a:rPr lang="en-US" sz="2000" dirty="0">
                  <a:latin typeface="Arial" panose="020B0604020202020204" pitchFamily="34" charset="0"/>
                  <a:cs typeface="Arial" panose="020B0604020202020204" pitchFamily="34" charset="0"/>
                </a:rPr>
                <a:t>(or </a:t>
              </a:r>
              <a:r>
                <a:rPr lang="en-US" sz="2000" i="1" dirty="0">
                  <a:latin typeface="Arial" panose="020B0604020202020204" pitchFamily="34" charset="0"/>
                  <a:cs typeface="Arial" panose="020B0604020202020204" pitchFamily="34" charset="0"/>
                </a:rPr>
                <a:t>Kirchhoff’s voltage law</a:t>
              </a:r>
              <a:r>
                <a:rPr lang="en-US" sz="2000" dirty="0">
                  <a:latin typeface="Arial" panose="020B0604020202020204" pitchFamily="34" charset="0"/>
                  <a:cs typeface="Arial" panose="020B0604020202020204" pitchFamily="34" charset="0"/>
                </a:rPr>
                <a:t>), after </a:t>
              </a:r>
              <a:r>
                <a:rPr lang="de-DE" sz="2000" dirty="0">
                  <a:latin typeface="Arial" panose="020B0604020202020204" pitchFamily="34" charset="0"/>
                  <a:cs typeface="Arial" panose="020B0604020202020204" pitchFamily="34" charset="0"/>
                </a:rPr>
                <a:t>German physicist Gustav Robert Kirchhoff.</a:t>
              </a:r>
              <a:endParaRPr lang="en-US" sz="2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p:cNvSpPr txBox="1"/>
                <p:nvPr/>
              </p:nvSpPr>
              <p:spPr>
                <a:xfrm>
                  <a:off x="1104506" y="2819399"/>
                  <a:ext cx="212705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a:ea typeface="Cambria Math"/>
                          </a:rPr>
                          <m:t>𝜀</m:t>
                        </m:r>
                        <m:r>
                          <a:rPr lang="en-US" sz="2400" b="0" i="1" smtClean="0">
                            <a:latin typeface="Cambria Math"/>
                            <a:ea typeface="Cambria Math"/>
                          </a:rPr>
                          <m:t>+(−</m:t>
                        </m:r>
                        <m:r>
                          <a:rPr lang="en-US" sz="2400" b="0" i="1" smtClean="0">
                            <a:latin typeface="Cambria Math"/>
                            <a:ea typeface="Cambria Math"/>
                          </a:rPr>
                          <m:t>𝑖𝑅</m:t>
                        </m:r>
                        <m:r>
                          <a:rPr lang="en-US" sz="2400" b="0" i="1" smtClean="0">
                            <a:latin typeface="Cambria Math"/>
                            <a:ea typeface="Cambria Math"/>
                          </a:rPr>
                          <m:t>)=0</m:t>
                        </m:r>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1104506" y="2819399"/>
                  <a:ext cx="2127057" cy="461665"/>
                </a:xfrm>
                <a:prstGeom prst="rect">
                  <a:avLst/>
                </a:prstGeom>
                <a:blipFill rotWithShape="1">
                  <a:blip r:embed="rId5"/>
                  <a:stretch>
                    <a:fillRect b="-17105"/>
                  </a:stretch>
                </a:blipFill>
              </p:spPr>
              <p:txBody>
                <a:bodyPr/>
                <a:lstStyle/>
                <a:p>
                  <a:r>
                    <a:rPr lang="en-US">
                      <a:noFill/>
                    </a:rPr>
                    <a:t> </a:t>
                  </a:r>
                </a:p>
              </p:txBody>
            </p:sp>
          </mc:Fallback>
        </mc:AlternateContent>
        <p:sp>
          <p:nvSpPr>
            <p:cNvPr id="11" name="TextBox 10"/>
            <p:cNvSpPr txBox="1"/>
            <p:nvPr/>
          </p:nvSpPr>
          <p:spPr>
            <a:xfrm>
              <a:off x="304800" y="2438400"/>
              <a:ext cx="954107"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That is</a:t>
              </a:r>
            </a:p>
          </p:txBody>
        </p:sp>
      </p:grpSp>
    </p:spTree>
    <p:extLst>
      <p:ext uri="{BB962C8B-B14F-4D97-AF65-F5344CB8AC3E}">
        <p14:creationId xmlns:p14="http://schemas.microsoft.com/office/powerpoint/2010/main" val="3345525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D85FD-D5F4-F75B-2DDC-9ECAA7AEAB6A}"/>
              </a:ext>
            </a:extLst>
          </p:cNvPr>
          <p:cNvSpPr>
            <a:spLocks noGrp="1"/>
          </p:cNvSpPr>
          <p:nvPr>
            <p:ph type="title"/>
          </p:nvPr>
        </p:nvSpPr>
        <p:spPr>
          <a:xfrm>
            <a:off x="457200" y="115676"/>
            <a:ext cx="8229600" cy="715962"/>
          </a:xfrm>
        </p:spPr>
        <p:style>
          <a:lnRef idx="3">
            <a:schemeClr val="lt1"/>
          </a:lnRef>
          <a:fillRef idx="1">
            <a:schemeClr val="dk1"/>
          </a:fillRef>
          <a:effectRef idx="1">
            <a:schemeClr val="dk1"/>
          </a:effectRef>
          <a:fontRef idx="minor">
            <a:schemeClr val="lt1"/>
          </a:fontRef>
        </p:style>
        <p:txBody>
          <a:bodyPr>
            <a:normAutofit/>
          </a:bodyPr>
          <a:lstStyle/>
          <a:p>
            <a:r>
              <a:rPr lang="en-US" sz="3500" dirty="0"/>
              <a:t>RC circuit</a:t>
            </a:r>
          </a:p>
        </p:txBody>
      </p:sp>
      <p:pic>
        <p:nvPicPr>
          <p:cNvPr id="4" name="Picture 3">
            <a:extLst>
              <a:ext uri="{FF2B5EF4-FFF2-40B4-BE49-F238E27FC236}">
                <a16:creationId xmlns:a16="http://schemas.microsoft.com/office/drawing/2014/main" id="{62B7D226-D78F-FA7C-BFBF-15CC54A26244}"/>
              </a:ext>
            </a:extLst>
          </p:cNvPr>
          <p:cNvPicPr>
            <a:picLocks noChangeAspect="1"/>
          </p:cNvPicPr>
          <p:nvPr/>
        </p:nvPicPr>
        <p:blipFill>
          <a:blip r:embed="rId2"/>
          <a:stretch>
            <a:fillRect/>
          </a:stretch>
        </p:blipFill>
        <p:spPr>
          <a:xfrm>
            <a:off x="5867400" y="914400"/>
            <a:ext cx="3147273" cy="4530904"/>
          </a:xfrm>
          <a:prstGeom prst="rect">
            <a:avLst/>
          </a:prstGeom>
        </p:spPr>
      </p:pic>
      <p:sp>
        <p:nvSpPr>
          <p:cNvPr id="6" name="TextBox 5">
            <a:extLst>
              <a:ext uri="{FF2B5EF4-FFF2-40B4-BE49-F238E27FC236}">
                <a16:creationId xmlns:a16="http://schemas.microsoft.com/office/drawing/2014/main" id="{DABF294E-E62A-64A8-AFA5-FFBFE27D1A33}"/>
              </a:ext>
            </a:extLst>
          </p:cNvPr>
          <p:cNvSpPr txBox="1"/>
          <p:nvPr/>
        </p:nvSpPr>
        <p:spPr>
          <a:xfrm>
            <a:off x="298655" y="1412286"/>
            <a:ext cx="4953000" cy="1754326"/>
          </a:xfrm>
          <a:prstGeom prst="rect">
            <a:avLst/>
          </a:prstGeom>
          <a:noFill/>
        </p:spPr>
        <p:txBody>
          <a:bodyPr wrap="square">
            <a:spAutoFit/>
          </a:bodyPr>
          <a:lstStyle/>
          <a:p>
            <a:pPr algn="just"/>
            <a:r>
              <a:rPr lang="en-US" sz="1800" b="0" i="0" u="none" strike="noStrike" baseline="0" dirty="0">
                <a:latin typeface="Times-Roman"/>
              </a:rPr>
              <a:t>Let </a:t>
            </a:r>
            <a:r>
              <a:rPr lang="en-US" sz="1800" b="0" i="1" u="none" strike="noStrike" baseline="0" dirty="0">
                <a:latin typeface="Times-Italic"/>
              </a:rPr>
              <a:t>q </a:t>
            </a:r>
            <a:r>
              <a:rPr lang="en-US" sz="1800" b="0" i="0" u="none" strike="noStrike" baseline="0" dirty="0">
                <a:latin typeface="Times-Roman"/>
              </a:rPr>
              <a:t>represent the charge on the capacitor and </a:t>
            </a:r>
            <a:r>
              <a:rPr lang="en-US" sz="1800" b="0" i="1" u="none" strike="noStrike" baseline="0" dirty="0" err="1">
                <a:latin typeface="Times-Italic"/>
              </a:rPr>
              <a:t>i</a:t>
            </a:r>
            <a:r>
              <a:rPr lang="en-US" sz="1800" b="0" i="1" u="none" strike="noStrike" baseline="0" dirty="0">
                <a:latin typeface="Times-Italic"/>
              </a:rPr>
              <a:t> </a:t>
            </a:r>
            <a:r>
              <a:rPr lang="en-US" sz="1800" b="0" i="0" u="none" strike="noStrike" baseline="0" dirty="0">
                <a:latin typeface="Times-Roman"/>
              </a:rPr>
              <a:t>the current in the circuit at some time </a:t>
            </a:r>
            <a:r>
              <a:rPr lang="en-US" sz="1800" b="0" i="1" u="none" strike="noStrike" baseline="0" dirty="0">
                <a:latin typeface="Times-Italic"/>
              </a:rPr>
              <a:t>t </a:t>
            </a:r>
            <a:r>
              <a:rPr lang="en-US" sz="1800" b="0" i="0" u="none" strike="noStrike" baseline="0" dirty="0">
                <a:latin typeface="Times-Roman"/>
              </a:rPr>
              <a:t>after the switch has been closed. </a:t>
            </a:r>
          </a:p>
          <a:p>
            <a:pPr algn="just"/>
            <a:r>
              <a:rPr lang="en-US" sz="1800" b="0" i="0" u="none" strike="noStrike" baseline="0" dirty="0">
                <a:latin typeface="Times-Roman"/>
              </a:rPr>
              <a:t>The instantaneous potential differences </a:t>
            </a:r>
            <a:r>
              <a:rPr lang="en-US" dirty="0" err="1">
                <a:latin typeface="Times-Roman"/>
              </a:rPr>
              <a:t>V</a:t>
            </a:r>
            <a:r>
              <a:rPr lang="en-US" baseline="-25000" dirty="0" err="1">
                <a:latin typeface="Times-Roman"/>
              </a:rPr>
              <a:t>ab</a:t>
            </a:r>
            <a:r>
              <a:rPr lang="en-US" dirty="0">
                <a:latin typeface="Times-Roman"/>
              </a:rPr>
              <a:t> </a:t>
            </a:r>
            <a:r>
              <a:rPr lang="en-US" sz="1800" b="0" i="0" u="none" strike="noStrike" baseline="0" dirty="0">
                <a:latin typeface="Times-Roman"/>
              </a:rPr>
              <a:t>and </a:t>
            </a:r>
            <a:r>
              <a:rPr lang="en-US" dirty="0" err="1">
                <a:latin typeface="Times-Roman"/>
              </a:rPr>
              <a:t>V</a:t>
            </a:r>
            <a:r>
              <a:rPr lang="en-US" baseline="-25000" dirty="0" err="1">
                <a:latin typeface="Times-Roman"/>
              </a:rPr>
              <a:t>bc</a:t>
            </a:r>
            <a:r>
              <a:rPr lang="en-US" baseline="-25000" dirty="0">
                <a:latin typeface="Times-Roman"/>
              </a:rPr>
              <a:t> </a:t>
            </a:r>
            <a:r>
              <a:rPr lang="en-US" sz="1800" b="0" i="0" u="none" strike="noStrike" baseline="0" dirty="0">
                <a:latin typeface="Times-Roman"/>
              </a:rPr>
              <a:t>are,</a:t>
            </a:r>
          </a:p>
          <a:p>
            <a:pPr algn="l"/>
            <a:r>
              <a:rPr lang="en-US" sz="1800" b="0" i="1" u="none" strike="noStrike" baseline="0" dirty="0">
                <a:latin typeface="NewCenturySchlbk-Italic"/>
              </a:rPr>
              <a:t>                     </a:t>
            </a:r>
            <a:r>
              <a:rPr lang="en-US" sz="1800" b="0" i="1" u="none" strike="noStrike" baseline="0" dirty="0" err="1">
                <a:latin typeface="NewCenturySchlbk-Italic"/>
              </a:rPr>
              <a:t>V</a:t>
            </a:r>
            <a:r>
              <a:rPr lang="en-US" sz="1800" b="0" i="1" u="none" strike="noStrike" baseline="-25000" dirty="0" err="1">
                <a:latin typeface="Times-Italic"/>
              </a:rPr>
              <a:t>ab</a:t>
            </a:r>
            <a:r>
              <a:rPr lang="en-US" sz="1800" b="0" i="1" u="none" strike="noStrike" baseline="0" dirty="0">
                <a:latin typeface="Times-Italic"/>
              </a:rPr>
              <a:t> </a:t>
            </a:r>
            <a:r>
              <a:rPr lang="en-US" sz="1800" b="0" i="0" u="none" strike="noStrike" baseline="0" dirty="0">
                <a:latin typeface="Optr2k"/>
              </a:rPr>
              <a:t>= </a:t>
            </a:r>
            <a:r>
              <a:rPr lang="en-US" sz="1800" b="0" i="1" u="none" strike="noStrike" baseline="0" dirty="0" err="1">
                <a:latin typeface="Times-Italic"/>
              </a:rPr>
              <a:t>iR</a:t>
            </a:r>
            <a:r>
              <a:rPr lang="en-US" sz="1800" b="0" i="1" u="none" strike="noStrike" baseline="0" dirty="0">
                <a:latin typeface="Times-Italic"/>
              </a:rPr>
              <a:t>     and    </a:t>
            </a:r>
            <a:r>
              <a:rPr lang="en-US" sz="1800" b="0" i="1" u="none" strike="noStrike" baseline="0" dirty="0" err="1">
                <a:latin typeface="NewCenturySchlbk-Italic"/>
              </a:rPr>
              <a:t>V</a:t>
            </a:r>
            <a:r>
              <a:rPr lang="en-US" sz="1800" b="0" i="1" u="none" strike="noStrike" baseline="-25000" dirty="0" err="1">
                <a:latin typeface="Times-Italic"/>
              </a:rPr>
              <a:t>bc</a:t>
            </a:r>
            <a:r>
              <a:rPr lang="en-US" sz="1800" b="0" i="1" u="none" strike="noStrike" baseline="0" dirty="0">
                <a:latin typeface="Times-Italic"/>
              </a:rPr>
              <a:t> </a:t>
            </a:r>
            <a:r>
              <a:rPr lang="en-US" sz="1800" b="0" i="0" u="none" strike="noStrike" baseline="0" dirty="0">
                <a:latin typeface="Optr2k"/>
              </a:rPr>
              <a:t>= q/C</a:t>
            </a:r>
            <a:r>
              <a:rPr lang="en-US" sz="1800" b="0" i="0" u="none" strike="noStrike" baseline="0" dirty="0">
                <a:latin typeface="Times-Roman"/>
              </a:rPr>
              <a:t> </a:t>
            </a:r>
            <a:endParaRPr lang="en-US" dirty="0"/>
          </a:p>
        </p:txBody>
      </p:sp>
      <p:sp>
        <p:nvSpPr>
          <p:cNvPr id="8" name="TextBox 7">
            <a:extLst>
              <a:ext uri="{FF2B5EF4-FFF2-40B4-BE49-F238E27FC236}">
                <a16:creationId xmlns:a16="http://schemas.microsoft.com/office/drawing/2014/main" id="{413FDC6B-2088-18C9-6B4B-1299911AC8F4}"/>
              </a:ext>
            </a:extLst>
          </p:cNvPr>
          <p:cNvSpPr txBox="1"/>
          <p:nvPr/>
        </p:nvSpPr>
        <p:spPr>
          <a:xfrm>
            <a:off x="310945" y="3330168"/>
            <a:ext cx="4572000" cy="369332"/>
          </a:xfrm>
          <a:prstGeom prst="rect">
            <a:avLst/>
          </a:prstGeom>
          <a:noFill/>
        </p:spPr>
        <p:txBody>
          <a:bodyPr wrap="square">
            <a:spAutoFit/>
          </a:bodyPr>
          <a:lstStyle/>
          <a:p>
            <a:r>
              <a:rPr lang="en-US" sz="1800" b="0" i="0" u="none" strike="noStrike" baseline="0" dirty="0">
                <a:latin typeface="Times-Roman"/>
              </a:rPr>
              <a:t>Using these in Kirchhoff’s loop rule, we find</a:t>
            </a:r>
            <a:endParaRPr 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2787FDA-6957-7098-5AD4-ADCEF2048109}"/>
                  </a:ext>
                </a:extLst>
              </p:cNvPr>
              <p:cNvSpPr txBox="1"/>
              <p:nvPr/>
            </p:nvSpPr>
            <p:spPr>
              <a:xfrm>
                <a:off x="420329" y="3699500"/>
                <a:ext cx="2247900" cy="566694"/>
              </a:xfrm>
              <a:prstGeom prst="rect">
                <a:avLst/>
              </a:prstGeom>
              <a:noFill/>
            </p:spPr>
            <p:txBody>
              <a:bodyPr wrap="square">
                <a:spAutoFit/>
              </a:bodyPr>
              <a:lstStyle/>
              <a:p>
                <a:pPr algn="l"/>
                <a14:m>
                  <m:oMathPara xmlns:m="http://schemas.openxmlformats.org/officeDocument/2006/math">
                    <m:oMathParaPr>
                      <m:jc m:val="centerGroup"/>
                    </m:oMathParaPr>
                    <m:oMath xmlns:m="http://schemas.openxmlformats.org/officeDocument/2006/math">
                      <m:r>
                        <a:rPr lang="el-GR" sz="1800" b="0" i="1" u="none" strike="noStrike" baseline="0" smtClean="0">
                          <a:latin typeface="Cambria Math" panose="02040503050406030204" pitchFamily="18" charset="0"/>
                          <a:ea typeface="Cambria Math" panose="02040503050406030204" pitchFamily="18" charset="0"/>
                        </a:rPr>
                        <m:t>𝜀</m:t>
                      </m:r>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𝑖𝑅</m:t>
                      </m:r>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𝑞</m:t>
                          </m:r>
                        </m:num>
                        <m:den>
                          <m:r>
                            <a:rPr lang="en-US" sz="1800" b="0" i="1" u="none" strike="noStrike" baseline="0" smtClean="0">
                              <a:latin typeface="Cambria Math" panose="02040503050406030204" pitchFamily="18" charset="0"/>
                              <a:ea typeface="Cambria Math" panose="02040503050406030204" pitchFamily="18" charset="0"/>
                            </a:rPr>
                            <m:t>𝐶</m:t>
                          </m:r>
                        </m:den>
                      </m:f>
                      <m:r>
                        <a:rPr lang="en-US" sz="1800" b="0" i="1" u="none" strike="noStrike" baseline="0" smtClean="0">
                          <a:latin typeface="Cambria Math" panose="02040503050406030204" pitchFamily="18" charset="0"/>
                          <a:ea typeface="Cambria Math" panose="02040503050406030204" pitchFamily="18" charset="0"/>
                        </a:rPr>
                        <m:t>=0</m:t>
                      </m:r>
                    </m:oMath>
                  </m:oMathPara>
                </a14:m>
                <a:endParaRPr lang="en-US" sz="1800" b="0" u="none" strike="noStrike" baseline="0" dirty="0">
                  <a:ea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62787FDA-6957-7098-5AD4-ADCEF2048109}"/>
                  </a:ext>
                </a:extLst>
              </p:cNvPr>
              <p:cNvSpPr txBox="1">
                <a:spLocks noRot="1" noChangeAspect="1" noMove="1" noResize="1" noEditPoints="1" noAdjustHandles="1" noChangeArrowheads="1" noChangeShapeType="1" noTextEdit="1"/>
              </p:cNvSpPr>
              <p:nvPr/>
            </p:nvSpPr>
            <p:spPr>
              <a:xfrm>
                <a:off x="420329" y="3699500"/>
                <a:ext cx="2247900" cy="56669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2C47470-A5E3-08DA-9E3A-95C5D5C211DA}"/>
                  </a:ext>
                </a:extLst>
              </p:cNvPr>
              <p:cNvSpPr txBox="1"/>
              <p:nvPr/>
            </p:nvSpPr>
            <p:spPr>
              <a:xfrm>
                <a:off x="390832" y="4220626"/>
                <a:ext cx="1756289" cy="463268"/>
              </a:xfrm>
              <a:prstGeom prst="rect">
                <a:avLst/>
              </a:prstGeom>
              <a:noFill/>
            </p:spPr>
            <p:txBody>
              <a:bodyPr wrap="square">
                <a:spAutoFit/>
              </a:bodyPr>
              <a:lstStyle/>
              <a:p>
                <a:pPr algn="l"/>
                <a:r>
                  <a:rPr lang="en-US" sz="1800" b="0" u="none" strike="noStrike" baseline="0" dirty="0">
                    <a:ea typeface="Cambria Math" panose="02040503050406030204" pitchFamily="18" charset="0"/>
                  </a:rPr>
                  <a:t>Or, </a:t>
                </a:r>
                <a14:m>
                  <m:oMath xmlns:m="http://schemas.openxmlformats.org/officeDocument/2006/math">
                    <m:r>
                      <a:rPr lang="en-US" sz="1800" b="0" i="1" u="none" strike="noStrike" baseline="0" smtClean="0">
                        <a:latin typeface="Cambria Math" panose="02040503050406030204" pitchFamily="18" charset="0"/>
                        <a:ea typeface="Cambria Math" panose="02040503050406030204" pitchFamily="18" charset="0"/>
                      </a:rPr>
                      <m:t>𝑖</m:t>
                    </m:r>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𝜀</m:t>
                        </m:r>
                      </m:num>
                      <m:den>
                        <m:r>
                          <a:rPr lang="en-US" sz="1800" b="0" i="1" u="none" strike="noStrike" baseline="0" smtClean="0">
                            <a:latin typeface="Cambria Math" panose="02040503050406030204" pitchFamily="18" charset="0"/>
                            <a:ea typeface="Cambria Math" panose="02040503050406030204" pitchFamily="18" charset="0"/>
                          </a:rPr>
                          <m:t>𝑅</m:t>
                        </m:r>
                      </m:den>
                    </m:f>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𝑞</m:t>
                        </m:r>
                      </m:num>
                      <m:den>
                        <m:r>
                          <a:rPr lang="en-US" sz="1800" b="0" i="1" u="none" strike="noStrike" baseline="0" smtClean="0">
                            <a:latin typeface="Cambria Math" panose="02040503050406030204" pitchFamily="18" charset="0"/>
                            <a:ea typeface="Cambria Math" panose="02040503050406030204" pitchFamily="18" charset="0"/>
                          </a:rPr>
                          <m:t>𝑅𝐶</m:t>
                        </m:r>
                      </m:den>
                    </m:f>
                  </m:oMath>
                </a14:m>
                <a:endParaRPr lang="en-US" sz="1800" b="0" u="none" strike="noStrike" baseline="0" dirty="0">
                  <a:ea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F2C47470-A5E3-08DA-9E3A-95C5D5C211DA}"/>
                  </a:ext>
                </a:extLst>
              </p:cNvPr>
              <p:cNvSpPr txBox="1">
                <a:spLocks noRot="1" noChangeAspect="1" noMove="1" noResize="1" noEditPoints="1" noAdjustHandles="1" noChangeArrowheads="1" noChangeShapeType="1" noTextEdit="1"/>
              </p:cNvSpPr>
              <p:nvPr/>
            </p:nvSpPr>
            <p:spPr>
              <a:xfrm>
                <a:off x="390832" y="4220626"/>
                <a:ext cx="1756289" cy="463268"/>
              </a:xfrm>
              <a:prstGeom prst="rect">
                <a:avLst/>
              </a:prstGeom>
              <a:blipFill>
                <a:blip r:embed="rId4"/>
                <a:stretch>
                  <a:fillRect l="-2778"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F420C4F-80D2-C911-6F77-AD2513E46331}"/>
                  </a:ext>
                </a:extLst>
              </p:cNvPr>
              <p:cNvSpPr txBox="1"/>
              <p:nvPr/>
            </p:nvSpPr>
            <p:spPr>
              <a:xfrm>
                <a:off x="420329" y="4674398"/>
                <a:ext cx="1863213" cy="491609"/>
              </a:xfrm>
              <a:prstGeom prst="rect">
                <a:avLst/>
              </a:prstGeom>
              <a:noFill/>
            </p:spPr>
            <p:txBody>
              <a:bodyPr wrap="square">
                <a:spAutoFit/>
              </a:bodyPr>
              <a:lstStyle/>
              <a:p>
                <a:pPr algn="l"/>
                <a:r>
                  <a:rPr lang="en-US" sz="1800" b="0" u="none" strike="noStrike" baseline="0" dirty="0">
                    <a:ea typeface="Cambria Math" panose="02040503050406030204" pitchFamily="18" charset="0"/>
                  </a:rPr>
                  <a:t>Or, </a:t>
                </a:r>
                <a14:m>
                  <m:oMath xmlns:m="http://schemas.openxmlformats.org/officeDocument/2006/math">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𝑑𝑞</m:t>
                        </m:r>
                      </m:num>
                      <m:den>
                        <m:r>
                          <a:rPr lang="en-US" sz="1800" b="0" i="1" u="none" strike="noStrike" baseline="0" smtClean="0">
                            <a:latin typeface="Cambria Math" panose="02040503050406030204" pitchFamily="18" charset="0"/>
                            <a:ea typeface="Cambria Math" panose="02040503050406030204" pitchFamily="18" charset="0"/>
                          </a:rPr>
                          <m:t>𝑑𝑡</m:t>
                        </m:r>
                      </m:den>
                    </m:f>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𝜀</m:t>
                        </m:r>
                      </m:num>
                      <m:den>
                        <m:r>
                          <a:rPr lang="en-US" sz="1800" b="0" i="1" u="none" strike="noStrike" baseline="0" smtClean="0">
                            <a:latin typeface="Cambria Math" panose="02040503050406030204" pitchFamily="18" charset="0"/>
                            <a:ea typeface="Cambria Math" panose="02040503050406030204" pitchFamily="18" charset="0"/>
                          </a:rPr>
                          <m:t>𝑅</m:t>
                        </m:r>
                      </m:den>
                    </m:f>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𝑞</m:t>
                        </m:r>
                      </m:num>
                      <m:den>
                        <m:r>
                          <a:rPr lang="en-US" sz="1800" b="0" i="1" u="none" strike="noStrike" baseline="0" smtClean="0">
                            <a:latin typeface="Cambria Math" panose="02040503050406030204" pitchFamily="18" charset="0"/>
                            <a:ea typeface="Cambria Math" panose="02040503050406030204" pitchFamily="18" charset="0"/>
                          </a:rPr>
                          <m:t>𝑅𝐶</m:t>
                        </m:r>
                      </m:den>
                    </m:f>
                  </m:oMath>
                </a14:m>
                <a:endParaRPr lang="en-US" sz="1800" b="0" u="none" strike="noStrike" baseline="0" dirty="0">
                  <a:ea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5F420C4F-80D2-C911-6F77-AD2513E46331}"/>
                  </a:ext>
                </a:extLst>
              </p:cNvPr>
              <p:cNvSpPr txBox="1">
                <a:spLocks noRot="1" noChangeAspect="1" noMove="1" noResize="1" noEditPoints="1" noAdjustHandles="1" noChangeArrowheads="1" noChangeShapeType="1" noTextEdit="1"/>
              </p:cNvSpPr>
              <p:nvPr/>
            </p:nvSpPr>
            <p:spPr>
              <a:xfrm>
                <a:off x="420329" y="4674398"/>
                <a:ext cx="1863213" cy="491609"/>
              </a:xfrm>
              <a:prstGeom prst="rect">
                <a:avLst/>
              </a:prstGeom>
              <a:blipFill>
                <a:blip r:embed="rId5"/>
                <a:stretch>
                  <a:fillRect l="-2941" b="-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0C02D96-F5B6-B38C-83CE-4233515D032C}"/>
                  </a:ext>
                </a:extLst>
              </p:cNvPr>
              <p:cNvSpPr txBox="1"/>
              <p:nvPr/>
            </p:nvSpPr>
            <p:spPr>
              <a:xfrm>
                <a:off x="420329" y="5205020"/>
                <a:ext cx="3539613" cy="491609"/>
              </a:xfrm>
              <a:prstGeom prst="rect">
                <a:avLst/>
              </a:prstGeom>
              <a:noFill/>
            </p:spPr>
            <p:txBody>
              <a:bodyPr wrap="square">
                <a:spAutoFit/>
              </a:bodyPr>
              <a:lstStyle/>
              <a:p>
                <a:pPr algn="l"/>
                <a:r>
                  <a:rPr lang="en-US" sz="1800" b="0" u="none" strike="noStrike" baseline="0" dirty="0">
                    <a:ea typeface="Cambria Math" panose="02040503050406030204" pitchFamily="18" charset="0"/>
                  </a:rPr>
                  <a:t>Or, </a:t>
                </a:r>
                <a14:m>
                  <m:oMath xmlns:m="http://schemas.openxmlformats.org/officeDocument/2006/math">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𝑑𝑞</m:t>
                        </m:r>
                      </m:num>
                      <m:den>
                        <m:r>
                          <a:rPr lang="en-US" sz="1800" b="0" i="1" u="none" strike="noStrike" baseline="0" smtClean="0">
                            <a:latin typeface="Cambria Math" panose="02040503050406030204" pitchFamily="18" charset="0"/>
                            <a:ea typeface="Cambria Math" panose="02040503050406030204" pitchFamily="18" charset="0"/>
                          </a:rPr>
                          <m:t>𝑑𝑡</m:t>
                        </m:r>
                      </m:den>
                    </m:f>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𝜀</m:t>
                        </m:r>
                      </m:num>
                      <m:den>
                        <m:r>
                          <a:rPr lang="en-US" sz="1800" b="0" i="1" u="none" strike="noStrike" baseline="0" smtClean="0">
                            <a:latin typeface="Cambria Math" panose="02040503050406030204" pitchFamily="18" charset="0"/>
                            <a:ea typeface="Cambria Math" panose="02040503050406030204" pitchFamily="18" charset="0"/>
                          </a:rPr>
                          <m:t>𝑅</m:t>
                        </m:r>
                      </m:den>
                    </m:f>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𝑞</m:t>
                        </m:r>
                      </m:num>
                      <m:den>
                        <m:r>
                          <a:rPr lang="en-US" sz="1800" b="0" i="1" u="none" strike="noStrike" baseline="0" smtClean="0">
                            <a:latin typeface="Cambria Math" panose="02040503050406030204" pitchFamily="18" charset="0"/>
                            <a:ea typeface="Cambria Math" panose="02040503050406030204" pitchFamily="18" charset="0"/>
                          </a:rPr>
                          <m:t>𝑅𝐶</m:t>
                        </m:r>
                      </m:den>
                    </m:f>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1</m:t>
                        </m:r>
                      </m:num>
                      <m:den>
                        <m:r>
                          <a:rPr lang="en-US" sz="1800" b="0" i="1" u="none" strike="noStrike" baseline="0" smtClean="0">
                            <a:latin typeface="Cambria Math" panose="02040503050406030204" pitchFamily="18" charset="0"/>
                            <a:ea typeface="Cambria Math" panose="02040503050406030204" pitchFamily="18" charset="0"/>
                          </a:rPr>
                          <m:t>𝑅𝐶</m:t>
                        </m:r>
                      </m:den>
                    </m:f>
                    <m:r>
                      <a:rPr lang="en-US" sz="1800" b="0" i="0" u="none" strike="noStrike" baseline="0" smtClean="0">
                        <a:latin typeface="Cambria Math" panose="02040503050406030204" pitchFamily="18" charset="0"/>
                        <a:ea typeface="Cambria Math" panose="02040503050406030204" pitchFamily="18" charset="0"/>
                      </a:rPr>
                      <m:t>(</m:t>
                    </m:r>
                    <m:r>
                      <m:rPr>
                        <m:sty m:val="p"/>
                      </m:rPr>
                      <a:rPr lang="en-US" sz="1800" b="0" i="0" u="none" strike="noStrike" baseline="0" smtClean="0">
                        <a:latin typeface="Cambria Math" panose="02040503050406030204" pitchFamily="18" charset="0"/>
                        <a:ea typeface="Cambria Math" panose="02040503050406030204" pitchFamily="18" charset="0"/>
                      </a:rPr>
                      <m:t>q</m:t>
                    </m:r>
                    <m:r>
                      <a:rPr lang="en-US" sz="1800" b="0" i="0" u="none" strike="noStrike" baseline="0" smtClean="0">
                        <a:latin typeface="Cambria Math" panose="02040503050406030204" pitchFamily="18" charset="0"/>
                        <a:ea typeface="Cambria Math" panose="02040503050406030204" pitchFamily="18" charset="0"/>
                      </a:rPr>
                      <m:t>−</m:t>
                    </m:r>
                    <m:r>
                      <m:rPr>
                        <m:sty m:val="p"/>
                      </m:rPr>
                      <a:rPr lang="en-US" sz="1800" b="0" i="0" u="none" strike="noStrike" baseline="0" smtClean="0">
                        <a:latin typeface="Cambria Math" panose="02040503050406030204" pitchFamily="18" charset="0"/>
                        <a:ea typeface="Cambria Math" panose="02040503050406030204" pitchFamily="18" charset="0"/>
                      </a:rPr>
                      <m:t>C</m:t>
                    </m:r>
                    <m:r>
                      <m:rPr>
                        <m:sty m:val="p"/>
                      </m:rPr>
                      <a:rPr lang="el-GR" sz="1800" b="0" i="1" u="none" strike="noStrike" baseline="0" smtClean="0">
                        <a:latin typeface="Cambria Math" panose="02040503050406030204" pitchFamily="18" charset="0"/>
                        <a:ea typeface="Cambria Math" panose="02040503050406030204" pitchFamily="18" charset="0"/>
                      </a:rPr>
                      <m:t>ε</m:t>
                    </m:r>
                    <m:r>
                      <a:rPr lang="en-US" sz="1800" b="0" i="1" u="none" strike="noStrike" baseline="0" smtClean="0">
                        <a:latin typeface="Cambria Math" panose="02040503050406030204" pitchFamily="18" charset="0"/>
                        <a:ea typeface="Cambria Math" panose="02040503050406030204" pitchFamily="18" charset="0"/>
                      </a:rPr>
                      <m:t>)</m:t>
                    </m:r>
                  </m:oMath>
                </a14:m>
                <a:endParaRPr lang="en-US" sz="1800" b="0" u="none" strike="noStrike" baseline="0" dirty="0">
                  <a:ea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20C02D96-F5B6-B38C-83CE-4233515D032C}"/>
                  </a:ext>
                </a:extLst>
              </p:cNvPr>
              <p:cNvSpPr txBox="1">
                <a:spLocks noRot="1" noChangeAspect="1" noMove="1" noResize="1" noEditPoints="1" noAdjustHandles="1" noChangeArrowheads="1" noChangeShapeType="1" noTextEdit="1"/>
              </p:cNvSpPr>
              <p:nvPr/>
            </p:nvSpPr>
            <p:spPr>
              <a:xfrm>
                <a:off x="420329" y="5205020"/>
                <a:ext cx="3539613" cy="491609"/>
              </a:xfrm>
              <a:prstGeom prst="rect">
                <a:avLst/>
              </a:prstGeom>
              <a:blipFill>
                <a:blip r:embed="rId6"/>
                <a:stretch>
                  <a:fillRect l="-1549" b="-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A7FF8B1-CB06-3FB9-D9AF-8B55B5537E1A}"/>
                  </a:ext>
                </a:extLst>
              </p:cNvPr>
              <p:cNvSpPr txBox="1"/>
              <p:nvPr/>
            </p:nvSpPr>
            <p:spPr>
              <a:xfrm>
                <a:off x="467647" y="5678100"/>
                <a:ext cx="3539613" cy="545727"/>
              </a:xfrm>
              <a:prstGeom prst="rect">
                <a:avLst/>
              </a:prstGeom>
              <a:noFill/>
            </p:spPr>
            <p:txBody>
              <a:bodyPr wrap="square">
                <a:spAutoFit/>
              </a:bodyPr>
              <a:lstStyle/>
              <a:p>
                <a:pPr algn="l"/>
                <a:r>
                  <a:rPr lang="en-US" sz="1800" b="0" u="none" strike="noStrike" baseline="0" dirty="0">
                    <a:ea typeface="Cambria Math" panose="02040503050406030204" pitchFamily="18" charset="0"/>
                  </a:rPr>
                  <a:t>Or, </a:t>
                </a:r>
                <a14:m>
                  <m:oMath xmlns:m="http://schemas.openxmlformats.org/officeDocument/2006/math">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𝑑𝑞</m:t>
                        </m:r>
                      </m:num>
                      <m:den>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𝑞</m:t>
                        </m:r>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𝐶</m:t>
                        </m:r>
                        <m:r>
                          <a:rPr lang="en-US" sz="1800" b="0" i="1" u="none" strike="noStrike" baseline="0" smtClean="0">
                            <a:latin typeface="Cambria Math" panose="02040503050406030204" pitchFamily="18" charset="0"/>
                            <a:ea typeface="Cambria Math" panose="02040503050406030204" pitchFamily="18" charset="0"/>
                          </a:rPr>
                          <m:t>𝜀</m:t>
                        </m:r>
                        <m:r>
                          <a:rPr lang="en-US" sz="1800" b="0" i="1" u="none" strike="noStrike" baseline="0" smtClean="0">
                            <a:latin typeface="Cambria Math" panose="02040503050406030204" pitchFamily="18" charset="0"/>
                            <a:ea typeface="Cambria Math" panose="02040503050406030204" pitchFamily="18" charset="0"/>
                          </a:rPr>
                          <m:t>)</m:t>
                        </m:r>
                      </m:den>
                    </m:f>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𝑑𝑡</m:t>
                        </m:r>
                      </m:num>
                      <m:den>
                        <m:r>
                          <a:rPr lang="en-US" sz="1800" b="0" i="1" u="none" strike="noStrike" baseline="0" smtClean="0">
                            <a:latin typeface="Cambria Math" panose="02040503050406030204" pitchFamily="18" charset="0"/>
                            <a:ea typeface="Cambria Math" panose="02040503050406030204" pitchFamily="18" charset="0"/>
                          </a:rPr>
                          <m:t>𝑅𝐶</m:t>
                        </m:r>
                      </m:den>
                    </m:f>
                  </m:oMath>
                </a14:m>
                <a:endParaRPr lang="en-US" sz="1800" b="0" u="none" strike="noStrike" baseline="0" dirty="0">
                  <a:ea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DA7FF8B1-CB06-3FB9-D9AF-8B55B5537E1A}"/>
                  </a:ext>
                </a:extLst>
              </p:cNvPr>
              <p:cNvSpPr txBox="1">
                <a:spLocks noRot="1" noChangeAspect="1" noMove="1" noResize="1" noEditPoints="1" noAdjustHandles="1" noChangeArrowheads="1" noChangeShapeType="1" noTextEdit="1"/>
              </p:cNvSpPr>
              <p:nvPr/>
            </p:nvSpPr>
            <p:spPr>
              <a:xfrm>
                <a:off x="467647" y="5678100"/>
                <a:ext cx="3539613" cy="545727"/>
              </a:xfrm>
              <a:prstGeom prst="rect">
                <a:avLst/>
              </a:prstGeom>
              <a:blipFill>
                <a:blip r:embed="rId7"/>
                <a:stretch>
                  <a:fillRect l="-1552" b="-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6984C0C-C44C-814E-2157-F9FEC9E0B26A}"/>
                  </a:ext>
                </a:extLst>
              </p:cNvPr>
              <p:cNvSpPr txBox="1"/>
              <p:nvPr/>
            </p:nvSpPr>
            <p:spPr>
              <a:xfrm>
                <a:off x="471658" y="6169709"/>
                <a:ext cx="3539613" cy="572914"/>
              </a:xfrm>
              <a:prstGeom prst="rect">
                <a:avLst/>
              </a:prstGeom>
              <a:noFill/>
            </p:spPr>
            <p:txBody>
              <a:bodyPr wrap="square">
                <a:spAutoFit/>
              </a:bodyPr>
              <a:lstStyle/>
              <a:p>
                <a:r>
                  <a:rPr lang="en-US" sz="1800" b="0" u="none" strike="noStrike" baseline="0" dirty="0">
                    <a:ea typeface="Cambria Math" panose="02040503050406030204" pitchFamily="18" charset="0"/>
                  </a:rPr>
                  <a:t>Or,  </a:t>
                </a:r>
                <a14:m>
                  <m:oMath xmlns:m="http://schemas.openxmlformats.org/officeDocument/2006/math">
                    <m:nary>
                      <m:naryPr>
                        <m:ctrlPr>
                          <a:rPr lang="en-US" sz="1800" b="0" i="1" u="none" strike="noStrike" baseline="0" smtClean="0">
                            <a:latin typeface="Cambria Math" panose="02040503050406030204" pitchFamily="18" charset="0"/>
                            <a:ea typeface="Cambria Math" panose="02040503050406030204" pitchFamily="18" charset="0"/>
                          </a:rPr>
                        </m:ctrlPr>
                      </m:naryPr>
                      <m:sub>
                        <m:r>
                          <m:rPr>
                            <m:brk m:alnAt="23"/>
                          </m:rPr>
                          <a:rPr lang="en-US" sz="1800" b="0" i="1" u="none" strike="noStrike" baseline="0" smtClean="0">
                            <a:latin typeface="Cambria Math" panose="02040503050406030204" pitchFamily="18" charset="0"/>
                            <a:ea typeface="Cambria Math" panose="02040503050406030204" pitchFamily="18" charset="0"/>
                          </a:rPr>
                          <m:t>0</m:t>
                        </m:r>
                      </m:sub>
                      <m:sup>
                        <m:r>
                          <a:rPr lang="en-US" sz="1800" b="0" i="1" u="none" strike="noStrike" baseline="0" smtClean="0">
                            <a:latin typeface="Cambria Math" panose="02040503050406030204" pitchFamily="18" charset="0"/>
                            <a:ea typeface="Cambria Math" panose="02040503050406030204" pitchFamily="18" charset="0"/>
                          </a:rPr>
                          <m:t>𝑞</m:t>
                        </m:r>
                      </m:sup>
                      <m:e>
                        <m:f>
                          <m:fPr>
                            <m:ctrlPr>
                              <a:rPr lang="en-US" sz="1800" b="0" i="1" u="none" strike="noStrike" baseline="0"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𝑞</m:t>
                                </m:r>
                              </m:e>
                              <m:sup>
                                <m:r>
                                  <a:rPr lang="en-US" b="0" i="1" smtClean="0">
                                    <a:latin typeface="Cambria Math" panose="02040503050406030204" pitchFamily="18" charset="0"/>
                                    <a:ea typeface="Cambria Math" panose="02040503050406030204" pitchFamily="18" charset="0"/>
                                  </a:rPr>
                                  <m:t>/</m:t>
                                </m:r>
                              </m:sup>
                            </m:sSup>
                          </m:num>
                          <m:den>
                            <m:r>
                              <a:rPr lang="en-US" sz="1800" b="0" i="1" u="none" strike="noStrike" baseline="0" smtClean="0">
                                <a:latin typeface="Cambria Math" panose="02040503050406030204" pitchFamily="18" charset="0"/>
                                <a:ea typeface="Cambria Math" panose="02040503050406030204" pitchFamily="18" charset="0"/>
                              </a:rPr>
                              <m:t>(</m:t>
                            </m:r>
                            <m:sSup>
                              <m:sSupPr>
                                <m:ctrlPr>
                                  <a:rPr lang="en-US" sz="1800" b="0" i="1" u="none" strike="noStrike" baseline="0" smtClean="0">
                                    <a:latin typeface="Cambria Math" panose="02040503050406030204" pitchFamily="18" charset="0"/>
                                    <a:ea typeface="Cambria Math" panose="02040503050406030204" pitchFamily="18" charset="0"/>
                                  </a:rPr>
                                </m:ctrlPr>
                              </m:sSupPr>
                              <m:e>
                                <m:r>
                                  <a:rPr lang="en-US" sz="1800" b="0" i="1" u="none" strike="noStrike" baseline="0" smtClean="0">
                                    <a:latin typeface="Cambria Math" panose="02040503050406030204" pitchFamily="18" charset="0"/>
                                    <a:ea typeface="Cambria Math" panose="02040503050406030204" pitchFamily="18" charset="0"/>
                                  </a:rPr>
                                  <m:t>𝑞</m:t>
                                </m:r>
                              </m:e>
                              <m:sup>
                                <m:r>
                                  <a:rPr lang="en-US" sz="1800" b="0" i="1" u="none" strike="noStrike" baseline="0" smtClean="0">
                                    <a:latin typeface="Cambria Math" panose="02040503050406030204" pitchFamily="18" charset="0"/>
                                    <a:ea typeface="Cambria Math" panose="02040503050406030204" pitchFamily="18" charset="0"/>
                                  </a:rPr>
                                  <m:t>/</m:t>
                                </m:r>
                              </m:sup>
                            </m:sSup>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𝐶</m:t>
                            </m:r>
                            <m:r>
                              <a:rPr lang="en-US" sz="1800" b="0" i="1" u="none" strike="noStrike" baseline="0" smtClean="0">
                                <a:latin typeface="Cambria Math" panose="02040503050406030204" pitchFamily="18" charset="0"/>
                                <a:ea typeface="Cambria Math" panose="02040503050406030204" pitchFamily="18" charset="0"/>
                              </a:rPr>
                              <m:t>𝜀</m:t>
                            </m:r>
                            <m:r>
                              <a:rPr lang="en-US" sz="1800" b="0" i="1" u="none" strike="noStrike" baseline="0" smtClean="0">
                                <a:latin typeface="Cambria Math" panose="02040503050406030204" pitchFamily="18" charset="0"/>
                                <a:ea typeface="Cambria Math" panose="02040503050406030204" pitchFamily="18" charset="0"/>
                              </a:rPr>
                              <m:t>)</m:t>
                            </m:r>
                          </m:den>
                        </m:f>
                      </m:e>
                    </m:nary>
                  </m:oMath>
                </a14:m>
                <a:r>
                  <a:rPr lang="en-US" sz="1800" b="0" u="none" strike="noStrike" baseline="0" dirty="0">
                    <a:ea typeface="Cambria Math" panose="02040503050406030204" pitchFamily="18" charset="0"/>
                  </a:rPr>
                  <a:t> </a:t>
                </a:r>
                <a14:m>
                  <m:oMath xmlns:m="http://schemas.openxmlformats.org/officeDocument/2006/math">
                    <m:r>
                      <a:rPr lang="en-US" sz="1800" b="0" i="1" u="none" strike="noStrike" baseline="0" smtClean="0">
                        <a:latin typeface="Cambria Math" panose="02040503050406030204" pitchFamily="18" charset="0"/>
                        <a:ea typeface="Cambria Math" panose="02040503050406030204" pitchFamily="18" charset="0"/>
                      </a:rPr>
                      <m:t>=−</m:t>
                    </m:r>
                    <m:nary>
                      <m:naryPr>
                        <m:ctrlPr>
                          <a:rPr lang="en-US" sz="1800" b="0" i="1" u="none" strike="noStrike" baseline="0" smtClean="0">
                            <a:latin typeface="Cambria Math" panose="02040503050406030204" pitchFamily="18" charset="0"/>
                            <a:ea typeface="Cambria Math" panose="02040503050406030204" pitchFamily="18" charset="0"/>
                          </a:rPr>
                        </m:ctrlPr>
                      </m:naryPr>
                      <m:sub>
                        <m:r>
                          <m:rPr>
                            <m:brk m:alnAt="23"/>
                          </m:rPr>
                          <a:rPr lang="en-US" sz="1800" b="0" i="1" u="none" strike="noStrike" baseline="0" smtClean="0">
                            <a:latin typeface="Cambria Math" panose="02040503050406030204" pitchFamily="18" charset="0"/>
                            <a:ea typeface="Cambria Math" panose="02040503050406030204" pitchFamily="18" charset="0"/>
                          </a:rPr>
                          <m:t>0</m:t>
                        </m:r>
                      </m:sub>
                      <m:sup>
                        <m:r>
                          <a:rPr lang="en-US" sz="1800" b="0" i="1" u="none" strike="noStrike" baseline="0" smtClean="0">
                            <a:latin typeface="Cambria Math" panose="02040503050406030204" pitchFamily="18" charset="0"/>
                            <a:ea typeface="Cambria Math" panose="02040503050406030204" pitchFamily="18" charset="0"/>
                          </a:rPr>
                          <m:t>𝑡</m:t>
                        </m:r>
                      </m:sup>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𝑡</m:t>
                                </m:r>
                              </m:e>
                              <m:sup>
                                <m:r>
                                  <a:rPr lang="en-US" b="0" i="1" smtClean="0">
                                    <a:latin typeface="Cambria Math" panose="02040503050406030204" pitchFamily="18" charset="0"/>
                                    <a:ea typeface="Cambria Math" panose="02040503050406030204" pitchFamily="18" charset="0"/>
                                  </a:rPr>
                                  <m:t>/</m:t>
                                </m:r>
                              </m:sup>
                            </m:sSup>
                          </m:num>
                          <m:den>
                            <m:r>
                              <a:rPr lang="en-US" i="1">
                                <a:latin typeface="Cambria Math" panose="02040503050406030204" pitchFamily="18" charset="0"/>
                                <a:ea typeface="Cambria Math" panose="02040503050406030204" pitchFamily="18" charset="0"/>
                              </a:rPr>
                              <m:t>𝑅𝐶</m:t>
                            </m:r>
                          </m:den>
                        </m:f>
                      </m:e>
                    </m:nary>
                  </m:oMath>
                </a14:m>
                <a:endParaRPr lang="en-US" sz="1800" b="0" u="none" strike="noStrike" baseline="0" dirty="0">
                  <a:ea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76984C0C-C44C-814E-2157-F9FEC9E0B26A}"/>
                  </a:ext>
                </a:extLst>
              </p:cNvPr>
              <p:cNvSpPr txBox="1">
                <a:spLocks noRot="1" noChangeAspect="1" noMove="1" noResize="1" noEditPoints="1" noAdjustHandles="1" noChangeArrowheads="1" noChangeShapeType="1" noTextEdit="1"/>
              </p:cNvSpPr>
              <p:nvPr/>
            </p:nvSpPr>
            <p:spPr>
              <a:xfrm>
                <a:off x="471658" y="6169709"/>
                <a:ext cx="3539613" cy="572914"/>
              </a:xfrm>
              <a:prstGeom prst="rect">
                <a:avLst/>
              </a:prstGeom>
              <a:blipFill>
                <a:blip r:embed="rId8"/>
                <a:stretch>
                  <a:fillRect l="-1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D29240D-459E-5498-004D-6002E8763D52}"/>
                  </a:ext>
                </a:extLst>
              </p:cNvPr>
              <p:cNvSpPr txBox="1"/>
              <p:nvPr/>
            </p:nvSpPr>
            <p:spPr>
              <a:xfrm>
                <a:off x="3167525" y="6196768"/>
                <a:ext cx="2166476" cy="510333"/>
              </a:xfrm>
              <a:prstGeom prst="rect">
                <a:avLst/>
              </a:prstGeom>
              <a:noFill/>
            </p:spPr>
            <p:txBody>
              <a:bodyPr wrap="square">
                <a:spAutoFit/>
              </a:bodyPr>
              <a:lstStyle/>
              <a:p>
                <a:r>
                  <a:rPr lang="en-US" sz="1800" b="0" u="none" strike="noStrike" baseline="0" dirty="0">
                    <a:ea typeface="Cambria Math" panose="02040503050406030204" pitchFamily="18" charset="0"/>
                  </a:rPr>
                  <a:t>Or,   </a:t>
                </a:r>
                <a14:m>
                  <m:oMath xmlns:m="http://schemas.openxmlformats.org/officeDocument/2006/math">
                    <m:r>
                      <a:rPr lang="en-US" sz="1800" b="0" i="1" u="none" strike="noStrike" baseline="0" smtClean="0">
                        <a:latin typeface="Cambria Math" panose="02040503050406030204" pitchFamily="18" charset="0"/>
                        <a:ea typeface="Cambria Math" panose="02040503050406030204" pitchFamily="18" charset="0"/>
                      </a:rPr>
                      <m:t>𝑙𝑛</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𝑞</m:t>
                        </m:r>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𝐶</m:t>
                        </m:r>
                        <m:r>
                          <a:rPr lang="en-US" sz="1800" b="0" i="1" u="none" strike="noStrike" baseline="0" smtClean="0">
                            <a:latin typeface="Cambria Math" panose="02040503050406030204" pitchFamily="18" charset="0"/>
                            <a:ea typeface="Cambria Math" panose="02040503050406030204" pitchFamily="18" charset="0"/>
                          </a:rPr>
                          <m:t>𝜀</m:t>
                        </m:r>
                        <m:r>
                          <a:rPr lang="en-US" sz="1800" b="0" i="1" u="none" strike="noStrike" baseline="0" smtClean="0">
                            <a:latin typeface="Cambria Math" panose="02040503050406030204" pitchFamily="18" charset="0"/>
                            <a:ea typeface="Cambria Math" panose="02040503050406030204" pitchFamily="18" charset="0"/>
                          </a:rPr>
                          <m:t>)</m:t>
                        </m:r>
                      </m:num>
                      <m:den>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𝐶</m:t>
                        </m:r>
                        <m:r>
                          <a:rPr lang="en-US" sz="1800" b="0" i="1" u="none" strike="noStrike" baseline="0" smtClean="0">
                            <a:latin typeface="Cambria Math" panose="02040503050406030204" pitchFamily="18" charset="0"/>
                            <a:ea typeface="Cambria Math" panose="02040503050406030204" pitchFamily="18" charset="0"/>
                          </a:rPr>
                          <m:t>𝜀</m:t>
                        </m:r>
                      </m:den>
                    </m:f>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𝑡</m:t>
                        </m:r>
                      </m:num>
                      <m:den>
                        <m:r>
                          <a:rPr lang="en-US" sz="1800" b="0" i="1" u="none" strike="noStrike" baseline="0" smtClean="0">
                            <a:latin typeface="Cambria Math" panose="02040503050406030204" pitchFamily="18" charset="0"/>
                            <a:ea typeface="Cambria Math" panose="02040503050406030204" pitchFamily="18" charset="0"/>
                          </a:rPr>
                          <m:t>𝑅𝐶</m:t>
                        </m:r>
                      </m:den>
                    </m:f>
                  </m:oMath>
                </a14:m>
                <a:r>
                  <a:rPr lang="en-US" sz="1800" b="0" u="none" strike="noStrike" baseline="0" dirty="0">
                    <a:ea typeface="Cambria Math" panose="02040503050406030204" pitchFamily="18" charset="0"/>
                  </a:rPr>
                  <a:t>  </a:t>
                </a:r>
              </a:p>
            </p:txBody>
          </p:sp>
        </mc:Choice>
        <mc:Fallback xmlns="">
          <p:sp>
            <p:nvSpPr>
              <p:cNvPr id="19" name="TextBox 18">
                <a:extLst>
                  <a:ext uri="{FF2B5EF4-FFF2-40B4-BE49-F238E27FC236}">
                    <a16:creationId xmlns:a16="http://schemas.microsoft.com/office/drawing/2014/main" id="{7D29240D-459E-5498-004D-6002E8763D52}"/>
                  </a:ext>
                </a:extLst>
              </p:cNvPr>
              <p:cNvSpPr txBox="1">
                <a:spLocks noRot="1" noChangeAspect="1" noMove="1" noResize="1" noEditPoints="1" noAdjustHandles="1" noChangeArrowheads="1" noChangeShapeType="1" noTextEdit="1"/>
              </p:cNvSpPr>
              <p:nvPr/>
            </p:nvSpPr>
            <p:spPr>
              <a:xfrm>
                <a:off x="3167525" y="6196768"/>
                <a:ext cx="2166476" cy="510333"/>
              </a:xfrm>
              <a:prstGeom prst="rect">
                <a:avLst/>
              </a:prstGeom>
              <a:blipFill>
                <a:blip r:embed="rId9"/>
                <a:stretch>
                  <a:fillRect l="-2535" b="-60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AF419AD-DBF7-A494-0ABF-6912BFAB2597}"/>
                  </a:ext>
                </a:extLst>
              </p:cNvPr>
              <p:cNvSpPr txBox="1"/>
              <p:nvPr/>
            </p:nvSpPr>
            <p:spPr>
              <a:xfrm>
                <a:off x="5619889" y="6089207"/>
                <a:ext cx="2166476" cy="542969"/>
              </a:xfrm>
              <a:prstGeom prst="rect">
                <a:avLst/>
              </a:prstGeom>
              <a:noFill/>
            </p:spPr>
            <p:txBody>
              <a:bodyPr wrap="square">
                <a:spAutoFit/>
              </a:bodyPr>
              <a:lstStyle/>
              <a:p>
                <a:r>
                  <a:rPr lang="en-US" sz="1800" b="0" u="none" strike="noStrike" baseline="0" dirty="0">
                    <a:ea typeface="Cambria Math" panose="02040503050406030204" pitchFamily="18" charset="0"/>
                  </a:rPr>
                  <a:t>Or,  </a:t>
                </a:r>
                <a14:m>
                  <m:oMath xmlns:m="http://schemas.openxmlformats.org/officeDocument/2006/math">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𝑞</m:t>
                        </m:r>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𝐶</m:t>
                        </m:r>
                        <m:r>
                          <a:rPr lang="en-US" sz="1800" b="0" i="1" u="none" strike="noStrike" baseline="0" smtClean="0">
                            <a:latin typeface="Cambria Math" panose="02040503050406030204" pitchFamily="18" charset="0"/>
                            <a:ea typeface="Cambria Math" panose="02040503050406030204" pitchFamily="18" charset="0"/>
                          </a:rPr>
                          <m:t>𝜀</m:t>
                        </m:r>
                        <m:r>
                          <a:rPr lang="en-US" sz="1800" b="0" i="1" u="none" strike="noStrike" baseline="0" smtClean="0">
                            <a:latin typeface="Cambria Math" panose="02040503050406030204" pitchFamily="18" charset="0"/>
                            <a:ea typeface="Cambria Math" panose="02040503050406030204" pitchFamily="18" charset="0"/>
                          </a:rPr>
                          <m:t>)</m:t>
                        </m:r>
                      </m:num>
                      <m:den>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𝐶</m:t>
                        </m:r>
                        <m:r>
                          <a:rPr lang="en-US" sz="1800" b="0" i="1" u="none" strike="noStrike" baseline="0" smtClean="0">
                            <a:latin typeface="Cambria Math" panose="02040503050406030204" pitchFamily="18" charset="0"/>
                            <a:ea typeface="Cambria Math" panose="02040503050406030204" pitchFamily="18" charset="0"/>
                          </a:rPr>
                          <m:t>𝜀</m:t>
                        </m:r>
                      </m:den>
                    </m:f>
                    <m:r>
                      <a:rPr lang="en-US" sz="1800" b="0" i="1" u="none" strike="noStrike" baseline="0" smtClean="0">
                        <a:latin typeface="Cambria Math" panose="02040503050406030204" pitchFamily="18" charset="0"/>
                        <a:ea typeface="Cambria Math" panose="02040503050406030204" pitchFamily="18" charset="0"/>
                      </a:rPr>
                      <m:t>=</m:t>
                    </m:r>
                    <m:sSup>
                      <m:sSupPr>
                        <m:ctrlPr>
                          <a:rPr lang="en-US" sz="1800" b="0" i="1" u="none" strike="noStrike" baseline="0" smtClean="0">
                            <a:latin typeface="Cambria Math" panose="02040503050406030204" pitchFamily="18" charset="0"/>
                            <a:ea typeface="Cambria Math" panose="02040503050406030204" pitchFamily="18" charset="0"/>
                          </a:rPr>
                        </m:ctrlPr>
                      </m:sSupPr>
                      <m:e>
                        <m:r>
                          <a:rPr lang="en-US" sz="1800" b="0" i="1" u="none" strike="noStrike" baseline="0" smtClean="0">
                            <a:latin typeface="Cambria Math" panose="02040503050406030204" pitchFamily="18" charset="0"/>
                            <a:ea typeface="Cambria Math" panose="02040503050406030204" pitchFamily="18" charset="0"/>
                          </a:rPr>
                          <m:t>𝑒</m:t>
                        </m:r>
                      </m:e>
                      <m:sup>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𝑡</m:t>
                            </m:r>
                          </m:num>
                          <m:den>
                            <m:r>
                              <a:rPr lang="en-US" sz="1800" b="0" i="1" u="none" strike="noStrike" baseline="0" smtClean="0">
                                <a:latin typeface="Cambria Math" panose="02040503050406030204" pitchFamily="18" charset="0"/>
                                <a:ea typeface="Cambria Math" panose="02040503050406030204" pitchFamily="18" charset="0"/>
                              </a:rPr>
                              <m:t>𝑅𝐶</m:t>
                            </m:r>
                          </m:den>
                        </m:f>
                      </m:sup>
                    </m:sSup>
                  </m:oMath>
                </a14:m>
                <a:endParaRPr lang="en-US" sz="1800" b="0" u="none" strike="noStrike" baseline="0" dirty="0">
                  <a:ea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7AF419AD-DBF7-A494-0ABF-6912BFAB2597}"/>
                  </a:ext>
                </a:extLst>
              </p:cNvPr>
              <p:cNvSpPr txBox="1">
                <a:spLocks noRot="1" noChangeAspect="1" noMove="1" noResize="1" noEditPoints="1" noAdjustHandles="1" noChangeArrowheads="1" noChangeShapeType="1" noTextEdit="1"/>
              </p:cNvSpPr>
              <p:nvPr/>
            </p:nvSpPr>
            <p:spPr>
              <a:xfrm>
                <a:off x="5619889" y="6089207"/>
                <a:ext cx="2166476" cy="542969"/>
              </a:xfrm>
              <a:prstGeom prst="rect">
                <a:avLst/>
              </a:prstGeom>
              <a:blipFill>
                <a:blip r:embed="rId10"/>
                <a:stretch>
                  <a:fillRect l="-2535" b="-6742"/>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43D8C978-0C38-DEAC-636B-519F1A6A7D61}"/>
              </a:ext>
            </a:extLst>
          </p:cNvPr>
          <p:cNvSpPr txBox="1"/>
          <p:nvPr/>
        </p:nvSpPr>
        <p:spPr>
          <a:xfrm>
            <a:off x="390832" y="990600"/>
            <a:ext cx="2961968"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b="1" dirty="0"/>
              <a:t>Charging the capacitor</a:t>
            </a:r>
          </a:p>
        </p:txBody>
      </p:sp>
    </p:spTree>
    <p:extLst>
      <p:ext uri="{BB962C8B-B14F-4D97-AF65-F5344CB8AC3E}">
        <p14:creationId xmlns:p14="http://schemas.microsoft.com/office/powerpoint/2010/main" val="2584057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11B9FD3-B297-22FA-4C1B-1106C6693E01}"/>
                  </a:ext>
                </a:extLst>
              </p:cNvPr>
              <p:cNvSpPr txBox="1"/>
              <p:nvPr/>
            </p:nvSpPr>
            <p:spPr>
              <a:xfrm>
                <a:off x="517358" y="1412418"/>
                <a:ext cx="4953000" cy="1039131"/>
              </a:xfrm>
              <a:prstGeom prst="rect">
                <a:avLst/>
              </a:prstGeom>
              <a:noFill/>
            </p:spPr>
            <p:txBody>
              <a:bodyPr wrap="square">
                <a:spAutoFit/>
              </a:bodyPr>
              <a:lstStyle/>
              <a:p>
                <a:pPr algn="just"/>
                <a:r>
                  <a:rPr lang="en-US" sz="1800" b="0" i="0" u="none" strike="noStrike" baseline="0" dirty="0"/>
                  <a:t>As the charge </a:t>
                </a:r>
                <a:r>
                  <a:rPr lang="en-US" sz="1800" b="0" i="1" u="none" strike="noStrike" baseline="0" dirty="0"/>
                  <a:t>q </a:t>
                </a:r>
                <a:r>
                  <a:rPr lang="en-US" sz="1800" b="0" i="0" u="none" strike="noStrike" baseline="0" dirty="0"/>
                  <a:t>increases, the term </a:t>
                </a:r>
                <a14:m>
                  <m:oMath xmlns:m="http://schemas.openxmlformats.org/officeDocument/2006/math">
                    <m:f>
                      <m:fPr>
                        <m:ctrlPr>
                          <a:rPr lang="en-US" sz="1800" b="0" i="1" u="none" strike="noStrike" baseline="0" smtClean="0">
                            <a:latin typeface="Cambria Math" panose="02040503050406030204" pitchFamily="18" charset="0"/>
                          </a:rPr>
                        </m:ctrlPr>
                      </m:fPr>
                      <m:num>
                        <m:r>
                          <a:rPr lang="en-US" sz="1800" b="0" i="1" u="none" strike="noStrike" baseline="0" smtClean="0">
                            <a:latin typeface="Cambria Math" panose="02040503050406030204" pitchFamily="18" charset="0"/>
                          </a:rPr>
                          <m:t>𝑞</m:t>
                        </m:r>
                      </m:num>
                      <m:den>
                        <m:r>
                          <a:rPr lang="en-US" sz="1800" b="0" i="1" u="none" strike="noStrike" baseline="0" smtClean="0">
                            <a:latin typeface="Cambria Math" panose="02040503050406030204" pitchFamily="18" charset="0"/>
                          </a:rPr>
                          <m:t>𝑅𝐶</m:t>
                        </m:r>
                      </m:den>
                    </m:f>
                  </m:oMath>
                </a14:m>
                <a:r>
                  <a:rPr lang="en-US" sz="1800" b="0" i="0" u="none" strike="noStrike" baseline="0" dirty="0"/>
                  <a:t> becomes larger and the capacitor charge approaches its final value, which we will call </a:t>
                </a:r>
                <a14:m>
                  <m:oMath xmlns:m="http://schemas.openxmlformats.org/officeDocument/2006/math">
                    <m:sSub>
                      <m:sSubPr>
                        <m:ctrlPr>
                          <a:rPr lang="en-US" sz="1800" b="0" i="1" u="none" strike="noStrike" baseline="0" smtClean="0">
                            <a:latin typeface="Cambria Math" panose="02040503050406030204" pitchFamily="18" charset="0"/>
                          </a:rPr>
                        </m:ctrlPr>
                      </m:sSubPr>
                      <m:e>
                        <m:r>
                          <a:rPr lang="en-US" sz="1800" b="0" i="1" u="none" strike="noStrike" baseline="0" smtClean="0">
                            <a:latin typeface="Cambria Math" panose="02040503050406030204" pitchFamily="18" charset="0"/>
                          </a:rPr>
                          <m:t>𝑄</m:t>
                        </m:r>
                      </m:e>
                      <m:sub>
                        <m:r>
                          <a:rPr lang="en-US" sz="1800" b="0" i="1" u="none" strike="noStrike" baseline="0" smtClean="0">
                            <a:latin typeface="Cambria Math" panose="02040503050406030204" pitchFamily="18" charset="0"/>
                          </a:rPr>
                          <m:t>𝑓</m:t>
                        </m:r>
                      </m:sub>
                    </m:sSub>
                    <m:r>
                      <a:rPr lang="en-US" sz="1800" b="0" i="1" u="none" strike="noStrike" baseline="0" smtClean="0">
                        <a:latin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𝜀</m:t>
                    </m:r>
                  </m:oMath>
                </a14:m>
                <a:r>
                  <a:rPr lang="en-US" dirty="0"/>
                  <a:t>. </a:t>
                </a:r>
              </a:p>
            </p:txBody>
          </p:sp>
        </mc:Choice>
        <mc:Fallback xmlns="">
          <p:sp>
            <p:nvSpPr>
              <p:cNvPr id="4" name="TextBox 3">
                <a:extLst>
                  <a:ext uri="{FF2B5EF4-FFF2-40B4-BE49-F238E27FC236}">
                    <a16:creationId xmlns:a16="http://schemas.microsoft.com/office/drawing/2014/main" id="{F11B9FD3-B297-22FA-4C1B-1106C6693E01}"/>
                  </a:ext>
                </a:extLst>
              </p:cNvPr>
              <p:cNvSpPr txBox="1">
                <a:spLocks noRot="1" noChangeAspect="1" noMove="1" noResize="1" noEditPoints="1" noAdjustHandles="1" noChangeArrowheads="1" noChangeShapeType="1" noTextEdit="1"/>
              </p:cNvSpPr>
              <p:nvPr/>
            </p:nvSpPr>
            <p:spPr>
              <a:xfrm>
                <a:off x="517358" y="1412418"/>
                <a:ext cx="4953000" cy="1039131"/>
              </a:xfrm>
              <a:prstGeom prst="rect">
                <a:avLst/>
              </a:prstGeom>
              <a:blipFill>
                <a:blip r:embed="rId2"/>
                <a:stretch>
                  <a:fillRect l="-1108" t="-588" r="-985" b="-64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AF0BF65-6C57-3738-5509-7B76AFEFCA3D}"/>
                  </a:ext>
                </a:extLst>
              </p:cNvPr>
              <p:cNvSpPr txBox="1"/>
              <p:nvPr/>
            </p:nvSpPr>
            <p:spPr>
              <a:xfrm>
                <a:off x="517358" y="780432"/>
                <a:ext cx="5226349" cy="738472"/>
              </a:xfrm>
              <a:prstGeom prst="rect">
                <a:avLst/>
              </a:prstGeom>
              <a:noFill/>
            </p:spPr>
            <p:txBody>
              <a:bodyPr wrap="square" rtlCol="0">
                <a:spAutoFit/>
              </a:bodyPr>
              <a:lstStyle/>
              <a:p>
                <a:pPr algn="just"/>
                <a:r>
                  <a:rPr lang="en-US" dirty="0"/>
                  <a:t>At time t = 0, q = 0 then the initial current in the circuit must be ,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𝐼</m:t>
                        </m:r>
                      </m:e>
                      <m:sub>
                        <m:r>
                          <a:rPr lang="en-US" b="0" i="1" dirty="0" smtClean="0">
                            <a:latin typeface="Cambria Math" panose="02040503050406030204" pitchFamily="18" charset="0"/>
                          </a:rPr>
                          <m:t>𝑜</m:t>
                        </m:r>
                      </m:sub>
                    </m:sSub>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ea typeface="Cambria Math" panose="02040503050406030204" pitchFamily="18" charset="0"/>
                          </a:rPr>
                          <m:t>𝜀</m:t>
                        </m:r>
                      </m:num>
                      <m:den>
                        <m:r>
                          <a:rPr lang="en-US" b="0" i="1" dirty="0" smtClean="0">
                            <a:latin typeface="Cambria Math" panose="02040503050406030204" pitchFamily="18" charset="0"/>
                          </a:rPr>
                          <m:t>𝑅</m:t>
                        </m:r>
                      </m:den>
                    </m:f>
                    <m:r>
                      <a:rPr lang="en-US" i="1" dirty="0" smtClean="0">
                        <a:latin typeface="Cambria Math" panose="02040503050406030204" pitchFamily="18" charset="0"/>
                      </a:rPr>
                      <m:t> </m:t>
                    </m:r>
                  </m:oMath>
                </a14:m>
                <a:endParaRPr lang="en-US" dirty="0"/>
              </a:p>
            </p:txBody>
          </p:sp>
        </mc:Choice>
        <mc:Fallback xmlns="">
          <p:sp>
            <p:nvSpPr>
              <p:cNvPr id="5" name="TextBox 4">
                <a:extLst>
                  <a:ext uri="{FF2B5EF4-FFF2-40B4-BE49-F238E27FC236}">
                    <a16:creationId xmlns:a16="http://schemas.microsoft.com/office/drawing/2014/main" id="{7AF0BF65-6C57-3738-5509-7B76AFEFCA3D}"/>
                  </a:ext>
                </a:extLst>
              </p:cNvPr>
              <p:cNvSpPr txBox="1">
                <a:spLocks noRot="1" noChangeAspect="1" noMove="1" noResize="1" noEditPoints="1" noAdjustHandles="1" noChangeArrowheads="1" noChangeShapeType="1" noTextEdit="1"/>
              </p:cNvSpPr>
              <p:nvPr/>
            </p:nvSpPr>
            <p:spPr>
              <a:xfrm>
                <a:off x="517358" y="780432"/>
                <a:ext cx="5226349" cy="738472"/>
              </a:xfrm>
              <a:prstGeom prst="rect">
                <a:avLst/>
              </a:prstGeom>
              <a:blipFill>
                <a:blip r:embed="rId3"/>
                <a:stretch>
                  <a:fillRect l="-1050" t="-4132" r="-933" b="-49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26D07BB-F758-8149-5795-9CE81E694E8F}"/>
                  </a:ext>
                </a:extLst>
              </p:cNvPr>
              <p:cNvSpPr txBox="1"/>
              <p:nvPr/>
            </p:nvSpPr>
            <p:spPr>
              <a:xfrm>
                <a:off x="472850" y="2456412"/>
                <a:ext cx="4740442" cy="1373646"/>
              </a:xfrm>
              <a:prstGeom prst="rect">
                <a:avLst/>
              </a:prstGeom>
              <a:noFill/>
            </p:spPr>
            <p:txBody>
              <a:bodyPr wrap="square">
                <a:spAutoFit/>
              </a:bodyPr>
              <a:lstStyle/>
              <a:p>
                <a:pPr algn="l"/>
                <a:r>
                  <a:rPr lang="en-US" sz="1800" b="0" i="0" u="none" strike="noStrike" baseline="0" dirty="0">
                    <a:latin typeface="Times-Roman"/>
                  </a:rPr>
                  <a:t>The instantaneous current </a:t>
                </a:r>
                <a:r>
                  <a:rPr lang="en-US" sz="1800" b="0" i="1" u="none" strike="noStrike" baseline="0" dirty="0" err="1">
                    <a:latin typeface="Times-Italic"/>
                  </a:rPr>
                  <a:t>i</a:t>
                </a:r>
                <a:r>
                  <a:rPr lang="en-US" sz="1800" b="0" i="1" u="none" strike="noStrike" baseline="0" dirty="0">
                    <a:latin typeface="Times-Italic"/>
                  </a:rPr>
                  <a:t> </a:t>
                </a:r>
                <a:r>
                  <a:rPr lang="en-US" sz="1800" b="0" i="0" u="none" strike="noStrike" baseline="0" dirty="0">
                    <a:latin typeface="Times-Roman"/>
                  </a:rPr>
                  <a:t>is just the time derivative of equation 1 </a:t>
                </a:r>
              </a:p>
              <a:p>
                <a:r>
                  <a:rPr lang="en-US" sz="1800" b="0" i="1" u="none" strike="noStrike" baseline="0" dirty="0" err="1">
                    <a:latin typeface="Times-Italic"/>
                  </a:rPr>
                  <a:t>i</a:t>
                </a:r>
                <a:r>
                  <a:rPr lang="en-US" sz="1800" b="0" i="1" u="none" strike="noStrike" baseline="0" dirty="0">
                    <a:latin typeface="Times-Italic"/>
                  </a:rPr>
                  <a:t> </a:t>
                </a:r>
                <a:r>
                  <a:rPr lang="en-US" sz="1800" b="0" i="0" u="none" strike="noStrike" baseline="0" dirty="0">
                    <a:latin typeface="Optr2k"/>
                  </a:rPr>
                  <a:t>= </a:t>
                </a:r>
                <a14:m>
                  <m:oMath xmlns:m="http://schemas.openxmlformats.org/officeDocument/2006/math">
                    <m:f>
                      <m:fPr>
                        <m:ctrlPr>
                          <a:rPr lang="en-US" sz="1800" b="0" i="1" u="none" strike="noStrike" baseline="0" smtClean="0">
                            <a:latin typeface="Cambria Math" panose="02040503050406030204" pitchFamily="18" charset="0"/>
                          </a:rPr>
                        </m:ctrlPr>
                      </m:fPr>
                      <m:num>
                        <m:r>
                          <a:rPr lang="en-US" sz="1800" b="0" i="1" u="none" strike="noStrike" baseline="0" smtClean="0">
                            <a:latin typeface="Cambria Math" panose="02040503050406030204" pitchFamily="18" charset="0"/>
                          </a:rPr>
                          <m:t>𝑑𝑞</m:t>
                        </m:r>
                      </m:num>
                      <m:den>
                        <m:r>
                          <a:rPr lang="en-US" sz="1800" b="0" i="1" u="none" strike="noStrike" baseline="0" smtClean="0">
                            <a:latin typeface="Cambria Math" panose="02040503050406030204" pitchFamily="18" charset="0"/>
                          </a:rPr>
                          <m:t>𝑑𝑡</m:t>
                        </m:r>
                      </m:den>
                    </m:f>
                    <m:r>
                      <a:rPr lang="en-US" sz="1800" b="0" i="1" u="none" strike="noStrike" baseline="0" smtClean="0">
                        <a:latin typeface="Cambria Math" panose="02040503050406030204" pitchFamily="18" charset="0"/>
                      </a:rPr>
                      <m:t>=</m:t>
                    </m:r>
                    <m:f>
                      <m:fPr>
                        <m:ctrlPr>
                          <a:rPr lang="en-US" sz="1800" b="0" i="1" u="none" strike="noStrike" baseline="0" smtClean="0">
                            <a:latin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𝜀</m:t>
                        </m:r>
                      </m:num>
                      <m:den>
                        <m:r>
                          <a:rPr lang="en-US" sz="1800" b="0" i="1" u="none" strike="noStrike" baseline="0" smtClean="0">
                            <a:latin typeface="Cambria Math" panose="02040503050406030204" pitchFamily="18" charset="0"/>
                          </a:rPr>
                          <m:t>𝑅</m:t>
                        </m:r>
                      </m:den>
                    </m:f>
                    <m:sSup>
                      <m:sSupPr>
                        <m:ctrlPr>
                          <a:rPr lang="en-US" sz="1800" b="0" i="1" u="none" strike="noStrike" baseline="0" smtClean="0">
                            <a:latin typeface="Cambria Math" panose="02040503050406030204" pitchFamily="18" charset="0"/>
                          </a:rPr>
                        </m:ctrlPr>
                      </m:sSupPr>
                      <m:e>
                        <m:r>
                          <a:rPr lang="en-US" sz="1800" b="0" i="1" u="none" strike="noStrike" baseline="0" smtClean="0">
                            <a:latin typeface="Cambria Math" panose="02040503050406030204" pitchFamily="18" charset="0"/>
                          </a:rPr>
                          <m:t>𝑒</m:t>
                        </m:r>
                      </m:e>
                      <m:sup>
                        <m:r>
                          <a:rPr lang="en-US" sz="1800" b="0" i="1" u="none" strike="noStrike" baseline="0" smtClean="0">
                            <a:latin typeface="Cambria Math" panose="02040503050406030204" pitchFamily="18" charset="0"/>
                          </a:rPr>
                          <m:t>−</m:t>
                        </m:r>
                        <m:f>
                          <m:fPr>
                            <m:ctrlPr>
                              <a:rPr lang="en-US" sz="1800" b="0" i="1" u="none" strike="noStrike" baseline="0" smtClean="0">
                                <a:latin typeface="Cambria Math" panose="02040503050406030204" pitchFamily="18" charset="0"/>
                              </a:rPr>
                            </m:ctrlPr>
                          </m:fPr>
                          <m:num>
                            <m:r>
                              <a:rPr lang="en-US" sz="1800" b="0" i="1" u="none" strike="noStrike" baseline="0" smtClean="0">
                                <a:latin typeface="Cambria Math" panose="02040503050406030204" pitchFamily="18" charset="0"/>
                              </a:rPr>
                              <m:t>𝑡</m:t>
                            </m:r>
                          </m:num>
                          <m:den>
                            <m:r>
                              <a:rPr lang="en-US" sz="1800" b="0" i="1" u="none" strike="noStrike" baseline="0" smtClean="0">
                                <a:latin typeface="Cambria Math" panose="02040503050406030204" pitchFamily="18" charset="0"/>
                              </a:rPr>
                              <m:t>𝑅𝐶</m:t>
                            </m:r>
                          </m:den>
                        </m:f>
                      </m:sup>
                    </m:sSup>
                    <m:r>
                      <a:rPr lang="en-US" sz="1800" b="0" i="1" u="none" strike="noStrike" baseline="0" smtClean="0">
                        <a:latin typeface="Cambria Math" panose="02040503050406030204" pitchFamily="18" charset="0"/>
                      </a:rPr>
                      <m:t>=</m:t>
                    </m:r>
                    <m:sSub>
                      <m:sSubPr>
                        <m:ctrlPr>
                          <a:rPr lang="en-US" sz="1800" b="0" i="1" u="none" strike="noStrike" baseline="0" smtClean="0">
                            <a:latin typeface="Cambria Math" panose="02040503050406030204" pitchFamily="18" charset="0"/>
                          </a:rPr>
                        </m:ctrlPr>
                      </m:sSubPr>
                      <m:e>
                        <m:r>
                          <a:rPr lang="en-US" sz="1800" b="0" i="1" u="none" strike="noStrike" baseline="0" smtClean="0">
                            <a:latin typeface="Cambria Math" panose="02040503050406030204" pitchFamily="18" charset="0"/>
                          </a:rPr>
                          <m:t>𝐼</m:t>
                        </m:r>
                      </m:e>
                      <m:sub>
                        <m:r>
                          <a:rPr lang="en-US" sz="1800" b="0" i="1" u="none" strike="noStrike" baseline="0" smtClean="0">
                            <a:latin typeface="Cambria Math" panose="02040503050406030204" pitchFamily="18" charset="0"/>
                          </a:rPr>
                          <m:t>𝑜</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𝑡</m:t>
                            </m:r>
                          </m:num>
                          <m:den>
                            <m:r>
                              <a:rPr lang="en-US" i="1">
                                <a:latin typeface="Cambria Math" panose="02040503050406030204" pitchFamily="18" charset="0"/>
                              </a:rPr>
                              <m:t>𝑅𝐶</m:t>
                            </m:r>
                          </m:den>
                        </m:f>
                      </m:sup>
                    </m:sSup>
                  </m:oMath>
                </a14:m>
                <a:r>
                  <a:rPr lang="en-US" i="1" dirty="0">
                    <a:latin typeface="Times-Italic"/>
                  </a:rPr>
                  <a:t>  </a:t>
                </a:r>
                <a:r>
                  <a:rPr lang="en-US" sz="1800" b="0" i="0" u="none" strike="noStrike" baseline="0" dirty="0">
                    <a:latin typeface="Times-Roman"/>
                  </a:rPr>
                  <a:t>(</a:t>
                </a:r>
                <a:r>
                  <a:rPr lang="en-US" sz="1800" b="0" i="1" u="none" strike="noStrike" baseline="0" dirty="0">
                    <a:latin typeface="Times-Italic"/>
                  </a:rPr>
                  <a:t>R-C </a:t>
                </a:r>
                <a:r>
                  <a:rPr lang="en-US" sz="1800" b="0" i="0" u="none" strike="noStrike" baseline="0" dirty="0">
                    <a:latin typeface="Times-Roman"/>
                  </a:rPr>
                  <a:t>circuit, charging capacitor).</a:t>
                </a:r>
                <a:endParaRPr lang="en-US" dirty="0"/>
              </a:p>
            </p:txBody>
          </p:sp>
        </mc:Choice>
        <mc:Fallback xmlns="">
          <p:sp>
            <p:nvSpPr>
              <p:cNvPr id="7" name="TextBox 6">
                <a:extLst>
                  <a:ext uri="{FF2B5EF4-FFF2-40B4-BE49-F238E27FC236}">
                    <a16:creationId xmlns:a16="http://schemas.microsoft.com/office/drawing/2014/main" id="{426D07BB-F758-8149-5795-9CE81E694E8F}"/>
                  </a:ext>
                </a:extLst>
              </p:cNvPr>
              <p:cNvSpPr txBox="1">
                <a:spLocks noRot="1" noChangeAspect="1" noMove="1" noResize="1" noEditPoints="1" noAdjustHandles="1" noChangeArrowheads="1" noChangeShapeType="1" noTextEdit="1"/>
              </p:cNvSpPr>
              <p:nvPr/>
            </p:nvSpPr>
            <p:spPr>
              <a:xfrm>
                <a:off x="472850" y="2456412"/>
                <a:ext cx="4740442" cy="1373646"/>
              </a:xfrm>
              <a:prstGeom prst="rect">
                <a:avLst/>
              </a:prstGeom>
              <a:blipFill>
                <a:blip r:embed="rId4"/>
                <a:stretch>
                  <a:fillRect l="-1158" t="-2667" b="-6222"/>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D60E7789-A17B-A5E2-3173-7B2C3E37C4D9}"/>
              </a:ext>
            </a:extLst>
          </p:cNvPr>
          <p:cNvSpPr txBox="1"/>
          <p:nvPr/>
        </p:nvSpPr>
        <p:spPr>
          <a:xfrm>
            <a:off x="514846" y="3890509"/>
            <a:ext cx="2546426"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dirty="0"/>
              <a:t>Time Constant </a:t>
            </a:r>
          </a:p>
        </p:txBody>
      </p:sp>
      <p:pic>
        <p:nvPicPr>
          <p:cNvPr id="10" name="Picture 9">
            <a:extLst>
              <a:ext uri="{FF2B5EF4-FFF2-40B4-BE49-F238E27FC236}">
                <a16:creationId xmlns:a16="http://schemas.microsoft.com/office/drawing/2014/main" id="{2606BFD8-044A-398E-0302-88D51FB88CEE}"/>
              </a:ext>
            </a:extLst>
          </p:cNvPr>
          <p:cNvPicPr>
            <a:picLocks noChangeAspect="1"/>
          </p:cNvPicPr>
          <p:nvPr/>
        </p:nvPicPr>
        <p:blipFill rotWithShape="1">
          <a:blip r:embed="rId5"/>
          <a:srcRect b="49519"/>
          <a:stretch/>
        </p:blipFill>
        <p:spPr>
          <a:xfrm>
            <a:off x="6174910" y="431901"/>
            <a:ext cx="2552921" cy="2019648"/>
          </a:xfrm>
          <a:prstGeom prst="rect">
            <a:avLst/>
          </a:prstGeom>
        </p:spPr>
      </p:pic>
      <p:pic>
        <p:nvPicPr>
          <p:cNvPr id="11" name="Picture 10">
            <a:extLst>
              <a:ext uri="{FF2B5EF4-FFF2-40B4-BE49-F238E27FC236}">
                <a16:creationId xmlns:a16="http://schemas.microsoft.com/office/drawing/2014/main" id="{C63B081C-CC09-8B44-6900-FD927DB8413B}"/>
              </a:ext>
            </a:extLst>
          </p:cNvPr>
          <p:cNvPicPr>
            <a:picLocks noChangeAspect="1"/>
          </p:cNvPicPr>
          <p:nvPr/>
        </p:nvPicPr>
        <p:blipFill rotWithShape="1">
          <a:blip r:embed="rId5"/>
          <a:srcRect t="49519"/>
          <a:stretch/>
        </p:blipFill>
        <p:spPr>
          <a:xfrm>
            <a:off x="6118229" y="2419176"/>
            <a:ext cx="2552921" cy="2019647"/>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5C4A495-9234-AEAB-9C39-8AF2A6174329}"/>
                  </a:ext>
                </a:extLst>
              </p:cNvPr>
              <p:cNvSpPr txBox="1"/>
              <p:nvPr/>
            </p:nvSpPr>
            <p:spPr>
              <a:xfrm>
                <a:off x="416169" y="257800"/>
                <a:ext cx="4549125" cy="4922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u="none" strike="noStrike" baseline="0" smtClean="0">
                          <a:latin typeface="Cambria Math" panose="02040503050406030204" pitchFamily="18" charset="0"/>
                          <a:ea typeface="Cambria Math" panose="02040503050406030204" pitchFamily="18" charset="0"/>
                        </a:rPr>
                        <m:t>𝑜𝑟</m:t>
                      </m:r>
                      <m:r>
                        <a:rPr lang="en-US" sz="1800" b="0" i="1" u="none" strike="noStrike" baseline="0" smtClean="0">
                          <a:latin typeface="Cambria Math" panose="02040503050406030204" pitchFamily="18" charset="0"/>
                          <a:ea typeface="Cambria Math" panose="02040503050406030204" pitchFamily="18" charset="0"/>
                        </a:rPr>
                        <m:t>,  </m:t>
                      </m:r>
                      <m:r>
                        <a:rPr lang="en-US" sz="1800" b="0" i="1" u="none" strike="noStrike" baseline="0" smtClean="0">
                          <a:latin typeface="Cambria Math" panose="02040503050406030204" pitchFamily="18" charset="0"/>
                          <a:ea typeface="Cambria Math" panose="02040503050406030204" pitchFamily="18" charset="0"/>
                        </a:rPr>
                        <m:t>𝑞</m:t>
                      </m:r>
                      <m:r>
                        <a:rPr lang="en-US" sz="1800" b="0" i="1" u="none" strike="noStrike" baseline="0" smtClean="0">
                          <a:latin typeface="Cambria Math" panose="02040503050406030204" pitchFamily="18" charset="0"/>
                          <a:ea typeface="Cambria Math" panose="02040503050406030204" pitchFamily="18" charset="0"/>
                        </a:rPr>
                        <m:t>=</m:t>
                      </m:r>
                      <m:r>
                        <a:rPr lang="en-US" sz="1800" b="0" i="1" u="none" strike="noStrike" baseline="0" smtClean="0">
                          <a:latin typeface="Cambria Math" panose="02040503050406030204" pitchFamily="18" charset="0"/>
                          <a:ea typeface="Cambria Math" panose="02040503050406030204" pitchFamily="18" charset="0"/>
                        </a:rPr>
                        <m:t>𝐶</m:t>
                      </m:r>
                      <m:r>
                        <a:rPr lang="en-US" sz="1800" b="0" i="1" u="none" strike="noStrike" baseline="0" smtClean="0">
                          <a:latin typeface="Cambria Math" panose="02040503050406030204" pitchFamily="18" charset="0"/>
                          <a:ea typeface="Cambria Math" panose="02040503050406030204" pitchFamily="18" charset="0"/>
                        </a:rPr>
                        <m:t>𝜀</m:t>
                      </m:r>
                      <m:r>
                        <a:rPr lang="en-US" sz="1800" b="0" i="1" u="none" strike="noStrike" baseline="0" smtClean="0">
                          <a:latin typeface="Cambria Math" panose="02040503050406030204" pitchFamily="18" charset="0"/>
                          <a:ea typeface="Cambria Math" panose="02040503050406030204" pitchFamily="18" charset="0"/>
                        </a:rPr>
                        <m:t>(1−</m:t>
                      </m:r>
                      <m:sSup>
                        <m:sSupPr>
                          <m:ctrlPr>
                            <a:rPr lang="en-US" sz="1800" b="0" i="1" u="none" strike="noStrike" baseline="0" smtClean="0">
                              <a:latin typeface="Cambria Math" panose="02040503050406030204" pitchFamily="18" charset="0"/>
                              <a:ea typeface="Cambria Math" panose="02040503050406030204" pitchFamily="18" charset="0"/>
                            </a:rPr>
                          </m:ctrlPr>
                        </m:sSupPr>
                        <m:e>
                          <m:r>
                            <a:rPr lang="en-US" sz="1800" b="0" i="1" u="none" strike="noStrike" baseline="0" smtClean="0">
                              <a:latin typeface="Cambria Math" panose="02040503050406030204" pitchFamily="18" charset="0"/>
                              <a:ea typeface="Cambria Math" panose="02040503050406030204" pitchFamily="18" charset="0"/>
                            </a:rPr>
                            <m:t>𝑒</m:t>
                          </m:r>
                        </m:e>
                        <m:sup>
                          <m:r>
                            <a:rPr lang="en-US" sz="1800" b="0" i="1" u="none" strike="noStrike" baseline="0" smtClean="0">
                              <a:latin typeface="Cambria Math" panose="02040503050406030204" pitchFamily="18" charset="0"/>
                              <a:ea typeface="Cambria Math" panose="02040503050406030204" pitchFamily="18" charset="0"/>
                            </a:rPr>
                            <m:t>−</m:t>
                          </m:r>
                          <m:f>
                            <m:fPr>
                              <m:ctrlPr>
                                <a:rPr lang="en-US" sz="1800" b="0" i="1" u="none" strike="noStrike" baseline="0" smtClean="0">
                                  <a:latin typeface="Cambria Math" panose="02040503050406030204" pitchFamily="18" charset="0"/>
                                  <a:ea typeface="Cambria Math" panose="02040503050406030204" pitchFamily="18" charset="0"/>
                                </a:rPr>
                              </m:ctrlPr>
                            </m:fPr>
                            <m:num>
                              <m:r>
                                <a:rPr lang="en-US" sz="1800" b="0" i="1" u="none" strike="noStrike" baseline="0" smtClean="0">
                                  <a:latin typeface="Cambria Math" panose="02040503050406030204" pitchFamily="18" charset="0"/>
                                  <a:ea typeface="Cambria Math" panose="02040503050406030204" pitchFamily="18" charset="0"/>
                                </a:rPr>
                                <m:t>𝑡</m:t>
                              </m:r>
                            </m:num>
                            <m:den>
                              <m:r>
                                <a:rPr lang="en-US" sz="1800" b="0" i="1" u="none" strike="noStrike" baseline="0" smtClean="0">
                                  <a:latin typeface="Cambria Math" panose="02040503050406030204" pitchFamily="18" charset="0"/>
                                  <a:ea typeface="Cambria Math" panose="02040503050406030204" pitchFamily="18" charset="0"/>
                                </a:rPr>
                                <m:t>𝑅𝐶</m:t>
                              </m:r>
                            </m:den>
                          </m:f>
                        </m:sup>
                      </m:sSup>
                      <m:r>
                        <a:rPr lang="en-US" sz="1800" b="0" i="1" u="none" strike="noStrike" baseline="0" smtClean="0">
                          <a:latin typeface="Cambria Math" panose="02040503050406030204" pitchFamily="18" charset="0"/>
                          <a:ea typeface="Cambria Math" panose="02040503050406030204" pitchFamily="18" charset="0"/>
                        </a:rPr>
                        <m:t>)⋯⋯⋯⋯⋯⋯1</m:t>
                      </m:r>
                    </m:oMath>
                  </m:oMathPara>
                </a14:m>
                <a:endParaRPr lang="en-US" sz="1800" b="0" u="none" strike="noStrike" baseline="0" dirty="0">
                  <a:ea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E5C4A495-9234-AEAB-9C39-8AF2A6174329}"/>
                  </a:ext>
                </a:extLst>
              </p:cNvPr>
              <p:cNvSpPr txBox="1">
                <a:spLocks noRot="1" noChangeAspect="1" noMove="1" noResize="1" noEditPoints="1" noAdjustHandles="1" noChangeArrowheads="1" noChangeShapeType="1" noTextEdit="1"/>
              </p:cNvSpPr>
              <p:nvPr/>
            </p:nvSpPr>
            <p:spPr>
              <a:xfrm>
                <a:off x="416169" y="257800"/>
                <a:ext cx="4549125" cy="492251"/>
              </a:xfrm>
              <a:prstGeom prst="rect">
                <a:avLst/>
              </a:prstGeom>
              <a:blipFill>
                <a:blip r:embed="rId6"/>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19B6E981-9225-58ED-F62C-2D5254495CC6}"/>
              </a:ext>
            </a:extLst>
          </p:cNvPr>
          <p:cNvPicPr>
            <a:picLocks noChangeAspect="1"/>
          </p:cNvPicPr>
          <p:nvPr/>
        </p:nvPicPr>
        <p:blipFill>
          <a:blip r:embed="rId7"/>
          <a:stretch>
            <a:fillRect/>
          </a:stretch>
        </p:blipFill>
        <p:spPr>
          <a:xfrm>
            <a:off x="684583" y="4472318"/>
            <a:ext cx="5716217" cy="1972365"/>
          </a:xfrm>
          <a:prstGeom prst="rect">
            <a:avLst/>
          </a:prstGeom>
        </p:spPr>
      </p:pic>
      <p:sp>
        <p:nvSpPr>
          <p:cNvPr id="14" name="TextBox 13">
            <a:extLst>
              <a:ext uri="{FF2B5EF4-FFF2-40B4-BE49-F238E27FC236}">
                <a16:creationId xmlns:a16="http://schemas.microsoft.com/office/drawing/2014/main" id="{18AAEF4D-3D8C-D2C7-8566-A035C0BE129C}"/>
              </a:ext>
            </a:extLst>
          </p:cNvPr>
          <p:cNvSpPr txBox="1"/>
          <p:nvPr/>
        </p:nvSpPr>
        <p:spPr>
          <a:xfrm>
            <a:off x="5213292" y="5562600"/>
            <a:ext cx="530415" cy="369332"/>
          </a:xfrm>
          <a:prstGeom prst="rect">
            <a:avLst/>
          </a:prstGeom>
          <a:solidFill>
            <a:schemeClr val="bg1">
              <a:lumMod val="95000"/>
            </a:schemeClr>
          </a:solidFill>
        </p:spPr>
        <p:txBody>
          <a:bodyPr wrap="square" rtlCol="0">
            <a:spAutoFit/>
          </a:bodyPr>
          <a:lstStyle/>
          <a:p>
            <a:endParaRPr lang="en-US" dirty="0"/>
          </a:p>
        </p:txBody>
      </p:sp>
    </p:spTree>
    <p:extLst>
      <p:ext uri="{BB962C8B-B14F-4D97-AF65-F5344CB8AC3E}">
        <p14:creationId xmlns:p14="http://schemas.microsoft.com/office/powerpoint/2010/main" val="3296851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1C5EA-54AE-6CE6-4AC5-2EF89FD0D40C}"/>
              </a:ext>
            </a:extLst>
          </p:cNvPr>
          <p:cNvSpPr>
            <a:spLocks noGrp="1"/>
          </p:cNvSpPr>
          <p:nvPr>
            <p:ph type="title"/>
          </p:nvPr>
        </p:nvSpPr>
        <p:spPr>
          <a:xfrm>
            <a:off x="457200" y="274638"/>
            <a:ext cx="2895600" cy="457199"/>
          </a:xfrm>
        </p:spPr>
        <p:style>
          <a:lnRef idx="2">
            <a:schemeClr val="accent2">
              <a:shade val="15000"/>
            </a:schemeClr>
          </a:lnRef>
          <a:fillRef idx="1">
            <a:schemeClr val="accent2"/>
          </a:fillRef>
          <a:effectRef idx="0">
            <a:schemeClr val="accent2"/>
          </a:effectRef>
          <a:fontRef idx="minor">
            <a:schemeClr val="lt1"/>
          </a:fontRef>
        </p:style>
        <p:txBody>
          <a:bodyPr>
            <a:normAutofit/>
          </a:bodyPr>
          <a:lstStyle/>
          <a:p>
            <a:pPr algn="l"/>
            <a:r>
              <a:rPr lang="en-US" sz="1800" b="1" dirty="0"/>
              <a:t>Discharging the capacitor</a:t>
            </a:r>
          </a:p>
        </p:txBody>
      </p:sp>
      <p:pic>
        <p:nvPicPr>
          <p:cNvPr id="7" name="Picture 6">
            <a:extLst>
              <a:ext uri="{FF2B5EF4-FFF2-40B4-BE49-F238E27FC236}">
                <a16:creationId xmlns:a16="http://schemas.microsoft.com/office/drawing/2014/main" id="{A7D73E4E-877D-C72E-EFB3-2D82FBA039ED}"/>
              </a:ext>
            </a:extLst>
          </p:cNvPr>
          <p:cNvPicPr>
            <a:picLocks noChangeAspect="1"/>
          </p:cNvPicPr>
          <p:nvPr/>
        </p:nvPicPr>
        <p:blipFill>
          <a:blip r:embed="rId2"/>
          <a:stretch>
            <a:fillRect/>
          </a:stretch>
        </p:blipFill>
        <p:spPr>
          <a:xfrm>
            <a:off x="457199" y="914400"/>
            <a:ext cx="5291801" cy="5334000"/>
          </a:xfrm>
          <a:prstGeom prst="rect">
            <a:avLst/>
          </a:prstGeom>
        </p:spPr>
      </p:pic>
      <p:pic>
        <p:nvPicPr>
          <p:cNvPr id="9" name="Picture 8">
            <a:extLst>
              <a:ext uri="{FF2B5EF4-FFF2-40B4-BE49-F238E27FC236}">
                <a16:creationId xmlns:a16="http://schemas.microsoft.com/office/drawing/2014/main" id="{DBFD70DB-B27C-CC75-D8D2-2412524A60DC}"/>
              </a:ext>
            </a:extLst>
          </p:cNvPr>
          <p:cNvPicPr>
            <a:picLocks noChangeAspect="1"/>
          </p:cNvPicPr>
          <p:nvPr/>
        </p:nvPicPr>
        <p:blipFill>
          <a:blip r:embed="rId3"/>
          <a:stretch>
            <a:fillRect/>
          </a:stretch>
        </p:blipFill>
        <p:spPr>
          <a:xfrm>
            <a:off x="5968612" y="152400"/>
            <a:ext cx="2806894" cy="4399520"/>
          </a:xfrm>
          <a:prstGeom prst="rect">
            <a:avLst/>
          </a:prstGeom>
        </p:spPr>
      </p:pic>
    </p:spTree>
    <p:extLst>
      <p:ext uri="{BB962C8B-B14F-4D97-AF65-F5344CB8AC3E}">
        <p14:creationId xmlns:p14="http://schemas.microsoft.com/office/powerpoint/2010/main" val="440541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39397C-8744-BB6F-6B36-5F0812B08381}"/>
              </a:ext>
            </a:extLst>
          </p:cNvPr>
          <p:cNvSpPr>
            <a:spLocks noGrp="1"/>
          </p:cNvSpPr>
          <p:nvPr>
            <p:ph type="title"/>
          </p:nvPr>
        </p:nvSpPr>
        <p:spPr>
          <a:xfrm>
            <a:off x="566321" y="304800"/>
            <a:ext cx="3027251" cy="2387600"/>
          </a:xfrm>
        </p:spPr>
        <p:txBody>
          <a:bodyPr vert="horz" lIns="91440" tIns="45720" rIns="91440" bIns="45720" rtlCol="0" anchor="t">
            <a:normAutofit/>
          </a:bodyPr>
          <a:lstStyle/>
          <a:p>
            <a:pPr algn="l">
              <a:lnSpc>
                <a:spcPct val="90000"/>
              </a:lnSpc>
            </a:pPr>
            <a:r>
              <a:rPr lang="en-US" sz="4700" kern="1200" dirty="0">
                <a:solidFill>
                  <a:schemeClr val="tx1"/>
                </a:solidFill>
                <a:latin typeface="+mj-lt"/>
                <a:ea typeface="+mj-ea"/>
                <a:cs typeface="+mj-cs"/>
              </a:rPr>
              <a:t>Discharging the capacitor</a:t>
            </a:r>
          </a:p>
        </p:txBody>
      </p:sp>
      <p:grpSp>
        <p:nvGrpSpPr>
          <p:cNvPr id="17" name="Group 1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2984992"/>
            <a:ext cx="548639" cy="673460"/>
            <a:chOff x="3940602" y="308034"/>
            <a:chExt cx="2116791" cy="3428999"/>
          </a:xfrm>
          <a:solidFill>
            <a:schemeClr val="accent4"/>
          </a:solidFill>
        </p:grpSpPr>
        <p:sp>
          <p:nvSpPr>
            <p:cNvPr id="18" name="Rectangle 1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3252" y="0"/>
            <a:ext cx="112074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391886"/>
            <a:ext cx="4507025"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31E8AA1-B8AA-C519-9AFD-E5FBE76E5BEF}"/>
              </a:ext>
            </a:extLst>
          </p:cNvPr>
          <p:cNvPicPr>
            <a:picLocks noChangeAspect="1"/>
          </p:cNvPicPr>
          <p:nvPr/>
        </p:nvPicPr>
        <p:blipFill>
          <a:blip r:embed="rId2"/>
          <a:stretch>
            <a:fillRect/>
          </a:stretch>
        </p:blipFill>
        <p:spPr>
          <a:xfrm>
            <a:off x="4824244" y="666728"/>
            <a:ext cx="3387250" cy="5465791"/>
          </a:xfrm>
          <a:prstGeom prst="rect">
            <a:avLst/>
          </a:prstGeom>
        </p:spPr>
      </p:pic>
    </p:spTree>
    <p:extLst>
      <p:ext uri="{BB962C8B-B14F-4D97-AF65-F5344CB8AC3E}">
        <p14:creationId xmlns:p14="http://schemas.microsoft.com/office/powerpoint/2010/main" val="2040940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B202064-3C54-DDAA-993E-A910ADE047CB}"/>
              </a:ext>
            </a:extLst>
          </p:cNvPr>
          <p:cNvSpPr txBox="1"/>
          <p:nvPr/>
        </p:nvSpPr>
        <p:spPr>
          <a:xfrm>
            <a:off x="709128" y="1066800"/>
            <a:ext cx="3986392" cy="4419600"/>
          </a:xfrm>
          <a:prstGeom prst="rect">
            <a:avLst/>
          </a:prstGeom>
        </p:spPr>
        <p:txBody>
          <a:bodyPr vert="horz" lIns="91440" tIns="45720" rIns="91440" bIns="45720" rtlCol="0" anchor="t">
            <a:noAutofit/>
          </a:bodyPr>
          <a:lstStyle/>
          <a:p>
            <a:pPr>
              <a:lnSpc>
                <a:spcPct val="90000"/>
              </a:lnSpc>
              <a:spcAft>
                <a:spcPts val="600"/>
              </a:spcAft>
            </a:pPr>
            <a:endParaRPr lang="en-US" b="1" i="0" u="none" strike="noStrike" baseline="0" dirty="0"/>
          </a:p>
          <a:p>
            <a:pPr>
              <a:lnSpc>
                <a:spcPct val="90000"/>
              </a:lnSpc>
              <a:spcAft>
                <a:spcPts val="600"/>
              </a:spcAft>
            </a:pPr>
            <a:r>
              <a:rPr lang="en-US" b="0" i="0" u="none" strike="noStrike" baseline="0" dirty="0"/>
              <a:t>This x-ray image shows a pacemaker implanted in a patient with a malfunctioning sinoatrial node, the part of the heart that generates the electrical signal to trigger heartbeats.</a:t>
            </a:r>
          </a:p>
          <a:p>
            <a:pPr>
              <a:lnSpc>
                <a:spcPct val="90000"/>
              </a:lnSpc>
              <a:spcAft>
                <a:spcPts val="600"/>
              </a:spcAft>
            </a:pPr>
            <a:r>
              <a:rPr lang="en-US" b="0" i="0" u="none" strike="noStrike" baseline="0" dirty="0"/>
              <a:t>The pacemaker circuit contains a battery, a capacitor, and a computer-controlled switch. To maintain regular beating, once per second the switch discharges the capacitor and sends an electrical pulse along the lead to the heart. The switch then flips to allow the capacitor to recharge for the next pulse.</a:t>
            </a:r>
            <a:endParaRPr lang="en-US" dirty="0"/>
          </a:p>
        </p:txBody>
      </p:sp>
      <p:sp>
        <p:nvSpPr>
          <p:cNvPr id="19" name="Rectangle 18">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n x-ray of a lung&#10;&#10;Description automatically generated">
            <a:extLst>
              <a:ext uri="{FF2B5EF4-FFF2-40B4-BE49-F238E27FC236}">
                <a16:creationId xmlns:a16="http://schemas.microsoft.com/office/drawing/2014/main" id="{208F7948-0D62-3FA7-8C97-3CBCA4F51366}"/>
              </a:ext>
            </a:extLst>
          </p:cNvPr>
          <p:cNvPicPr>
            <a:picLocks noChangeAspect="1"/>
          </p:cNvPicPr>
          <p:nvPr/>
        </p:nvPicPr>
        <p:blipFill rotWithShape="1">
          <a:blip r:embed="rId2"/>
          <a:srcRect l="2644" r="22639"/>
          <a:stretch/>
        </p:blipFill>
        <p:spPr>
          <a:xfrm>
            <a:off x="5306975" y="1556477"/>
            <a:ext cx="3127897" cy="3776938"/>
          </a:xfrm>
          <a:prstGeom prst="rect">
            <a:avLst/>
          </a:prstGeom>
        </p:spPr>
      </p:pic>
      <p:sp>
        <p:nvSpPr>
          <p:cNvPr id="3" name="TextBox 2">
            <a:extLst>
              <a:ext uri="{FF2B5EF4-FFF2-40B4-BE49-F238E27FC236}">
                <a16:creationId xmlns:a16="http://schemas.microsoft.com/office/drawing/2014/main" id="{1AF53DD7-8876-462B-15FD-28D8467E22E3}"/>
              </a:ext>
            </a:extLst>
          </p:cNvPr>
          <p:cNvSpPr txBox="1"/>
          <p:nvPr/>
        </p:nvSpPr>
        <p:spPr>
          <a:xfrm>
            <a:off x="340442" y="321034"/>
            <a:ext cx="5360022" cy="424732"/>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pPr>
              <a:lnSpc>
                <a:spcPct val="90000"/>
              </a:lnSpc>
              <a:spcAft>
                <a:spcPts val="600"/>
              </a:spcAft>
            </a:pPr>
            <a:r>
              <a:rPr lang="en-US" sz="2400" b="1" i="0" u="none" strike="noStrike" baseline="0" dirty="0"/>
              <a:t>Application:  Pacemakers and Capacitors</a:t>
            </a:r>
          </a:p>
        </p:txBody>
      </p:sp>
    </p:spTree>
    <p:extLst>
      <p:ext uri="{BB962C8B-B14F-4D97-AF65-F5344CB8AC3E}">
        <p14:creationId xmlns:p14="http://schemas.microsoft.com/office/powerpoint/2010/main" val="1804336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8CE511-5655-E58B-E5EE-C8E90EBC6E5D}"/>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nSpc>
                <a:spcPct val="90000"/>
              </a:lnSpc>
            </a:pPr>
            <a:r>
              <a:rPr lang="en-US" sz="2800" kern="1200">
                <a:solidFill>
                  <a:schemeClr val="bg1"/>
                </a:solidFill>
                <a:latin typeface="+mj-lt"/>
                <a:ea typeface="+mj-ea"/>
                <a:cs typeface="+mj-cs"/>
              </a:rPr>
              <a:t>Let’s try !!!</a:t>
            </a:r>
          </a:p>
        </p:txBody>
      </p:sp>
      <p:pic>
        <p:nvPicPr>
          <p:cNvPr id="5" name="Picture 4">
            <a:extLst>
              <a:ext uri="{FF2B5EF4-FFF2-40B4-BE49-F238E27FC236}">
                <a16:creationId xmlns:a16="http://schemas.microsoft.com/office/drawing/2014/main" id="{894A07F6-9376-1753-873B-D94BC1E074A1}"/>
              </a:ext>
            </a:extLst>
          </p:cNvPr>
          <p:cNvPicPr>
            <a:picLocks noChangeAspect="1"/>
          </p:cNvPicPr>
          <p:nvPr/>
        </p:nvPicPr>
        <p:blipFill>
          <a:blip r:embed="rId2"/>
          <a:stretch>
            <a:fillRect/>
          </a:stretch>
        </p:blipFill>
        <p:spPr>
          <a:xfrm>
            <a:off x="1211729" y="1675227"/>
            <a:ext cx="6720540" cy="4394199"/>
          </a:xfrm>
          <a:prstGeom prst="rect">
            <a:avLst/>
          </a:prstGeom>
        </p:spPr>
      </p:pic>
    </p:spTree>
    <p:extLst>
      <p:ext uri="{BB962C8B-B14F-4D97-AF65-F5344CB8AC3E}">
        <p14:creationId xmlns:p14="http://schemas.microsoft.com/office/powerpoint/2010/main" val="3843185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extBox 3"/>
          <p:cNvSpPr txBox="1"/>
          <p:nvPr/>
        </p:nvSpPr>
        <p:spPr>
          <a:xfrm>
            <a:off x="495030" y="2767106"/>
            <a:ext cx="2160621" cy="3071906"/>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500" b="1" kern="1200">
                <a:ln w="18000">
                  <a:solidFill>
                    <a:schemeClr val="accent2">
                      <a:satMod val="140000"/>
                    </a:schemeClr>
                  </a:solidFill>
                  <a:prstDash val="solid"/>
                  <a:miter lim="800000"/>
                </a:ln>
                <a:solidFill>
                  <a:srgbClr val="FFFFFF"/>
                </a:solidFill>
                <a:effectLst>
                  <a:outerShdw blurRad="25500" dist="23000" dir="7020000" algn="tl">
                    <a:srgbClr val="000000">
                      <a:alpha val="50000"/>
                    </a:srgbClr>
                  </a:outerShdw>
                </a:effectLst>
                <a:latin typeface="+mj-lt"/>
                <a:ea typeface="+mj-ea"/>
                <a:cs typeface="+mj-cs"/>
              </a:rPr>
              <a:t>Thank You</a:t>
            </a:r>
          </a:p>
        </p:txBody>
      </p:sp>
      <p:pic>
        <p:nvPicPr>
          <p:cNvPr id="8" name="Graphic 7" descr="Smiling Face with No Fill">
            <a:extLst>
              <a:ext uri="{FF2B5EF4-FFF2-40B4-BE49-F238E27FC236}">
                <a16:creationId xmlns:a16="http://schemas.microsoft.com/office/drawing/2014/main" id="{7FA08958-6E04-C0F9-9F67-7AF6452CEB5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76821" y="719344"/>
            <a:ext cx="5419311" cy="5419311"/>
          </a:xfrm>
          <a:prstGeom prst="rect">
            <a:avLst/>
          </a:prstGeom>
        </p:spPr>
      </p:pic>
    </p:spTree>
    <p:extLst>
      <p:ext uri="{BB962C8B-B14F-4D97-AF65-F5344CB8AC3E}">
        <p14:creationId xmlns:p14="http://schemas.microsoft.com/office/powerpoint/2010/main" val="4273058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52E87AD2C014438D486E334AC05D66" ma:contentTypeVersion="9" ma:contentTypeDescription="Create a new document." ma:contentTypeScope="" ma:versionID="63b333744b94df92b351cfd819fbd6d5">
  <xsd:schema xmlns:xsd="http://www.w3.org/2001/XMLSchema" xmlns:xs="http://www.w3.org/2001/XMLSchema" xmlns:p="http://schemas.microsoft.com/office/2006/metadata/properties" xmlns:ns2="3e5721d0-46bd-42ad-9b8e-b7314e8e47a4" xmlns:ns3="30c5d3db-763e-47de-8b3c-434be35ed075" targetNamespace="http://schemas.microsoft.com/office/2006/metadata/properties" ma:root="true" ma:fieldsID="da3bae4c4734541a64d0e38199b407a6" ns2:_="" ns3:_="">
    <xsd:import namespace="3e5721d0-46bd-42ad-9b8e-b7314e8e47a4"/>
    <xsd:import namespace="30c5d3db-763e-47de-8b3c-434be35ed07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5721d0-46bd-42ad-9b8e-b7314e8e47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0c5d3db-763e-47de-8b3c-434be35ed07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AEBDF02-A06A-4B1D-B765-EC27DA6E1DE6}"/>
</file>

<file path=customXml/itemProps2.xml><?xml version="1.0" encoding="utf-8"?>
<ds:datastoreItem xmlns:ds="http://schemas.openxmlformats.org/officeDocument/2006/customXml" ds:itemID="{2818ADDA-2CD3-4E89-AE00-76AF62EBF494}"/>
</file>

<file path=docProps/app.xml><?xml version="1.0" encoding="utf-8"?>
<Properties xmlns="http://schemas.openxmlformats.org/officeDocument/2006/extended-properties" xmlns:vt="http://schemas.openxmlformats.org/officeDocument/2006/docPropsVTypes">
  <TotalTime>617</TotalTime>
  <Words>1102</Words>
  <Application>Microsoft Office PowerPoint</Application>
  <PresentationFormat>On-screen Show (4:3)</PresentationFormat>
  <Paragraphs>72</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Cambria Math</vt:lpstr>
      <vt:lpstr>NewCenturySchlbk-Italic</vt:lpstr>
      <vt:lpstr>Optr2k</vt:lpstr>
      <vt:lpstr>Times-Italic</vt:lpstr>
      <vt:lpstr>Times-Roman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RC circuit</vt:lpstr>
      <vt:lpstr>PowerPoint Presentation</vt:lpstr>
      <vt:lpstr>Discharging the capacitor</vt:lpstr>
      <vt:lpstr>Discharging the capacitor</vt:lpstr>
      <vt:lpstr>PowerPoint Presentation</vt:lpstr>
      <vt:lpstr>Let’s try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Dr. Farzana Sabeth</cp:lastModifiedBy>
  <cp:revision>38</cp:revision>
  <dcterms:created xsi:type="dcterms:W3CDTF">2020-07-02T07:19:23Z</dcterms:created>
  <dcterms:modified xsi:type="dcterms:W3CDTF">2023-10-31T15:14:22Z</dcterms:modified>
</cp:coreProperties>
</file>