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revisionInfo.xml" ContentType="application/vnd.ms-powerpoint.revisioninfo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8" r:id="rId4"/>
    <p:sldId id="279" r:id="rId5"/>
    <p:sldId id="266" r:id="rId6"/>
    <p:sldId id="258" r:id="rId7"/>
    <p:sldId id="282" r:id="rId8"/>
    <p:sldId id="269" r:id="rId9"/>
    <p:sldId id="281" r:id="rId10"/>
    <p:sldId id="283" r:id="rId11"/>
    <p:sldId id="270" r:id="rId12"/>
    <p:sldId id="284" r:id="rId13"/>
    <p:sldId id="285" r:id="rId14"/>
    <p:sldId id="271" r:id="rId15"/>
    <p:sldId id="286" r:id="rId16"/>
    <p:sldId id="287" r:id="rId17"/>
    <p:sldId id="288" r:id="rId18"/>
    <p:sldId id="289" r:id="rId19"/>
    <p:sldId id="276" r:id="rId20"/>
    <p:sldId id="274" r:id="rId21"/>
    <p:sldId id="277" r:id="rId22"/>
    <p:sldId id="275" r:id="rId23"/>
    <p:sldId id="280" r:id="rId24"/>
    <p:sldId id="264" r:id="rId25"/>
    <p:sldId id="26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840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6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047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4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300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5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0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8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149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3358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41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97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21757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81374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1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8187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275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063676" cy="1088136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Topology and Switching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b="1" dirty="0"/>
              <a:t>COE 3201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56282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Engineering</a:t>
            </a:r>
          </a:p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56965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</a:rPr>
                        <a:t>Lecture 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</a:rPr>
                        <a:t>11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b="1" dirty="0"/>
              <a:t>Data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Network topologies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Switching Mechanism for Data Transfer 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Circuit Switching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Message Switching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Packet Switching 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Virtual Circuit Switching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Datagram Switching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4CAA-8D24-14C5-CCC9-63E17F80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Network topologies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D4EC8E-DEAC-7CE7-4154-C7AA838AE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226" y="4236388"/>
            <a:ext cx="5266922" cy="2267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99D07F-24E0-8842-4558-DFF874404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03" y="2099982"/>
            <a:ext cx="7106947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94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AF1B-5849-B8B2-FF95-4ACBC8887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Network topologies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B1CF40-FDF9-6738-EFCC-FC4179512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4" y="2531261"/>
            <a:ext cx="4369570" cy="2602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BDAF74-E157-EF11-9FE6-831EFC611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06" y="2865018"/>
            <a:ext cx="3700969" cy="169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20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b="1" kern="0" dirty="0">
                <a:latin typeface="Arial"/>
              </a:rPr>
              <a:t>Switching Mechanism for Data Transfer </a:t>
            </a:r>
            <a:endParaRPr lang="en-US" dirty="0">
              <a:latin typeface="Arial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  <a:buSzTx/>
            </a:pPr>
            <a:r>
              <a:rPr lang="en-US" altLang="en-US" b="1" dirty="0"/>
              <a:t>Taxonomy of Switched Network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41" y="2202873"/>
            <a:ext cx="7991475" cy="1801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5" y="3886200"/>
            <a:ext cx="63817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dirty="0"/>
              <a:t>Circuit Switching</a:t>
            </a: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D5F99-0193-92AB-8707-ECBC63BFF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1289943"/>
            <a:ext cx="7839075" cy="513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DB7EC-D1F3-FB3C-A604-2A777808B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5D90F0F-4475-BC78-6A4D-AB2519C9CC89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dirty="0"/>
              <a:t>Circuit Switching</a:t>
            </a:r>
            <a:endParaRPr lang="en-US" sz="26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AAAB4-AAC2-A84C-EF0A-83C19CE8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4" y="1439123"/>
            <a:ext cx="7343775" cy="496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8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b="1" dirty="0"/>
              <a:t>Circuit Switching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952800" y="1503001"/>
            <a:ext cx="8171999" cy="5013325"/>
            <a:chOff x="192" y="866"/>
            <a:chExt cx="5687" cy="3158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688" y="1080"/>
              <a:ext cx="0" cy="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688" y="1117"/>
              <a:ext cx="0" cy="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73" y="1210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130" y="1306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73" y="1258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130" y="1355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673" y="1948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988" y="2221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673" y="2405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988" y="2686"/>
              <a:ext cx="0" cy="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16" name="AutoShape 15"/>
            <p:cNvSpPr>
              <a:spLocks noChangeArrowheads="1"/>
            </p:cNvSpPr>
            <p:nvPr/>
          </p:nvSpPr>
          <p:spPr bwMode="auto">
            <a:xfrm rot="5400000">
              <a:off x="2335" y="1505"/>
              <a:ext cx="1115" cy="3265"/>
            </a:xfrm>
            <a:prstGeom prst="parallelogram">
              <a:avLst>
                <a:gd name="adj" fmla="val 25000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1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zh-TW" sz="2400" i="1">
                  <a:solidFill>
                    <a:schemeClr val="bg2"/>
                  </a:solidFill>
                  <a:ea typeface="新細明體" pitchFamily="18" charset="-120"/>
                </a:rPr>
                <a:t>DATA</a:t>
              </a: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352" y="1872"/>
              <a:ext cx="2" cy="21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lIns="92121" tIns="46062" rIns="92121" bIns="46062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265" y="1764"/>
              <a:ext cx="0" cy="2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lIns="92121" tIns="46062" rIns="92121" bIns="46062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4530" y="1764"/>
              <a:ext cx="0" cy="2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lIns="92121" tIns="46062" rIns="92121" bIns="46062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0" name="AutoShape 19"/>
            <p:cNvSpPr>
              <a:spLocks noChangeArrowheads="1"/>
            </p:cNvSpPr>
            <p:nvPr/>
          </p:nvSpPr>
          <p:spPr bwMode="auto">
            <a:xfrm rot="16200000" flipH="1">
              <a:off x="2782" y="2187"/>
              <a:ext cx="232" cy="3265"/>
            </a:xfrm>
            <a:prstGeom prst="parallelogram">
              <a:avLst>
                <a:gd name="adj" fmla="val 80898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21" name="AutoShape 20"/>
            <p:cNvSpPr>
              <a:spLocks noChangeArrowheads="1"/>
            </p:cNvSpPr>
            <p:nvPr/>
          </p:nvSpPr>
          <p:spPr bwMode="auto">
            <a:xfrm rot="16200000" flipH="1">
              <a:off x="2802" y="863"/>
              <a:ext cx="192" cy="3265"/>
            </a:xfrm>
            <a:prstGeom prst="parallelogram">
              <a:avLst>
                <a:gd name="adj" fmla="val 79579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22" name="AutoShape 21"/>
            <p:cNvSpPr>
              <a:spLocks noChangeArrowheads="1"/>
            </p:cNvSpPr>
            <p:nvPr/>
          </p:nvSpPr>
          <p:spPr bwMode="auto">
            <a:xfrm rot="5400000">
              <a:off x="2840" y="1663"/>
              <a:ext cx="115" cy="1089"/>
            </a:xfrm>
            <a:prstGeom prst="parallelogram">
              <a:avLst>
                <a:gd name="adj" fmla="val 6388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23" name="AutoShape 22"/>
            <p:cNvSpPr>
              <a:spLocks noChangeArrowheads="1"/>
            </p:cNvSpPr>
            <p:nvPr/>
          </p:nvSpPr>
          <p:spPr bwMode="auto">
            <a:xfrm rot="5400000">
              <a:off x="1751" y="1548"/>
              <a:ext cx="116" cy="1088"/>
            </a:xfrm>
            <a:prstGeom prst="parallelogram">
              <a:avLst>
                <a:gd name="adj" fmla="val 6388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graphicFrame>
          <p:nvGraphicFramePr>
            <p:cNvPr id="24" name="Object 23"/>
            <p:cNvGraphicFramePr>
              <a:graphicFrameLocks noChangeAspect="1"/>
            </p:cNvGraphicFramePr>
            <p:nvPr/>
          </p:nvGraphicFramePr>
          <p:xfrm>
            <a:off x="192" y="866"/>
            <a:ext cx="5192" cy="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8280400" imgH="1153160" progId="Visio.Drawing.4">
                    <p:embed/>
                  </p:oleObj>
                </mc:Choice>
                <mc:Fallback>
                  <p:oleObj name="VISIO" r:id="rId3" imgW="8280400" imgH="1153160" progId="Visio.Drawing.4">
                    <p:embed/>
                    <p:pic>
                      <p:nvPicPr>
                        <p:cNvPr id="1640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866"/>
                          <a:ext cx="5192" cy="7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" name="Group 24"/>
            <p:cNvGrpSpPr>
              <a:grpSpLocks/>
            </p:cNvGrpSpPr>
            <p:nvPr/>
          </p:nvGrpSpPr>
          <p:grpSpPr bwMode="auto">
            <a:xfrm>
              <a:off x="1099" y="2020"/>
              <a:ext cx="48" cy="1923"/>
              <a:chOff x="1152" y="2016"/>
              <a:chExt cx="48" cy="1920"/>
            </a:xfrm>
          </p:grpSpPr>
          <p:sp>
            <p:nvSpPr>
              <p:cNvPr id="44" name="AutoShape 25"/>
              <p:cNvSpPr>
                <a:spLocks/>
              </p:cNvSpPr>
              <p:nvPr/>
            </p:nvSpPr>
            <p:spPr bwMode="auto">
              <a:xfrm>
                <a:off x="1152" y="2016"/>
                <a:ext cx="48" cy="528"/>
              </a:xfrm>
              <a:prstGeom prst="leftBrace">
                <a:avLst>
                  <a:gd name="adj1" fmla="val 91667"/>
                  <a:gd name="adj2" fmla="val 36366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845" tIns="45924" rIns="91845" bIns="229630" anchor="ctr"/>
              <a:lstStyle>
                <a:lvl1pPr defTabSz="915988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59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5988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5988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5988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新細明體" pitchFamily="18" charset="-120"/>
                  </a:rPr>
                  <a:t>Set-up phase   </a:t>
                </a:r>
              </a:p>
            </p:txBody>
          </p:sp>
          <p:sp>
            <p:nvSpPr>
              <p:cNvPr id="45" name="AutoShape 26"/>
              <p:cNvSpPr>
                <a:spLocks/>
              </p:cNvSpPr>
              <p:nvPr/>
            </p:nvSpPr>
            <p:spPr bwMode="auto">
              <a:xfrm>
                <a:off x="1152" y="2592"/>
                <a:ext cx="48" cy="768"/>
              </a:xfrm>
              <a:prstGeom prst="leftBrace">
                <a:avLst>
                  <a:gd name="adj1" fmla="val 133333"/>
                  <a:gd name="adj2" fmla="val 36366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845" tIns="45924" rIns="91845" bIns="229630" anchor="ctr"/>
              <a:lstStyle>
                <a:lvl1pPr defTabSz="915988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59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5988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5988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5988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lang="en-US" altLang="en-US" sz="1600" dirty="0">
                    <a:solidFill>
                      <a:schemeClr val="bg2"/>
                    </a:solidFill>
                    <a:latin typeface="新細明體" pitchFamily="18" charset="-120"/>
                  </a:rPr>
                  <a:t>  Data                  </a:t>
                </a:r>
                <a:br>
                  <a:rPr lang="en-US" altLang="en-US" sz="1600" dirty="0">
                    <a:solidFill>
                      <a:schemeClr val="bg2"/>
                    </a:solidFill>
                    <a:latin typeface="新細明體" pitchFamily="18" charset="-120"/>
                  </a:rPr>
                </a:br>
                <a:r>
                  <a:rPr lang="en-US" altLang="en-US" sz="1600" dirty="0">
                    <a:solidFill>
                      <a:schemeClr val="bg2"/>
                    </a:solidFill>
                    <a:latin typeface="新細明體" pitchFamily="18" charset="-120"/>
                  </a:rPr>
                  <a:t> Transfer phase     </a:t>
                </a:r>
              </a:p>
            </p:txBody>
          </p:sp>
          <p:sp>
            <p:nvSpPr>
              <p:cNvPr id="46" name="AutoShape 27"/>
              <p:cNvSpPr>
                <a:spLocks/>
              </p:cNvSpPr>
              <p:nvPr/>
            </p:nvSpPr>
            <p:spPr bwMode="auto">
              <a:xfrm>
                <a:off x="1152" y="3456"/>
                <a:ext cx="48" cy="480"/>
              </a:xfrm>
              <a:prstGeom prst="leftBrace">
                <a:avLst>
                  <a:gd name="adj1" fmla="val 83333"/>
                  <a:gd name="adj2" fmla="val 36366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1845" tIns="45924" rIns="91845" bIns="229630" anchor="ctr"/>
              <a:lstStyle>
                <a:lvl1pPr defTabSz="915988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9159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915988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915988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915988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9159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r">
                  <a:spcBef>
                    <a:spcPct val="50000"/>
                  </a:spcBef>
                  <a:spcAft>
                    <a:spcPts val="1000"/>
                  </a:spcAft>
                  <a:buClrTx/>
                  <a:buSzTx/>
                  <a:buFontTx/>
                  <a:buNone/>
                </a:pPr>
                <a:r>
                  <a:rPr lang="en-US" altLang="en-US" sz="1600">
                    <a:solidFill>
                      <a:schemeClr val="bg2"/>
                    </a:solidFill>
                    <a:latin typeface="新細明體" pitchFamily="18" charset="-120"/>
                  </a:rPr>
                  <a:t>Teardown phase      </a:t>
                </a:r>
              </a:p>
            </p:txBody>
          </p:sp>
        </p:grpSp>
        <p:sp>
          <p:nvSpPr>
            <p:cNvPr id="26" name="Line 28"/>
            <p:cNvSpPr>
              <a:spLocks noChangeShapeType="1"/>
            </p:cNvSpPr>
            <p:nvPr/>
          </p:nvSpPr>
          <p:spPr bwMode="auto">
            <a:xfrm>
              <a:off x="1279" y="2026"/>
              <a:ext cx="33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274731" tIns="45786" rIns="91570" bIns="228943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7" name="Line 29"/>
            <p:cNvSpPr>
              <a:spLocks noChangeShapeType="1"/>
            </p:cNvSpPr>
            <p:nvPr/>
          </p:nvSpPr>
          <p:spPr bwMode="auto">
            <a:xfrm>
              <a:off x="2345" y="2112"/>
              <a:ext cx="23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274731" tIns="45786" rIns="91570" bIns="228943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28" name="AutoShape 30"/>
            <p:cNvSpPr>
              <a:spLocks/>
            </p:cNvSpPr>
            <p:nvPr/>
          </p:nvSpPr>
          <p:spPr bwMode="auto">
            <a:xfrm>
              <a:off x="4656" y="2020"/>
              <a:ext cx="48" cy="96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274731" tIns="45786" rIns="91570" bIns="228943" anchor="ctr"/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chemeClr val="bg2"/>
                </a:solidFill>
                <a:latin typeface="新細明體" pitchFamily="18" charset="-120"/>
              </a:endParaRP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528" y="1010"/>
              <a:ext cx="492" cy="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70" tIns="45786" rIns="91570" bIns="228943" anchorCtr="1">
              <a:spAutoFit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en-US" sz="3200" b="1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4759" y="1010"/>
              <a:ext cx="473" cy="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70" tIns="45786" rIns="91570" bIns="228943" anchorCtr="1">
              <a:spAutoFit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en-US" sz="3200" b="1">
                  <a:solidFill>
                    <a:schemeClr val="bg2"/>
                  </a:solidFill>
                </a:rPr>
                <a:t>B</a:t>
              </a:r>
            </a:p>
          </p:txBody>
        </p:sp>
        <p:sp>
          <p:nvSpPr>
            <p:cNvPr id="31" name="Text Box 33"/>
            <p:cNvSpPr txBox="1">
              <a:spLocks noChangeArrowheads="1"/>
            </p:cNvSpPr>
            <p:nvPr/>
          </p:nvSpPr>
          <p:spPr bwMode="auto">
            <a:xfrm>
              <a:off x="2064" y="1106"/>
              <a:ext cx="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70" tIns="45786" rIns="91570" bIns="228943" anchorCtr="1">
              <a:spAutoFit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Node 1</a:t>
              </a:r>
            </a:p>
          </p:txBody>
        </p:sp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3072" y="1106"/>
              <a:ext cx="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570" tIns="45786" rIns="91570" bIns="228943" anchorCtr="1">
              <a:spAutoFit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Node 2</a:t>
              </a: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4728" y="1824"/>
              <a:ext cx="1151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propagation delay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between </a:t>
              </a:r>
              <a:r>
                <a:rPr lang="en-US" altLang="en-US" sz="1600" b="1">
                  <a:solidFill>
                    <a:schemeClr val="bg2"/>
                  </a:solidFill>
                </a:rPr>
                <a:t>A</a:t>
              </a:r>
              <a:r>
                <a:rPr lang="en-US" altLang="en-US" sz="1400">
                  <a:solidFill>
                    <a:schemeClr val="bg2"/>
                  </a:solidFill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and Node 1</a:t>
              </a:r>
            </a:p>
          </p:txBody>
        </p:sp>
        <p:sp>
          <p:nvSpPr>
            <p:cNvPr id="34" name="AutoShape 36"/>
            <p:cNvSpPr>
              <a:spLocks noChangeArrowheads="1"/>
            </p:cNvSpPr>
            <p:nvPr/>
          </p:nvSpPr>
          <p:spPr bwMode="auto">
            <a:xfrm rot="5400000">
              <a:off x="3928" y="1786"/>
              <a:ext cx="116" cy="1088"/>
            </a:xfrm>
            <a:prstGeom prst="parallelogram">
              <a:avLst>
                <a:gd name="adj" fmla="val 63884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lIns="92121" tIns="46062" rIns="92121" bIns="46062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chemeClr val="bg2"/>
                </a:solidFill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4520" y="2410"/>
              <a:ext cx="138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274731" tIns="45786" rIns="91570" bIns="228943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>
              <a:off x="1267" y="2553"/>
              <a:ext cx="33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274731" tIns="45786" rIns="91570" bIns="228943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37" name="AutoShape 39"/>
            <p:cNvSpPr>
              <a:spLocks/>
            </p:cNvSpPr>
            <p:nvPr/>
          </p:nvSpPr>
          <p:spPr bwMode="auto">
            <a:xfrm>
              <a:off x="4674" y="2404"/>
              <a:ext cx="48" cy="137"/>
            </a:xfrm>
            <a:prstGeom prst="rightBrace">
              <a:avLst>
                <a:gd name="adj1" fmla="val 2378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274731" tIns="45786" rIns="91570" bIns="228943" anchor="ctr"/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endParaRPr lang="en-US" altLang="en-US" sz="1200" i="1">
                <a:solidFill>
                  <a:schemeClr val="bg2"/>
                </a:solidFill>
              </a:endParaRPr>
            </a:p>
          </p:txBody>
        </p:sp>
        <p:sp>
          <p:nvSpPr>
            <p:cNvPr id="38" name="Text Box 40"/>
            <p:cNvSpPr txBox="1">
              <a:spLocks noChangeArrowheads="1"/>
            </p:cNvSpPr>
            <p:nvPr/>
          </p:nvSpPr>
          <p:spPr bwMode="auto">
            <a:xfrm>
              <a:off x="4704" y="2278"/>
              <a:ext cx="1151" cy="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propagation delay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between </a:t>
              </a:r>
              <a:r>
                <a:rPr lang="en-US" altLang="en-US" sz="1600" b="1">
                  <a:solidFill>
                    <a:schemeClr val="bg2"/>
                  </a:solidFill>
                </a:rPr>
                <a:t>B</a:t>
              </a:r>
              <a:r>
                <a:rPr lang="en-US" altLang="en-US" sz="1400">
                  <a:solidFill>
                    <a:schemeClr val="bg2"/>
                  </a:solidFill>
                </a:rPr>
                <a:t> 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and </a:t>
              </a:r>
              <a:r>
                <a:rPr lang="en-US" altLang="en-US" sz="1800" b="1">
                  <a:solidFill>
                    <a:schemeClr val="bg2"/>
                  </a:solidFill>
                </a:rPr>
                <a:t>A</a:t>
              </a: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 flipV="1">
              <a:off x="2352" y="1728"/>
              <a:ext cx="38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40" name="Line 42"/>
            <p:cNvSpPr>
              <a:spLocks noChangeShapeType="1"/>
            </p:cNvSpPr>
            <p:nvPr/>
          </p:nvSpPr>
          <p:spPr bwMode="auto">
            <a:xfrm flipV="1">
              <a:off x="2352" y="1776"/>
              <a:ext cx="38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41" name="AutoShape 43"/>
            <p:cNvSpPr>
              <a:spLocks/>
            </p:cNvSpPr>
            <p:nvPr/>
          </p:nvSpPr>
          <p:spPr bwMode="auto">
            <a:xfrm>
              <a:off x="2736" y="1728"/>
              <a:ext cx="47" cy="72"/>
            </a:xfrm>
            <a:prstGeom prst="rightBrace">
              <a:avLst>
                <a:gd name="adj1" fmla="val 12766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274731" tIns="45786" rIns="91570" bIns="228943" anchor="ctr"/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endParaRPr lang="en-US" altLang="en-US" sz="1400">
                <a:solidFill>
                  <a:schemeClr val="bg2"/>
                </a:solidFill>
                <a:latin typeface="新細明體" pitchFamily="18" charset="-120"/>
              </a:endParaRPr>
            </a:p>
          </p:txBody>
        </p:sp>
        <p:sp>
          <p:nvSpPr>
            <p:cNvPr id="42" name="Text Box 44"/>
            <p:cNvSpPr txBox="1">
              <a:spLocks noChangeArrowheads="1"/>
            </p:cNvSpPr>
            <p:nvPr/>
          </p:nvSpPr>
          <p:spPr bwMode="auto">
            <a:xfrm>
              <a:off x="2658" y="1634"/>
              <a:ext cx="163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chemeClr val="bg2"/>
                  </a:solidFill>
                </a:rPr>
                <a:t>processing delay at Node 1</a:t>
              </a:r>
            </a:p>
          </p:txBody>
        </p:sp>
        <p:sp>
          <p:nvSpPr>
            <p:cNvPr id="43" name="Line 45"/>
            <p:cNvSpPr>
              <a:spLocks noChangeShapeType="1"/>
            </p:cNvSpPr>
            <p:nvPr/>
          </p:nvSpPr>
          <p:spPr bwMode="auto">
            <a:xfrm flipH="1">
              <a:off x="3440" y="1864"/>
              <a:ext cx="0" cy="21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ot="10800000" vert="eaVert" wrap="none" lIns="92121" tIns="46062" rIns="92121" bIns="46062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591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E8174-FC1C-C5FD-D326-FC6F793F3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94" y="1224576"/>
            <a:ext cx="7829550" cy="4771721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3F57C1C-758A-D0E9-A8B2-BF70AE1C9340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dirty="0"/>
              <a:t>Circuit Switching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15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C4C1A1-3BBD-8966-0D64-4753F447B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566532"/>
            <a:ext cx="8726118" cy="4734586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9CED7B8F-4AA4-D0D2-A6F5-5F4B7A43C7D5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dirty="0"/>
              <a:t>Limitations in Circuit Switching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56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dirty="0"/>
              <a:t>Message Switching</a:t>
            </a: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2141073" y="1328150"/>
            <a:ext cx="5033963" cy="458788"/>
            <a:chOff x="1057" y="2063"/>
            <a:chExt cx="3171" cy="289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057" y="2063"/>
              <a:ext cx="818" cy="289"/>
            </a:xfrm>
            <a:prstGeom prst="rect">
              <a:avLst/>
            </a:prstGeom>
            <a:solidFill>
              <a:srgbClr val="FF99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1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</p:spPr>
          <p:txBody>
            <a:bodyPr wrap="none" lIns="91570" tIns="45786" rIns="91570" bIns="45786" anchor="ctr">
              <a:flatTx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1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zh-TW" sz="1600">
                  <a:ea typeface="新細明體" pitchFamily="18" charset="-120"/>
                </a:rPr>
                <a:t>Header</a:t>
              </a:r>
              <a:endParaRPr lang="en-US" altLang="zh-TW" sz="2400" i="1">
                <a:ea typeface="新細明體" pitchFamily="18" charset="-120"/>
              </a:endParaRP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873" y="2063"/>
              <a:ext cx="2355" cy="289"/>
            </a:xfrm>
            <a:prstGeom prst="rect">
              <a:avLst/>
            </a:prstGeom>
            <a:solidFill>
              <a:srgbClr val="99CC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1" dir="t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FF"/>
              </a:extrusionClr>
              <a:contourClr>
                <a:srgbClr val="99CCFF"/>
              </a:contourClr>
            </a:sp3d>
          </p:spPr>
          <p:txBody>
            <a:bodyPr wrap="none" lIns="91570" tIns="45786" rIns="91570" bIns="45786" anchor="ctr">
              <a:flatTx/>
            </a:bodyPr>
            <a:lstStyle>
              <a:lvl1pPr defTabSz="915988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9159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915988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915988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915988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9159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ts val="100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altLang="zh-TW" sz="1600">
                  <a:ea typeface="新細明體" pitchFamily="18" charset="-120"/>
                </a:rPr>
                <a:t>Data</a:t>
              </a:r>
              <a:endParaRPr lang="en-US" altLang="zh-TW" sz="1800" i="1">
                <a:ea typeface="新細明體" pitchFamily="18" charset="-120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CCAC976-E4AC-CEA3-4895-E06F1AB08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1890512"/>
            <a:ext cx="6657975" cy="491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75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0311A-C17E-D9F8-FB26-294AA5219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86317"/>
            <a:ext cx="6838950" cy="4179731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19DB732-A8D9-5ED2-924F-E892113CAAF3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800" b="1" dirty="0"/>
              <a:t>Message Switching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011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DE2C9C-12B0-E632-CEA1-1A45F3D01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" y="1074716"/>
            <a:ext cx="7400925" cy="545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59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Packet Switching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118F1-DC3A-B0AB-3CFA-5F600E77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" y="1292473"/>
            <a:ext cx="7955427" cy="535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70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3FA52F-94F3-9687-EACE-F29E45605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9" y="1294939"/>
            <a:ext cx="7705725" cy="463861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22A5B0E2-F35C-A139-53C4-E317AAEF5FE4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Packet Switching</a:t>
            </a:r>
          </a:p>
        </p:txBody>
      </p:sp>
    </p:spTree>
    <p:extLst>
      <p:ext uri="{BB962C8B-B14F-4D97-AF65-F5344CB8AC3E}">
        <p14:creationId xmlns:p14="http://schemas.microsoft.com/office/powerpoint/2010/main" val="2253798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CCEC-0967-2B27-5606-BDA473908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710B064-5402-637E-397E-5FBADC926884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Packet Switching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E5F78-9D2F-0637-FDB7-5B239599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06" y="1224576"/>
            <a:ext cx="7924800" cy="52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24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ACB57-6FBA-B7AF-D680-7E13AFEB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043015"/>
            <a:ext cx="7410450" cy="511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502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DCD1C0-28EC-D931-E874-2BDFCFB97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" y="1048692"/>
            <a:ext cx="7781925" cy="549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19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2FD6F8-EA35-2798-CD6D-992C9DC03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56" y="1376976"/>
            <a:ext cx="7097487" cy="348049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F56FB0-D37A-B96C-A5DB-ED7663BFE2D2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600" b="1" dirty="0">
                <a:solidFill>
                  <a:prstClr val="black"/>
                </a:solidFill>
              </a:rPr>
              <a:t>Delay in datagram network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91E74-93BA-D5D0-C5E1-9411D99CE1BD}"/>
              </a:ext>
            </a:extLst>
          </p:cNvPr>
          <p:cNvSpPr txBox="1"/>
          <p:nvPr/>
        </p:nvSpPr>
        <p:spPr>
          <a:xfrm>
            <a:off x="576942" y="4947593"/>
            <a:ext cx="8338457" cy="144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three transmission times (3</a:t>
            </a:r>
            <a:r>
              <a:rPr lang="en-US" sz="1800" i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three propagation delays (slopes 3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lines), and two waiting times (</a:t>
            </a:r>
            <a:r>
              <a:rPr lang="en-US" sz="1800" i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+ </a:t>
            </a:r>
            <a:r>
              <a:rPr lang="en-US" sz="1800" i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2). We ignore the processing time in each switch. </a:t>
            </a:r>
          </a:p>
          <a:p>
            <a:pPr marL="285750" marR="0" indent="-28575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delay = 3 T + 3 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w</a:t>
            </a:r>
            <a:r>
              <a:rPr lang="en-US" sz="180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w</a:t>
            </a:r>
            <a:r>
              <a:rPr lang="en-US" sz="180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US" sz="16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001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600" b="1" dirty="0">
                <a:solidFill>
                  <a:prstClr val="black"/>
                </a:solidFill>
              </a:rPr>
              <a:t>Virtual-Circuit Packet Switching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24658" y="1364790"/>
            <a:ext cx="4572000" cy="5210181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2"/>
                </a:solidFill>
              </a:rPr>
              <a:t>A virtual-circuit network is a cross between a circuit-switched network and a datagram network. </a:t>
            </a:r>
            <a:endParaRPr lang="en-US" altLang="en-US" sz="2000" dirty="0">
              <a:solidFill>
                <a:schemeClr val="bg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Preplanned route established before any packets sent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Resources can be allocated: predefined/on-demand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Call request and call accept packets establish connection (handshake)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chemeClr val="bg2"/>
                </a:solidFill>
              </a:rPr>
              <a:t>Communication with virtual circuits takes place in three phases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VC establishment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data transfer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olidFill>
                  <a:schemeClr val="bg2"/>
                </a:solidFill>
              </a:rPr>
              <a:t>VC disconnect</a:t>
            </a:r>
            <a:endParaRPr lang="en-US" alt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827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3A846F-1372-66CF-B9DF-13C9869FA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091" y="1224576"/>
            <a:ext cx="5857875" cy="317182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15E7DD5-6459-D4E2-BD9D-17211F897D66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600" b="1" dirty="0">
                <a:solidFill>
                  <a:prstClr val="black"/>
                </a:solidFill>
              </a:rPr>
              <a:t>Delay in a virtual-circuit network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1DBD8-1796-1962-B96A-459DB9CD72B6}"/>
              </a:ext>
            </a:extLst>
          </p:cNvPr>
          <p:cNvSpPr txBox="1"/>
          <p:nvPr/>
        </p:nvSpPr>
        <p:spPr>
          <a:xfrm>
            <a:off x="261258" y="4772877"/>
            <a:ext cx="8284028" cy="165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three transmission times (3</a:t>
            </a:r>
            <a:r>
              <a:rPr lang="en-US" sz="1800" i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 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three propagation times (3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</a:t>
            </a:r>
          </a:p>
          <a:p>
            <a:pPr marL="285750" marR="0" indent="-28575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setup delay, and a teardown delay. We ignore the processing time in each switch. </a:t>
            </a:r>
          </a:p>
          <a:p>
            <a:pPr marL="285750" marR="0" indent="-28575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delay time is</a:t>
            </a:r>
            <a:endParaRPr lang="en-US" sz="16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Total delay 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b="1" i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 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US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setup delay </a:t>
            </a:r>
            <a:r>
              <a:rPr lang="en-US" sz="18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teardown delay</a:t>
            </a:r>
            <a:endParaRPr lang="en-US" sz="16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154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3" y="731162"/>
            <a:ext cx="7062833" cy="90367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b="1" dirty="0"/>
              <a:t>Datagram vs. Virtual-Circuits</a:t>
            </a:r>
            <a:br>
              <a:rPr lang="en-US" altLang="en-US" b="1" dirty="0"/>
            </a:br>
            <a:r>
              <a:rPr lang="en-US" altLang="en-US" b="1" dirty="0">
                <a:solidFill>
                  <a:schemeClr val="bg2"/>
                </a:solidFill>
              </a:rPr>
              <a:t>Packet Switching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4" name="Group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769733"/>
              </p:ext>
            </p:extLst>
          </p:nvPr>
        </p:nvGraphicFramePr>
        <p:xfrm>
          <a:off x="457200" y="1719263"/>
          <a:ext cx="8229600" cy="47882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Datagram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Virtual circuits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066">
                <a:tc>
                  <a:txBody>
                    <a:bodyPr/>
                    <a:lstStyle/>
                    <a:p>
                      <a:pPr marL="287338" marR="0" lvl="0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No call setup phase</a:t>
                      </a:r>
                    </a:p>
                    <a:p>
                      <a:pPr marL="741363" marR="0" lvl="1" indent="-2841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Better if few packets</a:t>
                      </a:r>
                    </a:p>
                    <a:p>
                      <a:pPr marL="287338" marR="0" lvl="0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  <a:p>
                      <a:pPr marL="287338" marR="0" lvl="0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More flexible</a:t>
                      </a:r>
                    </a:p>
                    <a:p>
                      <a:pPr marL="741363" marR="0" lvl="1" indent="-2841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Routing can be used to avoid congested parts of the network</a:t>
                      </a:r>
                    </a:p>
                    <a:p>
                      <a:pPr marL="287338" marR="0" lvl="0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Network can provide sequencing and error control</a:t>
                      </a:r>
                    </a:p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Packets are forwarded more quickly</a:t>
                      </a:r>
                    </a:p>
                    <a:p>
                      <a:pPr marL="741363" marR="0" lvl="1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No routing decisions to make</a:t>
                      </a:r>
                    </a:p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lt"/>
                      </a:endParaRPr>
                    </a:p>
                    <a:p>
                      <a:pPr marL="339725" marR="0" lvl="0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Less reliable</a:t>
                      </a:r>
                    </a:p>
                    <a:p>
                      <a:pPr marL="741363" marR="0" lvl="1" indent="-2873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10000"/>
                        <a:buFont typeface="Wingdings" pitchFamily="2" charset="2"/>
                        <a:buChar char="ý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+mn-lt"/>
                        </a:rPr>
                        <a:t>Loss of a node loose all circuits through that node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349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FA5E91-B055-7917-D6F7-775C9AFF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37" y="853957"/>
            <a:ext cx="7681726" cy="547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03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7688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schemeClr val="bg2"/>
                </a:solidFill>
              </a:rPr>
              <a:t>1. </a:t>
            </a: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, B. A. "Data Communication and Networking. Tata McGraw." (2005).</a:t>
            </a:r>
          </a:p>
          <a:p>
            <a:endParaRPr lang="en-FI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79159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schemeClr val="bg2"/>
                </a:solidFill>
              </a:rPr>
              <a:t>1. Prakash C. Gupta, “Data communications”, Prentice Hall India Pvt.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2. William Stallings, "Data and Computer Communications”, Pearson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3. </a:t>
            </a: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, B. A. "Data Communication and Networking. Tata McGraw." (2005).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EE">
  <a:themeElements>
    <a:clrScheme name="Custom 11">
      <a:dk1>
        <a:srgbClr val="FF6600"/>
      </a:dk1>
      <a:lt1>
        <a:srgbClr val="FEF2E6"/>
      </a:lt1>
      <a:dk2>
        <a:srgbClr val="FFA347"/>
      </a:dk2>
      <a:lt2>
        <a:srgbClr val="000000"/>
      </a:lt2>
      <a:accent1>
        <a:srgbClr val="FFFF00"/>
      </a:accent1>
      <a:accent2>
        <a:srgbClr val="FFA347"/>
      </a:accent2>
      <a:accent3>
        <a:srgbClr val="FF6600"/>
      </a:accent3>
      <a:accent4>
        <a:srgbClr val="FF6600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EEE" id="{7085EFE6-1651-4882-93F2-4A2A6E95977E}" vid="{54A24EE4-6E88-485C-AF6E-3EB622AD365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0" ma:contentTypeDescription="Create a new document." ma:contentTypeScope="" ma:versionID="1b0ca7fcc65f8213906d5dacc1748a9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b6f26e0866668d9836acec43b37ef0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38C2436-4DD0-497F-99B4-E8A79CB700EB}"/>
</file>

<file path=customXml/itemProps2.xml><?xml version="1.0" encoding="utf-8"?>
<ds:datastoreItem xmlns:ds="http://schemas.openxmlformats.org/officeDocument/2006/customXml" ds:itemID="{8DCD8A9E-75C7-4008-9E8E-C5C70AAEA5EE}"/>
</file>

<file path=customXml/itemProps3.xml><?xml version="1.0" encoding="utf-8"?>
<ds:datastoreItem xmlns:ds="http://schemas.openxmlformats.org/officeDocument/2006/customXml" ds:itemID="{A353C7C9-82FD-471E-ABFA-362793A6DFD9}"/>
</file>

<file path=docProps/app.xml><?xml version="1.0" encoding="utf-8"?>
<Properties xmlns="http://schemas.openxmlformats.org/officeDocument/2006/extended-properties" xmlns:vt="http://schemas.openxmlformats.org/officeDocument/2006/docPropsVTypes">
  <Template>ThemeEEE</Template>
  <TotalTime>179</TotalTime>
  <Words>425</Words>
  <Application>Microsoft Office PowerPoint</Application>
  <PresentationFormat>On-screen Show (4:3)</PresentationFormat>
  <Paragraphs>89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新細明體</vt:lpstr>
      <vt:lpstr>Arial</vt:lpstr>
      <vt:lpstr>Calibri</vt:lpstr>
      <vt:lpstr>Corbel</vt:lpstr>
      <vt:lpstr>Times New Roman</vt:lpstr>
      <vt:lpstr>Wingdings</vt:lpstr>
      <vt:lpstr>ThemeEEE</vt:lpstr>
      <vt:lpstr>VISIO</vt:lpstr>
      <vt:lpstr>Network Topology and Switching</vt:lpstr>
      <vt:lpstr>Lecture Outline</vt:lpstr>
      <vt:lpstr>Network topologies</vt:lpstr>
      <vt:lpstr>Network topologies</vt:lpstr>
      <vt:lpstr>Switching Mechanism for Data Transfer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Muhammad Morshed Alam</cp:lastModifiedBy>
  <cp:revision>38</cp:revision>
  <dcterms:created xsi:type="dcterms:W3CDTF">2018-12-10T17:20:29Z</dcterms:created>
  <dcterms:modified xsi:type="dcterms:W3CDTF">2025-11-24T10:35:14Z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